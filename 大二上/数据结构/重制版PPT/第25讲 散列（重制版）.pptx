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2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2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06efff25c09d9c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1d62b7482b3578f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af1db33b8170e24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第25讲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散列查找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不比较关键词，直接把地址算出来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散列函数的五种设计法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拉链法与三种开放地址法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平均查找长度的算法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闭散列表的三种删除方案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25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动机与定义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比较型查找的下界，以及散列怎么绕过它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6783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除余法、MAD 法、乘法、平方取中、压缩、抽取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拉链法与线性、二次、双重探查，以及平均查找长度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散列表的删除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懒惰删除、实时删除、延迟删除三种方案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性能与应用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装填因子、与查找树的取舍、布隆过滤器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说出散列函数、散列地址、冲突、装填因子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四个术语的定义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给定关键词序列与散列函数，画出拉链法和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线性探查的散列表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手算查找成功与查找不成功两种平均查找长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度，并说清数的是什么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判断闭散列表中某个元素删除后哪些元素必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须前移，并写出代码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根据装填因子与操作类型，在拉链法和三种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开放地址法之间选型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散列的基本思想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地址不是找出来的，是算出来的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比较型查找的比较次数有下界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散列函数把关键词直接映射成下标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冲突是必然的，不是设计失误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6903" cy="909257"/>
            <a:chOff x="520446" y="342900"/>
            <a:chExt cx="66169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69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 n 个元素，为什么至少要比较 log n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83017" cy="264033"/>
            <a:chOff x="526542" y="1545907"/>
            <a:chExt cx="768301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83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第22到24讲的查找方法都靠关键词之间的比较定位。只要还在比较，判定树的高度就压不下去。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33400" y="1928812"/>
            <a:ext cx="6167438" cy="2400300"/>
            <a:chOff x="533400" y="1928812"/>
            <a:chExt cx="6167438" cy="24003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014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27122" y="2050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平均查找长度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8798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0555" y="2450306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顺序查找（第22讲）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81262" y="2450306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84320" y="2450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无要求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2415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28912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2850356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折半查找（第22讲）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81262" y="2850356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4320" y="28503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顺序存储且有序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2420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250406"/>
              <a:ext cx="1542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二叉查找树（第23讲）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81262" y="3250406"/>
              <a:ext cx="938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 平均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4320" y="32504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动态维护形状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2425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29012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3650456"/>
              <a:ext cx="1081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树（第24讲）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81262" y="3650456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84320" y="36504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一次读一整个磁盘块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2430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3938588"/>
              <a:ext cx="183165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4050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散列查找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81262" y="4050506"/>
              <a:ext cx="759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84320" y="40505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散列函数均匀且装填因子受控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28812"/>
              <a:ext cx="616743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37934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98240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rd-2"/>
          <p:cNvGrpSpPr/>
          <p:nvPr/>
        </p:nvGrpSpPr>
        <p:grpSpPr>
          <a:xfrm>
            <a:off x="533400" y="4498658"/>
            <a:ext cx="6167438" cy="1202055"/>
            <a:chOff x="533400" y="4498658"/>
            <a:chExt cx="6167438" cy="1202055"/>
          </a:xfrm>
        </p:grpSpPr>
        <p:sp>
          <p:nvSpPr>
            <p:cNvPr id="39" name="Rectangle 39"/>
            <p:cNvSpPr/>
            <p:nvPr/>
          </p:nvSpPr>
          <p:spPr>
            <a:xfrm>
              <a:off x="533400" y="4498658"/>
              <a:ext cx="6167438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0090" y="46853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2762" y="47182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85684" y="472059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让关键词自己说出它该在哪一格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232" y="5046345"/>
              <a:ext cx="55172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第20讲证明过，靠比较判定大小的算法受判定树高度约束。散列不比较大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小，直接把关键词的值算成数组下标。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7005638" y="1928812"/>
            <a:ext cx="4652962" cy="1202055"/>
            <a:chOff x="7005638" y="1928812"/>
            <a:chExt cx="4652962" cy="1202055"/>
          </a:xfrm>
        </p:grpSpPr>
        <p:sp>
          <p:nvSpPr>
            <p:cNvPr id="45" name="Rectangle 45"/>
            <p:cNvSpPr/>
            <p:nvPr/>
          </p:nvSpPr>
          <p:spPr>
            <a:xfrm>
              <a:off x="7005638" y="1928812"/>
              <a:ext cx="4652962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15162" y="206216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230428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1594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理想情况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45577" y="215074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根据给定关键词直接定位到存储地址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23570" y="247650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查找一个元素时不需要与表中其他元素逐个比较，计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算一次函数就得到它的存放位置。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7005638" y="3301365"/>
            <a:ext cx="4652962" cy="1459230"/>
            <a:chOff x="7005638" y="3301365"/>
            <a:chExt cx="4652962" cy="1459230"/>
          </a:xfrm>
        </p:grpSpPr>
        <p:sp>
          <p:nvSpPr>
            <p:cNvPr id="52" name="Rectangle 52"/>
            <p:cNvSpPr/>
            <p:nvPr/>
          </p:nvSpPr>
          <p:spPr>
            <a:xfrm>
              <a:off x="7005638" y="3301365"/>
              <a:ext cx="465296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15162" y="343471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230428" y="34880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23099" y="35209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人物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96974" y="3522345"/>
              <a:ext cx="30112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Hans Peter Luhn（1896 到 1964）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23570" y="3849052"/>
              <a:ext cx="40256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研究员，1953 年在一份内部备忘录里提出了用链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地址法处理冲突的散列表，这是散列方法最早的完整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描述。他也是 KWIC 索引和 Luhn 校验码的发明者。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7005638" y="4930140"/>
            <a:ext cx="4652962" cy="770572"/>
            <a:chOff x="7005638" y="4930140"/>
            <a:chExt cx="4652962" cy="770572"/>
          </a:xfrm>
        </p:grpSpPr>
        <p:sp>
          <p:nvSpPr>
            <p:cNvPr id="59" name="Rectangle 59"/>
            <p:cNvSpPr/>
            <p:nvPr/>
          </p:nvSpPr>
          <p:spPr>
            <a:xfrm>
              <a:off x="7005638" y="4930140"/>
              <a:ext cx="4652962" cy="770572"/>
            </a:xfrm>
            <a:prstGeom prst="roundRect">
              <a:avLst>
                <a:gd name="adj" fmla="val 1483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10425" y="5215890"/>
              <a:ext cx="200026" cy="200025"/>
              <a:chOff x="7210425" y="5215890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210425" y="52158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50164" y="52603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84879" y="53714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513130" y="5097780"/>
              <a:ext cx="36398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数据规模 n 翻一万倍，折半查找多比较十几次，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散列查找的平均代价几乎不变。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6" name="Rectangle 6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8373"/>
              <a:ext cx="657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散列换掉的是“比较”这个动作本身，所以它不受比较排序与比较查找的下界约束。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散列：把关键词映射成数组下标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757238" y="1854518"/>
            <a:ext cx="5389244" cy="2683192"/>
            <a:chOff x="757238" y="1854518"/>
            <a:chExt cx="5389244" cy="2683192"/>
          </a:xfrm>
        </p:grpSpPr>
        <p:sp>
          <p:nvSpPr>
            <p:cNvPr id="7" name="Freeform 7"/>
            <p:cNvSpPr/>
            <p:nvPr/>
          </p:nvSpPr>
          <p:spPr>
            <a:xfrm>
              <a:off x="1460182" y="2197418"/>
              <a:ext cx="1413510" cy="731520"/>
            </a:xfrm>
            <a:custGeom>
              <a:avLst/>
              <a:gdLst/>
              <a:ahLst/>
              <a:cxnLst/>
              <a:rect l="l" t="t" r="r" b="b"/>
              <a:pathLst>
                <a:path w="1413510" h="731520">
                  <a:moveTo>
                    <a:pt x="0" y="0"/>
                  </a:moveTo>
                  <a:lnTo>
                    <a:pt x="1413510" y="7315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51785" y="2886075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6678"/>
                  </a:moveTo>
                  <a:lnTo>
                    <a:pt x="0" y="84772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00188" y="3195638"/>
              <a:ext cx="1308735" cy="9525"/>
            </a:xfrm>
            <a:custGeom>
              <a:avLst/>
              <a:gdLst/>
              <a:ahLst/>
              <a:cxnLst/>
              <a:rect l="l" t="t" r="r" b="b"/>
              <a:pathLst>
                <a:path w="1308735" h="9525">
                  <a:moveTo>
                    <a:pt x="0" y="0"/>
                  </a:moveTo>
                  <a:lnTo>
                    <a:pt x="13087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08922" y="3148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60182" y="3462338"/>
              <a:ext cx="1413510" cy="732472"/>
            </a:xfrm>
            <a:custGeom>
              <a:avLst/>
              <a:gdLst/>
              <a:ahLst/>
              <a:cxnLst/>
              <a:rect l="l" t="t" r="r" b="b"/>
              <a:pathLst>
                <a:path w="1413510" h="732472">
                  <a:moveTo>
                    <a:pt x="0" y="732472"/>
                  </a:moveTo>
                  <a:lnTo>
                    <a:pt x="14135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51785" y="341852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0"/>
                  </a:moveTo>
                  <a:lnTo>
                    <a:pt x="43815" y="86678"/>
                  </a:lnTo>
                  <a:lnTo>
                    <a:pt x="0" y="19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75722" y="3195638"/>
              <a:ext cx="1184910" cy="9525"/>
            </a:xfrm>
            <a:custGeom>
              <a:avLst/>
              <a:gdLst/>
              <a:ahLst/>
              <a:cxnLst/>
              <a:rect l="l" t="t" r="r" b="b"/>
              <a:pathLst>
                <a:path w="1184910" h="9525">
                  <a:moveTo>
                    <a:pt x="0" y="0"/>
                  </a:moveTo>
                  <a:lnTo>
                    <a:pt x="11849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060632" y="3148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7238" y="1854518"/>
              <a:ext cx="742950" cy="342900"/>
            </a:xfrm>
            <a:prstGeom prst="roundRect">
              <a:avLst>
                <a:gd name="adj" fmla="val 27778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7238" y="3024188"/>
              <a:ext cx="742950" cy="342900"/>
            </a:xfrm>
            <a:prstGeom prst="roundRect">
              <a:avLst>
                <a:gd name="adj" fmla="val 27778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7238" y="4194810"/>
              <a:ext cx="742950" cy="342900"/>
            </a:xfrm>
            <a:prstGeom prst="roundRect">
              <a:avLst>
                <a:gd name="adj" fmla="val 27778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913698" y="2719388"/>
              <a:ext cx="952500" cy="9525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155882" y="2862262"/>
              <a:ext cx="99060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0997" y="195595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0997" y="312562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0997" y="429625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15401" y="3125629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 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48214" y="303609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散列表 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19306" y="32151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的下标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51972" y="3109912"/>
              <a:ext cx="32766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73994" y="3142298"/>
              <a:ext cx="2836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h(K)</a:t>
              </a:r>
            </a:p>
          </p:txBody>
        </p:sp>
      </p:grpSp>
      <p:grpSp>
        <p:nvGrpSpPr>
          <p:cNvPr id="48" name="c1-cells-2"/>
          <p:cNvGrpSpPr/>
          <p:nvPr/>
        </p:nvGrpSpPr>
        <p:grpSpPr>
          <a:xfrm>
            <a:off x="527685" y="5057775"/>
            <a:ext cx="5956935" cy="634841"/>
            <a:chOff x="527685" y="5057775"/>
            <a:chExt cx="5956935" cy="634841"/>
          </a:xfrm>
        </p:grpSpPr>
        <p:sp>
          <p:nvSpPr>
            <p:cNvPr id="29" name="TextBox 29"/>
            <p:cNvSpPr txBox="1"/>
            <p:nvPr/>
          </p:nvSpPr>
          <p:spPr>
            <a:xfrm>
              <a:off x="527685" y="51973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93470" y="5057775"/>
              <a:ext cx="89820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45334" y="519731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91678" y="5057775"/>
              <a:ext cx="898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60155" y="51973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890838" y="5057775"/>
              <a:ext cx="89820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241749" y="519731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789045" y="5057775"/>
              <a:ext cx="898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57523" y="51973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687252" y="5057775"/>
              <a:ext cx="89820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39117" y="519731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86412" y="5057775"/>
              <a:ext cx="8982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53938" y="51973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07931" y="5530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06138" y="5530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04346" y="5530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03506" y="5530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01713" y="5530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99921" y="5530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60" name="c2-kv-1"/>
          <p:cNvGrpSpPr/>
          <p:nvPr/>
        </p:nvGrpSpPr>
        <p:grpSpPr>
          <a:xfrm>
            <a:off x="6781800" y="1548765"/>
            <a:ext cx="4876800" cy="2459355"/>
            <a:chOff x="6781800" y="1548765"/>
            <a:chExt cx="4876800" cy="2459355"/>
          </a:xfrm>
        </p:grpSpPr>
        <p:sp>
          <p:nvSpPr>
            <p:cNvPr id="49" name="TextBox 49"/>
            <p:cNvSpPr txBox="1"/>
            <p:nvPr/>
          </p:nvSpPr>
          <p:spPr>
            <a:xfrm>
              <a:off x="678180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散列函数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22883" y="1548765"/>
              <a:ext cx="34823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把关键词值映射到散列地址的函数，记作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h。自变量是关键词 K，函数值 h(K) 是元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素在表中的存放位置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89420" y="243268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1800" y="2552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散列地址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22883" y="2552700"/>
              <a:ext cx="35394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h(K) 的值，也就是数组下标，取值范围是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到 M−1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89420" y="315468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1800" y="32746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22883" y="3274695"/>
              <a:ext cx="3470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存放这些元素的一维数组，长度记作 M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9420" y="359473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1800" y="37147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冲突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22883" y="3714750"/>
              <a:ext cx="31088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K₁ ≠ K₂ 却有 h(K₁) = h(K₂)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6789420" y="4139565"/>
            <a:ext cx="4869180" cy="782955"/>
            <a:chOff x="6789420" y="4139565"/>
            <a:chExt cx="4869180" cy="782955"/>
          </a:xfrm>
        </p:grpSpPr>
        <p:sp>
          <p:nvSpPr>
            <p:cNvPr id="61" name="Rectangle 61"/>
            <p:cNvSpPr/>
            <p:nvPr/>
          </p:nvSpPr>
          <p:spPr>
            <a:xfrm>
              <a:off x="6789420" y="413956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994208" y="4431030"/>
              <a:ext cx="200026" cy="200026"/>
              <a:chOff x="6994208" y="4431030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994208" y="44310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094220" y="44977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083108" y="45310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296150" y="428815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散列也译作哈希、杂凑，三种叫法指的是同一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件事。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8" name="Rectangle 6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130" y="5991225"/>
              <a:ext cx="7708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散列表是数组，散列函数负责回答“这个关键词归哪一格”，两者合起来才叫散列方法。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冲突躲不掉，只能处理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关键词的取值范围几乎总是远大于表长，鸽巢原理保证一定有两个关键词挤进同一格。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842635" cy="1403032"/>
            <a:chOff x="533400" y="1928812"/>
            <a:chExt cx="5842635" cy="14030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704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鸽巢原理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8006" y="214931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关键词多于地址，就必有冲突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50441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学号是 18 位十进制数，取值共 10¹⁸ 种；散列表开到 10⁶ 格已经很大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了。平均每一格要容纳 10¹² 个可能的关键词，无论 h 怎么设计都躲不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开。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28447" y="3496628"/>
            <a:ext cx="5847588" cy="1408461"/>
            <a:chOff x="528447" y="3496628"/>
            <a:chExt cx="5847588" cy="1408461"/>
          </a:xfrm>
        </p:grpSpPr>
        <p:sp>
          <p:nvSpPr>
            <p:cNvPr id="16" name="Rectangle 16"/>
            <p:cNvSpPr/>
            <p:nvPr/>
          </p:nvSpPr>
          <p:spPr>
            <a:xfrm>
              <a:off x="533400" y="3496628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9489" y="3613785"/>
              <a:ext cx="599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地址数 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6108" y="3613785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关键词个数 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66682" y="36137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装填因子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37532" y="361378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至少发生一次冲突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8078" y="399573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79638" y="399573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65513" y="399573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34231" y="3995738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50.7%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548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5958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37673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79638" y="437673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65513" y="437673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49078" y="4269105"/>
              <a:ext cx="231838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34231" y="4376738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50.9%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496628"/>
              <a:ext cx="5842635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580198" y="349662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66072" y="349662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34790" y="349662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447" y="4714399"/>
              <a:ext cx="27047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关键词随机落入 M 个地址时，出现冲突的概率</a:t>
              </a:r>
            </a:p>
          </p:txBody>
        </p:sp>
      </p:grpSp>
      <p:grpSp>
        <p:nvGrpSpPr>
          <p:cNvPr id="44" name="c1-callout-3"/>
          <p:cNvGrpSpPr/>
          <p:nvPr/>
        </p:nvGrpSpPr>
        <p:grpSpPr>
          <a:xfrm>
            <a:off x="533400" y="5031105"/>
            <a:ext cx="5842635" cy="1200150"/>
            <a:chOff x="533400" y="5031105"/>
            <a:chExt cx="5842635" cy="1200150"/>
          </a:xfrm>
        </p:grpSpPr>
        <p:sp>
          <p:nvSpPr>
            <p:cNvPr id="38" name="Rectangle 38"/>
            <p:cNvSpPr/>
            <p:nvPr/>
          </p:nvSpPr>
          <p:spPr>
            <a:xfrm>
              <a:off x="533400" y="5031105"/>
              <a:ext cx="5842635" cy="1200150"/>
            </a:xfrm>
            <a:prstGeom prst="roundRect">
              <a:avLst>
                <a:gd name="adj" fmla="val 952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527476"/>
              <a:ext cx="224134" cy="192560"/>
              <a:chOff x="726129" y="5527476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55978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5274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6756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1273" y="5424964"/>
              <a:ext cx="4840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表才装了 3.8%，冲突就已经是大概率事件。设计散列函数的目标是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让冲突少，不是让冲突消失。</a:t>
              </a:r>
            </a:p>
          </p:txBody>
        </p:sp>
      </p:grpSp>
      <p:grpSp>
        <p:nvGrpSpPr>
          <p:cNvPr id="47" name="c2-image-1"/>
          <p:cNvGrpSpPr/>
          <p:nvPr/>
        </p:nvGrpSpPr>
        <p:grpSpPr>
          <a:xfrm>
            <a:off x="7550468" y="1928812"/>
            <a:ext cx="3238500" cy="2711482"/>
            <a:chOff x="7550468" y="1928812"/>
            <a:chExt cx="3238500" cy="2711482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0468" y="1928812"/>
              <a:ext cx="3238500" cy="2428875"/>
            </a:xfrm>
            <a:prstGeom prst="roundRect">
              <a:avLst>
                <a:gd name="adj" fmla="val 5490"/>
              </a:avLst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7779525" y="444960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两件不同的外套被指到同一个挂钩，这就是冲突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680835" y="4786312"/>
            <a:ext cx="4977765" cy="1444942"/>
            <a:chOff x="6680835" y="4786312"/>
            <a:chExt cx="4977765" cy="1444942"/>
          </a:xfrm>
        </p:grpSpPr>
        <p:sp>
          <p:nvSpPr>
            <p:cNvPr id="48" name="Rectangle 48"/>
            <p:cNvSpPr/>
            <p:nvPr/>
          </p:nvSpPr>
          <p:spPr>
            <a:xfrm>
              <a:off x="6680835" y="4786312"/>
              <a:ext cx="4977765" cy="1444942"/>
            </a:xfrm>
            <a:prstGeom prst="roundRect">
              <a:avLst>
                <a:gd name="adj" fmla="val 922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61810" y="49672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50431" y="5000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两件事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52563" y="50068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散列方法的全部工作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862762" y="531209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14669" y="53477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32511" y="5323046"/>
              <a:ext cx="41005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设计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散列函数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，让关键词尽量均匀地铺满 0 到 M−1。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62762" y="559689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14669" y="563251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32511" y="5607844"/>
              <a:ext cx="4125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设计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冲突处理方法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，规定撞车之后元素去哪里、怎么再找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回来。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三种操作都要绕开同一个问题：冲突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674370" y="1711642"/>
            <a:ext cx="5777865" cy="3785235"/>
            <a:chOff x="674370" y="1711642"/>
            <a:chExt cx="5777865" cy="3785235"/>
          </a:xfrm>
        </p:grpSpPr>
        <p:sp>
          <p:nvSpPr>
            <p:cNvPr id="7" name="Freeform 7"/>
            <p:cNvSpPr/>
            <p:nvPr/>
          </p:nvSpPr>
          <p:spPr>
            <a:xfrm>
              <a:off x="1543050" y="2149792"/>
              <a:ext cx="9525" cy="269558"/>
            </a:xfrm>
            <a:custGeom>
              <a:avLst/>
              <a:gdLst/>
              <a:ahLst/>
              <a:cxnLst/>
              <a:rect l="l" t="t" r="r" b="b"/>
              <a:pathLst>
                <a:path w="9525" h="269558">
                  <a:moveTo>
                    <a:pt x="0" y="0"/>
                  </a:moveTo>
                  <a:lnTo>
                    <a:pt x="0" y="2695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90662" y="24193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43050" y="2962275"/>
              <a:ext cx="9525" cy="79058"/>
            </a:xfrm>
            <a:custGeom>
              <a:avLst/>
              <a:gdLst/>
              <a:ahLst/>
              <a:cxnLst/>
              <a:rect l="l" t="t" r="r" b="b"/>
              <a:pathLst>
                <a:path w="9525" h="79058">
                  <a:moveTo>
                    <a:pt x="0" y="0"/>
                  </a:moveTo>
                  <a:lnTo>
                    <a:pt x="0" y="790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90662" y="30413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43050" y="3966210"/>
              <a:ext cx="9525" cy="796290"/>
            </a:xfrm>
            <a:custGeom>
              <a:avLst/>
              <a:gdLst/>
              <a:ahLst/>
              <a:cxnLst/>
              <a:rect l="l" t="t" r="r" b="b"/>
              <a:pathLst>
                <a:path w="9525" h="796290">
                  <a:moveTo>
                    <a:pt x="0" y="0"/>
                  </a:moveTo>
                  <a:lnTo>
                    <a:pt x="0" y="796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90662" y="4762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11730" y="3556635"/>
              <a:ext cx="2198370" cy="9525"/>
            </a:xfrm>
            <a:custGeom>
              <a:avLst/>
              <a:gdLst/>
              <a:ahLst/>
              <a:cxnLst/>
              <a:rect l="l" t="t" r="r" b="b"/>
              <a:pathLst>
                <a:path w="2198370" h="9525">
                  <a:moveTo>
                    <a:pt x="0" y="0"/>
                  </a:moveTo>
                  <a:lnTo>
                    <a:pt x="219837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10100" y="35042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582602" y="3870960"/>
              <a:ext cx="9525" cy="79058"/>
            </a:xfrm>
            <a:custGeom>
              <a:avLst/>
              <a:gdLst/>
              <a:ahLst/>
              <a:cxnLst/>
              <a:rect l="l" t="t" r="r" b="b"/>
              <a:pathLst>
                <a:path w="9525" h="79058">
                  <a:moveTo>
                    <a:pt x="0" y="0"/>
                  </a:moveTo>
                  <a:lnTo>
                    <a:pt x="0" y="790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530215" y="39500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582602" y="4683442"/>
              <a:ext cx="9525" cy="79058"/>
            </a:xfrm>
            <a:custGeom>
              <a:avLst/>
              <a:gdLst/>
              <a:ahLst/>
              <a:cxnLst/>
              <a:rect l="l" t="t" r="r" b="b"/>
              <a:pathLst>
                <a:path w="9525" h="79058">
                  <a:moveTo>
                    <a:pt x="0" y="0"/>
                  </a:moveTo>
                  <a:lnTo>
                    <a:pt x="0" y="790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530215" y="4762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4370" y="1711642"/>
              <a:ext cx="1737360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4370" y="2524125"/>
              <a:ext cx="1737360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74370" y="3146108"/>
              <a:ext cx="1737360" cy="820102"/>
            </a:xfrm>
            <a:custGeom>
              <a:avLst/>
              <a:gdLst/>
              <a:ahLst/>
              <a:cxnLst/>
              <a:rect l="l" t="t" r="r" b="b"/>
              <a:pathLst>
                <a:path w="1737360" h="820102">
                  <a:moveTo>
                    <a:pt x="868680" y="0"/>
                  </a:moveTo>
                  <a:lnTo>
                    <a:pt x="1737360" y="410527"/>
                  </a:lnTo>
                  <a:lnTo>
                    <a:pt x="868680" y="820102"/>
                  </a:lnTo>
                  <a:lnTo>
                    <a:pt x="0" y="410527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4370" y="4867275"/>
              <a:ext cx="1737360" cy="629602"/>
            </a:xfrm>
            <a:prstGeom prst="roundRect">
              <a:avLst>
                <a:gd name="adj" fmla="val 499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714875" y="3241358"/>
              <a:ext cx="1736407" cy="629602"/>
            </a:xfrm>
            <a:custGeom>
              <a:avLst/>
              <a:gdLst/>
              <a:ahLst/>
              <a:cxnLst/>
              <a:rect l="l" t="t" r="r" b="b"/>
              <a:pathLst>
                <a:path w="1736407" h="629602">
                  <a:moveTo>
                    <a:pt x="133350" y="0"/>
                  </a:moveTo>
                  <a:lnTo>
                    <a:pt x="1736407" y="0"/>
                  </a:lnTo>
                  <a:lnTo>
                    <a:pt x="1603057" y="629602"/>
                  </a:lnTo>
                  <a:lnTo>
                    <a:pt x="0" y="629602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14875" y="4054792"/>
              <a:ext cx="173736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714875" y="4867275"/>
              <a:ext cx="173736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96855" y="1841659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 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28928" y="2654141"/>
              <a:ext cx="628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h(K)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6701" y="3358039"/>
              <a:ext cx="101269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T[h(K)] 空着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9467" y="4983956"/>
              <a:ext cx="1347165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直接放进去 / 直接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取出来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88446" y="3358039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冲突处理方法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另找一个位置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69726" y="4170521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挂到链表上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25886" y="4983956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开放地址法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按探查序列往下找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571625" y="432435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94866" y="435102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449002" y="334041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87293" y="336708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898005" y="1524000"/>
            <a:ext cx="4760595" cy="2252662"/>
            <a:chOff x="6898005" y="1524000"/>
            <a:chExt cx="4760595" cy="2252662"/>
          </a:xfrm>
        </p:grpSpPr>
        <p:sp>
          <p:nvSpPr>
            <p:cNvPr id="38" name="Rectangle 38"/>
            <p:cNvSpPr/>
            <p:nvPr/>
          </p:nvSpPr>
          <p:spPr>
            <a:xfrm>
              <a:off x="6898005" y="1524000"/>
              <a:ext cx="4760595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07530" y="165735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45730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开散列法与闭散列法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51370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9485" y="212979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开散列法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：元素可以存到散列表数组之外，代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表是拉链法。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51370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09485" y="27508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闭散列法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：元素只能存在数组内部，冲突时在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数组里另找空位，又叫开放地址法。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9178" y="3368516"/>
              <a:ext cx="3838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两个“开”字含义相反，靠“元素能不能出数组”来记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898005" y="3967162"/>
            <a:ext cx="4760595" cy="1621155"/>
            <a:chOff x="6898005" y="3967162"/>
            <a:chExt cx="4760595" cy="1621155"/>
          </a:xfrm>
        </p:grpSpPr>
        <p:sp>
          <p:nvSpPr>
            <p:cNvPr id="49" name="Rectangle 49"/>
            <p:cNvSpPr/>
            <p:nvPr/>
          </p:nvSpPr>
          <p:spPr>
            <a:xfrm>
              <a:off x="6898005" y="3967162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07530" y="4100512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45655" y="41767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35863" y="42124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45730" y="4211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查找和删除也要走同一条路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38035" y="4572952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插入时因为冲突绕到了别处，查找时就必须沿着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同一条探查路径走一遍，删除时还要保证这条路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不被切断。第四部分整节都在处理这件事。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冲突处理方法一旦选定，插入、查找、删除三种操作的实现就被它一起决定了。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散列函数的设计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算得快，还要散得开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58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除余法最常用，M 取素数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81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MAD 法与乘法散列对 M 不敏感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平方取中、压缩、抽取各有各的坑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散列函数的设计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好的散列函数要同时满足三条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335405"/>
            <a:chOff x="533400" y="1524000"/>
            <a:chExt cx="541020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 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h(Key) = Address of Hash Table，把关键词值映射成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散列表的下标。</a:t>
              </a:r>
            </a:p>
          </p:txBody>
        </p:sp>
      </p:grpSp>
      <p:grpSp>
        <p:nvGrpSpPr>
          <p:cNvPr id="29" name="c1-bullets-2"/>
          <p:cNvGrpSpPr/>
          <p:nvPr/>
        </p:nvGrpSpPr>
        <p:grpSpPr>
          <a:xfrm>
            <a:off x="533400" y="3061335"/>
            <a:ext cx="5219827" cy="2466309"/>
            <a:chOff x="533400" y="3061335"/>
            <a:chExt cx="5219827" cy="2466309"/>
          </a:xfrm>
        </p:grpSpPr>
        <p:sp>
          <p:nvSpPr>
            <p:cNvPr id="14" name="Ellipse 14"/>
            <p:cNvSpPr/>
            <p:nvPr/>
          </p:nvSpPr>
          <p:spPr>
            <a:xfrm>
              <a:off x="533400" y="30613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5249" y="31036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4390" y="30746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便于快速计算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2010" y="344138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6033" y="3368516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算一次 h 的代价必须是常数，且要比几次关键词比较更便宜，否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则不如直接用查找树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8995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9418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912870"/>
              <a:ext cx="3451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函数值落在表长范围内：0 ≤ h(K) &lt; M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42010" y="427863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6033" y="420576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算出表外的下标就是数组越界，这一条由函数形式本身保证，不靠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运行时检查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4736782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5249" y="477907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4390" y="475011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极少出现冲突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42010" y="511683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6033" y="5043964"/>
              <a:ext cx="46134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关键词映射到各位置的概率尽量相等，即散列值在区间 0 到 M−1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上均匀分布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1621155"/>
            <a:chOff x="6248400" y="1524000"/>
            <a:chExt cx="5410200" cy="162115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57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0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关键区别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42823" y="176879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均匀分布说的是关键词，不是随机数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0330" y="212979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真实数据从来不是理想随机的。学号连号、日期等距、商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品编号带固定前缀，散列函数必须把这些规律打散，而不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是假定输入已经随机。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3335655"/>
            <a:ext cx="5410200" cy="1621155"/>
            <a:chOff x="6248400" y="3335655"/>
            <a:chExt cx="5410200" cy="1621155"/>
          </a:xfrm>
        </p:grpSpPr>
        <p:sp>
          <p:nvSpPr>
            <p:cNvPr id="36" name="Rectangle 36"/>
            <p:cNvSpPr/>
            <p:nvPr/>
          </p:nvSpPr>
          <p:spPr>
            <a:xfrm>
              <a:off x="6248400" y="3335655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346900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96050" y="35452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86258" y="35809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7078" y="3580448"/>
              <a:ext cx="2500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把“少冲突”理解成“不冲突”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8430" y="394144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上一页已经算过，冲突是必然事件。选取原则里说的是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让冲突的概率尽量低、分布尽量均匀，绝不是承诺一次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都不撞。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248400" y="5147310"/>
            <a:ext cx="5410200" cy="782955"/>
            <a:chOff x="6248400" y="5147310"/>
            <a:chExt cx="5410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6248400" y="514731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438775"/>
              <a:ext cx="200026" cy="200025"/>
              <a:chOff x="6453188" y="5438775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4387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92926" y="54832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27642" y="55943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529590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判断一个散列函数好不好，只看它在你这批真实关键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词上的分布，不看它在随机数上的表现。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31732" cy="909257"/>
            <a:chOff x="520446" y="342900"/>
            <a:chExt cx="52317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散列函数的设计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317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除余法：M 取素数，数据才铺得开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829332" cy="278702"/>
            <a:chOff x="526161" y="1547336"/>
            <a:chExt cx="782933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8293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h(K) = K % M，其中 M 是表长，% 是取余运算，也写作 mod。这是最常用的一种散列函数。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28066" y="1941195"/>
            <a:ext cx="6281356" cy="1497902"/>
            <a:chOff x="528066" y="1941195"/>
            <a:chExt cx="6281356" cy="149790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72247" y="20654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1007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00641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46715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37278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27840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1840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9445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42925" y="2356485"/>
              <a:ext cx="136207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2471261"/>
              <a:ext cx="81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h(K), M=9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14538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04148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9471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85272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7583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6544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56008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275272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2762250"/>
              <a:ext cx="136207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2877026"/>
              <a:ext cx="81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h(K), M=7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1453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0414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9471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85272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7583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6544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5600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941195"/>
              <a:ext cx="6276022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909762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599372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289935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980498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671060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60670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51232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066" y="3233738"/>
              <a:ext cx="30991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公差 d = 6 的等差数列 1, 7, 13, 19, 25, 31, 37</a:t>
              </a:r>
            </a:p>
          </p:txBody>
        </p:sp>
      </p:grpSp>
      <p:grpSp>
        <p:nvGrpSpPr>
          <p:cNvPr id="55" name="c1-card-2"/>
          <p:cNvGrpSpPr/>
          <p:nvPr/>
        </p:nvGrpSpPr>
        <p:grpSpPr>
          <a:xfrm>
            <a:off x="533400" y="3572828"/>
            <a:ext cx="6276022" cy="2506980"/>
            <a:chOff x="533400" y="3572828"/>
            <a:chExt cx="6276022" cy="2506980"/>
          </a:xfrm>
        </p:grpSpPr>
        <p:sp>
          <p:nvSpPr>
            <p:cNvPr id="48" name="Rectangle 48"/>
            <p:cNvSpPr/>
            <p:nvPr/>
          </p:nvSpPr>
          <p:spPr>
            <a:xfrm>
              <a:off x="533400" y="3572828"/>
              <a:ext cx="6276022" cy="2506980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3706178"/>
              <a:ext cx="47625" cy="22402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3905" y="37652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5345" y="37995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47597" y="380428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公差与表长互质时才均匀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7047" y="4138612"/>
              <a:ext cx="55086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对公差为 d 的等差数列 a, a+d, a+2d, …，当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GCD(d, M) = 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时，(a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xd) % M 在 0 到 M−1 上均匀分布；否则散列值只在 M / GCD(d, M) 个地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址上打转。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8190" y="4951571"/>
              <a:ext cx="56014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M=9、d=6 时 GCD=3，七个关键词只落到 1、4、7 三格；M=7 时 GCD=1，七个关键词占满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七格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7114222" y="1941195"/>
            <a:ext cx="4544378" cy="1831658"/>
            <a:chOff x="7114222" y="1941195"/>
            <a:chExt cx="4544378" cy="1831658"/>
          </a:xfrm>
        </p:grpSpPr>
        <p:sp>
          <p:nvSpPr>
            <p:cNvPr id="56" name="Rectangle 56"/>
            <p:cNvSpPr/>
            <p:nvPr/>
          </p:nvSpPr>
          <p:spPr>
            <a:xfrm>
              <a:off x="7114222" y="1941195"/>
              <a:ext cx="4544378" cy="1831658"/>
            </a:xfrm>
            <a:prstGeom prst="roundRect">
              <a:avLst>
                <a:gd name="adj" fmla="val 728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06628" y="2133600"/>
              <a:ext cx="756285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85079" y="2167890"/>
              <a:ext cx="599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 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70354" y="2173605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取素数，并且离 2 的幂远一点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315200" y="25641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71220" y="2507932"/>
              <a:ext cx="3123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理想随机的序列，M 取什么都无所谓。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315200" y="28670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71220" y="2810827"/>
              <a:ext cx="4031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真实数据远非理想随机，M 取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素数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时覆盖最充分。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315200" y="316896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71220" y="3112770"/>
              <a:ext cx="35798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避开 2ᵏ 附近：M = 2ᵏ 时 h(K) 等于取 K 的低 k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位，高位全部作废。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7114222" y="3948112"/>
            <a:ext cx="4544378" cy="729615"/>
            <a:chOff x="7114222" y="3948112"/>
            <a:chExt cx="4544378" cy="729615"/>
          </a:xfrm>
        </p:grpSpPr>
        <p:sp>
          <p:nvSpPr>
            <p:cNvPr id="67" name="Rectangle 67"/>
            <p:cNvSpPr/>
            <p:nvPr/>
          </p:nvSpPr>
          <p:spPr>
            <a:xfrm>
              <a:off x="7114222" y="3948112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19010" y="4212908"/>
              <a:ext cx="200026" cy="200026"/>
              <a:chOff x="7319010" y="4212908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19010" y="42129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419023" y="42795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407910" y="43129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621714" y="4094798"/>
              <a:ext cx="36055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源课件给出的选表长参考：planetmath.org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good hash table primes 列表。</a:t>
              </a:r>
            </a:p>
          </p:txBody>
        </p:sp>
      </p:grpSp>
      <p:grpSp>
        <p:nvGrpSpPr>
          <p:cNvPr id="80" name="c2-card-3"/>
          <p:cNvGrpSpPr/>
          <p:nvPr/>
        </p:nvGrpSpPr>
        <p:grpSpPr>
          <a:xfrm>
            <a:off x="7114222" y="4852988"/>
            <a:ext cx="4544378" cy="1226820"/>
            <a:chOff x="7114222" y="4852988"/>
            <a:chExt cx="4544378" cy="1226820"/>
          </a:xfrm>
        </p:grpSpPr>
        <p:sp>
          <p:nvSpPr>
            <p:cNvPr id="74" name="Rectangle 74"/>
            <p:cNvSpPr/>
            <p:nvPr/>
          </p:nvSpPr>
          <p:spPr>
            <a:xfrm>
              <a:off x="7114222" y="4852988"/>
              <a:ext cx="454437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123748" y="498633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44728" y="50453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36168" y="507968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记忆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28420" y="508539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37870" y="5419725"/>
              <a:ext cx="38456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除余法的全部风险都集中在 M 的取值上，函数形式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本身没有任何可调的地方。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80507" cy="909257"/>
            <a:chOff x="520446" y="342900"/>
            <a:chExt cx="66805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散列函数的设计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805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MAD 法与乘法散列：先把关键词搅乱再取余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857375"/>
            <a:chOff x="533400" y="1524000"/>
            <a:chExt cx="5410200" cy="18573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57375"/>
            </a:xfrm>
            <a:prstGeom prst="roundRect">
              <a:avLst>
                <a:gd name="adj" fmla="val 71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906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61531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873" y="1737836"/>
              <a:ext cx="456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MAD 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75613" y="1744504"/>
              <a:ext cx="17306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Multiply-Add-Divide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0"/>
                <p:cNvSpPr txBox="1">
                  <a:spLocks noGrp="1"/>
                </p:cNvSpPr>
                <p:nvPr/>
              </p:nvSpPr>
              <p:spPr>
                <a:xfrm>
                  <a:off x="752475" y="2040255"/>
                  <a:ext cx="501015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aK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45998" y="2561749"/>
              <a:ext cx="368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要求 M 为素数，a &gt; 1，b &gt; 0，且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不整除 a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141" y="2842260"/>
              <a:ext cx="477126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 M 整除 a，则 aK 恒为 M 的倍数，h(K) 退化成常数 b % M，所有关键词撞在同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一格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546158"/>
            <a:ext cx="5410200" cy="2060258"/>
            <a:chOff x="533400" y="3546158"/>
            <a:chExt cx="5410200" cy="2060258"/>
          </a:xfrm>
        </p:grpSpPr>
        <p:sp>
          <p:nvSpPr>
            <p:cNvPr id="16" name="Rectangle 16"/>
            <p:cNvSpPr/>
            <p:nvPr/>
          </p:nvSpPr>
          <p:spPr>
            <a:xfrm>
              <a:off x="533400" y="3546158"/>
              <a:ext cx="5410200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679508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372713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044" y="37599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乘法散列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8006" y="376666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先取小数部分，再放大到表长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21"/>
                <p:cNvSpPr txBox="1">
                  <a:spLocks noGrp="1"/>
                </p:cNvSpPr>
                <p:nvPr/>
              </p:nvSpPr>
              <p:spPr>
                <a:xfrm>
                  <a:off x="752475" y="4062412"/>
                  <a:ext cx="501015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⌊"/>
                            <m:sepChr m:val=""/>
                            <m:endChr m:val="⌋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Kθ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mod</m:t>
                                    </m:r>
                                  </m:fName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func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45998" y="4582954"/>
              <a:ext cx="48003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0 &lt; θ &lt; 1，mod 1 指取小数部分。Knuth 指出 θ 取黄金分割点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0.6180339887 或 0.3819660113 时，函数值在 0 到 M−1 上分布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最均匀。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243447" y="1524000"/>
            <a:ext cx="5415153" cy="2552414"/>
            <a:chOff x="6243447" y="1524000"/>
            <a:chExt cx="5415153" cy="2552414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9036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05915" y="1641157"/>
              <a:ext cx="931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Kθ 的小数部分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15710" y="1641157"/>
              <a:ext cx="9576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乘法散列 h(K)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26588" y="1641157"/>
              <a:ext cx="8581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除余法 K%16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43079" y="2023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0316" y="2023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0.360680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31961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261282" y="1914525"/>
              <a:ext cx="138779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46436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3079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00316" y="2404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0.249224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31961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261282" y="2296478"/>
              <a:ext cx="138779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346436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3079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0316" y="2785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0.137767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31961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261282" y="2677478"/>
              <a:ext cx="138779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346436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3079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0316" y="316706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0.026311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31961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61282" y="3059430"/>
              <a:ext cx="138779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346436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3079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00316" y="354806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0.914855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31961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261282" y="3440430"/>
              <a:ext cx="138779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346436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152400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00087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73252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24699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3447" y="3885724"/>
              <a:ext cx="3633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θ = 0.6180339887、M = 16，关键词是公差 16 的等差数列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4202430"/>
            <a:ext cx="5410200" cy="1403032"/>
            <a:chOff x="6248400" y="4202430"/>
            <a:chExt cx="5410200" cy="1403032"/>
          </a:xfrm>
        </p:grpSpPr>
        <p:sp>
          <p:nvSpPr>
            <p:cNvPr id="66" name="Rectangle 66"/>
            <p:cNvSpPr/>
            <p:nvPr/>
          </p:nvSpPr>
          <p:spPr>
            <a:xfrm>
              <a:off x="6248400" y="420243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29375" y="438340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10846" y="441626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为什么用它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68730" y="4422934"/>
              <a:ext cx="2166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乘法散列对 M 的取值不敏感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22898" y="4740116"/>
              <a:ext cx="48328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上表里五个关键词的公差正好等于 M，除余法全部撞在第 4 格；乘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法散列靠无理数 θ 的小数部分把它们拉开，所以 M 可以放心取 2 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幂。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2" name="Rectangle 7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1273" y="6039326"/>
              <a:ext cx="6832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除余法的均匀性靠 M 撑着，乘法散列的均匀性靠 θ 撑着，前者简单，后者更抗输入规律。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散列函数的设计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平方取中法与压缩法：让每一位都参与运算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268730"/>
            <a:chOff x="533400" y="1524000"/>
            <a:chExt cx="4977765" cy="12687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058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平方取中法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2981" y="1756886"/>
              <a:ext cx="1713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K² 的中间若干位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平方运算让 K 的每一位都影响到结果的中间几位，再截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取中间位作为散列地址。</a:t>
              </a:r>
            </a:p>
          </p:txBody>
        </p:sp>
      </p:grpSp>
      <p:grpSp>
        <p:nvGrpSpPr>
          <p:cNvPr id="31" name="c1-table-2"/>
          <p:cNvGrpSpPr/>
          <p:nvPr/>
        </p:nvGrpSpPr>
        <p:grpSpPr>
          <a:xfrm>
            <a:off x="533400" y="2972752"/>
            <a:ext cx="4977765" cy="1274445"/>
            <a:chOff x="533400" y="2972752"/>
            <a:chExt cx="4977765" cy="1274445"/>
          </a:xfrm>
        </p:grpSpPr>
        <p:sp>
          <p:nvSpPr>
            <p:cNvPr id="14" name="Rectangle 14"/>
            <p:cNvSpPr/>
            <p:nvPr/>
          </p:nvSpPr>
          <p:spPr>
            <a:xfrm>
              <a:off x="533400" y="2972752"/>
              <a:ext cx="497776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2206" y="31013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05100" y="31013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54449" y="31013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取中间三位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889" y="35261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30324" y="352615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15129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27170" y="3407092"/>
              <a:ext cx="147447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20134" y="352615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81762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822382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3950018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1234567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30324" y="3950018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1524155677489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027170" y="3831908"/>
              <a:ext cx="147447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20134" y="395001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972752"/>
              <a:ext cx="4977765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23072" y="297275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12882" y="297275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3"/>
          <p:cNvGrpSpPr/>
          <p:nvPr/>
        </p:nvGrpSpPr>
        <p:grpSpPr>
          <a:xfrm>
            <a:off x="533400" y="4426268"/>
            <a:ext cx="4977765" cy="1219200"/>
            <a:chOff x="533400" y="4426268"/>
            <a:chExt cx="4977765" cy="1219200"/>
          </a:xfrm>
        </p:grpSpPr>
        <p:sp>
          <p:nvSpPr>
            <p:cNvPr id="32" name="Rectangle 32"/>
            <p:cNvSpPr/>
            <p:nvPr/>
          </p:nvSpPr>
          <p:spPr>
            <a:xfrm>
              <a:off x="533400" y="4426268"/>
              <a:ext cx="4977765" cy="1219200"/>
            </a:xfrm>
            <a:prstGeom prst="roundRect">
              <a:avLst>
                <a:gd name="adj" fmla="val 937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4935855"/>
              <a:ext cx="200026" cy="200026"/>
              <a:chOff x="738188" y="4935855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9358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0025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0358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4805839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中间位同时受高位和低位影响，比直接截取低位更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5815965" y="1524000"/>
            <a:ext cx="5842635" cy="2401252"/>
            <a:chOff x="5815965" y="1524000"/>
            <a:chExt cx="5842635" cy="2401252"/>
          </a:xfrm>
        </p:grpSpPr>
        <p:sp>
          <p:nvSpPr>
            <p:cNvPr id="39" name="Rectangle 39"/>
            <p:cNvSpPr/>
            <p:nvPr/>
          </p:nvSpPr>
          <p:spPr>
            <a:xfrm>
              <a:off x="5815965" y="1524000"/>
              <a:ext cx="5842635" cy="2401252"/>
            </a:xfrm>
            <a:prstGeom prst="roundRect">
              <a:avLst>
                <a:gd name="adj" fmla="val 55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25490" y="1657350"/>
              <a:ext cx="47625" cy="213455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52185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39624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压缩法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68846" y="17568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切成等宽子串，再合并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44946" y="2100739"/>
              <a:ext cx="510908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位异或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：对各子串做异或。h(356) = h(101 100 100) = 101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XOR 100 XOR 100 = (101)₂ = 5；按 A=1 到 Z=26 的 5 位编码，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h(THE) = 10100 XOR 01000 XOR 00101 = (11001)₂ = 25。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44946" y="2961799"/>
              <a:ext cx="51271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折叠法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：对各子串求和。自左向右 h(123456789) = 123 + 456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789 = 1368；往复折返把中段倒过来写，h(123456789) = 123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654 + 789 = 1566。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5815965" y="4105275"/>
            <a:ext cx="5842635" cy="1540192"/>
            <a:chOff x="5815965" y="4105275"/>
            <a:chExt cx="5842635" cy="1540192"/>
          </a:xfrm>
        </p:grpSpPr>
        <p:sp>
          <p:nvSpPr>
            <p:cNvPr id="47" name="Rectangle 47"/>
            <p:cNvSpPr/>
            <p:nvPr/>
          </p:nvSpPr>
          <p:spPr>
            <a:xfrm>
              <a:off x="5815965" y="4105275"/>
              <a:ext cx="5842635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25490" y="4238625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52185" y="43033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43625" y="43376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35496" y="433816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异或和加法都满足交换律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44946" y="4682014"/>
              <a:ext cx="496481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字母相同、顺序不同的单词会得到同一个地址：h(THE)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h(HTE) = h(ETH) = h(TEH) = 25。往复折返把一部分子串倒序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写，就是为了破坏这种对称性。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4" name="Rectangle 5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11704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压缩法的价值在于让长关键词的每一位都参与运算，代价是要专门防住交换律。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散列函数的设计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抽取法只看几位，所以冲突多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483995"/>
            <a:chOff x="533400" y="1524000"/>
            <a:chExt cx="4977765" cy="1483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抽取法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0947" y="1756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又叫数字分析法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抽取关键词中的某几位构成地址。取十进制的奇数位：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h(1234567) = 1357；取二进制的第 3 位和后 2 位：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h(THE) = h(101000100000101) = (101)₂ = 5。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183255"/>
            <a:ext cx="4977765" cy="1831658"/>
            <a:chOff x="533400" y="3183255"/>
            <a:chExt cx="4977765" cy="1831658"/>
          </a:xfrm>
        </p:grpSpPr>
        <p:sp>
          <p:nvSpPr>
            <p:cNvPr id="14" name="Rectangle 14"/>
            <p:cNvSpPr/>
            <p:nvPr/>
          </p:nvSpPr>
          <p:spPr>
            <a:xfrm>
              <a:off x="533400" y="3183255"/>
              <a:ext cx="4977765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316605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3756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4099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7597" y="341566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函数值只依赖关键词的一部分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374904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没被抽到的位完全不影响结果，只要抽到的那几位相同就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一定冲突：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436530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4309110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h(1234567) = h(1639527) = h(1536517) = 1357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46682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4612005"/>
              <a:ext cx="364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h(THE) = h(FROM) = h(ONE) = h(WE) = 5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5190172"/>
            <a:ext cx="4977765" cy="1071562"/>
            <a:chOff x="533400" y="5190172"/>
            <a:chExt cx="4977765" cy="1071562"/>
          </a:xfrm>
        </p:grpSpPr>
        <p:sp>
          <p:nvSpPr>
            <p:cNvPr id="25" name="Rectangle 25"/>
            <p:cNvSpPr/>
            <p:nvPr/>
          </p:nvSpPr>
          <p:spPr>
            <a:xfrm>
              <a:off x="533400" y="5190172"/>
              <a:ext cx="4977765" cy="1071562"/>
            </a:xfrm>
            <a:prstGeom prst="roundRect">
              <a:avLst>
                <a:gd name="adj" fmla="val 1066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626418"/>
              <a:ext cx="200026" cy="200025"/>
              <a:chOff x="738188" y="5626418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6264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56708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57819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5507355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只有在事先分析过数据、确认某几位分布均匀时才能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用，比如学号里的流水号段。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5810631" y="1524000"/>
            <a:ext cx="5847969" cy="3120009"/>
            <a:chOff x="5810631" y="1524000"/>
            <a:chExt cx="5847969" cy="3120009"/>
          </a:xfrm>
        </p:grpSpPr>
        <p:sp>
          <p:nvSpPr>
            <p:cNvPr id="32" name="Rectangle 32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4335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595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3339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25490" y="1939290"/>
              <a:ext cx="114966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15978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除余法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83742" y="2054066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% 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21178" y="2054066"/>
              <a:ext cx="1859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必须取素数，避开 2 的幂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15978" y="2459831"/>
              <a:ext cx="521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MAD 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83742" y="2459831"/>
              <a:ext cx="9416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(aK + b) % 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21178" y="2459831"/>
              <a:ext cx="2177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素数，a&gt;1，b&gt;0，M 不整除 a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15978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乘法散列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83742" y="2865596"/>
              <a:ext cx="1094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⌊M(Kθ mod 1)⌋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21178" y="2865596"/>
              <a:ext cx="1814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取黄金分割点，M 可任取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15965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15978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平方取中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83742" y="3271361"/>
              <a:ext cx="1186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K² 的中间几位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21178" y="32713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关键词位数不能太少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15978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83742" y="36771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切段后异或或求和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21178" y="367712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要用往复折返破坏交换律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815965" y="3953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815965" y="39585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15978" y="40828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抽取法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83742" y="40828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取关键词的某几位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21178" y="40828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必须先做数据分布分析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1524000"/>
              <a:ext cx="584263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7896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1640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10631" y="44386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六种散列函数的适用场合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5815965" y="4777740"/>
            <a:ext cx="5842635" cy="1483995"/>
            <a:chOff x="5815965" y="4777740"/>
            <a:chExt cx="5842635" cy="1483995"/>
          </a:xfrm>
        </p:grpSpPr>
        <p:sp>
          <p:nvSpPr>
            <p:cNvPr id="68" name="Rectangle 68"/>
            <p:cNvSpPr/>
            <p:nvPr/>
          </p:nvSpPr>
          <p:spPr>
            <a:xfrm>
              <a:off x="5815965" y="4777740"/>
              <a:ext cx="5842635" cy="1483995"/>
            </a:xfrm>
            <a:prstGeom prst="roundRect">
              <a:avLst>
                <a:gd name="adj" fmla="val 898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008370" y="49701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095810" y="50044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怎么挑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25412" y="50101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拿不准时就用除余法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01512" y="5344478"/>
              <a:ext cx="520007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六种方法里只有除余法几乎不需要分析数据分布。先用 K % M 配一个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素数表长，实测冲突偏多再换 MAD 法或乘法散列。关键词是字符串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时，压缩法是把它变成整数的第一步。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85388" cy="2997517"/>
            <a:chOff x="667512" y="1835468"/>
            <a:chExt cx="348538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冲突处理方法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撞车之后，元素去哪儿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拉链法把同址元素串成链表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开放地址法在数组内部另找空位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平均查找长度是衡量效率的统一标尺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冲突处理方法分成两大类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533400" y="1948815"/>
            <a:ext cx="6276023" cy="3989070"/>
            <a:chOff x="533400" y="1948815"/>
            <a:chExt cx="6276023" cy="3989070"/>
          </a:xfrm>
        </p:grpSpPr>
        <p:sp>
          <p:nvSpPr>
            <p:cNvPr id="7" name="Freeform 7"/>
            <p:cNvSpPr/>
            <p:nvPr/>
          </p:nvSpPr>
          <p:spPr>
            <a:xfrm>
              <a:off x="5046345" y="212883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046345" y="3338512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1209675"/>
                  </a:moveTo>
                  <a:lnTo>
                    <a:pt x="209550" y="12096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046345" y="454818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46345" y="4548188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0"/>
                  </a:moveTo>
                  <a:lnTo>
                    <a:pt x="209550" y="0"/>
                  </a:lnTo>
                  <a:lnTo>
                    <a:pt x="209550" y="1209675"/>
                  </a:lnTo>
                  <a:lnTo>
                    <a:pt x="419100" y="12096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69808" y="2128838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1209675"/>
                  </a:moveTo>
                  <a:lnTo>
                    <a:pt x="209550" y="12096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69808" y="3338512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0"/>
                  </a:moveTo>
                  <a:lnTo>
                    <a:pt x="209550" y="0"/>
                  </a:lnTo>
                  <a:lnTo>
                    <a:pt x="209550" y="1209675"/>
                  </a:lnTo>
                  <a:lnTo>
                    <a:pt x="419100" y="12096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65445" y="1948815"/>
              <a:ext cx="134397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688908" y="1948815"/>
              <a:ext cx="2357438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65445" y="3158490"/>
              <a:ext cx="134397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65445" y="4368165"/>
              <a:ext cx="134397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65445" y="5577840"/>
              <a:ext cx="134397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88908" y="4269105"/>
              <a:ext cx="2357438" cy="558165"/>
            </a:xfrm>
            <a:prstGeom prst="roundRect">
              <a:avLst>
                <a:gd name="adj" fmla="val 1706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059430"/>
              <a:ext cx="1736408" cy="558165"/>
            </a:xfrm>
            <a:prstGeom prst="roundRect">
              <a:avLst>
                <a:gd name="adj" fmla="val 1706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54599" y="20450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78062" y="20450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开散列法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54599" y="32546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54599" y="44643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二次探查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54599" y="56740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双重探查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78062" y="4365308"/>
              <a:ext cx="950214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闭散列法</a:t>
              </a:r>
              <a:br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(开放地址法)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2554" y="3155632"/>
              <a:ext cx="6217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处理方法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7114222" y="1524000"/>
            <a:ext cx="4544378" cy="3007995"/>
            <a:chOff x="7114222" y="1524000"/>
            <a:chExt cx="4544378" cy="3007995"/>
          </a:xfrm>
        </p:grpSpPr>
        <p:sp>
          <p:nvSpPr>
            <p:cNvPr id="28" name="Rectangle 28"/>
            <p:cNvSpPr/>
            <p:nvPr/>
          </p:nvSpPr>
          <p:spPr>
            <a:xfrm>
              <a:off x="7114222" y="1524000"/>
              <a:ext cx="454437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0208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577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开散列法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11218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闭散列法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19569" y="21917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元素存在哪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92109" y="208502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数组之外的链表结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27552" y="21917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数组内部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114222" y="25927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14222" y="2597468"/>
              <a:ext cx="454437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19569" y="27289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装填因子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2109" y="2728912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可以大于 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27552" y="2728912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必须小于 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114222" y="302323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19569" y="32661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92109" y="326612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链表删除即可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27552" y="315944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要专门处理探查路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14222" y="36661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14222" y="3670935"/>
              <a:ext cx="454437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19569" y="38023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92109" y="38023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每个元素一个指针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27552" y="38023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14222" y="409670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19569" y="4232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缓存命中率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92109" y="42329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27552" y="42329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114222" y="1524000"/>
              <a:ext cx="4544378" cy="30079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82000" y="1524000"/>
              <a:ext cx="9525" cy="30079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017442" y="1524000"/>
              <a:ext cx="9525" cy="30079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7114222" y="4716780"/>
            <a:ext cx="4544378" cy="1564958"/>
            <a:chOff x="7114222" y="4716780"/>
            <a:chExt cx="4544378" cy="1564958"/>
          </a:xfrm>
        </p:grpSpPr>
        <p:sp>
          <p:nvSpPr>
            <p:cNvPr id="57" name="Rectangle 57"/>
            <p:cNvSpPr/>
            <p:nvPr/>
          </p:nvSpPr>
          <p:spPr>
            <a:xfrm>
              <a:off x="7114222" y="4716780"/>
              <a:ext cx="4544378" cy="1564958"/>
            </a:xfrm>
            <a:prstGeom prst="roundRect">
              <a:avLst>
                <a:gd name="adj" fmla="val 852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18058" y="49206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08266" y="49563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18514" y="496109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开与闭说的是元素的活动范围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10818" y="5312569"/>
              <a:ext cx="381965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开散列法里元素可以“走出”数组，闭散列法里元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素被“关在”数组内。开放地址法是闭散列法的别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名，强调的是空闲地址对所有关键词开放。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拉链法：散列地址相同的记录串成一条链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582442" cy="293370"/>
            <a:chOff x="525780" y="1548765"/>
            <a:chExt cx="658244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5824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令散列地址等于 i 的记录组成一个单链表，指针 T[i] 是该链表的头指针。</a:t>
              </a:r>
            </a:p>
          </p:txBody>
        </p:sp>
      </p:grpSp>
      <p:grpSp>
        <p:nvGrpSpPr>
          <p:cNvPr id="62" name="c1-cells-1"/>
          <p:cNvGrpSpPr/>
          <p:nvPr/>
        </p:nvGrpSpPr>
        <p:grpSpPr>
          <a:xfrm>
            <a:off x="527685" y="1954530"/>
            <a:ext cx="4510087" cy="3843338"/>
            <a:chOff x="527685" y="1954530"/>
            <a:chExt cx="4510087" cy="3843338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8740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T[0]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95362" y="195453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63585" y="20874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17382" y="1954530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80924" y="20950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7685" y="2660809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T[1]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95362" y="252698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07121" y="26608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917382" y="2526982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993582" y="270224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022158" y="273081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65058" y="26879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450782" y="252698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19005" y="26608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72802" y="2526982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36344" y="266842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7685" y="323326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T[2]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95362" y="3100388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63585" y="32332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917382" y="3100388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80924" y="324088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7685" y="3806666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T[3]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95362" y="367284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07121" y="3806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17382" y="3672840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80924" y="38142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7685" y="4379119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T[4]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95362" y="4246245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363585" y="437911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917382" y="4246245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980924" y="43867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7685" y="495157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T[5]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95362" y="4818698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63585" y="495157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917382" y="4818698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993582" y="499300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022158" y="502158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365058" y="497871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450782" y="4818698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819005" y="495157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372802" y="4818698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3449002" y="499300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3477578" y="502158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3820478" y="497871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906202" y="4818698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274425" y="495157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828222" y="4818698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91764" y="495919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7685" y="5524976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T[6]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95362" y="539115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363585" y="55249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917382" y="5391150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980924" y="553259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95" name="c2-table-1"/>
          <p:cNvGrpSpPr/>
          <p:nvPr/>
        </p:nvGrpSpPr>
        <p:grpSpPr>
          <a:xfrm>
            <a:off x="6242685" y="1954530"/>
            <a:ext cx="5415915" cy="1155859"/>
            <a:chOff x="6242685" y="1954530"/>
            <a:chExt cx="5415915" cy="1155859"/>
          </a:xfrm>
        </p:grpSpPr>
        <p:sp>
          <p:nvSpPr>
            <p:cNvPr id="63" name="Rectangle 63"/>
            <p:cNvSpPr/>
            <p:nvPr/>
          </p:nvSpPr>
          <p:spPr>
            <a:xfrm>
              <a:off x="6248400" y="195453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91478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78690" y="20859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16826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62622" y="20859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854112" y="20859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45602" y="20859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38045" y="20859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329535" y="20859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821025" y="20859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313467" y="20859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53747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散列值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3767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2916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2065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1310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30459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9703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28852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78001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272456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248400" y="1954530"/>
              <a:ext cx="5410200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227570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719060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210550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702992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194482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686925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178415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10669905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11162348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242685" y="2890361"/>
              <a:ext cx="1568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散列函数 h(K) = K % 7</a:t>
              </a:r>
            </a:p>
          </p:txBody>
        </p:sp>
      </p:grpSp>
      <p:grpSp>
        <p:nvGrpSpPr>
          <p:cNvPr id="105" name="c2-card-2"/>
          <p:cNvGrpSpPr/>
          <p:nvPr/>
        </p:nvGrpSpPr>
        <p:grpSpPr>
          <a:xfrm>
            <a:off x="6248400" y="3251835"/>
            <a:ext cx="5410200" cy="1894522"/>
            <a:chOff x="6248400" y="3251835"/>
            <a:chExt cx="5410200" cy="1894522"/>
          </a:xfrm>
        </p:grpSpPr>
        <p:sp>
          <p:nvSpPr>
            <p:cNvPr id="96" name="Rectangle 96"/>
            <p:cNvSpPr/>
            <p:nvPr/>
          </p:nvSpPr>
          <p:spPr>
            <a:xfrm>
              <a:off x="6248400" y="3251835"/>
              <a:ext cx="5410200" cy="1894522"/>
            </a:xfrm>
            <a:prstGeom prst="roundRect">
              <a:avLst>
                <a:gd name="adj" fmla="val 703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452235" y="345567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534544" y="34913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工程实现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337488" y="349519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主流语言的字典就是拉链法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6459855" y="390715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616446" y="3846671"/>
              <a:ext cx="24557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C++ STL 的 </a:t>
              </a:r>
              <a:r>
                <a:rPr lang="en-US" sz="142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unordered_map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6459855" y="422719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616446" y="4166711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Java 的 </a:t>
              </a:r>
              <a:r>
                <a:rPr lang="en-US" sz="142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HashMap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，单桶链长超过 8 且表长不小于 64 时把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链表转成红黑树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446139" y="4754880"/>
              <a:ext cx="4895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链表很长时也可以换成跳表或查找树，把单桶的 O(n) 降到 O(logn)</a:t>
              </a:r>
            </a:p>
          </p:txBody>
        </p:sp>
      </p:grpSp>
      <p:grpSp>
        <p:nvGrpSpPr>
          <p:cNvPr id="112" name="c2-callout-3"/>
          <p:cNvGrpSpPr/>
          <p:nvPr/>
        </p:nvGrpSpPr>
        <p:grpSpPr>
          <a:xfrm>
            <a:off x="6248400" y="5331142"/>
            <a:ext cx="5410200" cy="756285"/>
            <a:chOff x="6248400" y="5331142"/>
            <a:chExt cx="5410200" cy="756285"/>
          </a:xfrm>
        </p:grpSpPr>
        <p:sp>
          <p:nvSpPr>
            <p:cNvPr id="106" name="Rectangle 106"/>
            <p:cNvSpPr/>
            <p:nvPr/>
          </p:nvSpPr>
          <p:spPr>
            <a:xfrm>
              <a:off x="6248400" y="533114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0" name="Group 110"/>
            <p:cNvGrpSpPr/>
            <p:nvPr/>
          </p:nvGrpSpPr>
          <p:grpSpPr>
            <a:xfrm>
              <a:off x="6453188" y="5609273"/>
              <a:ext cx="200026" cy="200025"/>
              <a:chOff x="6453188" y="5609273"/>
              <a:chExt cx="200026" cy="200025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6453188" y="56092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6492926" y="56537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6527642" y="57648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6755511" y="5479256"/>
              <a:ext cx="439674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表长 M = 7 却存了 9 个元素，装填因子 9/7 大于 1，这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在拉链法里完全正常。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拉链法的查找成功平均查找长度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29300" cy="264033"/>
            <a:chOff x="526542" y="1545907"/>
            <a:chExt cx="582930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散列建立了直接映射，但冲突还在，所以仍要用平均查找长度衡量效率。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842635" cy="1202055"/>
            <a:chOff x="533400" y="1928812"/>
            <a:chExt cx="5842635" cy="120205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1315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查找成功的 ASL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51829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输入是表中实际存在的元素，共 n 种，每种等概率。对每种输入数出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要比较多少次关键词，再取平均。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33400" y="3301365"/>
            <a:ext cx="5842635" cy="1600200"/>
            <a:chOff x="533400" y="3301365"/>
            <a:chExt cx="5842635" cy="1600200"/>
          </a:xfrm>
        </p:grpSpPr>
        <p:sp>
          <p:nvSpPr>
            <p:cNvPr id="16" name="Rectangle 16"/>
            <p:cNvSpPr/>
            <p:nvPr/>
          </p:nvSpPr>
          <p:spPr>
            <a:xfrm>
              <a:off x="533400" y="3301365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9074" y="34228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89351" y="34228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哪些元素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8506" y="34228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0555" y="382285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16430" y="3822859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21, 1, 23, 11, 19, 55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71110" y="38228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967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101465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422290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16430" y="4222909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36, 68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71110" y="42229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4967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62295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16430" y="462295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83480" y="4511040"/>
              <a:ext cx="138303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71110" y="4622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301365"/>
              <a:ext cx="584263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14512" y="330136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969192" y="330136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27"/>
              <p:cNvSpPr txBox="1">
                <a:spLocks noGrp="1"/>
              </p:cNvSpPr>
              <p:nvPr/>
            </p:nvSpPr>
            <p:spPr>
              <a:xfrm>
                <a:off x="533400" y="5071110"/>
                <a:ext cx="5842635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AS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成功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13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1.44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4" name="c2-card-1"/>
          <p:cNvGrpSpPr/>
          <p:nvPr/>
        </p:nvGrpSpPr>
        <p:grpSpPr>
          <a:xfrm>
            <a:off x="6680835" y="1928812"/>
            <a:ext cx="4977765" cy="1459230"/>
            <a:chOff x="6680835" y="1928812"/>
            <a:chExt cx="4977765" cy="1459230"/>
          </a:xfrm>
        </p:grpSpPr>
        <p:sp>
          <p:nvSpPr>
            <p:cNvPr id="38" name="Rectangle 38"/>
            <p:cNvSpPr/>
            <p:nvPr/>
          </p:nvSpPr>
          <p:spPr>
            <a:xfrm>
              <a:off x="6680835" y="1928812"/>
              <a:ext cx="497776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0360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05625" y="21155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94246" y="21483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95997" y="2150745"/>
              <a:ext cx="2451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链上第 k 个结点就要比较 k 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8767" y="2476500"/>
              <a:ext cx="43256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查找从桶的头指针开始沿链走，遇到的第一个结点比较 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次，第二个比较 2 次。所以只要数出每条链上各位置的结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点个数就够了，不必逐个关键词列举。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680835" y="3558540"/>
            <a:ext cx="4977765" cy="2104072"/>
            <a:chOff x="6680835" y="3558540"/>
            <a:chExt cx="4977765" cy="2104072"/>
          </a:xfrm>
        </p:grpSpPr>
        <p:sp>
          <p:nvSpPr>
            <p:cNvPr id="45" name="Rectangle 45"/>
            <p:cNvSpPr/>
            <p:nvPr/>
          </p:nvSpPr>
          <p:spPr>
            <a:xfrm>
              <a:off x="6680835" y="3558540"/>
              <a:ext cx="4977765" cy="2104072"/>
            </a:xfrm>
            <a:prstGeom prst="roundRect">
              <a:avLst>
                <a:gd name="adj" fmla="val 633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67525" y="37452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60197" y="37780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34072" y="3779520"/>
              <a:ext cx="1648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O(1) 的前提写清楚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0667" y="4106227"/>
              <a:ext cx="4374547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 1.44 次比较是在这 9 个关键词、这一个散列函数下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算出来的。一般结论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平均 O(1)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要求散列函数均匀、装填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因子受控；若所有关键词撞进同一条链，查找退化成</a:t>
              </a:r>
              <a:br/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的顺序查找。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1" name="Rectangle 5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8373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比较次数只数与链上结点的关键词比较，不数“取出头指针”这一步。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拉链法的查找不成功平均查找长度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621155"/>
            <a:chOff x="533400" y="1524000"/>
            <a:chExt cx="5842635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663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查找不成功的 ASL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输入是表中没有的关键词。它们经散列函数计算后只可能落到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 到 6 这 7 个位置，所以可能的输入分成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 种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，等于散列函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数的值域大小，与元素个数无关。</a:t>
              </a:r>
            </a:p>
          </p:txBody>
        </p:sp>
      </p:grpSp>
      <p:grpSp>
        <p:nvGrpSpPr>
          <p:cNvPr id="50" name="c1-table-2"/>
          <p:cNvGrpSpPr/>
          <p:nvPr/>
        </p:nvGrpSpPr>
        <p:grpSpPr>
          <a:xfrm>
            <a:off x="533400" y="3335655"/>
            <a:ext cx="5842635" cy="1346835"/>
            <a:chOff x="533400" y="3335655"/>
            <a:chExt cx="5842635" cy="1346835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97547" y="34713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桶号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4035" y="34713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26972" y="34713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69910" y="34713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11895" y="34713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4832" y="34713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97770" y="34713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69282" y="34713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223" y="39200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27098" y="39200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69083" y="39200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12020" y="39200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54958" y="39200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97896" y="39200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39880" y="39200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82818" y="39200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2281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23291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3686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7098" y="43686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69083" y="43686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12020" y="43686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756660" y="4242435"/>
              <a:ext cx="62388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54958" y="43686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97896" y="43686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39880" y="43686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82818" y="43686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335655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814512" y="33356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456498" y="33356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099435" y="33356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742372" y="33356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385310" y="33356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027295" y="33356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70232" y="33356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29"/>
              <p:cNvSpPr txBox="1">
                <a:spLocks noGrp="1"/>
              </p:cNvSpPr>
              <p:nvPr/>
            </p:nvSpPr>
            <p:spPr>
              <a:xfrm>
                <a:off x="533400" y="4872990"/>
                <a:ext cx="5842635" cy="642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AS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不成功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1.29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8" name="c2-card-1"/>
          <p:cNvGrpSpPr/>
          <p:nvPr/>
        </p:nvGrpSpPr>
        <p:grpSpPr>
          <a:xfrm>
            <a:off x="6680835" y="1524000"/>
            <a:ext cx="4977765" cy="1621155"/>
            <a:chOff x="6680835" y="1524000"/>
            <a:chExt cx="4977765" cy="1621155"/>
          </a:xfrm>
        </p:grpSpPr>
        <p:sp>
          <p:nvSpPr>
            <p:cNvPr id="52" name="Rectangle 52"/>
            <p:cNvSpPr/>
            <p:nvPr/>
          </p:nvSpPr>
          <p:spPr>
            <a:xfrm>
              <a:off x="6680835" y="152400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2848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06844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最常见的错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56233" y="1768792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分母写成元素个数 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20865" y="2129790"/>
              <a:ext cx="4225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查找不成功时元素个数根本不参与计算，分母永远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是散列函数的值域大小。这一条在开放地址法里同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样成立，第24页的考研题就是拿这一点设的陷阱。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680835" y="3335655"/>
            <a:ext cx="4977765" cy="2438400"/>
            <a:chOff x="6680835" y="3335655"/>
            <a:chExt cx="4977765" cy="2438400"/>
          </a:xfrm>
        </p:grpSpPr>
        <p:sp>
          <p:nvSpPr>
            <p:cNvPr id="59" name="Rectangle 59"/>
            <p:cNvSpPr/>
            <p:nvPr/>
          </p:nvSpPr>
          <p:spPr>
            <a:xfrm>
              <a:off x="6680835" y="3335655"/>
              <a:ext cx="4977765" cy="2438400"/>
            </a:xfrm>
            <a:prstGeom prst="roundRect">
              <a:avLst>
                <a:gd name="adj" fmla="val 5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90360" y="3469005"/>
              <a:ext cx="47625" cy="21717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28485" y="354520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06844" y="358092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两种记数法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56233" y="3580448"/>
              <a:ext cx="211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空桶记 0 次还是记 1 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20865" y="3941445"/>
              <a:ext cx="41967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本页把空桶 T[3] 记作 0 次比较，这样算出来的结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果恒等于装填因子 α = n/M。第36页的理论公式 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e⁻ᵅ 则把“查看头指针发现是空”也算一次探查，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相当于空桶记 1 次。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22008" y="5130641"/>
              <a:ext cx="43451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两种记法各自自洽，做题时按题面问的是“比较次数”还是“探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查次数”来选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线性探查：位置被占就顺着往后挪一格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6276022" cy="1724025"/>
            <a:chOff x="533400" y="1524000"/>
            <a:chExt cx="6276022" cy="17240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线性探查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3340" y="174593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以固定次序查找，直到命中或遇到空位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40"/>
                <p:cNvSpPr txBox="1">
                  <a:spLocks noGrp="1"/>
                </p:cNvSpPr>
                <p:nvPr/>
              </p:nvSpPr>
              <p:spPr>
                <a:xfrm>
                  <a:off x="758190" y="2049780"/>
                  <a:ext cx="586454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2593658"/>
              <a:ext cx="54658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循环探查路径：h(K), h(K)+1, …, M−1, 0, 1, …, h(K)−1，走满一圈为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止。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28447" y="3418522"/>
            <a:ext cx="6280975" cy="1063657"/>
            <a:chOff x="528447" y="3418522"/>
            <a:chExt cx="6280975" cy="1063657"/>
          </a:xfrm>
        </p:grpSpPr>
        <p:sp>
          <p:nvSpPr>
            <p:cNvPr id="15" name="Rectangle 15"/>
            <p:cNvSpPr/>
            <p:nvPr/>
          </p:nvSpPr>
          <p:spPr>
            <a:xfrm>
              <a:off x="533400" y="3418522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2086" y="35399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35110" y="35399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62808" y="35399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02609" y="3539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55338" y="35399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83035" y="35399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09780" y="35399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49581" y="3539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5846" y="3539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0555" y="39400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散列地址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11680" y="3940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38425" y="3940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66122" y="3940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30955" y="3940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371022" y="3828098"/>
              <a:ext cx="60864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58652" y="3940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86350" y="3940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626418" y="3828098"/>
              <a:ext cx="54578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14048" y="3940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8880" y="3940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418522"/>
              <a:ext cx="6276022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909762" y="341852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536508" y="341852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164205" y="341852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729038" y="341852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56735" y="341852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984432" y="341852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612130" y="341852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76962" y="341852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447" y="4291489"/>
              <a:ext cx="2303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散列函数 h(K) = K % 10，表长 M = 10</a:t>
              </a:r>
            </a:p>
          </p:txBody>
        </p:sp>
      </p:grpSp>
      <p:grpSp>
        <p:nvGrpSpPr>
          <p:cNvPr id="78" name="c1-cells-3"/>
          <p:cNvGrpSpPr/>
          <p:nvPr/>
        </p:nvGrpSpPr>
        <p:grpSpPr>
          <a:xfrm>
            <a:off x="528447" y="4613910"/>
            <a:ext cx="6280976" cy="584359"/>
            <a:chOff x="528447" y="4613910"/>
            <a:chExt cx="6280976" cy="584359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473725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40130" y="4613910"/>
              <a:ext cx="57721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247596" y="47372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617345" y="4613910"/>
              <a:ext cx="57721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862905" y="473725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193608" y="4613910"/>
              <a:ext cx="57721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439168" y="473725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770822" y="4613910"/>
              <a:ext cx="57721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978289" y="47372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348038" y="4613910"/>
              <a:ext cx="577215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55504" y="47372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924300" y="4613910"/>
              <a:ext cx="57721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141991" y="473725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501515" y="4613910"/>
              <a:ext cx="57721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708981" y="47372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078730" y="4613910"/>
              <a:ext cx="57721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86196" y="47372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654992" y="4613910"/>
              <a:ext cx="577215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00553" y="473725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32208" y="4613910"/>
              <a:ext cx="57721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49898" y="473725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293618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870833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447096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024311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601526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177788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755003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332218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908481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85696" y="5036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81" name="c2-image-1"/>
          <p:cNvGrpSpPr/>
          <p:nvPr/>
        </p:nvGrpSpPr>
        <p:grpSpPr>
          <a:xfrm>
            <a:off x="7709535" y="1524000"/>
            <a:ext cx="3352800" cy="2797206"/>
            <a:chOff x="7709535" y="1524000"/>
            <a:chExt cx="3352800" cy="2797206"/>
          </a:xfrm>
        </p:grpSpPr>
        <p:pic>
          <p:nvPicPr>
            <p:cNvPr id="79" name="Image 7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9535" y="1524000"/>
              <a:ext cx="3352800" cy="2514600"/>
            </a:xfrm>
            <a:prstGeom prst="roundRect">
              <a:avLst>
                <a:gd name="adj" fmla="val 5303"/>
              </a:avLst>
            </a:prstGeom>
          </p:spPr>
        </p:pic>
        <p:sp>
          <p:nvSpPr>
            <p:cNvPr id="80" name="TextBox 80"/>
            <p:cNvSpPr txBox="1"/>
            <p:nvPr/>
          </p:nvSpPr>
          <p:spPr>
            <a:xfrm>
              <a:off x="8061706" y="4130516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车位被占就沿着车道往前找，这就是线性探查</a:t>
              </a:r>
            </a:p>
          </p:txBody>
        </p:sp>
      </p:grpSp>
      <p:grpSp>
        <p:nvGrpSpPr>
          <p:cNvPr id="87" name="c2-card-2"/>
          <p:cNvGrpSpPr/>
          <p:nvPr/>
        </p:nvGrpSpPr>
        <p:grpSpPr>
          <a:xfrm>
            <a:off x="7114222" y="4471988"/>
            <a:ext cx="4544378" cy="1202055"/>
            <a:chOff x="7114222" y="4471988"/>
            <a:chExt cx="4544378" cy="1202055"/>
          </a:xfrm>
        </p:grpSpPr>
        <p:sp>
          <p:nvSpPr>
            <p:cNvPr id="82" name="Rectangle 82"/>
            <p:cNvSpPr/>
            <p:nvPr/>
          </p:nvSpPr>
          <p:spPr>
            <a:xfrm>
              <a:off x="7114222" y="4471988"/>
              <a:ext cx="4544378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300912" y="465867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385482" y="46915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两处冲突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115110" y="4693920"/>
              <a:ext cx="1590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 和 6 各挪了两格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294054" y="5019675"/>
              <a:ext cx="39484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 的地址是 2，2 和 3 都被占，落到 4；6 的地址是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6，6 和 7 都被占，落到 8。</a:t>
              </a:r>
            </a:p>
          </p:txBody>
        </p:sp>
      </p:grpSp>
      <p:grpSp>
        <p:nvGrpSpPr>
          <p:cNvPr id="9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8" name="Rectangle 8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040892" y="6028373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线性探查只访问相邻单元，一次缓存行加载就能覆盖好几个探查位置，缓存命中率很高。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装填因子与聚集现象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975485"/>
            <a:chOff x="533400" y="1524000"/>
            <a:chExt cx="5626418" cy="1975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75485"/>
            </a:xfrm>
            <a:prstGeom prst="roundRect">
              <a:avLst>
                <a:gd name="adj" fmla="val 6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087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20173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装填因子 Load Factor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45"/>
                <p:cNvSpPr txBox="1">
                  <a:spLocks noGrp="1"/>
                </p:cNvSpPr>
                <p:nvPr/>
              </p:nvSpPr>
              <p:spPr>
                <a:xfrm>
                  <a:off x="769620" y="2077402"/>
                  <a:ext cx="5192078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2381" y="2807494"/>
              <a:ext cx="486562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是散列表空间大小，N 是已填入的元素个数。上一页的例子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8/10 = 0.8。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28066" y="3679508"/>
            <a:ext cx="5631752" cy="1977961"/>
            <a:chOff x="528066" y="3679508"/>
            <a:chExt cx="5631752" cy="1977961"/>
          </a:xfrm>
        </p:grpSpPr>
        <p:sp>
          <p:nvSpPr>
            <p:cNvPr id="15" name="Rectangle 15"/>
            <p:cNvSpPr/>
            <p:nvPr/>
          </p:nvSpPr>
          <p:spPr>
            <a:xfrm>
              <a:off x="533400" y="3679508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22070" y="38080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92158" y="38080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装填因子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9534" y="38080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超过之后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889" y="4232910"/>
              <a:ext cx="1140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HashMap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48509" y="42329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99154" y="423291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容量翻倍并全表 rehash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5243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52913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4656772"/>
              <a:ext cx="1596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unordered_map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8509" y="465677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99154" y="4656772"/>
              <a:ext cx="2079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 max_load_factor 修改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9482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5081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一般建议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48509" y="5081588"/>
              <a:ext cx="803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 到 0.8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99154" y="508158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闭散列法尤其要留空位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679508"/>
              <a:ext cx="5626418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41258" y="367950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791902" y="367950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066" y="5452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工程实现的默认值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464618" y="1524000"/>
            <a:ext cx="5193982" cy="1268730"/>
            <a:chOff x="6464618" y="1524000"/>
            <a:chExt cx="5193982" cy="1268730"/>
          </a:xfrm>
        </p:grpSpPr>
        <p:sp>
          <p:nvSpPr>
            <p:cNvPr id="36" name="Rectangle 36"/>
            <p:cNvSpPr/>
            <p:nvPr/>
          </p:nvSpPr>
          <p:spPr>
            <a:xfrm>
              <a:off x="6464618" y="1524000"/>
              <a:ext cx="5193982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165735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00838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2278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84148" y="17568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聚集现象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3598" y="210073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很多元素连成一片，后来的关键词只要落进这一片，就得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把整片走完才能找到空位，探查次数迅速增加。</a:t>
              </a:r>
            </a:p>
          </p:txBody>
        </p:sp>
      </p:grpSp>
      <p:grpSp>
        <p:nvGrpSpPr>
          <p:cNvPr id="74" name="c2-cells-2"/>
          <p:cNvGrpSpPr/>
          <p:nvPr/>
        </p:nvGrpSpPr>
        <p:grpSpPr>
          <a:xfrm>
            <a:off x="6459284" y="2972752"/>
            <a:ext cx="5199316" cy="610077"/>
            <a:chOff x="6459284" y="2972752"/>
            <a:chExt cx="5199316" cy="610077"/>
          </a:xfrm>
        </p:grpSpPr>
        <p:sp>
          <p:nvSpPr>
            <p:cNvPr id="43" name="TextBox 43"/>
            <p:cNvSpPr txBox="1"/>
            <p:nvPr/>
          </p:nvSpPr>
          <p:spPr>
            <a:xfrm>
              <a:off x="6459284" y="31051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998018" y="2972752"/>
              <a:ext cx="465772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44416" y="31051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463790" y="2972752"/>
              <a:ext cx="465772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51003" y="3105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930515" y="2972752"/>
              <a:ext cx="465772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16776" y="3105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396288" y="2972752"/>
              <a:ext cx="465772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42686" y="31051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862060" y="2972752"/>
              <a:ext cx="465772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008458" y="31051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328785" y="2972752"/>
              <a:ext cx="46577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85186" y="310515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794558" y="2972752"/>
              <a:ext cx="46577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940956" y="31051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260330" y="2972752"/>
              <a:ext cx="46577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406728" y="31051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726102" y="2972752"/>
              <a:ext cx="46577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913316" y="3105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1192828" y="2972752"/>
              <a:ext cx="46577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349228" y="310515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96261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62033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27806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94531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60303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26076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92801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58573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924346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390118" y="3420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464618" y="3728085"/>
            <a:ext cx="5193982" cy="1887855"/>
            <a:chOff x="6464618" y="3728085"/>
            <a:chExt cx="5193982" cy="1887855"/>
          </a:xfrm>
        </p:grpSpPr>
        <p:sp>
          <p:nvSpPr>
            <p:cNvPr id="75" name="Rectangle 75"/>
            <p:cNvSpPr/>
            <p:nvPr/>
          </p:nvSpPr>
          <p:spPr>
            <a:xfrm>
              <a:off x="6464618" y="3728085"/>
              <a:ext cx="5193982" cy="1887855"/>
            </a:xfrm>
            <a:prstGeom prst="roundRect">
              <a:avLst>
                <a:gd name="adj" fmla="val 605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669405" y="4572002"/>
              <a:ext cx="200023" cy="200023"/>
              <a:chOff x="6669405" y="4572002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669405" y="45720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802755" y="4638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971729" y="4310539"/>
              <a:ext cx="420738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 31 时 h(31) = 1，要依次探查 1、2、3、4 四个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被占位置，第 5 次碰到空位 5 才能断定 31 不在表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1" name="Rectangle 8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511" y="6011704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聚集是线性探查独有的毛病：两片相邻的簇一旦连起来，探查长度会成倍变长。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线性探查的查找成功平均查找长度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查找成功时的比较次数，正好等于这个元素当初被插入时所用的探查次数。</a:t>
              </a:r>
            </a:p>
          </p:txBody>
        </p:sp>
      </p:grpSp>
      <p:grpSp>
        <p:nvGrpSpPr>
          <p:cNvPr id="63" name="c1-table-1"/>
          <p:cNvGrpSpPr/>
          <p:nvPr/>
        </p:nvGrpSpPr>
        <p:grpSpPr>
          <a:xfrm>
            <a:off x="533400" y="1928812"/>
            <a:ext cx="6059805" cy="3600450"/>
            <a:chOff x="533400" y="1928812"/>
            <a:chExt cx="6059805" cy="36004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8281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69829" y="2050256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h(K)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3067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16296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555" y="24503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85022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1757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107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241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289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503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5022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1757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107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85022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1757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107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242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5290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36504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85022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17570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1070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243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40505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85022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17570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663440" y="3938588"/>
              <a:ext cx="192024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51070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3243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3291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44505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85022" y="4450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17570" y="4450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51070" y="4450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7244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0555" y="4850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085022" y="48506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17570" y="48506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663440" y="4738688"/>
              <a:ext cx="192024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751070" y="48506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1244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51292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0555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085022" y="5250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7570" y="5250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51070" y="5250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928812"/>
              <a:ext cx="6059805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983105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315652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649152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formula51"/>
              <p:cNvSpPr txBox="1">
                <a:spLocks noGrp="1"/>
              </p:cNvSpPr>
              <p:nvPr/>
            </p:nvSpPr>
            <p:spPr>
              <a:xfrm>
                <a:off x="533400" y="5698808"/>
                <a:ext cx="6059805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AS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成功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1.5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1" name="c2-card-1"/>
          <p:cNvGrpSpPr/>
          <p:nvPr/>
        </p:nvGrpSpPr>
        <p:grpSpPr>
          <a:xfrm>
            <a:off x="6898005" y="1928812"/>
            <a:ext cx="4760595" cy="1459230"/>
            <a:chOff x="6898005" y="1928812"/>
            <a:chExt cx="4760595" cy="1459230"/>
          </a:xfrm>
        </p:grpSpPr>
        <p:sp>
          <p:nvSpPr>
            <p:cNvPr id="65" name="Rectangle 65"/>
            <p:cNvSpPr/>
            <p:nvPr/>
          </p:nvSpPr>
          <p:spPr>
            <a:xfrm>
              <a:off x="6898005" y="1928812"/>
              <a:ext cx="476059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907530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122795" y="21155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11416" y="21483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怎么数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813167" y="215074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输入种数等于表中实际元素个数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15937" y="2476500"/>
              <a:ext cx="40770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表里有 8 个元素就有 8 种输入，每种等概率。查找 20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探查 1 次命中，查找 32 要先看 2、3 两格再在 4 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中，共 3 次。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6898005" y="3558540"/>
            <a:ext cx="4760595" cy="1459230"/>
            <a:chOff x="6898005" y="3558540"/>
            <a:chExt cx="4760595" cy="1459230"/>
          </a:xfrm>
        </p:grpSpPr>
        <p:sp>
          <p:nvSpPr>
            <p:cNvPr id="72" name="Rectangle 72"/>
            <p:cNvSpPr/>
            <p:nvPr/>
          </p:nvSpPr>
          <p:spPr>
            <a:xfrm>
              <a:off x="6898005" y="3558540"/>
              <a:ext cx="4760595" cy="1459230"/>
            </a:xfrm>
            <a:prstGeom prst="roundRect">
              <a:avLst>
                <a:gd name="adj" fmla="val 913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084695" y="37452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176414" y="37780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50289" y="3779520"/>
              <a:ext cx="2040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这里的“次数”是探查次数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077837" y="4106227"/>
              <a:ext cx="41799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每访问一个数组单元算一次。开放地址法习惯叫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平均探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测次数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，拉链法习惯叫平均比较次数，两者数的都是访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问存储单元的次数。</a:t>
              </a:r>
            </a:p>
          </p:txBody>
        </p:sp>
      </p:grpSp>
      <p:grpSp>
        <p:nvGrpSpPr>
          <p:cNvPr id="84" name="c2-callout-3"/>
          <p:cNvGrpSpPr/>
          <p:nvPr/>
        </p:nvGrpSpPr>
        <p:grpSpPr>
          <a:xfrm>
            <a:off x="6898005" y="5187315"/>
            <a:ext cx="4760595" cy="1102995"/>
            <a:chOff x="6898005" y="5187315"/>
            <a:chExt cx="4760595" cy="1102995"/>
          </a:xfrm>
        </p:grpSpPr>
        <p:sp>
          <p:nvSpPr>
            <p:cNvPr id="78" name="Rectangle 78"/>
            <p:cNvSpPr/>
            <p:nvPr/>
          </p:nvSpPr>
          <p:spPr>
            <a:xfrm>
              <a:off x="6898005" y="5187315"/>
              <a:ext cx="4760595" cy="1102995"/>
            </a:xfrm>
            <a:prstGeom prst="roundRect">
              <a:avLst>
                <a:gd name="adj" fmla="val 1036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102793" y="5638800"/>
              <a:ext cx="200026" cy="200025"/>
              <a:chOff x="7102793" y="5638800"/>
              <a:chExt cx="200026" cy="200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102793" y="56388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142531" y="56832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177247" y="57943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7405497" y="5520690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手算时不必重新模拟查找，直接沿用插入时的探查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次数即可，两者一定相等。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线性探查的查找不成功平均查找长度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7685" y="1524000"/>
            <a:ext cx="6281737" cy="1193007"/>
            <a:chOff x="527685" y="1524000"/>
            <a:chExt cx="6281737" cy="119300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4236" y="1659731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h(K)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494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7167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9936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609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5378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8051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0819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3493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6261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934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探查次数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546860" y="1982152"/>
              <a:ext cx="50768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45158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72843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9957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7260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53993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1678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8410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35143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62828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89561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6276022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532572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6025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586990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14675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64140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69092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695825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22255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50242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76975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249697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从每个可能的散列地址出发，探查到空位为止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formula53"/>
              <p:cNvSpPr txBox="1">
                <a:spLocks noGrp="1"/>
              </p:cNvSpPr>
              <p:nvPr/>
            </p:nvSpPr>
            <p:spPr>
              <a:xfrm>
                <a:off x="533400" y="2863215"/>
                <a:ext cx="6276022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AS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不成功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3.1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0" name="c1-card-3"/>
          <p:cNvGrpSpPr/>
          <p:nvPr/>
        </p:nvGrpSpPr>
        <p:grpSpPr>
          <a:xfrm>
            <a:off x="533400" y="3619500"/>
            <a:ext cx="6276022" cy="1621155"/>
            <a:chOff x="533400" y="3619500"/>
            <a:chExt cx="6276022" cy="1621155"/>
          </a:xfrm>
        </p:grpSpPr>
        <p:sp>
          <p:nvSpPr>
            <p:cNvPr id="45" name="Rectangle 45"/>
            <p:cNvSpPr/>
            <p:nvPr/>
          </p:nvSpPr>
          <p:spPr>
            <a:xfrm>
              <a:off x="533400" y="3619500"/>
              <a:ext cx="6276022" cy="1621155"/>
            </a:xfrm>
            <a:prstGeom prst="roundRect">
              <a:avLst>
                <a:gd name="adj" fmla="val 82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42950" y="38290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158" y="38647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43978" y="3864292"/>
              <a:ext cx="21190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 h(K)=0 记 6 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5330" y="4225290"/>
              <a:ext cx="5473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从地址 0 出发要走过 0、1、2、3、4 五个被占单元，第 6 次探到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空位 5 才停，所以记 6 次。地址 6 的那一段同理：走过 6、7、8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三格，第 4 次探到空位 9。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7114222" y="1524000"/>
            <a:ext cx="4544378" cy="1621155"/>
            <a:chOff x="7114222" y="1524000"/>
            <a:chExt cx="4544378" cy="1621155"/>
          </a:xfrm>
        </p:grpSpPr>
        <p:sp>
          <p:nvSpPr>
            <p:cNvPr id="51" name="Rectangle 51"/>
            <p:cNvSpPr/>
            <p:nvPr/>
          </p:nvSpPr>
          <p:spPr>
            <a:xfrm>
              <a:off x="7114222" y="1524000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23748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61872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48131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怎么数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04823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输入种数等于散列函数的值域大小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54252" y="2129790"/>
              <a:ext cx="388620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输入数据经散列函数计算后只可能映射到 0 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9，所以可能的输入有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 种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。从每个起点沿探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查路径走，直到遇到第一个空位。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7114222" y="3335655"/>
            <a:ext cx="4544378" cy="1905000"/>
            <a:chOff x="7114222" y="3335655"/>
            <a:chExt cx="4544378" cy="1905000"/>
          </a:xfrm>
        </p:grpSpPr>
        <p:sp>
          <p:nvSpPr>
            <p:cNvPr id="58" name="Rectangle 58"/>
            <p:cNvSpPr/>
            <p:nvPr/>
          </p:nvSpPr>
          <p:spPr>
            <a:xfrm>
              <a:off x="7114222" y="3335655"/>
              <a:ext cx="4544378" cy="1905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23748" y="3469005"/>
              <a:ext cx="47625" cy="16383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61872" y="35452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52081" y="35809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61948" y="358044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最后那次探到空位也要计数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54252" y="3941445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只有探到空位才能断定关键词不在表中，这一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次访问是判定的依据，必须计入。漏掉它会让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每一项都少 1，答案系统性偏小。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5" name="Rectangle 6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130" y="5991225"/>
              <a:ext cx="6351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不成功的 ASL 只和表的当前形状有关，和表里存的是哪些关键词无关。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例题：三个关键词撞在同一格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923" y="1545431"/>
            <a:ext cx="10701274" cy="483680"/>
            <a:chOff x="526923" y="1545431"/>
            <a:chExt cx="10701274" cy="483680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0701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2018 年考研全国卷。长度为 7、初始为空的散列表 HT，散列函数 H(K) = K % 7，线性探查法解决冲突。依次插入 22、43、15 后，查找成功的平均查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找长度是多少。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2160270"/>
            <a:ext cx="5338382" cy="1742694"/>
            <a:chOff x="533400" y="2160270"/>
            <a:chExt cx="5338382" cy="1742694"/>
          </a:xfrm>
        </p:grpSpPr>
        <p:sp>
          <p:nvSpPr>
            <p:cNvPr id="9" name="Rectangle 9"/>
            <p:cNvSpPr/>
            <p:nvPr/>
          </p:nvSpPr>
          <p:spPr>
            <a:xfrm>
              <a:off x="666750" y="2303145"/>
              <a:ext cx="19050" cy="12658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1602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34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65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03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25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99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21888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算散列地址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2431732"/>
              <a:ext cx="3947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22 % 7 = 43 % 7 = 15 % 7 = 1，三个关键词的散列地址全是 1。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27251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依次插入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967990"/>
              <a:ext cx="492461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 落在 1，1 次；43 的地址 1 被占，落在 2，2 次；15 的 1、2 都被占，落在 3，3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34547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求平均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697605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 3 个元素，查找成功的输入就是 3 种，把三次探查次数平均。</a:t>
              </a:r>
            </a:p>
          </p:txBody>
        </p:sp>
      </p:grpSp>
      <p:grpSp>
        <p:nvGrpSpPr>
          <p:cNvPr id="45" name="c1-cells-2"/>
          <p:cNvGrpSpPr/>
          <p:nvPr/>
        </p:nvGrpSpPr>
        <p:grpSpPr>
          <a:xfrm>
            <a:off x="528638" y="4059555"/>
            <a:ext cx="5847396" cy="559594"/>
            <a:chOff x="528638" y="4059555"/>
            <a:chExt cx="5847396" cy="559594"/>
          </a:xfrm>
        </p:grpSpPr>
        <p:sp>
          <p:nvSpPr>
            <p:cNvPr id="23" name="TextBox 23"/>
            <p:cNvSpPr txBox="1"/>
            <p:nvPr/>
          </p:nvSpPr>
          <p:spPr>
            <a:xfrm>
              <a:off x="528638" y="417576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09650" y="4059555"/>
              <a:ext cx="766762" cy="34385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27213" y="417576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776412" y="4059555"/>
              <a:ext cx="766762" cy="34385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84586" y="41757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543175" y="4059555"/>
              <a:ext cx="766762" cy="34385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51349" y="41757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309938" y="4059555"/>
              <a:ext cx="766762" cy="343852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618111" y="41757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76700" y="4059555"/>
              <a:ext cx="766762" cy="34385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394264" y="417576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843462" y="4059555"/>
              <a:ext cx="766762" cy="34385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161026" y="417576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609272" y="4059555"/>
              <a:ext cx="766762" cy="34385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7788" y="417576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57436" y="4457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24198" y="4457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90961" y="4457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57723" y="4457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24486" y="4457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91248" y="4457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58011" y="44572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52" name="c1-callout-3"/>
          <p:cNvGrpSpPr/>
          <p:nvPr/>
        </p:nvGrpSpPr>
        <p:grpSpPr>
          <a:xfrm>
            <a:off x="533400" y="4743450"/>
            <a:ext cx="5842635" cy="676275"/>
            <a:chOff x="533400" y="4743450"/>
            <a:chExt cx="5842635" cy="676275"/>
          </a:xfrm>
        </p:grpSpPr>
        <p:sp>
          <p:nvSpPr>
            <p:cNvPr id="46" name="Rectangle 46"/>
            <p:cNvSpPr/>
            <p:nvPr/>
          </p:nvSpPr>
          <p:spPr>
            <a:xfrm>
              <a:off x="533400" y="4743450"/>
              <a:ext cx="5842635" cy="676275"/>
            </a:xfrm>
            <a:prstGeom prst="roundRect">
              <a:avLst>
                <a:gd name="adj" fmla="val 1690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4977883"/>
              <a:ext cx="224134" cy="192560"/>
              <a:chOff x="726129" y="4977883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50482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49778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51260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654" y="4887278"/>
              <a:ext cx="48585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如果题目改问查找不成功的 ASL，分母要换成散列函数值域大小 7，从每</a:t>
              </a:r>
              <a:br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个起点数到空位为止，答案是 (1+4+3+2+1+1+1)/7 = 13/7 ≈ 1.86。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formula61"/>
              <p:cNvSpPr txBox="1">
                <a:spLocks noGrp="1"/>
              </p:cNvSpPr>
              <p:nvPr/>
            </p:nvSpPr>
            <p:spPr>
              <a:xfrm>
                <a:off x="6680835" y="2150745"/>
                <a:ext cx="497776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AS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成功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9" name="c2-card-2"/>
          <p:cNvGrpSpPr/>
          <p:nvPr/>
        </p:nvGrpSpPr>
        <p:grpSpPr>
          <a:xfrm>
            <a:off x="6680835" y="2849880"/>
            <a:ext cx="4977765" cy="880110"/>
            <a:chOff x="6680835" y="2849880"/>
            <a:chExt cx="4977765" cy="880110"/>
          </a:xfrm>
        </p:grpSpPr>
        <p:sp>
          <p:nvSpPr>
            <p:cNvPr id="54" name="Rectangle 54"/>
            <p:cNvSpPr/>
            <p:nvPr/>
          </p:nvSpPr>
          <p:spPr>
            <a:xfrm>
              <a:off x="6680835" y="2849880"/>
              <a:ext cx="4977765" cy="880110"/>
            </a:xfrm>
            <a:prstGeom prst="roundRect">
              <a:avLst>
                <a:gd name="adj" fmla="val 1515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56095" y="3025140"/>
              <a:ext cx="438150" cy="22860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9249" y="305657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02449" y="3065145"/>
              <a:ext cx="9193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ASL成功 = 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49999" y="336804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源课件把这道题留作课下练习，没有给出答案，这里补全。</a:t>
              </a:r>
            </a:p>
          </p:txBody>
        </p:sp>
      </p:grpSp>
      <p:grpSp>
        <p:nvGrpSpPr>
          <p:cNvPr id="66" name="c2-card-3"/>
          <p:cNvGrpSpPr/>
          <p:nvPr/>
        </p:nvGrpSpPr>
        <p:grpSpPr>
          <a:xfrm>
            <a:off x="6680835" y="3890010"/>
            <a:ext cx="4977765" cy="1529715"/>
            <a:chOff x="6680835" y="3890010"/>
            <a:chExt cx="4977765" cy="1529715"/>
          </a:xfrm>
        </p:grpSpPr>
        <p:sp>
          <p:nvSpPr>
            <p:cNvPr id="60" name="Rectangle 60"/>
            <p:cNvSpPr/>
            <p:nvPr/>
          </p:nvSpPr>
          <p:spPr>
            <a:xfrm>
              <a:off x="6680835" y="3890010"/>
              <a:ext cx="4977765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90360" y="402336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894195" y="4065270"/>
              <a:ext cx="438150" cy="22860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87349" y="409670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规律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40549" y="410432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全撞在一起时是等差数列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88099" y="4407218"/>
              <a:ext cx="425653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个关键词的散列地址完全相同时，线性探查的探查次数正好是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…, n，所以 ASL成功 = (n+1)/2。本题 n = 3，答案就是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907405"/>
            <a:ext cx="11125200" cy="455295"/>
            <a:chOff x="533400" y="5907405"/>
            <a:chExt cx="11125200" cy="455295"/>
          </a:xfrm>
        </p:grpSpPr>
        <p:sp>
          <p:nvSpPr>
            <p:cNvPr id="67" name="Rectangle 67"/>
            <p:cNvSpPr/>
            <p:nvPr/>
          </p:nvSpPr>
          <p:spPr>
            <a:xfrm>
              <a:off x="533400" y="5907405"/>
              <a:ext cx="11125200" cy="455295"/>
            </a:xfrm>
            <a:prstGeom prst="roundRect">
              <a:avLst>
                <a:gd name="adj" fmla="val 251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35040"/>
              <a:ext cx="200026" cy="200025"/>
              <a:chOff x="738188" y="6035040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350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77926" y="60794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12642" y="61906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1654" y="6051232"/>
              <a:ext cx="6037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这是线性探查最坏的一种输入：所有元素连成一片，第 k 个插入的元素要探查 k 次。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例题：值域比表长小的时候，分母取谁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506456" cy="512636"/>
            <a:chOff x="526542" y="1545907"/>
            <a:chExt cx="10506456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50645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2019 年考研全国卷。长度为 11 且初始为空的散列表 HT，散列函数 H(K) = K % 7，线性探查法。依次插入 87, 40, 30, 6, 11, 22, 98, 20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后，查找失败的平均查找长度是多少。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33400" y="2177415"/>
            <a:ext cx="6059805" cy="762952"/>
            <a:chOff x="533400" y="2177415"/>
            <a:chExt cx="6059805" cy="762952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789" y="229457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2831" y="22945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88621" y="22945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94411" y="22945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10536" y="229457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5983" y="22945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51773" y="22945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57563" y="22945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2873" y="22945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078" y="267557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61578" y="26755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67368" y="26755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73158" y="26755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78948" y="26755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24731" y="26755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30521" y="26755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36311" y="26755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56948" y="2567940"/>
              <a:ext cx="52673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42101" y="26755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177415"/>
              <a:ext cx="605980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862138" y="217741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67928" y="217741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73718" y="217741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679508" y="217741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25290" y="217741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831080" y="217741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36870" y="217741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42660" y="2177415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1-cells-2"/>
          <p:cNvGrpSpPr/>
          <p:nvPr/>
        </p:nvGrpSpPr>
        <p:grpSpPr>
          <a:xfrm>
            <a:off x="528447" y="3105150"/>
            <a:ext cx="6064758" cy="571976"/>
            <a:chOff x="528447" y="3105150"/>
            <a:chExt cx="6064758" cy="571976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322183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0130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11401" y="32218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544955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16226" y="32218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049780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221051" y="32218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554605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725876" y="32218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059430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30701" y="32218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564255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35526" y="32218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069080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78445" y="32218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573905" y="3105150"/>
              <a:ext cx="50482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745176" y="32218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78730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60226" y="322183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583555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765051" y="322183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88380" y="3105150"/>
              <a:ext cx="5048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69876" y="322183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57423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62248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267073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771898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276723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781548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286373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791198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296023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00848" y="3515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75316" y="351520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100" name="c1-table-3"/>
          <p:cNvGrpSpPr/>
          <p:nvPr/>
        </p:nvGrpSpPr>
        <p:grpSpPr>
          <a:xfrm>
            <a:off x="528447" y="3807142"/>
            <a:ext cx="6064758" cy="1026509"/>
            <a:chOff x="528447" y="3807142"/>
            <a:chExt cx="6064758" cy="1026509"/>
          </a:xfrm>
        </p:grpSpPr>
        <p:sp>
          <p:nvSpPr>
            <p:cNvPr id="74" name="Rectangle 74"/>
            <p:cNvSpPr/>
            <p:nvPr/>
          </p:nvSpPr>
          <p:spPr>
            <a:xfrm>
              <a:off x="533400" y="3807142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26935" y="3924300"/>
              <a:ext cx="346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h(K)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153173" y="3924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819923" y="3924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486673" y="3924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153423" y="3924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820173" y="3924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485971" y="3924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183201" y="3924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28078" y="43053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探查次数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961578" y="43053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627376" y="43053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294126" y="43053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960876" y="43053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4627626" y="43053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293424" y="43053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960174" y="43053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33400" y="3807142"/>
              <a:ext cx="605980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1862138" y="380714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2527935" y="380714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3194685" y="380714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3861435" y="380714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4528185" y="380714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5193982" y="380714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5860732" y="380714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28447" y="4642961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散列函数值域只有 0 到 6，所以只有 7 种输入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formula68"/>
              <p:cNvSpPr txBox="1">
                <a:spLocks noGrp="1"/>
              </p:cNvSpPr>
              <p:nvPr/>
            </p:nvSpPr>
            <p:spPr>
              <a:xfrm>
                <a:off x="533400" y="4959668"/>
                <a:ext cx="6059805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AS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失败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42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07" name="c2-card-1"/>
          <p:cNvGrpSpPr/>
          <p:nvPr/>
        </p:nvGrpSpPr>
        <p:grpSpPr>
          <a:xfrm>
            <a:off x="6898005" y="2177415"/>
            <a:ext cx="4760595" cy="1160145"/>
            <a:chOff x="6898005" y="2177415"/>
            <a:chExt cx="4760595" cy="1160145"/>
          </a:xfrm>
        </p:grpSpPr>
        <p:sp>
          <p:nvSpPr>
            <p:cNvPr id="102" name="Rectangle 102"/>
            <p:cNvSpPr/>
            <p:nvPr/>
          </p:nvSpPr>
          <p:spPr>
            <a:xfrm>
              <a:off x="6898005" y="2177415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078980" y="23583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170699" y="23912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644956" y="2397919"/>
              <a:ext cx="1487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 C，ASL失败 = 6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072503" y="2714149"/>
              <a:ext cx="41013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表长是 11，但散列函数是 K % 7，值域只有 0 到 6。分母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必须取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值域大小 7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，不是表长 11，也不是元素个数 8。</a:t>
              </a:r>
            </a:p>
          </p:txBody>
        </p:sp>
      </p:grpSp>
      <p:grpSp>
        <p:nvGrpSpPr>
          <p:cNvPr id="123" name="c2-table-2"/>
          <p:cNvGrpSpPr/>
          <p:nvPr/>
        </p:nvGrpSpPr>
        <p:grpSpPr>
          <a:xfrm>
            <a:off x="6893052" y="3502342"/>
            <a:ext cx="4765548" cy="1789462"/>
            <a:chOff x="6893052" y="3502342"/>
            <a:chExt cx="4765548" cy="1789462"/>
          </a:xfrm>
        </p:grpSpPr>
        <p:sp>
          <p:nvSpPr>
            <p:cNvPr id="108" name="Rectangle 108"/>
            <p:cNvSpPr/>
            <p:nvPr/>
          </p:nvSpPr>
          <p:spPr>
            <a:xfrm>
              <a:off x="6898005" y="3502342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178992" y="36195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489567" y="36195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从哪来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992684" y="4001452"/>
              <a:ext cx="488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5.25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848981" y="4001452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 / 8，误把分母当成元素个数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6898005" y="4260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6898005" y="426529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992684" y="4382452"/>
              <a:ext cx="488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6.29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848981" y="43824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(42+2) / 7，误把值域当成 0 到 7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6898005" y="4641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992684" y="4763452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4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848981" y="47634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只把探查路径上的被占单元计数等错法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898005" y="3502342"/>
              <a:ext cx="476059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7749540" y="350234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6893052" y="510111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三个干扰项各自对应一种错法</a:t>
              </a:r>
            </a:p>
          </p:txBody>
        </p:sp>
      </p:grpSp>
      <p:grpSp>
        <p:nvGrpSpPr>
          <p:cNvPr id="130" name="c2-callout-3"/>
          <p:cNvGrpSpPr/>
          <p:nvPr/>
        </p:nvGrpSpPr>
        <p:grpSpPr>
          <a:xfrm>
            <a:off x="6898005" y="5417820"/>
            <a:ext cx="4760595" cy="937260"/>
            <a:chOff x="6898005" y="5417820"/>
            <a:chExt cx="4760595" cy="937260"/>
          </a:xfrm>
        </p:grpSpPr>
        <p:sp>
          <p:nvSpPr>
            <p:cNvPr id="124" name="Rectangle 124"/>
            <p:cNvSpPr/>
            <p:nvPr/>
          </p:nvSpPr>
          <p:spPr>
            <a:xfrm>
              <a:off x="6898005" y="5417820"/>
              <a:ext cx="4760595" cy="937260"/>
            </a:xfrm>
            <a:prstGeom prst="roundRect">
              <a:avLst>
                <a:gd name="adj" fmla="val 121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8" name="Group 128"/>
            <p:cNvGrpSpPr/>
            <p:nvPr/>
          </p:nvGrpSpPr>
          <p:grpSpPr>
            <a:xfrm>
              <a:off x="7090734" y="5783698"/>
              <a:ext cx="224134" cy="192560"/>
              <a:chOff x="7090734" y="5783698"/>
              <a:chExt cx="224134" cy="19256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7202805" y="58540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7090734" y="57836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7202805" y="59318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9" name="TextBox 129"/>
            <p:cNvSpPr txBox="1"/>
            <p:nvPr/>
          </p:nvSpPr>
          <p:spPr>
            <a:xfrm>
              <a:off x="7405878" y="5563076"/>
              <a:ext cx="388188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 的散列值是 6，位置 6 被 6 占着，所以落到 7。位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置 8、9、10 永远不会被直接散列到，只能靠冲突溢出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过去。</a:t>
              </a:r>
            </a:p>
          </p:txBody>
        </p:sp>
      </p:grpSp>
      <p:grpSp>
        <p:nvGrpSpPr>
          <p:cNvPr id="1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1" name="TextBox 131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二次探查：一冲突就跳离是非之地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1930718"/>
            <a:chOff x="533400" y="1524000"/>
            <a:chExt cx="5842635" cy="1930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二次探查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4297" y="175641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探测序列在散列地址两侧来回跳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73"/>
                <p:cNvSpPr txBox="1">
                  <a:spLocks noGrp="1"/>
                </p:cNvSpPr>
                <p:nvPr/>
              </p:nvSpPr>
              <p:spPr>
                <a:xfrm>
                  <a:off x="763905" y="2067878"/>
                  <a:ext cx="5419725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7047" y="2794635"/>
              <a:ext cx="45657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具体路径：h(K), h(K)+1², h(K)−1², h(K)+2², h(K)−2²,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h(K)+3², h(K)−3², …，各值均在 % M 意义下。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28066" y="3629978"/>
            <a:ext cx="5847969" cy="1091183"/>
            <a:chOff x="528066" y="3629978"/>
            <a:chExt cx="5847969" cy="1091183"/>
          </a:xfrm>
        </p:grpSpPr>
        <p:sp>
          <p:nvSpPr>
            <p:cNvPr id="15" name="Rectangle 15"/>
            <p:cNvSpPr/>
            <p:nvPr/>
          </p:nvSpPr>
          <p:spPr>
            <a:xfrm>
              <a:off x="533400" y="3629978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543" y="37542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93163" y="3754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23426" y="3754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66618" y="3754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07638" y="3754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48658" y="3754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89678" y="3754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30698" y="3754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71718" y="3754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738" y="3754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3412" y="41600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15452" y="41600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56472" y="41600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88907" y="41600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29927" y="41600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70948" y="41600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11968" y="41600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52988" y="41600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94008" y="41600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35028" y="41600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629978"/>
              <a:ext cx="5842635" cy="811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610678" y="3629978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151698" y="3629978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584132" y="3629978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25152" y="3629978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666172" y="3629978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207192" y="3629978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48212" y="3629978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289232" y="3629978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30252" y="3629978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066" y="4515802"/>
              <a:ext cx="2468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散列函数 h(K) = K % 11，表长 M = 11</a:t>
              </a:r>
            </a:p>
          </p:txBody>
        </p:sp>
      </p:grpSp>
      <p:grpSp>
        <p:nvGrpSpPr>
          <p:cNvPr id="82" name="c1-cells-3"/>
          <p:cNvGrpSpPr/>
          <p:nvPr/>
        </p:nvGrpSpPr>
        <p:grpSpPr>
          <a:xfrm>
            <a:off x="528066" y="4854892"/>
            <a:ext cx="5848922" cy="596742"/>
            <a:chOff x="528066" y="4854892"/>
            <a:chExt cx="5848922" cy="596742"/>
          </a:xfrm>
        </p:grpSpPr>
        <p:sp>
          <p:nvSpPr>
            <p:cNvPr id="48" name="TextBox 48"/>
            <p:cNvSpPr txBox="1"/>
            <p:nvPr/>
          </p:nvSpPr>
          <p:spPr>
            <a:xfrm>
              <a:off x="528066" y="498062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66800" y="4854892"/>
              <a:ext cx="4829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220818" y="49806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549718" y="4854892"/>
              <a:ext cx="4829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744551" y="49806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32635" y="4854892"/>
              <a:ext cx="48291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186653" y="49806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514600" y="4854892"/>
              <a:ext cx="4829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669571" y="49806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997518" y="4854892"/>
              <a:ext cx="48291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151536" y="49806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0435" y="4854892"/>
              <a:ext cx="4829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4453" y="49806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963352" y="4854892"/>
              <a:ext cx="48291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117371" y="49806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445318" y="4854892"/>
              <a:ext cx="4829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611243" y="49806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928235" y="4854892"/>
              <a:ext cx="4829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082253" y="49806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411152" y="4854892"/>
              <a:ext cx="4829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576126" y="49806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94070" y="4854892"/>
              <a:ext cx="48291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048088" y="498062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272663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755581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238498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721416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203381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686298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169216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652133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134098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617016" y="5289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069576" y="528970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114" name="c2-table-1"/>
          <p:cNvGrpSpPr/>
          <p:nvPr/>
        </p:nvGrpSpPr>
        <p:grpSpPr>
          <a:xfrm>
            <a:off x="6675501" y="1524000"/>
            <a:ext cx="4983099" cy="2308479"/>
            <a:chOff x="6675501" y="1524000"/>
            <a:chExt cx="4983099" cy="2308479"/>
          </a:xfrm>
        </p:grpSpPr>
        <p:sp>
          <p:nvSpPr>
            <p:cNvPr id="83" name="Rectangle 83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9664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039097" y="1648301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h(K)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135681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用到的偏移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85536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落位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780848" y="20540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87622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772525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+1²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46416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780848" y="24598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87622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772525" y="2459831"/>
              <a:ext cx="1406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+1² 占, −1² 占, +2²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46416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680835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780848" y="28655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87622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772525" y="2865596"/>
              <a:ext cx="833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+1² 占, −1²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464165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680835" y="31422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680835" y="314706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780848" y="32713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87622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772525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+1²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46416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680835" y="1524000"/>
              <a:ext cx="497776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7771448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66775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035939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675501" y="362712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四次冲突的去向</a:t>
              </a:r>
            </a:p>
          </p:txBody>
        </p:sp>
      </p:grpSp>
      <p:grpSp>
        <p:nvGrpSpPr>
          <p:cNvPr id="120" name="c2-card-2"/>
          <p:cNvGrpSpPr/>
          <p:nvPr/>
        </p:nvGrpSpPr>
        <p:grpSpPr>
          <a:xfrm>
            <a:off x="6680835" y="3966210"/>
            <a:ext cx="4977765" cy="1483995"/>
            <a:chOff x="6680835" y="3966210"/>
            <a:chExt cx="4977765" cy="1483995"/>
          </a:xfrm>
        </p:grpSpPr>
        <p:sp>
          <p:nvSpPr>
            <p:cNvPr id="115" name="Rectangle 115"/>
            <p:cNvSpPr/>
            <p:nvPr/>
          </p:nvSpPr>
          <p:spPr>
            <a:xfrm>
              <a:off x="6680835" y="3966210"/>
              <a:ext cx="4977765" cy="1483995"/>
            </a:xfrm>
            <a:prstGeom prst="roundRect">
              <a:avLst>
                <a:gd name="adj" fmla="val 898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873240" y="41586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964680" y="41929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好处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456932" y="419862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冲突之后跳得远，不容易聚集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866382" y="4532948"/>
              <a:ext cx="43514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线性探查把冲突的元素堆在相邻单元里，越堆越长。二次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探查第二次就跳出 4 格、第三次跳出 9 格，同一段区域不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会被反复碾过。</a:t>
              </a:r>
            </a:p>
          </p:txBody>
        </p:sp>
      </p:grpSp>
      <p:grpSp>
        <p:nvGrpSpPr>
          <p:cNvPr id="12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21" name="Rectangle 12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5" name="Group 125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1040892" y="6023610"/>
              <a:ext cx="6628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68 的散列地址 2 已被 23 占用，+1² 到 3、−1² 到 1 也都被占，跳到 +2² 才落地。</a:t>
              </a:r>
            </a:p>
          </p:txBody>
        </p:sp>
      </p:grpSp>
      <p:grpSp>
        <p:nvGrpSpPr>
          <p:cNvPr id="1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8" name="TextBox 128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双重探查：连步长都由关键词决定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660208"/>
            <a:chOff x="533400" y="1524000"/>
            <a:chExt cx="5410200" cy="16602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60208"/>
            </a:xfrm>
            <a:prstGeom prst="roundRect">
              <a:avLst>
                <a:gd name="adj" fmla="val 80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9350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0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双重探查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8006" y="1744504"/>
              <a:ext cx="2755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δ(K) 代替线性探查的固定步长 1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80"/>
                <p:cNvSpPr txBox="1">
                  <a:spLocks noGrp="1"/>
                </p:cNvSpPr>
                <p:nvPr/>
              </p:nvSpPr>
              <p:spPr>
                <a:xfrm>
                  <a:off x="752475" y="2040255"/>
                  <a:ext cx="501015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45998" y="2561749"/>
              <a:ext cx="46946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循环探查路径：h(K), h(K)+δ(K), h(K)+2δ(K), …，各值均在 %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意义下。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348990"/>
            <a:ext cx="5410200" cy="1403032"/>
            <a:chOff x="533400" y="3348990"/>
            <a:chExt cx="5410200" cy="1403032"/>
          </a:xfrm>
        </p:grpSpPr>
        <p:sp>
          <p:nvSpPr>
            <p:cNvPr id="15" name="Rectangle 15"/>
            <p:cNvSpPr/>
            <p:nvPr/>
          </p:nvSpPr>
          <p:spPr>
            <a:xfrm>
              <a:off x="533400" y="334899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8234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5299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35628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8450" y="3569494"/>
              <a:ext cx="1597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δ(K) 与 M 必须互质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3886676"/>
              <a:ext cx="47353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GCD(δ(K), M) = 1 时，反复加 δ(K) 才能走遍全部 M 个地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址；否则只能走到其中 M / GCD(δ(K), M) 个，表里明明有空位却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插不进去。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M 取成素数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，这一条自动满足。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916805"/>
            <a:ext cx="5410200" cy="702945"/>
            <a:chOff x="533400" y="4916805"/>
            <a:chExt cx="5410200" cy="702945"/>
          </a:xfrm>
        </p:grpSpPr>
        <p:sp>
          <p:nvSpPr>
            <p:cNvPr id="22" name="Rectangle 22"/>
            <p:cNvSpPr/>
            <p:nvPr/>
          </p:nvSpPr>
          <p:spPr>
            <a:xfrm>
              <a:off x="533400" y="4916805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168265"/>
              <a:ext cx="200026" cy="200025"/>
              <a:chOff x="738188" y="5168265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1682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2127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3238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1273" y="5062061"/>
              <a:ext cx="43370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常用的取法是 δ(K) = 1 + (K % (M−1))，保证落在 1 到 M−1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之间。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243447" y="1524000"/>
            <a:ext cx="5415153" cy="2552414"/>
            <a:chOff x="6243447" y="1524000"/>
            <a:chExt cx="5415153" cy="2552414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16694" y="1641157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42123" y="1641157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% 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34952" y="1641157"/>
              <a:ext cx="545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只用 +i²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36320" y="1641157"/>
              <a:ext cx="404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±i²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43079" y="2023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8901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0941" y="202311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/ 11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14001" y="2023110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 / 11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3079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08901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0941" y="240411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/ 19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14001" y="2404110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19 / 19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3079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08901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90941" y="278511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/ 23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14001" y="2785110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23 / 23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3079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08901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90941" y="316706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/ 13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14001" y="3167062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 / 13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3079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08901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90941" y="354806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/ 17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14001" y="3548062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 / 17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152400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0946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9150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81456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3447" y="388572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二次探查的探查路径能覆盖多少个地址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248400" y="4202430"/>
            <a:ext cx="5410200" cy="1417320"/>
            <a:chOff x="6248400" y="4202430"/>
            <a:chExt cx="5410200" cy="1417320"/>
          </a:xfrm>
        </p:grpSpPr>
        <p:sp>
          <p:nvSpPr>
            <p:cNvPr id="66" name="Rectangle 66"/>
            <p:cNvSpPr/>
            <p:nvPr/>
          </p:nvSpPr>
          <p:spPr>
            <a:xfrm>
              <a:off x="6248400" y="4202430"/>
              <a:ext cx="5410200" cy="1417320"/>
            </a:xfrm>
            <a:prstGeom prst="roundRect">
              <a:avLst>
                <a:gd name="adj" fmla="val 94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57925" y="4335780"/>
              <a:ext cx="47625" cy="11506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67475" y="43834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60147" y="44162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33451" y="4422934"/>
              <a:ext cx="18218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二次探查对 M 也有要求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60998" y="4740116"/>
              <a:ext cx="46581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源课件没有提这一条：只用 +i² 时最多只能探到 (M+1)/2 个地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址；改成 ±i² 之后，只有当 M 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4k+3 型素数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（11、19、23）时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才能走遍全表。M = 13、17 这类 4k+1 型素数仍然走不全。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3" name="Rectangle 7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1273" y="6039326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三种开放地址法都要求探查路径能覆盖尽量多的地址，否则表没满就插不进去。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冲突处理方法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四种冲突处理方法怎么选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6708458" cy="2364105"/>
            <a:chOff x="533400" y="1524000"/>
            <a:chExt cx="6708458" cy="2364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64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5115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探查路径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2339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5428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要当心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42925" y="1964055"/>
              <a:ext cx="1188720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8746" y="21917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46517" y="219170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同址元素串成链表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24846" y="2085022"/>
              <a:ext cx="13380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可大于 1，删除简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68874" y="219170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每元素多一个指针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59270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597468"/>
              <a:ext cx="670845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7289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46517" y="2728912"/>
              <a:ext cx="514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h(K)+i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4846" y="272891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缓存命中率最高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68874" y="272891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聚集，探查次数涨得快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2323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31594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二次探查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46517" y="3159442"/>
              <a:ext cx="604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h(K)±i²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24846" y="315944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跳得远，不易聚集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68874" y="3159442"/>
              <a:ext cx="1451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要取 4k+3 型素数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5281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457575"/>
              <a:ext cx="670845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5890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双重探查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46517" y="3589020"/>
              <a:ext cx="970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h(K)+i·δ(K)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24846" y="358902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步长随关键词变化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68874" y="3589020"/>
              <a:ext cx="1465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δ(K) 必须与 M 互质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6708458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736408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614738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58765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compare-2"/>
          <p:cNvGrpSpPr/>
          <p:nvPr/>
        </p:nvGrpSpPr>
        <p:grpSpPr>
          <a:xfrm>
            <a:off x="533400" y="4073842"/>
            <a:ext cx="6709410" cy="1904048"/>
            <a:chOff x="533400" y="4073842"/>
            <a:chExt cx="6709410" cy="1904048"/>
          </a:xfrm>
        </p:grpSpPr>
        <p:sp>
          <p:nvSpPr>
            <p:cNvPr id="39" name="Rectangle 39"/>
            <p:cNvSpPr/>
            <p:nvPr/>
          </p:nvSpPr>
          <p:spPr>
            <a:xfrm>
              <a:off x="533400" y="4073842"/>
              <a:ext cx="3107055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207192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8096" y="43010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选拉链法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82955" y="469963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9546" y="463915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元素个数事先估不准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82955" y="50196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9546" y="495919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删除操作频繁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82955" y="533971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9546" y="5279231"/>
              <a:ext cx="23588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单个元素较大，多一个指针无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135755" y="4073842"/>
              <a:ext cx="3107055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4145280" y="4207192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370451" y="430101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选开放地址法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4385310" y="469963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41901" y="4639151"/>
              <a:ext cx="23588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元素个数有上界且装填因子能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控住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385310" y="52911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541901" y="523065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元素小，指针开销占比高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4385310" y="5611177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541901" y="555069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在意缓存命中率与内存连续性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3688080" y="482536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741420" y="49596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7546658" y="1524000"/>
            <a:ext cx="4111942" cy="1564958"/>
            <a:chOff x="7546658" y="1524000"/>
            <a:chExt cx="4111942" cy="1564958"/>
          </a:xfrm>
        </p:grpSpPr>
        <p:sp>
          <p:nvSpPr>
            <p:cNvPr id="60" name="Rectangle 60"/>
            <p:cNvSpPr/>
            <p:nvPr/>
          </p:nvSpPr>
          <p:spPr>
            <a:xfrm>
              <a:off x="7546658" y="1524000"/>
              <a:ext cx="4111942" cy="1564958"/>
            </a:xfrm>
            <a:prstGeom prst="roundRect">
              <a:avLst>
                <a:gd name="adj" fmla="val 852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750492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832801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实际系统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36698" y="176736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大多数用拉链法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43254" y="2119789"/>
              <a:ext cx="35671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拉链法效率最高，易于实现，不会产生聚集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现象，删除也方便。源课件第 48 页给出的这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条结论和主流标准库的做法一致。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7546658" y="3273742"/>
            <a:ext cx="4111942" cy="2703195"/>
            <a:chOff x="7546658" y="3273742"/>
            <a:chExt cx="4111942" cy="2703195"/>
          </a:xfrm>
        </p:grpSpPr>
        <p:sp>
          <p:nvSpPr>
            <p:cNvPr id="66" name="Rectangle 66"/>
            <p:cNvSpPr/>
            <p:nvPr/>
          </p:nvSpPr>
          <p:spPr>
            <a:xfrm>
              <a:off x="7546658" y="3273742"/>
              <a:ext cx="4111942" cy="2703195"/>
            </a:xfrm>
            <a:prstGeom prst="roundRect">
              <a:avLst>
                <a:gd name="adj" fmla="val 49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556182" y="3407092"/>
              <a:ext cx="47625" cy="24364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788592" y="34775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879753" y="35132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但是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90001" y="351805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线性探查没有被淘汰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81354" y="3869531"/>
              <a:ext cx="344093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线性探查的数据访问有很好的空间局部性，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缓存命中率高。在装填因子压得较低（比如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0.5）的场合，它的实测速度常常反超拉链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687318" cy="2997517"/>
            <a:chOff x="667512" y="1835468"/>
            <a:chExt cx="368731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散列表的删除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清空一格，可能切断别人的路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拉链法的删除就是链表删除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闭散列法有懒惰、实时、延迟三种方案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实时删除要判断探查路径是否被阻断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散列表的删除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闭散列表里的元素不能直接清空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cells-1"/>
          <p:cNvGrpSpPr/>
          <p:nvPr/>
        </p:nvGrpSpPr>
        <p:grpSpPr>
          <a:xfrm>
            <a:off x="527685" y="1524000"/>
            <a:ext cx="5849303" cy="634841"/>
            <a:chOff x="527685" y="1524000"/>
            <a:chExt cx="5849303" cy="634841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635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93470" y="1524000"/>
              <a:ext cx="5286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76210" y="16635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22108" y="1524000"/>
              <a:ext cx="52863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3669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49792" y="1524000"/>
              <a:ext cx="5286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21800" y="1663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678430" y="1524000"/>
              <a:ext cx="5286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49485" y="1663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07068" y="1524000"/>
              <a:ext cx="5286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78123" y="1663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34752" y="1524000"/>
              <a:ext cx="5286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18445" y="16635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63390" y="1524000"/>
              <a:ext cx="5286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46130" y="16635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91075" y="1524000"/>
              <a:ext cx="5286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74768" y="16635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19712" y="1524000"/>
              <a:ext cx="5286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02453" y="16635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48350" y="1524000"/>
              <a:ext cx="5286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1090" y="16635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219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5083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79468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0715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3579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64428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9211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2075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48436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7707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46" name="c1-card-2"/>
          <p:cNvGrpSpPr/>
          <p:nvPr/>
        </p:nvGrpSpPr>
        <p:grpSpPr>
          <a:xfrm>
            <a:off x="533400" y="2314575"/>
            <a:ext cx="5842635" cy="2242185"/>
            <a:chOff x="533400" y="2314575"/>
            <a:chExt cx="5842635" cy="2242185"/>
          </a:xfrm>
        </p:grpSpPr>
        <p:sp>
          <p:nvSpPr>
            <p:cNvPr id="39" name="Rectangle 39"/>
            <p:cNvSpPr/>
            <p:nvPr/>
          </p:nvSpPr>
          <p:spPr>
            <a:xfrm>
              <a:off x="533400" y="2314575"/>
              <a:ext cx="5842635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2447925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81050" y="25241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1258" y="25598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82078" y="2559368"/>
              <a:ext cx="227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把位置 1 清空会发生什么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3430" y="2920365"/>
              <a:ext cx="5177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 h(K) = K % 10，四个关键词 1、21、31、51 的散列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地址都是 1，靠线性探查依次落在 1、2、3、4。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3430" y="3541395"/>
              <a:ext cx="5187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如果删除 1 时直接把位置 1 清空，再查找 21 就会从地址 1 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发，第一步就撞上空位，立刻判定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21 不在表中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。31 和 51 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样查不到。</a:t>
              </a:r>
            </a:p>
          </p:txBody>
        </p:sp>
      </p:grpSp>
      <p:grpSp>
        <p:nvGrpSpPr>
          <p:cNvPr id="52" name="c1-callout-3"/>
          <p:cNvGrpSpPr/>
          <p:nvPr/>
        </p:nvGrpSpPr>
        <p:grpSpPr>
          <a:xfrm>
            <a:off x="533400" y="4747260"/>
            <a:ext cx="5842635" cy="1282065"/>
            <a:chOff x="533400" y="4747260"/>
            <a:chExt cx="5842635" cy="1282065"/>
          </a:xfrm>
        </p:grpSpPr>
        <p:sp>
          <p:nvSpPr>
            <p:cNvPr id="47" name="Rectangle 47"/>
            <p:cNvSpPr/>
            <p:nvPr/>
          </p:nvSpPr>
          <p:spPr>
            <a:xfrm>
              <a:off x="533400" y="4747260"/>
              <a:ext cx="5842635" cy="1282065"/>
            </a:xfrm>
            <a:prstGeom prst="roundRect">
              <a:avLst>
                <a:gd name="adj" fmla="val 891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288282"/>
              <a:ext cx="200023" cy="200023"/>
              <a:chOff x="738188" y="5288282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2882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53549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145405"/>
              <a:ext cx="4796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查找算法用“遇到空位”作为失败的判据，所以任何一次清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空都可能把后面元素的探查路径切断。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680835" y="1524000"/>
            <a:ext cx="4977765" cy="1621155"/>
            <a:chOff x="6680835" y="1524000"/>
            <a:chExt cx="4977765" cy="1621155"/>
          </a:xfrm>
        </p:grpSpPr>
        <p:sp>
          <p:nvSpPr>
            <p:cNvPr id="53" name="Rectangle 53"/>
            <p:cNvSpPr/>
            <p:nvPr/>
          </p:nvSpPr>
          <p:spPr>
            <a:xfrm>
              <a:off x="6680835" y="152400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90360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2848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1474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拉链法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71435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拉链法没有这个问题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20865" y="2129790"/>
              <a:ext cx="4301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拉链法的删除就是链表删除：改一个 next 指针再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free 掉结点。链表本身就是探查路径，删掉中间一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个结点，前后仍然连着。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680835" y="3335655"/>
            <a:ext cx="4977765" cy="1720215"/>
            <a:chOff x="6680835" y="3335655"/>
            <a:chExt cx="4977765" cy="1720215"/>
          </a:xfrm>
        </p:grpSpPr>
        <p:sp>
          <p:nvSpPr>
            <p:cNvPr id="60" name="Rectangle 60"/>
            <p:cNvSpPr/>
            <p:nvPr/>
          </p:nvSpPr>
          <p:spPr>
            <a:xfrm>
              <a:off x="6680835" y="3335655"/>
              <a:ext cx="4977765" cy="1720215"/>
            </a:xfrm>
            <a:prstGeom prst="roundRect">
              <a:avLst>
                <a:gd name="adj" fmla="val 775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90385" y="35452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72694" y="35809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闭散列法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76210" y="358044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三种方案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890385" y="392811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52234" y="39704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91375" y="39414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懒惰删除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：只打标记，不真删。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890385" y="426339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52234" y="43056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91375" y="42767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实时删除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：真删，并把受影响的元素前移补位。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890385" y="459867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52234" y="46409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91375" y="461200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延迟删除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：平时打标记，定期批量重建。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680835" y="5246370"/>
            <a:ext cx="4977765" cy="782955"/>
            <a:chOff x="6680835" y="5246370"/>
            <a:chExt cx="4977765" cy="782955"/>
          </a:xfrm>
        </p:grpSpPr>
        <p:sp>
          <p:nvSpPr>
            <p:cNvPr id="74" name="Rectangle 74"/>
            <p:cNvSpPr/>
            <p:nvPr/>
          </p:nvSpPr>
          <p:spPr>
            <a:xfrm>
              <a:off x="6680835" y="524637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885623" y="5537835"/>
              <a:ext cx="200026" cy="200026"/>
              <a:chOff x="6885623" y="5537835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885623" y="55378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985635" y="56045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974523" y="56378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7187565" y="539496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下面三页以线性探查法为例讨论，二次探查和双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重探查的道理相同，只是探查路径换了形状。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9635" cy="909257"/>
            <a:chOff x="520446" y="342900"/>
            <a:chExt cx="55896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散列表的删除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96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 1 懒惰删除：打个标记就算删了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93495"/>
            <a:chOff x="533400" y="1524000"/>
            <a:chExt cx="5410200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懒惰删除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0588" y="1767364"/>
              <a:ext cx="13111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Lazy Deletion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并不真正删除元素，而是把该位置的状态置为“已删除”。散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列表中每个位置有三种状态：空的、已占用的、已删除的。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3002280"/>
            <a:ext cx="5410200" cy="1720215"/>
            <a:chOff x="533400" y="3002280"/>
            <a:chExt cx="5410200" cy="1720215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161" y="31337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位置状态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19578" y="31337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21733" y="31337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插入时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8746" y="35642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45589" y="356425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判定失败，停止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01084" y="35642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可以插入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585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86334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9938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已占用的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45589" y="399383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比较关键词，继续往下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01084" y="39938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不能插入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2881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302442"/>
              <a:ext cx="138779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4243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已删除的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45589" y="442436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当作已占用，跳过继续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01084" y="44243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可以插入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002280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35480" y="300228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990975" y="300228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3"/>
          <p:cNvGrpSpPr/>
          <p:nvPr/>
        </p:nvGrpSpPr>
        <p:grpSpPr>
          <a:xfrm>
            <a:off x="533400" y="4908232"/>
            <a:ext cx="5410200" cy="756285"/>
            <a:chOff x="533400" y="4908232"/>
            <a:chExt cx="5410200" cy="756285"/>
          </a:xfrm>
        </p:grpSpPr>
        <p:sp>
          <p:nvSpPr>
            <p:cNvPr id="35" name="Rectangle 35"/>
            <p:cNvSpPr/>
            <p:nvPr/>
          </p:nvSpPr>
          <p:spPr>
            <a:xfrm>
              <a:off x="533400" y="490823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186363"/>
              <a:ext cx="200026" cy="200025"/>
              <a:chOff x="738188" y="5186363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1863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52308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53419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5056346"/>
              <a:ext cx="436067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查找时把“已删除”当成已占用，探查路径就不会断；插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入时把它当成空的，空间就能复用。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1564958"/>
            <a:chOff x="6248400" y="1524000"/>
            <a:chExt cx="5410200" cy="1564958"/>
          </a:xfrm>
        </p:grpSpPr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1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空位越来越少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3096" y="2119789"/>
              <a:ext cx="462216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删除并不能把位置真正变为空。大量删除和插入之后，“空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的”位置越来越少，每次不成功的查找都要走更长的路，最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坏时要走满整个表长 M。</a:t>
              </a:r>
            </a:p>
          </p:txBody>
        </p:sp>
      </p:grpSp>
      <p:grpSp>
        <p:nvGrpSpPr>
          <p:cNvPr id="80" name="c2-cells-2"/>
          <p:cNvGrpSpPr/>
          <p:nvPr/>
        </p:nvGrpSpPr>
        <p:grpSpPr>
          <a:xfrm>
            <a:off x="6242685" y="3273742"/>
            <a:ext cx="5415915" cy="622459"/>
            <a:chOff x="6242685" y="3273742"/>
            <a:chExt cx="5415915" cy="622459"/>
          </a:xfrm>
        </p:grpSpPr>
        <p:sp>
          <p:nvSpPr>
            <p:cNvPr id="49" name="TextBox 49"/>
            <p:cNvSpPr txBox="1"/>
            <p:nvPr/>
          </p:nvSpPr>
          <p:spPr>
            <a:xfrm>
              <a:off x="6242685" y="34075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808470" y="3273742"/>
              <a:ext cx="4848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58570" y="34075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293292" y="3273742"/>
              <a:ext cx="4848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86929" y="34075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778115" y="3273742"/>
              <a:ext cx="4848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28215" y="34075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63890" y="3273742"/>
              <a:ext cx="484822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13038" y="34075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748712" y="3273742"/>
              <a:ext cx="4848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97860" y="34075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233535" y="3273742"/>
              <a:ext cx="4848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383635" y="34075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718358" y="3273742"/>
              <a:ext cx="4848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868458" y="34075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203180" y="3273742"/>
              <a:ext cx="4848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353280" y="34075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688955" y="3273742"/>
              <a:ext cx="4848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881639" y="34075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1173778" y="3273742"/>
              <a:ext cx="4848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322925" y="34075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16238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01061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985883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70706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55528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41303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926126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410948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895771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380593" y="37342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86" name="c2-card-3"/>
          <p:cNvGrpSpPr/>
          <p:nvPr/>
        </p:nvGrpSpPr>
        <p:grpSpPr>
          <a:xfrm>
            <a:off x="6248400" y="4047172"/>
            <a:ext cx="5410200" cy="1617345"/>
            <a:chOff x="6248400" y="4047172"/>
            <a:chExt cx="5410200" cy="1617345"/>
          </a:xfrm>
        </p:grpSpPr>
        <p:sp>
          <p:nvSpPr>
            <p:cNvPr id="81" name="Rectangle 81"/>
            <p:cNvSpPr/>
            <p:nvPr/>
          </p:nvSpPr>
          <p:spPr>
            <a:xfrm>
              <a:off x="6248400" y="4047172"/>
              <a:ext cx="5410200" cy="1617345"/>
            </a:xfrm>
            <a:prstGeom prst="roundRect">
              <a:avLst>
                <a:gd name="adj" fmla="val 8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452235" y="425100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38493" y="42867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算一遍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95566" y="4290536"/>
              <a:ext cx="17836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 33 后再查找 31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44996" y="4642009"/>
              <a:ext cx="469790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h(31) = 1。位置 1 到 9 全被占用或标记为已删除，绕回位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置 0 也被占用，要探查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10 次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（正好等于表长 M）才能断定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31 不在表中。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87" name="Rectangle 8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511" y="6004084"/>
              <a:ext cx="7059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懒惰删除把删除做成了 O(1)，代价是查找不成功的开销会随着删除次数一路变差。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散列表的删除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 2 实时删除：谁的路被切断，谁就前移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770678" cy="264033"/>
            <a:chOff x="526542" y="1545907"/>
            <a:chExt cx="97706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7706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 T[j] 后考察位置 j 后面的每个元素 T[i]，令 r = h(T[i])。只要清空 j 会挡住从 r 走到 i 的路，就把 T[i] 前移到 j。</a:t>
              </a:r>
            </a:p>
          </p:txBody>
        </p:sp>
      </p:grpSp>
      <p:grpSp>
        <p:nvGrpSpPr>
          <p:cNvPr id="46" name="c1-cells-1"/>
          <p:cNvGrpSpPr/>
          <p:nvPr/>
        </p:nvGrpSpPr>
        <p:grpSpPr>
          <a:xfrm>
            <a:off x="528447" y="1963579"/>
            <a:ext cx="5632323" cy="813435"/>
            <a:chOff x="528447" y="1963579"/>
            <a:chExt cx="5632323" cy="813435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32267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0130" y="2205038"/>
              <a:ext cx="51244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15211" y="23226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52575" y="2205038"/>
              <a:ext cx="512445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64798" y="2322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64068" y="2205038"/>
              <a:ext cx="51244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77243" y="2322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76512" y="2205038"/>
              <a:ext cx="51244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50641" y="23226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88005" y="2205038"/>
              <a:ext cx="51244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63086" y="23226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00450" y="2205038"/>
              <a:ext cx="51244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74579" y="23226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11942" y="2205038"/>
              <a:ext cx="512445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87024" y="23226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24388" y="2205038"/>
              <a:ext cx="51244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98516" y="23226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135880" y="2205038"/>
              <a:ext cx="51244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49055" y="2322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648325" y="2205038"/>
              <a:ext cx="51244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22454" y="23226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61233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72726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85171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96663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09108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20601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33046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44538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56983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68476" y="26150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71208" y="1963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769745" y="21097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809634" y="1963579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793682" y="21097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46016" y="1963579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4330065" y="21097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3" name="c1-card-2"/>
          <p:cNvGrpSpPr/>
          <p:nvPr/>
        </p:nvGrpSpPr>
        <p:grpSpPr>
          <a:xfrm>
            <a:off x="533400" y="2907030"/>
            <a:ext cx="5626418" cy="1403032"/>
            <a:chOff x="533400" y="2907030"/>
            <a:chExt cx="5626418" cy="1403032"/>
          </a:xfrm>
        </p:grpSpPr>
        <p:sp>
          <p:nvSpPr>
            <p:cNvPr id="47" name="Rectangle 47"/>
            <p:cNvSpPr/>
            <p:nvPr/>
          </p:nvSpPr>
          <p:spPr>
            <a:xfrm>
              <a:off x="533400" y="2907030"/>
              <a:ext cx="562641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2925" y="304038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2475" y="308800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1519" y="312086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情况 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29893" y="3127534"/>
              <a:ext cx="26906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 T[3] = 33，考察 T[6] = 61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5998" y="3443764"/>
              <a:ext cx="49872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h(61) = 1。查找 61 要从 1 出发走 1、2、3、4、5、6，正好经过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3。位置 3 一旦清空，查找 61 会在这里判定失败。所以必须把 61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前移到位置 3。</a:t>
              </a:r>
            </a:p>
          </p:txBody>
        </p:sp>
      </p:grpSp>
      <p:grpSp>
        <p:nvGrpSpPr>
          <p:cNvPr id="59" name="c1-callout-3"/>
          <p:cNvGrpSpPr/>
          <p:nvPr/>
        </p:nvGrpSpPr>
        <p:grpSpPr>
          <a:xfrm>
            <a:off x="533400" y="4474845"/>
            <a:ext cx="5626418" cy="1154430"/>
            <a:chOff x="533400" y="4474845"/>
            <a:chExt cx="5626418" cy="1154430"/>
          </a:xfrm>
        </p:grpSpPr>
        <p:sp>
          <p:nvSpPr>
            <p:cNvPr id="54" name="Rectangle 54"/>
            <p:cNvSpPr/>
            <p:nvPr/>
          </p:nvSpPr>
          <p:spPr>
            <a:xfrm>
              <a:off x="533400" y="4474845"/>
              <a:ext cx="5626418" cy="1154430"/>
            </a:xfrm>
            <a:prstGeom prst="roundRect">
              <a:avLst>
                <a:gd name="adj" fmla="val 990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4952050"/>
              <a:ext cx="200023" cy="200023"/>
              <a:chOff x="738188" y="495205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49520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50187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4963001"/>
              <a:ext cx="46051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判据只有一句话：j 是否落在从 r 走到 i 的那段探查路径上。</a:t>
              </a:r>
            </a:p>
          </p:txBody>
        </p:sp>
      </p:grpSp>
      <p:grpSp>
        <p:nvGrpSpPr>
          <p:cNvPr id="104" name="c2-table-1"/>
          <p:cNvGrpSpPr/>
          <p:nvPr/>
        </p:nvGrpSpPr>
        <p:grpSpPr>
          <a:xfrm>
            <a:off x="6459665" y="1928812"/>
            <a:ext cx="5198935" cy="2170462"/>
            <a:chOff x="6459665" y="1928812"/>
            <a:chExt cx="5198935" cy="2170462"/>
          </a:xfrm>
        </p:grpSpPr>
        <p:sp>
          <p:nvSpPr>
            <p:cNvPr id="60" name="Rectangle 60"/>
            <p:cNvSpPr/>
            <p:nvPr/>
          </p:nvSpPr>
          <p:spPr>
            <a:xfrm>
              <a:off x="6464618" y="1928812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8178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5764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99133" y="204597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22068" y="204597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4841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下标关系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4762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要前移吗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74142" y="2319338"/>
              <a:ext cx="70770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59296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8700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0994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3287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56764" y="2426970"/>
              <a:ext cx="498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j &lt; i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506456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464618" y="2687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464618" y="2691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59296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287006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0994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32876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156764" y="2808923"/>
              <a:ext cx="498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&lt; r ≤ i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506456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不要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64618" y="3068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59296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28700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90994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53287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156764" y="3189923"/>
              <a:ext cx="498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≤ i &lt; j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506456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不要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464618" y="3449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464618" y="3453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559296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28700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90994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53287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156764" y="3571875"/>
              <a:ext cx="498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&lt; j &lt; r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506456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不要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464618" y="1928812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718756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781050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43343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905732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1040701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459665" y="3908584"/>
              <a:ext cx="16154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源课件的四种情况，M = 10</a:t>
              </a:r>
            </a:p>
          </p:txBody>
        </p:sp>
      </p:grpSp>
      <p:grpSp>
        <p:nvGrpSpPr>
          <p:cNvPr id="111" name="c2-card-2"/>
          <p:cNvGrpSpPr/>
          <p:nvPr/>
        </p:nvGrpSpPr>
        <p:grpSpPr>
          <a:xfrm>
            <a:off x="6464618" y="4226242"/>
            <a:ext cx="5193982" cy="1403032"/>
            <a:chOff x="6464618" y="4226242"/>
            <a:chExt cx="5193982" cy="1403032"/>
          </a:xfrm>
        </p:grpSpPr>
        <p:sp>
          <p:nvSpPr>
            <p:cNvPr id="105" name="Rectangle 105"/>
            <p:cNvSpPr/>
            <p:nvPr/>
          </p:nvSpPr>
          <p:spPr>
            <a:xfrm>
              <a:off x="6464618" y="4226242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474142" y="435959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6683692" y="44072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769214" y="44400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统一判据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499223" y="4446746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r 当起点量一量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677216" y="4762976"/>
              <a:ext cx="449148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r 出发沿探查方向走，先遇到 j 还是先遇到 i。先遇到 j 就说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明路被切断，必须前移；先遇到 i（情况 2、3、4）就说明 j 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本不在这段路上，不用动。</a:t>
              </a:r>
            </a:p>
          </p:txBody>
        </p:sp>
      </p:grpSp>
      <p:grpSp>
        <p:nvGrpSpPr>
          <p:cNvPr id="11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2" name="Rectangle 11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041273" y="6039326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四种情况看起来在讨论下标大小，本质上只是同一个循环判据在四种绕圈方式下的样子。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69817" cy="909257"/>
            <a:chOff x="520446" y="342900"/>
            <a:chExt cx="52698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散列表的删除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698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实时删除的 C 实现：判据只有一行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641282"/>
            <a:chOff x="533400" y="1524000"/>
            <a:chExt cx="5410200" cy="26412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41282"/>
            </a:xfrm>
            <a:prstGeom prst="roundRect">
              <a:avLst>
                <a:gd name="adj" fmla="val 36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表结构与查找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2678303" cy="2141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M 13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#define EMPTY 0        /* 空的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#define USED  1        /* 已占用 */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key[M];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st[M];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实时删除只需两种状态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HSearch(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返回下标，失败返回 -1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K % M, i, p;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M; i++)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(a + i) % M;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(st[p] == EMPTY)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(key[p] == K)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340542"/>
            <a:ext cx="5410200" cy="1928812"/>
            <a:chOff x="533400" y="4340542"/>
            <a:chExt cx="5410200" cy="1928812"/>
          </a:xfrm>
        </p:grpSpPr>
        <p:sp>
          <p:nvSpPr>
            <p:cNvPr id="11" name="Rectangle 11"/>
            <p:cNvSpPr/>
            <p:nvPr/>
          </p:nvSpPr>
          <p:spPr>
            <a:xfrm>
              <a:off x="533400" y="4340542"/>
              <a:ext cx="5410200" cy="1928812"/>
            </a:xfrm>
            <a:prstGeom prst="roundRect">
              <a:avLst>
                <a:gd name="adj" fmla="val 691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25805" y="453294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9244" y="456723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76197" y="4572952"/>
              <a:ext cx="1490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Blocked 在算什么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8947" y="490728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 r 为起点，(j−r+M)%M 与 (i−r+M)%M 分别是 j、i 到 r 的循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环距离。前者更小，说明从 r 出发会先走到 j。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0090" y="5463064"/>
              <a:ext cx="3795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表里没有“已删除”状态，所以查找逻辑和插入前完全一样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2783205"/>
            <a:chOff x="6248400" y="1524000"/>
            <a:chExt cx="5410200" cy="2783205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783205"/>
            </a:xfrm>
            <a:prstGeom prst="roundRect">
              <a:avLst>
                <a:gd name="adj" fmla="val 34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判据与删除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988" y="1934289"/>
              <a:ext cx="3044508" cy="22836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清空 j 后，从 r 到 i 的探查路径是否被截断 */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Blocked(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- r + M) % M &lt; (i - r + M) % M;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HashRemove(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j) {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T[j] 已确认要删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r;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st[j] = EMPTY;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(j+1) % M; st[i] == USED; i = (i+1) % M)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 = key[i] % M;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(Blocked(r, i, j))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key[j] = key[i];  st[j] = USED;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st[i] = EMPTY;    j = i;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248400" y="4482465"/>
            <a:ext cx="5410200" cy="1786890"/>
            <a:chOff x="6248400" y="4482465"/>
            <a:chExt cx="5410200" cy="1786890"/>
          </a:xfrm>
        </p:grpSpPr>
        <p:sp>
          <p:nvSpPr>
            <p:cNvPr id="22" name="Rectangle 22"/>
            <p:cNvSpPr/>
            <p:nvPr/>
          </p:nvSpPr>
          <p:spPr>
            <a:xfrm>
              <a:off x="6248400" y="4482465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461581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8905" y="46748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0345" y="47091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62597" y="47148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源课件伪代码的两处问题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78905" y="503682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34583" y="50752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9702" y="5049202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for(i=j+1; …)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，初值没有取模。j = M−1 时 i 的初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值就是 M，访问 T[M] 即数组越界，已改为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(j+1)%M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78905" y="559689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34583" y="56352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9702" y="560832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原课件把“探查路径被阻断”留作文字描述，本页的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Blocked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把它写成可运行的判据。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39333" cy="909257"/>
            <a:chOff x="520446" y="342900"/>
            <a:chExt cx="60393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散列表的删除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393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例题：2020 级期末，实时删除关键词 9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281067" cy="264033"/>
            <a:chOff x="526542" y="1545907"/>
            <a:chExt cx="112810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281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长度为 13、初始为空的散列表 HT[0..12]，散列函数 h(K) = K % 13。写出删除 9 的过程依次移动了哪些关键词，并画出删除后的散列表。</a:t>
              </a:r>
            </a:p>
          </p:txBody>
        </p:sp>
      </p:grpSp>
      <p:grpSp>
        <p:nvGrpSpPr>
          <p:cNvPr id="157" name="c1-cells-1"/>
          <p:cNvGrpSpPr/>
          <p:nvPr/>
        </p:nvGrpSpPr>
        <p:grpSpPr>
          <a:xfrm>
            <a:off x="528638" y="1928812"/>
            <a:ext cx="6064568" cy="2545081"/>
            <a:chOff x="528638" y="1928812"/>
            <a:chExt cx="6064568" cy="2545081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5073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2990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161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88758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2643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14525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52201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39340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77016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65108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278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89922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2759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15690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62756" y="205073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40505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88524" y="205073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66272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338" y="205073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891088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29716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16855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54531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41670" y="1928812"/>
              <a:ext cx="425768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1528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167438" y="192881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11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4123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660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91813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1662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4239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6721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9297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187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4356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69328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63786" y="23388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89554" y="23388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14369" y="23388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8638" y="273367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清空 9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62990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20161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488758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62643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914525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052201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339340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477016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765108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90278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189922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32759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615690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762756" y="273367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040505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88524" y="273367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466272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13338" y="273367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891088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029716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16855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454531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741670" y="2611755"/>
              <a:ext cx="42576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89688" y="273367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167438" y="2611755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0511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28638" y="3235642"/>
              <a:ext cx="429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移动 35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62990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201619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488758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626434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914525" y="3113722"/>
              <a:ext cx="42576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061591" y="323564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2339340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2477016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2765108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2902784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3189922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327599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3615690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3762756" y="323564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4040505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188524" y="323564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4466272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4613338" y="323564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4891088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029716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316855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5454531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5741670" y="3113722"/>
              <a:ext cx="4257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5880299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167438" y="3113722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305114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28638" y="3737610"/>
              <a:ext cx="429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移动 40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1062990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1201619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1488758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1626434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1914525" y="3615690"/>
              <a:ext cx="4257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2052201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2339340" y="3615690"/>
              <a:ext cx="42576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2486406" y="373761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2765108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2902784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3189922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3327599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3615690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762756" y="373761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4040505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4188524" y="373761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4466272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4613338" y="373761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4891088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5029716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5316855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5454531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5741670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5880299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6167438" y="3615690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305114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528638" y="4239578"/>
              <a:ext cx="429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移动 15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1062990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1201619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1488758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1626434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1914525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2052201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2339340" y="4117658"/>
              <a:ext cx="425768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2477016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765108" y="4117658"/>
              <a:ext cx="42576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2912174" y="423957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3189922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3327599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3615690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3762756" y="423957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4040505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4188524" y="423957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4466272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4613338" y="423957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4891088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5029716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5316855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5454531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5741670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5880299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6167438" y="4117658"/>
              <a:ext cx="42576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6305114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  <p:grpSp>
        <p:nvGrpSpPr>
          <p:cNvPr id="163" name="c1-card-2"/>
          <p:cNvGrpSpPr/>
          <p:nvPr/>
        </p:nvGrpSpPr>
        <p:grpSpPr>
          <a:xfrm>
            <a:off x="533400" y="4638675"/>
            <a:ext cx="6059805" cy="1510665"/>
            <a:chOff x="533400" y="4638675"/>
            <a:chExt cx="6059805" cy="1510665"/>
          </a:xfrm>
        </p:grpSpPr>
        <p:sp>
          <p:nvSpPr>
            <p:cNvPr id="158" name="Rectangle 158"/>
            <p:cNvSpPr/>
            <p:nvPr/>
          </p:nvSpPr>
          <p:spPr>
            <a:xfrm>
              <a:off x="533400" y="4638675"/>
              <a:ext cx="6059805" cy="1510665"/>
            </a:xfrm>
            <a:prstGeom prst="roundRect">
              <a:avLst>
                <a:gd name="adj" fmla="val 882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714375" y="48196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807047" y="48525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1280350" y="4859179"/>
              <a:ext cx="1680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空位一路从 11 挪到 4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707898" y="5175409"/>
              <a:ext cx="54343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每一行里浅色的那一格就是当前的空位 j。它先在 11，35 补上后挪到 2，40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补上后挪到 3，15 补上后停在 4。扫描到位置 6 发现本来就是空的，循环结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束。</a:t>
              </a:r>
            </a:p>
          </p:txBody>
        </p:sp>
      </p:grpSp>
      <p:grpSp>
        <p:nvGrpSpPr>
          <p:cNvPr id="213" name="c2-table-1"/>
          <p:cNvGrpSpPr/>
          <p:nvPr/>
        </p:nvGrpSpPr>
        <p:grpSpPr>
          <a:xfrm>
            <a:off x="6893052" y="1928812"/>
            <a:ext cx="4765548" cy="2933414"/>
            <a:chOff x="6893052" y="1928812"/>
            <a:chExt cx="4765548" cy="2933414"/>
          </a:xfrm>
        </p:grpSpPr>
        <p:sp>
          <p:nvSpPr>
            <p:cNvPr id="164" name="Rectangle 164"/>
            <p:cNvSpPr/>
            <p:nvPr/>
          </p:nvSpPr>
          <p:spPr>
            <a:xfrm>
              <a:off x="6898005" y="1928812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7250456" y="204597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7981165" y="2045970"/>
              <a:ext cx="308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T[i]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885115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9330577" y="2045970"/>
              <a:ext cx="11337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探查路径经过 j 吗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1098804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6992684" y="242697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12/0/1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7753731" y="242697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38/65/92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8706231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归位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9277731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不经过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0705528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175" name="Rectangle 175"/>
            <p:cNvSpPr/>
            <p:nvPr/>
          </p:nvSpPr>
          <p:spPr>
            <a:xfrm>
              <a:off x="6898005" y="2687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6" name="Rectangle 176"/>
            <p:cNvSpPr/>
            <p:nvPr/>
          </p:nvSpPr>
          <p:spPr>
            <a:xfrm>
              <a:off x="6898005" y="269176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7" name="TextBox 177"/>
            <p:cNvSpPr txBox="1"/>
            <p:nvPr/>
          </p:nvSpPr>
          <p:spPr>
            <a:xfrm>
              <a:off x="6992684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7753731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870623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277731" y="28089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9→…→2，经过 j=11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10705528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前移</a:t>
              </a:r>
            </a:p>
          </p:txBody>
        </p:sp>
        <p:sp>
          <p:nvSpPr>
            <p:cNvPr id="182" name="Rectangle 182"/>
            <p:cNvSpPr/>
            <p:nvPr/>
          </p:nvSpPr>
          <p:spPr>
            <a:xfrm>
              <a:off x="6898005" y="3068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6992684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7753731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870623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9277731" y="3189923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1→2→3，经过 j=2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10705528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前移</a:t>
              </a:r>
            </a:p>
          </p:txBody>
        </p:sp>
        <p:sp>
          <p:nvSpPr>
            <p:cNvPr id="188" name="Rectangle 188"/>
            <p:cNvSpPr/>
            <p:nvPr/>
          </p:nvSpPr>
          <p:spPr>
            <a:xfrm>
              <a:off x="6898005" y="3449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9" name="Rectangle 189"/>
            <p:cNvSpPr/>
            <p:nvPr/>
          </p:nvSpPr>
          <p:spPr>
            <a:xfrm>
              <a:off x="6898005" y="345376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0" name="TextBox 190"/>
            <p:cNvSpPr txBox="1"/>
            <p:nvPr/>
          </p:nvSpPr>
          <p:spPr>
            <a:xfrm>
              <a:off x="6992684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7753731" y="3571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870623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9277731" y="3571875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2→3→4，经过 j=3</a:t>
              </a:r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10705528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前移</a:t>
              </a:r>
            </a:p>
          </p:txBody>
        </p:sp>
        <p:sp>
          <p:nvSpPr>
            <p:cNvPr id="195" name="Rectangle 195"/>
            <p:cNvSpPr/>
            <p:nvPr/>
          </p:nvSpPr>
          <p:spPr>
            <a:xfrm>
              <a:off x="6898005" y="38309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6" name="TextBox 196"/>
            <p:cNvSpPr txBox="1"/>
            <p:nvPr/>
          </p:nvSpPr>
          <p:spPr>
            <a:xfrm>
              <a:off x="6992684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7753731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8706231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9277731" y="3952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不经过</a:t>
              </a:r>
            </a:p>
          </p:txBody>
        </p:sp>
        <p:sp>
          <p:nvSpPr>
            <p:cNvPr id="200" name="TextBox 200"/>
            <p:cNvSpPr txBox="1"/>
            <p:nvPr/>
          </p:nvSpPr>
          <p:spPr>
            <a:xfrm>
              <a:off x="10705528" y="3952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201" name="Rectangle 201"/>
            <p:cNvSpPr/>
            <p:nvPr/>
          </p:nvSpPr>
          <p:spPr>
            <a:xfrm>
              <a:off x="6898005" y="42119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6898005" y="4216718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3" name="TextBox 203"/>
            <p:cNvSpPr txBox="1"/>
            <p:nvPr/>
          </p:nvSpPr>
          <p:spPr>
            <a:xfrm>
              <a:off x="6992684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7753731" y="4333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05" name="TextBox 205"/>
            <p:cNvSpPr txBox="1"/>
            <p:nvPr/>
          </p:nvSpPr>
          <p:spPr>
            <a:xfrm>
              <a:off x="9277731" y="4333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遇到空位</a:t>
              </a:r>
            </a:p>
          </p:txBody>
        </p:sp>
        <p:sp>
          <p:nvSpPr>
            <p:cNvPr id="206" name="TextBox 206"/>
            <p:cNvSpPr txBox="1"/>
            <p:nvPr/>
          </p:nvSpPr>
          <p:spPr>
            <a:xfrm>
              <a:off x="10705528" y="4333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207" name="Rectangle 207"/>
            <p:cNvSpPr/>
            <p:nvPr/>
          </p:nvSpPr>
          <p:spPr>
            <a:xfrm>
              <a:off x="6898005" y="1928812"/>
              <a:ext cx="476059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765429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860679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0" name="Rectangle 210"/>
            <p:cNvSpPr/>
            <p:nvPr/>
          </p:nvSpPr>
          <p:spPr>
            <a:xfrm>
              <a:off x="917829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1060608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2" name="TextBox 212"/>
            <p:cNvSpPr txBox="1"/>
            <p:nvPr/>
          </p:nvSpPr>
          <p:spPr>
            <a:xfrm>
              <a:off x="6893052" y="4671536"/>
              <a:ext cx="2426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j = 11 的下一格开始逐个考察，M = 13</a:t>
              </a:r>
            </a:p>
          </p:txBody>
        </p:sp>
      </p:grpSp>
      <p:grpSp>
        <p:nvGrpSpPr>
          <p:cNvPr id="219" name="c2-card-2"/>
          <p:cNvGrpSpPr/>
          <p:nvPr/>
        </p:nvGrpSpPr>
        <p:grpSpPr>
          <a:xfrm>
            <a:off x="6898005" y="4988242"/>
            <a:ext cx="4760595" cy="1160145"/>
            <a:chOff x="6898005" y="4988242"/>
            <a:chExt cx="4760595" cy="1160145"/>
          </a:xfrm>
        </p:grpSpPr>
        <p:sp>
          <p:nvSpPr>
            <p:cNvPr id="214" name="Rectangle 214"/>
            <p:cNvSpPr/>
            <p:nvPr/>
          </p:nvSpPr>
          <p:spPr>
            <a:xfrm>
              <a:off x="6898005" y="4988242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5" name="Rectangle 215"/>
            <p:cNvSpPr/>
            <p:nvPr/>
          </p:nvSpPr>
          <p:spPr>
            <a:xfrm>
              <a:off x="7078980" y="51692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16" name="TextBox 216"/>
            <p:cNvSpPr txBox="1"/>
            <p:nvPr/>
          </p:nvSpPr>
          <p:spPr>
            <a:xfrm>
              <a:off x="7170699" y="52020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217" name="TextBox 217"/>
            <p:cNvSpPr txBox="1"/>
            <p:nvPr/>
          </p:nvSpPr>
          <p:spPr>
            <a:xfrm>
              <a:off x="7644956" y="5209699"/>
              <a:ext cx="1698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依次移动 35、40、15</a:t>
              </a:r>
            </a:p>
          </p:txBody>
        </p:sp>
        <p:sp>
          <p:nvSpPr>
            <p:cNvPr id="218" name="TextBox 218"/>
            <p:cNvSpPr txBox="1"/>
            <p:nvPr/>
          </p:nvSpPr>
          <p:spPr>
            <a:xfrm>
              <a:off x="7072503" y="5525929"/>
              <a:ext cx="41663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最终表 0 到 5 为 65、92、40、15、空、70，9 到 12 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22、62、35、38。删除后其余 9 个关键词全部仍能查到。</a:t>
              </a:r>
            </a:p>
          </p:txBody>
        </p:sp>
      </p:grpSp>
      <p:grpSp>
        <p:nvGrpSpPr>
          <p:cNvPr id="2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0" name="TextBox 220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221" name="TextBox 22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6197" cy="909257"/>
            <a:chOff x="520446" y="342900"/>
            <a:chExt cx="62761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散列表的删除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61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 3 延迟删除：平时打标记，定期重建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226820"/>
            <a:chOff x="533400" y="1524000"/>
            <a:chExt cx="5193982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延迟删除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4297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懒惰删除加定期整理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平时采用懒惰删除，每隔一段时间执行一次真正的删除，把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标记为“已删除”的结点真正清空。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935605"/>
            <a:ext cx="4646498" cy="1693069"/>
            <a:chOff x="533400" y="2935605"/>
            <a:chExt cx="4646498" cy="1693069"/>
          </a:xfrm>
        </p:grpSpPr>
        <p:sp>
          <p:nvSpPr>
            <p:cNvPr id="14" name="Rectangle 14"/>
            <p:cNvSpPr/>
            <p:nvPr/>
          </p:nvSpPr>
          <p:spPr>
            <a:xfrm>
              <a:off x="666750" y="307848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9356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0094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5223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596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1090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182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29670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235166"/>
              <a:ext cx="2401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删除只改状态标记，操作代价 O(1)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55377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8219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顺便记录每个元素被访问的次数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1414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40864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清空所有已删除位置，再把元素按访问次数递减的顺序重新插入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4797742"/>
            <a:ext cx="5193982" cy="861060"/>
            <a:chOff x="533400" y="4797742"/>
            <a:chExt cx="5193982" cy="861060"/>
          </a:xfrm>
        </p:grpSpPr>
        <p:sp>
          <p:nvSpPr>
            <p:cNvPr id="28" name="Rectangle 28"/>
            <p:cNvSpPr/>
            <p:nvPr/>
          </p:nvSpPr>
          <p:spPr>
            <a:xfrm>
              <a:off x="533400" y="4797742"/>
              <a:ext cx="5193982" cy="861060"/>
            </a:xfrm>
            <a:prstGeom prst="roundRect">
              <a:avLst>
                <a:gd name="adj" fmla="val 1327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128262"/>
              <a:ext cx="200023" cy="200023"/>
              <a:chOff x="738188" y="5128262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1282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51949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5009198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重建时先插入高频元素，它们就更可能落在自己的散列地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址上，整体平均查找长度随之下降。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026848" y="1524000"/>
            <a:ext cx="5631752" cy="2302764"/>
            <a:chOff x="6026848" y="1524000"/>
            <a:chExt cx="5631752" cy="2302764"/>
          </a:xfrm>
        </p:grpSpPr>
        <p:sp>
          <p:nvSpPr>
            <p:cNvPr id="34" name="Rectangle 34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147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1274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删除代价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7578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查找代价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0742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适用场合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32195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懒惰删除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44702" y="2054066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95348" y="20540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随删除次数变差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70783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删除少、实现要简单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2182" y="2335530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1708" y="2345055"/>
              <a:ext cx="99345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32195" y="2559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实时删除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44702" y="2459831"/>
              <a:ext cx="9644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O(1)，最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 O(n)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95348" y="25598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始终和无删除时一样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70783" y="2459831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删除频繁、要稳定性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29365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32195" y="31656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延迟删除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44702" y="3065621"/>
              <a:ext cx="9644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平时 O(1)，重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 O(M)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95348" y="3065621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两次重建之间逐渐变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70783" y="316563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允许离线整理的系统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1524000"/>
              <a:ext cx="5626418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39928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90572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966008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26848" y="362140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三种删除方案的取舍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032182" y="3960495"/>
            <a:ext cx="5626418" cy="1697355"/>
            <a:chOff x="6032182" y="3960495"/>
            <a:chExt cx="5626418" cy="1697355"/>
          </a:xfrm>
        </p:grpSpPr>
        <p:sp>
          <p:nvSpPr>
            <p:cNvPr id="61" name="Rectangle 61"/>
            <p:cNvSpPr/>
            <p:nvPr/>
          </p:nvSpPr>
          <p:spPr>
            <a:xfrm>
              <a:off x="6032182" y="3960495"/>
              <a:ext cx="5626418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41708" y="4093845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62688" y="41529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50127" y="41871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79730" y="41929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实时删除的时间代价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55830" y="4527232"/>
              <a:ext cx="495490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最坏情况下要遍历整个散列表，时间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。可以证明，当装填因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子 α ≤ 2/3 时平均时间为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56972" y="5083016"/>
              <a:ext cx="49400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证明见 Cormen 等《算法导论》第 4 版，以及 Pagh 等 2007、Thorup 2015 两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篇论文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9" name="Rectangle 6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3610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三种方案都只针对闭散列法。拉链法从头到尾不需要这一套，这是它在工程上流行的重要原因。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91178" cy="2997517"/>
            <a:chOff x="667512" y="1835468"/>
            <a:chExt cx="409117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性能分析与应用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4978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 O(1) 的代价是什么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32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四种策略的 ASL 都只由装填因子决定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散列表换不掉查找树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散列思想在分布式、安全、过滤里到处都是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性能分析与应用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平均查找长度只取决于装填因子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79847" cy="264033"/>
            <a:chOff x="526542" y="1545907"/>
            <a:chExt cx="517984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79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表长 M 和元素个数 n 都不单独出现，出现的只有它们的比值 α。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28447" y="1928812"/>
            <a:ext cx="5631371" cy="2263807"/>
            <a:chOff x="528447" y="1928812"/>
            <a:chExt cx="5631371" cy="226380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0087" y="2050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解决冲突的策略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70276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查找成功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08462" y="2050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查找不成功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338388"/>
              <a:ext cx="17811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50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30780" y="245030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α/2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18610" y="245030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+ e⁻ᵅ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241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7289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0555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30780" y="2850356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½(1 + 1/(1−α))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18610" y="2850356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½(1 + 1/(1−α)²)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242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3250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二次探查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30780" y="3250406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(1/α)·ln(1/(1−α))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18610" y="32504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1/(1−α)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5242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5290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3650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双重探查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30780" y="3650456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(1/α)·ln(1/(1−α))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18610" y="36504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1/(1−α)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928812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328862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16692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447" y="400192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四种冲突处理策略的平均查找长度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4324350"/>
            <a:ext cx="5626418" cy="1960245"/>
            <a:chOff x="533400" y="4324350"/>
            <a:chExt cx="5626418" cy="1960245"/>
          </a:xfrm>
        </p:grpSpPr>
        <p:sp>
          <p:nvSpPr>
            <p:cNvPr id="36" name="Rectangle 36"/>
            <p:cNvSpPr/>
            <p:nvPr/>
          </p:nvSpPr>
          <p:spPr>
            <a:xfrm>
              <a:off x="533400" y="4324350"/>
              <a:ext cx="5626418" cy="1960245"/>
            </a:xfrm>
            <a:prstGeom prst="roundRect">
              <a:avLst>
                <a:gd name="adj" fmla="val 680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0090" y="45110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2762" y="45439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85684" y="45462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这些公式成立的条件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232" y="4872037"/>
              <a:ext cx="50029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散列函数把关键词均匀独立地映射到各地址，且表中不存在被标记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为“已删除”的位置。真实数据只要有明显规律，实测值就会比公式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高。</a:t>
              </a:r>
            </a:p>
          </p:txBody>
        </p:sp>
      </p:grpSp>
      <p:grpSp>
        <p:nvGrpSpPr>
          <p:cNvPr id="87" name="c2-table-1"/>
          <p:cNvGrpSpPr/>
          <p:nvPr/>
        </p:nvGrpSpPr>
        <p:grpSpPr>
          <a:xfrm>
            <a:off x="6459665" y="1928812"/>
            <a:ext cx="5198935" cy="2463832"/>
            <a:chOff x="6459665" y="1928812"/>
            <a:chExt cx="5198935" cy="2463832"/>
          </a:xfrm>
        </p:grpSpPr>
        <p:sp>
          <p:nvSpPr>
            <p:cNvPr id="42" name="Rectangle 42"/>
            <p:cNvSpPr/>
            <p:nvPr/>
          </p:nvSpPr>
          <p:spPr>
            <a:xfrm>
              <a:off x="6464618" y="1928812"/>
              <a:ext cx="5193982" cy="6000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26834" y="21502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47966" y="2150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拉链成功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83321" y="2150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拉链失败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17724" y="2150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线性成功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53079" y="2150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线性失败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83163" y="2050256"/>
              <a:ext cx="5202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二次/双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重失败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61772" y="265033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85660" y="26503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20062" y="26503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55418" y="26503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89820" y="26503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25175" y="26503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29241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4618" y="2928938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2938462"/>
              <a:ext cx="60388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1772" y="305038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85660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20062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55418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89820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25175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33242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61772" y="345043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85660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20062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55418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89820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8.50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25175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64618" y="37242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64618" y="3729038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61772" y="385048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85660" y="38504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120062" y="38504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55418" y="38504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902190" y="3738562"/>
              <a:ext cx="91630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989820" y="38504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50.50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925175" y="38504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10.00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464618" y="1928812"/>
              <a:ext cx="5193982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083742" y="1928812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8018145" y="1928812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953500" y="1928812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887902" y="1928812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823258" y="1928812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459665" y="4201954"/>
              <a:ext cx="18371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代入具体的 α，单位是探查次数</a:t>
              </a:r>
            </a:p>
          </p:txBody>
        </p:sp>
      </p:grpSp>
      <p:grpSp>
        <p:nvGrpSpPr>
          <p:cNvPr id="97" name="c2-card-2"/>
          <p:cNvGrpSpPr/>
          <p:nvPr/>
        </p:nvGrpSpPr>
        <p:grpSpPr>
          <a:xfrm>
            <a:off x="6464618" y="4524375"/>
            <a:ext cx="5193982" cy="1760220"/>
            <a:chOff x="6464618" y="4524375"/>
            <a:chExt cx="5193982" cy="1760220"/>
          </a:xfrm>
        </p:grpSpPr>
        <p:sp>
          <p:nvSpPr>
            <p:cNvPr id="88" name="Rectangle 88"/>
            <p:cNvSpPr/>
            <p:nvPr/>
          </p:nvSpPr>
          <p:spPr>
            <a:xfrm>
              <a:off x="6464618" y="4524375"/>
              <a:ext cx="5193982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6474142" y="4657725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689408" y="471106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766827" y="474392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源课件的结论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753160" y="4746308"/>
              <a:ext cx="1130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α = 0.5 时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697980" y="512826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853999" y="5072062"/>
              <a:ext cx="43342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线性探查：成功平均 1.5 次探查，不成功与插入平均 2.5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6697980" y="56854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853999" y="5629275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二次探查与双重探查：成功平均 1.39 次，不成功与插入平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 2 次。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性能分析与应用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装填因子过半，闭散列表就开始塌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bullets-1"/>
          <p:cNvGrpSpPr/>
          <p:nvPr/>
        </p:nvGrpSpPr>
        <p:grpSpPr>
          <a:xfrm>
            <a:off x="533400" y="1535430"/>
            <a:ext cx="5577459" cy="2834926"/>
            <a:chOff x="533400" y="1535430"/>
            <a:chExt cx="5577459" cy="2834926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装填因子越大，平均探测次数越多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42010" y="191547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6033" y="1842611"/>
              <a:ext cx="4906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四个公式里 α 都在分母的 1−α 里，α 趋近 1 时探查次数趋于无穷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138362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5249" y="218065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4390" y="2151698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装填因子超过 0.5 时性能急剧下降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42010" y="251841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6033" y="2445544"/>
              <a:ext cx="50848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α 从 0.5 涨到 0.9，线性探查的失败探查次数从 2.5 涨到 50.5，是 20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倍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2976562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249" y="301885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390" y="298989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拉链法几乎不受影响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2010" y="335661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6033" y="3282791"/>
              <a:ext cx="4992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α 从 0.25 涨到 0.9，拉链法的成功探查次数只从 1.13 涨到 1.45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57949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36217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359283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线性探查的实测速度未必最差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42010" y="395954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26033" y="3886676"/>
              <a:ext cx="50279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它的数据访问有很好的空间局部性，缓存命中率高，α 压得低时常常反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超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511040"/>
            <a:ext cx="5842635" cy="1704975"/>
            <a:chOff x="533400" y="4511040"/>
            <a:chExt cx="5842635" cy="1704975"/>
          </a:xfrm>
        </p:grpSpPr>
        <p:sp>
          <p:nvSpPr>
            <p:cNvPr id="28" name="Rectangle 28"/>
            <p:cNvSpPr/>
            <p:nvPr/>
          </p:nvSpPr>
          <p:spPr>
            <a:xfrm>
              <a:off x="533400" y="4511040"/>
              <a:ext cx="5842635" cy="1704975"/>
            </a:xfrm>
            <a:prstGeom prst="roundRect">
              <a:avLst>
                <a:gd name="adj" fmla="val 670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263517"/>
              <a:ext cx="200023" cy="200023"/>
              <a:chOff x="738188" y="5263517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2635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53301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120640"/>
              <a:ext cx="4749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闭散列法必须留出空位，这是用空间换时间；拉链法的 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可以大于 1，代价是每个元素多一个指针。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680835" y="1524000"/>
            <a:ext cx="4977765" cy="1621155"/>
            <a:chOff x="6680835" y="1524000"/>
            <a:chExt cx="4977765" cy="1621155"/>
          </a:xfrm>
        </p:grpSpPr>
        <p:sp>
          <p:nvSpPr>
            <p:cNvPr id="34" name="Rectangle 34"/>
            <p:cNvSpPr/>
            <p:nvPr/>
          </p:nvSpPr>
          <p:spPr>
            <a:xfrm>
              <a:off x="6680835" y="152400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8485" y="1733550"/>
              <a:ext cx="106965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02171" y="1769269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为什么是 1−α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4823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空位越少，聚集越长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0865" y="2129790"/>
              <a:ext cx="4225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装填因子 α 时剩余空位比例是 1−α。线性探查走到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下一个空位平均要跨过 1/(1−α) 量级的单元，α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 时这个量级是 10，α = 0.99 时是 100。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680835" y="3335655"/>
            <a:ext cx="4977765" cy="1906905"/>
            <a:chOff x="6680835" y="3335655"/>
            <a:chExt cx="4977765" cy="1906905"/>
          </a:xfrm>
        </p:grpSpPr>
        <p:sp>
          <p:nvSpPr>
            <p:cNvPr id="41" name="Rectangle 41"/>
            <p:cNvSpPr/>
            <p:nvPr/>
          </p:nvSpPr>
          <p:spPr>
            <a:xfrm>
              <a:off x="6680835" y="3335655"/>
              <a:ext cx="4977765" cy="1906905"/>
            </a:xfrm>
            <a:prstGeom prst="roundRect">
              <a:avLst>
                <a:gd name="adj" fmla="val 699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90385" y="35452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72694" y="35809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工程做法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76210" y="358044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到了阈值就扩容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82765" y="3941445"/>
              <a:ext cx="43586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HashMap 在 α 超过 0.75 时把容量翻倍并全表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rehash；C++ unordered_map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max_load_factor 默认是 1.0。扩容是 O(M) 的，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但摊还到每次插入上仍是 O(1)。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680835" y="5433060"/>
            <a:ext cx="4977765" cy="782955"/>
            <a:chOff x="6680835" y="5433060"/>
            <a:chExt cx="4977765" cy="782955"/>
          </a:xfrm>
        </p:grpSpPr>
        <p:sp>
          <p:nvSpPr>
            <p:cNvPr id="47" name="Rectangle 47"/>
            <p:cNvSpPr/>
            <p:nvPr/>
          </p:nvSpPr>
          <p:spPr>
            <a:xfrm>
              <a:off x="6680835" y="543306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885623" y="5724525"/>
              <a:ext cx="200026" cy="200025"/>
              <a:chOff x="6885623" y="5724525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885623" y="57245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25361" y="57689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60077" y="58801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187565" y="5581650"/>
              <a:ext cx="4082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扩容之后所有元素的散列地址都会变，因为 M 变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了，必须重新计算，不能直接搬。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17666" cy="909257"/>
            <a:chOff x="520446" y="342900"/>
            <a:chExt cx="63176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性能分析与应用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176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有了 O(1) 的散列，为什么还留着查找树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6059805" cy="3011805"/>
            <a:chOff x="533400" y="1524000"/>
            <a:chExt cx="6059805" cy="3011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5637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3585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7514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按关键词精确查找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24150" y="1964055"/>
              <a:ext cx="192024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19972" y="2085022"/>
              <a:ext cx="819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平均 O(1)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9262" y="2085022"/>
              <a:ext cx="633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19972" y="2515552"/>
              <a:ext cx="430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9262" y="2515552"/>
              <a:ext cx="664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空间开销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19972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要留空位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9262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结点紧凑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394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24421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337566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查最小或第 k 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19972" y="3375660"/>
              <a:ext cx="430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9262" y="3375660"/>
              <a:ext cx="664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699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80619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范围查询与排序输出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19972" y="38061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663440" y="3684270"/>
              <a:ext cx="192024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59262" y="380619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中根遍历即可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100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10527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46" y="423576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查找失败时的信息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19972" y="423576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只知道不在表中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59262" y="423576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还能给出前驱和后继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059805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0986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64915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llout-2"/>
          <p:cNvGrpSpPr/>
          <p:nvPr/>
        </p:nvGrpSpPr>
        <p:grpSpPr>
          <a:xfrm>
            <a:off x="533400" y="4720590"/>
            <a:ext cx="6059805" cy="1380172"/>
            <a:chOff x="533400" y="4720590"/>
            <a:chExt cx="6059805" cy="1380172"/>
          </a:xfrm>
        </p:grpSpPr>
        <p:sp>
          <p:nvSpPr>
            <p:cNvPr id="43" name="Rectangle 43"/>
            <p:cNvSpPr/>
            <p:nvPr/>
          </p:nvSpPr>
          <p:spPr>
            <a:xfrm>
              <a:off x="533400" y="4720590"/>
              <a:ext cx="6059805" cy="1380172"/>
            </a:xfrm>
            <a:prstGeom prst="roundRect">
              <a:avLst>
                <a:gd name="adj" fmla="val 828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310190"/>
              <a:ext cx="200023" cy="200023"/>
              <a:chOff x="738188" y="531019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3101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53768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5180171"/>
              <a:ext cx="508203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散列表丢掉的是“序”。它把关键词打散成互不相关的地址，也就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不可能再回答任何与顺序有关的问题。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898005" y="1524000"/>
            <a:ext cx="4760595" cy="1884998"/>
            <a:chOff x="6898005" y="1524000"/>
            <a:chExt cx="4760595" cy="1884998"/>
          </a:xfrm>
        </p:grpSpPr>
        <p:sp>
          <p:nvSpPr>
            <p:cNvPr id="49" name="Rectangle 49"/>
            <p:cNvSpPr/>
            <p:nvPr/>
          </p:nvSpPr>
          <p:spPr>
            <a:xfrm>
              <a:off x="6898005" y="1524000"/>
              <a:ext cx="4760595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07530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3994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30148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40396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两者的分工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147560" y="2179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04151" y="2119789"/>
              <a:ext cx="38557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只做精确查找、插入、删除，数据量大，用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散列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47560" y="27708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304151" y="2711291"/>
              <a:ext cx="37745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需要范围查询、有序输出、找前驱后继、求第 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小，用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查找树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898005" y="3593782"/>
            <a:ext cx="4760595" cy="1564958"/>
            <a:chOff x="6898005" y="3593782"/>
            <a:chExt cx="4760595" cy="1564958"/>
          </a:xfrm>
        </p:grpSpPr>
        <p:sp>
          <p:nvSpPr>
            <p:cNvPr id="59" name="Rectangle 59"/>
            <p:cNvSpPr/>
            <p:nvPr/>
          </p:nvSpPr>
          <p:spPr>
            <a:xfrm>
              <a:off x="6898005" y="3593782"/>
              <a:ext cx="476059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07530" y="372713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39940" y="379761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26198" y="38333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别忘了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83271" y="3838099"/>
              <a:ext cx="23075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 是理想情况下的性能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32701" y="4189571"/>
              <a:ext cx="410819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实际时间随数据量和数据分布而变。关键词分布不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好或装填因子失控时，散列表最坏会退化到 O(n)，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而平衡查找树的 O(logn) 是有保证的。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898005" y="5344478"/>
            <a:ext cx="4760595" cy="756285"/>
            <a:chOff x="6898005" y="5344478"/>
            <a:chExt cx="4760595" cy="756285"/>
          </a:xfrm>
        </p:grpSpPr>
        <p:sp>
          <p:nvSpPr>
            <p:cNvPr id="66" name="Rectangle 66"/>
            <p:cNvSpPr/>
            <p:nvPr/>
          </p:nvSpPr>
          <p:spPr>
            <a:xfrm>
              <a:off x="6898005" y="5344478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102793" y="5622608"/>
              <a:ext cx="200026" cy="200026"/>
              <a:chOff x="7102793" y="5622608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102793" y="5622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02805" y="5689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191693" y="5722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405116" y="5491639"/>
              <a:ext cx="384670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第24讲的 B 树面向外存，散列表在外存上没有优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势，因为它的随机访问模式对磁盘很不友好。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性能分析与应用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散列的两个典型应用：分片与摘要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graph-1"/>
          <p:cNvGrpSpPr/>
          <p:nvPr/>
        </p:nvGrpSpPr>
        <p:grpSpPr>
          <a:xfrm>
            <a:off x="853440" y="1634490"/>
            <a:ext cx="4692968" cy="1685925"/>
            <a:chOff x="853440" y="1634490"/>
            <a:chExt cx="4692968" cy="1685925"/>
          </a:xfrm>
        </p:grpSpPr>
        <p:sp>
          <p:nvSpPr>
            <p:cNvPr id="7" name="Freeform 7"/>
            <p:cNvSpPr/>
            <p:nvPr/>
          </p:nvSpPr>
          <p:spPr>
            <a:xfrm>
              <a:off x="1511618" y="2477452"/>
              <a:ext cx="890588" cy="9525"/>
            </a:xfrm>
            <a:custGeom>
              <a:avLst/>
              <a:gdLst/>
              <a:ahLst/>
              <a:cxnLst/>
              <a:rect l="l" t="t" r="r" b="b"/>
              <a:pathLst>
                <a:path w="890588" h="9525">
                  <a:moveTo>
                    <a:pt x="0" y="0"/>
                  </a:moveTo>
                  <a:lnTo>
                    <a:pt x="8905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02205" y="24298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29940" y="1967865"/>
              <a:ext cx="1188720" cy="377190"/>
            </a:xfrm>
            <a:custGeom>
              <a:avLst/>
              <a:gdLst/>
              <a:ahLst/>
              <a:cxnLst/>
              <a:rect l="l" t="t" r="r" b="b"/>
              <a:pathLst>
                <a:path w="1188720" h="377190">
                  <a:moveTo>
                    <a:pt x="0" y="377190"/>
                  </a:moveTo>
                  <a:lnTo>
                    <a:pt x="11887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04372" y="192309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6192"/>
                  </a:moveTo>
                  <a:lnTo>
                    <a:pt x="29528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29940" y="2477452"/>
              <a:ext cx="1184910" cy="9525"/>
            </a:xfrm>
            <a:custGeom>
              <a:avLst/>
              <a:gdLst/>
              <a:ahLst/>
              <a:cxnLst/>
              <a:rect l="l" t="t" r="r" b="b"/>
              <a:pathLst>
                <a:path w="1184910" h="9525">
                  <a:moveTo>
                    <a:pt x="0" y="0"/>
                  </a:moveTo>
                  <a:lnTo>
                    <a:pt x="11849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14850" y="24298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29940" y="2609850"/>
              <a:ext cx="1188720" cy="377190"/>
            </a:xfrm>
            <a:custGeom>
              <a:avLst/>
              <a:gdLst/>
              <a:ahLst/>
              <a:cxnLst/>
              <a:rect l="l" t="t" r="r" b="b"/>
              <a:pathLst>
                <a:path w="1188720" h="377190">
                  <a:moveTo>
                    <a:pt x="0" y="0"/>
                  </a:moveTo>
                  <a:lnTo>
                    <a:pt x="1188720" y="3771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04372" y="294132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4295"/>
                  </a:moveTo>
                  <a:lnTo>
                    <a:pt x="0" y="90488"/>
                  </a:lnTo>
                  <a:lnTo>
                    <a:pt x="295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53440" y="2312670"/>
              <a:ext cx="659130" cy="329565"/>
            </a:xfrm>
            <a:prstGeom prst="roundRect">
              <a:avLst>
                <a:gd name="adj" fmla="val 2890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97455" y="2304098"/>
              <a:ext cx="832485" cy="346710"/>
            </a:xfrm>
            <a:prstGeom prst="roundRect">
              <a:avLst>
                <a:gd name="adj" fmla="val 274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10100" y="1634490"/>
              <a:ext cx="936308" cy="312420"/>
            </a:xfrm>
            <a:prstGeom prst="roundRect">
              <a:avLst>
                <a:gd name="adj" fmla="val 3048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610100" y="2321242"/>
              <a:ext cx="936308" cy="312420"/>
            </a:xfrm>
            <a:prstGeom prst="roundRect">
              <a:avLst>
                <a:gd name="adj" fmla="val 3048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10100" y="3007995"/>
              <a:ext cx="936308" cy="312420"/>
            </a:xfrm>
            <a:prstGeom prst="roundRect">
              <a:avLst>
                <a:gd name="adj" fmla="val 3048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6320" y="24117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25661" y="24117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97339" y="1725930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97339" y="2411730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97339" y="3098482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2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606165"/>
            <a:ext cx="5410200" cy="1226820"/>
            <a:chOff x="533400" y="3606165"/>
            <a:chExt cx="5410200" cy="1226820"/>
          </a:xfrm>
        </p:grpSpPr>
        <p:sp>
          <p:nvSpPr>
            <p:cNvPr id="26" name="Rectangle 26"/>
            <p:cNvSpPr/>
            <p:nvPr/>
          </p:nvSpPr>
          <p:spPr>
            <a:xfrm>
              <a:off x="533400" y="360616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73951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379857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3343" y="383286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分布式存储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47647" y="383857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用散列值决定数据放在哪台机器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" y="4171950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h(key) % 服务器台数，就能把数据均匀分到各节点，并且任何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一台机器都能独立算出某条数据归谁管，不需要中心目录。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008245"/>
            <a:ext cx="5410200" cy="1050608"/>
            <a:chOff x="533400" y="5008245"/>
            <a:chExt cx="5410200" cy="1050608"/>
          </a:xfrm>
        </p:grpSpPr>
        <p:sp>
          <p:nvSpPr>
            <p:cNvPr id="33" name="Rectangle 33"/>
            <p:cNvSpPr/>
            <p:nvPr/>
          </p:nvSpPr>
          <p:spPr>
            <a:xfrm>
              <a:off x="533400" y="5008245"/>
              <a:ext cx="5410200" cy="1050608"/>
            </a:xfrm>
            <a:prstGeom prst="roundRect">
              <a:avLst>
                <a:gd name="adj" fmla="val 1087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433060"/>
              <a:ext cx="200026" cy="200026"/>
              <a:chOff x="738188" y="543306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4330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4997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5330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531495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机器数量变化时要重算全部散列值，工程上用一致性散列缓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解，思想仍是本讲的散列函数。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6502718" y="2087880"/>
            <a:ext cx="5073014" cy="346710"/>
            <a:chOff x="6502718" y="2087880"/>
            <a:chExt cx="5073014" cy="346710"/>
          </a:xfrm>
        </p:grpSpPr>
        <p:sp>
          <p:nvSpPr>
            <p:cNvPr id="40" name="Freeform 40"/>
            <p:cNvSpPr/>
            <p:nvPr/>
          </p:nvSpPr>
          <p:spPr>
            <a:xfrm>
              <a:off x="7508558" y="2261235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442008" y="22136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369742" y="2261235"/>
              <a:ext cx="654368" cy="9525"/>
            </a:xfrm>
            <a:custGeom>
              <a:avLst/>
              <a:gdLst/>
              <a:ahLst/>
              <a:cxnLst/>
              <a:rect l="l" t="t" r="r" b="b"/>
              <a:pathLst>
                <a:path w="654368" h="9525">
                  <a:moveTo>
                    <a:pt x="0" y="0"/>
                  </a:moveTo>
                  <a:lnTo>
                    <a:pt x="6543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024110" y="22136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502718" y="2096452"/>
              <a:ext cx="1005840" cy="329565"/>
            </a:xfrm>
            <a:prstGeom prst="roundRect">
              <a:avLst>
                <a:gd name="adj" fmla="val 2890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537258" y="2087880"/>
              <a:ext cx="832485" cy="346710"/>
            </a:xfrm>
            <a:prstGeom prst="roundRect">
              <a:avLst>
                <a:gd name="adj" fmla="val 274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119360" y="2096452"/>
              <a:ext cx="1456372" cy="329565"/>
            </a:xfrm>
            <a:prstGeom prst="roundRect">
              <a:avLst>
                <a:gd name="adj" fmla="val 2890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8941" y="2195512"/>
              <a:ext cx="693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password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65464" y="21955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47879" y="2195512"/>
              <a:ext cx="1398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921988ba…3fa6cb6d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3172778"/>
            <a:ext cx="5410200" cy="1226820"/>
            <a:chOff x="6248400" y="3172778"/>
            <a:chExt cx="5410200" cy="1226820"/>
          </a:xfrm>
        </p:grpSpPr>
        <p:sp>
          <p:nvSpPr>
            <p:cNvPr id="51" name="Rectangle 51"/>
            <p:cNvSpPr/>
            <p:nvPr/>
          </p:nvSpPr>
          <p:spPr>
            <a:xfrm>
              <a:off x="6248400" y="3172778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330612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8905" y="336518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2344" y="339947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信息安全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29297" y="340518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密码散列化后再存进数据库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2047" y="373856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数据库里只存散列值，不存明文。登录时把用户输入的口令再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算一次散列，与库里的值比对。库被拖走也拿不到原始口令。</a:t>
              </a:r>
            </a:p>
          </p:txBody>
        </p:sp>
      </p:grpSp>
      <p:grpSp>
        <p:nvGrpSpPr>
          <p:cNvPr id="64" name="c2-card-3"/>
          <p:cNvGrpSpPr/>
          <p:nvPr/>
        </p:nvGrpSpPr>
        <p:grpSpPr>
          <a:xfrm>
            <a:off x="6248400" y="4574858"/>
            <a:ext cx="5410200" cy="1483995"/>
            <a:chOff x="6248400" y="4574858"/>
            <a:chExt cx="5410200" cy="1483995"/>
          </a:xfrm>
        </p:grpSpPr>
        <p:sp>
          <p:nvSpPr>
            <p:cNvPr id="58" name="Rectangle 58"/>
            <p:cNvSpPr/>
            <p:nvPr/>
          </p:nvSpPr>
          <p:spPr>
            <a:xfrm>
              <a:off x="6248400" y="4574858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4708208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8905" y="47672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70345" y="4801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62597" y="480631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这里不能用本讲的散列函数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72047" y="5140642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口令散列要用专门的慢速函数并加随机盐（bcrypt、scrypt、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Argon2），目的是让暴力破解变慢。除余法这类算得越快越好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的函数，以及 MD5、SHA-1，都已不能用于口令。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性能分析与应用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布隆过滤器：不存关键词，只留几位痕迹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350883" cy="264033"/>
            <a:chOff x="526542" y="1545907"/>
            <a:chExt cx="935088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35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浏览器要判断一个网址是不是恶意站点。恶意 URL 很多，把它们全存进散列表太占内存，希望表里根本不存关键词。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5842635" cy="1649730"/>
            <a:chOff x="533400" y="1928812"/>
            <a:chExt cx="5842635" cy="164973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1649730"/>
            </a:xfrm>
            <a:prstGeom prst="roundRect">
              <a:avLst>
                <a:gd name="adj" fmla="val 8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3830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一个关键词占 k 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51661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k 个互相独立的散列函数 h₁、h₂、h₃。插入 K 时把 h₁(K)、h₂(K)、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h₃(K) 三个位置全置 1。查找 K 时看这三位：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全为 1 判定在表中，只要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有一位为 0 就判定不在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141" y="3232785"/>
              <a:ext cx="4537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下图中 K₁ 占第 2、6、11 位，K₂ 占第 6、9、13 位，第 6 位被两者共用</a:t>
              </a:r>
            </a:p>
          </p:txBody>
        </p:sp>
      </p:grpSp>
      <p:grpSp>
        <p:nvGrpSpPr>
          <p:cNvPr id="63" name="c1-cells-2"/>
          <p:cNvGrpSpPr/>
          <p:nvPr/>
        </p:nvGrpSpPr>
        <p:grpSpPr>
          <a:xfrm>
            <a:off x="528638" y="3742372"/>
            <a:ext cx="5848350" cy="571977"/>
            <a:chOff x="528638" y="3742372"/>
            <a:chExt cx="5848350" cy="571977"/>
          </a:xfrm>
        </p:grpSpPr>
        <p:sp>
          <p:nvSpPr>
            <p:cNvPr id="17" name="TextBox 17"/>
            <p:cNvSpPr txBox="1"/>
            <p:nvPr/>
          </p:nvSpPr>
          <p:spPr>
            <a:xfrm>
              <a:off x="528638" y="38652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位串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95350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8483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261110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03291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625918" y="3742372"/>
              <a:ext cx="36576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69051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91678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34811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357438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99618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722245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65378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088005" y="3742372"/>
              <a:ext cx="36576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31138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452812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5946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8572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961706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84332" y="3742372"/>
              <a:ext cx="36576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26513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549140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92273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914900" y="3742372"/>
              <a:ext cx="36576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058033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280660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22841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645468" y="3742372"/>
              <a:ext cx="36576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88601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11228" y="3742372"/>
              <a:ext cx="3657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54361" y="3865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3111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07918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73678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139438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04246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870006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235766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600573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966333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31141" y="41524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666544" y="415242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032304" y="415242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397111" y="415242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62871" y="415242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28631" y="415242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  <p:grpSp>
        <p:nvGrpSpPr>
          <p:cNvPr id="85" name="c1-table-3"/>
          <p:cNvGrpSpPr/>
          <p:nvPr/>
        </p:nvGrpSpPr>
        <p:grpSpPr>
          <a:xfrm>
            <a:off x="528447" y="4444365"/>
            <a:ext cx="5847588" cy="1789461"/>
            <a:chOff x="528447" y="4444365"/>
            <a:chExt cx="5847588" cy="1789461"/>
          </a:xfrm>
        </p:grpSpPr>
        <p:sp>
          <p:nvSpPr>
            <p:cNvPr id="64" name="Rectangle 64"/>
            <p:cNvSpPr/>
            <p:nvPr/>
          </p:nvSpPr>
          <p:spPr>
            <a:xfrm>
              <a:off x="533400" y="4444365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08596" y="4562475"/>
              <a:ext cx="1036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每元素位数 m/n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904150" y="4562475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散列函数个数 k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107115" y="45624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误判率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8078" y="49434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614994" y="49434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367594" y="4943475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1.74%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52025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33400" y="520731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8078" y="53244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614994" y="53244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282440" y="5216842"/>
              <a:ext cx="208407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367594" y="5324475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0.82%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33400" y="55845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28078" y="57064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614994" y="57064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367594" y="5706428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0.02%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33400" y="4444365"/>
              <a:ext cx="584263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2515552" y="444436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4268152" y="444436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28447" y="6043136"/>
              <a:ext cx="3209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误判率 (1 − e^{-kn/m})^k，n 是元素个数，m 是位数</a:t>
              </a:r>
            </a:p>
          </p:txBody>
        </p:sp>
      </p:grpSp>
      <p:grpSp>
        <p:nvGrpSpPr>
          <p:cNvPr id="100" name="c2-card-1"/>
          <p:cNvGrpSpPr/>
          <p:nvPr/>
        </p:nvGrpSpPr>
        <p:grpSpPr>
          <a:xfrm>
            <a:off x="6680835" y="1928812"/>
            <a:ext cx="4977765" cy="1973580"/>
            <a:chOff x="6680835" y="1928812"/>
            <a:chExt cx="4977765" cy="1973580"/>
          </a:xfrm>
        </p:grpSpPr>
        <p:sp>
          <p:nvSpPr>
            <p:cNvPr id="86" name="Rectangle 86"/>
            <p:cNvSpPr/>
            <p:nvPr/>
          </p:nvSpPr>
          <p:spPr>
            <a:xfrm>
              <a:off x="6680835" y="1928812"/>
              <a:ext cx="4977765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690360" y="2062162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899910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985432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三条性质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715441" y="21493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会误报，不会漏报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900862" y="245459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952769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170611" y="2465546"/>
              <a:ext cx="4093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存在误判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：判定“在表中”时可能是别的关键词把这几位凑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齐了。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6900862" y="298227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952769" y="30179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170611" y="2994184"/>
              <a:ext cx="3476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不会误判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：判定“不在表中”时一定真的不在。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6900862" y="326802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952769" y="330269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170611" y="3278981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不能删除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：某一位可能被多个关键词共用，清零会误伤别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人。</a:t>
              </a:r>
            </a:p>
          </p:txBody>
        </p:sp>
      </p:grpSp>
      <p:grpSp>
        <p:nvGrpSpPr>
          <p:cNvPr id="108" name="c2-card-2"/>
          <p:cNvGrpSpPr/>
          <p:nvPr/>
        </p:nvGrpSpPr>
        <p:grpSpPr>
          <a:xfrm>
            <a:off x="6680835" y="4066222"/>
            <a:ext cx="4977765" cy="2128838"/>
            <a:chOff x="6680835" y="4066222"/>
            <a:chExt cx="4977765" cy="2128838"/>
          </a:xfrm>
        </p:grpSpPr>
        <p:sp>
          <p:nvSpPr>
            <p:cNvPr id="101" name="Rectangle 101"/>
            <p:cNvSpPr/>
            <p:nvPr/>
          </p:nvSpPr>
          <p:spPr>
            <a:xfrm>
              <a:off x="6680835" y="4066222"/>
              <a:ext cx="4977765" cy="2128838"/>
            </a:xfrm>
            <a:prstGeom prst="roundRect">
              <a:avLst>
                <a:gd name="adj" fmla="val 6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690360" y="4199572"/>
              <a:ext cx="47625" cy="18621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899910" y="4247198"/>
              <a:ext cx="107918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971455" y="4280059"/>
              <a:ext cx="9370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Chrome 的用法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87868" y="428767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先本地过滤，再远程确认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893433" y="460390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访问网址时先查本地布隆过滤器。不在表中就直接放行，因为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不会漏报；在表中才连远程服务器做进一步检查。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893433" y="5131594"/>
              <a:ext cx="43858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 100 万条 URL，直接存要约 57 MB，按 10 位一条的布隆过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滤器只要约 1.2 MB。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 · 性能分析与应用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动手实现：一个能插入、查找、删除的散列表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64933" cy="264033"/>
            <a:chOff x="526542" y="1545907"/>
            <a:chExt cx="74649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腾讯校园招聘笔试的最后一道大题。用拉链法最省事，删除就是链表删除，不需要三种状态。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2641282"/>
            <a:chOff x="533400" y="1928812"/>
            <a:chExt cx="5410200" cy="264128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641282"/>
            </a:xfrm>
            <a:prstGeom prst="roundRect">
              <a:avLst>
                <a:gd name="adj" fmla="val 36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结构与查找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102"/>
              <a:ext cx="3064574" cy="2141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#define M 13                /* 桶数取素数 */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key;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关键词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*next;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指针域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Node;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Node *T[M];   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头指针数组，初值全 NULL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% M;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Node *Search(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失败返回 NULL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*p = T[Hash(K)];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p-&gt;key != K)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p-&gt;next;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734878"/>
            <a:ext cx="5410200" cy="986790"/>
            <a:chOff x="533400" y="4734878"/>
            <a:chExt cx="5410200" cy="986790"/>
          </a:xfrm>
        </p:grpSpPr>
        <p:sp>
          <p:nvSpPr>
            <p:cNvPr id="13" name="Rectangle 13"/>
            <p:cNvSpPr/>
            <p:nvPr/>
          </p:nvSpPr>
          <p:spPr>
            <a:xfrm>
              <a:off x="533400" y="4734878"/>
              <a:ext cx="5410200" cy="986790"/>
            </a:xfrm>
            <a:prstGeom prst="roundRect">
              <a:avLst>
                <a:gd name="adj" fmla="val 1158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5124568"/>
              <a:ext cx="224134" cy="192560"/>
              <a:chOff x="726129" y="5124568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51949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51245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2727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1273" y="5022056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 必须取素数。写成 16 这样的 2 的幂，K % M 就只看关键词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的低 4 位，高位信息全部作废。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28812"/>
            <a:ext cx="5410200" cy="2926080"/>
            <a:chOff x="6248400" y="1928812"/>
            <a:chExt cx="5410200" cy="2926080"/>
          </a:xfrm>
        </p:grpSpPr>
        <p:sp>
          <p:nvSpPr>
            <p:cNvPr id="20" name="Rectangle 20"/>
            <p:cNvSpPr/>
            <p:nvPr/>
          </p:nvSpPr>
          <p:spPr>
            <a:xfrm>
              <a:off x="6248400" y="1928812"/>
              <a:ext cx="5410200" cy="2926080"/>
            </a:xfrm>
            <a:prstGeom prst="roundRect">
              <a:avLst>
                <a:gd name="adj" fmla="val 32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插入与删除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988" y="2339102"/>
              <a:ext cx="2848864" cy="2425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尾插，链序即插入序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**pp = &amp;T[Hash(K)];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(*pp !=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(*pp)-&gt;key != K)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pp = &amp;(*pp)-&gt;next;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(*pp !=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已存在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*pp = (Node *)malloc(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(Node));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(*pp)-&gt;key = K;  (*pp)-&gt;next 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就是链表删除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**pp = &amp;T[Hash(K)], *q;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(*pp !=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(*pp)-&gt;key != K)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pp = &amp;(*pp)-&gt;next;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(*pp ==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 = *pp;  *pp = q-&gt;next;  free(q);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6248400" y="5018722"/>
            <a:ext cx="5410200" cy="702945"/>
            <a:chOff x="6248400" y="5018722"/>
            <a:chExt cx="5410200" cy="702945"/>
          </a:xfrm>
        </p:grpSpPr>
        <p:sp>
          <p:nvSpPr>
            <p:cNvPr id="24" name="Rectangle 24"/>
            <p:cNvSpPr/>
            <p:nvPr/>
          </p:nvSpPr>
          <p:spPr>
            <a:xfrm>
              <a:off x="6248400" y="501872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453188" y="5270183"/>
              <a:ext cx="200026" cy="200025"/>
              <a:chOff x="6453188" y="5270183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453188" y="52701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92926" y="53146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27642" y="54257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756273" y="5163979"/>
              <a:ext cx="42313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元素变多时要扩容：n/M 超过 0.75 就换一个约两倍大的素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数，再把全部关键词重算地址搬过去。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1" name="Rectangle 3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6039326"/>
              <a:ext cx="801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二级指针 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Node **pp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让头结点和中间结点的删除写成同一套代码，不必单独判断“要删的是不是第一个”。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7846" cy="909257"/>
            <a:chOff x="520446" y="342900"/>
            <a:chExt cx="10578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376297" cy="264033"/>
            <a:chOff x="526542" y="1545907"/>
            <a:chExt cx="23762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先自己写出答案，再看解答。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157412"/>
            <a:chOff x="533400" y="1928812"/>
            <a:chExt cx="3505200" cy="21574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为什么散列查找不受比较型查找的下界约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那条下界只约束靠关键词之间的比较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来定位的算法。散列直接用关键词的值算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地址，不做大小比较，不在它的适用范围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251008"/>
            <a:ext cx="3505200" cy="1914525"/>
            <a:chOff x="533400" y="4251008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772501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线性探查表里能不能把要删的元素直接清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300186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不能。别的元素可能是绕过这个位置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存到后面的，清空会让查找在这里提前判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定失败。要用懒惰删除或实时删除。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338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除余法为什么要求 M 取素数？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735104"/>
              <a:ext cx="29471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真实关键词常成等差分布。M 与公差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的最大公因数为 g 时，散列值只落在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M/g 个地址上。M 取素数能让 g = 1 的概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率最大。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3072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实时删除时怎么判断 T[i] 要不要前移？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4814411"/>
              <a:ext cx="302031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r = h(T[i])。从 r 沿探查方向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走，若先遇到被清空的 j 再遇到 i，路径被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切断，T[i] 必须前移到 j；若先遇到 i 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9704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查找不成功的 ASL，分母应该取什么？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735104"/>
              <a:ext cx="299593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取散列函数值域的大小，即可能的散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列地址个数，不是表长，也不是元素个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数。2019 年考研题里值域 7 与表长 11 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不相等。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2157412"/>
            <a:chOff x="8153400" y="4008120"/>
            <a:chExt cx="3505200" cy="2157412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7966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布隆过滤器判定“不在表中”可信吗？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4814411"/>
              <a:ext cx="295529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可信。插入只会把位置 1，所以只要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有一位是 0，就说明这个关键词从未插入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过。反过来判定“在表中”可能是多个关键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词凑出来的误判。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第25讲 散列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969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110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34044" y="2023110"/>
              <a:ext cx="2651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h(K) 算出下标，除余法最常用，M 取素数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34044" y="240411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鸽巢原理保证必然发生，只能处理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拉链法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4044" y="2785110"/>
              <a:ext cx="2371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同址串成链表，α 可大于 1，删除简单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开放地址法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34044" y="3167062"/>
              <a:ext cx="2371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线性、二次、双重探查，α 必须小于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59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 ASL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34044" y="354806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成功看元素个数，不成功看值域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53460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rd-2"/>
          <p:cNvGrpSpPr/>
          <p:nvPr/>
        </p:nvGrpSpPr>
        <p:grpSpPr>
          <a:xfrm>
            <a:off x="533400" y="3976688"/>
            <a:ext cx="5842635" cy="1512570"/>
            <a:chOff x="533400" y="3976688"/>
            <a:chExt cx="5842635" cy="1512570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512570"/>
            </a:xfrm>
            <a:prstGeom prst="roundRect">
              <a:avLst>
                <a:gd name="adj" fmla="val 8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2458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946" y="41905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91830" y="419814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50342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53904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514374"/>
              <a:ext cx="5124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39 页伪代码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i=j+1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未取模，j = M−1 时越界，已改成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(j+1)%M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78821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8238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799171"/>
              <a:ext cx="51389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补出留空的三道题：2018 答 2，2019 选 C，腾讯笔试的完整实现。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2475" y="507301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82" y="51086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2223" y="5083969"/>
              <a:ext cx="41146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补充二次探查对 M 的要求与两套 ASL 记数法的区别。</a:t>
              </a:r>
            </a:p>
          </p:txBody>
        </p:sp>
      </p:grpSp>
      <p:grpSp>
        <p:nvGrpSpPr>
          <p:cNvPr id="56" name="c2-bullets-1"/>
          <p:cNvGrpSpPr/>
          <p:nvPr/>
        </p:nvGrpSpPr>
        <p:grpSpPr>
          <a:xfrm>
            <a:off x="6681788" y="1533525"/>
            <a:ext cx="4704334" cy="1626203"/>
            <a:chOff x="6681788" y="1533525"/>
            <a:chExt cx="4704334" cy="1626203"/>
          </a:xfrm>
        </p:grpSpPr>
        <p:sp>
          <p:nvSpPr>
            <p:cNvPr id="44" name="Ellipse 44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1545431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散列用“算地址”替换了“比较关键词”，这是它绕开下界的全部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0697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08073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散列函数的设计目标是均匀，不是无冲突。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23631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23987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2374106"/>
              <a:ext cx="3868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 ASL 的分母不同，这是考研题最爱设的陷阱。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81788" y="26565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33694" y="2691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51536" y="2667476"/>
              <a:ext cx="4418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闭散列法的删除之所以麻烦，是因为查找用“遇到空位”判定失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败。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680835" y="3273742"/>
            <a:ext cx="4977765" cy="2216468"/>
            <a:chOff x="6680835" y="3273742"/>
            <a:chExt cx="4977765" cy="2216468"/>
          </a:xfrm>
        </p:grpSpPr>
        <p:sp>
          <p:nvSpPr>
            <p:cNvPr id="57" name="Rectangle 57"/>
            <p:cNvSpPr/>
            <p:nvPr/>
          </p:nvSpPr>
          <p:spPr>
            <a:xfrm>
              <a:off x="6680835" y="3273742"/>
              <a:ext cx="4977765" cy="2216468"/>
            </a:xfrm>
            <a:prstGeom prst="roundRect">
              <a:avLst>
                <a:gd name="adj" fmla="val 601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61810" y="34547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47332" y="34875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77341" y="34951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三步自查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62762" y="380047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14669" y="383609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2511" y="3811429"/>
              <a:ext cx="40525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h(K) = K % 7 把 19, 1, 23, 21, 55, 68, 11, 82, 36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画成拉链表，算出 13/9 与 9/7。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862762" y="432816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14669" y="43637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32511" y="4339114"/>
              <a:ext cx="4093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h(K) = K % 10 线性探查插入 20, 17, 2, 23, 32, 66,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6, 1，算出 1.5 与 3.1。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862762" y="485584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14669" y="48914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32511" y="4866799"/>
              <a:ext cx="4060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默写第 32 页的 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Blocked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HashRemove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，再手算一遍第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33 页删除 9 的过程。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8912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下一讲：数据结构课程到此结束，回到第1讲第28页的课程地图，按基础、线性结构、树、图、排序、查找六组复习。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第25讲 散列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25">
  <a:themeElements>
    <a:clrScheme name="ds_l2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2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2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2026-09-20T02:40:35Z</dcterms:created>
  <dcterms:modified xsi:type="dcterms:W3CDTF">2026-09-20T02:40:35Z</dcterms:modified>
  <cp:category/>
  <cp:contentStatus/>
</cp:coreProperties>
</file>