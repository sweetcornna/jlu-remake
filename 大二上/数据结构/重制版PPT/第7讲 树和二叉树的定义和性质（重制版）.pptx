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07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07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b5d03ff973680cb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62a830a4fc65b01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c8b09db6efa7253.png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16830" cy="3437763"/>
            <a:chOff x="666750" y="1619250"/>
            <a:chExt cx="511683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2971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5751" y="171831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第7讲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树和二叉树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定义、术语、五种形态，以及结点数的计数规律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树的递归定义与术语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二叉树的定义与形态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结点数与高度的关系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满二叉树与完全二叉树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152252" cy="205359"/>
            <a:chOff x="680466" y="6192202"/>
            <a:chExt cx="415225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1522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7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树的定义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递归定义、有序树，以及树和线性结构的差别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树的术语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度、叶结点、层数、高度、路径、祖先与子孙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递归定义、五种形态，以及它和树到底差在哪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二叉树的性质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1232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每层结点数、高度与结点数、n₀ = n₂ + 1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满二叉树与完全二叉树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定义、按层编号的规律与三条推论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说出树的递归定义，并指出一棵树中每个结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点的度、层数和高度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给定几张图形，判断哪张是二叉树、哪张是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758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 n₀ = n₂ + 1 一类笔试题，并写出用边数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推导的完整过程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15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写出完全二叉树按层编号后，结点 i 的父结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点和左右孩子的编号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 n 个结点的完全二叉树高度为什么是 ⌊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log₂n⌋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367528" cy="3351847"/>
            <a:chOff x="667512" y="1835468"/>
            <a:chExt cx="536752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树：用层次关系组织数据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递归定义、有序树，以及这棵树上要认识的七个术语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客观世界里的层次关系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树的递归定义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有序树与无序树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度、层数、高度、路径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树：用层次关系组织数据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元素之间一旦出现上下级关系，画出来就是一棵树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373618" cy="264033"/>
            <a:chOff x="526542" y="1545907"/>
            <a:chExt cx="837361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3736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源课件用五个例子说明同一件事，它们的共同点是每个元素只有一个直接上级，却可以有多个直接下级。</a:t>
              </a:r>
            </a:p>
          </p:txBody>
        </p:sp>
      </p:grpSp>
      <p:grpSp>
        <p:nvGrpSpPr>
          <p:cNvPr id="32" name="c1-tree-1"/>
          <p:cNvGrpSpPr/>
          <p:nvPr/>
        </p:nvGrpSpPr>
        <p:grpSpPr>
          <a:xfrm>
            <a:off x="533400" y="1970722"/>
            <a:ext cx="5410200" cy="2264094"/>
            <a:chOff x="533400" y="1970722"/>
            <a:chExt cx="5410200" cy="2264094"/>
          </a:xfrm>
        </p:grpSpPr>
        <p:sp>
          <p:nvSpPr>
            <p:cNvPr id="9" name="Freeform 9"/>
            <p:cNvSpPr/>
            <p:nvPr/>
          </p:nvSpPr>
          <p:spPr>
            <a:xfrm>
              <a:off x="3886200" y="2124075"/>
              <a:ext cx="419100" cy="586740"/>
            </a:xfrm>
            <a:custGeom>
              <a:avLst/>
              <a:gdLst/>
              <a:ahLst/>
              <a:cxnLst/>
              <a:rect l="l" t="t" r="r" b="b"/>
              <a:pathLst>
                <a:path w="419100" h="586740">
                  <a:moveTo>
                    <a:pt x="0" y="586740"/>
                  </a:moveTo>
                  <a:lnTo>
                    <a:pt x="209550" y="58674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886200" y="2515552"/>
              <a:ext cx="419100" cy="195262"/>
            </a:xfrm>
            <a:custGeom>
              <a:avLst/>
              <a:gdLst/>
              <a:ahLst/>
              <a:cxnLst/>
              <a:rect l="l" t="t" r="r" b="b"/>
              <a:pathLst>
                <a:path w="419100" h="195262">
                  <a:moveTo>
                    <a:pt x="0" y="195262"/>
                  </a:moveTo>
                  <a:lnTo>
                    <a:pt x="209550" y="19526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886200" y="2710815"/>
              <a:ext cx="419100" cy="196215"/>
            </a:xfrm>
            <a:custGeom>
              <a:avLst/>
              <a:gdLst/>
              <a:ahLst/>
              <a:cxnLst/>
              <a:rect l="l" t="t" r="r" b="b"/>
              <a:pathLst>
                <a:path w="419100" h="196215">
                  <a:moveTo>
                    <a:pt x="0" y="0"/>
                  </a:moveTo>
                  <a:lnTo>
                    <a:pt x="209550" y="0"/>
                  </a:lnTo>
                  <a:lnTo>
                    <a:pt x="209550" y="196215"/>
                  </a:lnTo>
                  <a:lnTo>
                    <a:pt x="419100" y="19621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886200" y="2710815"/>
              <a:ext cx="419100" cy="587692"/>
            </a:xfrm>
            <a:custGeom>
              <a:avLst/>
              <a:gdLst/>
              <a:ahLst/>
              <a:cxnLst/>
              <a:rect l="l" t="t" r="r" b="b"/>
              <a:pathLst>
                <a:path w="419100" h="587692">
                  <a:moveTo>
                    <a:pt x="0" y="0"/>
                  </a:moveTo>
                  <a:lnTo>
                    <a:pt x="209550" y="0"/>
                  </a:lnTo>
                  <a:lnTo>
                    <a:pt x="209550" y="587692"/>
                  </a:lnTo>
                  <a:lnTo>
                    <a:pt x="419100" y="58769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057400" y="2710815"/>
              <a:ext cx="419100" cy="684847"/>
            </a:xfrm>
            <a:custGeom>
              <a:avLst/>
              <a:gdLst/>
              <a:ahLst/>
              <a:cxnLst/>
              <a:rect l="l" t="t" r="r" b="b"/>
              <a:pathLst>
                <a:path w="419100" h="684847">
                  <a:moveTo>
                    <a:pt x="0" y="684847"/>
                  </a:moveTo>
                  <a:lnTo>
                    <a:pt x="209550" y="68484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057400" y="3395662"/>
              <a:ext cx="419100" cy="294322"/>
            </a:xfrm>
            <a:custGeom>
              <a:avLst/>
              <a:gdLst/>
              <a:ahLst/>
              <a:cxnLst/>
              <a:rect l="l" t="t" r="r" b="b"/>
              <a:pathLst>
                <a:path w="419100" h="294322">
                  <a:moveTo>
                    <a:pt x="0" y="0"/>
                  </a:moveTo>
                  <a:lnTo>
                    <a:pt x="209550" y="0"/>
                  </a:lnTo>
                  <a:lnTo>
                    <a:pt x="209550" y="294322"/>
                  </a:lnTo>
                  <a:lnTo>
                    <a:pt x="419100" y="29432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057400" y="3395662"/>
              <a:ext cx="419100" cy="684847"/>
            </a:xfrm>
            <a:custGeom>
              <a:avLst/>
              <a:gdLst/>
              <a:ahLst/>
              <a:cxnLst/>
              <a:rect l="l" t="t" r="r" b="b"/>
              <a:pathLst>
                <a:path w="419100" h="684847">
                  <a:moveTo>
                    <a:pt x="0" y="0"/>
                  </a:moveTo>
                  <a:lnTo>
                    <a:pt x="209550" y="0"/>
                  </a:lnTo>
                  <a:lnTo>
                    <a:pt x="209550" y="684847"/>
                  </a:lnTo>
                  <a:lnTo>
                    <a:pt x="419100" y="68484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305300" y="1970722"/>
              <a:ext cx="1638300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305300" y="2361248"/>
              <a:ext cx="1638300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05300" y="2752725"/>
              <a:ext cx="1638300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305300" y="3144202"/>
              <a:ext cx="1638300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476500" y="2557462"/>
              <a:ext cx="1409700" cy="307658"/>
            </a:xfrm>
            <a:prstGeom prst="roundRect">
              <a:avLst>
                <a:gd name="adj" fmla="val 3096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476500" y="3535680"/>
              <a:ext cx="1409700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476500" y="3927158"/>
              <a:ext cx="1409700" cy="307658"/>
            </a:xfrm>
            <a:prstGeom prst="roundRect">
              <a:avLst>
                <a:gd name="adj" fmla="val 3096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242310"/>
              <a:ext cx="1524000" cy="307658"/>
            </a:xfrm>
            <a:prstGeom prst="roundRect">
              <a:avLst>
                <a:gd name="adj" fmla="val 3096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395788" y="206121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陆军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95788" y="245268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海军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95788" y="284416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95788" y="3235642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海军陆战队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66988" y="264795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国防部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66988" y="362712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教育部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66988" y="40176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税务部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3888" y="333279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联邦政府</a:t>
              </a:r>
            </a:p>
          </p:txBody>
        </p:sp>
      </p:grpSp>
      <p:grpSp>
        <p:nvGrpSpPr>
          <p:cNvPr id="39" name="c1-callout-2"/>
          <p:cNvGrpSpPr/>
          <p:nvPr/>
        </p:nvGrpSpPr>
        <p:grpSpPr>
          <a:xfrm>
            <a:off x="533400" y="4441508"/>
            <a:ext cx="5410200" cy="1786890"/>
            <a:chOff x="533400" y="4441508"/>
            <a:chExt cx="5410200" cy="1786890"/>
          </a:xfrm>
        </p:grpSpPr>
        <p:sp>
          <p:nvSpPr>
            <p:cNvPr id="33" name="Rectangle 33"/>
            <p:cNvSpPr/>
            <p:nvPr/>
          </p:nvSpPr>
          <p:spPr>
            <a:xfrm>
              <a:off x="533400" y="4441508"/>
              <a:ext cx="5410200" cy="1786890"/>
            </a:xfrm>
            <a:prstGeom prst="roundRect">
              <a:avLst>
                <a:gd name="adj" fmla="val 639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234940"/>
              <a:ext cx="200026" cy="200026"/>
              <a:chOff x="738188" y="5234940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2349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53016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7088" y="53349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5128736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图中每个机构若有分支机构，两者之间就连一条边，整张图表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达的是元素之间的整体与部分关系。</a:t>
              </a:r>
            </a:p>
          </p:txBody>
        </p:sp>
      </p:grpSp>
      <p:grpSp>
        <p:nvGrpSpPr>
          <p:cNvPr id="72" name="c2-table-1"/>
          <p:cNvGrpSpPr/>
          <p:nvPr/>
        </p:nvGrpSpPr>
        <p:grpSpPr>
          <a:xfrm>
            <a:off x="6248400" y="1928812"/>
            <a:ext cx="5410200" cy="3432810"/>
            <a:chOff x="6248400" y="1928812"/>
            <a:chExt cx="5410200" cy="3432810"/>
          </a:xfrm>
        </p:grpSpPr>
        <p:sp>
          <p:nvSpPr>
            <p:cNvPr id="40" name="Rectangle 40"/>
            <p:cNvSpPr/>
            <p:nvPr/>
          </p:nvSpPr>
          <p:spPr>
            <a:xfrm>
              <a:off x="6248400" y="1928812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01219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出现的场合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64968" y="204597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树用来表示什么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43079" y="2426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家谱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66138" y="242697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父子关系，以及祖先与后代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3079" y="2808923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行政组织机构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66138" y="280892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上级与下属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3079" y="318992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政府机构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66138" y="3189923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机构与它的分支机构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48400" y="3453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3079" y="357187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软件模块分解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66138" y="357187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大任务与拆分出的小模块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3830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43079" y="39528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文件系统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966138" y="3952875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目录与它包含的子目录和文件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4211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48400" y="421671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43079" y="43338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编译程序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66138" y="433387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源程序的语法结构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45939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43079" y="47158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数据库系统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966138" y="471582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索引与信息的组织方式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49749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48400" y="497967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43079" y="50968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算法分析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966138" y="50968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算法执行过程的分支情况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48400" y="1928812"/>
              <a:ext cx="5410200" cy="3432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7866698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8" name="c2-callout-2"/>
          <p:cNvGrpSpPr/>
          <p:nvPr/>
        </p:nvGrpSpPr>
        <p:grpSpPr>
          <a:xfrm>
            <a:off x="6248400" y="5525452"/>
            <a:ext cx="5410200" cy="702945"/>
            <a:chOff x="6248400" y="5525452"/>
            <a:chExt cx="5410200" cy="702945"/>
          </a:xfrm>
        </p:grpSpPr>
        <p:sp>
          <p:nvSpPr>
            <p:cNvPr id="73" name="Rectangle 73"/>
            <p:cNvSpPr/>
            <p:nvPr/>
          </p:nvSpPr>
          <p:spPr>
            <a:xfrm>
              <a:off x="6248400" y="5525452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6453188" y="5776915"/>
              <a:ext cx="200023" cy="200023"/>
              <a:chOff x="6453188" y="5776915"/>
              <a:chExt cx="200023" cy="200023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6453188" y="577691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586538" y="58435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6756273" y="5670709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线性表只能表示一个前驱、一个后继。一旦关系变成一对多的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层次关系，就要换成树。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树：用层次关系组织数据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再看两个例子：家谱和文件系统，画法完全一样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ree-1"/>
          <p:cNvGrpSpPr/>
          <p:nvPr/>
        </p:nvGrpSpPr>
        <p:grpSpPr>
          <a:xfrm>
            <a:off x="1186815" y="1726882"/>
            <a:ext cx="3942398" cy="2070736"/>
            <a:chOff x="1186815" y="1726882"/>
            <a:chExt cx="3942398" cy="2070736"/>
          </a:xfrm>
        </p:grpSpPr>
        <p:sp>
          <p:nvSpPr>
            <p:cNvPr id="7" name="Freeform 7"/>
            <p:cNvSpPr/>
            <p:nvPr/>
          </p:nvSpPr>
          <p:spPr>
            <a:xfrm>
              <a:off x="2697480" y="2762250"/>
              <a:ext cx="432435" cy="825817"/>
            </a:xfrm>
            <a:custGeom>
              <a:avLst/>
              <a:gdLst/>
              <a:ahLst/>
              <a:cxnLst/>
              <a:rect l="l" t="t" r="r" b="b"/>
              <a:pathLst>
                <a:path w="432435" h="825817">
                  <a:moveTo>
                    <a:pt x="432435" y="0"/>
                  </a:moveTo>
                  <a:lnTo>
                    <a:pt x="0" y="8258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29915" y="2762250"/>
              <a:ext cx="433388" cy="825817"/>
            </a:xfrm>
            <a:custGeom>
              <a:avLst/>
              <a:gdLst/>
              <a:ahLst/>
              <a:cxnLst/>
              <a:rect l="l" t="t" r="r" b="b"/>
              <a:pathLst>
                <a:path w="433388" h="825817">
                  <a:moveTo>
                    <a:pt x="0" y="0"/>
                  </a:moveTo>
                  <a:lnTo>
                    <a:pt x="433388" y="8258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861560" y="2762250"/>
              <a:ext cx="9525" cy="825817"/>
            </a:xfrm>
            <a:custGeom>
              <a:avLst/>
              <a:gdLst/>
              <a:ahLst/>
              <a:cxnLst/>
              <a:rect l="l" t="t" r="r" b="b"/>
              <a:pathLst>
                <a:path w="9525" h="825817">
                  <a:moveTo>
                    <a:pt x="0" y="0"/>
                  </a:moveTo>
                  <a:lnTo>
                    <a:pt x="0" y="8258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99222" y="1936432"/>
              <a:ext cx="1730693" cy="825817"/>
            </a:xfrm>
            <a:custGeom>
              <a:avLst/>
              <a:gdLst/>
              <a:ahLst/>
              <a:cxnLst/>
              <a:rect l="l" t="t" r="r" b="b"/>
              <a:pathLst>
                <a:path w="1730693" h="825817">
                  <a:moveTo>
                    <a:pt x="1730693" y="0"/>
                  </a:moveTo>
                  <a:lnTo>
                    <a:pt x="0" y="8258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129915" y="1936432"/>
              <a:ext cx="9525" cy="825817"/>
            </a:xfrm>
            <a:custGeom>
              <a:avLst/>
              <a:gdLst/>
              <a:ahLst/>
              <a:cxnLst/>
              <a:rect l="l" t="t" r="r" b="b"/>
              <a:pathLst>
                <a:path w="9525" h="825817">
                  <a:moveTo>
                    <a:pt x="0" y="0"/>
                  </a:moveTo>
                  <a:lnTo>
                    <a:pt x="0" y="8258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29915" y="1936432"/>
              <a:ext cx="1731645" cy="825817"/>
            </a:xfrm>
            <a:custGeom>
              <a:avLst/>
              <a:gdLst/>
              <a:ahLst/>
              <a:cxnLst/>
              <a:rect l="l" t="t" r="r" b="b"/>
              <a:pathLst>
                <a:path w="1731645" h="825817">
                  <a:moveTo>
                    <a:pt x="0" y="0"/>
                  </a:moveTo>
                  <a:lnTo>
                    <a:pt x="1731645" y="8258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86815" y="2552700"/>
              <a:ext cx="424815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435542" y="3378518"/>
              <a:ext cx="522922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350895" y="3378518"/>
              <a:ext cx="424815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868930" y="2552700"/>
              <a:ext cx="522922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592955" y="3378518"/>
              <a:ext cx="53625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612958" y="2552700"/>
              <a:ext cx="497205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917508" y="1726882"/>
              <a:ext cx="424815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77831" y="2701766"/>
              <a:ext cx="2427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23946" y="3526631"/>
              <a:ext cx="3470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Mark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41911" y="3526631"/>
              <a:ext cx="2427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56381" y="2701766"/>
              <a:ext cx="3470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Mary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81492" y="3526631"/>
              <a:ext cx="3601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Chris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02074" y="270176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John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08523" y="1875949"/>
              <a:ext cx="2427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Joe</a:t>
              </a:r>
            </a:p>
          </p:txBody>
        </p:sp>
      </p:grpSp>
      <p:grpSp>
        <p:nvGrpSpPr>
          <p:cNvPr id="34" name="c1-callout-2"/>
          <p:cNvGrpSpPr/>
          <p:nvPr/>
        </p:nvGrpSpPr>
        <p:grpSpPr>
          <a:xfrm>
            <a:off x="533400" y="4191000"/>
            <a:ext cx="5193982" cy="1803082"/>
            <a:chOff x="533400" y="4191000"/>
            <a:chExt cx="5193982" cy="1803082"/>
          </a:xfrm>
        </p:grpSpPr>
        <p:sp>
          <p:nvSpPr>
            <p:cNvPr id="28" name="Rectangle 28"/>
            <p:cNvSpPr/>
            <p:nvPr/>
          </p:nvSpPr>
          <p:spPr>
            <a:xfrm>
              <a:off x="533400" y="4191000"/>
              <a:ext cx="5193982" cy="1803082"/>
            </a:xfrm>
            <a:prstGeom prst="roundRect">
              <a:avLst>
                <a:gd name="adj" fmla="val 633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4993005"/>
              <a:ext cx="200026" cy="200025"/>
              <a:chOff x="738188" y="4993005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49930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50374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51485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4850130"/>
              <a:ext cx="41109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在这张图上找 Ann 的兄弟姐妹、找 Joe 的全部后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代、找 Chris 的祖先，都只是沿着边走几步。</a:t>
              </a:r>
            </a:p>
          </p:txBody>
        </p:sp>
      </p:grpSp>
      <p:grpSp>
        <p:nvGrpSpPr>
          <p:cNvPr id="67" name="c2-tree-1"/>
          <p:cNvGrpSpPr/>
          <p:nvPr/>
        </p:nvGrpSpPr>
        <p:grpSpPr>
          <a:xfrm>
            <a:off x="6032182" y="1585912"/>
            <a:ext cx="5626418" cy="2543175"/>
            <a:chOff x="6032182" y="1585912"/>
            <a:chExt cx="5626418" cy="2543175"/>
          </a:xfrm>
        </p:grpSpPr>
        <p:sp>
          <p:nvSpPr>
            <p:cNvPr id="35" name="Freeform 35"/>
            <p:cNvSpPr/>
            <p:nvPr/>
          </p:nvSpPr>
          <p:spPr>
            <a:xfrm>
              <a:off x="10197465" y="1745932"/>
              <a:ext cx="419100" cy="222885"/>
            </a:xfrm>
            <a:custGeom>
              <a:avLst/>
              <a:gdLst/>
              <a:ahLst/>
              <a:cxnLst/>
              <a:rect l="l" t="t" r="r" b="b"/>
              <a:pathLst>
                <a:path w="419100" h="222885">
                  <a:moveTo>
                    <a:pt x="0" y="222885"/>
                  </a:moveTo>
                  <a:lnTo>
                    <a:pt x="209550" y="22288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197465" y="1968818"/>
              <a:ext cx="419100" cy="221933"/>
            </a:xfrm>
            <a:custGeom>
              <a:avLst/>
              <a:gdLst/>
              <a:ahLst/>
              <a:cxnLst/>
              <a:rect l="l" t="t" r="r" b="b"/>
              <a:pathLst>
                <a:path w="419100" h="221933">
                  <a:moveTo>
                    <a:pt x="0" y="0"/>
                  </a:moveTo>
                  <a:lnTo>
                    <a:pt x="209550" y="0"/>
                  </a:lnTo>
                  <a:lnTo>
                    <a:pt x="209550" y="221933"/>
                  </a:lnTo>
                  <a:lnTo>
                    <a:pt x="419100" y="22193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197465" y="2635568"/>
              <a:ext cx="419100" cy="221933"/>
            </a:xfrm>
            <a:custGeom>
              <a:avLst/>
              <a:gdLst/>
              <a:ahLst/>
              <a:cxnLst/>
              <a:rect l="l" t="t" r="r" b="b"/>
              <a:pathLst>
                <a:path w="419100" h="221933">
                  <a:moveTo>
                    <a:pt x="0" y="221933"/>
                  </a:moveTo>
                  <a:lnTo>
                    <a:pt x="209550" y="221933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197465" y="2857500"/>
              <a:ext cx="419100" cy="221933"/>
            </a:xfrm>
            <a:custGeom>
              <a:avLst/>
              <a:gdLst/>
              <a:ahLst/>
              <a:cxnLst/>
              <a:rect l="l" t="t" r="r" b="b"/>
              <a:pathLst>
                <a:path w="419100" h="221933">
                  <a:moveTo>
                    <a:pt x="0" y="0"/>
                  </a:moveTo>
                  <a:lnTo>
                    <a:pt x="209550" y="0"/>
                  </a:lnTo>
                  <a:lnTo>
                    <a:pt x="209550" y="221933"/>
                  </a:lnTo>
                  <a:lnTo>
                    <a:pt x="419100" y="22193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412480" y="1968818"/>
              <a:ext cx="419100" cy="443865"/>
            </a:xfrm>
            <a:custGeom>
              <a:avLst/>
              <a:gdLst/>
              <a:ahLst/>
              <a:cxnLst/>
              <a:rect l="l" t="t" r="r" b="b"/>
              <a:pathLst>
                <a:path w="419100" h="443865">
                  <a:moveTo>
                    <a:pt x="0" y="443865"/>
                  </a:moveTo>
                  <a:lnTo>
                    <a:pt x="209550" y="44386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412480" y="2412682"/>
              <a:ext cx="419100" cy="444817"/>
            </a:xfrm>
            <a:custGeom>
              <a:avLst/>
              <a:gdLst/>
              <a:ahLst/>
              <a:cxnLst/>
              <a:rect l="l" t="t" r="r" b="b"/>
              <a:pathLst>
                <a:path w="419100" h="444817">
                  <a:moveTo>
                    <a:pt x="0" y="0"/>
                  </a:moveTo>
                  <a:lnTo>
                    <a:pt x="209550" y="0"/>
                  </a:lnTo>
                  <a:lnTo>
                    <a:pt x="209550" y="444817"/>
                  </a:lnTo>
                  <a:lnTo>
                    <a:pt x="419100" y="44481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412480" y="3524250"/>
              <a:ext cx="419100" cy="221933"/>
            </a:xfrm>
            <a:custGeom>
              <a:avLst/>
              <a:gdLst/>
              <a:ahLst/>
              <a:cxnLst/>
              <a:rect l="l" t="t" r="r" b="b"/>
              <a:pathLst>
                <a:path w="419100" h="221933">
                  <a:moveTo>
                    <a:pt x="0" y="221933"/>
                  </a:moveTo>
                  <a:lnTo>
                    <a:pt x="209550" y="221933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412480" y="3746182"/>
              <a:ext cx="419100" cy="222885"/>
            </a:xfrm>
            <a:custGeom>
              <a:avLst/>
              <a:gdLst/>
              <a:ahLst/>
              <a:cxnLst/>
              <a:rect l="l" t="t" r="r" b="b"/>
              <a:pathLst>
                <a:path w="419100" h="222885">
                  <a:moveTo>
                    <a:pt x="0" y="0"/>
                  </a:moveTo>
                  <a:lnTo>
                    <a:pt x="209550" y="0"/>
                  </a:lnTo>
                  <a:lnTo>
                    <a:pt x="209550" y="222885"/>
                  </a:lnTo>
                  <a:lnTo>
                    <a:pt x="419100" y="22288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7026592" y="2412682"/>
              <a:ext cx="419100" cy="666750"/>
            </a:xfrm>
            <a:custGeom>
              <a:avLst/>
              <a:gdLst/>
              <a:ahLst/>
              <a:cxnLst/>
              <a:rect l="l" t="t" r="r" b="b"/>
              <a:pathLst>
                <a:path w="419100" h="666750">
                  <a:moveTo>
                    <a:pt x="0" y="666750"/>
                  </a:moveTo>
                  <a:lnTo>
                    <a:pt x="209550" y="66675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026592" y="3079432"/>
              <a:ext cx="419100" cy="666750"/>
            </a:xfrm>
            <a:custGeom>
              <a:avLst/>
              <a:gdLst/>
              <a:ahLst/>
              <a:cxnLst/>
              <a:rect l="l" t="t" r="r" b="b"/>
              <a:pathLst>
                <a:path w="419100" h="666750">
                  <a:moveTo>
                    <a:pt x="0" y="0"/>
                  </a:moveTo>
                  <a:lnTo>
                    <a:pt x="209550" y="0"/>
                  </a:lnTo>
                  <a:lnTo>
                    <a:pt x="209550" y="666750"/>
                  </a:lnTo>
                  <a:lnTo>
                    <a:pt x="419100" y="66675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616565" y="1585912"/>
              <a:ext cx="1042035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616565" y="2030730"/>
              <a:ext cx="1042035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831580" y="1807845"/>
              <a:ext cx="1365885" cy="320992"/>
            </a:xfrm>
            <a:prstGeom prst="roundRect">
              <a:avLst>
                <a:gd name="adj" fmla="val 29674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616565" y="2474595"/>
              <a:ext cx="1042035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616565" y="2919412"/>
              <a:ext cx="1042035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831580" y="2697480"/>
              <a:ext cx="1365885" cy="320992"/>
            </a:xfrm>
            <a:prstGeom prst="roundRect">
              <a:avLst>
                <a:gd name="adj" fmla="val 29674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445692" y="2252662"/>
              <a:ext cx="967740" cy="320992"/>
            </a:xfrm>
            <a:prstGeom prst="roundRect">
              <a:avLst>
                <a:gd name="adj" fmla="val 29674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831580" y="3364230"/>
              <a:ext cx="1365885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831580" y="3808095"/>
              <a:ext cx="1365885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445692" y="3586162"/>
              <a:ext cx="967740" cy="320992"/>
            </a:xfrm>
            <a:prstGeom prst="roundRect">
              <a:avLst>
                <a:gd name="adj" fmla="val 29674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032182" y="2919412"/>
              <a:ext cx="994410" cy="320992"/>
            </a:xfrm>
            <a:prstGeom prst="roundRect">
              <a:avLst>
                <a:gd name="adj" fmla="val 2967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706862" y="1677829"/>
              <a:ext cx="517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ch1.doc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706862" y="2122646"/>
              <a:ext cx="517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ch2.doc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921877" y="1900714"/>
              <a:ext cx="6956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/chapters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706862" y="2567464"/>
              <a:ext cx="372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pro.c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706862" y="3011329"/>
              <a:ext cx="517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pro.opt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921877" y="2789396"/>
              <a:ext cx="903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/programmer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35990" y="2344579"/>
              <a:ext cx="390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/book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921877" y="3456146"/>
              <a:ext cx="3990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a.mp3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921877" y="3900964"/>
              <a:ext cx="3990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b.mp3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35990" y="3678079"/>
              <a:ext cx="460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/music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122480" y="3011329"/>
              <a:ext cx="4670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/user1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6032182" y="4381500"/>
            <a:ext cx="5626418" cy="1612582"/>
            <a:chOff x="6032182" y="4381500"/>
            <a:chExt cx="5626418" cy="1612582"/>
          </a:xfrm>
        </p:grpSpPr>
        <p:sp>
          <p:nvSpPr>
            <p:cNvPr id="68" name="Rectangle 68"/>
            <p:cNvSpPr/>
            <p:nvPr/>
          </p:nvSpPr>
          <p:spPr>
            <a:xfrm>
              <a:off x="6032182" y="4381500"/>
              <a:ext cx="5626418" cy="1612582"/>
            </a:xfrm>
            <a:prstGeom prst="roundRect">
              <a:avLst>
                <a:gd name="adj" fmla="val 82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041708" y="4514850"/>
              <a:ext cx="47625" cy="13458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279832" y="45910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348387" y="46267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两张图的共同点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272212" y="496824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都有唯一一个最高层的元素，其余元素各自挂在一个上级下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面，没有任何元素同时挂在两个上级下面。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273356" y="558593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这正是下一页给出的树的定义要刻画的东西。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树：用层次关系组织数据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树的定义是递归的：树里面装的还是树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626418" cy="1973580"/>
            <a:chOff x="533400" y="1524000"/>
            <a:chExt cx="5626418" cy="19735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73580"/>
            </a:xfrm>
            <a:prstGeom prst="roundRect">
              <a:avLst>
                <a:gd name="adj" fmla="val 67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0688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9335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树（Tree）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7515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一棵树是一个有限的结点集合 T。若 T 为空，则称为空树。若 T 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空，则：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52475" y="257841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4382" y="26130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2223" y="2589371"/>
              <a:ext cx="31485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有一个被称为根的结点，记为 root(T)；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52475" y="286321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4382" y="28988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2223" y="2874169"/>
              <a:ext cx="44914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其余结点被分成 m（m ≥ 0）个不相交的非空集合 T₁、T₂、…、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Tₘ，且它们又都是树，称作 root(T) 的子树。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3662362"/>
            <a:ext cx="5626418" cy="1675448"/>
            <a:chOff x="533400" y="3662362"/>
            <a:chExt cx="5626418" cy="1675448"/>
          </a:xfrm>
        </p:grpSpPr>
        <p:sp>
          <p:nvSpPr>
            <p:cNvPr id="20" name="Rectangle 20"/>
            <p:cNvSpPr/>
            <p:nvPr/>
          </p:nvSpPr>
          <p:spPr>
            <a:xfrm>
              <a:off x="533400" y="3662362"/>
              <a:ext cx="5626418" cy="1675448"/>
            </a:xfrm>
            <a:prstGeom prst="roundRect">
              <a:avLst>
                <a:gd name="adj" fmla="val 79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795712"/>
              <a:ext cx="47625" cy="140874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2475" y="384333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9894" y="387619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定义里的细节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62000" y="423576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7448" y="4182904"/>
              <a:ext cx="47759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可以为 0，此时树只有一个根结点；要求非空的是每个 Tᵢ，不是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62000" y="476345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7448" y="4710589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子树必须两两不相交，一个结点不能同时属于两棵子树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7141" y="4992052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这部分源课件列为慕课自学内容，计入期末成绩，课堂不讲。</a:t>
              </a:r>
            </a:p>
          </p:txBody>
        </p:sp>
      </p:grpSp>
      <p:grpSp>
        <p:nvGrpSpPr>
          <p:cNvPr id="56" name="c2-tree-1"/>
          <p:cNvGrpSpPr/>
          <p:nvPr/>
        </p:nvGrpSpPr>
        <p:grpSpPr>
          <a:xfrm>
            <a:off x="7152322" y="1599248"/>
            <a:ext cx="3818573" cy="1873567"/>
            <a:chOff x="7152322" y="1599248"/>
            <a:chExt cx="3818573" cy="1873567"/>
          </a:xfrm>
        </p:grpSpPr>
        <p:sp>
          <p:nvSpPr>
            <p:cNvPr id="30" name="Freeform 30"/>
            <p:cNvSpPr/>
            <p:nvPr/>
          </p:nvSpPr>
          <p:spPr>
            <a:xfrm>
              <a:off x="7330440" y="2788920"/>
              <a:ext cx="9525" cy="505777"/>
            </a:xfrm>
            <a:custGeom>
              <a:avLst/>
              <a:gdLst/>
              <a:ahLst/>
              <a:cxnLst/>
              <a:rect l="l" t="t" r="r" b="b"/>
              <a:pathLst>
                <a:path w="9525" h="505777">
                  <a:moveTo>
                    <a:pt x="0" y="0"/>
                  </a:moveTo>
                  <a:lnTo>
                    <a:pt x="0" y="5057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330440" y="2283142"/>
              <a:ext cx="9525" cy="505778"/>
            </a:xfrm>
            <a:custGeom>
              <a:avLst/>
              <a:gdLst/>
              <a:ahLst/>
              <a:cxnLst/>
              <a:rect l="l" t="t" r="r" b="b"/>
              <a:pathLst>
                <a:path w="9525" h="505778">
                  <a:moveTo>
                    <a:pt x="0" y="0"/>
                  </a:moveTo>
                  <a:lnTo>
                    <a:pt x="0" y="5057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628698" y="2283142"/>
              <a:ext cx="433388" cy="505778"/>
            </a:xfrm>
            <a:custGeom>
              <a:avLst/>
              <a:gdLst/>
              <a:ahLst/>
              <a:cxnLst/>
              <a:rect l="l" t="t" r="r" b="b"/>
              <a:pathLst>
                <a:path w="433388" h="505778">
                  <a:moveTo>
                    <a:pt x="433388" y="0"/>
                  </a:moveTo>
                  <a:lnTo>
                    <a:pt x="0" y="5057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62085" y="2283142"/>
              <a:ext cx="432435" cy="505778"/>
            </a:xfrm>
            <a:custGeom>
              <a:avLst/>
              <a:gdLst/>
              <a:ahLst/>
              <a:cxnLst/>
              <a:rect l="l" t="t" r="r" b="b"/>
              <a:pathLst>
                <a:path w="432435" h="505778">
                  <a:moveTo>
                    <a:pt x="0" y="0"/>
                  </a:moveTo>
                  <a:lnTo>
                    <a:pt x="432435" y="5057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792778" y="2283142"/>
              <a:ext cx="9525" cy="505778"/>
            </a:xfrm>
            <a:custGeom>
              <a:avLst/>
              <a:gdLst/>
              <a:ahLst/>
              <a:cxnLst/>
              <a:rect l="l" t="t" r="r" b="b"/>
              <a:pathLst>
                <a:path w="9525" h="505778">
                  <a:moveTo>
                    <a:pt x="0" y="0"/>
                  </a:moveTo>
                  <a:lnTo>
                    <a:pt x="0" y="5057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330440" y="1777365"/>
              <a:ext cx="1731645" cy="505777"/>
            </a:xfrm>
            <a:custGeom>
              <a:avLst/>
              <a:gdLst/>
              <a:ahLst/>
              <a:cxnLst/>
              <a:rect l="l" t="t" r="r" b="b"/>
              <a:pathLst>
                <a:path w="1731645" h="505777">
                  <a:moveTo>
                    <a:pt x="1731645" y="0"/>
                  </a:moveTo>
                  <a:lnTo>
                    <a:pt x="0" y="5057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062085" y="1777365"/>
              <a:ext cx="9525" cy="505777"/>
            </a:xfrm>
            <a:custGeom>
              <a:avLst/>
              <a:gdLst/>
              <a:ahLst/>
              <a:cxnLst/>
              <a:rect l="l" t="t" r="r" b="b"/>
              <a:pathLst>
                <a:path w="9525" h="505777">
                  <a:moveTo>
                    <a:pt x="0" y="0"/>
                  </a:moveTo>
                  <a:lnTo>
                    <a:pt x="0" y="5057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062085" y="1777365"/>
              <a:ext cx="1730692" cy="505777"/>
            </a:xfrm>
            <a:custGeom>
              <a:avLst/>
              <a:gdLst/>
              <a:ahLst/>
              <a:cxnLst/>
              <a:rect l="l" t="t" r="r" b="b"/>
              <a:pathLst>
                <a:path w="1730692" h="505777">
                  <a:moveTo>
                    <a:pt x="0" y="0"/>
                  </a:moveTo>
                  <a:lnTo>
                    <a:pt x="1730692" y="5057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7152322" y="311658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7152322" y="261080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152322" y="210502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8450580" y="261080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9316402" y="261080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8883968" y="210502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0614660" y="261080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10614660" y="210502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8883968" y="159924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81981" y="322992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81981" y="272415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81981" y="221742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80238" y="272415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46061" y="272415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13626" y="221742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763921" y="2724150"/>
              <a:ext cx="57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744318" y="221742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13626" y="171164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59" name="c2-image-2"/>
          <p:cNvGrpSpPr/>
          <p:nvPr/>
        </p:nvGrpSpPr>
        <p:grpSpPr>
          <a:xfrm>
            <a:off x="7671892" y="3712845"/>
            <a:ext cx="2780386" cy="1642776"/>
            <a:chOff x="7671892" y="3712845"/>
            <a:chExt cx="2780386" cy="1642776"/>
          </a:xfrm>
        </p:grpSpPr>
        <p:pic>
          <p:nvPicPr>
            <p:cNvPr id="57" name="Image 5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5305" y="3712845"/>
              <a:ext cx="1813560" cy="1360170"/>
            </a:xfrm>
            <a:prstGeom prst="roundRect">
              <a:avLst>
                <a:gd name="adj" fmla="val 9803"/>
              </a:avLst>
            </a:prstGeom>
          </p:spPr>
        </p:pic>
        <p:sp>
          <p:nvSpPr>
            <p:cNvPr id="58" name="TextBox 58"/>
            <p:cNvSpPr txBox="1"/>
            <p:nvPr/>
          </p:nvSpPr>
          <p:spPr>
            <a:xfrm>
              <a:off x="7671892" y="5164931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折下一根小枝，单独看它仍然是同样的分叉结构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60" name="Rectangle 60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5911217"/>
              <a:ext cx="200023" cy="200023"/>
              <a:chOff x="738188" y="5911217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59112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1273" y="5805011"/>
              <a:ext cx="97990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这棵树的根是 A；去掉 A 后，剩下的结点分成 {B、E、F}、{C、G、H}、{D、I} 三个不相交的集合，每一个又都是树，这就是 A 的三棵子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树：用层次关系组织数据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有序树：子树的左右次序算不算数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graph-1"/>
          <p:cNvGrpSpPr/>
          <p:nvPr/>
        </p:nvGrpSpPr>
        <p:grpSpPr>
          <a:xfrm>
            <a:off x="964882" y="1849755"/>
            <a:ext cx="5096828" cy="4352544"/>
            <a:chOff x="964882" y="1849755"/>
            <a:chExt cx="5096828" cy="4352544"/>
          </a:xfrm>
        </p:grpSpPr>
        <p:sp>
          <p:nvSpPr>
            <p:cNvPr id="7" name="Freeform 7"/>
            <p:cNvSpPr/>
            <p:nvPr/>
          </p:nvSpPr>
          <p:spPr>
            <a:xfrm>
              <a:off x="1188720" y="2146935"/>
              <a:ext cx="676275" cy="1381125"/>
            </a:xfrm>
            <a:custGeom>
              <a:avLst/>
              <a:gdLst/>
              <a:ahLst/>
              <a:cxnLst/>
              <a:rect l="l" t="t" r="r" b="b"/>
              <a:pathLst>
                <a:path w="676275" h="1381125">
                  <a:moveTo>
                    <a:pt x="676275" y="0"/>
                  </a:moveTo>
                  <a:lnTo>
                    <a:pt x="0" y="13811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006918" y="2146935"/>
              <a:ext cx="675323" cy="1381125"/>
            </a:xfrm>
            <a:custGeom>
              <a:avLst/>
              <a:gdLst/>
              <a:ahLst/>
              <a:cxnLst/>
              <a:rect l="l" t="t" r="r" b="b"/>
              <a:pathLst>
                <a:path w="675323" h="1381125">
                  <a:moveTo>
                    <a:pt x="0" y="0"/>
                  </a:moveTo>
                  <a:lnTo>
                    <a:pt x="675323" y="13811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330768" y="3829050"/>
              <a:ext cx="378142" cy="1313497"/>
            </a:xfrm>
            <a:custGeom>
              <a:avLst/>
              <a:gdLst/>
              <a:ahLst/>
              <a:cxnLst/>
              <a:rect l="l" t="t" r="r" b="b"/>
              <a:pathLst>
                <a:path w="378142" h="1313497">
                  <a:moveTo>
                    <a:pt x="378142" y="0"/>
                  </a:moveTo>
                  <a:lnTo>
                    <a:pt x="0" y="13134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344352" y="2146935"/>
              <a:ext cx="675322" cy="1381125"/>
            </a:xfrm>
            <a:custGeom>
              <a:avLst/>
              <a:gdLst/>
              <a:ahLst/>
              <a:cxnLst/>
              <a:rect l="l" t="t" r="r" b="b"/>
              <a:pathLst>
                <a:path w="675322" h="1381125">
                  <a:moveTo>
                    <a:pt x="675322" y="0"/>
                  </a:moveTo>
                  <a:lnTo>
                    <a:pt x="0" y="13811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162550" y="2146935"/>
              <a:ext cx="675322" cy="1381125"/>
            </a:xfrm>
            <a:custGeom>
              <a:avLst/>
              <a:gdLst/>
              <a:ahLst/>
              <a:cxnLst/>
              <a:rect l="l" t="t" r="r" b="b"/>
              <a:pathLst>
                <a:path w="675322" h="1381125">
                  <a:moveTo>
                    <a:pt x="0" y="0"/>
                  </a:moveTo>
                  <a:lnTo>
                    <a:pt x="675322" y="13811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317682" y="3829050"/>
              <a:ext cx="378142" cy="1313497"/>
            </a:xfrm>
            <a:custGeom>
              <a:avLst/>
              <a:gdLst/>
              <a:ahLst/>
              <a:cxnLst/>
              <a:rect l="l" t="t" r="r" b="b"/>
              <a:pathLst>
                <a:path w="378142" h="1313497">
                  <a:moveTo>
                    <a:pt x="0" y="0"/>
                  </a:moveTo>
                  <a:lnTo>
                    <a:pt x="378142" y="13134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783080" y="184975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964882" y="352139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2601278" y="352139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133600" y="514540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938712" y="184975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120515" y="352139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5756910" y="352139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588192" y="514540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887021" y="193643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8823" y="360902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05218" y="360902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37541" y="523303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42653" y="193643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24456" y="360902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60851" y="360902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92133" y="523303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85840" y="5996940"/>
              <a:ext cx="1699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左图：A 的第 1 棵子树是 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41473" y="5996940"/>
              <a:ext cx="1699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右图：A 的第 1 棵子树是 C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680835" y="1524000"/>
            <a:ext cx="4977765" cy="1540192"/>
            <a:chOff x="6680835" y="1524000"/>
            <a:chExt cx="4977765" cy="1540192"/>
          </a:xfrm>
        </p:grpSpPr>
        <p:sp>
          <p:nvSpPr>
            <p:cNvPr id="32" name="Rectangle 32"/>
            <p:cNvSpPr/>
            <p:nvPr/>
          </p:nvSpPr>
          <p:spPr>
            <a:xfrm>
              <a:off x="6680835" y="1524000"/>
              <a:ext cx="4977765" cy="1540192"/>
            </a:xfrm>
            <a:prstGeom prst="roundRect">
              <a:avLst>
                <a:gd name="adj" fmla="val 86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90360" y="1657350"/>
              <a:ext cx="47625" cy="127349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917055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08495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00366" y="175688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有序树与无序树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09816" y="2100739"/>
              <a:ext cx="424345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如果树的子树 T₁、T₂、…、Tₘ 的相对次序被指明，则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称该树为有序树，否则称为无序树。在有序树中，把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Tᵢ 称作根的第 i 个子树。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680835" y="3244215"/>
            <a:ext cx="4977765" cy="1858328"/>
            <a:chOff x="6680835" y="3244215"/>
            <a:chExt cx="4977765" cy="1858328"/>
          </a:xfrm>
        </p:grpSpPr>
        <p:sp>
          <p:nvSpPr>
            <p:cNvPr id="39" name="Rectangle 39"/>
            <p:cNvSpPr/>
            <p:nvPr/>
          </p:nvSpPr>
          <p:spPr>
            <a:xfrm>
              <a:off x="6680835" y="3244215"/>
              <a:ext cx="4977765" cy="1858328"/>
            </a:xfrm>
            <a:prstGeom prst="roundRect">
              <a:avLst>
                <a:gd name="adj" fmla="val 71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90360" y="3377565"/>
              <a:ext cx="47625" cy="159162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17055" y="344233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08495" y="34766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00366" y="3478054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同两棵图，结论取决于看成哪种树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924675" y="388143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81266" y="3820954"/>
              <a:ext cx="406311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看成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无序树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：两张图是同一棵树，因为 A 的子树集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合都是 {B, C}，C 的孩子都是 D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924675" y="447103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81266" y="4410551"/>
              <a:ext cx="406311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看成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有序树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：这是两棵不同的树，因为第 1 个子树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一个是 B，一个是 C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6680835" y="5282565"/>
            <a:ext cx="4977765" cy="1018222"/>
            <a:chOff x="6680835" y="5282565"/>
            <a:chExt cx="4977765" cy="1018222"/>
          </a:xfrm>
        </p:grpSpPr>
        <p:sp>
          <p:nvSpPr>
            <p:cNvPr id="49" name="Rectangle 49"/>
            <p:cNvSpPr/>
            <p:nvPr/>
          </p:nvSpPr>
          <p:spPr>
            <a:xfrm>
              <a:off x="6680835" y="5282565"/>
              <a:ext cx="4977765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885623" y="5692140"/>
              <a:ext cx="200026" cy="200025"/>
              <a:chOff x="6885623" y="5692140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885623" y="56921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925361" y="57365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960077" y="58477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7187946" y="5430679"/>
              <a:ext cx="398195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本课程后面提到的树，如无特别说明都是有序树。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二叉树比这还要严格，只有一个孩子时也必须指明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是左还是右。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01456" cy="909257"/>
            <a:chOff x="520446" y="342900"/>
            <a:chExt cx="66014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树：用层次关系组织数据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014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树和线性结构的差别，只在“后继能有几个”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5842635" cy="2470786"/>
            <a:chOff x="533400" y="1524000"/>
            <a:chExt cx="5842635" cy="247078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949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9499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线性结构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0142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树结构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开头的元素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43303" y="210835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首结点，无前驱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63580" y="210835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根结点，无前驱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没有后继的元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43303" y="2670334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 1 个数据元素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63580" y="267033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叶结点，可能有多个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2323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其余元素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43303" y="323230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一个前驱、一个后继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63580" y="323230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一个前驱、多个后继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13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46158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6809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关系的类型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43303" y="368093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63580" y="368093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一对多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842635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930718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150995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llout-2"/>
          <p:cNvGrpSpPr/>
          <p:nvPr/>
        </p:nvGrpSpPr>
        <p:grpSpPr>
          <a:xfrm>
            <a:off x="533400" y="4185285"/>
            <a:ext cx="5842635" cy="1741170"/>
            <a:chOff x="533400" y="4185285"/>
            <a:chExt cx="5842635" cy="1741170"/>
          </a:xfrm>
        </p:grpSpPr>
        <p:sp>
          <p:nvSpPr>
            <p:cNvPr id="32" name="Rectangle 32"/>
            <p:cNvSpPr/>
            <p:nvPr/>
          </p:nvSpPr>
          <p:spPr>
            <a:xfrm>
              <a:off x="533400" y="4185285"/>
              <a:ext cx="5842635" cy="1741170"/>
            </a:xfrm>
            <a:prstGeom prst="roundRect">
              <a:avLst>
                <a:gd name="adj" fmla="val 656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4955860"/>
              <a:ext cx="200023" cy="200023"/>
              <a:chOff x="738188" y="4955860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49558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1538" y="50225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4812982"/>
              <a:ext cx="4749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判别只看一条：每个结点的前驱最多 1 个、后继可以多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个，就是树；前驱超过 1 个，就只能是图（第 12 讲）。</a:t>
              </a:r>
            </a:p>
          </p:txBody>
        </p:sp>
      </p:grpSp>
      <p:grpSp>
        <p:nvGrpSpPr>
          <p:cNvPr id="61" name="c2-cells-1"/>
          <p:cNvGrpSpPr/>
          <p:nvPr/>
        </p:nvGrpSpPr>
        <p:grpSpPr>
          <a:xfrm>
            <a:off x="6674358" y="1524000"/>
            <a:ext cx="4179380" cy="419100"/>
            <a:chOff x="6674358" y="1524000"/>
            <a:chExt cx="4179380" cy="419100"/>
          </a:xfrm>
        </p:grpSpPr>
        <p:sp>
          <p:nvSpPr>
            <p:cNvPr id="38" name="TextBox 38"/>
            <p:cNvSpPr txBox="1"/>
            <p:nvPr/>
          </p:nvSpPr>
          <p:spPr>
            <a:xfrm>
              <a:off x="6674358" y="16540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线性表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301865" y="1524000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13999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a₀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738110" y="1524000"/>
              <a:ext cx="209550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7814310" y="170497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7842885" y="17335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185785" y="16906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271510" y="1524000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82692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706802" y="1524000"/>
              <a:ext cx="209550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8783002" y="170497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8811578" y="17335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154478" y="16906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240202" y="1524000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351384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675495" y="1524000"/>
              <a:ext cx="209550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9751695" y="170497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9780270" y="17335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10123170" y="16906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208895" y="1524000"/>
              <a:ext cx="435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320077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644188" y="1524000"/>
              <a:ext cx="209550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701785" y="166068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76" name="c2-tree-2"/>
          <p:cNvGrpSpPr/>
          <p:nvPr/>
        </p:nvGrpSpPr>
        <p:grpSpPr>
          <a:xfrm>
            <a:off x="7300912" y="2257425"/>
            <a:ext cx="3737610" cy="1752600"/>
            <a:chOff x="7300912" y="2257425"/>
            <a:chExt cx="3737610" cy="1752600"/>
          </a:xfrm>
        </p:grpSpPr>
        <p:sp>
          <p:nvSpPr>
            <p:cNvPr id="62" name="Freeform 62"/>
            <p:cNvSpPr/>
            <p:nvPr/>
          </p:nvSpPr>
          <p:spPr>
            <a:xfrm>
              <a:off x="7510462" y="3133725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7510462" y="2466975"/>
              <a:ext cx="1659255" cy="666750"/>
            </a:xfrm>
            <a:custGeom>
              <a:avLst/>
              <a:gdLst/>
              <a:ahLst/>
              <a:cxnLst/>
              <a:rect l="l" t="t" r="r" b="b"/>
              <a:pathLst>
                <a:path w="1659255" h="666750">
                  <a:moveTo>
                    <a:pt x="1659255" y="0"/>
                  </a:moveTo>
                  <a:lnTo>
                    <a:pt x="0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9169718" y="2466975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9169718" y="2466975"/>
              <a:ext cx="1659255" cy="666750"/>
            </a:xfrm>
            <a:custGeom>
              <a:avLst/>
              <a:gdLst/>
              <a:ahLst/>
              <a:cxnLst/>
              <a:rect l="l" t="t" r="r" b="b"/>
              <a:pathLst>
                <a:path w="1659255" h="666750">
                  <a:moveTo>
                    <a:pt x="0" y="0"/>
                  </a:moveTo>
                  <a:lnTo>
                    <a:pt x="1659255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7300912" y="359092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7300912" y="292417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8960168" y="292417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10619422" y="292417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8960168" y="225742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455080" y="372618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55080" y="305943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114335" y="305943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773590" y="305943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114335" y="239268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82" name="c2-card-3"/>
          <p:cNvGrpSpPr/>
          <p:nvPr/>
        </p:nvGrpSpPr>
        <p:grpSpPr>
          <a:xfrm>
            <a:off x="6680835" y="4324350"/>
            <a:ext cx="4977765" cy="1602105"/>
            <a:chOff x="6680835" y="4324350"/>
            <a:chExt cx="4977765" cy="1602105"/>
          </a:xfrm>
        </p:grpSpPr>
        <p:sp>
          <p:nvSpPr>
            <p:cNvPr id="77" name="Rectangle 77"/>
            <p:cNvSpPr/>
            <p:nvPr/>
          </p:nvSpPr>
          <p:spPr>
            <a:xfrm>
              <a:off x="6680835" y="4324350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6690360" y="445770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928485" y="453390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010794" y="45696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对照着看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920865" y="4911090"/>
              <a:ext cx="4044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线性表里没有后继的元素只有 1 个，就是末尾那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个；树里没有后继的结点是全部叶结点，上图中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E、C、D 都没有后继。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树：用层次关系组织数据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术语（一）度：数的是一个结点有几个孩子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564958"/>
            <a:chOff x="533400" y="1524000"/>
            <a:chExt cx="5626418" cy="15649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078" y="176355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3426" y="176736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度（次数）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90169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一个结点的子结点数目，称为该结点的度或者次数。一棵树的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度为 max{D(i)｜i = 1, …, n}，其中 n 为树中结点总数，D(i)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表示第 i 个结点的度。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273742"/>
            <a:ext cx="5626418" cy="1293495"/>
            <a:chOff x="533400" y="3273742"/>
            <a:chExt cx="5626418" cy="1293495"/>
          </a:xfrm>
        </p:grpSpPr>
        <p:sp>
          <p:nvSpPr>
            <p:cNvPr id="14" name="Rectangle 14"/>
            <p:cNvSpPr/>
            <p:nvPr/>
          </p:nvSpPr>
          <p:spPr>
            <a:xfrm>
              <a:off x="533400" y="3273742"/>
              <a:ext cx="5626418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07092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75335" y="3477578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2078" y="351329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 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03426" y="351805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叶结点与分支结点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8096" y="3869531"/>
              <a:ext cx="493776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度为 0 的结点（即没有孩子的结点）称为叶结点；度大于 0 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结点称为分支结点，也就是非叶结点。</a:t>
              </a:r>
            </a:p>
          </p:txBody>
        </p:sp>
      </p:grpSp>
      <p:grpSp>
        <p:nvGrpSpPr>
          <p:cNvPr id="27" name="c1-callout-3"/>
          <p:cNvGrpSpPr/>
          <p:nvPr/>
        </p:nvGrpSpPr>
        <p:grpSpPr>
          <a:xfrm>
            <a:off x="533400" y="4752975"/>
            <a:ext cx="5626418" cy="1524000"/>
            <a:chOff x="533400" y="4752975"/>
            <a:chExt cx="5626418" cy="1524000"/>
          </a:xfrm>
        </p:grpSpPr>
        <p:sp>
          <p:nvSpPr>
            <p:cNvPr id="21" name="Rectangle 21"/>
            <p:cNvSpPr/>
            <p:nvPr/>
          </p:nvSpPr>
          <p:spPr>
            <a:xfrm>
              <a:off x="533400" y="4752975"/>
              <a:ext cx="5626418" cy="1524000"/>
            </a:xfrm>
            <a:prstGeom prst="roundRect">
              <a:avLst>
                <a:gd name="adj" fmla="val 750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26129" y="5411271"/>
              <a:ext cx="224134" cy="192560"/>
              <a:chOff x="726129" y="5411271"/>
              <a:chExt cx="224134" cy="19256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38200" y="548163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26129" y="541127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555942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511" y="5283994"/>
              <a:ext cx="47033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树的度是各结点的度的最大值，既不是它们的和，也不一定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是根的度。本例中恰好在根处取到最大值。</a:t>
              </a:r>
            </a:p>
          </p:txBody>
        </p:sp>
      </p:grpSp>
      <p:grpSp>
        <p:nvGrpSpPr>
          <p:cNvPr id="62" name="c2-table-1"/>
          <p:cNvGrpSpPr/>
          <p:nvPr/>
        </p:nvGrpSpPr>
        <p:grpSpPr>
          <a:xfrm>
            <a:off x="6464618" y="1524000"/>
            <a:ext cx="5193982" cy="3011805"/>
            <a:chOff x="6464618" y="1524000"/>
            <a:chExt cx="5193982" cy="3011805"/>
          </a:xfrm>
        </p:grpSpPr>
        <p:sp>
          <p:nvSpPr>
            <p:cNvPr id="28" name="Rectangle 28"/>
            <p:cNvSpPr/>
            <p:nvPr/>
          </p:nvSpPr>
          <p:spPr>
            <a:xfrm>
              <a:off x="6464618" y="1524000"/>
              <a:ext cx="5193982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6847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84604" y="165544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28847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69964" y="208502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17142" y="1964055"/>
              <a:ext cx="707708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1296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39722" y="2085022"/>
              <a:ext cx="1314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有子结点 B、C、D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23793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64618" y="2384108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69964" y="251555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1296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39722" y="2515552"/>
              <a:ext cx="8034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有子结点 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28098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69964" y="294608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1296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39722" y="2946082"/>
              <a:ext cx="1058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有子结点 G、H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32394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64618" y="3244215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69964" y="337566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12964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39722" y="3375660"/>
              <a:ext cx="7607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有子结点 I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366998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69964" y="380619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12964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39722" y="3806190"/>
              <a:ext cx="8034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有子结点 F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41005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64618" y="4105275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69964" y="4235768"/>
              <a:ext cx="8463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F、G、H、I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12964" y="42357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39722" y="4235768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没有子结点，都是叶结点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64618" y="1524000"/>
              <a:ext cx="5193982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602855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329612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ard-2"/>
          <p:cNvGrpSpPr/>
          <p:nvPr/>
        </p:nvGrpSpPr>
        <p:grpSpPr>
          <a:xfrm>
            <a:off x="6464618" y="4720590"/>
            <a:ext cx="5193982" cy="1556385"/>
            <a:chOff x="6464618" y="4720590"/>
            <a:chExt cx="5193982" cy="1556385"/>
          </a:xfrm>
        </p:grpSpPr>
        <p:sp>
          <p:nvSpPr>
            <p:cNvPr id="63" name="Rectangle 63"/>
            <p:cNvSpPr/>
            <p:nvPr/>
          </p:nvSpPr>
          <p:spPr>
            <a:xfrm>
              <a:off x="6464618" y="4720590"/>
              <a:ext cx="5193982" cy="1556385"/>
            </a:xfrm>
            <a:prstGeom prst="roundRect">
              <a:avLst>
                <a:gd name="adj" fmla="val 856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668452" y="492442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46811" y="49601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这棵树的度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61214" y="5297329"/>
              <a:ext cx="456806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全部结点的度是 3、1、2、1、1、0、0、0、0，最大值为</a:t>
              </a:r>
              <a:br/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3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，所以这棵树的度为 3。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62356" y="5885498"/>
              <a:ext cx="4573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分支结点是 A、B、C、D、E 五个，叶结点是 F、G、H、I 四个。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树：用层次关系组织数据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术语（二）层数往上数，高度往下数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160145"/>
            <a:chOff x="533400" y="1524000"/>
            <a:chExt cx="5410200" cy="11601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519" y="1737836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 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29893" y="174450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结点的层数（深度）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递归定义：root(T) 的层数为 0；其余结点的层数为其父结点的层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数加 1。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2848928"/>
            <a:ext cx="5410200" cy="1202055"/>
            <a:chOff x="533400" y="2848928"/>
            <a:chExt cx="5410200" cy="1202055"/>
          </a:xfrm>
        </p:grpSpPr>
        <p:sp>
          <p:nvSpPr>
            <p:cNvPr id="14" name="Rectangle 14"/>
            <p:cNvSpPr/>
            <p:nvPr/>
          </p:nvSpPr>
          <p:spPr>
            <a:xfrm>
              <a:off x="533400" y="2848928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2982278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3029902"/>
              <a:ext cx="765810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5569" y="3062764"/>
              <a:ext cx="5996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 4、5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26108" y="306943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树的高度与结点的高度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2000" y="343852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17448" y="338661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树的高度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（也叫树的深度）：树中结点的最大层数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2000" y="372427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7448" y="367141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结点的高度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：以该结点为根的子树的高度</a:t>
              </a:r>
            </a:p>
          </p:txBody>
        </p:sp>
      </p:grpSp>
      <p:grpSp>
        <p:nvGrpSpPr>
          <p:cNvPr id="39" name="c1-table-3"/>
          <p:cNvGrpSpPr/>
          <p:nvPr/>
        </p:nvGrpSpPr>
        <p:grpSpPr>
          <a:xfrm>
            <a:off x="533400" y="4216718"/>
            <a:ext cx="5410200" cy="1143952"/>
            <a:chOff x="533400" y="4216718"/>
            <a:chExt cx="5410200" cy="1143952"/>
          </a:xfrm>
        </p:grpSpPr>
        <p:sp>
          <p:nvSpPr>
            <p:cNvPr id="24" name="Rectangle 24"/>
            <p:cNvSpPr/>
            <p:nvPr/>
          </p:nvSpPr>
          <p:spPr>
            <a:xfrm>
              <a:off x="533400" y="4216718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22032" y="43338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13088" y="433387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高度是什么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82871" y="433387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深度是什么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8078" y="47148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97761" y="471487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以它为根的子树的高度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35196" y="471487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它所在的层数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973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497871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78" y="509682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97761" y="50968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树中结点的最大层数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35196" y="50968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同高度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216718"/>
              <a:ext cx="5410200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798320" y="4216718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135755" y="4216718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tree-1"/>
          <p:cNvGrpSpPr/>
          <p:nvPr/>
        </p:nvGrpSpPr>
        <p:grpSpPr>
          <a:xfrm>
            <a:off x="6972300" y="1568768"/>
            <a:ext cx="3962400" cy="1691640"/>
            <a:chOff x="6972300" y="1568768"/>
            <a:chExt cx="3962400" cy="1691640"/>
          </a:xfrm>
        </p:grpSpPr>
        <p:sp>
          <p:nvSpPr>
            <p:cNvPr id="40" name="Freeform 40"/>
            <p:cNvSpPr/>
            <p:nvPr/>
          </p:nvSpPr>
          <p:spPr>
            <a:xfrm>
              <a:off x="7150418" y="2637472"/>
              <a:ext cx="9525" cy="444818"/>
            </a:xfrm>
            <a:custGeom>
              <a:avLst/>
              <a:gdLst/>
              <a:ahLst/>
              <a:cxnLst/>
              <a:rect l="l" t="t" r="r" b="b"/>
              <a:pathLst>
                <a:path w="9525" h="444818">
                  <a:moveTo>
                    <a:pt x="0" y="0"/>
                  </a:moveTo>
                  <a:lnTo>
                    <a:pt x="0" y="44481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150418" y="2191702"/>
              <a:ext cx="9525" cy="445770"/>
            </a:xfrm>
            <a:custGeom>
              <a:avLst/>
              <a:gdLst/>
              <a:ahLst/>
              <a:cxnLst/>
              <a:rect l="l" t="t" r="r" b="b"/>
              <a:pathLst>
                <a:path w="9525" h="445770">
                  <a:moveTo>
                    <a:pt x="0" y="0"/>
                  </a:moveTo>
                  <a:lnTo>
                    <a:pt x="0" y="4457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502968" y="2191702"/>
              <a:ext cx="450532" cy="445770"/>
            </a:xfrm>
            <a:custGeom>
              <a:avLst/>
              <a:gdLst/>
              <a:ahLst/>
              <a:cxnLst/>
              <a:rect l="l" t="t" r="r" b="b"/>
              <a:pathLst>
                <a:path w="450532" h="445770">
                  <a:moveTo>
                    <a:pt x="450532" y="0"/>
                  </a:moveTo>
                  <a:lnTo>
                    <a:pt x="0" y="4457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953500" y="2191702"/>
              <a:ext cx="450532" cy="445770"/>
            </a:xfrm>
            <a:custGeom>
              <a:avLst/>
              <a:gdLst/>
              <a:ahLst/>
              <a:cxnLst/>
              <a:rect l="l" t="t" r="r" b="b"/>
              <a:pathLst>
                <a:path w="450532" h="445770">
                  <a:moveTo>
                    <a:pt x="0" y="0"/>
                  </a:moveTo>
                  <a:lnTo>
                    <a:pt x="450532" y="4457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756582" y="2191702"/>
              <a:ext cx="9525" cy="445770"/>
            </a:xfrm>
            <a:custGeom>
              <a:avLst/>
              <a:gdLst/>
              <a:ahLst/>
              <a:cxnLst/>
              <a:rect l="l" t="t" r="r" b="b"/>
              <a:pathLst>
                <a:path w="9525" h="445770">
                  <a:moveTo>
                    <a:pt x="0" y="0"/>
                  </a:moveTo>
                  <a:lnTo>
                    <a:pt x="0" y="4457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150418" y="1746885"/>
              <a:ext cx="1803082" cy="444817"/>
            </a:xfrm>
            <a:custGeom>
              <a:avLst/>
              <a:gdLst/>
              <a:ahLst/>
              <a:cxnLst/>
              <a:rect l="l" t="t" r="r" b="b"/>
              <a:pathLst>
                <a:path w="1803082" h="444817">
                  <a:moveTo>
                    <a:pt x="1803082" y="0"/>
                  </a:moveTo>
                  <a:lnTo>
                    <a:pt x="0" y="4448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953500" y="1746885"/>
              <a:ext cx="9525" cy="444817"/>
            </a:xfrm>
            <a:custGeom>
              <a:avLst/>
              <a:gdLst/>
              <a:ahLst/>
              <a:cxnLst/>
              <a:rect l="l" t="t" r="r" b="b"/>
              <a:pathLst>
                <a:path w="9525" h="444817">
                  <a:moveTo>
                    <a:pt x="0" y="0"/>
                  </a:moveTo>
                  <a:lnTo>
                    <a:pt x="0" y="4448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8953500" y="1746885"/>
              <a:ext cx="1803082" cy="444817"/>
            </a:xfrm>
            <a:custGeom>
              <a:avLst/>
              <a:gdLst/>
              <a:ahLst/>
              <a:cxnLst/>
              <a:rect l="l" t="t" r="r" b="b"/>
              <a:pathLst>
                <a:path w="1803082" h="444817">
                  <a:moveTo>
                    <a:pt x="0" y="0"/>
                  </a:moveTo>
                  <a:lnTo>
                    <a:pt x="1803082" y="4448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6972300" y="2904173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6972300" y="245935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6972300" y="201358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324850" y="245935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9225915" y="245935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8775382" y="201358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10578465" y="245935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10578465" y="201358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8775382" y="156876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101958" y="301752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01958" y="257175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01958" y="212693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54508" y="257175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355573" y="257175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905041" y="212693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727726" y="2571750"/>
              <a:ext cx="57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708123" y="212693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905041" y="168116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92" name="c2-table-2"/>
          <p:cNvGrpSpPr/>
          <p:nvPr/>
        </p:nvGrpSpPr>
        <p:grpSpPr>
          <a:xfrm>
            <a:off x="6243447" y="3469958"/>
            <a:ext cx="5415153" cy="2170461"/>
            <a:chOff x="6243447" y="3469958"/>
            <a:chExt cx="5415153" cy="2170461"/>
          </a:xfrm>
        </p:grpSpPr>
        <p:sp>
          <p:nvSpPr>
            <p:cNvPr id="67" name="Rectangle 67"/>
            <p:cNvSpPr/>
            <p:nvPr/>
          </p:nvSpPr>
          <p:spPr>
            <a:xfrm>
              <a:off x="6248400" y="3469958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073265" y="35871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911590" y="35871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层数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645140" y="35871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高度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343079" y="3969068"/>
              <a:ext cx="520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A（根）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87131" y="396906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019728" y="396906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248400" y="42281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248400" y="423291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343079" y="435006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287131" y="435006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019728" y="435006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248400" y="46091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343079" y="473106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287131" y="473106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019728" y="473106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248400" y="49911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6248400" y="499586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343079" y="511302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287131" y="511302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019728" y="511302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248400" y="3469958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8187690" y="3469958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9920288" y="3469958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243447" y="5449729"/>
              <a:ext cx="22612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树的高度为 3，等于最深结点 F 的层数</a:t>
              </a:r>
            </a:p>
          </p:txBody>
        </p:sp>
      </p:grpSp>
      <p:grpSp>
        <p:nvGrpSpPr>
          <p:cNvPr id="9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3" name="Rectangle 9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1041273" y="6039326"/>
              <a:ext cx="91972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层数从 0 开始是本课程的约定，有的教材从 1 开始，那样本讲所有带指数的公式都要跟着改，做题前先看清题目用哪种。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树：用层次关系组织数据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术语（三）路径把祖先和子孙联系起来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645920"/>
            <a:chOff x="533400" y="1524000"/>
            <a:chExt cx="5626418" cy="16459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45920"/>
            </a:xfrm>
            <a:prstGeom prst="roundRect">
              <a:avLst>
                <a:gd name="adj" fmla="val 81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7922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519" y="1737836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 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29893" y="174450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边、路径与路径长度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995418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树形中结点间的连线被称为边。若树形 T 中存在结点序列 vₘ、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vₘ₊₁、…、vₘ₊ₖ（1 ≤ k ≤ T 的最大层数），满足 vᵢ₊₁ 是 vᵢ 的子结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点，则称此结点序列为 vₘ 到 vₘ₊ₖ 的路径，该路径所经历的边数 k 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称为路径长度。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334702"/>
            <a:ext cx="5626418" cy="1160145"/>
            <a:chOff x="533400" y="3334702"/>
            <a:chExt cx="5626418" cy="1160145"/>
          </a:xfrm>
        </p:grpSpPr>
        <p:sp>
          <p:nvSpPr>
            <p:cNvPr id="14" name="Rectangle 14"/>
            <p:cNvSpPr/>
            <p:nvPr/>
          </p:nvSpPr>
          <p:spPr>
            <a:xfrm>
              <a:off x="533400" y="3334702"/>
              <a:ext cx="5626418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6805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3515678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1519" y="3548539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 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29893" y="355520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子孙结点与祖先结点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998" y="3872389"/>
              <a:ext cx="48572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一棵树中若存在结点 vₘ 到 vₙ 的路径，则称 vₙ 为 vₘ 的子孙结点，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vₘ 为 vₙ 的祖先结点。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4659630"/>
            <a:ext cx="5626418" cy="931545"/>
            <a:chOff x="533400" y="4659630"/>
            <a:chExt cx="5626418" cy="931545"/>
          </a:xfrm>
        </p:grpSpPr>
        <p:sp>
          <p:nvSpPr>
            <p:cNvPr id="21" name="Rectangle 21"/>
            <p:cNvSpPr/>
            <p:nvPr/>
          </p:nvSpPr>
          <p:spPr>
            <a:xfrm>
              <a:off x="533400" y="4659630"/>
              <a:ext cx="5626418" cy="931545"/>
            </a:xfrm>
            <a:prstGeom prst="roundRect">
              <a:avLst>
                <a:gd name="adj" fmla="val 1227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025392"/>
              <a:ext cx="200023" cy="200023"/>
              <a:chOff x="738188" y="5025392"/>
              <a:chExt cx="200023" cy="20002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02539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71538" y="50920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1273" y="4919186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从根结点到某个结点的路径长度，恰好等于该结点的层数。这条结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论在后面算高度时反复用到。</a:t>
              </a:r>
            </a:p>
          </p:txBody>
        </p:sp>
      </p:grpSp>
      <p:grpSp>
        <p:nvGrpSpPr>
          <p:cNvPr id="53" name="c2-tree-1"/>
          <p:cNvGrpSpPr/>
          <p:nvPr/>
        </p:nvGrpSpPr>
        <p:grpSpPr>
          <a:xfrm>
            <a:off x="7152322" y="1560195"/>
            <a:ext cx="3818573" cy="1644015"/>
            <a:chOff x="7152322" y="1560195"/>
            <a:chExt cx="3818573" cy="1644015"/>
          </a:xfrm>
        </p:grpSpPr>
        <p:sp>
          <p:nvSpPr>
            <p:cNvPr id="27" name="Freeform 27"/>
            <p:cNvSpPr/>
            <p:nvPr/>
          </p:nvSpPr>
          <p:spPr>
            <a:xfrm>
              <a:off x="7330440" y="2596515"/>
              <a:ext cx="9525" cy="429577"/>
            </a:xfrm>
            <a:custGeom>
              <a:avLst/>
              <a:gdLst/>
              <a:ahLst/>
              <a:cxnLst/>
              <a:rect l="l" t="t" r="r" b="b"/>
              <a:pathLst>
                <a:path w="9525" h="429577">
                  <a:moveTo>
                    <a:pt x="0" y="0"/>
                  </a:moveTo>
                  <a:lnTo>
                    <a:pt x="0" y="4295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330440" y="2167890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628698" y="2167890"/>
              <a:ext cx="433388" cy="428625"/>
            </a:xfrm>
            <a:custGeom>
              <a:avLst/>
              <a:gdLst/>
              <a:ahLst/>
              <a:cxnLst/>
              <a:rect l="l" t="t" r="r" b="b"/>
              <a:pathLst>
                <a:path w="433388" h="428625">
                  <a:moveTo>
                    <a:pt x="433388" y="0"/>
                  </a:moveTo>
                  <a:lnTo>
                    <a:pt x="0" y="4286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062085" y="2167890"/>
              <a:ext cx="432435" cy="428625"/>
            </a:xfrm>
            <a:custGeom>
              <a:avLst/>
              <a:gdLst/>
              <a:ahLst/>
              <a:cxnLst/>
              <a:rect l="l" t="t" r="r" b="b"/>
              <a:pathLst>
                <a:path w="432435" h="428625">
                  <a:moveTo>
                    <a:pt x="0" y="0"/>
                  </a:moveTo>
                  <a:lnTo>
                    <a:pt x="432435" y="4286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0792778" y="2167890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330440" y="1738312"/>
              <a:ext cx="1731645" cy="429577"/>
            </a:xfrm>
            <a:custGeom>
              <a:avLst/>
              <a:gdLst/>
              <a:ahLst/>
              <a:cxnLst/>
              <a:rect l="l" t="t" r="r" b="b"/>
              <a:pathLst>
                <a:path w="1731645" h="429577">
                  <a:moveTo>
                    <a:pt x="1731645" y="0"/>
                  </a:moveTo>
                  <a:lnTo>
                    <a:pt x="0" y="4295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62085" y="1738312"/>
              <a:ext cx="9525" cy="429577"/>
            </a:xfrm>
            <a:custGeom>
              <a:avLst/>
              <a:gdLst/>
              <a:ahLst/>
              <a:cxnLst/>
              <a:rect l="l" t="t" r="r" b="b"/>
              <a:pathLst>
                <a:path w="9525" h="429577">
                  <a:moveTo>
                    <a:pt x="0" y="0"/>
                  </a:moveTo>
                  <a:lnTo>
                    <a:pt x="0" y="4295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062085" y="1738312"/>
              <a:ext cx="1730692" cy="429577"/>
            </a:xfrm>
            <a:custGeom>
              <a:avLst/>
              <a:gdLst/>
              <a:ahLst/>
              <a:cxnLst/>
              <a:rect l="l" t="t" r="r" b="b"/>
              <a:pathLst>
                <a:path w="1730692" h="429577">
                  <a:moveTo>
                    <a:pt x="0" y="0"/>
                  </a:moveTo>
                  <a:lnTo>
                    <a:pt x="1730692" y="4295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7152322" y="2847975"/>
              <a:ext cx="356235" cy="35623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152322" y="2418398"/>
              <a:ext cx="356235" cy="35623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152322" y="1989772"/>
              <a:ext cx="356235" cy="35623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450580" y="241839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9316402" y="241839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8883968" y="198977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10614660" y="241839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10614660" y="198977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8883968" y="1560195"/>
              <a:ext cx="356235" cy="35623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81981" y="296037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81981" y="253174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81981" y="210216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80238" y="253174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46061" y="253174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013626" y="210216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763921" y="2531745"/>
              <a:ext cx="57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744318" y="210216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13626" y="167354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77" name="c2-steps-2"/>
          <p:cNvGrpSpPr/>
          <p:nvPr/>
        </p:nvGrpSpPr>
        <p:grpSpPr>
          <a:xfrm>
            <a:off x="6464618" y="3405188"/>
            <a:ext cx="5193982" cy="1319212"/>
            <a:chOff x="6464618" y="3405188"/>
            <a:chExt cx="5193982" cy="1319212"/>
          </a:xfrm>
        </p:grpSpPr>
        <p:sp>
          <p:nvSpPr>
            <p:cNvPr id="54" name="Rectangle 54"/>
            <p:cNvSpPr/>
            <p:nvPr/>
          </p:nvSpPr>
          <p:spPr>
            <a:xfrm>
              <a:off x="6464618" y="3405188"/>
              <a:ext cx="1083945" cy="1319212"/>
            </a:xfrm>
            <a:prstGeom prst="roundRect">
              <a:avLst>
                <a:gd name="adj" fmla="val 105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6597968" y="35385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88101" y="3609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91491" y="394096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92634" y="4213860"/>
              <a:ext cx="67741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起点，层数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7624762" y="397859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834312" y="3405188"/>
              <a:ext cx="1083945" cy="1319212"/>
            </a:xfrm>
            <a:prstGeom prst="roundRect">
              <a:avLst>
                <a:gd name="adj" fmla="val 105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7967662" y="35385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057796" y="3609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61186" y="394096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962329" y="4213860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条边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8995410" y="397859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204960" y="3405188"/>
              <a:ext cx="1083945" cy="1319212"/>
            </a:xfrm>
            <a:prstGeom prst="roundRect">
              <a:avLst>
                <a:gd name="adj" fmla="val 105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9338310" y="35385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428443" y="3609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331833" y="394096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332976" y="4213860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条边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10365105" y="397859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10574655" y="3405188"/>
              <a:ext cx="1083945" cy="1319212"/>
            </a:xfrm>
            <a:prstGeom prst="roundRect">
              <a:avLst>
                <a:gd name="adj" fmla="val 105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10708005" y="35385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798138" y="3609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701528" y="394096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702671" y="4213860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条边</a:t>
              </a:r>
            </a:p>
          </p:txBody>
        </p:sp>
      </p:grpSp>
      <p:grpSp>
        <p:nvGrpSpPr>
          <p:cNvPr id="84" name="c2-callout-3"/>
          <p:cNvGrpSpPr/>
          <p:nvPr/>
        </p:nvGrpSpPr>
        <p:grpSpPr>
          <a:xfrm>
            <a:off x="6464618" y="4889182"/>
            <a:ext cx="5193982" cy="702945"/>
            <a:chOff x="6464618" y="4889182"/>
            <a:chExt cx="5193982" cy="702945"/>
          </a:xfrm>
        </p:grpSpPr>
        <p:sp>
          <p:nvSpPr>
            <p:cNvPr id="78" name="Rectangle 78"/>
            <p:cNvSpPr/>
            <p:nvPr/>
          </p:nvSpPr>
          <p:spPr>
            <a:xfrm>
              <a:off x="6464618" y="4889182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6669405" y="5139690"/>
              <a:ext cx="200026" cy="200025"/>
              <a:chOff x="6669405" y="5139690"/>
              <a:chExt cx="200026" cy="200025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6669405" y="51396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6709144" y="51841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6743859" y="52952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6972491" y="5033486"/>
              <a:ext cx="405704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A 到 F 的路径是 A-B-E-F，路径长度为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，F 的层数也是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3。A 是 F 的祖先结点，F 是 A 的子孙结点。</a:t>
              </a:r>
            </a:p>
          </p:txBody>
        </p:sp>
      </p:grpSp>
      <p:grpSp>
        <p:nvGrpSpPr>
          <p:cNvPr id="9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5" name="Rectangle 8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1041273" y="6039326"/>
              <a:ext cx="65803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路径只能顺着边自上而下走。G 和 F 之间没有路径，它们互相既不是祖先也不是子孙。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树：用层次关系组织数据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术语汇总：在同一棵树上把七个术语读一遍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ree-1"/>
          <p:cNvGrpSpPr/>
          <p:nvPr/>
        </p:nvGrpSpPr>
        <p:grpSpPr>
          <a:xfrm>
            <a:off x="1136332" y="1615440"/>
            <a:ext cx="3554730" cy="2070735"/>
            <a:chOff x="1136332" y="1615440"/>
            <a:chExt cx="3554730" cy="2070735"/>
          </a:xfrm>
        </p:grpSpPr>
        <p:sp>
          <p:nvSpPr>
            <p:cNvPr id="7" name="Freeform 7"/>
            <p:cNvSpPr/>
            <p:nvPr/>
          </p:nvSpPr>
          <p:spPr>
            <a:xfrm>
              <a:off x="1326832" y="2932748"/>
              <a:ext cx="9525" cy="562928"/>
            </a:xfrm>
            <a:custGeom>
              <a:avLst/>
              <a:gdLst/>
              <a:ahLst/>
              <a:cxnLst/>
              <a:rect l="l" t="t" r="r" b="b"/>
              <a:pathLst>
                <a:path w="9525" h="562928">
                  <a:moveTo>
                    <a:pt x="0" y="0"/>
                  </a:moveTo>
                  <a:lnTo>
                    <a:pt x="0" y="5629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326832" y="2368868"/>
              <a:ext cx="9525" cy="563880"/>
            </a:xfrm>
            <a:custGeom>
              <a:avLst/>
              <a:gdLst/>
              <a:ahLst/>
              <a:cxnLst/>
              <a:rect l="l" t="t" r="r" b="b"/>
              <a:pathLst>
                <a:path w="9525" h="563880">
                  <a:moveTo>
                    <a:pt x="0" y="0"/>
                  </a:moveTo>
                  <a:lnTo>
                    <a:pt x="0" y="5638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517458" y="2368868"/>
              <a:ext cx="396240" cy="563880"/>
            </a:xfrm>
            <a:custGeom>
              <a:avLst/>
              <a:gdLst/>
              <a:ahLst/>
              <a:cxnLst/>
              <a:rect l="l" t="t" r="r" b="b"/>
              <a:pathLst>
                <a:path w="396240" h="563880">
                  <a:moveTo>
                    <a:pt x="396240" y="0"/>
                  </a:moveTo>
                  <a:lnTo>
                    <a:pt x="0" y="5638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13698" y="2368868"/>
              <a:ext cx="397193" cy="563880"/>
            </a:xfrm>
            <a:custGeom>
              <a:avLst/>
              <a:gdLst/>
              <a:ahLst/>
              <a:cxnLst/>
              <a:rect l="l" t="t" r="r" b="b"/>
              <a:pathLst>
                <a:path w="397193" h="563880">
                  <a:moveTo>
                    <a:pt x="0" y="0"/>
                  </a:moveTo>
                  <a:lnTo>
                    <a:pt x="397193" y="5638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500562" y="2368868"/>
              <a:ext cx="9525" cy="563880"/>
            </a:xfrm>
            <a:custGeom>
              <a:avLst/>
              <a:gdLst/>
              <a:ahLst/>
              <a:cxnLst/>
              <a:rect l="l" t="t" r="r" b="b"/>
              <a:pathLst>
                <a:path w="9525" h="563880">
                  <a:moveTo>
                    <a:pt x="0" y="0"/>
                  </a:moveTo>
                  <a:lnTo>
                    <a:pt x="0" y="5638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326832" y="1805940"/>
              <a:ext cx="1586865" cy="562928"/>
            </a:xfrm>
            <a:custGeom>
              <a:avLst/>
              <a:gdLst/>
              <a:ahLst/>
              <a:cxnLst/>
              <a:rect l="l" t="t" r="r" b="b"/>
              <a:pathLst>
                <a:path w="1586865" h="562928">
                  <a:moveTo>
                    <a:pt x="1586865" y="0"/>
                  </a:moveTo>
                  <a:lnTo>
                    <a:pt x="0" y="5629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913698" y="1805940"/>
              <a:ext cx="9525" cy="562928"/>
            </a:xfrm>
            <a:custGeom>
              <a:avLst/>
              <a:gdLst/>
              <a:ahLst/>
              <a:cxnLst/>
              <a:rect l="l" t="t" r="r" b="b"/>
              <a:pathLst>
                <a:path w="9525" h="562928">
                  <a:moveTo>
                    <a:pt x="0" y="0"/>
                  </a:moveTo>
                  <a:lnTo>
                    <a:pt x="0" y="5629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913698" y="1805940"/>
              <a:ext cx="1586865" cy="562928"/>
            </a:xfrm>
            <a:custGeom>
              <a:avLst/>
              <a:gdLst/>
              <a:ahLst/>
              <a:cxnLst/>
              <a:rect l="l" t="t" r="r" b="b"/>
              <a:pathLst>
                <a:path w="1586865" h="562928">
                  <a:moveTo>
                    <a:pt x="0" y="0"/>
                  </a:moveTo>
                  <a:lnTo>
                    <a:pt x="1586865" y="5629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136332" y="330517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136332" y="274224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136332" y="217836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326958" y="274224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3120390" y="274224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723198" y="217836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4310062" y="274224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310062" y="217836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2723198" y="161544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75117" y="342566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75117" y="286273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75117" y="229885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65742" y="286273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59175" y="286273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61982" y="229885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69756" y="2862739"/>
              <a:ext cx="61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48847" y="229885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61982" y="173593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43" name="c1-card-2"/>
          <p:cNvGrpSpPr/>
          <p:nvPr/>
        </p:nvGrpSpPr>
        <p:grpSpPr>
          <a:xfrm>
            <a:off x="533400" y="3952875"/>
            <a:ext cx="4760595" cy="1628775"/>
            <a:chOff x="533400" y="3952875"/>
            <a:chExt cx="4760595" cy="1628775"/>
          </a:xfrm>
        </p:grpSpPr>
        <p:sp>
          <p:nvSpPr>
            <p:cNvPr id="34" name="Rectangle 34"/>
            <p:cNvSpPr/>
            <p:nvPr/>
          </p:nvSpPr>
          <p:spPr>
            <a:xfrm>
              <a:off x="533400" y="3952875"/>
              <a:ext cx="4760595" cy="1628775"/>
            </a:xfrm>
            <a:prstGeom prst="roundRect">
              <a:avLst>
                <a:gd name="adj" fmla="val 818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25805" y="414528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97242" y="417957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整棵树的三个数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4378" y="455771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0397" y="4501515"/>
              <a:ext cx="2866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树的度 = 3（各结点的度的最大值）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4378" y="486060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90397" y="4804410"/>
              <a:ext cx="3230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树的高度 = 3（各结点的层数的最大值）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4378" y="516255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90397" y="5106352"/>
              <a:ext cx="22490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叶结点 4 个，分支结点 5 个</a:t>
              </a:r>
            </a:p>
          </p:txBody>
        </p:sp>
      </p:grpSp>
      <p:grpSp>
        <p:nvGrpSpPr>
          <p:cNvPr id="123" name="c2-table-1"/>
          <p:cNvGrpSpPr/>
          <p:nvPr/>
        </p:nvGrpSpPr>
        <p:grpSpPr>
          <a:xfrm>
            <a:off x="5598795" y="1524000"/>
            <a:ext cx="6059805" cy="4057650"/>
            <a:chOff x="5598795" y="1524000"/>
            <a:chExt cx="6059805" cy="4057650"/>
          </a:xfrm>
        </p:grpSpPr>
        <p:sp>
          <p:nvSpPr>
            <p:cNvPr id="44" name="Rectangle 44"/>
            <p:cNvSpPr/>
            <p:nvPr/>
          </p:nvSpPr>
          <p:spPr>
            <a:xfrm>
              <a:off x="5598795" y="1524000"/>
              <a:ext cx="605980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6712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00418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父结点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11998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子结点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53385" y="164830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92667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95632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高度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98808" y="205406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47485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无（根）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17130" y="2054066"/>
              <a:ext cx="5758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B、C、D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971598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698355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668000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598795" y="2330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598795" y="233553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698808" y="245983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547485" y="245983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17130" y="245983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971598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698355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668000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598795" y="27365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698808" y="286559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47485" y="286559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17130" y="2865596"/>
              <a:ext cx="3374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G、H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971598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698355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668000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598795" y="31422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5598795" y="314706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698808" y="327136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547485" y="327136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517130" y="3271361"/>
              <a:ext cx="592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971598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698355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668000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598795" y="35480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698808" y="367712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547485" y="367712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517130" y="367712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971598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698355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668000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5598795" y="39538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5598795" y="395859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698808" y="408289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547485" y="408289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517130" y="40828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无（叶）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971598" y="40828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698355" y="40828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668000" y="40828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5598795" y="43595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5698808" y="44886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6547485" y="448865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517130" y="44886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无（叶）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971598" y="44886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698355" y="44886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0668000" y="44886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5598795" y="47653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5598795" y="477012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5698808" y="489442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547485" y="489442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517130" y="48944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无（叶）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971598" y="48944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9698355" y="48944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0668000" y="48944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5598795" y="517112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5698808" y="5300186"/>
              <a:ext cx="61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6547485" y="530018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7517130" y="53001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无（叶）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8971598" y="53001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9698355" y="53001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0668000" y="53001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5598795" y="1524000"/>
              <a:ext cx="6059805" cy="40576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6442710" y="1524000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7412355" y="1524000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8866822" y="1524000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9593580" y="1524000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10563225" y="1524000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3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24" name="Rectangle 12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28" name="Group 128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26" name="Freeform 126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27" name="Freeform 127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29" name="TextBox 129"/>
            <p:cNvSpPr txBox="1"/>
            <p:nvPr/>
          </p:nvSpPr>
          <p:spPr>
            <a:xfrm>
              <a:off x="1040892" y="6023610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最容易记混的是度和层数：度数的是孩子个数，横着数；层数数的是到根的边数，竖着数。</a:t>
              </a:r>
            </a:p>
          </p:txBody>
        </p:sp>
      </p:grpSp>
      <p:grpSp>
        <p:nvGrpSpPr>
          <p:cNvPr id="1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1" name="TextBox 131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821424" cy="3351847"/>
            <a:chOff x="667512" y="1835468"/>
            <a:chExt cx="682142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8214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二叉树：每个结点最多两个孩子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递归定义、五种基本形态，以及它和树的区别在哪里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二叉树的递归定义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左右子树必须分清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五种基本形态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形态的个数怎么算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二叉树：每个结点最多两个孩子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二叉树的定义：空集，或者一个根加左右两棵二叉树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202055"/>
            <a:chOff x="533400" y="1524000"/>
            <a:chExt cx="5410200" cy="12020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19934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二叉树（Binary Tree）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二叉树是结点的有限集合，它或者是空集，或者由一个根结点及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两棵不相交的、称为该根的左子树和右子树的二叉树组成。</a:t>
              </a:r>
            </a:p>
          </p:txBody>
        </p:sp>
      </p:grpSp>
      <p:grpSp>
        <p:nvGrpSpPr>
          <p:cNvPr id="21" name="c1-bullets-2"/>
          <p:cNvGrpSpPr/>
          <p:nvPr/>
        </p:nvGrpSpPr>
        <p:grpSpPr>
          <a:xfrm>
            <a:off x="526542" y="2918460"/>
            <a:ext cx="5208270" cy="1147000"/>
            <a:chOff x="526542" y="2918460"/>
            <a:chExt cx="5208270" cy="1147000"/>
          </a:xfrm>
        </p:grpSpPr>
        <p:sp>
          <p:nvSpPr>
            <p:cNvPr id="14" name="TextBox 14"/>
            <p:cNvSpPr txBox="1"/>
            <p:nvPr/>
          </p:nvSpPr>
          <p:spPr>
            <a:xfrm>
              <a:off x="526542" y="291846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由定义得到的两个特征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322326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89078" y="326164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4197" y="3235642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二叉树每个结点最多有 2 个子结点，即每个结点的度不超过 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53187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89078" y="357025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4197" y="3544252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二叉树的子树有左右之分，即使某结点只有一棵子树，也要指明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它是左子树还是右子树</a:t>
              </a:r>
            </a:p>
          </p:txBody>
        </p:sp>
      </p:grpSp>
      <p:grpSp>
        <p:nvGrpSpPr>
          <p:cNvPr id="28" name="c1-callout-3"/>
          <p:cNvGrpSpPr/>
          <p:nvPr/>
        </p:nvGrpSpPr>
        <p:grpSpPr>
          <a:xfrm>
            <a:off x="533400" y="4182428"/>
            <a:ext cx="5410200" cy="1468755"/>
            <a:chOff x="533400" y="4182428"/>
            <a:chExt cx="5410200" cy="1468755"/>
          </a:xfrm>
        </p:grpSpPr>
        <p:sp>
          <p:nvSpPr>
            <p:cNvPr id="22" name="Rectangle 22"/>
            <p:cNvSpPr/>
            <p:nvPr/>
          </p:nvSpPr>
          <p:spPr>
            <a:xfrm>
              <a:off x="533400" y="4182428"/>
              <a:ext cx="5410200" cy="1468755"/>
            </a:xfrm>
            <a:prstGeom prst="roundRect">
              <a:avLst>
                <a:gd name="adj" fmla="val 778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4816793"/>
              <a:ext cx="200026" cy="200026"/>
              <a:chOff x="738188" y="4816793"/>
              <a:chExt cx="200026" cy="20002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48167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48834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27088" y="49168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892" y="4698682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定义同样是递归的，而且明确允许空集。空二叉树是合法的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二叉树，写递归算法时它就是递归出口。</a:t>
              </a:r>
            </a:p>
          </p:txBody>
        </p:sp>
      </p:grpSp>
      <p:grpSp>
        <p:nvGrpSpPr>
          <p:cNvPr id="73" name="c2-tree-1"/>
          <p:cNvGrpSpPr/>
          <p:nvPr/>
        </p:nvGrpSpPr>
        <p:grpSpPr>
          <a:xfrm>
            <a:off x="6401752" y="1653540"/>
            <a:ext cx="5103496" cy="2255520"/>
            <a:chOff x="6401752" y="1653540"/>
            <a:chExt cx="5103496" cy="2255520"/>
          </a:xfrm>
        </p:grpSpPr>
        <p:sp>
          <p:nvSpPr>
            <p:cNvPr id="29" name="Freeform 29"/>
            <p:cNvSpPr/>
            <p:nvPr/>
          </p:nvSpPr>
          <p:spPr>
            <a:xfrm>
              <a:off x="6586538" y="3095625"/>
              <a:ext cx="338138" cy="628650"/>
            </a:xfrm>
            <a:custGeom>
              <a:avLst/>
              <a:gdLst/>
              <a:ahLst/>
              <a:cxnLst/>
              <a:rect l="l" t="t" r="r" b="b"/>
              <a:pathLst>
                <a:path w="338138" h="628650">
                  <a:moveTo>
                    <a:pt x="338138" y="0"/>
                  </a:moveTo>
                  <a:lnTo>
                    <a:pt x="0" y="6286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924675" y="3095625"/>
              <a:ext cx="338138" cy="628650"/>
            </a:xfrm>
            <a:custGeom>
              <a:avLst/>
              <a:gdLst/>
              <a:ahLst/>
              <a:cxnLst/>
              <a:rect l="l" t="t" r="r" b="b"/>
              <a:pathLst>
                <a:path w="338138" h="628650">
                  <a:moveTo>
                    <a:pt x="0" y="0"/>
                  </a:moveTo>
                  <a:lnTo>
                    <a:pt x="338138" y="6286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939088" y="3095625"/>
              <a:ext cx="338138" cy="628650"/>
            </a:xfrm>
            <a:custGeom>
              <a:avLst/>
              <a:gdLst/>
              <a:ahLst/>
              <a:cxnLst/>
              <a:rect l="l" t="t" r="r" b="b"/>
              <a:pathLst>
                <a:path w="338138" h="628650">
                  <a:moveTo>
                    <a:pt x="338138" y="0"/>
                  </a:moveTo>
                  <a:lnTo>
                    <a:pt x="0" y="6286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277225" y="3095625"/>
              <a:ext cx="338138" cy="628650"/>
            </a:xfrm>
            <a:custGeom>
              <a:avLst/>
              <a:gdLst/>
              <a:ahLst/>
              <a:cxnLst/>
              <a:rect l="l" t="t" r="r" b="b"/>
              <a:pathLst>
                <a:path w="338138" h="628650">
                  <a:moveTo>
                    <a:pt x="0" y="0"/>
                  </a:moveTo>
                  <a:lnTo>
                    <a:pt x="338138" y="6286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924675" y="2466975"/>
              <a:ext cx="676275" cy="628650"/>
            </a:xfrm>
            <a:custGeom>
              <a:avLst/>
              <a:gdLst/>
              <a:ahLst/>
              <a:cxnLst/>
              <a:rect l="l" t="t" r="r" b="b"/>
              <a:pathLst>
                <a:path w="676275" h="628650">
                  <a:moveTo>
                    <a:pt x="676275" y="0"/>
                  </a:moveTo>
                  <a:lnTo>
                    <a:pt x="0" y="6286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600950" y="2466975"/>
              <a:ext cx="676275" cy="628650"/>
            </a:xfrm>
            <a:custGeom>
              <a:avLst/>
              <a:gdLst/>
              <a:ahLst/>
              <a:cxnLst/>
              <a:rect l="l" t="t" r="r" b="b"/>
              <a:pathLst>
                <a:path w="676275" h="628650">
                  <a:moveTo>
                    <a:pt x="0" y="0"/>
                  </a:moveTo>
                  <a:lnTo>
                    <a:pt x="676275" y="6286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291638" y="3095625"/>
              <a:ext cx="338138" cy="628650"/>
            </a:xfrm>
            <a:custGeom>
              <a:avLst/>
              <a:gdLst/>
              <a:ahLst/>
              <a:cxnLst/>
              <a:rect l="l" t="t" r="r" b="b"/>
              <a:pathLst>
                <a:path w="338138" h="628650">
                  <a:moveTo>
                    <a:pt x="338138" y="0"/>
                  </a:moveTo>
                  <a:lnTo>
                    <a:pt x="0" y="6286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629775" y="3095625"/>
              <a:ext cx="338138" cy="628650"/>
            </a:xfrm>
            <a:custGeom>
              <a:avLst/>
              <a:gdLst/>
              <a:ahLst/>
              <a:cxnLst/>
              <a:rect l="l" t="t" r="r" b="b"/>
              <a:pathLst>
                <a:path w="338138" h="628650">
                  <a:moveTo>
                    <a:pt x="0" y="0"/>
                  </a:moveTo>
                  <a:lnTo>
                    <a:pt x="338138" y="6286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644188" y="3095625"/>
              <a:ext cx="338138" cy="628650"/>
            </a:xfrm>
            <a:custGeom>
              <a:avLst/>
              <a:gdLst/>
              <a:ahLst/>
              <a:cxnLst/>
              <a:rect l="l" t="t" r="r" b="b"/>
              <a:pathLst>
                <a:path w="338138" h="628650">
                  <a:moveTo>
                    <a:pt x="338138" y="0"/>
                  </a:moveTo>
                  <a:lnTo>
                    <a:pt x="0" y="6286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982325" y="3095625"/>
              <a:ext cx="338138" cy="628650"/>
            </a:xfrm>
            <a:custGeom>
              <a:avLst/>
              <a:gdLst/>
              <a:ahLst/>
              <a:cxnLst/>
              <a:rect l="l" t="t" r="r" b="b"/>
              <a:pathLst>
                <a:path w="338138" h="628650">
                  <a:moveTo>
                    <a:pt x="0" y="0"/>
                  </a:moveTo>
                  <a:lnTo>
                    <a:pt x="338138" y="6286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629775" y="2466975"/>
              <a:ext cx="676275" cy="628650"/>
            </a:xfrm>
            <a:custGeom>
              <a:avLst/>
              <a:gdLst/>
              <a:ahLst/>
              <a:cxnLst/>
              <a:rect l="l" t="t" r="r" b="b"/>
              <a:pathLst>
                <a:path w="676275" h="628650">
                  <a:moveTo>
                    <a:pt x="676275" y="0"/>
                  </a:moveTo>
                  <a:lnTo>
                    <a:pt x="0" y="6286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0306050" y="2466975"/>
              <a:ext cx="676275" cy="628650"/>
            </a:xfrm>
            <a:custGeom>
              <a:avLst/>
              <a:gdLst/>
              <a:ahLst/>
              <a:cxnLst/>
              <a:rect l="l" t="t" r="r" b="b"/>
              <a:pathLst>
                <a:path w="676275" h="628650">
                  <a:moveTo>
                    <a:pt x="0" y="0"/>
                  </a:moveTo>
                  <a:lnTo>
                    <a:pt x="676275" y="6286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600950" y="1838325"/>
              <a:ext cx="1352550" cy="628650"/>
            </a:xfrm>
            <a:custGeom>
              <a:avLst/>
              <a:gdLst/>
              <a:ahLst/>
              <a:cxnLst/>
              <a:rect l="l" t="t" r="r" b="b"/>
              <a:pathLst>
                <a:path w="1352550" h="628650">
                  <a:moveTo>
                    <a:pt x="1352550" y="0"/>
                  </a:moveTo>
                  <a:lnTo>
                    <a:pt x="0" y="6286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953500" y="1838325"/>
              <a:ext cx="1352550" cy="628650"/>
            </a:xfrm>
            <a:custGeom>
              <a:avLst/>
              <a:gdLst/>
              <a:ahLst/>
              <a:cxnLst/>
              <a:rect l="l" t="t" r="r" b="b"/>
              <a:pathLst>
                <a:path w="1352550" h="628650">
                  <a:moveTo>
                    <a:pt x="0" y="0"/>
                  </a:moveTo>
                  <a:lnTo>
                    <a:pt x="1352550" y="6286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401752" y="353949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7078028" y="353949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6739890" y="291084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7754302" y="353949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8430578" y="353949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8092440" y="291084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7416165" y="228219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9106852" y="353949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9783128" y="353949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9444990" y="291084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10459402" y="353949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11135678" y="353949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10797540" y="291084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10121265" y="228219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8768715" y="165354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40388" y="3658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216663" y="3658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78526" y="30299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52123" y="36585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28398" y="36585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231076" y="30299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54801" y="24012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204673" y="36585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880948" y="36585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583626" y="30299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557223" y="36585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233498" y="36585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936176" y="30299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259901" y="24012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907351" y="17726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79" name="c2-card-2"/>
          <p:cNvGrpSpPr/>
          <p:nvPr/>
        </p:nvGrpSpPr>
        <p:grpSpPr>
          <a:xfrm>
            <a:off x="6248400" y="4208145"/>
            <a:ext cx="5410200" cy="1443038"/>
            <a:chOff x="6248400" y="4208145"/>
            <a:chExt cx="5410200" cy="1443038"/>
          </a:xfrm>
        </p:grpSpPr>
        <p:sp>
          <p:nvSpPr>
            <p:cNvPr id="74" name="Rectangle 74"/>
            <p:cNvSpPr/>
            <p:nvPr/>
          </p:nvSpPr>
          <p:spPr>
            <a:xfrm>
              <a:off x="6248400" y="4208145"/>
              <a:ext cx="5410200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257925" y="4341495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473190" y="43948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565862" y="44276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466332" y="4739640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这棵二叉树的根是 1，左子树以 2 为根，右子树以 3 为根；把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和 3 各自的子树再拆下去，拆到空集为止，正好是定义的递归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过程。</a:t>
              </a:r>
            </a:p>
          </p:txBody>
        </p:sp>
      </p:grpSp>
      <p:grpSp>
        <p:nvGrpSpPr>
          <p:cNvPr id="8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80" name="Rectangle 80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040892" y="6028373"/>
              <a:ext cx="7255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判断一张图是不是二叉树，先数孩子个数不超过 2，再确认每个孩子的左右位置是确定的。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二叉树：每个结点最多两个孩子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二叉树只有五种基本形态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047384" cy="264033"/>
            <a:chOff x="526542" y="1545907"/>
            <a:chExt cx="604738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0473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下图中的“左”“右”代表非空的左子树和右子树，它们内部可以是任意形状。</a:t>
              </a:r>
            </a:p>
          </p:txBody>
        </p:sp>
      </p:grpSp>
      <p:grpSp>
        <p:nvGrpSpPr>
          <p:cNvPr id="35" name="c1-graph-1"/>
          <p:cNvGrpSpPr/>
          <p:nvPr/>
        </p:nvGrpSpPr>
        <p:grpSpPr>
          <a:xfrm>
            <a:off x="986019" y="2181225"/>
            <a:ext cx="10182996" cy="1654206"/>
            <a:chOff x="986019" y="2181225"/>
            <a:chExt cx="10182996" cy="1654206"/>
          </a:xfrm>
        </p:grpSpPr>
        <p:sp>
          <p:nvSpPr>
            <p:cNvPr id="9" name="Freeform 9"/>
            <p:cNvSpPr/>
            <p:nvPr/>
          </p:nvSpPr>
          <p:spPr>
            <a:xfrm>
              <a:off x="5077778" y="2461260"/>
              <a:ext cx="473392" cy="601980"/>
            </a:xfrm>
            <a:custGeom>
              <a:avLst/>
              <a:gdLst/>
              <a:ahLst/>
              <a:cxnLst/>
              <a:rect l="l" t="t" r="r" b="b"/>
              <a:pathLst>
                <a:path w="473392" h="601980">
                  <a:moveTo>
                    <a:pt x="473392" y="0"/>
                  </a:moveTo>
                  <a:lnTo>
                    <a:pt x="0" y="6019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7976235" y="2461260"/>
              <a:ext cx="473393" cy="601980"/>
            </a:xfrm>
            <a:custGeom>
              <a:avLst/>
              <a:gdLst/>
              <a:ahLst/>
              <a:cxnLst/>
              <a:rect l="l" t="t" r="r" b="b"/>
              <a:pathLst>
                <a:path w="473393" h="601980">
                  <a:moveTo>
                    <a:pt x="0" y="0"/>
                  </a:moveTo>
                  <a:lnTo>
                    <a:pt x="473393" y="6019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9750742" y="2461260"/>
              <a:ext cx="472440" cy="601980"/>
            </a:xfrm>
            <a:custGeom>
              <a:avLst/>
              <a:gdLst/>
              <a:ahLst/>
              <a:cxnLst/>
              <a:rect l="l" t="t" r="r" b="b"/>
              <a:pathLst>
                <a:path w="472440" h="601980">
                  <a:moveTo>
                    <a:pt x="472440" y="0"/>
                  </a:moveTo>
                  <a:lnTo>
                    <a:pt x="0" y="6019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0423208" y="2461260"/>
              <a:ext cx="473393" cy="601980"/>
            </a:xfrm>
            <a:custGeom>
              <a:avLst/>
              <a:gdLst/>
              <a:ahLst/>
              <a:cxnLst/>
              <a:rect l="l" t="t" r="r" b="b"/>
              <a:pathLst>
                <a:path w="473393" h="601980">
                  <a:moveTo>
                    <a:pt x="0" y="0"/>
                  </a:moveTo>
                  <a:lnTo>
                    <a:pt x="473393" y="6019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3273742" y="218122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5498782" y="218122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805362" y="3063240"/>
              <a:ext cx="356235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7723822" y="218122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365808" y="3063240"/>
              <a:ext cx="356235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0170795" y="218122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9478328" y="3063240"/>
              <a:ext cx="356235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812780" y="3063240"/>
              <a:ext cx="356235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360801" y="2277428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85841" y="2277428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18138" y="312801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10881" y="2277428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78584" y="312801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57854" y="2277428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591104" y="312801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25556" y="312801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50515" y="219551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6019" y="3644741"/>
              <a:ext cx="8740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（a）空二叉树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23163" y="3644741"/>
              <a:ext cx="10059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（b）只有根结点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48203" y="3644741"/>
              <a:ext cx="10059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（c）只有左子树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73243" y="3644741"/>
              <a:ext cx="10059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（d）只有右子树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54252" y="3644741"/>
              <a:ext cx="11378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（e）左右子树都有</a:t>
              </a:r>
            </a:p>
          </p:txBody>
        </p:sp>
      </p:grpSp>
      <p:grpSp>
        <p:nvGrpSpPr>
          <p:cNvPr id="56" name="c1-compare-2"/>
          <p:cNvGrpSpPr/>
          <p:nvPr/>
        </p:nvGrpSpPr>
        <p:grpSpPr>
          <a:xfrm>
            <a:off x="533400" y="4117658"/>
            <a:ext cx="11125200" cy="1453515"/>
            <a:chOff x="533400" y="4117658"/>
            <a:chExt cx="11125200" cy="1453515"/>
          </a:xfrm>
        </p:grpSpPr>
        <p:sp>
          <p:nvSpPr>
            <p:cNvPr id="36" name="Rectangle 36"/>
            <p:cNvSpPr/>
            <p:nvPr/>
          </p:nvSpPr>
          <p:spPr>
            <a:xfrm>
              <a:off x="533400" y="4117658"/>
              <a:ext cx="5353050" cy="1453515"/>
            </a:xfrm>
            <a:prstGeom prst="roundRect">
              <a:avLst>
                <a:gd name="adj" fmla="val 9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4251008"/>
              <a:ext cx="47625" cy="11868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5998" y="431911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二叉树必须分左右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62000" y="467296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17448" y="4621054"/>
              <a:ext cx="2614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（c）和（d）是两棵不同的二叉树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62000" y="495776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17448" y="490585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结点只有一个孩子时，左右位置仍要写明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62000" y="524256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17448" y="519064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空集是合法的二叉树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305550" y="4117658"/>
              <a:ext cx="5353050" cy="1453515"/>
            </a:xfrm>
            <a:prstGeom prst="roundRect">
              <a:avLst>
                <a:gd name="adj" fmla="val 9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315075" y="4251008"/>
              <a:ext cx="47625" cy="11868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18148" y="431911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树不分左右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534150" y="467296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89598" y="4621054"/>
              <a:ext cx="2614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无序树里（c）和（d）是同一棵树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534150" y="495776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89598" y="490585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树的定义要求子树集合非空，没有空树这一说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534150" y="524256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89598" y="5190649"/>
              <a:ext cx="2744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树的孩子个数不限，二叉树限制为 2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5934075" y="468249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017308" y="478821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2" name="c1-callout-3"/>
          <p:cNvGrpSpPr/>
          <p:nvPr/>
        </p:nvGrpSpPr>
        <p:grpSpPr>
          <a:xfrm>
            <a:off x="533400" y="5735955"/>
            <a:ext cx="11125200" cy="626745"/>
            <a:chOff x="533400" y="5735955"/>
            <a:chExt cx="11125200" cy="626745"/>
          </a:xfrm>
        </p:grpSpPr>
        <p:sp>
          <p:nvSpPr>
            <p:cNvPr id="57" name="Rectangle 57"/>
            <p:cNvSpPr/>
            <p:nvPr/>
          </p:nvSpPr>
          <p:spPr>
            <a:xfrm>
              <a:off x="533400" y="5735955"/>
              <a:ext cx="11125200" cy="626745"/>
            </a:xfrm>
            <a:prstGeom prst="roundRect">
              <a:avLst>
                <a:gd name="adj" fmla="val 18237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5949317"/>
              <a:ext cx="200023" cy="200023"/>
              <a:chOff x="738188" y="5949317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59493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1538" y="60159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1273" y="5960269"/>
              <a:ext cx="70778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二叉树不是树的特例。它多了左右之分，又允许为空，两边的定义各自独立，不能互相套用。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91782" cy="909257"/>
            <a:chOff x="520446" y="342900"/>
            <a:chExt cx="77917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二叉树：每个结点最多两个孩子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917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同样是 3 个结点，二叉树有 5 种形态，树只有 2 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154353" y="1542574"/>
            <a:ext cx="1883294" cy="220028"/>
            <a:chOff x="5154353" y="1542574"/>
            <a:chExt cx="1883294" cy="220028"/>
          </a:xfrm>
        </p:grpSpPr>
        <p:sp>
          <p:nvSpPr>
            <p:cNvPr id="7" name="TextBox 7"/>
            <p:cNvSpPr txBox="1"/>
            <p:nvPr/>
          </p:nvSpPr>
          <p:spPr>
            <a:xfrm>
              <a:off x="5154353" y="1542574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 3 个结点的二叉树共 5 种</a:t>
              </a:r>
            </a:p>
          </p:txBody>
        </p:sp>
      </p:grpSp>
      <p:grpSp>
        <p:nvGrpSpPr>
          <p:cNvPr id="39" name="c1-graph-2"/>
          <p:cNvGrpSpPr/>
          <p:nvPr/>
        </p:nvGrpSpPr>
        <p:grpSpPr>
          <a:xfrm>
            <a:off x="863918" y="1911668"/>
            <a:ext cx="10686097" cy="1728501"/>
            <a:chOff x="863918" y="1911668"/>
            <a:chExt cx="10686097" cy="1728501"/>
          </a:xfrm>
        </p:grpSpPr>
        <p:sp>
          <p:nvSpPr>
            <p:cNvPr id="9" name="Freeform 9"/>
            <p:cNvSpPr/>
            <p:nvPr/>
          </p:nvSpPr>
          <p:spPr>
            <a:xfrm>
              <a:off x="1067752" y="2110740"/>
              <a:ext cx="488633" cy="465773"/>
            </a:xfrm>
            <a:custGeom>
              <a:avLst/>
              <a:gdLst/>
              <a:ahLst/>
              <a:cxnLst/>
              <a:rect l="l" t="t" r="r" b="b"/>
              <a:pathLst>
                <a:path w="488633" h="465773">
                  <a:moveTo>
                    <a:pt x="488633" y="0"/>
                  </a:moveTo>
                  <a:lnTo>
                    <a:pt x="0" y="4657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35455" y="2110740"/>
              <a:ext cx="488633" cy="465773"/>
            </a:xfrm>
            <a:custGeom>
              <a:avLst/>
              <a:gdLst/>
              <a:ahLst/>
              <a:cxnLst/>
              <a:rect l="l" t="t" r="r" b="b"/>
              <a:pathLst>
                <a:path w="488633" h="465773">
                  <a:moveTo>
                    <a:pt x="0" y="0"/>
                  </a:moveTo>
                  <a:lnTo>
                    <a:pt x="488633" y="4657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515678" y="2110740"/>
              <a:ext cx="487680" cy="465773"/>
            </a:xfrm>
            <a:custGeom>
              <a:avLst/>
              <a:gdLst/>
              <a:ahLst/>
              <a:cxnLst/>
              <a:rect l="l" t="t" r="r" b="b"/>
              <a:pathLst>
                <a:path w="487680" h="465773">
                  <a:moveTo>
                    <a:pt x="487680" y="0"/>
                  </a:moveTo>
                  <a:lnTo>
                    <a:pt x="0" y="4657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47975" y="2747010"/>
              <a:ext cx="488633" cy="464820"/>
            </a:xfrm>
            <a:custGeom>
              <a:avLst/>
              <a:gdLst/>
              <a:ahLst/>
              <a:cxnLst/>
              <a:rect l="l" t="t" r="r" b="b"/>
              <a:pathLst>
                <a:path w="488633" h="464820">
                  <a:moveTo>
                    <a:pt x="488633" y="0"/>
                  </a:moveTo>
                  <a:lnTo>
                    <a:pt x="0" y="4648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740718" y="2110740"/>
              <a:ext cx="487680" cy="465773"/>
            </a:xfrm>
            <a:custGeom>
              <a:avLst/>
              <a:gdLst/>
              <a:ahLst/>
              <a:cxnLst/>
              <a:rect l="l" t="t" r="r" b="b"/>
              <a:pathLst>
                <a:path w="487680" h="465773">
                  <a:moveTo>
                    <a:pt x="487680" y="0"/>
                  </a:moveTo>
                  <a:lnTo>
                    <a:pt x="0" y="4657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740718" y="2747010"/>
              <a:ext cx="487680" cy="464820"/>
            </a:xfrm>
            <a:custGeom>
              <a:avLst/>
              <a:gdLst/>
              <a:ahLst/>
              <a:cxnLst/>
              <a:rect l="l" t="t" r="r" b="b"/>
              <a:pathLst>
                <a:path w="487680" h="464820">
                  <a:moveTo>
                    <a:pt x="0" y="0"/>
                  </a:moveTo>
                  <a:lnTo>
                    <a:pt x="487680" y="4648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8410575" y="2110740"/>
              <a:ext cx="488632" cy="465773"/>
            </a:xfrm>
            <a:custGeom>
              <a:avLst/>
              <a:gdLst/>
              <a:ahLst/>
              <a:cxnLst/>
              <a:rect l="l" t="t" r="r" b="b"/>
              <a:pathLst>
                <a:path w="488632" h="465773">
                  <a:moveTo>
                    <a:pt x="0" y="0"/>
                  </a:moveTo>
                  <a:lnTo>
                    <a:pt x="488632" y="4657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410575" y="2747010"/>
              <a:ext cx="488632" cy="464820"/>
            </a:xfrm>
            <a:custGeom>
              <a:avLst/>
              <a:gdLst/>
              <a:ahLst/>
              <a:cxnLst/>
              <a:rect l="l" t="t" r="r" b="b"/>
              <a:pathLst>
                <a:path w="488632" h="464820">
                  <a:moveTo>
                    <a:pt x="488632" y="0"/>
                  </a:moveTo>
                  <a:lnTo>
                    <a:pt x="0" y="4648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0413682" y="2110740"/>
              <a:ext cx="487680" cy="465773"/>
            </a:xfrm>
            <a:custGeom>
              <a:avLst/>
              <a:gdLst/>
              <a:ahLst/>
              <a:cxnLst/>
              <a:rect l="l" t="t" r="r" b="b"/>
              <a:pathLst>
                <a:path w="487680" h="465773">
                  <a:moveTo>
                    <a:pt x="0" y="0"/>
                  </a:moveTo>
                  <a:lnTo>
                    <a:pt x="487680" y="4657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1062335" y="2763202"/>
              <a:ext cx="302895" cy="432435"/>
            </a:xfrm>
            <a:custGeom>
              <a:avLst/>
              <a:gdLst/>
              <a:ahLst/>
              <a:cxnLst/>
              <a:rect l="l" t="t" r="r" b="b"/>
              <a:pathLst>
                <a:path w="302895" h="432435">
                  <a:moveTo>
                    <a:pt x="0" y="0"/>
                  </a:moveTo>
                  <a:lnTo>
                    <a:pt x="302895" y="4324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531620" y="1911668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863918" y="2546985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2199322" y="2546985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3979545" y="1911668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311842" y="2546985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2644140" y="3183255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204585" y="1911668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536882" y="2546985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204585" y="3183255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206740" y="1911668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8874442" y="2546985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206740" y="3183255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0208895" y="1911668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10876598" y="2546985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1321415" y="3183255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245184" y="344947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左、右各一个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68116" y="344947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左的左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93156" y="344947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左的右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18196" y="344947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右的左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343236" y="344947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右的右</a:t>
              </a:r>
            </a:p>
          </p:txBody>
        </p:sp>
      </p:grpSp>
      <p:grpSp>
        <p:nvGrpSpPr>
          <p:cNvPr id="41" name="c1-text-3"/>
          <p:cNvGrpSpPr/>
          <p:nvPr/>
        </p:nvGrpSpPr>
        <p:grpSpPr>
          <a:xfrm>
            <a:off x="5305127" y="3795236"/>
            <a:ext cx="1581745" cy="220028"/>
            <a:chOff x="5305127" y="3795236"/>
            <a:chExt cx="1581745" cy="220028"/>
          </a:xfrm>
        </p:grpSpPr>
        <p:sp>
          <p:nvSpPr>
            <p:cNvPr id="40" name="TextBox 40"/>
            <p:cNvSpPr txBox="1"/>
            <p:nvPr/>
          </p:nvSpPr>
          <p:spPr>
            <a:xfrm>
              <a:off x="5305127" y="3795236"/>
              <a:ext cx="1581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 3 个结点的树共 2 种</a:t>
              </a:r>
            </a:p>
          </p:txBody>
        </p:sp>
      </p:grpSp>
      <p:grpSp>
        <p:nvGrpSpPr>
          <p:cNvPr id="54" name="c1-graph-4"/>
          <p:cNvGrpSpPr/>
          <p:nvPr/>
        </p:nvGrpSpPr>
        <p:grpSpPr>
          <a:xfrm>
            <a:off x="3311842" y="4150042"/>
            <a:ext cx="6324563" cy="1564672"/>
            <a:chOff x="3311842" y="4150042"/>
            <a:chExt cx="6324563" cy="1564672"/>
          </a:xfrm>
        </p:grpSpPr>
        <p:sp>
          <p:nvSpPr>
            <p:cNvPr id="42" name="Freeform 42"/>
            <p:cNvSpPr/>
            <p:nvPr/>
          </p:nvSpPr>
          <p:spPr>
            <a:xfrm>
              <a:off x="3527108" y="4335780"/>
              <a:ext cx="687705" cy="478155"/>
            </a:xfrm>
            <a:custGeom>
              <a:avLst/>
              <a:gdLst/>
              <a:ahLst/>
              <a:cxnLst/>
              <a:rect l="l" t="t" r="r" b="b"/>
              <a:pathLst>
                <a:path w="687705" h="478155">
                  <a:moveTo>
                    <a:pt x="687705" y="0"/>
                  </a:moveTo>
                  <a:lnTo>
                    <a:pt x="0" y="4781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4417695" y="4335780"/>
              <a:ext cx="686752" cy="478155"/>
            </a:xfrm>
            <a:custGeom>
              <a:avLst/>
              <a:gdLst/>
              <a:ahLst/>
              <a:cxnLst/>
              <a:rect l="l" t="t" r="r" b="b"/>
              <a:pathLst>
                <a:path w="686752" h="478155">
                  <a:moveTo>
                    <a:pt x="0" y="0"/>
                  </a:moveTo>
                  <a:lnTo>
                    <a:pt x="686752" y="4781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876222" y="4388168"/>
              <a:ext cx="9525" cy="326708"/>
            </a:xfrm>
            <a:custGeom>
              <a:avLst/>
              <a:gdLst/>
              <a:ahLst/>
              <a:cxnLst/>
              <a:rect l="l" t="t" r="r" b="b"/>
              <a:pathLst>
                <a:path w="9525" h="326708">
                  <a:moveTo>
                    <a:pt x="0" y="0"/>
                  </a:moveTo>
                  <a:lnTo>
                    <a:pt x="0" y="3267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876222" y="4962525"/>
              <a:ext cx="9525" cy="325755"/>
            </a:xfrm>
            <a:custGeom>
              <a:avLst/>
              <a:gdLst/>
              <a:ahLst/>
              <a:cxnLst/>
              <a:rect l="l" t="t" r="r" b="b"/>
              <a:pathLst>
                <a:path w="9525" h="325755">
                  <a:moveTo>
                    <a:pt x="0" y="0"/>
                  </a:moveTo>
                  <a:lnTo>
                    <a:pt x="0" y="3257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4201478" y="4150042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3311842" y="4771072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5092065" y="4771072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7761922" y="4150042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7761922" y="4724400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7761922" y="5297805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915042" y="55240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根带两个孩子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30716" y="47334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一条链</a:t>
              </a:r>
            </a:p>
          </p:txBody>
        </p:sp>
      </p:grpSp>
      <p:grpSp>
        <p:nvGrpSpPr>
          <p:cNvPr id="60" name="c1-callout-5"/>
          <p:cNvGrpSpPr/>
          <p:nvPr/>
        </p:nvGrpSpPr>
        <p:grpSpPr>
          <a:xfrm>
            <a:off x="533400" y="5861685"/>
            <a:ext cx="11125200" cy="501015"/>
            <a:chOff x="533400" y="5861685"/>
            <a:chExt cx="11125200" cy="501015"/>
          </a:xfrm>
        </p:grpSpPr>
        <p:sp>
          <p:nvSpPr>
            <p:cNvPr id="55" name="Rectangle 55"/>
            <p:cNvSpPr/>
            <p:nvPr/>
          </p:nvSpPr>
          <p:spPr>
            <a:xfrm>
              <a:off x="533400" y="5861685"/>
              <a:ext cx="11125200" cy="501015"/>
            </a:xfrm>
            <a:prstGeom prst="roundRect">
              <a:avLst>
                <a:gd name="adj" fmla="val 2281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12182"/>
              <a:ext cx="200023" cy="200023"/>
              <a:chOff x="738188" y="6012182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121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60788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6017895"/>
              <a:ext cx="86098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差别就在左右之分：树里“只有一个孩子”是一种形态，二叉树里要拆成“只有左孩子”和“只有右孩子”两种。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11344" cy="909257"/>
            <a:chOff x="520446" y="342900"/>
            <a:chExt cx="65113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5282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2653" y="407194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二叉树：每个结点最多两个孩子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113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补充：n 个结点的二叉树到底有多少种形态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464933" cy="264033"/>
            <a:chOff x="526542" y="1545907"/>
            <a:chExt cx="746493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源课件在这里提了问题没有作答，这一页补上答案和推导，考试一般只要求记住几个小数值。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38338"/>
            <a:ext cx="5524119" cy="1892141"/>
            <a:chOff x="533400" y="1938338"/>
            <a:chExt cx="5524119" cy="1892141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1372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2796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017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108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847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196977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按左子树的大小分类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2237899"/>
              <a:ext cx="511073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 n 个结点的二叉树形态数为 Cₙ。根占 1 个结点，若左子树有 k 个结点，则右子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树有 n − 1 − k 个结点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76034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两边独立组合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3027521"/>
              <a:ext cx="45221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左子树有 Cₖ 种形态，右子树有 Cₙ₋₁₋ₖ 种，相乘就是这一类的个数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3343275"/>
              <a:ext cx="778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k 求和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610451"/>
              <a:ext cx="3109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从 0 取到 n − 1，把各类相加，就得到递推式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formula13"/>
              <p:cNvSpPr txBox="1">
                <a:spLocks noGrp="1"/>
              </p:cNvSpPr>
              <p:nvPr/>
            </p:nvSpPr>
            <p:spPr>
              <a:xfrm>
                <a:off x="533400" y="3994785"/>
                <a:ext cx="5842635" cy="7229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0" name="c1-callout-3"/>
          <p:cNvGrpSpPr/>
          <p:nvPr/>
        </p:nvGrpSpPr>
        <p:grpSpPr>
          <a:xfrm>
            <a:off x="533400" y="4887278"/>
            <a:ext cx="5842635" cy="797242"/>
            <a:chOff x="533400" y="4887278"/>
            <a:chExt cx="5842635" cy="797242"/>
          </a:xfrm>
        </p:grpSpPr>
        <p:sp>
          <p:nvSpPr>
            <p:cNvPr id="24" name="Rectangle 24"/>
            <p:cNvSpPr/>
            <p:nvPr/>
          </p:nvSpPr>
          <p:spPr>
            <a:xfrm>
              <a:off x="533400" y="4887278"/>
              <a:ext cx="5842635" cy="797242"/>
            </a:xfrm>
            <a:prstGeom prst="roundRect">
              <a:avLst>
                <a:gd name="adj" fmla="val 1433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185410"/>
              <a:ext cx="200026" cy="200026"/>
              <a:chOff x="738188" y="5185410"/>
              <a:chExt cx="200026" cy="20002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51854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38200" y="52520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27088" y="52854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892" y="5067300"/>
              <a:ext cx="484860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这个数列叫卡特兰数，闭式是 Cₙ = C(2n, n) / (n + 1)。本讲只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要知道 3 个结点对应 5 种，够验算上一页的图就行。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6680835" y="1928812"/>
            <a:ext cx="4977765" cy="2400300"/>
            <a:chOff x="6680835" y="1928812"/>
            <a:chExt cx="4977765" cy="2400300"/>
          </a:xfrm>
        </p:grpSpPr>
        <p:sp>
          <p:nvSpPr>
            <p:cNvPr id="31" name="Rectangle 31"/>
            <p:cNvSpPr/>
            <p:nvPr/>
          </p:nvSpPr>
          <p:spPr>
            <a:xfrm>
              <a:off x="6680835" y="1928812"/>
              <a:ext cx="497776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35103" y="2050256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结点数 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33574" y="20502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二叉树形态数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43464" y="20502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树的形态数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77990" y="2450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84845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91738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680835" y="272415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80835" y="2728912"/>
              <a:ext cx="497776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77990" y="2850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84845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091738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680835" y="31242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77990" y="3250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197215" y="3138488"/>
              <a:ext cx="1787842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284845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004108" y="3138488"/>
              <a:ext cx="164496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091738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680835" y="352425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80835" y="3529012"/>
              <a:ext cx="497776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77990" y="36504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84845" y="36504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091738" y="3650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680835" y="39243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77990" y="4050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84845" y="40505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091738" y="40505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680835" y="1928812"/>
              <a:ext cx="4977765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182928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989820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rd-2"/>
          <p:cNvGrpSpPr/>
          <p:nvPr/>
        </p:nvGrpSpPr>
        <p:grpSpPr>
          <a:xfrm>
            <a:off x="6680835" y="4498658"/>
            <a:ext cx="4977765" cy="1185862"/>
            <a:chOff x="6680835" y="4498658"/>
            <a:chExt cx="4977765" cy="1185862"/>
          </a:xfrm>
        </p:grpSpPr>
        <p:sp>
          <p:nvSpPr>
            <p:cNvPr id="62" name="Rectangle 62"/>
            <p:cNvSpPr/>
            <p:nvPr/>
          </p:nvSpPr>
          <p:spPr>
            <a:xfrm>
              <a:off x="6680835" y="4498658"/>
              <a:ext cx="4977765" cy="1185862"/>
            </a:xfrm>
            <a:prstGeom prst="roundRect">
              <a:avLst>
                <a:gd name="adj" fmla="val 1124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867525" y="4685348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941845" y="471820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两列之间的关系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60667" y="5030152"/>
              <a:ext cx="42485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个结点的树的形态数，等于 n − 1 个结点的二叉树形态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数，第三列正好是第二列上移一行。原因见第 11 讲。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7" name="Rectangle 6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892" y="6028373"/>
              <a:ext cx="93731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表中的数字用穷举程序核对过：把 n ≤ 8 的二叉树全部生成一遍，个数依次是 1、2、5、14、42、132、429、1430。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13170" cy="3675697"/>
            <a:chOff x="667512" y="1835468"/>
            <a:chExt cx="6313170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二叉树的性质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032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每层能放多少结点，高度和结点数如何互相限制，叶结点个数由谁决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19537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层至多 2ⁱ 个结点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25696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 k 至多 2ᵏ⁺¹ − 1 个结点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结点数与高度互相限制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10349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n₀ = n₂ + 1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45534" cy="909257"/>
            <a:chOff x="520446" y="342900"/>
            <a:chExt cx="50455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二叉树的性质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455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性质 1：第 i 层至多有 2ⁱ 个结点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842635" cy="1002982"/>
            <a:chOff x="533400" y="1524000"/>
            <a:chExt cx="5842635" cy="10029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002982"/>
            </a:xfrm>
            <a:prstGeom prst="roundRect">
              <a:avLst>
                <a:gd name="adj" fmla="val 132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73628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078" y="176355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引理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37612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二叉树中第 i 层至多有 2ⁱ 个结点（i ≥ 0）。</a:t>
              </a:r>
            </a:p>
          </p:txBody>
        </p:sp>
      </p:grpSp>
      <p:grpSp>
        <p:nvGrpSpPr>
          <p:cNvPr id="30" name="c1-steps-2"/>
          <p:cNvGrpSpPr/>
          <p:nvPr/>
        </p:nvGrpSpPr>
        <p:grpSpPr>
          <a:xfrm>
            <a:off x="533400" y="2722245"/>
            <a:ext cx="5401056" cy="2632139"/>
            <a:chOff x="533400" y="2722245"/>
            <a:chExt cx="5401056" cy="2632139"/>
          </a:xfrm>
        </p:grpSpPr>
        <p:sp>
          <p:nvSpPr>
            <p:cNvPr id="13" name="Rectangle 13"/>
            <p:cNvSpPr/>
            <p:nvPr/>
          </p:nvSpPr>
          <p:spPr>
            <a:xfrm>
              <a:off x="666750" y="2865120"/>
              <a:ext cx="19050" cy="20831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27222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27960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34327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4170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9643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0381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8053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48791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275510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归纳基础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035618"/>
              <a:ext cx="33076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0 时只有根结点一个，而 2⁰ = 1，引理成立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337613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归纳假设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3656648"/>
              <a:ext cx="41154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假定 i = k（k ≥ 0）时成立，即第 k 层上至多有 2ᵏ 个结点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399716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归纳步骤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4277678"/>
              <a:ext cx="49880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二叉树中任意结点的子结点个数最大为 2，故第 k + 1 层上至多有 2ᵏ × 2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2ᵏ⁺¹ 个结点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261" y="483917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404" y="5119688"/>
              <a:ext cx="30653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于是对一切 i ≥ 0，第 i 层至多有 2ⁱ 个结点</a:t>
              </a:r>
            </a:p>
          </p:txBody>
        </p:sp>
      </p:grpSp>
      <p:grpSp>
        <p:nvGrpSpPr>
          <p:cNvPr id="37" name="c1-callout-3"/>
          <p:cNvGrpSpPr/>
          <p:nvPr/>
        </p:nvGrpSpPr>
        <p:grpSpPr>
          <a:xfrm>
            <a:off x="533400" y="5530215"/>
            <a:ext cx="5842635" cy="756285"/>
            <a:chOff x="533400" y="5530215"/>
            <a:chExt cx="5842635" cy="756285"/>
          </a:xfrm>
        </p:grpSpPr>
        <p:sp>
          <p:nvSpPr>
            <p:cNvPr id="31" name="Rectangle 31"/>
            <p:cNvSpPr/>
            <p:nvPr/>
          </p:nvSpPr>
          <p:spPr>
            <a:xfrm>
              <a:off x="533400" y="5530215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808345"/>
              <a:ext cx="200026" cy="200026"/>
              <a:chOff x="738188" y="5808345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8083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58750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7088" y="59083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511" y="5677376"/>
              <a:ext cx="48836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取到这个上界的前提是上一层每个结点都有两个孩子。普通二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叉树往往差得很远，所以写的是至多。</a:t>
              </a:r>
            </a:p>
          </p:txBody>
        </p:sp>
      </p:grpSp>
      <p:grpSp>
        <p:nvGrpSpPr>
          <p:cNvPr id="71" name="c2-table-1"/>
          <p:cNvGrpSpPr/>
          <p:nvPr/>
        </p:nvGrpSpPr>
        <p:grpSpPr>
          <a:xfrm>
            <a:off x="6680835" y="1524000"/>
            <a:ext cx="4977765" cy="3011805"/>
            <a:chOff x="6680835" y="1524000"/>
            <a:chExt cx="4977765" cy="3011805"/>
          </a:xfrm>
        </p:grpSpPr>
        <p:sp>
          <p:nvSpPr>
            <p:cNvPr id="38" name="Rectangle 38"/>
            <p:cNvSpPr/>
            <p:nvPr/>
          </p:nvSpPr>
          <p:spPr>
            <a:xfrm>
              <a:off x="6680835" y="1524000"/>
              <a:ext cx="497776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01246" y="1655445"/>
              <a:ext cx="2755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 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93405" y="165544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该层至多结点数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128565" y="1655445"/>
              <a:ext cx="11341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 i 层累计至多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86182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02512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37991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680835" y="23793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80835" y="2384108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86182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0251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37991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80835" y="28098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86182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0251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837991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680835" y="323945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680835" y="3244215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86182" y="3375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02512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837991" y="33756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680835" y="366998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86182" y="3806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902512" y="380619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837991" y="380619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680835" y="410051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680835" y="4105275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86182" y="42357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02512" y="423576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837991" y="423576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680835" y="1524000"/>
              <a:ext cx="4977765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792402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9727882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7" name="c2-card-2"/>
          <p:cNvGrpSpPr/>
          <p:nvPr/>
        </p:nvGrpSpPr>
        <p:grpSpPr>
          <a:xfrm>
            <a:off x="6680835" y="4720590"/>
            <a:ext cx="4977765" cy="1565910"/>
            <a:chOff x="6680835" y="4720590"/>
            <a:chExt cx="4977765" cy="1565910"/>
          </a:xfrm>
        </p:grpSpPr>
        <p:sp>
          <p:nvSpPr>
            <p:cNvPr id="72" name="Rectangle 72"/>
            <p:cNvSpPr/>
            <p:nvPr/>
          </p:nvSpPr>
          <p:spPr>
            <a:xfrm>
              <a:off x="6680835" y="4720590"/>
              <a:ext cx="4977765" cy="1565910"/>
            </a:xfrm>
            <a:prstGeom prst="roundRect">
              <a:avLst>
                <a:gd name="adj" fmla="val 851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884670" y="492442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963029" y="49601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两列的关系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877431" y="5297329"/>
              <a:ext cx="436968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右边一列是左边一列的前缀和，每一项都是 2 的整数次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幂减 1。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78574" y="5885498"/>
              <a:ext cx="39134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它正好就是下一页性质 2 的结论，两条引理是连着的。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61297" cy="909257"/>
            <a:chOff x="520446" y="342900"/>
            <a:chExt cx="78612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二叉树的性质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612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性质 2：高度为 k 的二叉树至多有 2ᵏ⁺¹ − 1 个结点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928688"/>
            <a:chOff x="533400" y="1524000"/>
            <a:chExt cx="5626418" cy="9286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928688"/>
            </a:xfrm>
            <a:prstGeom prst="roundRect">
              <a:avLst>
                <a:gd name="adj" fmla="val 143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66198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234" y="1743551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引理 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5389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高度为 k 的二叉树中至多有 2ᵏ⁺¹ − 1 个结点（k ≥ 0）。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622232"/>
            <a:ext cx="5626418" cy="1707832"/>
            <a:chOff x="533400" y="2622232"/>
            <a:chExt cx="5626418" cy="1707832"/>
          </a:xfrm>
        </p:grpSpPr>
        <p:sp>
          <p:nvSpPr>
            <p:cNvPr id="13" name="Rectangle 13"/>
            <p:cNvSpPr/>
            <p:nvPr/>
          </p:nvSpPr>
          <p:spPr>
            <a:xfrm>
              <a:off x="533400" y="2622232"/>
              <a:ext cx="5626418" cy="1707832"/>
            </a:xfrm>
            <a:prstGeom prst="roundRect">
              <a:avLst>
                <a:gd name="adj" fmla="val 780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280892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2762" y="284178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证明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3153727"/>
              <a:ext cx="50200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高度为 k 的二叉树只有第 0 层到第 k 层。由引理 1，第 i 层至多有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2ⁱ 个结点，把各层的上界相加即可。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19"/>
                <p:cNvSpPr txBox="1">
                  <a:spLocks noGrp="1"/>
                </p:cNvSpPr>
                <p:nvPr/>
              </p:nvSpPr>
              <p:spPr>
                <a:xfrm>
                  <a:off x="720090" y="3688080"/>
                  <a:ext cx="5253038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+⋯+</m:t>
                        </m:r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5" name="c1-callout-3"/>
          <p:cNvGrpSpPr/>
          <p:nvPr/>
        </p:nvGrpSpPr>
        <p:grpSpPr>
          <a:xfrm>
            <a:off x="533400" y="4499610"/>
            <a:ext cx="5626418" cy="1202055"/>
            <a:chOff x="533400" y="4499610"/>
            <a:chExt cx="5626418" cy="1202055"/>
          </a:xfrm>
        </p:grpSpPr>
        <p:sp>
          <p:nvSpPr>
            <p:cNvPr id="19" name="Rectangle 19"/>
            <p:cNvSpPr/>
            <p:nvPr/>
          </p:nvSpPr>
          <p:spPr>
            <a:xfrm>
              <a:off x="533400" y="4499610"/>
              <a:ext cx="5626418" cy="1202055"/>
            </a:xfrm>
            <a:prstGeom prst="roundRect">
              <a:avLst>
                <a:gd name="adj" fmla="val 950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000625"/>
              <a:ext cx="200026" cy="200025"/>
              <a:chOff x="738188" y="5000625"/>
              <a:chExt cx="200026" cy="2000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0006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77926" y="50450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2642" y="51562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892" y="4882515"/>
              <a:ext cx="458285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等比数列求和不必背：2ᵏ⁺¹ 是一个比第 k 层还大一倍的数，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减去 1 就是前面所有层的总和。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464618" y="1524000"/>
            <a:ext cx="5193982" cy="1185862"/>
            <a:chOff x="6464618" y="1524000"/>
            <a:chExt cx="5193982" cy="1185862"/>
          </a:xfrm>
        </p:grpSpPr>
        <p:sp>
          <p:nvSpPr>
            <p:cNvPr id="26" name="Rectangle 26"/>
            <p:cNvSpPr/>
            <p:nvPr/>
          </p:nvSpPr>
          <p:spPr>
            <a:xfrm>
              <a:off x="6464618" y="1524000"/>
              <a:ext cx="5193982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4142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89408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70878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另一侧的界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82549" y="2054542"/>
              <a:ext cx="44971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高度为 k 的二叉树至少有 k + 1 个结点；含有 k 个结点的二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叉树高度至多为 k − 1（k ≥ 1）。</a:t>
              </a:r>
            </a:p>
          </p:txBody>
        </p:sp>
      </p:grpSp>
      <p:grpSp>
        <p:nvGrpSpPr>
          <p:cNvPr id="43" name="c2-tree-2"/>
          <p:cNvGrpSpPr/>
          <p:nvPr/>
        </p:nvGrpSpPr>
        <p:grpSpPr>
          <a:xfrm>
            <a:off x="7578090" y="2878455"/>
            <a:ext cx="1668780" cy="1469708"/>
            <a:chOff x="7578090" y="2878455"/>
            <a:chExt cx="1668780" cy="1469708"/>
          </a:xfrm>
        </p:grpSpPr>
        <p:sp>
          <p:nvSpPr>
            <p:cNvPr id="32" name="Freeform 32"/>
            <p:cNvSpPr/>
            <p:nvPr/>
          </p:nvSpPr>
          <p:spPr>
            <a:xfrm>
              <a:off x="8087678" y="3796665"/>
              <a:ext cx="324803" cy="366712"/>
            </a:xfrm>
            <a:custGeom>
              <a:avLst/>
              <a:gdLst/>
              <a:ahLst/>
              <a:cxnLst/>
              <a:rect l="l" t="t" r="r" b="b"/>
              <a:pathLst>
                <a:path w="324803" h="366712">
                  <a:moveTo>
                    <a:pt x="324803" y="0"/>
                  </a:moveTo>
                  <a:lnTo>
                    <a:pt x="0" y="3667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762875" y="3429952"/>
              <a:ext cx="649605" cy="366712"/>
            </a:xfrm>
            <a:custGeom>
              <a:avLst/>
              <a:gdLst/>
              <a:ahLst/>
              <a:cxnLst/>
              <a:rect l="l" t="t" r="r" b="b"/>
              <a:pathLst>
                <a:path w="649605" h="366712">
                  <a:moveTo>
                    <a:pt x="0" y="0"/>
                  </a:moveTo>
                  <a:lnTo>
                    <a:pt x="649605" y="3667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762875" y="3063240"/>
              <a:ext cx="1299210" cy="366712"/>
            </a:xfrm>
            <a:custGeom>
              <a:avLst/>
              <a:gdLst/>
              <a:ahLst/>
              <a:cxnLst/>
              <a:rect l="l" t="t" r="r" b="b"/>
              <a:pathLst>
                <a:path w="1299210" h="366712">
                  <a:moveTo>
                    <a:pt x="1299210" y="0"/>
                  </a:moveTo>
                  <a:lnTo>
                    <a:pt x="0" y="3667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7902892" y="3978593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8227695" y="361188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578090" y="3245168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877300" y="2878455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039218" y="409765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64021" y="373094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14416" y="336423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13626" y="299751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49" name="c2-card-3"/>
          <p:cNvGrpSpPr/>
          <p:nvPr/>
        </p:nvGrpSpPr>
        <p:grpSpPr>
          <a:xfrm>
            <a:off x="6464618" y="4516755"/>
            <a:ext cx="5193982" cy="1185862"/>
            <a:chOff x="6464618" y="4516755"/>
            <a:chExt cx="5193982" cy="1185862"/>
          </a:xfrm>
        </p:grpSpPr>
        <p:sp>
          <p:nvSpPr>
            <p:cNvPr id="44" name="Rectangle 44"/>
            <p:cNvSpPr/>
            <p:nvPr/>
          </p:nvSpPr>
          <p:spPr>
            <a:xfrm>
              <a:off x="6464618" y="4516755"/>
              <a:ext cx="5193982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74142" y="4650105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89408" y="470344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82079" y="473630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82549" y="5047298"/>
              <a:ext cx="45228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上图 4 个结点、高度为 3。每层至少 1 个结点，故高度 k 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少要 k + 1 个结点；排成单支链时高度最大，为 n − 1。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0" name="Rectangle 50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892" y="6028373"/>
              <a:ext cx="87916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两条界合起来：n 个结点的二叉树，高度最小为 ⌊log₂n⌋（排成完全二叉树），最大为 n − 1（排成单支链）。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53806" cy="909257"/>
            <a:chOff x="520446" y="342900"/>
            <a:chExt cx="66538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二叉树的性质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538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性质 3：叶结点恰好比度为 2 的结点多 1 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842635" cy="1143952"/>
            <a:chOff x="533400" y="1524000"/>
            <a:chExt cx="5842635" cy="11439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519" y="1737836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引理 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51661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n 个结点构成的二叉树中，若叶结点个数为 n₀，度为 2 的结点个数为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n₂，则有 n₀ = n₂ + 1。</a:t>
              </a:r>
            </a:p>
          </p:txBody>
        </p:sp>
      </p:grpSp>
      <p:grpSp>
        <p:nvGrpSpPr>
          <p:cNvPr id="30" name="c1-steps-2"/>
          <p:cNvGrpSpPr/>
          <p:nvPr/>
        </p:nvGrpSpPr>
        <p:grpSpPr>
          <a:xfrm>
            <a:off x="533400" y="2842260"/>
            <a:ext cx="5866448" cy="2149411"/>
            <a:chOff x="533400" y="2842260"/>
            <a:chExt cx="5866448" cy="2149411"/>
          </a:xfrm>
        </p:grpSpPr>
        <p:sp>
          <p:nvSpPr>
            <p:cNvPr id="13" name="Rectangle 13"/>
            <p:cNvSpPr/>
            <p:nvPr/>
          </p:nvSpPr>
          <p:spPr>
            <a:xfrm>
              <a:off x="666750" y="2985135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284226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29160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3956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94811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0219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50151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45753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287321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按度给结点分类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3128010"/>
              <a:ext cx="29012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设度为 1 的结点有 n₁ 个，则 n = n₀ + n₁ + n₂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42566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从下往上数边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3680460"/>
              <a:ext cx="4145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除根以外，每个结点恰好有一条连向父结点的边，故边数 e = n − 1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397906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从上往下数边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166" y="4233862"/>
              <a:ext cx="54526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度为 2 的结点各发出 2 条边，度为 1 的各发出 1 条，叶结点不发出边，故 e = 2n₂ + n₁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5324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联立两式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7166" y="4786312"/>
              <a:ext cx="4562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2n₂ + n₁ = n − 1 = n₀ + n₁ + n₂ − 1，两边消去 n₁ 与 n₂，得 n₀ = n₂ + 1</a:t>
              </a:r>
            </a:p>
          </p:txBody>
        </p:sp>
      </p:grpSp>
      <p:grpSp>
        <p:nvGrpSpPr>
          <p:cNvPr id="36" name="c1-callout-3"/>
          <p:cNvGrpSpPr/>
          <p:nvPr/>
        </p:nvGrpSpPr>
        <p:grpSpPr>
          <a:xfrm>
            <a:off x="533400" y="5153978"/>
            <a:ext cx="5842635" cy="1171575"/>
            <a:chOff x="533400" y="5153978"/>
            <a:chExt cx="5842635" cy="1171575"/>
          </a:xfrm>
        </p:grpSpPr>
        <p:sp>
          <p:nvSpPr>
            <p:cNvPr id="31" name="Rectangle 31"/>
            <p:cNvSpPr/>
            <p:nvPr/>
          </p:nvSpPr>
          <p:spPr>
            <a:xfrm>
              <a:off x="533400" y="5153978"/>
              <a:ext cx="5842635" cy="1171575"/>
            </a:xfrm>
            <a:prstGeom prst="roundRect">
              <a:avLst>
                <a:gd name="adj" fmla="val 975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638802"/>
              <a:ext cx="200023" cy="200023"/>
              <a:chOff x="738188" y="5638802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63880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57054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1273" y="5532596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关键一步是把边数数两遍。同一个量用两种方式表示再令其相等，是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这类计数结论最常用的办法。</a:t>
              </a:r>
            </a:p>
          </p:txBody>
        </p:sp>
      </p:grpSp>
      <p:grpSp>
        <p:nvGrpSpPr>
          <p:cNvPr id="78" name="c2-tree-1"/>
          <p:cNvGrpSpPr/>
          <p:nvPr/>
        </p:nvGrpSpPr>
        <p:grpSpPr>
          <a:xfrm>
            <a:off x="6814185" y="1639253"/>
            <a:ext cx="4711065" cy="2117407"/>
            <a:chOff x="6814185" y="1639253"/>
            <a:chExt cx="4711065" cy="2117407"/>
          </a:xfrm>
        </p:grpSpPr>
        <p:sp>
          <p:nvSpPr>
            <p:cNvPr id="37" name="Freeform 37"/>
            <p:cNvSpPr/>
            <p:nvPr/>
          </p:nvSpPr>
          <p:spPr>
            <a:xfrm>
              <a:off x="6992302" y="2991802"/>
              <a:ext cx="311467" cy="586740"/>
            </a:xfrm>
            <a:custGeom>
              <a:avLst/>
              <a:gdLst/>
              <a:ahLst/>
              <a:cxnLst/>
              <a:rect l="l" t="t" r="r" b="b"/>
              <a:pathLst>
                <a:path w="311467" h="586740">
                  <a:moveTo>
                    <a:pt x="311467" y="0"/>
                  </a:moveTo>
                  <a:lnTo>
                    <a:pt x="0" y="5867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303770" y="2991802"/>
              <a:ext cx="310515" cy="586740"/>
            </a:xfrm>
            <a:custGeom>
              <a:avLst/>
              <a:gdLst/>
              <a:ahLst/>
              <a:cxnLst/>
              <a:rect l="l" t="t" r="r" b="b"/>
              <a:pathLst>
                <a:path w="310515" h="586740">
                  <a:moveTo>
                    <a:pt x="0" y="0"/>
                  </a:moveTo>
                  <a:lnTo>
                    <a:pt x="310515" y="5867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236268" y="2991802"/>
              <a:ext cx="311467" cy="586740"/>
            </a:xfrm>
            <a:custGeom>
              <a:avLst/>
              <a:gdLst/>
              <a:ahLst/>
              <a:cxnLst/>
              <a:rect l="l" t="t" r="r" b="b"/>
              <a:pathLst>
                <a:path w="311467" h="586740">
                  <a:moveTo>
                    <a:pt x="311467" y="0"/>
                  </a:moveTo>
                  <a:lnTo>
                    <a:pt x="0" y="5867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547735" y="2991802"/>
              <a:ext cx="311468" cy="586740"/>
            </a:xfrm>
            <a:custGeom>
              <a:avLst/>
              <a:gdLst/>
              <a:ahLst/>
              <a:cxnLst/>
              <a:rect l="l" t="t" r="r" b="b"/>
              <a:pathLst>
                <a:path w="311468" h="586740">
                  <a:moveTo>
                    <a:pt x="0" y="0"/>
                  </a:moveTo>
                  <a:lnTo>
                    <a:pt x="311468" y="5867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303770" y="2404110"/>
              <a:ext cx="621983" cy="587693"/>
            </a:xfrm>
            <a:custGeom>
              <a:avLst/>
              <a:gdLst/>
              <a:ahLst/>
              <a:cxnLst/>
              <a:rect l="l" t="t" r="r" b="b"/>
              <a:pathLst>
                <a:path w="621983" h="587693">
                  <a:moveTo>
                    <a:pt x="621983" y="0"/>
                  </a:moveTo>
                  <a:lnTo>
                    <a:pt x="0" y="5876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925752" y="2404110"/>
              <a:ext cx="621982" cy="587693"/>
            </a:xfrm>
            <a:custGeom>
              <a:avLst/>
              <a:gdLst/>
              <a:ahLst/>
              <a:cxnLst/>
              <a:rect l="l" t="t" r="r" b="b"/>
              <a:pathLst>
                <a:path w="621982" h="587693">
                  <a:moveTo>
                    <a:pt x="0" y="0"/>
                  </a:moveTo>
                  <a:lnTo>
                    <a:pt x="621982" y="5876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481185" y="2991802"/>
              <a:ext cx="310515" cy="586740"/>
            </a:xfrm>
            <a:custGeom>
              <a:avLst/>
              <a:gdLst/>
              <a:ahLst/>
              <a:cxnLst/>
              <a:rect l="l" t="t" r="r" b="b"/>
              <a:pathLst>
                <a:path w="310515" h="586740">
                  <a:moveTo>
                    <a:pt x="310515" y="0"/>
                  </a:moveTo>
                  <a:lnTo>
                    <a:pt x="0" y="5867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791700" y="2991802"/>
              <a:ext cx="311468" cy="586740"/>
            </a:xfrm>
            <a:custGeom>
              <a:avLst/>
              <a:gdLst/>
              <a:ahLst/>
              <a:cxnLst/>
              <a:rect l="l" t="t" r="r" b="b"/>
              <a:pathLst>
                <a:path w="311468" h="586740">
                  <a:moveTo>
                    <a:pt x="0" y="0"/>
                  </a:moveTo>
                  <a:lnTo>
                    <a:pt x="311468" y="5867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1036618" y="2991802"/>
              <a:ext cx="310515" cy="586740"/>
            </a:xfrm>
            <a:custGeom>
              <a:avLst/>
              <a:gdLst/>
              <a:ahLst/>
              <a:cxnLst/>
              <a:rect l="l" t="t" r="r" b="b"/>
              <a:pathLst>
                <a:path w="310515" h="586740">
                  <a:moveTo>
                    <a:pt x="0" y="0"/>
                  </a:moveTo>
                  <a:lnTo>
                    <a:pt x="310515" y="5867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791700" y="2404110"/>
              <a:ext cx="622935" cy="587693"/>
            </a:xfrm>
            <a:custGeom>
              <a:avLst/>
              <a:gdLst/>
              <a:ahLst/>
              <a:cxnLst/>
              <a:rect l="l" t="t" r="r" b="b"/>
              <a:pathLst>
                <a:path w="622935" h="587693">
                  <a:moveTo>
                    <a:pt x="622935" y="0"/>
                  </a:moveTo>
                  <a:lnTo>
                    <a:pt x="0" y="5876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0414635" y="2404110"/>
              <a:ext cx="621982" cy="587693"/>
            </a:xfrm>
            <a:custGeom>
              <a:avLst/>
              <a:gdLst/>
              <a:ahLst/>
              <a:cxnLst/>
              <a:rect l="l" t="t" r="r" b="b"/>
              <a:pathLst>
                <a:path w="621982" h="587693">
                  <a:moveTo>
                    <a:pt x="0" y="0"/>
                  </a:moveTo>
                  <a:lnTo>
                    <a:pt x="621982" y="5876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925752" y="1817370"/>
              <a:ext cx="1243965" cy="586740"/>
            </a:xfrm>
            <a:custGeom>
              <a:avLst/>
              <a:gdLst/>
              <a:ahLst/>
              <a:cxnLst/>
              <a:rect l="l" t="t" r="r" b="b"/>
              <a:pathLst>
                <a:path w="1243965" h="586740">
                  <a:moveTo>
                    <a:pt x="1243965" y="0"/>
                  </a:moveTo>
                  <a:lnTo>
                    <a:pt x="0" y="5867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169718" y="1817370"/>
              <a:ext cx="1244918" cy="586740"/>
            </a:xfrm>
            <a:custGeom>
              <a:avLst/>
              <a:gdLst/>
              <a:ahLst/>
              <a:cxnLst/>
              <a:rect l="l" t="t" r="r" b="b"/>
              <a:pathLst>
                <a:path w="1244918" h="586740">
                  <a:moveTo>
                    <a:pt x="0" y="0"/>
                  </a:moveTo>
                  <a:lnTo>
                    <a:pt x="1244918" y="5867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6814185" y="340042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7436167" y="340042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7125652" y="281368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8058150" y="340042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8681085" y="340042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8369617" y="281368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7747635" y="222599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9303068" y="340042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9925050" y="340042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9613582" y="281368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11169015" y="340042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10858500" y="281368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10236518" y="222599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8991600" y="1639253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952556" y="35223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74538" y="35223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264023" y="293560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161536" y="35223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784471" y="35223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507988" y="293560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886006" y="234886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06454" y="35223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028436" y="35223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751953" y="293560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272401" y="35223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996871" y="293560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374888" y="234886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129971" y="176117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108" name="c2-table-2"/>
          <p:cNvGrpSpPr/>
          <p:nvPr/>
        </p:nvGrpSpPr>
        <p:grpSpPr>
          <a:xfrm>
            <a:off x="6680835" y="4036695"/>
            <a:ext cx="4977765" cy="2287905"/>
            <a:chOff x="6680835" y="4036695"/>
            <a:chExt cx="4977765" cy="2287905"/>
          </a:xfrm>
        </p:grpSpPr>
        <p:sp>
          <p:nvSpPr>
            <p:cNvPr id="79" name="Rectangle 79"/>
            <p:cNvSpPr/>
            <p:nvPr/>
          </p:nvSpPr>
          <p:spPr>
            <a:xfrm>
              <a:off x="6680835" y="4036695"/>
              <a:ext cx="497776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233095" y="41538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统计量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610790" y="41538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259378" y="41538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核对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775514" y="4535805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结点数 n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313801" y="453580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248204" y="4535805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+ 1 + 6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680835" y="479488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6680835" y="4799648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775514" y="4916805"/>
              <a:ext cx="6425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 n₀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8228648" y="4809172"/>
              <a:ext cx="915352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313801" y="491680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248204" y="4916805"/>
              <a:ext cx="1791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8、9、10、11、12、13、15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680835" y="517588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775514" y="5297805"/>
              <a:ext cx="8131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度为 1 的 n₁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313801" y="529780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248204" y="5297805"/>
              <a:ext cx="1162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 7 只有右孩子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680835" y="555783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6680835" y="5562600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775514" y="5679758"/>
              <a:ext cx="8131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度为 2 的 n₂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313801" y="567975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248204" y="5679758"/>
              <a:ext cx="1183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1、2、3、4、5、6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6680835" y="593883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775514" y="6060758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边数 e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8313801" y="606075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248204" y="6060758"/>
              <a:ext cx="1042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− 1 = 2n₂ + n₁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6680835" y="4036695"/>
              <a:ext cx="497776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8214360" y="4036695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9148762" y="4036695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9" name="TextBox 109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60223" cy="909257"/>
            <a:chOff x="520446" y="342900"/>
            <a:chExt cx="67602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二叉树的性质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602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例题：两道校招笔试题考的都是 n₀ = n₂ + 1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390650"/>
            <a:chOff x="533400" y="1524000"/>
            <a:chExt cx="5410200" cy="13906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90650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239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8693" y="173783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腾讯校园招聘笔试题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7028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若一棵二叉树具有 10 个度为 2 的结点、5 个度为 1 的结点，则度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0 的结点个数为（　）。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7141" y="2568893"/>
              <a:ext cx="25299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A. 9　　B. 11　　C. 15　　D. 不确定</a:t>
              </a:r>
            </a:p>
          </p:txBody>
        </p:sp>
      </p:grpSp>
      <p:grpSp>
        <p:nvGrpSpPr>
          <p:cNvPr id="27" name="c1-steps-2"/>
          <p:cNvGrpSpPr/>
          <p:nvPr/>
        </p:nvGrpSpPr>
        <p:grpSpPr>
          <a:xfrm>
            <a:off x="533400" y="3088958"/>
            <a:ext cx="3647237" cy="1596009"/>
            <a:chOff x="533400" y="3088958"/>
            <a:chExt cx="3647237" cy="1596009"/>
          </a:xfrm>
        </p:grpSpPr>
        <p:sp>
          <p:nvSpPr>
            <p:cNvPr id="14" name="Rectangle 14"/>
            <p:cNvSpPr/>
            <p:nvPr/>
          </p:nvSpPr>
          <p:spPr>
            <a:xfrm>
              <a:off x="666750" y="3231832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08895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1627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6414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7152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19481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2686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118961"/>
              <a:ext cx="1028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直接套性质 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7166" y="3373755"/>
              <a:ext cx="20122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n₀ = n₂ + 1 = 10 + 1 = 11，选 </a:t>
              </a:r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6723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回代检验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166" y="3927158"/>
              <a:ext cx="26256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11 + 5 + 10 = 26，边数 e = n − 1 = 25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2248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换一种数法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7166" y="4479608"/>
              <a:ext cx="32334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2n₂ + n₁ = 20 + 5 = 25，与上式一致，答案可靠</a:t>
              </a:r>
            </a:p>
          </p:txBody>
        </p:sp>
      </p:grpSp>
      <p:grpSp>
        <p:nvGrpSpPr>
          <p:cNvPr id="34" name="c1-callout-3"/>
          <p:cNvGrpSpPr/>
          <p:nvPr/>
        </p:nvGrpSpPr>
        <p:grpSpPr>
          <a:xfrm>
            <a:off x="533400" y="4846320"/>
            <a:ext cx="5410200" cy="702945"/>
            <a:chOff x="533400" y="4846320"/>
            <a:chExt cx="5410200" cy="702945"/>
          </a:xfrm>
        </p:grpSpPr>
        <p:sp>
          <p:nvSpPr>
            <p:cNvPr id="28" name="Rectangle 28"/>
            <p:cNvSpPr/>
            <p:nvPr/>
          </p:nvSpPr>
          <p:spPr>
            <a:xfrm>
              <a:off x="533400" y="4846320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097780"/>
              <a:ext cx="200026" cy="200026"/>
              <a:chOff x="738188" y="5097780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0977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51644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27088" y="51977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1273" y="4991576"/>
              <a:ext cx="45077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题目给的 n₁ = 5 是干扰项。n₀ 只由 n₂ 决定，和度为 1 的结点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有多少个无关。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248400" y="1524000"/>
            <a:ext cx="5410200" cy="1143952"/>
            <a:chOff x="6248400" y="1524000"/>
            <a:chExt cx="5410200" cy="1143952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67475" y="170497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33693" y="173783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搜狗校园招聘笔试题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0998" y="2045494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若二叉树有 32 个结点且度为 1 的结点有 7 个，则叶结点的个数为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　）。A. 13　B. 14　C. 12　D. 15</a:t>
              </a:r>
            </a:p>
          </p:txBody>
        </p:sp>
      </p:grpSp>
      <p:grpSp>
        <p:nvGrpSpPr>
          <p:cNvPr id="54" name="c2-steps-2"/>
          <p:cNvGrpSpPr/>
          <p:nvPr/>
        </p:nvGrpSpPr>
        <p:grpSpPr>
          <a:xfrm>
            <a:off x="6248400" y="2842260"/>
            <a:ext cx="3336265" cy="1596961"/>
            <a:chOff x="6248400" y="2842260"/>
            <a:chExt cx="3336265" cy="1596961"/>
          </a:xfrm>
        </p:grpSpPr>
        <p:sp>
          <p:nvSpPr>
            <p:cNvPr id="41" name="Rectangle 41"/>
            <p:cNvSpPr/>
            <p:nvPr/>
          </p:nvSpPr>
          <p:spPr>
            <a:xfrm>
              <a:off x="6381750" y="2985135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248400" y="284226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2024" y="29160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248400" y="33956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2024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248400" y="394811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2024" y="40219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1023" y="2873216"/>
              <a:ext cx="1009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先把 n₁ 减掉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62166" y="3128010"/>
              <a:ext cx="19189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n₀ + n₂ = n − n₁ = 32 − 7 = 25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61023" y="3425666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代入性质 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62166" y="3680460"/>
              <a:ext cx="29224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n₀ = n₂ + 1，于是 2n₂ + 1 = 25，解得 n₂ = 12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61023" y="39790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得到答案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62166" y="4233862"/>
              <a:ext cx="14538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n₀ = 12 + 1 = 13，选 </a:t>
              </a:r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60" name="c2-callout-3"/>
          <p:cNvGrpSpPr/>
          <p:nvPr/>
        </p:nvGrpSpPr>
        <p:grpSpPr>
          <a:xfrm>
            <a:off x="6248400" y="4600575"/>
            <a:ext cx="5410200" cy="948690"/>
            <a:chOff x="6248400" y="4600575"/>
            <a:chExt cx="5410200" cy="948690"/>
          </a:xfrm>
        </p:grpSpPr>
        <p:sp>
          <p:nvSpPr>
            <p:cNvPr id="55" name="Rectangle 55"/>
            <p:cNvSpPr/>
            <p:nvPr/>
          </p:nvSpPr>
          <p:spPr>
            <a:xfrm>
              <a:off x="6248400" y="4600575"/>
              <a:ext cx="5410200" cy="948690"/>
            </a:xfrm>
            <a:prstGeom prst="roundRect">
              <a:avLst>
                <a:gd name="adj" fmla="val 12048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453188" y="4974910"/>
              <a:ext cx="200023" cy="200023"/>
              <a:chOff x="6453188" y="4974910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453188" y="49749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586538" y="50415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756273" y="4868704"/>
              <a:ext cx="44102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两题共用一个套路：先用 n = n₀ + n₁ + n₂ 把度为 1 的结点从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总数里减掉，再用 n₀ = n₂ + 1 解方程。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1" name="Rectangle 6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1273" y="6039326"/>
              <a:ext cx="64833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度为 1 的结点个数不受这条性质约束，可以是任意值；被锁死的只有 n₀ 和 n₂ 的差。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579745" cy="3351847"/>
            <a:chOff x="667512" y="1835468"/>
            <a:chExt cx="557974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满二叉树与完全二叉树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两种特殊形状，以及它们的结点数和高度之间的固定对应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满二叉树：每层都排满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完全二叉树：只允许最后一层缺右边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结点数与高度的对应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常考的几个换算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满二叉树与完全二叉树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满二叉树：每一层都充满，结点数达到上界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160145"/>
            <a:chOff x="533400" y="1524000"/>
            <a:chExt cx="5410200" cy="11601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满二叉树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6621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一棵非空高度为 k（k ≥ 0）的满二叉树，是有 2ᵏ⁺¹ − 1 个结点的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二叉树。</a:t>
              </a:r>
            </a:p>
          </p:txBody>
        </p:sp>
      </p:grpSp>
      <p:grpSp>
        <p:nvGrpSpPr>
          <p:cNvPr id="24" name="c1-bullets-2"/>
          <p:cNvGrpSpPr/>
          <p:nvPr/>
        </p:nvGrpSpPr>
        <p:grpSpPr>
          <a:xfrm>
            <a:off x="526923" y="2870359"/>
            <a:ext cx="3020350" cy="1136141"/>
            <a:chOff x="526923" y="2870359"/>
            <a:chExt cx="3020350" cy="1136141"/>
          </a:xfrm>
        </p:grpSpPr>
        <p:sp>
          <p:nvSpPr>
            <p:cNvPr id="14" name="TextBox 14"/>
            <p:cNvSpPr txBox="1"/>
            <p:nvPr/>
          </p:nvSpPr>
          <p:spPr>
            <a:xfrm>
              <a:off x="526923" y="287035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满二叉树的特点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316039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85307" y="319601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3148" y="317134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叶结点都在最后一层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45376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85307" y="348843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3148" y="346471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每个非叶结点都有两个子结点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374618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5307" y="37818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3148" y="3757136"/>
              <a:ext cx="2744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叶结点的个数等于非叶结点个数加 1</a:t>
              </a:r>
            </a:p>
          </p:txBody>
        </p:sp>
      </p:grpSp>
      <p:grpSp>
        <p:nvGrpSpPr>
          <p:cNvPr id="31" name="c1-card-3"/>
          <p:cNvGrpSpPr/>
          <p:nvPr/>
        </p:nvGrpSpPr>
        <p:grpSpPr>
          <a:xfrm>
            <a:off x="533400" y="4121468"/>
            <a:ext cx="5410200" cy="2226945"/>
            <a:chOff x="533400" y="4121468"/>
            <a:chExt cx="5410200" cy="2226945"/>
          </a:xfrm>
        </p:grpSpPr>
        <p:sp>
          <p:nvSpPr>
            <p:cNvPr id="25" name="Rectangle 25"/>
            <p:cNvSpPr/>
            <p:nvPr/>
          </p:nvSpPr>
          <p:spPr>
            <a:xfrm>
              <a:off x="533400" y="4121468"/>
              <a:ext cx="5410200" cy="2226945"/>
            </a:xfrm>
            <a:prstGeom prst="roundRect">
              <a:avLst>
                <a:gd name="adj" fmla="val 59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254818"/>
              <a:ext cx="47625" cy="19602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2475" y="4302442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2744" y="433530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第三条特点的来历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5998" y="4642961"/>
              <a:ext cx="47678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它就是性质 3 在这里的特例。满二叉树里没有度为 1 的结点，n₁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0，于是 n₀ = n₂ + 1 写成了叶结点数等于非叶结点数加 1。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7141" y="5166360"/>
              <a:ext cx="42724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反过来说，一棵二叉树只要有度为 1 的结点，就一定不是满二叉树。</a:t>
              </a:r>
            </a:p>
          </p:txBody>
        </p:sp>
      </p:grpSp>
      <p:grpSp>
        <p:nvGrpSpPr>
          <p:cNvPr id="76" name="c2-tree-1"/>
          <p:cNvGrpSpPr/>
          <p:nvPr/>
        </p:nvGrpSpPr>
        <p:grpSpPr>
          <a:xfrm>
            <a:off x="6408420" y="1614488"/>
            <a:ext cx="5090160" cy="1965007"/>
            <a:chOff x="6408420" y="1614488"/>
            <a:chExt cx="5090160" cy="1965007"/>
          </a:xfrm>
        </p:grpSpPr>
        <p:sp>
          <p:nvSpPr>
            <p:cNvPr id="32" name="Freeform 32"/>
            <p:cNvSpPr/>
            <p:nvPr/>
          </p:nvSpPr>
          <p:spPr>
            <a:xfrm>
              <a:off x="6586538" y="2865120"/>
              <a:ext cx="338138" cy="536258"/>
            </a:xfrm>
            <a:custGeom>
              <a:avLst/>
              <a:gdLst/>
              <a:ahLst/>
              <a:cxnLst/>
              <a:rect l="l" t="t" r="r" b="b"/>
              <a:pathLst>
                <a:path w="338138" h="536258">
                  <a:moveTo>
                    <a:pt x="338138" y="0"/>
                  </a:moveTo>
                  <a:lnTo>
                    <a:pt x="0" y="536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924675" y="2865120"/>
              <a:ext cx="338138" cy="536258"/>
            </a:xfrm>
            <a:custGeom>
              <a:avLst/>
              <a:gdLst/>
              <a:ahLst/>
              <a:cxnLst/>
              <a:rect l="l" t="t" r="r" b="b"/>
              <a:pathLst>
                <a:path w="338138" h="536258">
                  <a:moveTo>
                    <a:pt x="0" y="0"/>
                  </a:moveTo>
                  <a:lnTo>
                    <a:pt x="338138" y="536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939088" y="2865120"/>
              <a:ext cx="338138" cy="536258"/>
            </a:xfrm>
            <a:custGeom>
              <a:avLst/>
              <a:gdLst/>
              <a:ahLst/>
              <a:cxnLst/>
              <a:rect l="l" t="t" r="r" b="b"/>
              <a:pathLst>
                <a:path w="338138" h="536258">
                  <a:moveTo>
                    <a:pt x="338138" y="0"/>
                  </a:moveTo>
                  <a:lnTo>
                    <a:pt x="0" y="536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277225" y="2865120"/>
              <a:ext cx="338138" cy="536258"/>
            </a:xfrm>
            <a:custGeom>
              <a:avLst/>
              <a:gdLst/>
              <a:ahLst/>
              <a:cxnLst/>
              <a:rect l="l" t="t" r="r" b="b"/>
              <a:pathLst>
                <a:path w="338138" h="536258">
                  <a:moveTo>
                    <a:pt x="0" y="0"/>
                  </a:moveTo>
                  <a:lnTo>
                    <a:pt x="338138" y="536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924675" y="2328862"/>
              <a:ext cx="676275" cy="536258"/>
            </a:xfrm>
            <a:custGeom>
              <a:avLst/>
              <a:gdLst/>
              <a:ahLst/>
              <a:cxnLst/>
              <a:rect l="l" t="t" r="r" b="b"/>
              <a:pathLst>
                <a:path w="676275" h="536258">
                  <a:moveTo>
                    <a:pt x="676275" y="0"/>
                  </a:moveTo>
                  <a:lnTo>
                    <a:pt x="0" y="536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600950" y="2328862"/>
              <a:ext cx="676275" cy="536258"/>
            </a:xfrm>
            <a:custGeom>
              <a:avLst/>
              <a:gdLst/>
              <a:ahLst/>
              <a:cxnLst/>
              <a:rect l="l" t="t" r="r" b="b"/>
              <a:pathLst>
                <a:path w="676275" h="536258">
                  <a:moveTo>
                    <a:pt x="0" y="0"/>
                  </a:moveTo>
                  <a:lnTo>
                    <a:pt x="676275" y="536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291638" y="2865120"/>
              <a:ext cx="338138" cy="536258"/>
            </a:xfrm>
            <a:custGeom>
              <a:avLst/>
              <a:gdLst/>
              <a:ahLst/>
              <a:cxnLst/>
              <a:rect l="l" t="t" r="r" b="b"/>
              <a:pathLst>
                <a:path w="338138" h="536258">
                  <a:moveTo>
                    <a:pt x="338138" y="0"/>
                  </a:moveTo>
                  <a:lnTo>
                    <a:pt x="0" y="536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629775" y="2865120"/>
              <a:ext cx="338138" cy="536258"/>
            </a:xfrm>
            <a:custGeom>
              <a:avLst/>
              <a:gdLst/>
              <a:ahLst/>
              <a:cxnLst/>
              <a:rect l="l" t="t" r="r" b="b"/>
              <a:pathLst>
                <a:path w="338138" h="536258">
                  <a:moveTo>
                    <a:pt x="0" y="0"/>
                  </a:moveTo>
                  <a:lnTo>
                    <a:pt x="338138" y="536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0644188" y="2865120"/>
              <a:ext cx="338138" cy="536258"/>
            </a:xfrm>
            <a:custGeom>
              <a:avLst/>
              <a:gdLst/>
              <a:ahLst/>
              <a:cxnLst/>
              <a:rect l="l" t="t" r="r" b="b"/>
              <a:pathLst>
                <a:path w="338138" h="536258">
                  <a:moveTo>
                    <a:pt x="338138" y="0"/>
                  </a:moveTo>
                  <a:lnTo>
                    <a:pt x="0" y="536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982325" y="2865120"/>
              <a:ext cx="338138" cy="536258"/>
            </a:xfrm>
            <a:custGeom>
              <a:avLst/>
              <a:gdLst/>
              <a:ahLst/>
              <a:cxnLst/>
              <a:rect l="l" t="t" r="r" b="b"/>
              <a:pathLst>
                <a:path w="338138" h="536258">
                  <a:moveTo>
                    <a:pt x="0" y="0"/>
                  </a:moveTo>
                  <a:lnTo>
                    <a:pt x="338138" y="536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629775" y="2328862"/>
              <a:ext cx="676275" cy="536258"/>
            </a:xfrm>
            <a:custGeom>
              <a:avLst/>
              <a:gdLst/>
              <a:ahLst/>
              <a:cxnLst/>
              <a:rect l="l" t="t" r="r" b="b"/>
              <a:pathLst>
                <a:path w="676275" h="536258">
                  <a:moveTo>
                    <a:pt x="676275" y="0"/>
                  </a:moveTo>
                  <a:lnTo>
                    <a:pt x="0" y="536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306050" y="2328862"/>
              <a:ext cx="676275" cy="536258"/>
            </a:xfrm>
            <a:custGeom>
              <a:avLst/>
              <a:gdLst/>
              <a:ahLst/>
              <a:cxnLst/>
              <a:rect l="l" t="t" r="r" b="b"/>
              <a:pathLst>
                <a:path w="676275" h="536258">
                  <a:moveTo>
                    <a:pt x="0" y="0"/>
                  </a:moveTo>
                  <a:lnTo>
                    <a:pt x="676275" y="536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600950" y="1792605"/>
              <a:ext cx="1352550" cy="536258"/>
            </a:xfrm>
            <a:custGeom>
              <a:avLst/>
              <a:gdLst/>
              <a:ahLst/>
              <a:cxnLst/>
              <a:rect l="l" t="t" r="r" b="b"/>
              <a:pathLst>
                <a:path w="1352550" h="536258">
                  <a:moveTo>
                    <a:pt x="1352550" y="0"/>
                  </a:moveTo>
                  <a:lnTo>
                    <a:pt x="0" y="536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953500" y="1792605"/>
              <a:ext cx="1352550" cy="536258"/>
            </a:xfrm>
            <a:custGeom>
              <a:avLst/>
              <a:gdLst/>
              <a:ahLst/>
              <a:cxnLst/>
              <a:rect l="l" t="t" r="r" b="b"/>
              <a:pathLst>
                <a:path w="1352550" h="536258">
                  <a:moveTo>
                    <a:pt x="0" y="0"/>
                  </a:moveTo>
                  <a:lnTo>
                    <a:pt x="1352550" y="5362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6408420" y="322326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7084695" y="322326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6746558" y="268700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7760970" y="322326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8437245" y="322326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099108" y="268700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7422832" y="215074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9113520" y="322326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9789795" y="322326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9451658" y="268700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10466070" y="322326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11142345" y="322326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10804208" y="268700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10127932" y="215074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8775382" y="161448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46791" y="33451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223066" y="33451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84928" y="28089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864356" y="334518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540631" y="334518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37478" y="28089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61203" y="227266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216906" y="334518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893181" y="334518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590028" y="28089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569456" y="334518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245731" y="334518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942578" y="28089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266303" y="227266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913753" y="173640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114" name="c2-table-2"/>
          <p:cNvGrpSpPr/>
          <p:nvPr/>
        </p:nvGrpSpPr>
        <p:grpSpPr>
          <a:xfrm>
            <a:off x="6243447" y="3834765"/>
            <a:ext cx="5415153" cy="2551461"/>
            <a:chOff x="6243447" y="3834765"/>
            <a:chExt cx="5415153" cy="2551461"/>
          </a:xfrm>
        </p:grpSpPr>
        <p:sp>
          <p:nvSpPr>
            <p:cNvPr id="77" name="Rectangle 77"/>
            <p:cNvSpPr/>
            <p:nvPr/>
          </p:nvSpPr>
          <p:spPr>
            <a:xfrm>
              <a:off x="6248400" y="3834765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642522" y="3951923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高度 k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847267" y="395192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结点总数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202674" y="395192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叶结点数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555034" y="395192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非叶结点数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343079" y="433292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551801" y="433292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907209" y="433292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263568" y="433292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248400" y="4592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6248400" y="4596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343079" y="4714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551801" y="4714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907209" y="4714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263568" y="4714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248400" y="4973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343079" y="5095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551801" y="5095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907209" y="5095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0263568" y="5095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6248400" y="5354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6248400" y="535971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343079" y="5476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7466648" y="5369242"/>
              <a:ext cx="133731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7551801" y="5476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907209" y="5476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0263568" y="5476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6248400" y="5735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343079" y="5858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551801" y="58588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907209" y="58588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0263568" y="58588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6248400" y="3834765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7452360" y="3834765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8807768" y="3834765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10164128" y="3834765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6243447" y="6195536"/>
              <a:ext cx="13093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上图就是 k = 3 这一行</a:t>
              </a:r>
            </a:p>
          </p:txBody>
        </p:sp>
      </p:grpSp>
      <p:grpSp>
        <p:nvGrpSpPr>
          <p:cNvPr id="1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5" name="TextBox 115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满二叉树与完全二叉树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满二叉树的几个换算，知道一个就能推出其余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030605"/>
            <a:chOff x="533400" y="1524000"/>
            <a:chExt cx="5626418" cy="10306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030605"/>
            </a:xfrm>
            <a:prstGeom prst="roundRect">
              <a:avLst>
                <a:gd name="adj" fmla="val 129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7639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5782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356" y="1769269"/>
              <a:ext cx="14626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2018 年考研题全国卷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174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一棵满二叉树有 k 个叶结点，则其结点总数为________。</a:t>
              </a:r>
            </a:p>
          </p:txBody>
        </p:sp>
      </p:grpSp>
      <p:grpSp>
        <p:nvGrpSpPr>
          <p:cNvPr id="30" name="c1-steps-2"/>
          <p:cNvGrpSpPr/>
          <p:nvPr/>
        </p:nvGrpSpPr>
        <p:grpSpPr>
          <a:xfrm>
            <a:off x="533400" y="2754630"/>
            <a:ext cx="5439903" cy="2529173"/>
            <a:chOff x="533400" y="2754630"/>
            <a:chExt cx="5439903" cy="2529173"/>
          </a:xfrm>
        </p:grpSpPr>
        <p:sp>
          <p:nvSpPr>
            <p:cNvPr id="13" name="Rectangle 13"/>
            <p:cNvSpPr/>
            <p:nvPr/>
          </p:nvSpPr>
          <p:spPr>
            <a:xfrm>
              <a:off x="666750" y="289750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275463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28284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4051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4790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0557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129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7072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47810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278892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设高度为 h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082766"/>
              <a:ext cx="50272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满二叉树的叶结点都在最后一层且该层排满，故叶结点个数 k = 2ʰ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43947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写出总数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3733324"/>
              <a:ext cx="24081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由定义，结点总数 n = 2ʰ⁺¹ − 1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409003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消去 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383881"/>
              <a:ext cx="28285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2ʰ⁺¹ = 2 × 2ʰ = 2k，所以 n =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2k − 1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4880" y="47415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代数值验证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023" y="5034439"/>
              <a:ext cx="3373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8 时 n = 15，与上一页 h = 3 那一行一致</a:t>
              </a:r>
            </a:p>
          </p:txBody>
        </p:sp>
      </p:grpSp>
      <p:grpSp>
        <p:nvGrpSpPr>
          <p:cNvPr id="37" name="c1-callout-3"/>
          <p:cNvGrpSpPr/>
          <p:nvPr/>
        </p:nvGrpSpPr>
        <p:grpSpPr>
          <a:xfrm>
            <a:off x="533400" y="5462588"/>
            <a:ext cx="5626418" cy="792480"/>
            <a:chOff x="533400" y="5462588"/>
            <a:chExt cx="5626418" cy="792480"/>
          </a:xfrm>
        </p:grpSpPr>
        <p:sp>
          <p:nvSpPr>
            <p:cNvPr id="31" name="Rectangle 31"/>
            <p:cNvSpPr/>
            <p:nvPr/>
          </p:nvSpPr>
          <p:spPr>
            <a:xfrm>
              <a:off x="533400" y="5462588"/>
              <a:ext cx="5626418" cy="792480"/>
            </a:xfrm>
            <a:prstGeom prst="roundRect">
              <a:avLst>
                <a:gd name="adj" fmla="val 1442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758815"/>
              <a:ext cx="200026" cy="200025"/>
              <a:chOff x="738188" y="5758815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7588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77926" y="58032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12642" y="59143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615940"/>
              <a:ext cx="47205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这类题不要去凑高度。只要把 2ʰ 当成一个整体替换掉，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答案就直接出来了。</a:t>
              </a:r>
            </a:p>
          </p:txBody>
        </p:sp>
      </p:grpSp>
      <p:grpSp>
        <p:nvGrpSpPr>
          <p:cNvPr id="66" name="c2-table-1"/>
          <p:cNvGrpSpPr/>
          <p:nvPr/>
        </p:nvGrpSpPr>
        <p:grpSpPr>
          <a:xfrm>
            <a:off x="6464618" y="1524000"/>
            <a:ext cx="5193982" cy="2692718"/>
            <a:chOff x="6464618" y="1524000"/>
            <a:chExt cx="5193982" cy="2692718"/>
          </a:xfrm>
        </p:grpSpPr>
        <p:sp>
          <p:nvSpPr>
            <p:cNvPr id="38" name="Rectangle 38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6497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1943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33680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72441" y="2108359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 k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30730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结点总数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81376" y="2108359"/>
              <a:ext cx="684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2ᵏ⁺¹ − 1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72441" y="2556986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 k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30730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81376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2ᵏ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72441" y="3005614"/>
              <a:ext cx="892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叶结点数 m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130730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结点总数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81376" y="30056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2m − 1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33147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64618" y="3319462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72441" y="3454241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结点总数 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30730" y="34542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81376" y="345424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log₂(n + 1) − 1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64618" y="37633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72441" y="3903821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结点总数 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130730" y="39038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叶结点数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481376" y="3903821"/>
              <a:ext cx="8831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 + 1) / 2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64618" y="1524000"/>
              <a:ext cx="5193982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8018145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36879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2" name="c2-card-2"/>
          <p:cNvGrpSpPr/>
          <p:nvPr/>
        </p:nvGrpSpPr>
        <p:grpSpPr>
          <a:xfrm>
            <a:off x="6464618" y="4407218"/>
            <a:ext cx="5193982" cy="1847850"/>
            <a:chOff x="6464618" y="4407218"/>
            <a:chExt cx="5193982" cy="1847850"/>
          </a:xfrm>
        </p:grpSpPr>
        <p:sp>
          <p:nvSpPr>
            <p:cNvPr id="67" name="Rectangle 67"/>
            <p:cNvSpPr/>
            <p:nvPr/>
          </p:nvSpPr>
          <p:spPr>
            <a:xfrm>
              <a:off x="6464618" y="4407218"/>
              <a:ext cx="5193982" cy="1847850"/>
            </a:xfrm>
            <a:prstGeom prst="roundRect">
              <a:avLst>
                <a:gd name="adj" fmla="val 721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674168" y="4616768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734823" y="465248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为什么这些式子成立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66548" y="4993958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满二叉树的形状被高度唯一确定，所以上表任意一格都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能推出其余各格。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667691" y="5611654"/>
              <a:ext cx="44670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注意最后两行只对满二叉树成立：n 一定是奇数，n + 1 一定是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 的整数次幂。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06040" cy="909257"/>
            <a:chOff x="520446" y="342900"/>
            <a:chExt cx="73060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满二叉树与完全二叉树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060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完全二叉树：和同高的满二叉树比对前 n 个结点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card-1"/>
          <p:cNvGrpSpPr/>
          <p:nvPr/>
        </p:nvGrpSpPr>
        <p:grpSpPr>
          <a:xfrm>
            <a:off x="533400" y="1524000"/>
            <a:ext cx="5626418" cy="2707005"/>
            <a:chOff x="533400" y="1524000"/>
            <a:chExt cx="5626418" cy="27070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707005"/>
            </a:xfrm>
            <a:prstGeom prst="roundRect">
              <a:avLst>
                <a:gd name="adj" fmla="val 49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403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5335" y="210693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3680" y="214726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6228" y="2119789"/>
              <a:ext cx="455002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给定一棵有 n 个结点、高为 k 的二叉树 T，以及一棵高为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的满二叉树 T*；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5335" y="269843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3680" y="27387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228" y="2711291"/>
              <a:ext cx="44133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用正整数按层次顺序分别编号 T 和 T* 的所有结点；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5335" y="301847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3680" y="305881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6228" y="3031331"/>
              <a:ext cx="449592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 T 的所有结点恰好对应于 T* 的前 n 个结点，则称 T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为完全二叉树。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9239" y="3618548"/>
              <a:ext cx="49347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层次顺序：按层数从上至下（第 0 层到第 k 层），同一层的结点由左到右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依次编号。</a:t>
              </a:r>
            </a:p>
          </p:txBody>
        </p:sp>
      </p:grpSp>
      <p:grpSp>
        <p:nvGrpSpPr>
          <p:cNvPr id="52" name="c1-tree-2"/>
          <p:cNvGrpSpPr/>
          <p:nvPr/>
        </p:nvGrpSpPr>
        <p:grpSpPr>
          <a:xfrm>
            <a:off x="681990" y="4444365"/>
            <a:ext cx="4977765" cy="1791652"/>
            <a:chOff x="681990" y="4444365"/>
            <a:chExt cx="4977765" cy="1791652"/>
          </a:xfrm>
        </p:grpSpPr>
        <p:sp>
          <p:nvSpPr>
            <p:cNvPr id="23" name="Freeform 23"/>
            <p:cNvSpPr/>
            <p:nvPr/>
          </p:nvSpPr>
          <p:spPr>
            <a:xfrm>
              <a:off x="884872" y="5571172"/>
              <a:ext cx="351473" cy="461962"/>
            </a:xfrm>
            <a:custGeom>
              <a:avLst/>
              <a:gdLst/>
              <a:ahLst/>
              <a:cxnLst/>
              <a:rect l="l" t="t" r="r" b="b"/>
              <a:pathLst>
                <a:path w="351473" h="461962">
                  <a:moveTo>
                    <a:pt x="351473" y="0"/>
                  </a:moveTo>
                  <a:lnTo>
                    <a:pt x="0" y="4619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236345" y="5571172"/>
              <a:ext cx="352425" cy="461962"/>
            </a:xfrm>
            <a:custGeom>
              <a:avLst/>
              <a:gdLst/>
              <a:ahLst/>
              <a:cxnLst/>
              <a:rect l="l" t="t" r="r" b="b"/>
              <a:pathLst>
                <a:path w="352425" h="461962">
                  <a:moveTo>
                    <a:pt x="0" y="0"/>
                  </a:moveTo>
                  <a:lnTo>
                    <a:pt x="352425" y="4619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2291715" y="5571172"/>
              <a:ext cx="351473" cy="461962"/>
            </a:xfrm>
            <a:custGeom>
              <a:avLst/>
              <a:gdLst/>
              <a:ahLst/>
              <a:cxnLst/>
              <a:rect l="l" t="t" r="r" b="b"/>
              <a:pathLst>
                <a:path w="351473" h="461962">
                  <a:moveTo>
                    <a:pt x="351473" y="0"/>
                  </a:moveTo>
                  <a:lnTo>
                    <a:pt x="0" y="4619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236345" y="5109210"/>
              <a:ext cx="703897" cy="461962"/>
            </a:xfrm>
            <a:custGeom>
              <a:avLst/>
              <a:gdLst/>
              <a:ahLst/>
              <a:cxnLst/>
              <a:rect l="l" t="t" r="r" b="b"/>
              <a:pathLst>
                <a:path w="703897" h="461962">
                  <a:moveTo>
                    <a:pt x="703897" y="0"/>
                  </a:moveTo>
                  <a:lnTo>
                    <a:pt x="0" y="4619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940242" y="5109210"/>
              <a:ext cx="702945" cy="461962"/>
            </a:xfrm>
            <a:custGeom>
              <a:avLst/>
              <a:gdLst/>
              <a:ahLst/>
              <a:cxnLst/>
              <a:rect l="l" t="t" r="r" b="b"/>
              <a:pathLst>
                <a:path w="702945" h="461962">
                  <a:moveTo>
                    <a:pt x="0" y="0"/>
                  </a:moveTo>
                  <a:lnTo>
                    <a:pt x="702945" y="4619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050030" y="5109210"/>
              <a:ext cx="702945" cy="461962"/>
            </a:xfrm>
            <a:custGeom>
              <a:avLst/>
              <a:gdLst/>
              <a:ahLst/>
              <a:cxnLst/>
              <a:rect l="l" t="t" r="r" b="b"/>
              <a:pathLst>
                <a:path w="702945" h="461962">
                  <a:moveTo>
                    <a:pt x="702945" y="0"/>
                  </a:moveTo>
                  <a:lnTo>
                    <a:pt x="0" y="4619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752975" y="5109210"/>
              <a:ext cx="703897" cy="461962"/>
            </a:xfrm>
            <a:custGeom>
              <a:avLst/>
              <a:gdLst/>
              <a:ahLst/>
              <a:cxnLst/>
              <a:rect l="l" t="t" r="r" b="b"/>
              <a:pathLst>
                <a:path w="703897" h="461962">
                  <a:moveTo>
                    <a:pt x="0" y="0"/>
                  </a:moveTo>
                  <a:lnTo>
                    <a:pt x="703897" y="4619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940242" y="4647248"/>
              <a:ext cx="1406842" cy="461962"/>
            </a:xfrm>
            <a:custGeom>
              <a:avLst/>
              <a:gdLst/>
              <a:ahLst/>
              <a:cxnLst/>
              <a:rect l="l" t="t" r="r" b="b"/>
              <a:pathLst>
                <a:path w="1406842" h="461962">
                  <a:moveTo>
                    <a:pt x="1406842" y="0"/>
                  </a:moveTo>
                  <a:lnTo>
                    <a:pt x="0" y="4619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3347085" y="4647248"/>
              <a:ext cx="1405890" cy="461962"/>
            </a:xfrm>
            <a:custGeom>
              <a:avLst/>
              <a:gdLst/>
              <a:ahLst/>
              <a:cxnLst/>
              <a:rect l="l" t="t" r="r" b="b"/>
              <a:pathLst>
                <a:path w="1405890" h="461962">
                  <a:moveTo>
                    <a:pt x="0" y="0"/>
                  </a:moveTo>
                  <a:lnTo>
                    <a:pt x="1405890" y="4619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681990" y="5830252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385888" y="5830252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033463" y="536829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2088832" y="5830252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2440305" y="536829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1737360" y="490632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3847148" y="536829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5253990" y="536829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4550092" y="490632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3144202" y="4444365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1825" y="597265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45723" y="597265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93298" y="551068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210574" y="597265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600140" y="551068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897195" y="504872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006983" y="551068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413825" y="551068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09928" y="504872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304038" y="458676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97" name="c2-tree-1"/>
          <p:cNvGrpSpPr/>
          <p:nvPr/>
        </p:nvGrpSpPr>
        <p:grpSpPr>
          <a:xfrm>
            <a:off x="6586538" y="1626870"/>
            <a:ext cx="4950142" cy="2242185"/>
            <a:chOff x="6586538" y="1626870"/>
            <a:chExt cx="4950142" cy="2242185"/>
          </a:xfrm>
        </p:grpSpPr>
        <p:sp>
          <p:nvSpPr>
            <p:cNvPr id="53" name="Freeform 53"/>
            <p:cNvSpPr/>
            <p:nvPr/>
          </p:nvSpPr>
          <p:spPr>
            <a:xfrm>
              <a:off x="6789420" y="3054668"/>
              <a:ext cx="324803" cy="611505"/>
            </a:xfrm>
            <a:custGeom>
              <a:avLst/>
              <a:gdLst/>
              <a:ahLst/>
              <a:cxnLst/>
              <a:rect l="l" t="t" r="r" b="b"/>
              <a:pathLst>
                <a:path w="324803" h="611505">
                  <a:moveTo>
                    <a:pt x="324803" y="0"/>
                  </a:moveTo>
                  <a:lnTo>
                    <a:pt x="0" y="6115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7114222" y="3054668"/>
              <a:ext cx="324803" cy="611505"/>
            </a:xfrm>
            <a:custGeom>
              <a:avLst/>
              <a:gdLst/>
              <a:ahLst/>
              <a:cxnLst/>
              <a:rect l="l" t="t" r="r" b="b"/>
              <a:pathLst>
                <a:path w="324803" h="611505">
                  <a:moveTo>
                    <a:pt x="0" y="0"/>
                  </a:moveTo>
                  <a:lnTo>
                    <a:pt x="324803" y="6115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8087678" y="3054668"/>
              <a:ext cx="324803" cy="611505"/>
            </a:xfrm>
            <a:custGeom>
              <a:avLst/>
              <a:gdLst/>
              <a:ahLst/>
              <a:cxnLst/>
              <a:rect l="l" t="t" r="r" b="b"/>
              <a:pathLst>
                <a:path w="324803" h="611505">
                  <a:moveTo>
                    <a:pt x="324803" y="0"/>
                  </a:moveTo>
                  <a:lnTo>
                    <a:pt x="0" y="6115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8412480" y="3054668"/>
              <a:ext cx="324802" cy="611505"/>
            </a:xfrm>
            <a:custGeom>
              <a:avLst/>
              <a:gdLst/>
              <a:ahLst/>
              <a:cxnLst/>
              <a:rect l="l" t="t" r="r" b="b"/>
              <a:pathLst>
                <a:path w="324802" h="611505">
                  <a:moveTo>
                    <a:pt x="0" y="0"/>
                  </a:moveTo>
                  <a:lnTo>
                    <a:pt x="324802" y="6115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7114222" y="2442210"/>
              <a:ext cx="648653" cy="612458"/>
            </a:xfrm>
            <a:custGeom>
              <a:avLst/>
              <a:gdLst/>
              <a:ahLst/>
              <a:cxnLst/>
              <a:rect l="l" t="t" r="r" b="b"/>
              <a:pathLst>
                <a:path w="648653" h="612458">
                  <a:moveTo>
                    <a:pt x="648653" y="0"/>
                  </a:moveTo>
                  <a:lnTo>
                    <a:pt x="0" y="6124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7762875" y="2442210"/>
              <a:ext cx="649605" cy="612458"/>
            </a:xfrm>
            <a:custGeom>
              <a:avLst/>
              <a:gdLst/>
              <a:ahLst/>
              <a:cxnLst/>
              <a:rect l="l" t="t" r="r" b="b"/>
              <a:pathLst>
                <a:path w="649605" h="612458">
                  <a:moveTo>
                    <a:pt x="0" y="0"/>
                  </a:moveTo>
                  <a:lnTo>
                    <a:pt x="649605" y="6124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9385935" y="3054668"/>
              <a:ext cx="324803" cy="611505"/>
            </a:xfrm>
            <a:custGeom>
              <a:avLst/>
              <a:gdLst/>
              <a:ahLst/>
              <a:cxnLst/>
              <a:rect l="l" t="t" r="r" b="b"/>
              <a:pathLst>
                <a:path w="324803" h="611505">
                  <a:moveTo>
                    <a:pt x="324803" y="0"/>
                  </a:moveTo>
                  <a:lnTo>
                    <a:pt x="0" y="6115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9710738" y="3054668"/>
              <a:ext cx="324802" cy="611505"/>
            </a:xfrm>
            <a:custGeom>
              <a:avLst/>
              <a:gdLst/>
              <a:ahLst/>
              <a:cxnLst/>
              <a:rect l="l" t="t" r="r" b="b"/>
              <a:pathLst>
                <a:path w="324802" h="611505">
                  <a:moveTo>
                    <a:pt x="0" y="0"/>
                  </a:moveTo>
                  <a:lnTo>
                    <a:pt x="324802" y="6115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10685145" y="3054668"/>
              <a:ext cx="323850" cy="611505"/>
            </a:xfrm>
            <a:custGeom>
              <a:avLst/>
              <a:gdLst/>
              <a:ahLst/>
              <a:cxnLst/>
              <a:rect l="l" t="t" r="r" b="b"/>
              <a:pathLst>
                <a:path w="323850" h="611505">
                  <a:moveTo>
                    <a:pt x="323850" y="0"/>
                  </a:moveTo>
                  <a:lnTo>
                    <a:pt x="0" y="6115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11008995" y="3054668"/>
              <a:ext cx="324803" cy="611505"/>
            </a:xfrm>
            <a:custGeom>
              <a:avLst/>
              <a:gdLst/>
              <a:ahLst/>
              <a:cxnLst/>
              <a:rect l="l" t="t" r="r" b="b"/>
              <a:pathLst>
                <a:path w="324803" h="611505">
                  <a:moveTo>
                    <a:pt x="0" y="0"/>
                  </a:moveTo>
                  <a:lnTo>
                    <a:pt x="324803" y="6115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9710738" y="2442210"/>
              <a:ext cx="649605" cy="612458"/>
            </a:xfrm>
            <a:custGeom>
              <a:avLst/>
              <a:gdLst/>
              <a:ahLst/>
              <a:cxnLst/>
              <a:rect l="l" t="t" r="r" b="b"/>
              <a:pathLst>
                <a:path w="649605" h="612458">
                  <a:moveTo>
                    <a:pt x="649605" y="0"/>
                  </a:moveTo>
                  <a:lnTo>
                    <a:pt x="0" y="6124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10360342" y="2442210"/>
              <a:ext cx="648652" cy="612458"/>
            </a:xfrm>
            <a:custGeom>
              <a:avLst/>
              <a:gdLst/>
              <a:ahLst/>
              <a:cxnLst/>
              <a:rect l="l" t="t" r="r" b="b"/>
              <a:pathLst>
                <a:path w="648652" h="612458">
                  <a:moveTo>
                    <a:pt x="0" y="0"/>
                  </a:moveTo>
                  <a:lnTo>
                    <a:pt x="648652" y="6124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7762875" y="1829752"/>
              <a:ext cx="1299210" cy="612457"/>
            </a:xfrm>
            <a:custGeom>
              <a:avLst/>
              <a:gdLst/>
              <a:ahLst/>
              <a:cxnLst/>
              <a:rect l="l" t="t" r="r" b="b"/>
              <a:pathLst>
                <a:path w="1299210" h="612457">
                  <a:moveTo>
                    <a:pt x="1299210" y="0"/>
                  </a:moveTo>
                  <a:lnTo>
                    <a:pt x="0" y="61245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9062085" y="1829752"/>
              <a:ext cx="1298258" cy="612457"/>
            </a:xfrm>
            <a:custGeom>
              <a:avLst/>
              <a:gdLst/>
              <a:ahLst/>
              <a:cxnLst/>
              <a:rect l="l" t="t" r="r" b="b"/>
              <a:pathLst>
                <a:path w="1298258" h="612457">
                  <a:moveTo>
                    <a:pt x="0" y="0"/>
                  </a:moveTo>
                  <a:lnTo>
                    <a:pt x="1298258" y="61245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6586538" y="3463290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7236142" y="3463290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6911340" y="2851785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7884795" y="3463290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8534400" y="346329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8209598" y="2851785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7559992" y="2239327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9183052" y="346329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9832658" y="346329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9507855" y="2851785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10482262" y="346329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11130915" y="346329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10806112" y="2851785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10157460" y="2239327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8859202" y="1626870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746373" y="360568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395978" y="360568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071175" y="299323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006536" y="360568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656141" y="360568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369433" y="299323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719828" y="238172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304794" y="360568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954399" y="360568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667690" y="299323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604004" y="360568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252656" y="360568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965948" y="299323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317295" y="238172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019038" y="17692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103" name="c2-card-2"/>
          <p:cNvGrpSpPr/>
          <p:nvPr/>
        </p:nvGrpSpPr>
        <p:grpSpPr>
          <a:xfrm>
            <a:off x="6464618" y="4157662"/>
            <a:ext cx="5193982" cy="2106930"/>
            <a:chOff x="6464618" y="4157662"/>
            <a:chExt cx="5193982" cy="2106930"/>
          </a:xfrm>
        </p:grpSpPr>
        <p:sp>
          <p:nvSpPr>
            <p:cNvPr id="98" name="Rectangle 98"/>
            <p:cNvSpPr/>
            <p:nvPr/>
          </p:nvSpPr>
          <p:spPr>
            <a:xfrm>
              <a:off x="6464618" y="4157662"/>
              <a:ext cx="5193982" cy="2106930"/>
            </a:xfrm>
            <a:prstGeom prst="roundRect">
              <a:avLst>
                <a:gd name="adj" fmla="val 632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6668452" y="436149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6750761" y="43972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对照方法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6661214" y="4734401"/>
              <a:ext cx="444182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上图 T* 是高为 3 的满二叉树，高亮的 10 个结点就是左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边的 T，编号从 1 到 10 连续不断，所以 T 是完全二叉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树。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662356" y="5594032"/>
              <a:ext cx="44927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实际判断时不用真的画 T*：按层从左到右给结点编号，只要编号中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间出现空缺而后面还有结点，就不是完全二叉树。</a:t>
              </a:r>
            </a:p>
          </p:txBody>
        </p:sp>
      </p:grpSp>
      <p:grpSp>
        <p:nvGrpSpPr>
          <p:cNvPr id="10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4" name="TextBox 104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满二叉树与完全二叉树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完全二叉树的特点：只有最后一层可以缺，且缺在右边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bullets-1"/>
          <p:cNvGrpSpPr/>
          <p:nvPr/>
        </p:nvGrpSpPr>
        <p:grpSpPr>
          <a:xfrm>
            <a:off x="533400" y="1533525"/>
            <a:ext cx="5671566" cy="1383316"/>
            <a:chOff x="533400" y="1533525"/>
            <a:chExt cx="5671566" cy="1383316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2744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只有最下面两层结点的度可以小于 2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2689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183784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最下面一层的结点都集中在该层最左边的若干位置上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2026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13121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叶结点只可能在最后两层出现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1363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2424589"/>
              <a:ext cx="54018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对所有结点按层次顺序从 1 开始编号，仅编号最大的非叶结点可以没有右孩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子，其余非叶结点都有两个子结点</a:t>
              </a:r>
            </a:p>
          </p:txBody>
        </p:sp>
      </p:grpSp>
      <p:grpSp>
        <p:nvGrpSpPr>
          <p:cNvPr id="49" name="c1-tree-2"/>
          <p:cNvGrpSpPr/>
          <p:nvPr/>
        </p:nvGrpSpPr>
        <p:grpSpPr>
          <a:xfrm>
            <a:off x="734378" y="3070860"/>
            <a:ext cx="5278755" cy="1661160"/>
            <a:chOff x="734378" y="3070860"/>
            <a:chExt cx="5278755" cy="1661160"/>
          </a:xfrm>
        </p:grpSpPr>
        <p:sp>
          <p:nvSpPr>
            <p:cNvPr id="20" name="Freeform 20"/>
            <p:cNvSpPr/>
            <p:nvPr/>
          </p:nvSpPr>
          <p:spPr>
            <a:xfrm>
              <a:off x="912495" y="4118610"/>
              <a:ext cx="378142" cy="435293"/>
            </a:xfrm>
            <a:custGeom>
              <a:avLst/>
              <a:gdLst/>
              <a:ahLst/>
              <a:cxnLst/>
              <a:rect l="l" t="t" r="r" b="b"/>
              <a:pathLst>
                <a:path w="378142" h="435293">
                  <a:moveTo>
                    <a:pt x="378142" y="0"/>
                  </a:moveTo>
                  <a:lnTo>
                    <a:pt x="0" y="4352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290638" y="4118610"/>
              <a:ext cx="379095" cy="435293"/>
            </a:xfrm>
            <a:custGeom>
              <a:avLst/>
              <a:gdLst/>
              <a:ahLst/>
              <a:cxnLst/>
              <a:rect l="l" t="t" r="r" b="b"/>
              <a:pathLst>
                <a:path w="379095" h="435293">
                  <a:moveTo>
                    <a:pt x="0" y="0"/>
                  </a:moveTo>
                  <a:lnTo>
                    <a:pt x="379095" y="4352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426970" y="4118610"/>
              <a:ext cx="379095" cy="435293"/>
            </a:xfrm>
            <a:custGeom>
              <a:avLst/>
              <a:gdLst/>
              <a:ahLst/>
              <a:cxnLst/>
              <a:rect l="l" t="t" r="r" b="b"/>
              <a:pathLst>
                <a:path w="379095" h="435293">
                  <a:moveTo>
                    <a:pt x="379095" y="0"/>
                  </a:moveTo>
                  <a:lnTo>
                    <a:pt x="0" y="4352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290638" y="3684270"/>
              <a:ext cx="757238" cy="434340"/>
            </a:xfrm>
            <a:custGeom>
              <a:avLst/>
              <a:gdLst/>
              <a:ahLst/>
              <a:cxnLst/>
              <a:rect l="l" t="t" r="r" b="b"/>
              <a:pathLst>
                <a:path w="757238" h="434340">
                  <a:moveTo>
                    <a:pt x="757238" y="0"/>
                  </a:moveTo>
                  <a:lnTo>
                    <a:pt x="0" y="4343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047875" y="3684270"/>
              <a:ext cx="758190" cy="434340"/>
            </a:xfrm>
            <a:custGeom>
              <a:avLst/>
              <a:gdLst/>
              <a:ahLst/>
              <a:cxnLst/>
              <a:rect l="l" t="t" r="r" b="b"/>
              <a:pathLst>
                <a:path w="758190" h="434340">
                  <a:moveTo>
                    <a:pt x="0" y="0"/>
                  </a:moveTo>
                  <a:lnTo>
                    <a:pt x="758190" y="4343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320540" y="3684270"/>
              <a:ext cx="757238" cy="434340"/>
            </a:xfrm>
            <a:custGeom>
              <a:avLst/>
              <a:gdLst/>
              <a:ahLst/>
              <a:cxnLst/>
              <a:rect l="l" t="t" r="r" b="b"/>
              <a:pathLst>
                <a:path w="757238" h="434340">
                  <a:moveTo>
                    <a:pt x="757238" y="0"/>
                  </a:moveTo>
                  <a:lnTo>
                    <a:pt x="0" y="4343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077778" y="3684270"/>
              <a:ext cx="757238" cy="434340"/>
            </a:xfrm>
            <a:custGeom>
              <a:avLst/>
              <a:gdLst/>
              <a:ahLst/>
              <a:cxnLst/>
              <a:rect l="l" t="t" r="r" b="b"/>
              <a:pathLst>
                <a:path w="757238" h="434340">
                  <a:moveTo>
                    <a:pt x="0" y="0"/>
                  </a:moveTo>
                  <a:lnTo>
                    <a:pt x="757238" y="4343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2047875" y="3248978"/>
              <a:ext cx="1515428" cy="435292"/>
            </a:xfrm>
            <a:custGeom>
              <a:avLst/>
              <a:gdLst/>
              <a:ahLst/>
              <a:cxnLst/>
              <a:rect l="l" t="t" r="r" b="b"/>
              <a:pathLst>
                <a:path w="1515428" h="435292">
                  <a:moveTo>
                    <a:pt x="1515428" y="0"/>
                  </a:moveTo>
                  <a:lnTo>
                    <a:pt x="0" y="4352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3563302" y="3248978"/>
              <a:ext cx="1514475" cy="435292"/>
            </a:xfrm>
            <a:custGeom>
              <a:avLst/>
              <a:gdLst/>
              <a:ahLst/>
              <a:cxnLst/>
              <a:rect l="l" t="t" r="r" b="b"/>
              <a:pathLst>
                <a:path w="1514475" h="435292">
                  <a:moveTo>
                    <a:pt x="0" y="0"/>
                  </a:moveTo>
                  <a:lnTo>
                    <a:pt x="1514475" y="4352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734378" y="437578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1491615" y="437578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112520" y="394049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2248852" y="437578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2627948" y="3940492"/>
              <a:ext cx="356235" cy="356235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869758" y="350615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4142423" y="394049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5656898" y="394049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4899660" y="350615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3385185" y="307086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72748" y="449865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29986" y="449865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50891" y="406336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52239" y="449865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766318" y="406336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008128" y="362807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80793" y="406336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795268" y="406336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38031" y="362807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523556" y="31927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56" name="c1-callout-3"/>
          <p:cNvGrpSpPr/>
          <p:nvPr/>
        </p:nvGrpSpPr>
        <p:grpSpPr>
          <a:xfrm>
            <a:off x="533400" y="4936808"/>
            <a:ext cx="6059805" cy="702945"/>
            <a:chOff x="533400" y="4936808"/>
            <a:chExt cx="6059805" cy="702945"/>
          </a:xfrm>
        </p:grpSpPr>
        <p:sp>
          <p:nvSpPr>
            <p:cNvPr id="50" name="Rectangle 50"/>
            <p:cNvSpPr/>
            <p:nvPr/>
          </p:nvSpPr>
          <p:spPr>
            <a:xfrm>
              <a:off x="533400" y="4936808"/>
              <a:ext cx="6059805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5188268"/>
              <a:ext cx="200026" cy="200026"/>
              <a:chOff x="738188" y="5188268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51882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52549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27088" y="52882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1273" y="5081111"/>
              <a:ext cx="50441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图中 n = 10，编号最大的非叶结点是 5 号，它只有左孩子 10 号，这是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完全二叉树里唯一允许出现的度为 1 的结点。</a:t>
              </a:r>
            </a:p>
          </p:txBody>
        </p:sp>
      </p:grpSp>
      <p:grpSp>
        <p:nvGrpSpPr>
          <p:cNvPr id="59" name="c2-image-1"/>
          <p:cNvGrpSpPr/>
          <p:nvPr/>
        </p:nvGrpSpPr>
        <p:grpSpPr>
          <a:xfrm>
            <a:off x="7756182" y="1524000"/>
            <a:ext cx="3044241" cy="2023776"/>
            <a:chOff x="7756182" y="1524000"/>
            <a:chExt cx="3044241" cy="2023776"/>
          </a:xfrm>
        </p:grpSpPr>
        <p:pic>
          <p:nvPicPr>
            <p:cNvPr id="57" name="Image 57"/>
            <p:cNvPicPr>
              <a:picLocks noChangeAspect="1"/>
            </p:cNvPicPr>
            <p:nvPr/>
          </p:nvPicPr>
          <p:blipFill>
            <a:blip r:embed="rId2"/>
            <a:srcRect l="7" t="0" r="7" b="0"/>
            <a:stretch>
              <a:fillRect/>
            </a:stretch>
          </p:blipFill>
          <p:spPr>
            <a:xfrm>
              <a:off x="8117205" y="1524000"/>
              <a:ext cx="2321242" cy="1741170"/>
            </a:xfrm>
            <a:prstGeom prst="roundRect">
              <a:avLst>
                <a:gd name="adj" fmla="val 7658"/>
              </a:avLst>
            </a:prstGeom>
          </p:spPr>
        </p:pic>
        <p:sp>
          <p:nvSpPr>
            <p:cNvPr id="58" name="TextBox 58"/>
            <p:cNvSpPr txBox="1"/>
            <p:nvPr/>
          </p:nvSpPr>
          <p:spPr>
            <a:xfrm>
              <a:off x="7756182" y="3357086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上面几层砌满，最下面一层从左端开始砌，右边空着</a:t>
              </a:r>
            </a:p>
          </p:txBody>
        </p:sp>
      </p:grpSp>
      <p:grpSp>
        <p:nvGrpSpPr>
          <p:cNvPr id="68" name="c2-card-2"/>
          <p:cNvGrpSpPr/>
          <p:nvPr/>
        </p:nvGrpSpPr>
        <p:grpSpPr>
          <a:xfrm>
            <a:off x="6898005" y="3692842"/>
            <a:ext cx="4760595" cy="1945958"/>
            <a:chOff x="6898005" y="3692842"/>
            <a:chExt cx="4760595" cy="1945958"/>
          </a:xfrm>
        </p:grpSpPr>
        <p:sp>
          <p:nvSpPr>
            <p:cNvPr id="60" name="Rectangle 60"/>
            <p:cNvSpPr/>
            <p:nvPr/>
          </p:nvSpPr>
          <p:spPr>
            <a:xfrm>
              <a:off x="6898005" y="3692842"/>
              <a:ext cx="4760595" cy="1945958"/>
            </a:xfrm>
            <a:prstGeom prst="roundRect">
              <a:avLst>
                <a:gd name="adj" fmla="val 68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907530" y="3826192"/>
              <a:ext cx="47625" cy="167925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117080" y="3873818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190448" y="390667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两种常见的反例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126605" y="426624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282053" y="4214336"/>
              <a:ext cx="3914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最下面一层的结点中间空了一格，右边却还有结点：编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号不连续，不是完全二叉树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126605" y="479488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282053" y="4742021"/>
              <a:ext cx="3914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倒数第二层还没排满就往下一层放结点：违反第一条，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也不是完全二叉树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9" name="Rectangle 6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1273" y="6039326"/>
              <a:ext cx="74224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完全二叉树的形状由结点个数 n 唯一确定。给定 n，每个结点该放在哪个位置没有任何选择余地。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06040" cy="909257"/>
            <a:chOff x="520446" y="342900"/>
            <a:chExt cx="73060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满二叉树与完全二叉树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060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练习：高度为 k 的完全二叉树最少有多少个结点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842635" cy="1209675"/>
            <a:chOff x="533400" y="1524000"/>
            <a:chExt cx="5842635" cy="1209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51486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高度为 k 的完全二叉树最少有________个结点，最多有________个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结点。</a:t>
              </a:r>
            </a:p>
          </p:txBody>
        </p:sp>
      </p:grpSp>
      <p:grpSp>
        <p:nvGrpSpPr>
          <p:cNvPr id="30" name="c1-steps-2"/>
          <p:cNvGrpSpPr/>
          <p:nvPr/>
        </p:nvGrpSpPr>
        <p:grpSpPr>
          <a:xfrm>
            <a:off x="533400" y="2918460"/>
            <a:ext cx="5875310" cy="2487454"/>
            <a:chOff x="533400" y="2918460"/>
            <a:chExt cx="5875310" cy="2487454"/>
          </a:xfrm>
        </p:grpSpPr>
        <p:sp>
          <p:nvSpPr>
            <p:cNvPr id="13" name="Rectangle 13"/>
            <p:cNvSpPr/>
            <p:nvPr/>
          </p:nvSpPr>
          <p:spPr>
            <a:xfrm>
              <a:off x="666750" y="3061335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291846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29922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50520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5790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0919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1657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8863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49601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29498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最多的情形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217069"/>
              <a:ext cx="50623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高度为 k 的二叉树至多有 2ᵏ⁺¹ − 1 个结点（引理 2），此时它就是满二叉树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53663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最少的情形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3804761"/>
              <a:ext cx="54619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高度要真正达到 k，第 k 层至少得有 1 个结点；而完全二叉树要求前面各层都排满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412337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算出来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391501"/>
              <a:ext cx="518896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k 层（第 0 到第 k − 1 层）是高度为 k − 1 的满二叉树，有 2ᵏ − 1 个结点，再加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1 个，得 </a:t>
              </a:r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642" y="491775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反过来用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785" y="5185886"/>
              <a:ext cx="4730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个结点的完全二叉树，高度 k 满足 2ᵏ ≤ n ≤ 2ᵏ⁺¹ − 1，由 n 唯一确定</a:t>
              </a:r>
            </a:p>
          </p:txBody>
        </p:sp>
      </p:grpSp>
      <p:grpSp>
        <p:nvGrpSpPr>
          <p:cNvPr id="37" name="c1-callout-3"/>
          <p:cNvGrpSpPr/>
          <p:nvPr/>
        </p:nvGrpSpPr>
        <p:grpSpPr>
          <a:xfrm>
            <a:off x="533400" y="5574030"/>
            <a:ext cx="5842635" cy="729615"/>
            <a:chOff x="533400" y="5574030"/>
            <a:chExt cx="5842635" cy="729615"/>
          </a:xfrm>
        </p:grpSpPr>
        <p:sp>
          <p:nvSpPr>
            <p:cNvPr id="31" name="Rectangle 31"/>
            <p:cNvSpPr/>
            <p:nvPr/>
          </p:nvSpPr>
          <p:spPr>
            <a:xfrm>
              <a:off x="533400" y="5574030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838825"/>
              <a:ext cx="200026" cy="200025"/>
              <a:chOff x="738188" y="5838825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8388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77926" y="58832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12642" y="59944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892" y="5720715"/>
              <a:ext cx="46428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记不住就画一画：把满二叉树的最后一层整排擦掉再补一个结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点，就是同高度下结点最少的完全二叉树。</a:t>
              </a:r>
            </a:p>
          </p:txBody>
        </p:sp>
      </p:grpSp>
      <p:grpSp>
        <p:nvGrpSpPr>
          <p:cNvPr id="71" name="c2-table-1"/>
          <p:cNvGrpSpPr/>
          <p:nvPr/>
        </p:nvGrpSpPr>
        <p:grpSpPr>
          <a:xfrm>
            <a:off x="6680835" y="1524000"/>
            <a:ext cx="4977765" cy="2840355"/>
            <a:chOff x="6680835" y="1524000"/>
            <a:chExt cx="4977765" cy="2840355"/>
          </a:xfrm>
        </p:grpSpPr>
        <p:sp>
          <p:nvSpPr>
            <p:cNvPr id="38" name="Rectangle 38"/>
            <p:cNvSpPr/>
            <p:nvPr/>
          </p:nvSpPr>
          <p:spPr>
            <a:xfrm>
              <a:off x="6680835" y="1524000"/>
              <a:ext cx="497776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47613" y="164830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高度 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13332" y="1648301"/>
              <a:ext cx="986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最少结点数 2ᵏ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90026" y="1648301"/>
              <a:ext cx="14302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最多结点数 2ᵏ⁺¹ − 1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80848" y="2054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61948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50730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680835" y="233076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80835" y="233553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80848" y="2459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61948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50730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80835" y="273653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80848" y="2865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61948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50730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680835" y="314229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680835" y="314706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80848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61948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650730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680835" y="35480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80848" y="36771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961948" y="36771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650730" y="36771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680835" y="395382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680835" y="3958590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80848" y="40828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61948" y="40828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650730" y="40828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680835" y="1524000"/>
              <a:ext cx="4977765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85717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9545955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7" name="c2-card-2"/>
          <p:cNvGrpSpPr/>
          <p:nvPr/>
        </p:nvGrpSpPr>
        <p:grpSpPr>
          <a:xfrm>
            <a:off x="6680835" y="4539615"/>
            <a:ext cx="4977765" cy="1764030"/>
            <a:chOff x="6680835" y="4539615"/>
            <a:chExt cx="4977765" cy="1764030"/>
          </a:xfrm>
        </p:grpSpPr>
        <p:sp>
          <p:nvSpPr>
            <p:cNvPr id="72" name="Rectangle 72"/>
            <p:cNvSpPr/>
            <p:nvPr/>
          </p:nvSpPr>
          <p:spPr>
            <a:xfrm>
              <a:off x="6680835" y="4539615"/>
              <a:ext cx="4977765" cy="1764030"/>
            </a:xfrm>
            <a:prstGeom prst="roundRect">
              <a:avLst>
                <a:gd name="adj" fmla="val 755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873240" y="4732020"/>
              <a:ext cx="18097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924675" y="476631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这张表要横着读也要竖着读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866382" y="5088255"/>
              <a:ext cx="441140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横着读是“已知高度求结点数范围”，竖着读是“已知结点数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定位高度”。例如 n = 20 落在 16 到 31 之间，高度就是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4。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67525" y="5901214"/>
              <a:ext cx="33736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这个对应关系稍后会写成一个公式：k = ⌊log₂n⌋。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满二叉树与完全二叉树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三种二叉树放在一起对比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11125200" cy="1623060"/>
            <a:chOff x="533400" y="1524000"/>
            <a:chExt cx="11125200" cy="16230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654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7513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47205" y="164830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结点数与高度的关系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60956" y="1648301"/>
              <a:ext cx="947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度为 1 的结点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205406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一般二叉树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13635" y="2054066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每个结点至多 2 个孩子且分左右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51195" y="205406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+ 1 ≤ n ≤ 2ᵏ⁺¹ − 1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10688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任意多个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30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3553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满二叉树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13635" y="2459831"/>
              <a:ext cx="20695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高度为 k 且有 2ᵏ⁺¹ − 1 个结点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51195" y="24598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由 k 唯一确定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10688" y="24598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一个也没有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365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28655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13635" y="2865596"/>
              <a:ext cx="2898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结点与同高满二叉树的前 n 个结点一一对应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51195" y="2865596"/>
              <a:ext cx="1195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2ᵏ ≤ n ≤ 2ᵏ⁺¹ − 1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10688" y="2865596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至多 1 个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11125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308860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646420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9205912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1-compare-2"/>
          <p:cNvGrpSpPr/>
          <p:nvPr/>
        </p:nvGrpSpPr>
        <p:grpSpPr>
          <a:xfrm>
            <a:off x="533400" y="3322320"/>
            <a:ext cx="11125200" cy="2057400"/>
            <a:chOff x="533400" y="3322320"/>
            <a:chExt cx="11125200" cy="2057400"/>
          </a:xfrm>
        </p:grpSpPr>
        <p:sp>
          <p:nvSpPr>
            <p:cNvPr id="32" name="Rectangle 32"/>
            <p:cNvSpPr/>
            <p:nvPr/>
          </p:nvSpPr>
          <p:spPr>
            <a:xfrm>
              <a:off x="533400" y="3322320"/>
              <a:ext cx="5353050" cy="205740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3455670"/>
              <a:ext cx="47625" cy="17907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7047" y="353663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常见的错误说法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72478" y="391287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8497" y="385667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完全二叉树的叶结点都在最后一层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72478" y="421576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28497" y="4159568"/>
              <a:ext cx="3112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n 个结点的二叉树高度就是 ⌊log₂n⌋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72478" y="451770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8497" y="4461510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完全二叉树去掉最后一个结点还是完全二叉树，所以任意二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叉树都可以这样判断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05550" y="3322320"/>
              <a:ext cx="5353050" cy="205740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315075" y="3455670"/>
              <a:ext cx="47625" cy="17907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29197" y="353663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正确的说法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544628" y="391287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00647" y="3856672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叶结点可能出现在最后两层，只有满二叉树才全在最后一层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544628" y="421576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00647" y="4159568"/>
              <a:ext cx="44971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只有完全二叉树的高度才由 n 唯一确定，一般二叉树可以高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n − 1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544628" y="477488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00647" y="4718685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去掉编号最大的结点后仍是完全二叉树，但这只是完全二叉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树自己的性质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934075" y="418909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10546" y="429053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8" name="c1-callout-3"/>
          <p:cNvGrpSpPr/>
          <p:nvPr/>
        </p:nvGrpSpPr>
        <p:grpSpPr>
          <a:xfrm>
            <a:off x="533400" y="5554028"/>
            <a:ext cx="11125200" cy="808672"/>
            <a:chOff x="533400" y="5554028"/>
            <a:chExt cx="11125200" cy="808672"/>
          </a:xfrm>
        </p:grpSpPr>
        <p:sp>
          <p:nvSpPr>
            <p:cNvPr id="53" name="Rectangle 53"/>
            <p:cNvSpPr/>
            <p:nvPr/>
          </p:nvSpPr>
          <p:spPr>
            <a:xfrm>
              <a:off x="533400" y="5554028"/>
              <a:ext cx="11125200" cy="808672"/>
            </a:xfrm>
            <a:prstGeom prst="roundRect">
              <a:avLst>
                <a:gd name="adj" fmla="val 1413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5858830"/>
              <a:ext cx="200023" cy="200023"/>
              <a:chOff x="738188" y="5858830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8588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1538" y="59255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892" y="5864542"/>
              <a:ext cx="7646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满二叉树一定是完全二叉树，反过来不成立。判断题里把这两个词对调，是最常见的出题方式。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35499" cy="3351847"/>
            <a:chOff x="667512" y="1835468"/>
            <a:chExt cx="513549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完全二叉树的编号规律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父子结点的编号换算，以及由它直接推出的三条结论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按层次顺序从 1 开始编号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 ⌊i/2⌋、左 2i、右 2i+1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非叶 ⌊n/2⌋、叶 ⌈n/2⌉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066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 ⌊log₂n⌋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07795" cy="909257"/>
            <a:chOff x="520446" y="342900"/>
            <a:chExt cx="71077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完全二叉树的编号规律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077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编号引理：知道 i，就知道它的父亲和两个孩子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5842635" cy="2600325"/>
            <a:chOff x="533400" y="1524000"/>
            <a:chExt cx="5842635" cy="26003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600325"/>
            </a:xfrm>
            <a:prstGeom prst="roundRect">
              <a:avLst>
                <a:gd name="adj" fmla="val 51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33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234" y="1743551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引理 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52086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若将一棵具有 n 个结点的完全二叉树按层次顺序从 1 开始编号，则对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编号为 i（1 ≤ i ≤ n）的结点有：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58190" y="260032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3868" y="263871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8987" y="2612708"/>
              <a:ext cx="44844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i ≠ 1，则编号为 i 的结点的父结点的编号为 ⌊i / 2⌋；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58190" y="290036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3868" y="293874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8987" y="2912745"/>
              <a:ext cx="47800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2i ≤ n，则编号为 i 的结点的左孩子的编号为 2i，否则 i 无左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孩子；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58190" y="345757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3868" y="349596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8987" y="3469958"/>
              <a:ext cx="46771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2i + 1 ≤ n，则 i 的右孩子结点编号为 2i + 1，否则 i 无右孩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子。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4294822"/>
            <a:ext cx="5842635" cy="729615"/>
            <a:chOff x="533400" y="4294822"/>
            <a:chExt cx="5842635" cy="729615"/>
          </a:xfrm>
        </p:grpSpPr>
        <p:sp>
          <p:nvSpPr>
            <p:cNvPr id="22" name="Rectangle 22"/>
            <p:cNvSpPr/>
            <p:nvPr/>
          </p:nvSpPr>
          <p:spPr>
            <a:xfrm>
              <a:off x="533400" y="4294822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4559620"/>
              <a:ext cx="200023" cy="200023"/>
              <a:chOff x="738188" y="4559620"/>
              <a:chExt cx="200023" cy="20002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45596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71538" y="46262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892" y="4440555"/>
              <a:ext cx="48400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这条引理是第 8 讲用一维数组存二叉树的基础。有了编号换算，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不存指针也能在结点之间走动。</a:t>
              </a:r>
            </a:p>
          </p:txBody>
        </p:sp>
      </p:grpSp>
      <p:grpSp>
        <p:nvGrpSpPr>
          <p:cNvPr id="34" name="c1-callout-3"/>
          <p:cNvGrpSpPr/>
          <p:nvPr/>
        </p:nvGrpSpPr>
        <p:grpSpPr>
          <a:xfrm>
            <a:off x="533400" y="5193982"/>
            <a:ext cx="5842635" cy="1095375"/>
            <a:chOff x="533400" y="5193982"/>
            <a:chExt cx="5842635" cy="1095375"/>
          </a:xfrm>
        </p:grpSpPr>
        <p:sp>
          <p:nvSpPr>
            <p:cNvPr id="28" name="Rectangle 28"/>
            <p:cNvSpPr/>
            <p:nvPr/>
          </p:nvSpPr>
          <p:spPr>
            <a:xfrm>
              <a:off x="533400" y="5193982"/>
              <a:ext cx="5842635" cy="1095375"/>
            </a:xfrm>
            <a:prstGeom prst="roundRect">
              <a:avLst>
                <a:gd name="adj" fmla="val 1043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26129" y="5637966"/>
              <a:ext cx="224134" cy="192560"/>
              <a:chOff x="726129" y="5637966"/>
              <a:chExt cx="224134" cy="19256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38200" y="5708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26129" y="5637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5786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5523548"/>
              <a:ext cx="48400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编号必须从 1 开始。若数组下标从 0 开始，三个式子要改成父 ⌊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(i − 1) / 2⌋、左 2i + 1、右 2i + 2。</a:t>
              </a:r>
            </a:p>
          </p:txBody>
        </p:sp>
      </p:grpSp>
      <p:grpSp>
        <p:nvGrpSpPr>
          <p:cNvPr id="52" name="c2-graph-1"/>
          <p:cNvGrpSpPr/>
          <p:nvPr/>
        </p:nvGrpSpPr>
        <p:grpSpPr>
          <a:xfrm>
            <a:off x="7723822" y="1680210"/>
            <a:ext cx="3007996" cy="1729740"/>
            <a:chOff x="7723822" y="1680210"/>
            <a:chExt cx="3007996" cy="1729740"/>
          </a:xfrm>
        </p:grpSpPr>
        <p:sp>
          <p:nvSpPr>
            <p:cNvPr id="35" name="Freeform 35"/>
            <p:cNvSpPr/>
            <p:nvPr/>
          </p:nvSpPr>
          <p:spPr>
            <a:xfrm>
              <a:off x="9169718" y="1920240"/>
              <a:ext cx="9525" cy="426720"/>
            </a:xfrm>
            <a:custGeom>
              <a:avLst/>
              <a:gdLst/>
              <a:ahLst/>
              <a:cxnLst/>
              <a:rect l="l" t="t" r="r" b="b"/>
              <a:pathLst>
                <a:path w="9525" h="426720">
                  <a:moveTo>
                    <a:pt x="0" y="0"/>
                  </a:moveTo>
                  <a:lnTo>
                    <a:pt x="0" y="4267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016240" y="2589848"/>
              <a:ext cx="1013460" cy="586740"/>
            </a:xfrm>
            <a:custGeom>
              <a:avLst/>
              <a:gdLst/>
              <a:ahLst/>
              <a:cxnLst/>
              <a:rect l="l" t="t" r="r" b="b"/>
              <a:pathLst>
                <a:path w="1013460" h="586740">
                  <a:moveTo>
                    <a:pt x="1013460" y="0"/>
                  </a:moveTo>
                  <a:lnTo>
                    <a:pt x="0" y="5867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309735" y="2589848"/>
              <a:ext cx="946785" cy="547688"/>
            </a:xfrm>
            <a:custGeom>
              <a:avLst/>
              <a:gdLst/>
              <a:ahLst/>
              <a:cxnLst/>
              <a:rect l="l" t="t" r="r" b="b"/>
              <a:pathLst>
                <a:path w="946785" h="547688">
                  <a:moveTo>
                    <a:pt x="0" y="0"/>
                  </a:moveTo>
                  <a:lnTo>
                    <a:pt x="946785" y="5476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867775" y="1680210"/>
              <a:ext cx="603885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9017318" y="235648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723822" y="310515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195560" y="3137535"/>
              <a:ext cx="536258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005935" y="1744028"/>
              <a:ext cx="327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⌊i/2⌋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145873" y="2452688"/>
              <a:ext cx="47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17393" y="3201352"/>
              <a:ext cx="1176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335367" y="3201352"/>
              <a:ext cx="2575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2i+1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975408" y="2054542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999372" y="2084546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父结点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328660" y="2804160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352625" y="2834164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左孩子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588818" y="2785110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612782" y="2814161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右孩子</a:t>
              </a:r>
            </a:p>
          </p:txBody>
        </p:sp>
      </p:grpSp>
      <p:grpSp>
        <p:nvGrpSpPr>
          <p:cNvPr id="90" name="c2-table-2"/>
          <p:cNvGrpSpPr/>
          <p:nvPr/>
        </p:nvGrpSpPr>
        <p:grpSpPr>
          <a:xfrm>
            <a:off x="6675882" y="3663315"/>
            <a:ext cx="4982718" cy="2664809"/>
            <a:chOff x="6675882" y="3663315"/>
            <a:chExt cx="4982718" cy="2664809"/>
          </a:xfrm>
        </p:grpSpPr>
        <p:sp>
          <p:nvSpPr>
            <p:cNvPr id="53" name="Rectangle 53"/>
            <p:cNvSpPr/>
            <p:nvPr/>
          </p:nvSpPr>
          <p:spPr>
            <a:xfrm>
              <a:off x="6680835" y="3663315"/>
              <a:ext cx="497776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22861" y="3784759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082117" y="3784759"/>
              <a:ext cx="6054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父 ⌊i/2⌋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560513" y="3784759"/>
              <a:ext cx="344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 2i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729788" y="3784759"/>
              <a:ext cx="5184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 2i+1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77990" y="41848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20965" y="418480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42108" y="418480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416540" y="418480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680835" y="445865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680835" y="4463415"/>
              <a:ext cx="497776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77990" y="45848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720965" y="45848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242108" y="45848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416540" y="45848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680835" y="48587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777990" y="49849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720965" y="498490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242108" y="498490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416540" y="498490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680835" y="525875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680835" y="5263515"/>
              <a:ext cx="497776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777990" y="53849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720965" y="53849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242108" y="53849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416540" y="53849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680835" y="56588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777990" y="5785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720965" y="578500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242108" y="578500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10328910" y="5673090"/>
              <a:ext cx="1320165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0416540" y="578500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680835" y="3663315"/>
              <a:ext cx="4977765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7619048" y="3663315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9140190" y="3663315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10314622" y="3663315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675882" y="6137434"/>
              <a:ext cx="23977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以第 27 页那棵 n = 10 的完全二叉树为例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89635" cy="909257"/>
            <a:chOff x="520446" y="342900"/>
            <a:chExt cx="55896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完全二叉树的编号规律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896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编号引理的证明：对结论 2 用归纳法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steps-1"/>
          <p:cNvGrpSpPr/>
          <p:nvPr/>
        </p:nvGrpSpPr>
        <p:grpSpPr>
          <a:xfrm>
            <a:off x="533400" y="1533525"/>
            <a:ext cx="5869229" cy="4094226"/>
            <a:chOff x="533400" y="1533525"/>
            <a:chExt cx="5869229" cy="409422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3546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755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956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23767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311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50796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51535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归纳基础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1846898"/>
              <a:ext cx="5456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i = 1，如果 n ≥ 2，则按层次顺序根的左孩子紧跟在根后面，编号显然为 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21874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归纳假设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2467927"/>
              <a:ext cx="4527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假定对所有 j（1 ≤ j ≤ i，且 2i ≤ n），已知 j 的左孩子编号为 2j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280844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往证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3088957"/>
              <a:ext cx="25242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 i + 1 的左孩子编号为 2(i + 1)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342947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归纳步骤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3709988"/>
              <a:ext cx="53233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 2(i + 1) ≤ n，由层次次序得知，i + 1 的左孩子之前的两个结点就是 i 的左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孩子和右孩子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261" y="427053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代入假设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404" y="4551045"/>
              <a:ext cx="54071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因为 i 的左孩子编号为 2i，故 i 的右孩子编号为 2i + 1，从而 i + 1 的左孩子编号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2i + 2 = 2(i + 1)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5261" y="511254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推出其余两条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404" y="5393055"/>
              <a:ext cx="47212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由结论 2 可直接推出结论 3，由结论 2 和 3 又可得到结论 1，证毕</a:t>
              </a:r>
            </a:p>
          </p:txBody>
        </p:sp>
      </p:grpSp>
      <p:grpSp>
        <p:nvGrpSpPr>
          <p:cNvPr id="48" name="c2-graph-1"/>
          <p:cNvGrpSpPr/>
          <p:nvPr/>
        </p:nvGrpSpPr>
        <p:grpSpPr>
          <a:xfrm>
            <a:off x="7218998" y="1553051"/>
            <a:ext cx="3573779" cy="2098358"/>
            <a:chOff x="7218998" y="1553051"/>
            <a:chExt cx="3573779" cy="2098358"/>
          </a:xfrm>
        </p:grpSpPr>
        <p:sp>
          <p:nvSpPr>
            <p:cNvPr id="33" name="Freeform 33"/>
            <p:cNvSpPr/>
            <p:nvPr/>
          </p:nvSpPr>
          <p:spPr>
            <a:xfrm>
              <a:off x="7457122" y="2037398"/>
              <a:ext cx="596265" cy="1008698"/>
            </a:xfrm>
            <a:custGeom>
              <a:avLst/>
              <a:gdLst/>
              <a:ahLst/>
              <a:cxnLst/>
              <a:rect l="l" t="t" r="r" b="b"/>
              <a:pathLst>
                <a:path w="596265" h="1008698">
                  <a:moveTo>
                    <a:pt x="596265" y="0"/>
                  </a:moveTo>
                  <a:lnTo>
                    <a:pt x="0" y="100869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209598" y="2042160"/>
              <a:ext cx="520065" cy="1004887"/>
            </a:xfrm>
            <a:custGeom>
              <a:avLst/>
              <a:gdLst/>
              <a:ahLst/>
              <a:cxnLst/>
              <a:rect l="l" t="t" r="r" b="b"/>
              <a:pathLst>
                <a:path w="520065" h="1004887">
                  <a:moveTo>
                    <a:pt x="0" y="0"/>
                  </a:moveTo>
                  <a:lnTo>
                    <a:pt x="520065" y="100488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0091738" y="2038350"/>
              <a:ext cx="372427" cy="1008697"/>
            </a:xfrm>
            <a:custGeom>
              <a:avLst/>
              <a:gdLst/>
              <a:ahLst/>
              <a:cxnLst/>
              <a:rect l="l" t="t" r="r" b="b"/>
              <a:pathLst>
                <a:path w="372427" h="1008697">
                  <a:moveTo>
                    <a:pt x="0" y="0"/>
                  </a:moveTo>
                  <a:lnTo>
                    <a:pt x="372427" y="10086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982902" y="174593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781222" y="1758315"/>
              <a:ext cx="517208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7218998" y="3032760"/>
              <a:ext cx="308610" cy="30861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524875" y="3047048"/>
              <a:ext cx="554355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238422" y="3047048"/>
              <a:ext cx="554355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107706" y="1832610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931076" y="1832610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i+1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04891" y="3121343"/>
              <a:ext cx="136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2i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52010" y="3121343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2i+1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365558" y="3121343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2i+2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28216" y="155305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同一层相邻的两个结点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52828" y="343138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下一层按左到右紧挨着排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898005" y="3788092"/>
            <a:ext cx="4760595" cy="1830705"/>
            <a:chOff x="6898005" y="3788092"/>
            <a:chExt cx="4760595" cy="1830705"/>
          </a:xfrm>
        </p:grpSpPr>
        <p:sp>
          <p:nvSpPr>
            <p:cNvPr id="49" name="Rectangle 49"/>
            <p:cNvSpPr/>
            <p:nvPr/>
          </p:nvSpPr>
          <p:spPr>
            <a:xfrm>
              <a:off x="6898005" y="3788092"/>
              <a:ext cx="4760595" cy="1830705"/>
            </a:xfrm>
            <a:prstGeom prst="roundRect">
              <a:avLst>
                <a:gd name="adj" fmla="val 72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907530" y="3921442"/>
              <a:ext cx="47625" cy="15640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39940" y="3991928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00595" y="402764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证明用到的唯一条件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32701" y="4364831"/>
              <a:ext cx="39819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只用到层次顺序这一条：同层从左到右编号，下一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层紧接着上一层。正因为完全二叉树中间不允许有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空位，孩子的编号才会是整齐的 2 倍关系。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5" name="Rectangle 55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511" y="6004084"/>
              <a:ext cx="88174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一般二叉树没有这个规律。中间缺了一个结点，后面所有结点的编号就会错位，2i 未必还是 i 的左孩子。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03543" cy="909257"/>
            <a:chOff x="520446" y="342900"/>
            <a:chExt cx="69035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完全二叉树的编号规律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035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推论：非叶结点 ⌊n/2⌋ 个，叶结点 ⌈n/2⌉ 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901065"/>
            <a:chOff x="533400" y="1524000"/>
            <a:chExt cx="5626418" cy="9010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901065"/>
            </a:xfrm>
            <a:prstGeom prst="roundRect">
              <a:avLst>
                <a:gd name="adj" fmla="val 147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63436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推论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932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个结点的完全二叉树，非叶结点 ⌊n/2⌋ 个，叶结点 ⌈n/2⌉ 个。</a:t>
              </a:r>
            </a:p>
          </p:txBody>
        </p:sp>
      </p:grpSp>
      <p:grpSp>
        <p:nvGrpSpPr>
          <p:cNvPr id="26" name="c1-steps-2"/>
          <p:cNvGrpSpPr/>
          <p:nvPr/>
        </p:nvGrpSpPr>
        <p:grpSpPr>
          <a:xfrm>
            <a:off x="533400" y="2599372"/>
            <a:ext cx="3180778" cy="1596962"/>
            <a:chOff x="533400" y="2599372"/>
            <a:chExt cx="3180778" cy="1596962"/>
          </a:xfrm>
        </p:grpSpPr>
        <p:sp>
          <p:nvSpPr>
            <p:cNvPr id="13" name="Rectangle 13"/>
            <p:cNvSpPr/>
            <p:nvPr/>
          </p:nvSpPr>
          <p:spPr>
            <a:xfrm>
              <a:off x="666750" y="2742248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259937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26731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15277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226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7052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37790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63032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找最后一个非叶结点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885123"/>
              <a:ext cx="2682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最后一个结点编号 n，其父结点编号 ⌊n/2⌋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18277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数非叶结点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3437573"/>
              <a:ext cx="27670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编号 1 到 ⌊n/2⌋ 的都有孩子，更大的都没有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7361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数叶结点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3990975"/>
              <a:ext cx="26892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其余都是叶结点，共 n − ⌊n/2⌋ = ⌈n/2⌉ 个</a:t>
              </a:r>
            </a:p>
          </p:txBody>
        </p:sp>
      </p:grpSp>
      <p:grpSp>
        <p:nvGrpSpPr>
          <p:cNvPr id="32" name="c1-card-3"/>
          <p:cNvGrpSpPr/>
          <p:nvPr/>
        </p:nvGrpSpPr>
        <p:grpSpPr>
          <a:xfrm>
            <a:off x="533400" y="4357688"/>
            <a:ext cx="5626418" cy="1143952"/>
            <a:chOff x="533400" y="4357688"/>
            <a:chExt cx="5626418" cy="1143952"/>
          </a:xfrm>
        </p:grpSpPr>
        <p:sp>
          <p:nvSpPr>
            <p:cNvPr id="27" name="Rectangle 27"/>
            <p:cNvSpPr/>
            <p:nvPr/>
          </p:nvSpPr>
          <p:spPr>
            <a:xfrm>
              <a:off x="533400" y="4357688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491038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2475" y="4538662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9894" y="45715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考研题全国卷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5998" y="4879181"/>
              <a:ext cx="49954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已知一棵完全二叉树有 768 个结点，则叶结点个数是________。解：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⌈768/2⌉ =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384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5" name="c2-tree-1"/>
          <p:cNvGrpSpPr/>
          <p:nvPr/>
        </p:nvGrpSpPr>
        <p:grpSpPr>
          <a:xfrm>
            <a:off x="6611302" y="1593532"/>
            <a:ext cx="4575811" cy="1844041"/>
            <a:chOff x="6611302" y="1593532"/>
            <a:chExt cx="4575811" cy="1844041"/>
          </a:xfrm>
        </p:grpSpPr>
        <p:sp>
          <p:nvSpPr>
            <p:cNvPr id="33" name="Freeform 33"/>
            <p:cNvSpPr/>
            <p:nvPr/>
          </p:nvSpPr>
          <p:spPr>
            <a:xfrm>
              <a:off x="6789420" y="2764155"/>
              <a:ext cx="324803" cy="495300"/>
            </a:xfrm>
            <a:custGeom>
              <a:avLst/>
              <a:gdLst/>
              <a:ahLst/>
              <a:cxnLst/>
              <a:rect l="l" t="t" r="r" b="b"/>
              <a:pathLst>
                <a:path w="324803" h="495300">
                  <a:moveTo>
                    <a:pt x="324803" y="0"/>
                  </a:moveTo>
                  <a:lnTo>
                    <a:pt x="0" y="4953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114222" y="2764155"/>
              <a:ext cx="324803" cy="495300"/>
            </a:xfrm>
            <a:custGeom>
              <a:avLst/>
              <a:gdLst/>
              <a:ahLst/>
              <a:cxnLst/>
              <a:rect l="l" t="t" r="r" b="b"/>
              <a:pathLst>
                <a:path w="324803" h="495300">
                  <a:moveTo>
                    <a:pt x="0" y="0"/>
                  </a:moveTo>
                  <a:lnTo>
                    <a:pt x="324803" y="4953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087678" y="2764155"/>
              <a:ext cx="324803" cy="495300"/>
            </a:xfrm>
            <a:custGeom>
              <a:avLst/>
              <a:gdLst/>
              <a:ahLst/>
              <a:cxnLst/>
              <a:rect l="l" t="t" r="r" b="b"/>
              <a:pathLst>
                <a:path w="324803" h="495300">
                  <a:moveTo>
                    <a:pt x="324803" y="0"/>
                  </a:moveTo>
                  <a:lnTo>
                    <a:pt x="0" y="4953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412480" y="2764155"/>
              <a:ext cx="324802" cy="495300"/>
            </a:xfrm>
            <a:custGeom>
              <a:avLst/>
              <a:gdLst/>
              <a:ahLst/>
              <a:cxnLst/>
              <a:rect l="l" t="t" r="r" b="b"/>
              <a:pathLst>
                <a:path w="324802" h="495300">
                  <a:moveTo>
                    <a:pt x="0" y="0"/>
                  </a:moveTo>
                  <a:lnTo>
                    <a:pt x="324802" y="4953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114222" y="2267902"/>
              <a:ext cx="648653" cy="496252"/>
            </a:xfrm>
            <a:custGeom>
              <a:avLst/>
              <a:gdLst/>
              <a:ahLst/>
              <a:cxnLst/>
              <a:rect l="l" t="t" r="r" b="b"/>
              <a:pathLst>
                <a:path w="648653" h="496252">
                  <a:moveTo>
                    <a:pt x="648653" y="0"/>
                  </a:moveTo>
                  <a:lnTo>
                    <a:pt x="0" y="4962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762875" y="2267902"/>
              <a:ext cx="649605" cy="496252"/>
            </a:xfrm>
            <a:custGeom>
              <a:avLst/>
              <a:gdLst/>
              <a:ahLst/>
              <a:cxnLst/>
              <a:rect l="l" t="t" r="r" b="b"/>
              <a:pathLst>
                <a:path w="649605" h="496252">
                  <a:moveTo>
                    <a:pt x="0" y="0"/>
                  </a:moveTo>
                  <a:lnTo>
                    <a:pt x="649605" y="4962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710738" y="2267902"/>
              <a:ext cx="649605" cy="496252"/>
            </a:xfrm>
            <a:custGeom>
              <a:avLst/>
              <a:gdLst/>
              <a:ahLst/>
              <a:cxnLst/>
              <a:rect l="l" t="t" r="r" b="b"/>
              <a:pathLst>
                <a:path w="649605" h="496252">
                  <a:moveTo>
                    <a:pt x="649605" y="0"/>
                  </a:moveTo>
                  <a:lnTo>
                    <a:pt x="0" y="4962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0360342" y="2267902"/>
              <a:ext cx="648652" cy="496252"/>
            </a:xfrm>
            <a:custGeom>
              <a:avLst/>
              <a:gdLst/>
              <a:ahLst/>
              <a:cxnLst/>
              <a:rect l="l" t="t" r="r" b="b"/>
              <a:pathLst>
                <a:path w="648652" h="496252">
                  <a:moveTo>
                    <a:pt x="0" y="0"/>
                  </a:moveTo>
                  <a:lnTo>
                    <a:pt x="648652" y="4962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762875" y="1771650"/>
              <a:ext cx="1299210" cy="496252"/>
            </a:xfrm>
            <a:custGeom>
              <a:avLst/>
              <a:gdLst/>
              <a:ahLst/>
              <a:cxnLst/>
              <a:rect l="l" t="t" r="r" b="b"/>
              <a:pathLst>
                <a:path w="1299210" h="496252">
                  <a:moveTo>
                    <a:pt x="1299210" y="0"/>
                  </a:moveTo>
                  <a:lnTo>
                    <a:pt x="0" y="4962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062085" y="1771650"/>
              <a:ext cx="1298258" cy="496252"/>
            </a:xfrm>
            <a:custGeom>
              <a:avLst/>
              <a:gdLst/>
              <a:ahLst/>
              <a:cxnLst/>
              <a:rect l="l" t="t" r="r" b="b"/>
              <a:pathLst>
                <a:path w="1298258" h="496252">
                  <a:moveTo>
                    <a:pt x="0" y="0"/>
                  </a:moveTo>
                  <a:lnTo>
                    <a:pt x="1298258" y="4962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611302" y="308133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7260908" y="308133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6936105" y="258603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7909560" y="308133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8559165" y="308133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8234362" y="2586038"/>
              <a:ext cx="356235" cy="356235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7584758" y="208978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9532620" y="258603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10830878" y="258603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10182225" y="208978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8883968" y="159353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49673" y="320325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99278" y="320325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74476" y="270795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12946" y="320325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62551" y="320325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72733" y="270795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723128" y="221170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670991" y="270795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969248" y="270795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320596" y="221170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022338" y="171640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91" name="c2-table-2"/>
          <p:cNvGrpSpPr/>
          <p:nvPr/>
        </p:nvGrpSpPr>
        <p:grpSpPr>
          <a:xfrm>
            <a:off x="6459665" y="3672840"/>
            <a:ext cx="5198935" cy="1789461"/>
            <a:chOff x="6459665" y="3672840"/>
            <a:chExt cx="5198935" cy="1789461"/>
          </a:xfrm>
        </p:grpSpPr>
        <p:sp>
          <p:nvSpPr>
            <p:cNvPr id="66" name="Rectangle 66"/>
            <p:cNvSpPr/>
            <p:nvPr/>
          </p:nvSpPr>
          <p:spPr>
            <a:xfrm>
              <a:off x="6464618" y="3672840"/>
              <a:ext cx="519398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870906" y="37899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669340" y="378999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最后一个非叶结点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422511" y="378999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非叶结点数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766679" y="378999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叶结点数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559296" y="417099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64171" y="41709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205341" y="41709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545509" y="41709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464618" y="443007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464618" y="4434840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559296" y="455295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464171" y="45529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205341" y="45529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545509" y="45529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464618" y="48120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559296" y="493395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768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464171" y="493395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384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205341" y="493395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384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545509" y="493395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384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464618" y="3672840"/>
              <a:ext cx="5193982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7364730" y="367284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9105900" y="367284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10446068" y="367284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459665" y="5271611"/>
              <a:ext cx="32487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上图是 n = 11 的情形，绿色的 5 号是最后一个非叶结点</a:t>
              </a:r>
            </a:p>
          </p:txBody>
        </p:sp>
      </p:grpSp>
      <p:grpSp>
        <p:nvGrpSpPr>
          <p:cNvPr id="9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2" name="Rectangle 9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1041273" y="6039326"/>
              <a:ext cx="76895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 为奇数时两个数不相等，例如 n = 11 是非叶 5 个、叶 6 个。向下取整和向上取整的符号不要写反。</a:t>
              </a:r>
            </a:p>
          </p:txBody>
        </p:sp>
      </p:grpSp>
      <p:grpSp>
        <p:nvGrpSpPr>
          <p:cNvPr id="10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9" name="TextBox 99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87237" cy="909257"/>
            <a:chOff x="520446" y="342900"/>
            <a:chExt cx="68872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完全二叉树的编号规律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872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推论：n 个结点的完全二叉树高度是 ⌊log₂n⌋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842635" cy="901065"/>
            <a:chOff x="533400" y="1524000"/>
            <a:chExt cx="5842635" cy="9010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901065"/>
            </a:xfrm>
            <a:prstGeom prst="roundRect">
              <a:avLst>
                <a:gd name="adj" fmla="val 147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63436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519" y="1737836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引理 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39244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n（n &gt; 0）个结点的完全二叉树的高度是 ⌊log₂n⌋。</a:t>
              </a:r>
            </a:p>
          </p:txBody>
        </p:sp>
      </p:grpSp>
      <p:grpSp>
        <p:nvGrpSpPr>
          <p:cNvPr id="34" name="c1-steps-2"/>
          <p:cNvGrpSpPr/>
          <p:nvPr/>
        </p:nvGrpSpPr>
        <p:grpSpPr>
          <a:xfrm>
            <a:off x="533400" y="2599372"/>
            <a:ext cx="5625084" cy="2896172"/>
            <a:chOff x="533400" y="2599372"/>
            <a:chExt cx="5625084" cy="2896172"/>
          </a:xfrm>
        </p:grpSpPr>
        <p:sp>
          <p:nvSpPr>
            <p:cNvPr id="13" name="Rectangle 13"/>
            <p:cNvSpPr/>
            <p:nvPr/>
          </p:nvSpPr>
          <p:spPr>
            <a:xfrm>
              <a:off x="666750" y="2742248"/>
              <a:ext cx="19050" cy="24050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259937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26731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34613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419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8985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39724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4519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45258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50053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7024" y="50792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2630329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设高度为 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2885123"/>
              <a:ext cx="521131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由完全二叉树的定义，它的结点数介于高度 k − 1 的满二叉树与高度 k 的满二叉树的结点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数之间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33761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写出不等式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166" y="3630930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2ᵏ − 1 &lt; n ≤ 2ᵏ⁺¹ − 1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3929539"/>
              <a:ext cx="1082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 n 是整数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7166" y="4184332"/>
              <a:ext cx="35091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左边给出 n ≥ 2ᵏ，右边给出 n &lt; 2ᵏ⁺¹，即 2ᵏ ≤ n &lt; 2ᵏ⁺¹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023" y="448294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两边取对数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7166" y="4736782"/>
              <a:ext cx="10849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≤ log₂n &lt; k + 1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6023" y="50353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7166" y="5290185"/>
              <a:ext cx="40533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是整数且落在这个长度为 1 的区间左端，故 k = ⌊log₂n⌋，证毕</a:t>
              </a:r>
            </a:p>
          </p:txBody>
        </p:sp>
      </p:grpSp>
      <p:grpSp>
        <p:nvGrpSpPr>
          <p:cNvPr id="41" name="c1-callout-3"/>
          <p:cNvGrpSpPr/>
          <p:nvPr/>
        </p:nvGrpSpPr>
        <p:grpSpPr>
          <a:xfrm>
            <a:off x="533400" y="5656898"/>
            <a:ext cx="5842635" cy="702945"/>
            <a:chOff x="533400" y="5656898"/>
            <a:chExt cx="5842635" cy="702945"/>
          </a:xfrm>
        </p:grpSpPr>
        <p:sp>
          <p:nvSpPr>
            <p:cNvPr id="35" name="Rectangle 35"/>
            <p:cNvSpPr/>
            <p:nvPr/>
          </p:nvSpPr>
          <p:spPr>
            <a:xfrm>
              <a:off x="533400" y="5656898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5908358"/>
              <a:ext cx="200026" cy="200026"/>
              <a:chOff x="738188" y="5908358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9083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59750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27088" y="60083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1273" y="5802154"/>
              <a:ext cx="46134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前提是完全二叉树。一般的二叉树只有 ⌊log₂n⌋ ≤ k ≤ n − 1 这个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范围，高度取不到唯一值。</a:t>
              </a:r>
            </a:p>
          </p:txBody>
        </p:sp>
      </p:grpSp>
      <p:grpSp>
        <p:nvGrpSpPr>
          <p:cNvPr id="71" name="c2-table-1"/>
          <p:cNvGrpSpPr/>
          <p:nvPr/>
        </p:nvGrpSpPr>
        <p:grpSpPr>
          <a:xfrm>
            <a:off x="6680835" y="1524000"/>
            <a:ext cx="4977765" cy="2287905"/>
            <a:chOff x="6680835" y="1524000"/>
            <a:chExt cx="4977765" cy="2287905"/>
          </a:xfrm>
        </p:grpSpPr>
        <p:sp>
          <p:nvSpPr>
            <p:cNvPr id="42" name="Rectangle 42"/>
            <p:cNvSpPr/>
            <p:nvPr/>
          </p:nvSpPr>
          <p:spPr>
            <a:xfrm>
              <a:off x="6680835" y="1524000"/>
              <a:ext cx="497776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11914" y="1641157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结点数 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38950" y="1641157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高度 k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99323" y="1641157"/>
              <a:ext cx="14535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该高度对应的 n 的范围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75514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98548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88234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680835" y="2282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80835" y="2286952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75514" y="2404110"/>
              <a:ext cx="344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~ 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198548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88234" y="2404110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~ 3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680835" y="2663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75514" y="2785110"/>
              <a:ext cx="344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~ 7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198548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88234" y="2785110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~ 7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680835" y="3045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680835" y="304990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75514" y="3167062"/>
              <a:ext cx="426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~ 15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198548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488234" y="3167062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~ 15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680835" y="3426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75514" y="3548062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768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113395" y="3440430"/>
              <a:ext cx="127063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198548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488234" y="354806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512 ~ 1023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680835" y="1524000"/>
              <a:ext cx="497776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8099108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938879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7" name="c2-card-2"/>
          <p:cNvGrpSpPr/>
          <p:nvPr/>
        </p:nvGrpSpPr>
        <p:grpSpPr>
          <a:xfrm>
            <a:off x="6680835" y="3976688"/>
            <a:ext cx="4977765" cy="2382202"/>
            <a:chOff x="6680835" y="3976688"/>
            <a:chExt cx="4977765" cy="2382202"/>
          </a:xfrm>
        </p:grpSpPr>
        <p:sp>
          <p:nvSpPr>
            <p:cNvPr id="72" name="Rectangle 72"/>
            <p:cNvSpPr/>
            <p:nvPr/>
          </p:nvSpPr>
          <p:spPr>
            <a:xfrm>
              <a:off x="6680835" y="3976688"/>
              <a:ext cx="4977765" cy="2382202"/>
            </a:xfrm>
            <a:prstGeom prst="roundRect">
              <a:avLst>
                <a:gd name="adj" fmla="val 559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861810" y="4157662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924929" y="419052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这条结论后面一直在用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855333" y="4498181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完全二叉树的高度只有 log 级别，所以在它上面从根走到叶只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 ⌊log₂n⌋ 步。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56476" y="5022533"/>
              <a:ext cx="433120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18 讲的堆排序、优先队列的插入与删除，复杂度 O(log n) 都来自这一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07114" cy="909257"/>
            <a:chOff x="520446" y="342900"/>
            <a:chExt cx="84071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完全二叉树的编号规律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071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例题：第 5 层有 8 个叶结点，结点数最少和最多是多少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046807" cy="278702"/>
            <a:chOff x="526161" y="1547336"/>
            <a:chExt cx="904680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0468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题面来自考研题全国卷。突破口是那句“叶结点只可能在最后两层出现”，于是第 5 层只有两种可能的身份。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41195"/>
            <a:ext cx="5410200" cy="952500"/>
            <a:chOff x="533400" y="1941195"/>
            <a:chExt cx="5410200" cy="95250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9525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6858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197072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0962" y="2167890"/>
              <a:ext cx="18775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情形一：第 5 层就是最后一层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49078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这种情形结点最少。</a:t>
              </a:r>
            </a:p>
          </p:txBody>
        </p:sp>
      </p:grpSp>
      <p:grpSp>
        <p:nvGrpSpPr>
          <p:cNvPr id="28" name="c1-steps-2"/>
          <p:cNvGrpSpPr/>
          <p:nvPr/>
        </p:nvGrpSpPr>
        <p:grpSpPr>
          <a:xfrm>
            <a:off x="533400" y="3078480"/>
            <a:ext cx="4661576" cy="1693069"/>
            <a:chOff x="533400" y="3078480"/>
            <a:chExt cx="4661576" cy="1693069"/>
          </a:xfrm>
        </p:grpSpPr>
        <p:sp>
          <p:nvSpPr>
            <p:cNvPr id="15" name="Rectangle 15"/>
            <p:cNvSpPr/>
            <p:nvPr/>
          </p:nvSpPr>
          <p:spPr>
            <a:xfrm>
              <a:off x="666750" y="3221355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33400" y="307848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1522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6652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37390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25196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43257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10991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前面各层必须排满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378041"/>
              <a:ext cx="4248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层到第 4 层是高度为 4 的满二叉树，共 2⁵ − 1 = 31 个结点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69760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加上本层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3964781"/>
              <a:ext cx="32229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层有 8 个结点，它们没有孩子，都是叶结点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428434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551521"/>
              <a:ext cx="1278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31 + 8 = </a:t>
              </a: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39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个结点</a:t>
              </a:r>
            </a:p>
          </p:txBody>
        </p:sp>
      </p:grpSp>
      <p:grpSp>
        <p:nvGrpSpPr>
          <p:cNvPr id="35" name="c1-callout-3"/>
          <p:cNvGrpSpPr/>
          <p:nvPr/>
        </p:nvGrpSpPr>
        <p:grpSpPr>
          <a:xfrm>
            <a:off x="533400" y="4940618"/>
            <a:ext cx="5410200" cy="729615"/>
            <a:chOff x="533400" y="4940618"/>
            <a:chExt cx="5410200" cy="729615"/>
          </a:xfrm>
        </p:grpSpPr>
        <p:sp>
          <p:nvSpPr>
            <p:cNvPr id="29" name="Rectangle 29"/>
            <p:cNvSpPr/>
            <p:nvPr/>
          </p:nvSpPr>
          <p:spPr>
            <a:xfrm>
              <a:off x="533400" y="494061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205413"/>
              <a:ext cx="200026" cy="200026"/>
              <a:chOff x="738188" y="5205413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2054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52720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088" y="530542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892" y="5086350"/>
              <a:ext cx="441998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不能再少了：高度若为 6，光是前 6 层就有 63 个结点，比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 多得多。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248400" y="1941195"/>
            <a:ext cx="5410200" cy="952500"/>
            <a:chOff x="6248400" y="1941195"/>
            <a:chExt cx="5410200" cy="952500"/>
          </a:xfrm>
        </p:grpSpPr>
        <p:sp>
          <p:nvSpPr>
            <p:cNvPr id="36" name="Rectangle 36"/>
            <p:cNvSpPr/>
            <p:nvPr/>
          </p:nvSpPr>
          <p:spPr>
            <a:xfrm>
              <a:off x="6248400" y="1941195"/>
              <a:ext cx="5410200" cy="9525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7925" y="2074545"/>
              <a:ext cx="47625" cy="6858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8905" y="2133600"/>
              <a:ext cx="197072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5962" y="2167890"/>
              <a:ext cx="18775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情形二：第 5 层是倒数第二层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2047" y="249078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这种情形结点最多。</a:t>
              </a:r>
            </a:p>
          </p:txBody>
        </p:sp>
      </p:grpSp>
      <p:grpSp>
        <p:nvGrpSpPr>
          <p:cNvPr id="55" name="c2-steps-2"/>
          <p:cNvGrpSpPr/>
          <p:nvPr/>
        </p:nvGrpSpPr>
        <p:grpSpPr>
          <a:xfrm>
            <a:off x="6248400" y="3078480"/>
            <a:ext cx="5435425" cy="1693069"/>
            <a:chOff x="6248400" y="3078480"/>
            <a:chExt cx="5435425" cy="1693069"/>
          </a:xfrm>
        </p:grpSpPr>
        <p:sp>
          <p:nvSpPr>
            <p:cNvPr id="42" name="Rectangle 42"/>
            <p:cNvSpPr/>
            <p:nvPr/>
          </p:nvSpPr>
          <p:spPr>
            <a:xfrm>
              <a:off x="6381750" y="3221355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6248400" y="307848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2024" y="31522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248400" y="36652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2024" y="37390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248400" y="425196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42024" y="43257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60642" y="310991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前六层排满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61785" y="3378041"/>
              <a:ext cx="3320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层到第 5 层都是满的，共 2⁶ − 1 = 63 个结点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60642" y="369760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反推有孩子的结点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61785" y="3964781"/>
              <a:ext cx="4180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层共 2⁵ = 32 个结点，8 个是叶结点，故 24 个结点有孩子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60642" y="428434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61785" y="4551521"/>
              <a:ext cx="50220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这 24 个结点每个至多带 2 个孩子，第 6 层至多 48 个，合计 63 + 48 = </a:t>
              </a: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111</a:t>
              </a:r>
            </a:p>
          </p:txBody>
        </p:sp>
      </p:grpSp>
      <p:grpSp>
        <p:nvGrpSpPr>
          <p:cNvPr id="62" name="c2-callout-3"/>
          <p:cNvGrpSpPr/>
          <p:nvPr/>
        </p:nvGrpSpPr>
        <p:grpSpPr>
          <a:xfrm>
            <a:off x="6248400" y="4940618"/>
            <a:ext cx="5410200" cy="729615"/>
            <a:chOff x="6248400" y="4940618"/>
            <a:chExt cx="5410200" cy="729615"/>
          </a:xfrm>
        </p:grpSpPr>
        <p:sp>
          <p:nvSpPr>
            <p:cNvPr id="56" name="Rectangle 56"/>
            <p:cNvSpPr/>
            <p:nvPr/>
          </p:nvSpPr>
          <p:spPr>
            <a:xfrm>
              <a:off x="6248400" y="494061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453188" y="5205413"/>
              <a:ext cx="200026" cy="200025"/>
              <a:chOff x="6453188" y="5205413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453188" y="52054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492926" y="52498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527642" y="53609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755892" y="5086350"/>
              <a:ext cx="43685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6 层放 47 个时第 5 层仍有 8 个叶结点，所以 110 也符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合题意，只是不是最多。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3" name="Rectangle 6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892" y="6023610"/>
              <a:ext cx="7873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做这类题先问一句“第 n 层是不是最后一层”。是最后一层给出最少值，是倒数第二层给出最多值。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81756" cy="909257"/>
            <a:chOff x="520446" y="342900"/>
            <a:chExt cx="63817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完全二叉树的编号规律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817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课下思考的一般式：把 5 和 8 换成 n 和 k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185862"/>
            <a:chOff x="533400" y="1524000"/>
            <a:chExt cx="5410200" cy="1185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7285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完全二叉树的第 n 层有 k 个叶结点，则结点总数最少是____，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最多是____。</a:t>
              </a:r>
            </a:p>
          </p:txBody>
        </p:sp>
      </p:grpSp>
      <p:grpSp>
        <p:nvGrpSpPr>
          <p:cNvPr id="30" name="c1-steps-2"/>
          <p:cNvGrpSpPr/>
          <p:nvPr/>
        </p:nvGrpSpPr>
        <p:grpSpPr>
          <a:xfrm>
            <a:off x="533400" y="2888932"/>
            <a:ext cx="5196967" cy="2476025"/>
            <a:chOff x="533400" y="2888932"/>
            <a:chExt cx="5196967" cy="2476025"/>
          </a:xfrm>
        </p:grpSpPr>
        <p:sp>
          <p:nvSpPr>
            <p:cNvPr id="13" name="Rectangle 13"/>
            <p:cNvSpPr/>
            <p:nvPr/>
          </p:nvSpPr>
          <p:spPr>
            <a:xfrm>
              <a:off x="666750" y="3031808"/>
              <a:ext cx="19050" cy="19564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288893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29627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4718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5456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0547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1286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84536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49191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292131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最少：第 n 层为最后一层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188494"/>
              <a:ext cx="40408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前 n 层排满有 2ⁿ − 1 个，加本层的 k 个，得下界 </a:t>
              </a:r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2ⁿ + k − 1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504248"/>
              <a:ext cx="2232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最多：第 n 层为倒数第二层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3771424"/>
              <a:ext cx="2325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n + 1 层排满有 2ⁿ⁺¹ − 1 个结点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408717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算最后一层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354354"/>
              <a:ext cx="478358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n 层的 2ⁿ 个结点中 k 个是叶结点，其余 2ⁿ − k 个至多各带 2 个孩子，末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层至多 2ⁿ⁺¹ − 2k 个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642" y="48768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得到上界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785" y="5144929"/>
              <a:ext cx="1482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相加得 </a:t>
              </a:r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2ⁿ⁺² − 2k − 1</a:t>
              </a:r>
            </a:p>
          </p:txBody>
        </p:sp>
      </p:grpSp>
      <p:grpSp>
        <p:nvGrpSpPr>
          <p:cNvPr id="67" name="c2-table-1"/>
          <p:cNvGrpSpPr/>
          <p:nvPr/>
        </p:nvGrpSpPr>
        <p:grpSpPr>
          <a:xfrm>
            <a:off x="6248400" y="1524000"/>
            <a:ext cx="5410200" cy="2000250"/>
            <a:chOff x="6248400" y="1524000"/>
            <a:chExt cx="5410200" cy="2000250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98086" y="164544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n 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90385" y="1645444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叶结点 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8241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公式最少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90176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公式最多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79793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穷举核对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45555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40917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32482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540240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47998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5555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40917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32482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40240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647998" y="24455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5555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40917" y="28455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32482" y="28455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540240" y="28455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647998" y="2845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3119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48400" y="31242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45555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40917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32482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540240" y="32456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47998" y="32456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48400" y="1524000"/>
              <a:ext cx="5410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239000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330565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43832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546080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6" name="c2-card-2"/>
          <p:cNvGrpSpPr/>
          <p:nvPr/>
        </p:nvGrpSpPr>
        <p:grpSpPr>
          <a:xfrm>
            <a:off x="6248400" y="3693795"/>
            <a:ext cx="5410200" cy="1954530"/>
            <a:chOff x="6248400" y="3693795"/>
            <a:chExt cx="5410200" cy="1954530"/>
          </a:xfrm>
        </p:grpSpPr>
        <p:sp>
          <p:nvSpPr>
            <p:cNvPr id="68" name="Rectangle 68"/>
            <p:cNvSpPr/>
            <p:nvPr/>
          </p:nvSpPr>
          <p:spPr>
            <a:xfrm>
              <a:off x="6248400" y="3693795"/>
              <a:ext cx="5410200" cy="1954530"/>
            </a:xfrm>
            <a:prstGeom prst="roundRect">
              <a:avLst>
                <a:gd name="adj" fmla="val 682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35090" y="388048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512509" y="391334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两个边界情形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443662" y="428148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599682" y="422529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= 2ⁿ（该层全是叶结点）时，上下界都等于 2ⁿ⁺¹ − 1，树只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能是高度为 n 的满二叉树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443662" y="483870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599682" y="478250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越小，说明第 n 层带孩子的结点越多，树就可以越大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429375" y="5079206"/>
              <a:ext cx="47409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表里的数字用程序穷举核对过：n 取 1 到 6、k 取遍 1 到 2ⁿ，逐个构造完全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二叉树统计该层叶结点数，与公式完全吻合。</a:t>
              </a:r>
            </a:p>
          </p:txBody>
        </p:sp>
      </p:grpSp>
      <p:grpSp>
        <p:nvGrpSpPr>
          <p:cNvPr id="8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7" name="Rectangle 7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0892" y="6028373"/>
              <a:ext cx="80646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 n = 5、k = 8 代回去：最少 2⁵ + 8 − 1 = 39，最多 2⁷ − 16 − 1 = 111，正好是上一页的两个答案。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 · 完全二叉树的编号规律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公式速查：哪些对任意二叉树成立，哪些只对特殊二叉树成立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table-1"/>
          <p:cNvGrpSpPr/>
          <p:nvPr/>
        </p:nvGrpSpPr>
        <p:grpSpPr>
          <a:xfrm>
            <a:off x="528066" y="1524000"/>
            <a:ext cx="5415534" cy="2714244"/>
            <a:chOff x="528066" y="1524000"/>
            <a:chExt cx="5415534" cy="271424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1324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1834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3412" y="2054066"/>
              <a:ext cx="10585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层的结点数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06077" y="2054066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2ⁱ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3412" y="2459831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高度为 k 时的结点数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06077" y="24598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+ 1 ≤ n ≤ 2ᵏ⁺¹ − 1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412" y="2865596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个结点时的高度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06077" y="2865596"/>
              <a:ext cx="1323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⌊log₂n⌋ ≤ k ≤ n − 1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3271361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叶结点与度 2 结点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06077" y="3271361"/>
              <a:ext cx="7728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n₀ = n₂ + 1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8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412" y="36771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结点数与边数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06077" y="367712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n − 1 = 2n₂ + n₁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41020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80130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066" y="403288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对任意二叉树都成立</a:t>
              </a:r>
            </a:p>
          </p:txBody>
        </p:sp>
      </p:grpSp>
      <p:grpSp>
        <p:nvGrpSpPr>
          <p:cNvPr id="36" name="c1-callout-2"/>
          <p:cNvGrpSpPr/>
          <p:nvPr/>
        </p:nvGrpSpPr>
        <p:grpSpPr>
          <a:xfrm>
            <a:off x="533400" y="4371975"/>
            <a:ext cx="5410200" cy="1209675"/>
            <a:chOff x="533400" y="4371975"/>
            <a:chExt cx="5410200" cy="1209675"/>
          </a:xfrm>
        </p:grpSpPr>
        <p:sp>
          <p:nvSpPr>
            <p:cNvPr id="30" name="Rectangle 30"/>
            <p:cNvSpPr/>
            <p:nvPr/>
          </p:nvSpPr>
          <p:spPr>
            <a:xfrm>
              <a:off x="533400" y="4371975"/>
              <a:ext cx="5410200" cy="1209675"/>
            </a:xfrm>
            <a:prstGeom prst="roundRect">
              <a:avLst>
                <a:gd name="adj" fmla="val 944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4876800"/>
              <a:ext cx="200026" cy="200026"/>
              <a:chOff x="738188" y="4876800"/>
              <a:chExt cx="200026" cy="2000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48768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49434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27088" y="49768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892" y="4758690"/>
              <a:ext cx="443712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左表第 4、5 行只要求“每个结点至多两个孩子”，对树是不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成立的，因为树里可以有度为 3 以上的结点。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6243066" y="1524000"/>
            <a:ext cx="5415534" cy="2714244"/>
            <a:chOff x="6243066" y="1524000"/>
            <a:chExt cx="5415534" cy="2714244"/>
          </a:xfrm>
        </p:grpSpPr>
        <p:sp>
          <p:nvSpPr>
            <p:cNvPr id="37" name="Rectangle 37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2824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3334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48412" y="205406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满二叉树的结点数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21078" y="2054066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2ᵏ⁺¹ − 1，叶 2ᵏ 个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8412" y="24598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完全二叉树的结点数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21078" y="2459831"/>
              <a:ext cx="1195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2ᵏ ≤ n ≤ 2ᵏ⁺¹ − 1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8412" y="286559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完全二叉树的高度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21078" y="2865596"/>
              <a:ext cx="810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⌊log₂n⌋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8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48412" y="327136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完全二叉树的编号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621078" y="3271361"/>
              <a:ext cx="17001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 ⌊i/2⌋、左 2i、右 2i+1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3548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8412" y="367712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完全二叉树的叶数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21078" y="3677126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非叶 ⌊n/2⌋、叶 ⌈n/2⌉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1524000"/>
              <a:ext cx="541020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51630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43066" y="4032885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只对满二叉树或完全二叉树成立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6248400" y="4371975"/>
            <a:ext cx="5410200" cy="1209675"/>
            <a:chOff x="6248400" y="4371975"/>
            <a:chExt cx="5410200" cy="1209675"/>
          </a:xfrm>
        </p:grpSpPr>
        <p:sp>
          <p:nvSpPr>
            <p:cNvPr id="60" name="Rectangle 60"/>
            <p:cNvSpPr/>
            <p:nvPr/>
          </p:nvSpPr>
          <p:spPr>
            <a:xfrm>
              <a:off x="6248400" y="4371975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440805" y="456438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12242" y="459867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用之前先问一句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33947" y="4921568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题目说的是二叉树、满二叉树还是完全二叉树。右表五行全部依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赖“形状被 n 唯一确定”，换成一般二叉树立刻失效。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5" name="Rectangle 6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892" y="6023610"/>
              <a:ext cx="8546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最常见的错误是把右表的公式用在一般二叉树上：一般二叉树的高度不是 ⌊log₂n⌋，叶结点也不是 ⌈n/2⌉。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402652" cy="909257"/>
            <a:chOff x="520446" y="342900"/>
            <a:chExt cx="1402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581723" cy="264033"/>
            <a:chOff x="526542" y="1545907"/>
            <a:chExt cx="1058172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5817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先自己写出答案再看解答。另外自问两题：满二叉树为什么一个度为 1 的结点都没有？完全二叉树里编号最大的非叶结点是第几号？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2000250"/>
            <a:chOff x="533400" y="1928812"/>
            <a:chExt cx="3505200" cy="200025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3232" y="2459355"/>
              <a:ext cx="292750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树的定义里，“其余结点被分成 m 个不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相交的非空集合”，m 可以为 0 吗？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232" y="3016568"/>
              <a:ext cx="29969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可以。m = 0 表示这棵树只有根结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点，没有子树。要求非空的是每个 Tᵢ，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 m 本身。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98608"/>
            <a:ext cx="3505200" cy="2257425"/>
            <a:chOff x="533400" y="4098608"/>
            <a:chExt cx="3505200" cy="2257425"/>
          </a:xfrm>
        </p:grpSpPr>
        <p:sp>
          <p:nvSpPr>
            <p:cNvPr id="15" name="Rectangle 15"/>
            <p:cNvSpPr/>
            <p:nvPr/>
          </p:nvSpPr>
          <p:spPr>
            <a:xfrm>
              <a:off x="533400" y="4098608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0090" y="428529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547" y="431815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232" y="4630102"/>
              <a:ext cx="296394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高度为 4 的完全二叉树，结点数的取值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范围是多少？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232" y="5187315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2⁴ = 16 到 2⁵ − 1 = 31。最少的那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棵是高度为 3 的满二叉树再加 1 个结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2000250"/>
            <a:chOff x="4343400" y="1928812"/>
            <a:chExt cx="3505200" cy="2000250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3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23232" y="2459355"/>
              <a:ext cx="292708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一棵树中 B 的层数是 1、高度是 2，这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两个数为什么不一样？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23232" y="3016568"/>
              <a:ext cx="295408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层数是从根往下数到 B 所经过的边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数，高度是从 B 往下数到它子树里最深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叶结点的边数，数的方向相反。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098608"/>
            <a:ext cx="3505200" cy="2257425"/>
            <a:chOff x="4343400" y="4098608"/>
            <a:chExt cx="3505200" cy="2257425"/>
          </a:xfrm>
        </p:grpSpPr>
        <p:sp>
          <p:nvSpPr>
            <p:cNvPr id="27" name="Rectangle 27"/>
            <p:cNvSpPr/>
            <p:nvPr/>
          </p:nvSpPr>
          <p:spPr>
            <a:xfrm>
              <a:off x="4343400" y="4098608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30090" y="428529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9547" y="431815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23232" y="4630102"/>
              <a:ext cx="292622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完全二叉树有 1000 个结点，编号 500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的结点有右孩子吗？树高是多少？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3232" y="5187315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左孩子是 1000，右孩子编号 1001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1000，所以没有右孩子。高度 = 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log₂1000⌋ = 9。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2000250"/>
            <a:chOff x="8153400" y="1928812"/>
            <a:chExt cx="3505200" cy="2000250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4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3232" y="2459355"/>
              <a:ext cx="300766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某二叉树有 25 个度为 2 的结点、10 个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度为 1 的结点，共有多少个结点？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3232" y="3016568"/>
              <a:ext cx="286835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n₀ = n₂ + 1 = 26，所以 n = 26 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+ 25 = 61。核对：e = n − 1 = 60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2×25 + 10。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098608"/>
            <a:ext cx="3505200" cy="2257425"/>
            <a:chOff x="8153400" y="4098608"/>
            <a:chExt cx="3505200" cy="2257425"/>
          </a:xfrm>
        </p:grpSpPr>
        <p:sp>
          <p:nvSpPr>
            <p:cNvPr id="39" name="Rectangle 39"/>
            <p:cNvSpPr/>
            <p:nvPr/>
          </p:nvSpPr>
          <p:spPr>
            <a:xfrm>
              <a:off x="8153400" y="4098608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40090" y="428529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9547" y="431815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33232" y="4630102"/>
              <a:ext cx="29455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个结点的二叉树有 5 种形态，为什么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树只有 2 种？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3232" y="5187315"/>
              <a:ext cx="292836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二叉树要分左右，只有左孩子和只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有右孩子算两种形态；树不分左右，这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两种合成一种，于是只剩下一条链和根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带两个孩子。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402652" cy="909257"/>
            <a:chOff x="520446" y="342900"/>
            <a:chExt cx="1402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第7讲 树与二叉树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287905"/>
            <a:chOff x="533400" y="1524000"/>
            <a:chExt cx="5842635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965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5097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13954" y="202311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递归定义：空，或者一个根加若干棵互不相交的子树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术语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13954" y="240411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度数孩子个数，层数从根往下数，高度从结点往下数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13954" y="278511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至多两个孩子且分左右；空集也是二叉树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三条性质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13954" y="3167062"/>
              <a:ext cx="31557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层 ≤ 2ⁱ；高度 k 时 n ≤ 2ᵏ⁺¹ − 1；n₀ = n₂ + 1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13954" y="3548062"/>
              <a:ext cx="28518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编号父 ⌊i/2⌋、左 2i、右 2i+1；高度 ⌊log₂n⌋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81451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3976688"/>
            <a:ext cx="5842635" cy="1671638"/>
            <a:chOff x="533400" y="3976688"/>
            <a:chExt cx="5842635" cy="1671638"/>
          </a:xfrm>
        </p:grpSpPr>
        <p:sp>
          <p:nvSpPr>
            <p:cNvPr id="29" name="Rectangle 29"/>
            <p:cNvSpPr/>
            <p:nvPr/>
          </p:nvSpPr>
          <p:spPr>
            <a:xfrm>
              <a:off x="533400" y="3976688"/>
              <a:ext cx="584263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0038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157662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3440" y="41905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45510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4498181"/>
              <a:ext cx="49466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更正：源课件把“结点的高度”和“路径”都编成第 5 条，这里按 1 到 7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重排；“叶子结点”统一写作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叶结点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507873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5025866"/>
              <a:ext cx="50766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补充：形态数与卡特兰数、下标从 0 起时的编号换算、课下思考题一般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式的推导</a:t>
              </a:r>
            </a:p>
          </p:txBody>
        </p:sp>
      </p:grpSp>
      <p:grpSp>
        <p:nvGrpSpPr>
          <p:cNvPr id="53" name="c2-bullets-1"/>
          <p:cNvGrpSpPr/>
          <p:nvPr/>
        </p:nvGrpSpPr>
        <p:grpSpPr>
          <a:xfrm>
            <a:off x="6681788" y="1533525"/>
            <a:ext cx="4590542" cy="1432845"/>
            <a:chOff x="6681788" y="1533525"/>
            <a:chExt cx="4590542" cy="1432845"/>
          </a:xfrm>
        </p:grpSpPr>
        <p:sp>
          <p:nvSpPr>
            <p:cNvPr id="38" name="Ellipse 38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51536" y="1545431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看到上下级、包含、分解这类关系，就该想到用树来组织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681788" y="182689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33694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51536" y="183784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度、层数、高度三个术语沿三个不同方向数，别混在一起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681788" y="212026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33694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51536" y="2131219"/>
              <a:ext cx="36918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n₀ = n₂ + 1 对任意二叉树成立，笔试题几乎必考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681788" y="241363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33694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51536" y="242458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满二叉树看高度，完全二叉树看编号，两套公式不能互换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81788" y="270605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33694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51536" y="2717006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完全二叉树的编号换算，是下一讲用数组存二叉树的基础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680835" y="3081338"/>
            <a:ext cx="4977765" cy="2567940"/>
            <a:chOff x="6680835" y="3081338"/>
            <a:chExt cx="4977765" cy="2567940"/>
          </a:xfrm>
        </p:grpSpPr>
        <p:sp>
          <p:nvSpPr>
            <p:cNvPr id="54" name="Rectangle 54"/>
            <p:cNvSpPr/>
            <p:nvPr/>
          </p:nvSpPr>
          <p:spPr>
            <a:xfrm>
              <a:off x="6680835" y="3081338"/>
              <a:ext cx="4977765" cy="2567940"/>
            </a:xfrm>
            <a:prstGeom prst="roundRect">
              <a:avLst>
                <a:gd name="adj" fmla="val 519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61810" y="326231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47332" y="32951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871335" y="365474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26783" y="3602831"/>
              <a:ext cx="41907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随手画一棵 10 个结点的二叉树，标出每个结点的度、层数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和高度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71335" y="418242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26783" y="4130516"/>
              <a:ext cx="41826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再判断它是不是完全二叉树，并用 n₀ = n₂ + 1 核对叶结点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56476" y="4654868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这两步能不查书做完，本讲就算过关了。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3" name="Rectangle 6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1273" y="6039326"/>
              <a:ext cx="86286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下一讲讲二叉树的存储和操作。顺序存储用的正是本讲的编号公式，链接存储则要引入左右指针，做成二叉链表。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第7讲 树和二叉树的定义和性质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07">
  <a:themeElements>
    <a:clrScheme name="ds_l0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07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0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2026-09-19T13:53:27Z</dcterms:created>
  <dcterms:modified xsi:type="dcterms:W3CDTF">2026-09-19T13:53:27Z</dcterms:modified>
  <cp:category/>
  <cp:contentStatus/>
</cp:coreProperties>
</file>