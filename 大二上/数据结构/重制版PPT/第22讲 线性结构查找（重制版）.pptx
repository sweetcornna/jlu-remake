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2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2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b0ab379a399f0cf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e603085af92fc4f.png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9d8b7c5e32b3bab.png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843778" cy="3437763"/>
            <a:chOff x="666750" y="1619250"/>
            <a:chExt cx="584377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61734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2921" y="1718310"/>
              <a:ext cx="1363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第22讲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43052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线性结构查找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从顺序查找到跳跃表，七种查找方法的代价与适用条件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顺序查找与平均查找长度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对半与二叉判定树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斐波那契与插值查找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分块查找与跳跃表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29995" cy="205359"/>
            <a:chOff x="680466" y="6192202"/>
            <a:chExt cx="4229995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299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22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agenda-1"/>
          <p:cNvGrpSpPr/>
          <p:nvPr/>
        </p:nvGrpSpPr>
        <p:grpSpPr>
          <a:xfrm>
            <a:off x="523113" y="1520666"/>
            <a:ext cx="6286310" cy="4735831"/>
            <a:chOff x="523113" y="1520666"/>
            <a:chExt cx="6286310" cy="4735831"/>
          </a:xfrm>
        </p:grpSpPr>
        <p:sp>
          <p:nvSpPr>
            <p:cNvPr id="7" name="TextBox 7"/>
            <p:cNvSpPr txBox="1"/>
            <p:nvPr/>
          </p:nvSpPr>
          <p:spPr>
            <a:xfrm>
              <a:off x="523113" y="152066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1558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3462" y="1839754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文件、记录、关键词、平均查找长度这四个词先说清楚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39178" y="2119312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3113" y="221980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1558" y="22479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顺序查找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3462" y="2538889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无序表逐个比；有序表可以提前停，判定树退化成一条链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39178" y="2819400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3113" y="2919889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1558" y="294798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对半查找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3462" y="3238976"/>
              <a:ext cx="29330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二叉判定树把成功与失败两种 ASL 都读出来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39178" y="3518535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3113" y="3619024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1558" y="364712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斐波那契与插值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3938111"/>
              <a:ext cx="2710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换一种规则选 mid，代价和前提各不相同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39178" y="4217670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3113" y="431911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1558" y="434721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分块查找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4638199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块间有序块内无序，索引表加块内扫描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39178" y="4917758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3113" y="501824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1558" y="50463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再谈对半查找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3462" y="533733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边界版二分与二分搜索答案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39178" y="5616892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3113" y="571738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1558" y="574548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跳跃表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3462" y="6036469"/>
              <a:ext cx="27931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给有序链表加几层快车道，期望 O(log n)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7114222" y="1524000"/>
            <a:ext cx="4544378" cy="4688205"/>
            <a:chOff x="7114222" y="1524000"/>
            <a:chExt cx="4544378" cy="4688205"/>
          </a:xfrm>
        </p:grpSpPr>
        <p:sp>
          <p:nvSpPr>
            <p:cNvPr id="35" name="Rectangle 35"/>
            <p:cNvSpPr/>
            <p:nvPr/>
          </p:nvSpPr>
          <p:spPr>
            <a:xfrm>
              <a:off x="7114222" y="1524000"/>
              <a:ext cx="4544378" cy="4688205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23748" y="1657350"/>
              <a:ext cx="47625" cy="44215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44728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28167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53300" y="21288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09320" y="2072640"/>
              <a:ext cx="35713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给定有序表和 K，写出对半查找每一轮的 low、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mid、high 与比较次数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53300" y="268890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09320" y="2632710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画出对半查找的二叉判定树，并算出成功与失败两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个平均查找长度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53300" y="324897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09320" y="3192780"/>
              <a:ext cx="36484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说出斐波那契查找 mid 的取法，并解释它为什么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不用乘除法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53300" y="380809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09320" y="3751898"/>
              <a:ext cx="36570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写出“大于等于 K 的第一个位置”的二分代码，并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说明找不到时返回什么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353300" y="436816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509320" y="4311968"/>
              <a:ext cx="34427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手画跳跃表的查找路径，并解释空间为什么是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398264" cy="2997517"/>
            <a:chOff x="667512" y="1835468"/>
            <a:chExt cx="439826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查找问题与顺序查找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先定好衡量尺子，再看最朴素的那个算法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查找就是按关键词定位记录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平均查找长度分成功与失败两套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顺序查找对表的组织方式没有任何要求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09942" cy="909257"/>
            <a:chOff x="520446" y="342900"/>
            <a:chExt cx="73099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查找问题与顺序查找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099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查找：给定 K，在文件中找关键词等于 K 的记录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465826" cy="264033"/>
            <a:chOff x="526542" y="1545907"/>
            <a:chExt cx="546582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本讲所有算法都在同一个模型上比较，先把模型的四个词固定下来。</a:t>
              </a:r>
            </a:p>
          </p:txBody>
        </p:sp>
      </p:grpSp>
      <p:grpSp>
        <p:nvGrpSpPr>
          <p:cNvPr id="17" name="c1-card-1"/>
          <p:cNvGrpSpPr/>
          <p:nvPr/>
        </p:nvGrpSpPr>
        <p:grpSpPr>
          <a:xfrm>
            <a:off x="533400" y="1928812"/>
            <a:ext cx="6059805" cy="1930718"/>
            <a:chOff x="533400" y="1928812"/>
            <a:chExt cx="6059805" cy="193071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1930718"/>
            </a:xfrm>
            <a:prstGeom prst="roundRect">
              <a:avLst>
                <a:gd name="adj" fmla="val 6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66401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5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8450" y="2149316"/>
              <a:ext cx="20748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查找（检索，Searching）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540181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给定一个文件，它包含 n 个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（也称元素、结点），每个记录都有一个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键词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域。一个查找算法就是对给定的值 K，在文件中找关键词等于 K 的那个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32889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3237071"/>
              <a:ext cx="5214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查找结果只有两种：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成功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（返回位置）与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失败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（返回约定的无效值，本讲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−1）。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4024312"/>
            <a:ext cx="6059805" cy="1687830"/>
            <a:chOff x="533400" y="4024312"/>
            <a:chExt cx="6059805" cy="1687830"/>
          </a:xfrm>
        </p:grpSpPr>
        <p:sp>
          <p:nvSpPr>
            <p:cNvPr id="18" name="Rectangle 18"/>
            <p:cNvSpPr/>
            <p:nvPr/>
          </p:nvSpPr>
          <p:spPr>
            <a:xfrm>
              <a:off x="533400" y="4024312"/>
              <a:ext cx="6059805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157662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2475" y="42052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5147" y="42381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18450" y="4244816"/>
              <a:ext cx="38963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平均查找长度（Average Search Length，ASL）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5998" y="4561999"/>
              <a:ext cx="53774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查找一个元素所作的关键词平均比较次数，是衡量一个查找算法优劣的主要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标准。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62000" y="51415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7448" y="5089684"/>
              <a:ext cx="52392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成功与失败分开统计：前者在 n 个记录上取平均，后者在所有失败情形上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取平均。</a:t>
              </a:r>
            </a:p>
          </p:txBody>
        </p:sp>
      </p:grpSp>
      <p:grpSp>
        <p:nvGrpSpPr>
          <p:cNvPr id="49" name="c2-cells-1"/>
          <p:cNvGrpSpPr/>
          <p:nvPr/>
        </p:nvGrpSpPr>
        <p:grpSpPr>
          <a:xfrm>
            <a:off x="6892671" y="1928812"/>
            <a:ext cx="4765929" cy="858203"/>
            <a:chOff x="6892671" y="1928812"/>
            <a:chExt cx="4765929" cy="858203"/>
          </a:xfrm>
        </p:grpSpPr>
        <p:sp>
          <p:nvSpPr>
            <p:cNvPr id="27" name="TextBox 27"/>
            <p:cNvSpPr txBox="1"/>
            <p:nvPr/>
          </p:nvSpPr>
          <p:spPr>
            <a:xfrm>
              <a:off x="6892671" y="204120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记录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431405" y="1928812"/>
              <a:ext cx="8458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61778" y="2041207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R₁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276272" y="1928812"/>
              <a:ext cx="8458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07598" y="2041207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122092" y="1928812"/>
              <a:ext cx="8458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53418" y="2041207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R₃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967912" y="1928812"/>
              <a:ext cx="8458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343721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812780" y="1928812"/>
              <a:ext cx="8458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144105" y="2041207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Rₙ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92671" y="254317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关键词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431405" y="2430780"/>
              <a:ext cx="8458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61778" y="254317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K₁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276272" y="2430780"/>
              <a:ext cx="8458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607598" y="254317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K₂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122092" y="2430780"/>
              <a:ext cx="8458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453418" y="254317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K₃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967912" y="2430780"/>
              <a:ext cx="8458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343721" y="25431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812780" y="2430780"/>
              <a:ext cx="8458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1144105" y="254317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Kₙ</a:t>
              </a:r>
            </a:p>
          </p:txBody>
        </p:sp>
      </p:grpSp>
      <p:grpSp>
        <p:nvGrpSpPr>
          <p:cNvPr id="55" name="c2-kv-2"/>
          <p:cNvGrpSpPr/>
          <p:nvPr/>
        </p:nvGrpSpPr>
        <p:grpSpPr>
          <a:xfrm>
            <a:off x="6891528" y="2972276"/>
            <a:ext cx="4767072" cy="1103757"/>
            <a:chOff x="6891528" y="2972276"/>
            <a:chExt cx="4767072" cy="1103757"/>
          </a:xfrm>
        </p:grpSpPr>
        <p:sp>
          <p:nvSpPr>
            <p:cNvPr id="50" name="TextBox 50"/>
            <p:cNvSpPr txBox="1"/>
            <p:nvPr/>
          </p:nvSpPr>
          <p:spPr>
            <a:xfrm>
              <a:off x="6891528" y="297227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静态查找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16406" y="2972276"/>
              <a:ext cx="358927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只做查询，表的内容在查找期间不变。对半、斐波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那契、插值、分块都属于这一类。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898005" y="348424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91528" y="35866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动态查找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16406" y="3586639"/>
              <a:ext cx="358927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查询之外还要插入和删除。跳跃表就是为这类场景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设计的。</a:t>
              </a:r>
            </a:p>
          </p:txBody>
        </p:sp>
      </p:grpSp>
      <p:grpSp>
        <p:nvGrpSpPr>
          <p:cNvPr id="62" name="c2-callout-3"/>
          <p:cNvGrpSpPr/>
          <p:nvPr/>
        </p:nvGrpSpPr>
        <p:grpSpPr>
          <a:xfrm>
            <a:off x="6898005" y="4190048"/>
            <a:ext cx="4760595" cy="1523048"/>
            <a:chOff x="6898005" y="4190048"/>
            <a:chExt cx="4760595" cy="1523048"/>
          </a:xfrm>
        </p:grpSpPr>
        <p:sp>
          <p:nvSpPr>
            <p:cNvPr id="56" name="Rectangle 56"/>
            <p:cNvSpPr/>
            <p:nvPr/>
          </p:nvSpPr>
          <p:spPr>
            <a:xfrm>
              <a:off x="6898005" y="4190048"/>
              <a:ext cx="4760595" cy="1523048"/>
            </a:xfrm>
            <a:prstGeom prst="roundRect">
              <a:avLst>
                <a:gd name="adj" fmla="val 750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102793" y="4851083"/>
              <a:ext cx="200026" cy="200025"/>
              <a:chOff x="7102793" y="4851083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102793" y="48510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142531" y="48955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177247" y="50066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7405878" y="4744879"/>
              <a:ext cx="3751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比较次数只是代价的一部分。数据在外存时，真正贵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的是读盘次数，这会改变算法的取舍。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3" name="Rectangle 6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1273" y="6039326"/>
              <a:ext cx="74224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衡量一个查找算法，要同时说清三件事：比较次数、对表的组织要求、以及能不能支持插入删除。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65665" cy="909257"/>
            <a:chOff x="520446" y="342900"/>
            <a:chExt cx="74656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查找问题与顺序查找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656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无序表的顺序查找：逐个比，平均比 (n+1)/2 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5467350" cy="293370"/>
            <a:chOff x="525780" y="1548765"/>
            <a:chExt cx="546735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对表的存储和排列没有任何要求，代价是每次都可能扫到底。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5842635" cy="1922145"/>
            <a:chOff x="533400" y="1954530"/>
            <a:chExt cx="5842635" cy="192214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842635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16204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顺序查找（源课件第 4 页）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68391"/>
              <a:ext cx="3588766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Search(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{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在 R[1..n] 中查找关键词等于 K 的元素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(R[i] == K)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成功：返回下标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-1;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失败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062412"/>
            <a:ext cx="5842635" cy="1492568"/>
            <a:chOff x="533400" y="4062412"/>
            <a:chExt cx="5842635" cy="1492568"/>
          </a:xfrm>
        </p:grpSpPr>
        <p:sp>
          <p:nvSpPr>
            <p:cNvPr id="13" name="Rectangle 13"/>
            <p:cNvSpPr/>
            <p:nvPr/>
          </p:nvSpPr>
          <p:spPr>
            <a:xfrm>
              <a:off x="533400" y="4062412"/>
              <a:ext cx="5842635" cy="1492568"/>
            </a:xfrm>
            <a:prstGeom prst="roundRect">
              <a:avLst>
                <a:gd name="adj" fmla="val 765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26129" y="4704516"/>
              <a:ext cx="224134" cy="192560"/>
              <a:chOff x="726129" y="4704516"/>
              <a:chExt cx="224134" cy="1925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38200" y="47748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26129" y="47045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48526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511" y="4577239"/>
              <a:ext cx="479348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R[0] 空着不用。本讲全部代码沿用源课件的下标约定，数据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放在 R[1] 到 R[n]。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680835" y="1954530"/>
            <a:ext cx="4977765" cy="2658428"/>
            <a:chOff x="6680835" y="1954530"/>
            <a:chExt cx="4977765" cy="2658428"/>
          </a:xfrm>
        </p:grpSpPr>
        <p:sp>
          <p:nvSpPr>
            <p:cNvPr id="20" name="Rectangle 20"/>
            <p:cNvSpPr/>
            <p:nvPr/>
          </p:nvSpPr>
          <p:spPr>
            <a:xfrm>
              <a:off x="6680835" y="1954530"/>
              <a:ext cx="4977765" cy="2658428"/>
            </a:xfrm>
            <a:prstGeom prst="roundRect">
              <a:avLst>
                <a:gd name="adj" fmla="val 50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690360" y="2087880"/>
              <a:ext cx="47625" cy="239172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922770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13931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推导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24179" y="2197894"/>
              <a:ext cx="16386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 ASL 各是多少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923722" y="253746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82067" y="257779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13664" y="2550319"/>
              <a:ext cx="391883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成功：若查找每个元素的概率都是 1/n，查 Rᵢ 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 i 次，ASL（成功）= (1+2+…+n)/n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(n+1)/2。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923722" y="3400425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82067" y="344076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13664" y="3413284"/>
              <a:ext cx="403606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失败：无论 K 是多少，都要把 n 个元素全比一遍，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ASL（失败）= n。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16674" y="4000500"/>
              <a:ext cx="42336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时间复杂度 O(n)。表越长，这两个数就越大，没有任何可以提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前停下来的理由。</a:t>
              </a:r>
            </a:p>
          </p:txBody>
        </p:sp>
      </p:grpSp>
      <p:grpSp>
        <p:nvGrpSpPr>
          <p:cNvPr id="38" name="c2-callout-2"/>
          <p:cNvGrpSpPr/>
          <p:nvPr/>
        </p:nvGrpSpPr>
        <p:grpSpPr>
          <a:xfrm>
            <a:off x="6680835" y="4798695"/>
            <a:ext cx="4977765" cy="756285"/>
            <a:chOff x="6680835" y="4798695"/>
            <a:chExt cx="4977765" cy="756285"/>
          </a:xfrm>
        </p:grpSpPr>
        <p:sp>
          <p:nvSpPr>
            <p:cNvPr id="33" name="Rectangle 33"/>
            <p:cNvSpPr/>
            <p:nvPr/>
          </p:nvSpPr>
          <p:spPr>
            <a:xfrm>
              <a:off x="6680835" y="4798695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885623" y="5076827"/>
              <a:ext cx="200023" cy="200023"/>
              <a:chOff x="6885623" y="5076827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885623" y="507682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018973" y="5143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187946" y="4945856"/>
              <a:ext cx="410819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O(n) 这个结论不需要任何前提，顺序查找对链式存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储同样成立，这是它唯一的优势。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9" name="Rectangle 3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511" y="6004084"/>
              <a:ext cx="70874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顺序查找的比较次数与元素的排列有关，与存储方式无关；后面几种算法恰好相反。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查找问题与顺序查找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有序表的顺序查找：判定树退化成一条链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812977" cy="264033"/>
            <a:chOff x="526542" y="1545907"/>
            <a:chExt cx="781297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81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26 页的课下思考。表有序之后，一旦 K 小于当前元素就能停，失败的代价随之降下来。</a:t>
              </a:r>
            </a:p>
          </p:txBody>
        </p:sp>
      </p:grpSp>
      <p:grpSp>
        <p:nvGrpSpPr>
          <p:cNvPr id="50" name="c1-graph-1"/>
          <p:cNvGrpSpPr/>
          <p:nvPr/>
        </p:nvGrpSpPr>
        <p:grpSpPr>
          <a:xfrm>
            <a:off x="685800" y="2044065"/>
            <a:ext cx="5362575" cy="3329940"/>
            <a:chOff x="685800" y="2044065"/>
            <a:chExt cx="5362575" cy="3329940"/>
          </a:xfrm>
        </p:grpSpPr>
        <p:sp>
          <p:nvSpPr>
            <p:cNvPr id="9" name="Freeform 9"/>
            <p:cNvSpPr/>
            <p:nvPr/>
          </p:nvSpPr>
          <p:spPr>
            <a:xfrm>
              <a:off x="907732" y="2331720"/>
              <a:ext cx="326708" cy="348615"/>
            </a:xfrm>
            <a:custGeom>
              <a:avLst/>
              <a:gdLst/>
              <a:ahLst/>
              <a:cxnLst/>
              <a:rect l="l" t="t" r="r" b="b"/>
              <a:pathLst>
                <a:path w="326708" h="348615">
                  <a:moveTo>
                    <a:pt x="326708" y="0"/>
                  </a:moveTo>
                  <a:lnTo>
                    <a:pt x="0" y="3486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842962" y="2646998"/>
              <a:ext cx="100012" cy="102870"/>
            </a:xfrm>
            <a:custGeom>
              <a:avLst/>
              <a:gdLst/>
              <a:ahLst/>
              <a:cxnLst/>
              <a:rect l="l" t="t" r="r" b="b"/>
              <a:pathLst>
                <a:path w="100012" h="102870">
                  <a:moveTo>
                    <a:pt x="0" y="102870"/>
                  </a:moveTo>
                  <a:lnTo>
                    <a:pt x="30480" y="0"/>
                  </a:lnTo>
                  <a:lnTo>
                    <a:pt x="100012" y="6572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496378" y="2297430"/>
              <a:ext cx="622935" cy="391478"/>
            </a:xfrm>
            <a:custGeom>
              <a:avLst/>
              <a:gdLst/>
              <a:ahLst/>
              <a:cxnLst/>
              <a:rect l="l" t="t" r="r" b="b"/>
              <a:pathLst>
                <a:path w="622935" h="391478">
                  <a:moveTo>
                    <a:pt x="0" y="0"/>
                  </a:moveTo>
                  <a:lnTo>
                    <a:pt x="622935" y="3914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093595" y="2647950"/>
              <a:ext cx="105727" cy="91440"/>
            </a:xfrm>
            <a:custGeom>
              <a:avLst/>
              <a:gdLst/>
              <a:ahLst/>
              <a:cxnLst/>
              <a:rect l="l" t="t" r="r" b="b"/>
              <a:pathLst>
                <a:path w="105727" h="91440">
                  <a:moveTo>
                    <a:pt x="105727" y="91440"/>
                  </a:moveTo>
                  <a:lnTo>
                    <a:pt x="0" y="80962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901190" y="2955608"/>
              <a:ext cx="326708" cy="348615"/>
            </a:xfrm>
            <a:custGeom>
              <a:avLst/>
              <a:gdLst/>
              <a:ahLst/>
              <a:cxnLst/>
              <a:rect l="l" t="t" r="r" b="b"/>
              <a:pathLst>
                <a:path w="326708" h="348615">
                  <a:moveTo>
                    <a:pt x="326708" y="0"/>
                  </a:moveTo>
                  <a:lnTo>
                    <a:pt x="0" y="3486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836420" y="3271838"/>
              <a:ext cx="100012" cy="101917"/>
            </a:xfrm>
            <a:custGeom>
              <a:avLst/>
              <a:gdLst/>
              <a:ahLst/>
              <a:cxnLst/>
              <a:rect l="l" t="t" r="r" b="b"/>
              <a:pathLst>
                <a:path w="100012" h="101917">
                  <a:moveTo>
                    <a:pt x="0" y="101917"/>
                  </a:moveTo>
                  <a:lnTo>
                    <a:pt x="30480" y="0"/>
                  </a:lnTo>
                  <a:lnTo>
                    <a:pt x="100012" y="6477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489835" y="2921318"/>
              <a:ext cx="621983" cy="391478"/>
            </a:xfrm>
            <a:custGeom>
              <a:avLst/>
              <a:gdLst/>
              <a:ahLst/>
              <a:cxnLst/>
              <a:rect l="l" t="t" r="r" b="b"/>
              <a:pathLst>
                <a:path w="621983" h="391478">
                  <a:moveTo>
                    <a:pt x="0" y="0"/>
                  </a:moveTo>
                  <a:lnTo>
                    <a:pt x="621983" y="3914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087052" y="3272790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105727" y="90488"/>
                  </a:moveTo>
                  <a:lnTo>
                    <a:pt x="0" y="80962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894648" y="3580448"/>
              <a:ext cx="326708" cy="348615"/>
            </a:xfrm>
            <a:custGeom>
              <a:avLst/>
              <a:gdLst/>
              <a:ahLst/>
              <a:cxnLst/>
              <a:rect l="l" t="t" r="r" b="b"/>
              <a:pathLst>
                <a:path w="326708" h="348615">
                  <a:moveTo>
                    <a:pt x="326708" y="0"/>
                  </a:moveTo>
                  <a:lnTo>
                    <a:pt x="0" y="3486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829878" y="3896678"/>
              <a:ext cx="99060" cy="101917"/>
            </a:xfrm>
            <a:custGeom>
              <a:avLst/>
              <a:gdLst/>
              <a:ahLst/>
              <a:cxnLst/>
              <a:rect l="l" t="t" r="r" b="b"/>
              <a:pathLst>
                <a:path w="99060" h="101917">
                  <a:moveTo>
                    <a:pt x="0" y="101917"/>
                  </a:moveTo>
                  <a:lnTo>
                    <a:pt x="29527" y="0"/>
                  </a:lnTo>
                  <a:lnTo>
                    <a:pt x="99060" y="6477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483292" y="3546158"/>
              <a:ext cx="621983" cy="391477"/>
            </a:xfrm>
            <a:custGeom>
              <a:avLst/>
              <a:gdLst/>
              <a:ahLst/>
              <a:cxnLst/>
              <a:rect l="l" t="t" r="r" b="b"/>
              <a:pathLst>
                <a:path w="621983" h="391477">
                  <a:moveTo>
                    <a:pt x="0" y="0"/>
                  </a:moveTo>
                  <a:lnTo>
                    <a:pt x="621983" y="39147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080510" y="3896678"/>
              <a:ext cx="105728" cy="91440"/>
            </a:xfrm>
            <a:custGeom>
              <a:avLst/>
              <a:gdLst/>
              <a:ahLst/>
              <a:cxnLst/>
              <a:rect l="l" t="t" r="r" b="b"/>
              <a:pathLst>
                <a:path w="105728" h="91440">
                  <a:moveTo>
                    <a:pt x="105728" y="91440"/>
                  </a:moveTo>
                  <a:lnTo>
                    <a:pt x="0" y="80962"/>
                  </a:lnTo>
                  <a:lnTo>
                    <a:pt x="5048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888105" y="4204335"/>
              <a:ext cx="325755" cy="348615"/>
            </a:xfrm>
            <a:custGeom>
              <a:avLst/>
              <a:gdLst/>
              <a:ahLst/>
              <a:cxnLst/>
              <a:rect l="l" t="t" r="r" b="b"/>
              <a:pathLst>
                <a:path w="325755" h="348615">
                  <a:moveTo>
                    <a:pt x="325755" y="0"/>
                  </a:moveTo>
                  <a:lnTo>
                    <a:pt x="0" y="3486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822382" y="4520565"/>
              <a:ext cx="100012" cy="101917"/>
            </a:xfrm>
            <a:custGeom>
              <a:avLst/>
              <a:gdLst/>
              <a:ahLst/>
              <a:cxnLst/>
              <a:rect l="l" t="t" r="r" b="b"/>
              <a:pathLst>
                <a:path w="100012" h="101917">
                  <a:moveTo>
                    <a:pt x="0" y="101917"/>
                  </a:moveTo>
                  <a:lnTo>
                    <a:pt x="30480" y="0"/>
                  </a:lnTo>
                  <a:lnTo>
                    <a:pt x="100012" y="6477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476750" y="4170998"/>
              <a:ext cx="621982" cy="390525"/>
            </a:xfrm>
            <a:custGeom>
              <a:avLst/>
              <a:gdLst/>
              <a:ahLst/>
              <a:cxnLst/>
              <a:rect l="l" t="t" r="r" b="b"/>
              <a:pathLst>
                <a:path w="621982" h="390525">
                  <a:moveTo>
                    <a:pt x="0" y="0"/>
                  </a:moveTo>
                  <a:lnTo>
                    <a:pt x="621982" y="3905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073968" y="4521518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105727" y="90488"/>
                  </a:moveTo>
                  <a:lnTo>
                    <a:pt x="0" y="80962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887278" y="4825365"/>
              <a:ext cx="317182" cy="319088"/>
            </a:xfrm>
            <a:custGeom>
              <a:avLst/>
              <a:gdLst/>
              <a:ahLst/>
              <a:cxnLst/>
              <a:rect l="l" t="t" r="r" b="b"/>
              <a:pathLst>
                <a:path w="317182" h="319088">
                  <a:moveTo>
                    <a:pt x="317182" y="0"/>
                  </a:moveTo>
                  <a:lnTo>
                    <a:pt x="0" y="3190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820602" y="511111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0" y="100965"/>
                  </a:moveTo>
                  <a:lnTo>
                    <a:pt x="33338" y="0"/>
                  </a:lnTo>
                  <a:lnTo>
                    <a:pt x="100965" y="6762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5451158" y="4819650"/>
              <a:ext cx="364808" cy="335280"/>
            </a:xfrm>
            <a:custGeom>
              <a:avLst/>
              <a:gdLst/>
              <a:ahLst/>
              <a:cxnLst/>
              <a:rect l="l" t="t" r="r" b="b"/>
              <a:pathLst>
                <a:path w="364808" h="335280">
                  <a:moveTo>
                    <a:pt x="0" y="0"/>
                  </a:moveTo>
                  <a:lnTo>
                    <a:pt x="364808" y="3352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784532" y="5119688"/>
              <a:ext cx="101918" cy="99060"/>
            </a:xfrm>
            <a:custGeom>
              <a:avLst/>
              <a:gdLst/>
              <a:ahLst/>
              <a:cxnLst/>
              <a:rect l="l" t="t" r="r" b="b"/>
              <a:pathLst>
                <a:path w="101918" h="99060">
                  <a:moveTo>
                    <a:pt x="101918" y="99060"/>
                  </a:moveTo>
                  <a:lnTo>
                    <a:pt x="0" y="70485"/>
                  </a:lnTo>
                  <a:lnTo>
                    <a:pt x="6381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189672" y="204406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2183130" y="266890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3176588" y="3292792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4169092" y="3917632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5162550" y="454152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5800" y="2749868"/>
              <a:ext cx="161925" cy="161925"/>
            </a:xfrm>
            <a:prstGeom prst="roundRect">
              <a:avLst>
                <a:gd name="adj" fmla="val 23529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679258" y="3373755"/>
              <a:ext cx="161925" cy="161925"/>
            </a:xfrm>
            <a:prstGeom prst="roundRect">
              <a:avLst>
                <a:gd name="adj" fmla="val 23529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672715" y="3998595"/>
              <a:ext cx="161925" cy="161925"/>
            </a:xfrm>
            <a:prstGeom prst="roundRect">
              <a:avLst>
                <a:gd name="adj" fmla="val 23529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3666172" y="4622482"/>
              <a:ext cx="161925" cy="161925"/>
            </a:xfrm>
            <a:prstGeom prst="roundRect">
              <a:avLst>
                <a:gd name="adj" fmla="val 23529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4659630" y="5212080"/>
              <a:ext cx="161925" cy="161925"/>
            </a:xfrm>
            <a:prstGeom prst="roundRect">
              <a:avLst>
                <a:gd name="adj" fmla="val 23529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886450" y="5212080"/>
              <a:ext cx="161925" cy="161925"/>
            </a:xfrm>
            <a:prstGeom prst="roundRect">
              <a:avLst>
                <a:gd name="adj" fmla="val 23529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311851" y="21497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305308" y="27746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298766" y="33985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91271" y="40233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84728" y="464724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71550" y="246221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03106" y="24912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&lt;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781175" y="243935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812731" y="24693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&gt;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8967" y="5014436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圆＝比较位置　方＝失败区间</a:t>
              </a:r>
            </a:p>
          </p:txBody>
        </p:sp>
      </p:grpSp>
      <p:grpSp>
        <p:nvGrpSpPr>
          <p:cNvPr id="67" name="c2-table-1"/>
          <p:cNvGrpSpPr/>
          <p:nvPr/>
        </p:nvGrpSpPr>
        <p:grpSpPr>
          <a:xfrm>
            <a:off x="6675882" y="1928812"/>
            <a:ext cx="4982718" cy="1407509"/>
            <a:chOff x="6675882" y="1928812"/>
            <a:chExt cx="4982718" cy="1407509"/>
          </a:xfrm>
        </p:grpSpPr>
        <p:sp>
          <p:nvSpPr>
            <p:cNvPr id="51" name="Rectangle 51"/>
            <p:cNvSpPr/>
            <p:nvPr/>
          </p:nvSpPr>
          <p:spPr>
            <a:xfrm>
              <a:off x="6680835" y="1928812"/>
              <a:ext cx="497776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42569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941689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停在哪里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539032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比较次数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75514" y="2426970"/>
              <a:ext cx="5129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查到 Rᵢ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58594" y="2426970"/>
              <a:ext cx="8446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个内结点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089261" y="2426970"/>
              <a:ext cx="5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680835" y="26870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680835" y="269176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75514" y="2808923"/>
              <a:ext cx="11334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落在两元素之间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58594" y="2808923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对应的外结点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089261" y="2808923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该外结点的深度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680835" y="1928812"/>
              <a:ext cx="4977765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8459152" y="192881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989820" y="192881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675882" y="3145631"/>
              <a:ext cx="25099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n=5 的有序表顺序查找（比较位置即下标）</a:t>
              </a:r>
            </a:p>
          </p:txBody>
        </p:sp>
      </p:grpSp>
      <p:grpSp>
        <p:nvGrpSpPr>
          <p:cNvPr id="76" name="c2-card-2"/>
          <p:cNvGrpSpPr/>
          <p:nvPr/>
        </p:nvGrpSpPr>
        <p:grpSpPr>
          <a:xfrm>
            <a:off x="6680835" y="3463290"/>
            <a:ext cx="4977765" cy="1934528"/>
            <a:chOff x="6680835" y="3463290"/>
            <a:chExt cx="4977765" cy="1934528"/>
          </a:xfrm>
        </p:grpSpPr>
        <p:sp>
          <p:nvSpPr>
            <p:cNvPr id="68" name="Rectangle 68"/>
            <p:cNvSpPr/>
            <p:nvPr/>
          </p:nvSpPr>
          <p:spPr>
            <a:xfrm>
              <a:off x="6680835" y="3463290"/>
              <a:ext cx="4977765" cy="1934528"/>
            </a:xfrm>
            <a:prstGeom prst="roundRect">
              <a:avLst>
                <a:gd name="adj" fmla="val 68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690360" y="3596640"/>
              <a:ext cx="47625" cy="166782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899910" y="36442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992582" y="36771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466838" y="3683794"/>
              <a:ext cx="19939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 ASL 与无序表的对比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893433" y="4000024"/>
              <a:ext cx="43695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成功：ASL = (1+2+3+4+5)/5 = 3，仍是 (n+1)/2，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有序并不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减少成功查找的比较次数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893433" y="4528661"/>
              <a:ext cx="42313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失败：6 个外结点的深度依次为 1、2、3、4、5、5，ASL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20/6 ≈ 3.33，比无序表的 5 次少了近三分之一。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894576" y="5052060"/>
              <a:ext cx="43713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判定树是一条向右倾斜的单支链，高度 n，这正是顺序查找慢的根源。</a:t>
              </a:r>
            </a:p>
          </p:txBody>
        </p:sp>
      </p:grpSp>
      <p:grpSp>
        <p:nvGrpSpPr>
          <p:cNvPr id="8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7" name="Rectangle 7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041273" y="6039326"/>
              <a:ext cx="58888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有序只帮到失败查找：提前停下来省掉的是“后面那一截一定不匹配”的比较。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135499" cy="2997517"/>
            <a:chOff x="667512" y="1835468"/>
            <a:chExt cx="5135499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对半查找与二叉判定树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一次比较砍掉一半，再把整个过程画成一棵树来算账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826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三种二分方法只差在 mid 怎么取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判定树的内结点对应成功、外结点对应失败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比较次数等于结点在树中的位置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对半查找与二叉判定树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有序表的二分查找：一次比较砍掉一段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456807" cy="293370"/>
            <a:chOff x="525780" y="1548765"/>
            <a:chExt cx="6456807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4568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对半、斐波那契、插值三种方法共用同一个框架，区别只在怎么挑 mid。</a:t>
              </a:r>
            </a:p>
          </p:txBody>
        </p:sp>
      </p:grpSp>
      <p:grpSp>
        <p:nvGrpSpPr>
          <p:cNvPr id="22" name="c1-card-1"/>
          <p:cNvGrpSpPr/>
          <p:nvPr/>
        </p:nvGrpSpPr>
        <p:grpSpPr>
          <a:xfrm>
            <a:off x="533400" y="1954530"/>
            <a:ext cx="5626418" cy="2772728"/>
            <a:chOff x="533400" y="1954530"/>
            <a:chExt cx="5626418" cy="277272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626418" cy="2772728"/>
            </a:xfrm>
            <a:prstGeom prst="roundRect">
              <a:avLst>
                <a:gd name="adj" fmla="val 48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250602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9620" y="21526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1060" y="21869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框架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52931" y="218741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二分查找的一般形式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381" y="2531269"/>
              <a:ext cx="494677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有序表 R[low]、R[low+1]、…、R[high] 按关键词递增有序。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选取一个位置 mid（low ≤ mid ≤ high），把 K 与 R[mid] 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较：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345186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3392329"/>
              <a:ext cx="50925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&lt; R[mid]：K 只可能在 R[mid] 左侧，令 high = mid − 1。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7240" y="376999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3831" y="3709511"/>
              <a:ext cx="27025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R[mid]：查找成功，结束。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77240" y="408717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3831" y="4027646"/>
              <a:ext cx="50256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&gt; R[mid]：K 只可能在 R[mid] 右侧，令 low = mid + 1。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524" y="4341495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每一轮都会把待查区间真正缩短，所以循环一定会停。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907280"/>
            <a:ext cx="5626418" cy="759142"/>
            <a:chOff x="533400" y="4907280"/>
            <a:chExt cx="5626418" cy="759142"/>
          </a:xfrm>
        </p:grpSpPr>
        <p:sp>
          <p:nvSpPr>
            <p:cNvPr id="23" name="Rectangle 23"/>
            <p:cNvSpPr/>
            <p:nvPr/>
          </p:nvSpPr>
          <p:spPr>
            <a:xfrm>
              <a:off x="533400" y="4907280"/>
              <a:ext cx="5626418" cy="759142"/>
            </a:xfrm>
            <a:prstGeom prst="roundRect">
              <a:avLst>
                <a:gd name="adj" fmla="val 1505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26129" y="5182671"/>
              <a:ext cx="224134" cy="192560"/>
              <a:chOff x="726129" y="5182671"/>
              <a:chExt cx="224134" cy="19256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38200" y="525303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26129" y="518267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38200" y="533082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511" y="5056346"/>
              <a:ext cx="472135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递增有序是硬前提。表一旦无序，“左侧右侧”的推断就不成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立，算法会漏掉正确答案。</a:t>
              </a:r>
            </a:p>
          </p:txBody>
        </p:sp>
      </p:grpSp>
      <p:grpSp>
        <p:nvGrpSpPr>
          <p:cNvPr id="67" name="c2-cells-1"/>
          <p:cNvGrpSpPr/>
          <p:nvPr/>
        </p:nvGrpSpPr>
        <p:grpSpPr>
          <a:xfrm>
            <a:off x="6458522" y="1954530"/>
            <a:ext cx="5200078" cy="927449"/>
            <a:chOff x="6458522" y="1954530"/>
            <a:chExt cx="5200078" cy="927449"/>
          </a:xfrm>
        </p:grpSpPr>
        <p:sp>
          <p:nvSpPr>
            <p:cNvPr id="30" name="TextBox 30"/>
            <p:cNvSpPr txBox="1"/>
            <p:nvPr/>
          </p:nvSpPr>
          <p:spPr>
            <a:xfrm>
              <a:off x="6458522" y="207645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686550" y="1954530"/>
              <a:ext cx="4972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35765" y="20764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183755" y="1954530"/>
              <a:ext cx="4972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332970" y="20764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80960" y="1954530"/>
              <a:ext cx="4972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830175" y="20764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178165" y="1954530"/>
              <a:ext cx="4972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27380" y="20764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675370" y="1954530"/>
              <a:ext cx="497205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824585" y="20764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172575" y="1954530"/>
              <a:ext cx="4972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321790" y="20764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669780" y="1954530"/>
              <a:ext cx="4972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818995" y="20764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166985" y="1954530"/>
              <a:ext cx="4972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316200" y="20764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664190" y="1954530"/>
              <a:ext cx="4972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813405" y="20764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1161395" y="1954530"/>
              <a:ext cx="4972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1310610" y="20764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97072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94277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91482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88687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885892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383097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880302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377507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874712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338598" y="240411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6897052" y="255841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19380" y="2691289"/>
              <a:ext cx="231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low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8885872" y="255841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808200" y="2691289"/>
              <a:ext cx="231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mid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11371898" y="255841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1269984" y="2691289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high</a:t>
              </a:r>
            </a:p>
          </p:txBody>
        </p:sp>
      </p:grpSp>
      <p:grpSp>
        <p:nvGrpSpPr>
          <p:cNvPr id="87" name="c2-table-2"/>
          <p:cNvGrpSpPr/>
          <p:nvPr/>
        </p:nvGrpSpPr>
        <p:grpSpPr>
          <a:xfrm>
            <a:off x="6464618" y="3031808"/>
            <a:ext cx="5193982" cy="1697355"/>
            <a:chOff x="6464618" y="3031808"/>
            <a:chExt cx="5193982" cy="1697355"/>
          </a:xfrm>
        </p:grpSpPr>
        <p:sp>
          <p:nvSpPr>
            <p:cNvPr id="68" name="Rectangle 68"/>
            <p:cNvSpPr/>
            <p:nvPr/>
          </p:nvSpPr>
          <p:spPr>
            <a:xfrm>
              <a:off x="6464618" y="3031808"/>
              <a:ext cx="5193982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920865" y="316039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600145" y="3160395"/>
              <a:ext cx="819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mid 的取法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573321" y="316039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用到的运算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567106" y="35852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对半查找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813929" y="358521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mid = ⌊(low+high)/2⌋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410444" y="3585210"/>
              <a:ext cx="957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加法与除以 2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464618" y="387572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464618" y="3880485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567106" y="400907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斐波那契查找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813929" y="4009072"/>
              <a:ext cx="15429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mid = low + Fₖ₋₁ − 1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410444" y="400907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只有加减法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464618" y="43005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567106" y="44338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插值查找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813929" y="4433888"/>
              <a:ext cx="1985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K 在值域中的比例估位置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410444" y="44338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乘法与除法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6464618" y="3031808"/>
              <a:ext cx="5193982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7706678" y="3031808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10303192" y="3031808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4" name="c2-callout-3"/>
          <p:cNvGrpSpPr/>
          <p:nvPr/>
        </p:nvGrpSpPr>
        <p:grpSpPr>
          <a:xfrm>
            <a:off x="6464618" y="4910138"/>
            <a:ext cx="5193982" cy="756285"/>
            <a:chOff x="6464618" y="4910138"/>
            <a:chExt cx="5193982" cy="756285"/>
          </a:xfrm>
        </p:grpSpPr>
        <p:sp>
          <p:nvSpPr>
            <p:cNvPr id="88" name="Rectangle 88"/>
            <p:cNvSpPr/>
            <p:nvPr/>
          </p:nvSpPr>
          <p:spPr>
            <a:xfrm>
              <a:off x="6464618" y="4910138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6669405" y="5188268"/>
              <a:ext cx="200026" cy="200025"/>
              <a:chOff x="6669405" y="5188268"/>
              <a:chExt cx="200026" cy="200025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6669405" y="51882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6709144" y="52327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6743859" y="53438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6971729" y="5057299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三种方法的正确性完全一样，差别只体现在比较次数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和运算成本上。</a:t>
              </a:r>
            </a:p>
          </p:txBody>
        </p:sp>
      </p:grpSp>
      <p:grpSp>
        <p:nvGrpSpPr>
          <p:cNvPr id="101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95" name="Rectangle 95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9" name="Group 99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0" name="TextBox 100"/>
            <p:cNvSpPr txBox="1"/>
            <p:nvPr/>
          </p:nvSpPr>
          <p:spPr>
            <a:xfrm>
              <a:off x="1040511" y="6011704"/>
              <a:ext cx="6781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本讲用同一个 10 元素的表贯穿整个第二部分：12 23 26 37 55 60 68 75 82 96。</a:t>
              </a:r>
            </a:p>
          </p:txBody>
        </p:sp>
      </p:grpSp>
      <p:grpSp>
        <p:nvGrpSpPr>
          <p:cNvPr id="10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2" name="TextBox 102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3093" cy="909257"/>
            <a:chOff x="520446" y="342900"/>
            <a:chExt cx="72330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对半查找与二叉判定树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30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对半查找：mid 取区间中点，每轮把范围缩一半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967990"/>
            <a:chOff x="533400" y="1524000"/>
            <a:chExt cx="6059805" cy="29679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967990"/>
            </a:xfrm>
            <a:prstGeom prst="roundRect">
              <a:avLst>
                <a:gd name="adj" fmla="val 32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1481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对半（折半）查找（源课件第 8 页）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413887" cy="2481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BinarySearch(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{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R[1..n] 中关键词递增有序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low = 1, high = n, mid;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(low &lt;= high)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mid = (low + high) / 2;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&lt; R[mid])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high = mid - 1;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在左半部分查找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&gt; R[mid])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low = mid + 1;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在右半部分查找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mid;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查找成功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-1;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查找失败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656772"/>
            <a:ext cx="6059805" cy="908685"/>
            <a:chOff x="533400" y="4656772"/>
            <a:chExt cx="6059805" cy="908685"/>
          </a:xfrm>
        </p:grpSpPr>
        <p:sp>
          <p:nvSpPr>
            <p:cNvPr id="11" name="Rectangle 11"/>
            <p:cNvSpPr/>
            <p:nvPr/>
          </p:nvSpPr>
          <p:spPr>
            <a:xfrm>
              <a:off x="533400" y="4656772"/>
              <a:ext cx="6059805" cy="908685"/>
            </a:xfrm>
            <a:prstGeom prst="roundRect">
              <a:avLst>
                <a:gd name="adj" fmla="val 1257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26129" y="5007411"/>
              <a:ext cx="224134" cy="192560"/>
              <a:chOff x="726129" y="5007411"/>
              <a:chExt cx="224134" cy="19256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38200" y="507777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26129" y="500741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8200" y="515556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1273" y="4904899"/>
              <a:ext cx="51335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工程细节：low 与 high 都很大时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(low+high)</a:t>
              </a: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会越过 2³¹ 变成负数，稳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妥写法是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mid = low + (high-low)/2</a:t>
              </a: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1" name="c2-steps-1"/>
          <p:cNvGrpSpPr/>
          <p:nvPr/>
        </p:nvGrpSpPr>
        <p:grpSpPr>
          <a:xfrm>
            <a:off x="6898005" y="1533525"/>
            <a:ext cx="4411166" cy="1596962"/>
            <a:chOff x="6898005" y="1533525"/>
            <a:chExt cx="4411166" cy="1596962"/>
          </a:xfrm>
        </p:grpSpPr>
        <p:sp>
          <p:nvSpPr>
            <p:cNvPr id="18" name="Rectangle 18"/>
            <p:cNvSpPr/>
            <p:nvPr/>
          </p:nvSpPr>
          <p:spPr>
            <a:xfrm>
              <a:off x="7031355" y="1676400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898005" y="208692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9162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898005" y="263937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9162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10628" y="15644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循环条件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11771" y="181832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low &gt; high 就说明待查区间为空，查找失败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10628" y="21169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取中点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11771" y="2371725"/>
              <a:ext cx="22581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整数除法自动下取整，mid 偏向左边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10628" y="26703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缩区间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11771" y="2925128"/>
              <a:ext cx="39974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必须写 mid−1 和 mid+1，否则 R[mid] 会被反复比较造成死循环</a:t>
              </a:r>
            </a:p>
          </p:txBody>
        </p:sp>
      </p:grpSp>
      <p:grpSp>
        <p:nvGrpSpPr>
          <p:cNvPr id="37" name="c2-callout-2"/>
          <p:cNvGrpSpPr/>
          <p:nvPr/>
        </p:nvGrpSpPr>
        <p:grpSpPr>
          <a:xfrm>
            <a:off x="6898005" y="3291840"/>
            <a:ext cx="4760595" cy="702945"/>
            <a:chOff x="6898005" y="3291840"/>
            <a:chExt cx="4760595" cy="702945"/>
          </a:xfrm>
        </p:grpSpPr>
        <p:sp>
          <p:nvSpPr>
            <p:cNvPr id="32" name="Rectangle 32"/>
            <p:cNvSpPr/>
            <p:nvPr/>
          </p:nvSpPr>
          <p:spPr>
            <a:xfrm>
              <a:off x="6898005" y="3291840"/>
              <a:ext cx="4760595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102793" y="3543302"/>
              <a:ext cx="200023" cy="200023"/>
              <a:chOff x="7102793" y="3543302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102793" y="354330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236143" y="36099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7405878" y="3436144"/>
              <a:ext cx="3850183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时间复杂度 </a:t>
              </a:r>
              <a:r>
                <a:rPr lang="en-US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O(log n)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。前提是顺序存储、可按下标随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机访问，并且表在查找期间保持有序。</a:t>
              </a:r>
            </a:p>
          </p:txBody>
        </p:sp>
      </p:grpSp>
      <p:grpSp>
        <p:nvGrpSpPr>
          <p:cNvPr id="45" name="c2-card-3"/>
          <p:cNvGrpSpPr/>
          <p:nvPr/>
        </p:nvGrpSpPr>
        <p:grpSpPr>
          <a:xfrm>
            <a:off x="6898005" y="4158615"/>
            <a:ext cx="4760595" cy="1406842"/>
            <a:chOff x="6898005" y="4158615"/>
            <a:chExt cx="4760595" cy="1406842"/>
          </a:xfrm>
        </p:grpSpPr>
        <p:sp>
          <p:nvSpPr>
            <p:cNvPr id="38" name="Rectangle 38"/>
            <p:cNvSpPr/>
            <p:nvPr/>
          </p:nvSpPr>
          <p:spPr>
            <a:xfrm>
              <a:off x="6898005" y="4158615"/>
              <a:ext cx="4760595" cy="1406842"/>
            </a:xfrm>
            <a:prstGeom prst="roundRect">
              <a:avLst>
                <a:gd name="adj" fmla="val 9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907530" y="4291965"/>
              <a:ext cx="47625" cy="11401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117080" y="43395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08799" y="43724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83056" y="438007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最坏要比较几次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10603" y="4696301"/>
              <a:ext cx="38006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每轮区间长度至少减半，从 n 缩到 0 最多 ⌊log₂n⌋+1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轮，这也正是后面判定树的高度加一。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11746" y="5220652"/>
              <a:ext cx="26892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n=10 时最坏 4 次，n=1000 时最坏 10 次。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6" name="Rectangle 4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1273" y="6039326"/>
              <a:ext cx="69313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low、high 都是下标而不是值；把 high = mid − 1 写成 high = mid 是最常见的死循环写法。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95644" cy="909257"/>
            <a:chOff x="520446" y="342900"/>
            <a:chExt cx="52956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对半查找与二叉判定树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956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例1：查找 K=96，四次比较后命中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799642" cy="293370"/>
            <a:chOff x="525780" y="1548765"/>
            <a:chExt cx="7799642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7996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表为 12 23 26 37 55 60 68 75 82 96，下标 1 到 10。每一行是一轮比较开始时的区间。</a:t>
              </a:r>
            </a:p>
          </p:txBody>
        </p:sp>
      </p:grpSp>
      <p:grpSp>
        <p:nvGrpSpPr>
          <p:cNvPr id="121" name="c1-cells-1"/>
          <p:cNvGrpSpPr/>
          <p:nvPr/>
        </p:nvGrpSpPr>
        <p:grpSpPr>
          <a:xfrm>
            <a:off x="527304" y="1954530"/>
            <a:ext cx="6282118" cy="3597306"/>
            <a:chOff x="527304" y="1954530"/>
            <a:chExt cx="6282118" cy="3597306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2083118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第1次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59180" y="1954530"/>
              <a:ext cx="57531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47447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634490" y="1954530"/>
              <a:ext cx="57531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22757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209800" y="1954530"/>
              <a:ext cx="57531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398067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784158" y="1954530"/>
              <a:ext cx="57531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2425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359468" y="1954530"/>
              <a:ext cx="57531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547735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934778" y="1954530"/>
              <a:ext cx="57531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122092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509135" y="1954530"/>
              <a:ext cx="57531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97402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084445" y="1954530"/>
              <a:ext cx="57531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72712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659755" y="1954530"/>
              <a:ext cx="57531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47070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234112" y="1954530"/>
              <a:ext cx="57531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22380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08754" y="24164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84064" y="24164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59374" y="24164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33732" y="24164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09042" y="24164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183399" y="24164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58709" y="24164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34019" y="24164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08377" y="24164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50368" y="241649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1308735" y="257079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231063" y="2703671"/>
              <a:ext cx="231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low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3609022" y="257079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531350" y="2703671"/>
              <a:ext cx="231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mid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483668" y="257079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81754" y="2703671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high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7304" y="3159442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第2次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59180" y="3030855"/>
              <a:ext cx="5753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247447" y="31594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634490" y="3030855"/>
              <a:ext cx="5753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822757" y="31594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209800" y="3030855"/>
              <a:ext cx="5753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398067" y="31594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784158" y="3030855"/>
              <a:ext cx="5753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972425" y="31594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359468" y="3030855"/>
              <a:ext cx="5753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547735" y="31594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934778" y="3030855"/>
              <a:ext cx="57531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122092" y="31594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509135" y="3030855"/>
              <a:ext cx="57531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697402" y="31594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084445" y="3030855"/>
              <a:ext cx="57531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272712" y="31594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659755" y="3030855"/>
              <a:ext cx="57531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847070" y="31594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234112" y="3030855"/>
              <a:ext cx="57531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422380" y="31594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96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4183380" y="345662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4105708" y="3589496"/>
              <a:ext cx="231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low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5334000" y="345662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256328" y="3589496"/>
              <a:ext cx="231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mid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6483668" y="345662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381754" y="3589496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high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27304" y="4045268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第3次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059180" y="3916680"/>
              <a:ext cx="5753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247447" y="40452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634490" y="3916680"/>
              <a:ext cx="5753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822757" y="40452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2209800" y="3916680"/>
              <a:ext cx="5753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2398067" y="40452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2784158" y="3916680"/>
              <a:ext cx="5753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2972425" y="40452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3359468" y="3916680"/>
              <a:ext cx="5753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3547735" y="40452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3934778" y="3916680"/>
              <a:ext cx="5753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4122092" y="40452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4509135" y="3916680"/>
              <a:ext cx="5753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4697402" y="40452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5084445" y="3916680"/>
              <a:ext cx="5753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5272712" y="40452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5659755" y="3916680"/>
              <a:ext cx="57531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5847070" y="40452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234112" y="3916680"/>
              <a:ext cx="57531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422380" y="40452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96</a:t>
              </a:r>
            </a:p>
          </p:txBody>
        </p:sp>
        <p:sp>
          <p:nvSpPr>
            <p:cNvPr id="94" name="Freeform 94"/>
            <p:cNvSpPr/>
            <p:nvPr/>
          </p:nvSpPr>
          <p:spPr>
            <a:xfrm>
              <a:off x="5908358" y="434244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5681772" y="4475321"/>
              <a:ext cx="5293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low/mid</a:t>
              </a:r>
            </a:p>
          </p:txBody>
        </p:sp>
        <p:sp>
          <p:nvSpPr>
            <p:cNvPr id="96" name="Freeform 96"/>
            <p:cNvSpPr/>
            <p:nvPr/>
          </p:nvSpPr>
          <p:spPr>
            <a:xfrm>
              <a:off x="6483668" y="434244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381754" y="4475321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high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527304" y="4931092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第4次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1059180" y="4802505"/>
              <a:ext cx="5753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1247447" y="49310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1634490" y="4802505"/>
              <a:ext cx="5753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1822757" y="49310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2209800" y="4802505"/>
              <a:ext cx="5753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2398067" y="49310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2784158" y="4802505"/>
              <a:ext cx="5753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2972425" y="49310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3359468" y="4802505"/>
              <a:ext cx="5753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3547735" y="49310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3934778" y="4802505"/>
              <a:ext cx="5753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4122092" y="49310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4509135" y="4802505"/>
              <a:ext cx="5753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4697402" y="49310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5084445" y="4802505"/>
              <a:ext cx="5753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5272712" y="49310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5659755" y="4802505"/>
              <a:ext cx="5753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5847070" y="49310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6234112" y="4802505"/>
              <a:ext cx="57531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6422380" y="49310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96</a:t>
              </a:r>
            </a:p>
          </p:txBody>
        </p:sp>
        <p:sp>
          <p:nvSpPr>
            <p:cNvPr id="119" name="Freeform 119"/>
            <p:cNvSpPr/>
            <p:nvPr/>
          </p:nvSpPr>
          <p:spPr>
            <a:xfrm>
              <a:off x="6483668" y="522827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6252959" y="536114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三者重合</a:t>
              </a:r>
            </a:p>
          </p:txBody>
        </p:sp>
      </p:grpSp>
      <p:grpSp>
        <p:nvGrpSpPr>
          <p:cNvPr id="165" name="c2-table-1"/>
          <p:cNvGrpSpPr/>
          <p:nvPr/>
        </p:nvGrpSpPr>
        <p:grpSpPr>
          <a:xfrm>
            <a:off x="7114222" y="1954530"/>
            <a:ext cx="4544378" cy="2150745"/>
            <a:chOff x="7114222" y="1954530"/>
            <a:chExt cx="4544378" cy="2150745"/>
          </a:xfrm>
        </p:grpSpPr>
        <p:sp>
          <p:nvSpPr>
            <p:cNvPr id="122" name="Rectangle 122"/>
            <p:cNvSpPr/>
            <p:nvPr/>
          </p:nvSpPr>
          <p:spPr>
            <a:xfrm>
              <a:off x="7114222" y="1954530"/>
              <a:ext cx="4544378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7254050" y="208597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7699187" y="2085975"/>
              <a:ext cx="283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low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8238146" y="2085975"/>
              <a:ext cx="342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high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8835520" y="2085975"/>
              <a:ext cx="283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mid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9396532" y="2085975"/>
              <a:ext cx="5712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R[mid]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0718482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7219569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767391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8218742" y="25155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881024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9355074" y="25155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10218991" y="2515552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96 &gt; 55，去右半</a:t>
              </a:r>
            </a:p>
          </p:txBody>
        </p:sp>
        <p:sp>
          <p:nvSpPr>
            <p:cNvPr id="135" name="Rectangle 135"/>
            <p:cNvSpPr/>
            <p:nvPr/>
          </p:nvSpPr>
          <p:spPr>
            <a:xfrm>
              <a:off x="7114222" y="280987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7114222" y="2814638"/>
              <a:ext cx="454437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7219569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767391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8218742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881024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9355074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10218991" y="2946082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96 &gt; 75，去右半</a:t>
              </a:r>
            </a:p>
          </p:txBody>
        </p:sp>
        <p:sp>
          <p:nvSpPr>
            <p:cNvPr id="143" name="Rectangle 143"/>
            <p:cNvSpPr/>
            <p:nvPr/>
          </p:nvSpPr>
          <p:spPr>
            <a:xfrm>
              <a:off x="7114222" y="324040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7219569" y="337661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7673912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8218742" y="337661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8810244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9355074" y="337661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10218991" y="3376612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96 &gt; 82，去右半</a:t>
              </a:r>
            </a:p>
          </p:txBody>
        </p:sp>
        <p:sp>
          <p:nvSpPr>
            <p:cNvPr id="150" name="Rectangle 150"/>
            <p:cNvSpPr/>
            <p:nvPr/>
          </p:nvSpPr>
          <p:spPr>
            <a:xfrm>
              <a:off x="7114222" y="366998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1" name="Rectangle 151"/>
            <p:cNvSpPr/>
            <p:nvPr/>
          </p:nvSpPr>
          <p:spPr>
            <a:xfrm>
              <a:off x="7114222" y="3674745"/>
              <a:ext cx="454437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2" name="TextBox 152"/>
            <p:cNvSpPr txBox="1"/>
            <p:nvPr/>
          </p:nvSpPr>
          <p:spPr>
            <a:xfrm>
              <a:off x="7219569" y="3806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7673912" y="380619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8218742" y="380619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8810244" y="380619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9355074" y="380619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96</a:t>
              </a:r>
            </a:p>
          </p:txBody>
        </p:sp>
        <p:sp>
          <p:nvSpPr>
            <p:cNvPr id="157" name="Rectangle 157"/>
            <p:cNvSpPr/>
            <p:nvPr/>
          </p:nvSpPr>
          <p:spPr>
            <a:xfrm>
              <a:off x="10123170" y="3684270"/>
              <a:ext cx="1525905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58" name="TextBox 158"/>
            <p:cNvSpPr txBox="1"/>
            <p:nvPr/>
          </p:nvSpPr>
          <p:spPr>
            <a:xfrm>
              <a:off x="10218991" y="3806190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相等，返回 10</a:t>
              </a:r>
            </a:p>
          </p:txBody>
        </p:sp>
        <p:sp>
          <p:nvSpPr>
            <p:cNvPr id="159" name="Rectangle 159"/>
            <p:cNvSpPr/>
            <p:nvPr/>
          </p:nvSpPr>
          <p:spPr>
            <a:xfrm>
              <a:off x="7114222" y="1954530"/>
              <a:ext cx="4544378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60" name="Rectangle 160"/>
            <p:cNvSpPr/>
            <p:nvPr/>
          </p:nvSpPr>
          <p:spPr>
            <a:xfrm>
              <a:off x="7563802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1" name="Rectangle 161"/>
            <p:cNvSpPr/>
            <p:nvPr/>
          </p:nvSpPr>
          <p:spPr>
            <a:xfrm>
              <a:off x="8108632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2" name="Rectangle 162"/>
            <p:cNvSpPr/>
            <p:nvPr/>
          </p:nvSpPr>
          <p:spPr>
            <a:xfrm>
              <a:off x="8700135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3" name="Rectangle 163"/>
            <p:cNvSpPr/>
            <p:nvPr/>
          </p:nvSpPr>
          <p:spPr>
            <a:xfrm>
              <a:off x="9244965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4" name="Rectangle 164"/>
            <p:cNvSpPr/>
            <p:nvPr/>
          </p:nvSpPr>
          <p:spPr>
            <a:xfrm>
              <a:off x="10108882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71" name="c2-callout-2"/>
          <p:cNvGrpSpPr/>
          <p:nvPr/>
        </p:nvGrpSpPr>
        <p:grpSpPr>
          <a:xfrm>
            <a:off x="7114222" y="4291012"/>
            <a:ext cx="4544378" cy="1230630"/>
            <a:chOff x="7114222" y="4291012"/>
            <a:chExt cx="4544378" cy="1230630"/>
          </a:xfrm>
        </p:grpSpPr>
        <p:sp>
          <p:nvSpPr>
            <p:cNvPr id="166" name="Rectangle 166"/>
            <p:cNvSpPr/>
            <p:nvPr/>
          </p:nvSpPr>
          <p:spPr>
            <a:xfrm>
              <a:off x="7114222" y="4291012"/>
              <a:ext cx="4544378" cy="1230630"/>
            </a:xfrm>
            <a:prstGeom prst="roundRect">
              <a:avLst>
                <a:gd name="adj" fmla="val 9288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69" name="Group 169"/>
            <p:cNvGrpSpPr/>
            <p:nvPr/>
          </p:nvGrpSpPr>
          <p:grpSpPr>
            <a:xfrm>
              <a:off x="7319010" y="4806315"/>
              <a:ext cx="200026" cy="200026"/>
              <a:chOff x="7319010" y="4806315"/>
              <a:chExt cx="200026" cy="200026"/>
            </a:xfrm>
          </p:grpSpPr>
          <p:sp>
            <p:nvSpPr>
              <p:cNvPr id="167" name="Freeform 167"/>
              <p:cNvSpPr/>
              <p:nvPr/>
            </p:nvSpPr>
            <p:spPr>
              <a:xfrm>
                <a:off x="7319010" y="48063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68" name="Freeform 168"/>
              <p:cNvSpPr/>
              <p:nvPr/>
            </p:nvSpPr>
            <p:spPr>
              <a:xfrm>
                <a:off x="7385685" y="488410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70" name="TextBox 170"/>
            <p:cNvSpPr txBox="1"/>
            <p:nvPr/>
          </p:nvSpPr>
          <p:spPr>
            <a:xfrm>
              <a:off x="7621334" y="4675346"/>
              <a:ext cx="364832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共 4 次关键词比较。同一个表用顺序查找要比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 次。</a:t>
              </a:r>
            </a:p>
          </p:txBody>
        </p:sp>
      </p:grpSp>
      <p:grpSp>
        <p:nvGrpSpPr>
          <p:cNvPr id="178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172" name="Rectangle 17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76" name="Group 176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173" name="Freeform 173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4" name="Freeform 174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5" name="Freeform 175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77" name="TextBox 177"/>
            <p:cNvSpPr txBox="1"/>
            <p:nvPr/>
          </p:nvSpPr>
          <p:spPr>
            <a:xfrm>
              <a:off x="1040511" y="6004084"/>
              <a:ext cx="76322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轮 low 与 mid 重合、第 4 轮三者重合，这说明区间缩到长度 1 时算法仍然正常工作。</a:t>
              </a:r>
            </a:p>
          </p:txBody>
        </p:sp>
      </p:grpSp>
      <p:grpSp>
        <p:nvGrpSpPr>
          <p:cNvPr id="1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9" name="TextBox 179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180" name="TextBox 1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9624" cy="909257"/>
            <a:chOff x="520446" y="342900"/>
            <a:chExt cx="68996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对半查找与二叉判定树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96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例2：查找 K=58，三次比较后 low 越过 high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120526" cy="264033"/>
            <a:chOff x="526542" y="1545907"/>
            <a:chExt cx="512052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1205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同一个表。失败的判据不是“比到了表尾”，而是待查区间变空。</a:t>
              </a:r>
            </a:p>
          </p:txBody>
        </p:sp>
      </p:grpSp>
      <p:grpSp>
        <p:nvGrpSpPr>
          <p:cNvPr id="123" name="c1-cells-1"/>
          <p:cNvGrpSpPr/>
          <p:nvPr/>
        </p:nvGrpSpPr>
        <p:grpSpPr>
          <a:xfrm>
            <a:off x="528066" y="1928812"/>
            <a:ext cx="6281356" cy="3209449"/>
            <a:chOff x="528066" y="1928812"/>
            <a:chExt cx="6281356" cy="3209449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2041207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第1次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10602" y="1928812"/>
              <a:ext cx="58007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13198" y="204120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90675" y="1928812"/>
              <a:ext cx="58007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93271" y="204120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169795" y="1928812"/>
              <a:ext cx="58007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373343" y="204120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749868" y="1928812"/>
              <a:ext cx="58007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53416" y="204120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329940" y="1928812"/>
              <a:ext cx="580072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532536" y="204120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910012" y="1928812"/>
              <a:ext cx="58007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112608" y="204120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490085" y="1928812"/>
              <a:ext cx="58007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92681" y="204120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069205" y="1928812"/>
              <a:ext cx="58007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72753" y="204120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649278" y="1928812"/>
              <a:ext cx="58007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52826" y="204120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229350" y="1928812"/>
              <a:ext cx="58007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31946" y="204120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65043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4511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25188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0526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843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164453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4452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24598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0467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53434" y="233886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1262062" y="248507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202674" y="2615089"/>
              <a:ext cx="1949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low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3581400" y="248507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522011" y="2615089"/>
              <a:ext cx="1949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mid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480810" y="248507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01137" y="2615089"/>
              <a:ext cx="23554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high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8066" y="3009900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第2次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10602" y="2896552"/>
              <a:ext cx="58007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213198" y="3009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590675" y="2896552"/>
              <a:ext cx="58007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793271" y="3009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169795" y="2896552"/>
              <a:ext cx="58007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373343" y="3009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749868" y="2896552"/>
              <a:ext cx="58007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953416" y="3009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329940" y="2896552"/>
              <a:ext cx="58007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532536" y="3009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910012" y="2896552"/>
              <a:ext cx="58007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112608" y="3009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490085" y="2896552"/>
              <a:ext cx="58007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692681" y="3009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069205" y="2896552"/>
              <a:ext cx="580072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272753" y="3009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649278" y="2896552"/>
              <a:ext cx="58007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852826" y="3009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229350" y="2896552"/>
              <a:ext cx="58007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431946" y="3009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96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4161472" y="327183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4102084" y="3401854"/>
              <a:ext cx="1949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low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5321618" y="327183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262229" y="3401854"/>
              <a:ext cx="1949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mid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6480810" y="327183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401137" y="3401854"/>
              <a:ext cx="23554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high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28066" y="3796665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第3次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010602" y="3684270"/>
              <a:ext cx="58007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213198" y="37966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590675" y="3684270"/>
              <a:ext cx="58007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793271" y="37966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2169795" y="3684270"/>
              <a:ext cx="58007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2373343" y="37966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2749868" y="3684270"/>
              <a:ext cx="58007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2953416" y="37966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3329940" y="3684270"/>
              <a:ext cx="58007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3532536" y="37966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3910012" y="3684270"/>
              <a:ext cx="580072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4112608" y="37966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4490085" y="3684270"/>
              <a:ext cx="58007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4692681" y="37966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5069205" y="3684270"/>
              <a:ext cx="58007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5272753" y="37966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5649278" y="3684270"/>
              <a:ext cx="58007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5852826" y="37966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229350" y="3684270"/>
              <a:ext cx="580072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431946" y="37966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96</a:t>
              </a:r>
            </a:p>
          </p:txBody>
        </p:sp>
        <p:sp>
          <p:nvSpPr>
            <p:cNvPr id="94" name="Freeform 94"/>
            <p:cNvSpPr/>
            <p:nvPr/>
          </p:nvSpPr>
          <p:spPr>
            <a:xfrm>
              <a:off x="4161472" y="405955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3977483" y="4189571"/>
              <a:ext cx="4441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low/mid</a:t>
              </a:r>
            </a:p>
          </p:txBody>
        </p:sp>
        <p:sp>
          <p:nvSpPr>
            <p:cNvPr id="96" name="Freeform 96"/>
            <p:cNvSpPr/>
            <p:nvPr/>
          </p:nvSpPr>
          <p:spPr>
            <a:xfrm>
              <a:off x="4741545" y="405955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4661872" y="4189571"/>
              <a:ext cx="23554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high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528066" y="458438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1010602" y="4471035"/>
              <a:ext cx="58007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1213198" y="458438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1590675" y="4471035"/>
              <a:ext cx="58007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1793271" y="458438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2169795" y="4471035"/>
              <a:ext cx="58007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2373343" y="458438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2749868" y="4471035"/>
              <a:ext cx="58007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2953416" y="458438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3329940" y="4471035"/>
              <a:ext cx="580072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3532536" y="458438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3910012" y="4471035"/>
              <a:ext cx="580072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4112608" y="458438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4490085" y="4471035"/>
              <a:ext cx="58007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4692681" y="458438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5069205" y="4471035"/>
              <a:ext cx="58007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5272753" y="458438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5649278" y="4471035"/>
              <a:ext cx="58007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5852826" y="458438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6229350" y="4471035"/>
              <a:ext cx="58007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6431946" y="458438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96</a:t>
              </a:r>
            </a:p>
          </p:txBody>
        </p:sp>
        <p:sp>
          <p:nvSpPr>
            <p:cNvPr id="119" name="Freeform 119"/>
            <p:cNvSpPr/>
            <p:nvPr/>
          </p:nvSpPr>
          <p:spPr>
            <a:xfrm>
              <a:off x="3581400" y="484632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3501727" y="4976336"/>
              <a:ext cx="23554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high</a:t>
              </a:r>
            </a:p>
          </p:txBody>
        </p:sp>
        <p:sp>
          <p:nvSpPr>
            <p:cNvPr id="121" name="Freeform 121"/>
            <p:cNvSpPr/>
            <p:nvPr/>
          </p:nvSpPr>
          <p:spPr>
            <a:xfrm>
              <a:off x="4161472" y="484632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4102084" y="4976336"/>
              <a:ext cx="1949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low</a:t>
              </a:r>
            </a:p>
          </p:txBody>
        </p:sp>
      </p:grpSp>
      <p:grpSp>
        <p:nvGrpSpPr>
          <p:cNvPr id="167" name="c2-table-1"/>
          <p:cNvGrpSpPr/>
          <p:nvPr/>
        </p:nvGrpSpPr>
        <p:grpSpPr>
          <a:xfrm>
            <a:off x="7114222" y="1928812"/>
            <a:ext cx="4544378" cy="2093595"/>
            <a:chOff x="7114222" y="1928812"/>
            <a:chExt cx="4544378" cy="2093595"/>
          </a:xfrm>
        </p:grpSpPr>
        <p:sp>
          <p:nvSpPr>
            <p:cNvPr id="124" name="Rectangle 124"/>
            <p:cNvSpPr/>
            <p:nvPr/>
          </p:nvSpPr>
          <p:spPr>
            <a:xfrm>
              <a:off x="7114222" y="1928812"/>
              <a:ext cx="4544378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7264908" y="2045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7716911" y="2045970"/>
              <a:ext cx="2481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low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8259580" y="2045970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high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8853244" y="2045970"/>
              <a:ext cx="2481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mid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9432235" y="2045970"/>
              <a:ext cx="499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R[mid]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073943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7208901" y="2426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766324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8208074" y="242697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8799576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9344406" y="242697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10208324" y="2426970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 &gt; 55，去右半</a:t>
              </a:r>
            </a:p>
          </p:txBody>
        </p:sp>
        <p:sp>
          <p:nvSpPr>
            <p:cNvPr id="137" name="Rectangle 137"/>
            <p:cNvSpPr/>
            <p:nvPr/>
          </p:nvSpPr>
          <p:spPr>
            <a:xfrm>
              <a:off x="7114222" y="268700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8" name="Rectangle 138"/>
            <p:cNvSpPr/>
            <p:nvPr/>
          </p:nvSpPr>
          <p:spPr>
            <a:xfrm>
              <a:off x="7114222" y="2691765"/>
              <a:ext cx="454437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7208901" y="2808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766324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8208074" y="280892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8799576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9344406" y="280892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10208324" y="2808923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 &lt; 75，去左半</a:t>
              </a:r>
            </a:p>
          </p:txBody>
        </p:sp>
        <p:sp>
          <p:nvSpPr>
            <p:cNvPr id="145" name="Rectangle 145"/>
            <p:cNvSpPr/>
            <p:nvPr/>
          </p:nvSpPr>
          <p:spPr>
            <a:xfrm>
              <a:off x="7114222" y="306800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6" name="TextBox 146"/>
            <p:cNvSpPr txBox="1"/>
            <p:nvPr/>
          </p:nvSpPr>
          <p:spPr>
            <a:xfrm>
              <a:off x="7208901" y="3189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7663244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8208074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8799576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9344406" y="318992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10208324" y="3189923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 &lt; 60，去左半</a:t>
              </a:r>
            </a:p>
          </p:txBody>
        </p:sp>
        <p:sp>
          <p:nvSpPr>
            <p:cNvPr id="152" name="Rectangle 152"/>
            <p:cNvSpPr/>
            <p:nvPr/>
          </p:nvSpPr>
          <p:spPr>
            <a:xfrm>
              <a:off x="7114222" y="344900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3" name="Rectangle 153"/>
            <p:cNvSpPr/>
            <p:nvPr/>
          </p:nvSpPr>
          <p:spPr>
            <a:xfrm>
              <a:off x="7114222" y="3453765"/>
              <a:ext cx="4544378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7208901" y="3571875"/>
              <a:ext cx="1440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</a:t>
              </a:r>
              <a:br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束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7663244" y="366522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8208074" y="366522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8799576" y="366522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9344406" y="366522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59" name="Rectangle 159"/>
            <p:cNvSpPr/>
            <p:nvPr/>
          </p:nvSpPr>
          <p:spPr>
            <a:xfrm>
              <a:off x="10123170" y="3463290"/>
              <a:ext cx="1525905" cy="5486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60" name="TextBox 160"/>
            <p:cNvSpPr txBox="1"/>
            <p:nvPr/>
          </p:nvSpPr>
          <p:spPr>
            <a:xfrm>
              <a:off x="10208324" y="3665220"/>
              <a:ext cx="12969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low &gt; high，返回 −1</a:t>
              </a:r>
            </a:p>
          </p:txBody>
        </p:sp>
        <p:sp>
          <p:nvSpPr>
            <p:cNvPr id="161" name="Rectangle 161"/>
            <p:cNvSpPr/>
            <p:nvPr/>
          </p:nvSpPr>
          <p:spPr>
            <a:xfrm>
              <a:off x="7114222" y="1928812"/>
              <a:ext cx="4544378" cy="2093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62" name="Rectangle 162"/>
            <p:cNvSpPr/>
            <p:nvPr/>
          </p:nvSpPr>
          <p:spPr>
            <a:xfrm>
              <a:off x="7563802" y="1928812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3" name="Rectangle 163"/>
            <p:cNvSpPr/>
            <p:nvPr/>
          </p:nvSpPr>
          <p:spPr>
            <a:xfrm>
              <a:off x="8108632" y="1928812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4" name="Rectangle 164"/>
            <p:cNvSpPr/>
            <p:nvPr/>
          </p:nvSpPr>
          <p:spPr>
            <a:xfrm>
              <a:off x="8700135" y="1928812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5" name="Rectangle 165"/>
            <p:cNvSpPr/>
            <p:nvPr/>
          </p:nvSpPr>
          <p:spPr>
            <a:xfrm>
              <a:off x="9244965" y="1928812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6" name="Rectangle 166"/>
            <p:cNvSpPr/>
            <p:nvPr/>
          </p:nvSpPr>
          <p:spPr>
            <a:xfrm>
              <a:off x="10108882" y="1928812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74" name="c2-card-2"/>
          <p:cNvGrpSpPr/>
          <p:nvPr/>
        </p:nvGrpSpPr>
        <p:grpSpPr>
          <a:xfrm>
            <a:off x="7114222" y="4187190"/>
            <a:ext cx="4544378" cy="1403032"/>
            <a:chOff x="7114222" y="4187190"/>
            <a:chExt cx="4544378" cy="1403032"/>
          </a:xfrm>
        </p:grpSpPr>
        <p:sp>
          <p:nvSpPr>
            <p:cNvPr id="168" name="Rectangle 168"/>
            <p:cNvSpPr/>
            <p:nvPr/>
          </p:nvSpPr>
          <p:spPr>
            <a:xfrm>
              <a:off x="7114222" y="4187190"/>
              <a:ext cx="4544378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9" name="Rectangle 169"/>
            <p:cNvSpPr/>
            <p:nvPr/>
          </p:nvSpPr>
          <p:spPr>
            <a:xfrm>
              <a:off x="7123748" y="432054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0" name="Rectangle 170"/>
            <p:cNvSpPr/>
            <p:nvPr/>
          </p:nvSpPr>
          <p:spPr>
            <a:xfrm>
              <a:off x="7333298" y="43681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1" name="TextBox 171"/>
            <p:cNvSpPr txBox="1"/>
            <p:nvPr/>
          </p:nvSpPr>
          <p:spPr>
            <a:xfrm>
              <a:off x="7425017" y="44010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7899273" y="4407694"/>
              <a:ext cx="1182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18 页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7326820" y="4723924"/>
              <a:ext cx="39225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18 页标题仍写“（第3次比较）”，与第 17 页重复。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该页画的其实是第 3 次比较之后 low 越过 high 的结束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状态，并没有发生第 4 次比较。</a:t>
              </a:r>
            </a:p>
          </p:txBody>
        </p:sp>
      </p:grpSp>
      <p:grpSp>
        <p:nvGrpSpPr>
          <p:cNvPr id="18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75" name="Rectangle 17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78" name="Group 178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176" name="Freeform 176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77" name="Freeform 177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79" name="TextBox 179"/>
            <p:cNvSpPr txBox="1"/>
            <p:nvPr/>
          </p:nvSpPr>
          <p:spPr>
            <a:xfrm>
              <a:off x="1041273" y="6039326"/>
              <a:ext cx="6867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失败时 low 与 high 恰好交叉在“K 应该插入的缝隙”两侧，这个信息后面第六部分会用上。</a:t>
              </a:r>
            </a:p>
          </p:txBody>
        </p:sp>
      </p:grpSp>
      <p:grpSp>
        <p:nvGrpSpPr>
          <p:cNvPr id="1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81" name="TextBox 18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182" name="TextBox 1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对半查找与二叉判定树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二叉判定树：把查找过程画成一棵扩充二叉树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102352" cy="264033"/>
            <a:chOff x="526542" y="1545907"/>
            <a:chExt cx="510235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要算平均比较次数，就得把所有可能的比较路径一次性画出来。</a:t>
              </a:r>
            </a:p>
          </p:txBody>
        </p:sp>
      </p:grpSp>
      <p:grpSp>
        <p:nvGrpSpPr>
          <p:cNvPr id="22" name="c1-card-1"/>
          <p:cNvGrpSpPr/>
          <p:nvPr/>
        </p:nvGrpSpPr>
        <p:grpSpPr>
          <a:xfrm>
            <a:off x="533400" y="1928812"/>
            <a:ext cx="5842635" cy="2528888"/>
            <a:chOff x="533400" y="1928812"/>
            <a:chExt cx="5842635" cy="252888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2528888"/>
            </a:xfrm>
            <a:prstGeom prst="roundRect">
              <a:avLst>
                <a:gd name="adj" fmla="val 52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226218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3784" y="2150745"/>
              <a:ext cx="30513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对半查找的二叉判定树 T(low, high)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按下面的方式递归定义：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58190" y="276415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3868" y="28025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8987" y="2776538"/>
              <a:ext cx="38474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 high − low + 1 ≤ 0 时，T(low, high) 为空。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58190" y="306419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3868" y="31035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8987" y="3076575"/>
              <a:ext cx="490004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 high − low + 1 &gt; 0 时，令 mid = ⌊(low+high)/2⌋，T(low,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high) 的根结点是 mid；根的左子树是 R[low] 到 R[mid−1] 对应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的判定树，右子树是 R[mid+1] 到 R[high] 对应的判定树。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2475" y="3887629"/>
              <a:ext cx="515340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结点里写的是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下标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，不是关键词。同一个 n 对应的判定树只有一棵，与表里存什么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值无关。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627245"/>
            <a:ext cx="5842635" cy="992505"/>
            <a:chOff x="533400" y="4627245"/>
            <a:chExt cx="5842635" cy="992505"/>
          </a:xfrm>
        </p:grpSpPr>
        <p:sp>
          <p:nvSpPr>
            <p:cNvPr id="23" name="Rectangle 23"/>
            <p:cNvSpPr/>
            <p:nvPr/>
          </p:nvSpPr>
          <p:spPr>
            <a:xfrm>
              <a:off x="533400" y="4627245"/>
              <a:ext cx="5842635" cy="992505"/>
            </a:xfrm>
            <a:prstGeom prst="roundRect">
              <a:avLst>
                <a:gd name="adj" fmla="val 1151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023485"/>
              <a:ext cx="200026" cy="200025"/>
              <a:chOff x="738188" y="5023485"/>
              <a:chExt cx="200026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0234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7926" y="50679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2642" y="51790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892" y="4904423"/>
              <a:ext cx="487432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判定树只依赖 n 和 mid 的取法，所以它可以在做题前先画好，再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往上套具体的数据。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680835" y="1928812"/>
            <a:ext cx="4977765" cy="1927860"/>
            <a:chOff x="6680835" y="1928812"/>
            <a:chExt cx="4977765" cy="1927860"/>
          </a:xfrm>
        </p:grpSpPr>
        <p:sp>
          <p:nvSpPr>
            <p:cNvPr id="30" name="Rectangle 30"/>
            <p:cNvSpPr/>
            <p:nvPr/>
          </p:nvSpPr>
          <p:spPr>
            <a:xfrm>
              <a:off x="6680835" y="1928812"/>
              <a:ext cx="4977765" cy="1927860"/>
            </a:xfrm>
            <a:prstGeom prst="roundRect">
              <a:avLst>
                <a:gd name="adj" fmla="val 69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90360" y="2062162"/>
              <a:ext cx="47625" cy="166116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905625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98297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回顾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72172" y="215074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扩充二叉树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98767" y="2476500"/>
              <a:ext cx="42999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在二叉树中空指针的位置都增加特殊的结点（空叶结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点），由此生成的二叉树称为扩充二叉树。称圆形结点为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内结点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，方形结点为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外结点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99910" y="3287554"/>
              <a:ext cx="429285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个内结点的扩充二叉树恰有 n+1 个外结点。下图中灰色的四个结点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就是外结点。</a:t>
              </a:r>
            </a:p>
          </p:txBody>
        </p:sp>
      </p:grpSp>
      <p:grpSp>
        <p:nvGrpSpPr>
          <p:cNvPr id="58" name="c2-tree-2"/>
          <p:cNvGrpSpPr/>
          <p:nvPr/>
        </p:nvGrpSpPr>
        <p:grpSpPr>
          <a:xfrm>
            <a:off x="7136130" y="4124325"/>
            <a:ext cx="4068128" cy="1397317"/>
            <a:chOff x="7136130" y="4124325"/>
            <a:chExt cx="4068128" cy="1397317"/>
          </a:xfrm>
        </p:grpSpPr>
        <p:sp>
          <p:nvSpPr>
            <p:cNvPr id="38" name="Freeform 38"/>
            <p:cNvSpPr/>
            <p:nvPr/>
          </p:nvSpPr>
          <p:spPr>
            <a:xfrm>
              <a:off x="7303770" y="4823460"/>
              <a:ext cx="621983" cy="530543"/>
            </a:xfrm>
            <a:custGeom>
              <a:avLst/>
              <a:gdLst/>
              <a:ahLst/>
              <a:cxnLst/>
              <a:rect l="l" t="t" r="r" b="b"/>
              <a:pathLst>
                <a:path w="621983" h="530543">
                  <a:moveTo>
                    <a:pt x="621983" y="0"/>
                  </a:moveTo>
                  <a:lnTo>
                    <a:pt x="0" y="53054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925752" y="4823460"/>
              <a:ext cx="621982" cy="530543"/>
            </a:xfrm>
            <a:custGeom>
              <a:avLst/>
              <a:gdLst/>
              <a:ahLst/>
              <a:cxnLst/>
              <a:rect l="l" t="t" r="r" b="b"/>
              <a:pathLst>
                <a:path w="621982" h="530543">
                  <a:moveTo>
                    <a:pt x="0" y="0"/>
                  </a:moveTo>
                  <a:lnTo>
                    <a:pt x="621982" y="53054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791700" y="4823460"/>
              <a:ext cx="622935" cy="530543"/>
            </a:xfrm>
            <a:custGeom>
              <a:avLst/>
              <a:gdLst/>
              <a:ahLst/>
              <a:cxnLst/>
              <a:rect l="l" t="t" r="r" b="b"/>
              <a:pathLst>
                <a:path w="622935" h="530543">
                  <a:moveTo>
                    <a:pt x="622935" y="0"/>
                  </a:moveTo>
                  <a:lnTo>
                    <a:pt x="0" y="53054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414635" y="4823460"/>
              <a:ext cx="621982" cy="530543"/>
            </a:xfrm>
            <a:custGeom>
              <a:avLst/>
              <a:gdLst/>
              <a:ahLst/>
              <a:cxnLst/>
              <a:rect l="l" t="t" r="r" b="b"/>
              <a:pathLst>
                <a:path w="621982" h="530543">
                  <a:moveTo>
                    <a:pt x="0" y="0"/>
                  </a:moveTo>
                  <a:lnTo>
                    <a:pt x="621982" y="53054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925752" y="4291965"/>
              <a:ext cx="1243965" cy="531495"/>
            </a:xfrm>
            <a:custGeom>
              <a:avLst/>
              <a:gdLst/>
              <a:ahLst/>
              <a:cxnLst/>
              <a:rect l="l" t="t" r="r" b="b"/>
              <a:pathLst>
                <a:path w="1243965" h="531495">
                  <a:moveTo>
                    <a:pt x="1243965" y="0"/>
                  </a:moveTo>
                  <a:lnTo>
                    <a:pt x="0" y="5314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169718" y="4291965"/>
              <a:ext cx="1244918" cy="531495"/>
            </a:xfrm>
            <a:custGeom>
              <a:avLst/>
              <a:gdLst/>
              <a:ahLst/>
              <a:cxnLst/>
              <a:rect l="l" t="t" r="r" b="b"/>
              <a:pathLst>
                <a:path w="1244918" h="531495">
                  <a:moveTo>
                    <a:pt x="0" y="0"/>
                  </a:moveTo>
                  <a:lnTo>
                    <a:pt x="1244918" y="5314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7136130" y="5186362"/>
              <a:ext cx="335280" cy="33528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8380095" y="5186362"/>
              <a:ext cx="335280" cy="33528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7758112" y="4655820"/>
              <a:ext cx="335280" cy="3352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9624060" y="5186362"/>
              <a:ext cx="335280" cy="33528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10868978" y="5186362"/>
              <a:ext cx="335280" cy="33528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10246995" y="4655820"/>
              <a:ext cx="335280" cy="3352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9002078" y="4124325"/>
              <a:ext cx="335280" cy="3352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227761" y="528828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71726" y="528828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79603" y="475773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715690" y="528828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960608" y="528828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68486" y="475773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123568" y="42271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9" name="Rectangle 5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892" y="6028373"/>
              <a:ext cx="8010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二叉判定树是一棵扩充二叉树：内结点代表一次真正发生的比较，外结点代表一个查找失败的区间。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54824" cy="909257"/>
            <a:chOff x="520446" y="342900"/>
            <a:chExt cx="59548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对半查找与二叉判定树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548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T(1,10)：十个元素的对半查找判定树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5669280" cy="293370"/>
            <a:chOff x="525780" y="1548765"/>
            <a:chExt cx="566928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结点里的数字是下标，括号外的表格给出下标与关键词的对应。</a:t>
              </a:r>
            </a:p>
          </p:txBody>
        </p:sp>
      </p:grpSp>
      <p:grpSp>
        <p:nvGrpSpPr>
          <p:cNvPr id="40" name="c1-cells-1"/>
          <p:cNvGrpSpPr/>
          <p:nvPr/>
        </p:nvGrpSpPr>
        <p:grpSpPr>
          <a:xfrm>
            <a:off x="527304" y="1954530"/>
            <a:ext cx="6498336" cy="638174"/>
            <a:chOff x="527304" y="1954530"/>
            <a:chExt cx="6498336" cy="638174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208311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54380" y="1954530"/>
              <a:ext cx="62674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69317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82078" y="1954530"/>
              <a:ext cx="62674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96062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008822" y="1954530"/>
              <a:ext cx="62674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222807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635568" y="1954530"/>
              <a:ext cx="62674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50505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263265" y="1954530"/>
              <a:ext cx="62674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477250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890010" y="1954530"/>
              <a:ext cx="62674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103995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517708" y="1954530"/>
              <a:ext cx="62674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31692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144452" y="1954530"/>
              <a:ext cx="62674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358437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771198" y="1954530"/>
              <a:ext cx="62674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85182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398895" y="1954530"/>
              <a:ext cx="62674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12880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0624" y="24164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57369" y="24164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284114" y="24164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11812" y="24164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38557" y="24164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165302" y="24164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92999" y="24164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419744" y="24164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46489" y="24164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0868" y="241649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70" name="c1-tree-2"/>
          <p:cNvGrpSpPr/>
          <p:nvPr/>
        </p:nvGrpSpPr>
        <p:grpSpPr>
          <a:xfrm>
            <a:off x="1142048" y="2880360"/>
            <a:ext cx="5680709" cy="2485073"/>
            <a:chOff x="1142048" y="2880360"/>
            <a:chExt cx="5680709" cy="2485073"/>
          </a:xfrm>
        </p:grpSpPr>
        <p:sp>
          <p:nvSpPr>
            <p:cNvPr id="41" name="Freeform 41"/>
            <p:cNvSpPr/>
            <p:nvPr/>
          </p:nvSpPr>
          <p:spPr>
            <a:xfrm>
              <a:off x="2967990" y="4469130"/>
              <a:ext cx="405765" cy="693420"/>
            </a:xfrm>
            <a:custGeom>
              <a:avLst/>
              <a:gdLst/>
              <a:ahLst/>
              <a:cxnLst/>
              <a:rect l="l" t="t" r="r" b="b"/>
              <a:pathLst>
                <a:path w="405765" h="693420">
                  <a:moveTo>
                    <a:pt x="0" y="0"/>
                  </a:moveTo>
                  <a:lnTo>
                    <a:pt x="405765" y="6934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344930" y="3776662"/>
              <a:ext cx="811530" cy="692467"/>
            </a:xfrm>
            <a:custGeom>
              <a:avLst/>
              <a:gdLst/>
              <a:ahLst/>
              <a:cxnLst/>
              <a:rect l="l" t="t" r="r" b="b"/>
              <a:pathLst>
                <a:path w="811530" h="692467">
                  <a:moveTo>
                    <a:pt x="811530" y="0"/>
                  </a:moveTo>
                  <a:lnTo>
                    <a:pt x="0" y="69246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2156460" y="3776662"/>
              <a:ext cx="811530" cy="692467"/>
            </a:xfrm>
            <a:custGeom>
              <a:avLst/>
              <a:gdLst/>
              <a:ahLst/>
              <a:cxnLst/>
              <a:rect l="l" t="t" r="r" b="b"/>
              <a:pathLst>
                <a:path w="811530" h="692467">
                  <a:moveTo>
                    <a:pt x="0" y="0"/>
                  </a:moveTo>
                  <a:lnTo>
                    <a:pt x="811530" y="69246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4591050" y="4469130"/>
              <a:ext cx="405765" cy="693420"/>
            </a:xfrm>
            <a:custGeom>
              <a:avLst/>
              <a:gdLst/>
              <a:ahLst/>
              <a:cxnLst/>
              <a:rect l="l" t="t" r="r" b="b"/>
              <a:pathLst>
                <a:path w="405765" h="693420">
                  <a:moveTo>
                    <a:pt x="0" y="0"/>
                  </a:moveTo>
                  <a:lnTo>
                    <a:pt x="405765" y="6934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6214110" y="4469130"/>
              <a:ext cx="405765" cy="693420"/>
            </a:xfrm>
            <a:custGeom>
              <a:avLst/>
              <a:gdLst/>
              <a:ahLst/>
              <a:cxnLst/>
              <a:rect l="l" t="t" r="r" b="b"/>
              <a:pathLst>
                <a:path w="405765" h="693420">
                  <a:moveTo>
                    <a:pt x="0" y="0"/>
                  </a:moveTo>
                  <a:lnTo>
                    <a:pt x="405765" y="6934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4591050" y="3776662"/>
              <a:ext cx="811530" cy="692467"/>
            </a:xfrm>
            <a:custGeom>
              <a:avLst/>
              <a:gdLst/>
              <a:ahLst/>
              <a:cxnLst/>
              <a:rect l="l" t="t" r="r" b="b"/>
              <a:pathLst>
                <a:path w="811530" h="692467">
                  <a:moveTo>
                    <a:pt x="811530" y="0"/>
                  </a:moveTo>
                  <a:lnTo>
                    <a:pt x="0" y="69246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5402580" y="3776662"/>
              <a:ext cx="811530" cy="692467"/>
            </a:xfrm>
            <a:custGeom>
              <a:avLst/>
              <a:gdLst/>
              <a:ahLst/>
              <a:cxnLst/>
              <a:rect l="l" t="t" r="r" b="b"/>
              <a:pathLst>
                <a:path w="811530" h="692467">
                  <a:moveTo>
                    <a:pt x="0" y="0"/>
                  </a:moveTo>
                  <a:lnTo>
                    <a:pt x="811530" y="69246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2156460" y="3083242"/>
              <a:ext cx="1623060" cy="693420"/>
            </a:xfrm>
            <a:custGeom>
              <a:avLst/>
              <a:gdLst/>
              <a:ahLst/>
              <a:cxnLst/>
              <a:rect l="l" t="t" r="r" b="b"/>
              <a:pathLst>
                <a:path w="1623060" h="693420">
                  <a:moveTo>
                    <a:pt x="1623060" y="0"/>
                  </a:moveTo>
                  <a:lnTo>
                    <a:pt x="0" y="6934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3779520" y="3083242"/>
              <a:ext cx="1623060" cy="693420"/>
            </a:xfrm>
            <a:custGeom>
              <a:avLst/>
              <a:gdLst/>
              <a:ahLst/>
              <a:cxnLst/>
              <a:rect l="l" t="t" r="r" b="b"/>
              <a:pathLst>
                <a:path w="1623060" h="693420">
                  <a:moveTo>
                    <a:pt x="0" y="0"/>
                  </a:moveTo>
                  <a:lnTo>
                    <a:pt x="1623060" y="6934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1142048" y="426624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3170872" y="495966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2765108" y="426624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1953578" y="357378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4793932" y="495966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4388168" y="426624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6416992" y="495966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6011228" y="426624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5199698" y="357378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3576638" y="288036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292188" y="43948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321013" y="508730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915248" y="43948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103718" y="370141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944073" y="508730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538308" y="43948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520487" y="508730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161368" y="43948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349838" y="370141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726778" y="300894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85" name="c2-card-1"/>
          <p:cNvGrpSpPr/>
          <p:nvPr/>
        </p:nvGrpSpPr>
        <p:grpSpPr>
          <a:xfrm>
            <a:off x="7330440" y="1954530"/>
            <a:ext cx="4328160" cy="2476500"/>
            <a:chOff x="7330440" y="1954530"/>
            <a:chExt cx="4328160" cy="2476500"/>
          </a:xfrm>
        </p:grpSpPr>
        <p:sp>
          <p:nvSpPr>
            <p:cNvPr id="71" name="Rectangle 71"/>
            <p:cNvSpPr/>
            <p:nvPr/>
          </p:nvSpPr>
          <p:spPr>
            <a:xfrm>
              <a:off x="7330440" y="1954530"/>
              <a:ext cx="4328160" cy="2476500"/>
            </a:xfrm>
            <a:prstGeom prst="roundRect">
              <a:avLst>
                <a:gd name="adj" fmla="val 53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7339965" y="2087880"/>
              <a:ext cx="47625" cy="22098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757237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66258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画法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173784" y="219789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三步画出这棵树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7572375" y="253746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630720" y="257779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863268" y="2550319"/>
              <a:ext cx="24900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根：mid = ⌊(1+10)/2⌋ = 5。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7572375" y="285750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630720" y="289783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863268" y="2870359"/>
              <a:ext cx="32605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左子树管 R[1] 到 R[4]，根是 ⌊(1+4)/2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⌋ = 2；右子树管 R[6] 到 R[10]，根是 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(6+10)/2⌋ = 8。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7572375" y="3720465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630720" y="376080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863268" y="3733324"/>
              <a:ext cx="343192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一直递归到区间为空。3、6、9 都只有右孩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子，因为它们的左边已经没有元素了。</a:t>
              </a:r>
            </a:p>
          </p:txBody>
        </p:sp>
      </p:grpSp>
      <p:grpSp>
        <p:nvGrpSpPr>
          <p:cNvPr id="92" name="c2-callout-2"/>
          <p:cNvGrpSpPr/>
          <p:nvPr/>
        </p:nvGrpSpPr>
        <p:grpSpPr>
          <a:xfrm>
            <a:off x="7330440" y="4615815"/>
            <a:ext cx="4328160" cy="1018222"/>
            <a:chOff x="7330440" y="4615815"/>
            <a:chExt cx="4328160" cy="1018222"/>
          </a:xfrm>
        </p:grpSpPr>
        <p:sp>
          <p:nvSpPr>
            <p:cNvPr id="86" name="Rectangle 86"/>
            <p:cNvSpPr/>
            <p:nvPr/>
          </p:nvSpPr>
          <p:spPr>
            <a:xfrm>
              <a:off x="7330440" y="4615815"/>
              <a:ext cx="4328160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7535228" y="5025390"/>
              <a:ext cx="200026" cy="200025"/>
              <a:chOff x="7535228" y="5025390"/>
              <a:chExt cx="200026" cy="200025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7535228" y="50253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7574966" y="50698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7609682" y="51809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7837551" y="4763929"/>
              <a:ext cx="326059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把前面两个例子的路径在树上描一遍：查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96 走 5→8→9→10，查 58 走 5→8→6 之后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掉进外结点。</a:t>
              </a:r>
            </a:p>
          </p:txBody>
        </p:sp>
      </p:grpSp>
      <p:grpSp>
        <p:nvGrpSpPr>
          <p:cNvPr id="9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93" name="Rectangle 9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1040511" y="6004084"/>
              <a:ext cx="47074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树高 3，所以最坏比较 4 次，与 ⌊log₂10⌋+1 = 4 一致。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0" name="TextBox 100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对半查找与二叉判定树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从判定树读出两个平均查找长度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465826" cy="264033"/>
            <a:chOff x="526542" y="1545907"/>
            <a:chExt cx="546582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成功查找停在内结点，失败查找停在外结点，两者的计数规则差一。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28812"/>
            <a:ext cx="5410200" cy="917258"/>
            <a:chOff x="533400" y="1928812"/>
            <a:chExt cx="5410200" cy="91725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917258"/>
            </a:xfrm>
            <a:prstGeom prst="roundRect">
              <a:avLst>
                <a:gd name="adj" fmla="val 145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6505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5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8450" y="2149316"/>
              <a:ext cx="20794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比较次数 = 内结点深度 + 1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44672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成功查找对应一个内结点，比较次数为该结点的深度加 1。</a:t>
              </a:r>
            </a:p>
          </p:txBody>
        </p:sp>
      </p:grpSp>
      <p:grpSp>
        <p:nvGrpSpPr>
          <p:cNvPr id="47" name="c1-table-2"/>
          <p:cNvGrpSpPr/>
          <p:nvPr/>
        </p:nvGrpSpPr>
        <p:grpSpPr>
          <a:xfrm>
            <a:off x="533400" y="3010852"/>
            <a:ext cx="5410200" cy="1906906"/>
            <a:chOff x="533400" y="3010852"/>
            <a:chExt cx="5410200" cy="1906906"/>
          </a:xfrm>
        </p:grpSpPr>
        <p:sp>
          <p:nvSpPr>
            <p:cNvPr id="16" name="Rectangle 16"/>
            <p:cNvSpPr/>
            <p:nvPr/>
          </p:nvSpPr>
          <p:spPr>
            <a:xfrm>
              <a:off x="533400" y="3010852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9150" y="31280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深度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06499" y="31280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比较次数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41713" y="31280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内结点个数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31092" y="31280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8078" y="35099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93901" y="35099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83574" y="35099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06634" y="35099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7690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7738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" y="38909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93901" y="38909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83574" y="38909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06634" y="38909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1500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8078" y="42719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93901" y="42719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83574" y="42719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06634" y="42719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5319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453675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078" y="46539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493901" y="46539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683574" y="46539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221480" y="4546282"/>
              <a:ext cx="171259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306634" y="46539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010852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394460" y="301085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2584132" y="301085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207192" y="301085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formula13"/>
              <p:cNvSpPr txBox="1">
                <a:spLocks noGrp="1"/>
              </p:cNvSpPr>
              <p:nvPr/>
            </p:nvSpPr>
            <p:spPr>
              <a:xfrm>
                <a:off x="533400" y="5082540"/>
                <a:ext cx="5410200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AS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succ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10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2.9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55" name="c2-card-1"/>
          <p:cNvGrpSpPr/>
          <p:nvPr/>
        </p:nvGrpSpPr>
        <p:grpSpPr>
          <a:xfrm>
            <a:off x="6248400" y="1928812"/>
            <a:ext cx="5410200" cy="1160145"/>
            <a:chOff x="6248400" y="1928812"/>
            <a:chExt cx="5410200" cy="1160145"/>
          </a:xfrm>
        </p:grpSpPr>
        <p:sp>
          <p:nvSpPr>
            <p:cNvPr id="49" name="Rectangle 49"/>
            <p:cNvSpPr/>
            <p:nvPr/>
          </p:nvSpPr>
          <p:spPr>
            <a:xfrm>
              <a:off x="6248400" y="1928812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206216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67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60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失败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33451" y="2149316"/>
              <a:ext cx="17718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比较次数 = 外结点深度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60998" y="246554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失败查找对应一个外结点，比较次数恰为该结点的深度，即从根到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它经过的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内结点数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76" name="c2-table-2"/>
          <p:cNvGrpSpPr/>
          <p:nvPr/>
        </p:nvGrpSpPr>
        <p:grpSpPr>
          <a:xfrm>
            <a:off x="6248400" y="3253740"/>
            <a:ext cx="5410200" cy="1143952"/>
            <a:chOff x="6248400" y="3253740"/>
            <a:chExt cx="5410200" cy="1143952"/>
          </a:xfrm>
        </p:grpSpPr>
        <p:sp>
          <p:nvSpPr>
            <p:cNvPr id="56" name="Rectangle 56"/>
            <p:cNvSpPr/>
            <p:nvPr/>
          </p:nvSpPr>
          <p:spPr>
            <a:xfrm>
              <a:off x="6248400" y="3253740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34150" y="33708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深度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21499" y="337089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比较次数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756714" y="337089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外结点个数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646092" y="33708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小计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343079" y="37528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208901" y="37528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98574" y="37528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021634" y="375285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248400" y="40119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248400" y="401669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343079" y="41338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208901" y="41338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398574" y="41338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936480" y="4026218"/>
              <a:ext cx="171259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021634" y="413385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248400" y="3253740"/>
              <a:ext cx="5410200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109460" y="325374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8299132" y="325374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9922192" y="325374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formula14"/>
              <p:cNvSpPr txBox="1">
                <a:spLocks noGrp="1"/>
              </p:cNvSpPr>
              <p:nvPr/>
            </p:nvSpPr>
            <p:spPr>
              <a:xfrm>
                <a:off x="6248400" y="4562475"/>
                <a:ext cx="5410200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AS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unsucc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11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39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11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3.55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8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8" name="Rectangle 7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1273" y="6039326"/>
              <a:ext cx="65350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外结点比内结点多一个（11 = 10+1），因为 n 个元素把数轴切成了 n+1 个失败区间。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74466" cy="909257"/>
            <a:chOff x="520446" y="342900"/>
            <a:chExt cx="73744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对半查找与二叉判定树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744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对半插入排序：把每次插入的比较降到 O(log i)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238208" cy="264033"/>
            <a:chOff x="526542" y="1545907"/>
            <a:chExt cx="623820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238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9、10 页。插入排序找插入位置这一步，本质上就是一次对半查找。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28812"/>
            <a:ext cx="5626418" cy="2127885"/>
            <a:chOff x="533400" y="1928812"/>
            <a:chExt cx="5626418" cy="212788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2127885"/>
            </a:xfrm>
            <a:prstGeom prst="roundRect">
              <a:avLst>
                <a:gd name="adj" fmla="val 62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86118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5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8450" y="214931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对半插入排序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49141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 Rᵢ 时，基于对半查找在已排好序的 R[1] 到 R[i−1] 中确定插入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位置，可将每次插入的关键词比较次数降为 O(log i)。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30460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2994184"/>
              <a:ext cx="41907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元素移动次数仍为 O(n)，所以排序算法总时间复杂度仍为</a:t>
              </a:r>
              <a:br/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O(n²)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，只是常数更低。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7141" y="3517582"/>
              <a:ext cx="491128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用第六部分的 BinSearchFirstPosGEK 找“第一个 ≥ Rᵢ 的位置”，插在它前面，排序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才是稳定的。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221480"/>
            <a:ext cx="5626418" cy="1443038"/>
            <a:chOff x="533400" y="4221480"/>
            <a:chExt cx="5626418" cy="1443038"/>
          </a:xfrm>
        </p:grpSpPr>
        <p:sp>
          <p:nvSpPr>
            <p:cNvPr id="19" name="Rectangle 19"/>
            <p:cNvSpPr/>
            <p:nvPr/>
          </p:nvSpPr>
          <p:spPr>
            <a:xfrm>
              <a:off x="533400" y="4221480"/>
              <a:ext cx="5626418" cy="1443038"/>
            </a:xfrm>
            <a:prstGeom prst="roundRect">
              <a:avLst>
                <a:gd name="adj" fmla="val 792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842510"/>
              <a:ext cx="200026" cy="200026"/>
              <a:chOff x="738188" y="4842510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8425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4863" y="492029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1273" y="4736306"/>
              <a:ext cx="47109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n=10 时比较次数上界 25 次，直接插入最坏要 45 次；已用脚本按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Σ⌈log₂(i+1)⌉ 复核。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464618" y="1928812"/>
            <a:ext cx="5193982" cy="1664018"/>
            <a:chOff x="6464618" y="1928812"/>
            <a:chExt cx="5193982" cy="1664018"/>
          </a:xfrm>
        </p:grpSpPr>
        <p:sp>
          <p:nvSpPr>
            <p:cNvPr id="25" name="Rectangle 25"/>
            <p:cNvSpPr/>
            <p:nvPr/>
          </p:nvSpPr>
          <p:spPr>
            <a:xfrm>
              <a:off x="6464618" y="1928812"/>
              <a:ext cx="5193982" cy="1664018"/>
            </a:xfrm>
            <a:prstGeom prst="roundRect">
              <a:avLst>
                <a:gd name="adj" fmla="val 80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74142" y="2062162"/>
              <a:ext cx="47625" cy="13973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83692" y="210978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72313" y="21426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考研题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77216" y="2449354"/>
              <a:ext cx="45646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对同一序列分别做对半插入排序和直接插入排序，两者可能的不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同之处是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77216" y="2969419"/>
              <a:ext cx="45971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排序的总趟数　B. 元素的移动次数　C. 使用辅助空间的数量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元素的比较次数</a:t>
              </a:r>
            </a:p>
          </p:txBody>
        </p:sp>
      </p:grpSp>
      <p:grpSp>
        <p:nvGrpSpPr>
          <p:cNvPr id="57" name="c2-table-2"/>
          <p:cNvGrpSpPr/>
          <p:nvPr/>
        </p:nvGrpSpPr>
        <p:grpSpPr>
          <a:xfrm>
            <a:off x="6464618" y="3757612"/>
            <a:ext cx="5193982" cy="1906905"/>
            <a:chOff x="6464618" y="3757612"/>
            <a:chExt cx="5193982" cy="1906905"/>
          </a:xfrm>
        </p:grpSpPr>
        <p:sp>
          <p:nvSpPr>
            <p:cNvPr id="32" name="Rectangle 32"/>
            <p:cNvSpPr/>
            <p:nvPr/>
          </p:nvSpPr>
          <p:spPr>
            <a:xfrm>
              <a:off x="6464618" y="3757612"/>
              <a:ext cx="519398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29400" y="38747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04722" y="38747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89770" y="38747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59296" y="425577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83184" y="42557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09941" y="4255770"/>
              <a:ext cx="31327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两者都是把 R[2] 到 R[n] 逐个插入，都是 n−1 趟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45158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64618" y="452056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59296" y="463772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83184" y="463772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09941" y="463772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插入位置相同，后移的元素个数就相同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48968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59296" y="501872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83184" y="501872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09941" y="5018722"/>
              <a:ext cx="21101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都只用一个暂存单元，都是 O(1)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52778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64618" y="528256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59296" y="540067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098030" y="5292090"/>
              <a:ext cx="70770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83184" y="540067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09941" y="5400675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一个是顺序找位置，一个是对半找位置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3757612"/>
              <a:ext cx="5193982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083742" y="37576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810500" y="37576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8" name="Rectangle 5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1273" y="6039326"/>
              <a:ext cx="88178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答案选 D：改的只是“怎么找插入位置”，没改“怎么把元素挪开”。链表上用不了这一招，因为有序区不能随机访问。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78461" cy="909257"/>
            <a:chOff x="520446" y="342900"/>
            <a:chExt cx="78784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对半查找与二叉判定树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784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switch 和 if-else 链：编译器把前者编成对半查找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5608701" cy="293370"/>
            <a:chOff x="525780" y="1548765"/>
            <a:chExt cx="5608701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6087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27 页。两段代码的语义完全相同，执行效率却不同。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5410200" cy="2733675"/>
            <a:chOff x="533400" y="1954530"/>
            <a:chExt cx="5410200" cy="273367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2733675"/>
            </a:xfrm>
            <a:prstGeom prst="roundRect">
              <a:avLst>
                <a:gd name="adj" fmla="val 34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9878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写法一：switch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68391"/>
              <a:ext cx="2123694" cy="224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switch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1000: f1();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2000: f2();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2500: f3();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5000: f5();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7000: f6();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7500: f7();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8000: f8();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9000: f9();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default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:   f10();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4873942"/>
            <a:ext cx="5410200" cy="756285"/>
            <a:chOff x="533400" y="4873942"/>
            <a:chExt cx="5410200" cy="756285"/>
          </a:xfrm>
        </p:grpSpPr>
        <p:sp>
          <p:nvSpPr>
            <p:cNvPr id="13" name="Rectangle 13"/>
            <p:cNvSpPr/>
            <p:nvPr/>
          </p:nvSpPr>
          <p:spPr>
            <a:xfrm>
              <a:off x="533400" y="4873942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5152073"/>
              <a:ext cx="200026" cy="200026"/>
              <a:chOff x="738188" y="5152073"/>
              <a:chExt cx="200026" cy="20002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51520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04863" y="522986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511" y="5021104"/>
              <a:ext cx="425246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case 标号是编译期常量且互不相同，编译器可以先排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序，再生成一棵二分决策树，比较次数 </a:t>
              </a:r>
              <a:r>
                <a:rPr lang="en-US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O(log n)</a:t>
              </a: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6248400" y="1954530"/>
            <a:ext cx="5410200" cy="2327910"/>
            <a:chOff x="6248400" y="1954530"/>
            <a:chExt cx="5410200" cy="2327910"/>
          </a:xfrm>
        </p:grpSpPr>
        <p:sp>
          <p:nvSpPr>
            <p:cNvPr id="19" name="Rectangle 19"/>
            <p:cNvSpPr/>
            <p:nvPr/>
          </p:nvSpPr>
          <p:spPr>
            <a:xfrm>
              <a:off x="6248400" y="1954530"/>
              <a:ext cx="5410200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797" y="2106454"/>
              <a:ext cx="11751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写法二：if-else 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76035" y="2368391"/>
              <a:ext cx="2045462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(a == 1000) f1();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 == 2000) f2();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 == 2500) f3();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 == 5000) f5();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 == 7000) f6();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 == 7500) f7();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 == 8000) f8();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 == 9000) f9();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f10();</a:t>
              </a:r>
            </a:p>
          </p:txBody>
        </p:sp>
      </p:grpSp>
      <p:grpSp>
        <p:nvGrpSpPr>
          <p:cNvPr id="29" name="c2-callout-2"/>
          <p:cNvGrpSpPr/>
          <p:nvPr/>
        </p:nvGrpSpPr>
        <p:grpSpPr>
          <a:xfrm>
            <a:off x="6248400" y="4468178"/>
            <a:ext cx="5410200" cy="1162050"/>
            <a:chOff x="6248400" y="4468178"/>
            <a:chExt cx="5410200" cy="1162050"/>
          </a:xfrm>
        </p:grpSpPr>
        <p:sp>
          <p:nvSpPr>
            <p:cNvPr id="23" name="Rectangle 23"/>
            <p:cNvSpPr/>
            <p:nvPr/>
          </p:nvSpPr>
          <p:spPr>
            <a:xfrm>
              <a:off x="6248400" y="4468178"/>
              <a:ext cx="5410200" cy="1162050"/>
            </a:xfrm>
            <a:prstGeom prst="roundRect">
              <a:avLst>
                <a:gd name="adj" fmla="val 983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441129" y="4945498"/>
              <a:ext cx="224134" cy="192560"/>
              <a:chOff x="6441129" y="4945498"/>
              <a:chExt cx="224134" cy="19256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553200" y="501586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441129" y="494549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553200" y="50936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755511" y="4686776"/>
              <a:ext cx="4315587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条件表达式必须按书写顺序依次求值（C 语言的语义要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求），编译器不能重排，只能顺序查找，比较次数</a:t>
              </a:r>
              <a:br/>
              <a:r>
                <a:rPr lang="en-US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0" name="Rectangle 3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511" y="6004084"/>
              <a:ext cx="96399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case 标号密集时编译器改用跳转表，一次索引就定位，比较次数降到 O(1)；本例标号稀疏，走的是二分决策树。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913376" cy="2997517"/>
            <a:chOff x="667512" y="1835468"/>
            <a:chExt cx="491337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斐波那契查找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把均匀划分换成黄金分割划分，代价里去掉乘除法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6512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数组长度取 Fₖ−1 时左右两段仍是同样形状的子问题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143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mid 只用一次加法算出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左段更长而进入左段只需一次比较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斐波那契查找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斐波那契查找：用黄金分割点代替中点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465826" cy="264033"/>
            <a:chOff x="526542" y="1545907"/>
            <a:chExt cx="546582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折半查找的改进，以斐波那契序列的划分代替对半查找的均匀划分。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28812"/>
            <a:ext cx="5626418" cy="917258"/>
            <a:chOff x="533400" y="1928812"/>
            <a:chExt cx="5626418" cy="91725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917258"/>
            </a:xfrm>
            <a:prstGeom prst="roundRect">
              <a:avLst>
                <a:gd name="adj" fmla="val 145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65055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5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8450" y="214931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斐波那契序列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37019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F₀ = 0，F₁ = 1，Fₖ = Fₖ₋₁ + Fₖ₋₂（k ≥ 2）。</a:t>
              </a:r>
            </a:p>
          </p:txBody>
        </p:sp>
      </p:grpSp>
      <p:grpSp>
        <p:nvGrpSpPr>
          <p:cNvPr id="47" name="c1-table-2"/>
          <p:cNvGrpSpPr/>
          <p:nvPr/>
        </p:nvGrpSpPr>
        <p:grpSpPr>
          <a:xfrm>
            <a:off x="533400" y="3010852"/>
            <a:ext cx="5626418" cy="762952"/>
            <a:chOff x="533400" y="3010852"/>
            <a:chExt cx="5626418" cy="762952"/>
          </a:xfrm>
        </p:grpSpPr>
        <p:sp>
          <p:nvSpPr>
            <p:cNvPr id="16" name="Rectangle 16"/>
            <p:cNvSpPr/>
            <p:nvPr/>
          </p:nvSpPr>
          <p:spPr>
            <a:xfrm>
              <a:off x="533400" y="3010852"/>
              <a:ext cx="5626418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2803" y="312801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85730" y="312801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48658" y="312801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11585" y="312801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73560" y="312801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36488" y="312801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99415" y="312801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61390" y="312801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24318" y="312801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87245" y="312801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8078" y="35099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91006" y="35099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52981" y="35099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15908" y="35099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78836" y="35099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41763" y="35099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03738" y="35099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66666" y="35099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129594" y="35099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91569" y="35099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010852"/>
              <a:ext cx="5626418" cy="762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91565" y="301085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653540" y="301085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216468" y="301085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2779395" y="301085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342322" y="301085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904298" y="301085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467225" y="301085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030152" y="301085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592128" y="301085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1-card-3"/>
          <p:cNvGrpSpPr/>
          <p:nvPr/>
        </p:nvGrpSpPr>
        <p:grpSpPr>
          <a:xfrm>
            <a:off x="533400" y="3938588"/>
            <a:ext cx="5626418" cy="1649730"/>
            <a:chOff x="533400" y="3938588"/>
            <a:chExt cx="5626418" cy="1649730"/>
          </a:xfrm>
        </p:grpSpPr>
        <p:sp>
          <p:nvSpPr>
            <p:cNvPr id="48" name="Rectangle 48"/>
            <p:cNvSpPr/>
            <p:nvPr/>
          </p:nvSpPr>
          <p:spPr>
            <a:xfrm>
              <a:off x="533400" y="3938588"/>
              <a:ext cx="5626418" cy="1649730"/>
            </a:xfrm>
            <a:prstGeom prst="roundRect">
              <a:avLst>
                <a:gd name="adj" fmla="val 80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42925" y="4071938"/>
              <a:ext cx="47625" cy="138303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52475" y="41195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45147" y="41524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划分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318450" y="4159091"/>
              <a:ext cx="22713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长度为 Fₖ−1 的数组分成三段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5998" y="4475321"/>
              <a:ext cx="50116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设有序数组 R 的长度为 Fₖ−1，用下标 Fₖ₋₁ 把它分成三部分：左子数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 R[1] 到 R[Fₖ₋₁−1]、中间元素 R[Fₖ₋₁]、右子数组 R[Fₖ₋₁+1] 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R[Fₖ−1]。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7141" y="5242560"/>
              <a:ext cx="30003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右子数组的长度是 Fₖ − 1 − Fₖ₋₁ = Fₖ₋₂ − 1。</a:t>
              </a:r>
            </a:p>
          </p:txBody>
        </p:sp>
      </p:grpSp>
      <p:grpSp>
        <p:nvGrpSpPr>
          <p:cNvPr id="63" name="c2-cells-1"/>
          <p:cNvGrpSpPr/>
          <p:nvPr/>
        </p:nvGrpSpPr>
        <p:grpSpPr>
          <a:xfrm>
            <a:off x="6459284" y="1928812"/>
            <a:ext cx="3866450" cy="356235"/>
            <a:chOff x="6459284" y="1928812"/>
            <a:chExt cx="3866450" cy="356235"/>
          </a:xfrm>
        </p:grpSpPr>
        <p:sp>
          <p:nvSpPr>
            <p:cNvPr id="56" name="TextBox 56"/>
            <p:cNvSpPr txBox="1"/>
            <p:nvPr/>
          </p:nvSpPr>
          <p:spPr>
            <a:xfrm>
              <a:off x="6459284" y="204120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675120" y="1928812"/>
              <a:ext cx="1214438" cy="356235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70447" y="2046446"/>
              <a:ext cx="12247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R[1] … R[Fₖ₋₁−1]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889558" y="1928812"/>
              <a:ext cx="1214438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190041" y="2041207"/>
              <a:ext cx="614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R[Fₖ₋₁]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103995" y="1928812"/>
              <a:ext cx="1214438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097646" y="2055019"/>
              <a:ext cx="12280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R[Fₖ₋₁+1] … R[Fₖ−1]</a:t>
              </a:r>
            </a:p>
          </p:txBody>
        </p:sp>
      </p:grpSp>
      <p:grpSp>
        <p:nvGrpSpPr>
          <p:cNvPr id="83" name="c2-table-2"/>
          <p:cNvGrpSpPr/>
          <p:nvPr/>
        </p:nvGrpSpPr>
        <p:grpSpPr>
          <a:xfrm>
            <a:off x="6464618" y="2449830"/>
            <a:ext cx="5193982" cy="1525905"/>
            <a:chOff x="6464618" y="2449830"/>
            <a:chExt cx="5193982" cy="1525905"/>
          </a:xfrm>
        </p:grpSpPr>
        <p:sp>
          <p:nvSpPr>
            <p:cNvPr id="64" name="Rectangle 64"/>
            <p:cNvSpPr/>
            <p:nvPr/>
          </p:nvSpPr>
          <p:spPr>
            <a:xfrm>
              <a:off x="6464618" y="2449830"/>
              <a:ext cx="519398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012496" y="256698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499158" y="25669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长度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119360" y="256698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继续查找时的阶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59296" y="294798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左子数组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806119" y="2947988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Fₖ₋₁ − 1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675876" y="2947988"/>
              <a:ext cx="427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k−1 阶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464618" y="320802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464618" y="321278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559296" y="332994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中间一格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806119" y="332994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675876" y="332994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命中即结束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464618" y="358902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559296" y="371094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右子数组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806119" y="371094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Fₖ₋₂ − 1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675876" y="3710940"/>
              <a:ext cx="427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k−2 阶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464618" y="2449830"/>
              <a:ext cx="5193982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7706678" y="244983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9576435" y="244983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9" name="c2-card-3"/>
          <p:cNvGrpSpPr/>
          <p:nvPr/>
        </p:nvGrpSpPr>
        <p:grpSpPr>
          <a:xfrm>
            <a:off x="6464618" y="4139565"/>
            <a:ext cx="5193982" cy="1447800"/>
            <a:chOff x="6464618" y="4139565"/>
            <a:chExt cx="5193982" cy="1447800"/>
          </a:xfrm>
        </p:grpSpPr>
        <p:sp>
          <p:nvSpPr>
            <p:cNvPr id="84" name="Rectangle 84"/>
            <p:cNvSpPr/>
            <p:nvPr/>
          </p:nvSpPr>
          <p:spPr>
            <a:xfrm>
              <a:off x="6464618" y="4139565"/>
              <a:ext cx="5193982" cy="1447800"/>
            </a:xfrm>
            <a:prstGeom prst="roundRect">
              <a:avLst>
                <a:gd name="adj" fmla="val 921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645592" y="432054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738264" y="43534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212520" y="4361021"/>
              <a:ext cx="1697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为什么非要凑成 Fₖ−1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639116" y="4677251"/>
              <a:ext cx="4547159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原数组和左右两个子数组的长度都是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某个斐波那契数减 1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，于是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大问题被分解成两个形状相同的子问题。对长度为 Fₖ−1 的数组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做斐波那契查找，简称 k 阶斐波那契查找。</a:t>
              </a:r>
            </a:p>
          </p:txBody>
        </p:sp>
      </p:grpSp>
      <p:grpSp>
        <p:nvGrpSpPr>
          <p:cNvPr id="9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90" name="Rectangle 9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1041273" y="6039326"/>
              <a:ext cx="45619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本讲的例子取 n = 12 = F₇ − 1，所以是 7 阶斐波那契查找。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35784" cy="909257"/>
            <a:chOff x="520446" y="342900"/>
            <a:chExt cx="66357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斐波那契查找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357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例：在 12 个元素里查找 26，三次比较命中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630507" cy="278702"/>
            <a:chOff x="526161" y="1547336"/>
            <a:chExt cx="763050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6305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表为 12 23 26 37 55 60 68 75 82 86 90 96，下标 1 到 12，n = F₇ − 1 = 12，初始 k = 7。</a:t>
              </a:r>
            </a:p>
          </p:txBody>
        </p:sp>
      </p:grpSp>
      <p:grpSp>
        <p:nvGrpSpPr>
          <p:cNvPr id="114" name="c1-cells-1"/>
          <p:cNvGrpSpPr/>
          <p:nvPr/>
        </p:nvGrpSpPr>
        <p:grpSpPr>
          <a:xfrm>
            <a:off x="527685" y="1941195"/>
            <a:ext cx="6280785" cy="2562225"/>
            <a:chOff x="527685" y="1941195"/>
            <a:chExt cx="6280785" cy="2562225"/>
          </a:xfrm>
        </p:grpSpPr>
        <p:sp>
          <p:nvSpPr>
            <p:cNvPr id="9" name="TextBox 9"/>
            <p:cNvSpPr txBox="1"/>
            <p:nvPr/>
          </p:nvSpPr>
          <p:spPr>
            <a:xfrm>
              <a:off x="527685" y="2062639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第1次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33462" y="1941195"/>
              <a:ext cx="4810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81658" y="20626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14475" y="1941195"/>
              <a:ext cx="4810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62670" y="20626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996440" y="1941195"/>
              <a:ext cx="4810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143683" y="20626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477452" y="1941195"/>
              <a:ext cx="4810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25648" y="20626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958465" y="1941195"/>
              <a:ext cx="4810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106660" y="20626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40430" y="1941195"/>
              <a:ext cx="4810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87673" y="20626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921442" y="1941195"/>
              <a:ext cx="4810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069638" y="20626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402455" y="1941195"/>
              <a:ext cx="481012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50650" y="20626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884420" y="1941195"/>
              <a:ext cx="4810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31663" y="20626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65432" y="1941195"/>
              <a:ext cx="4810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512675" y="20626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846445" y="1941195"/>
              <a:ext cx="4810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94640" y="20626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327458" y="1941195"/>
              <a:ext cx="4810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75653" y="20626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3932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20338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01351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8331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164328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645341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12730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08318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089331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539986" y="237696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21951" y="237696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02964" y="237696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1236345" y="252317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67910" y="2654618"/>
              <a:ext cx="2130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low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4605338" y="252317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536902" y="2654618"/>
              <a:ext cx="2130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mid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6530340" y="252317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439642" y="2654618"/>
              <a:ext cx="2575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high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27685" y="3079909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第2次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33462" y="2959418"/>
              <a:ext cx="4810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81658" y="307990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514475" y="2959418"/>
              <a:ext cx="4810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662670" y="307990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996440" y="2959418"/>
              <a:ext cx="4810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143683" y="307990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477452" y="2959418"/>
              <a:ext cx="4810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625648" y="307990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2958465" y="2959418"/>
              <a:ext cx="481012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106660" y="307990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440430" y="2959418"/>
              <a:ext cx="4810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587673" y="307990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3921442" y="2959418"/>
              <a:ext cx="4810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069638" y="307990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4402455" y="2959418"/>
              <a:ext cx="48101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4550650" y="307990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4884420" y="2959418"/>
              <a:ext cx="48101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031663" y="307990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65432" y="2959418"/>
              <a:ext cx="48101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512675" y="307990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86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846445" y="2959418"/>
              <a:ext cx="48101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994640" y="307990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327458" y="2959418"/>
              <a:ext cx="48101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475653" y="307990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96</a:t>
              </a:r>
            </a:p>
          </p:txBody>
        </p:sp>
        <p:sp>
          <p:nvSpPr>
            <p:cNvPr id="77" name="Freeform 77"/>
            <p:cNvSpPr/>
            <p:nvPr/>
          </p:nvSpPr>
          <p:spPr>
            <a:xfrm>
              <a:off x="1236345" y="335946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167910" y="3490912"/>
              <a:ext cx="2130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low</a:t>
              </a:r>
            </a:p>
          </p:txBody>
        </p:sp>
        <p:sp>
          <p:nvSpPr>
            <p:cNvPr id="79" name="Freeform 79"/>
            <p:cNvSpPr/>
            <p:nvPr/>
          </p:nvSpPr>
          <p:spPr>
            <a:xfrm>
              <a:off x="3161348" y="335946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3092912" y="3490912"/>
              <a:ext cx="2130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mid</a:t>
              </a:r>
            </a:p>
          </p:txBody>
        </p:sp>
        <p:sp>
          <p:nvSpPr>
            <p:cNvPr id="81" name="Freeform 81"/>
            <p:cNvSpPr/>
            <p:nvPr/>
          </p:nvSpPr>
          <p:spPr>
            <a:xfrm>
              <a:off x="4124325" y="335946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4033627" y="3490912"/>
              <a:ext cx="2575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high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27685" y="3916204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第3次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1033462" y="3795712"/>
              <a:ext cx="4810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181658" y="391620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1514475" y="3795712"/>
              <a:ext cx="4810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1662670" y="391620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1996440" y="3795712"/>
              <a:ext cx="48101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2143683" y="391620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2477452" y="3795712"/>
              <a:ext cx="4810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2625648" y="391620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2958465" y="3795712"/>
              <a:ext cx="48101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3106660" y="391620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3440430" y="3795712"/>
              <a:ext cx="48101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3587673" y="391620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3921442" y="3795712"/>
              <a:ext cx="48101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4069638" y="391620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4402455" y="3795712"/>
              <a:ext cx="48101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4550650" y="391620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4884420" y="3795712"/>
              <a:ext cx="48101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5031663" y="391620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5365432" y="3795712"/>
              <a:ext cx="48101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5512675" y="391620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86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5846445" y="3795712"/>
              <a:ext cx="48101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5994640" y="391620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6327458" y="3795712"/>
              <a:ext cx="48101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475653" y="391620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96</a:t>
              </a:r>
            </a:p>
          </p:txBody>
        </p:sp>
        <p:sp>
          <p:nvSpPr>
            <p:cNvPr id="108" name="Freeform 108"/>
            <p:cNvSpPr/>
            <p:nvPr/>
          </p:nvSpPr>
          <p:spPr>
            <a:xfrm>
              <a:off x="1236345" y="41957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1167910" y="4327208"/>
              <a:ext cx="2130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low</a:t>
              </a:r>
            </a:p>
          </p:txBody>
        </p:sp>
        <p:sp>
          <p:nvSpPr>
            <p:cNvPr id="110" name="Freeform 110"/>
            <p:cNvSpPr/>
            <p:nvPr/>
          </p:nvSpPr>
          <p:spPr>
            <a:xfrm>
              <a:off x="2198370" y="41957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2129935" y="4327208"/>
              <a:ext cx="2130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mid</a:t>
              </a:r>
            </a:p>
          </p:txBody>
        </p:sp>
        <p:sp>
          <p:nvSpPr>
            <p:cNvPr id="112" name="Freeform 112"/>
            <p:cNvSpPr/>
            <p:nvPr/>
          </p:nvSpPr>
          <p:spPr>
            <a:xfrm>
              <a:off x="2680335" y="41957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2589637" y="4327208"/>
              <a:ext cx="2575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high</a:t>
              </a:r>
            </a:p>
          </p:txBody>
        </p:sp>
      </p:grpSp>
      <p:grpSp>
        <p:nvGrpSpPr>
          <p:cNvPr id="121" name="c1-callout-2"/>
          <p:cNvGrpSpPr/>
          <p:nvPr/>
        </p:nvGrpSpPr>
        <p:grpSpPr>
          <a:xfrm>
            <a:off x="533400" y="4651058"/>
            <a:ext cx="6276022" cy="978218"/>
            <a:chOff x="533400" y="4651058"/>
            <a:chExt cx="6276022" cy="978218"/>
          </a:xfrm>
        </p:grpSpPr>
        <p:sp>
          <p:nvSpPr>
            <p:cNvPr id="115" name="Rectangle 115"/>
            <p:cNvSpPr/>
            <p:nvPr/>
          </p:nvSpPr>
          <p:spPr>
            <a:xfrm>
              <a:off x="533400" y="4651058"/>
              <a:ext cx="6276022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19" name="Group 119"/>
            <p:cNvGrpSpPr/>
            <p:nvPr/>
          </p:nvGrpSpPr>
          <p:grpSpPr>
            <a:xfrm>
              <a:off x="726129" y="5035986"/>
              <a:ext cx="224134" cy="192560"/>
              <a:chOff x="726129" y="5035986"/>
              <a:chExt cx="224134" cy="192560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838200" y="510635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726129" y="503598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18" name="Freeform 118"/>
              <p:cNvSpPr/>
              <p:nvPr/>
            </p:nvSpPr>
            <p:spPr>
              <a:xfrm>
                <a:off x="838200" y="518414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20" name="TextBox 120"/>
            <p:cNvSpPr txBox="1"/>
            <p:nvPr/>
          </p:nvSpPr>
          <p:spPr>
            <a:xfrm>
              <a:off x="1040892" y="4796790"/>
              <a:ext cx="527723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别被单个例子骗了：同一个表用对半查找找 26 只要 2 次（mid 先取 6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再取 3）。斐波那契的优势体现在平均关键词比较次数上，不是每个 K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都更快。</a:t>
              </a:r>
            </a:p>
          </p:txBody>
        </p:sp>
      </p:grpSp>
      <p:grpSp>
        <p:nvGrpSpPr>
          <p:cNvPr id="162" name="c2-table-1"/>
          <p:cNvGrpSpPr/>
          <p:nvPr/>
        </p:nvGrpSpPr>
        <p:grpSpPr>
          <a:xfrm>
            <a:off x="7114222" y="1941195"/>
            <a:ext cx="4544378" cy="1623060"/>
            <a:chOff x="7114222" y="1941195"/>
            <a:chExt cx="4544378" cy="1623060"/>
          </a:xfrm>
        </p:grpSpPr>
        <p:sp>
          <p:nvSpPr>
            <p:cNvPr id="122" name="Rectangle 122"/>
            <p:cNvSpPr/>
            <p:nvPr/>
          </p:nvSpPr>
          <p:spPr>
            <a:xfrm>
              <a:off x="7114222" y="1941195"/>
              <a:ext cx="4544378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7237908" y="20654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7678381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8049610" y="2065496"/>
              <a:ext cx="2647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low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8544827" y="2065496"/>
              <a:ext cx="320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high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9094502" y="2065496"/>
              <a:ext cx="2647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mid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9619383" y="2065496"/>
              <a:ext cx="5332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R[mid]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0820121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7214235" y="24712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7622858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8032432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8531542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9077325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9577388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10395585" y="24712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 &lt; 75，k−1</a:t>
              </a:r>
            </a:p>
          </p:txBody>
        </p:sp>
        <p:sp>
          <p:nvSpPr>
            <p:cNvPr id="137" name="Rectangle 137"/>
            <p:cNvSpPr/>
            <p:nvPr/>
          </p:nvSpPr>
          <p:spPr>
            <a:xfrm>
              <a:off x="7114222" y="274796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8" name="Rectangle 138"/>
            <p:cNvSpPr/>
            <p:nvPr/>
          </p:nvSpPr>
          <p:spPr>
            <a:xfrm>
              <a:off x="7114222" y="2752725"/>
              <a:ext cx="454437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7214235" y="28770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7622858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8032432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8531542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9077325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9577388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10395585" y="28770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 &lt; 55，k−1</a:t>
              </a:r>
            </a:p>
          </p:txBody>
        </p:sp>
        <p:sp>
          <p:nvSpPr>
            <p:cNvPr id="146" name="Rectangle 146"/>
            <p:cNvSpPr/>
            <p:nvPr/>
          </p:nvSpPr>
          <p:spPr>
            <a:xfrm>
              <a:off x="7114222" y="315372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7" name="TextBox 147"/>
            <p:cNvSpPr txBox="1"/>
            <p:nvPr/>
          </p:nvSpPr>
          <p:spPr>
            <a:xfrm>
              <a:off x="7214235" y="32827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7622858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8032432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8531542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9077325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9577388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153" name="Rectangle 153"/>
            <p:cNvSpPr/>
            <p:nvPr/>
          </p:nvSpPr>
          <p:spPr>
            <a:xfrm>
              <a:off x="10305098" y="3168015"/>
              <a:ext cx="134397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10395585" y="3282791"/>
              <a:ext cx="89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相等，返回 3</a:t>
              </a:r>
            </a:p>
          </p:txBody>
        </p:sp>
        <p:sp>
          <p:nvSpPr>
            <p:cNvPr id="155" name="Rectangle 155"/>
            <p:cNvSpPr/>
            <p:nvPr/>
          </p:nvSpPr>
          <p:spPr>
            <a:xfrm>
              <a:off x="7114222" y="1941195"/>
              <a:ext cx="4544378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56" name="Rectangle 156"/>
            <p:cNvSpPr/>
            <p:nvPr/>
          </p:nvSpPr>
          <p:spPr>
            <a:xfrm>
              <a:off x="7518082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7" name="Rectangle 157"/>
            <p:cNvSpPr/>
            <p:nvPr/>
          </p:nvSpPr>
          <p:spPr>
            <a:xfrm>
              <a:off x="7927658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8" name="Rectangle 158"/>
            <p:cNvSpPr/>
            <p:nvPr/>
          </p:nvSpPr>
          <p:spPr>
            <a:xfrm>
              <a:off x="8426768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9" name="Rectangle 159"/>
            <p:cNvSpPr/>
            <p:nvPr/>
          </p:nvSpPr>
          <p:spPr>
            <a:xfrm>
              <a:off x="8972550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0" name="Rectangle 160"/>
            <p:cNvSpPr/>
            <p:nvPr/>
          </p:nvSpPr>
          <p:spPr>
            <a:xfrm>
              <a:off x="9472612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1" name="Rectangle 161"/>
            <p:cNvSpPr/>
            <p:nvPr/>
          </p:nvSpPr>
          <p:spPr>
            <a:xfrm>
              <a:off x="10290810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70" name="c2-card-2"/>
          <p:cNvGrpSpPr/>
          <p:nvPr/>
        </p:nvGrpSpPr>
        <p:grpSpPr>
          <a:xfrm>
            <a:off x="7114222" y="3739515"/>
            <a:ext cx="4544378" cy="1889760"/>
            <a:chOff x="7114222" y="3739515"/>
            <a:chExt cx="4544378" cy="1889760"/>
          </a:xfrm>
        </p:grpSpPr>
        <p:sp>
          <p:nvSpPr>
            <p:cNvPr id="163" name="Rectangle 163"/>
            <p:cNvSpPr/>
            <p:nvPr/>
          </p:nvSpPr>
          <p:spPr>
            <a:xfrm>
              <a:off x="7114222" y="3739515"/>
              <a:ext cx="4544378" cy="1889760"/>
            </a:xfrm>
            <a:prstGeom prst="roundRect">
              <a:avLst>
                <a:gd name="adj" fmla="val 70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4" name="Rectangle 164"/>
            <p:cNvSpPr/>
            <p:nvPr/>
          </p:nvSpPr>
          <p:spPr>
            <a:xfrm>
              <a:off x="7123748" y="3872865"/>
              <a:ext cx="47625" cy="16230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5" name="Rectangle 165"/>
            <p:cNvSpPr/>
            <p:nvPr/>
          </p:nvSpPr>
          <p:spPr>
            <a:xfrm>
              <a:off x="7344728" y="39319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6" name="TextBox 166"/>
            <p:cNvSpPr txBox="1"/>
            <p:nvPr/>
          </p:nvSpPr>
          <p:spPr>
            <a:xfrm>
              <a:off x="7432167" y="39662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算一算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8061770" y="3971925"/>
              <a:ext cx="12849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mid 是怎么来的</a:t>
              </a:r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7337870" y="4306252"/>
              <a:ext cx="37341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mid = low + Fₖ₋₁ − 1。三轮依次是 1+F₆−1 = 8、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1+F₅−1 = 5、1+F₄−1 = 3，全程只有加减法。</a:t>
              </a:r>
            </a:p>
          </p:txBody>
        </p:sp>
        <p:sp>
          <p:nvSpPr>
            <p:cNvPr id="169" name="TextBox 169"/>
            <p:cNvSpPr txBox="1"/>
            <p:nvPr/>
          </p:nvSpPr>
          <p:spPr>
            <a:xfrm>
              <a:off x="7339012" y="4862036"/>
              <a:ext cx="394436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更正：源课件第 29 页把第 5 个元素写作 55，第 32 至 34 页写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作 56，本讲义统一用 55。</a:t>
              </a:r>
            </a:p>
          </p:txBody>
        </p:sp>
      </p:grpSp>
      <p:grpSp>
        <p:nvGrpSpPr>
          <p:cNvPr id="17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71" name="Rectangle 17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74" name="Group 174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172" name="Freeform 172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73" name="Freeform 173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75" name="TextBox 175"/>
            <p:cNvSpPr txBox="1"/>
            <p:nvPr/>
          </p:nvSpPr>
          <p:spPr>
            <a:xfrm>
              <a:off x="1040892" y="6023610"/>
              <a:ext cx="7569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左子数组长 F₆−1 = 7，右子数组长 F₅−1 = 4，划分点落在 8/13 ≈ 0.615 处，而不是正中间。</a:t>
              </a:r>
            </a:p>
          </p:txBody>
        </p:sp>
      </p:grpSp>
      <p:grpSp>
        <p:nvGrpSpPr>
          <p:cNvPr id="1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7" name="TextBox 177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178" name="TextBox 1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06038" cy="909257"/>
            <a:chOff x="520446" y="342900"/>
            <a:chExt cx="66060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斐波那契查找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060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斐波那契查找的 C 代码：k 跟着区间一起变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276022" cy="2967990"/>
            <a:chOff x="533400" y="1524000"/>
            <a:chExt cx="6276022" cy="29679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2967990"/>
            </a:xfrm>
            <a:prstGeom prst="roundRect">
              <a:avLst>
                <a:gd name="adj" fmla="val 32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604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斐波那契查找（源课件第 35 页）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602230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1935956"/>
              <a:ext cx="3930396" cy="2481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FibSearch(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{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R[1..n] 递增有序，n = F[k]-1，F 存斐波那契数列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low = 1, high = n;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(low &lt;= high)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mid = low + F[k-1] - 1;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&lt; R[mid])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high = mid - 1;  k -= 1;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左段做 k-1 阶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&gt; R[mid])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low  = mid + 1;  k -= 2;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右段做 k-2 阶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mid;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5" name="c1-code-2"/>
          <p:cNvGrpSpPr/>
          <p:nvPr/>
        </p:nvGrpSpPr>
        <p:grpSpPr>
          <a:xfrm>
            <a:off x="533400" y="4656772"/>
            <a:ext cx="6276022" cy="1033462"/>
            <a:chOff x="533400" y="4656772"/>
            <a:chExt cx="6276022" cy="1033462"/>
          </a:xfrm>
        </p:grpSpPr>
        <p:sp>
          <p:nvSpPr>
            <p:cNvPr id="12" name="Rectangle 12"/>
            <p:cNvSpPr/>
            <p:nvPr/>
          </p:nvSpPr>
          <p:spPr>
            <a:xfrm>
              <a:off x="533400" y="4656772"/>
              <a:ext cx="6276022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4808696"/>
              <a:ext cx="13655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调用前先把 F 数组备好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797" y="5068729"/>
              <a:ext cx="3370326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F[32], k;  F[0] = 0;  F[1] = 1;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= 2; F[k-1] - 1 &lt; n; k++)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F[k] = F[k-1] + F[k-2];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所求的阶是 k-1 */</a:t>
              </a:r>
            </a:p>
          </p:txBody>
        </p:sp>
      </p:grpSp>
      <p:grpSp>
        <p:nvGrpSpPr>
          <p:cNvPr id="29" name="c2-steps-1"/>
          <p:cNvGrpSpPr/>
          <p:nvPr/>
        </p:nvGrpSpPr>
        <p:grpSpPr>
          <a:xfrm>
            <a:off x="7114222" y="1533525"/>
            <a:ext cx="3626034" cy="1596962"/>
            <a:chOff x="7114222" y="1533525"/>
            <a:chExt cx="3626034" cy="1596962"/>
          </a:xfrm>
        </p:grpSpPr>
        <p:sp>
          <p:nvSpPr>
            <p:cNvPr id="16" name="Rectangle 16"/>
            <p:cNvSpPr/>
            <p:nvPr/>
          </p:nvSpPr>
          <p:spPr>
            <a:xfrm>
              <a:off x="7247572" y="1676400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7114222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0784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114222" y="208692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07846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114222" y="263937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07846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26846" y="1564481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 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27988" y="1818322"/>
              <a:ext cx="32122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记的是当前区间的“阶”，进左段减 1，进右段减 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26846" y="2116931"/>
              <a:ext cx="873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mid 的计算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27988" y="2371725"/>
              <a:ext cx="26734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low + F[k−1] − 1，只有加减法，没有除法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26846" y="26703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循环终止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27988" y="2925128"/>
              <a:ext cx="28318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区间长度按 Fₖ−1 递减，k 减到 1 时区间为空</a:t>
              </a:r>
            </a:p>
          </p:txBody>
        </p:sp>
      </p:grpSp>
      <p:grpSp>
        <p:nvGrpSpPr>
          <p:cNvPr id="35" name="c2-callout-2"/>
          <p:cNvGrpSpPr/>
          <p:nvPr/>
        </p:nvGrpSpPr>
        <p:grpSpPr>
          <a:xfrm>
            <a:off x="7114222" y="3291840"/>
            <a:ext cx="4544378" cy="702945"/>
            <a:chOff x="7114222" y="3291840"/>
            <a:chExt cx="4544378" cy="702945"/>
          </a:xfrm>
        </p:grpSpPr>
        <p:sp>
          <p:nvSpPr>
            <p:cNvPr id="30" name="Rectangle 30"/>
            <p:cNvSpPr/>
            <p:nvPr/>
          </p:nvSpPr>
          <p:spPr>
            <a:xfrm>
              <a:off x="7114222" y="3291840"/>
              <a:ext cx="4544378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19010" y="3543302"/>
              <a:ext cx="200023" cy="200023"/>
              <a:chOff x="7319010" y="3543302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19010" y="354330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452360" y="36099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622096" y="3436144"/>
              <a:ext cx="3567735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平均和最坏时间复杂度都是 </a:t>
              </a:r>
              <a:r>
                <a:rPr lang="en-US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O(log₂n)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。前提与对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半查找相同：顺序存储、递增有序、静态表。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7114222" y="4158615"/>
            <a:ext cx="4544378" cy="1530668"/>
            <a:chOff x="7114222" y="4158615"/>
            <a:chExt cx="4544378" cy="1530668"/>
          </a:xfrm>
        </p:grpSpPr>
        <p:sp>
          <p:nvSpPr>
            <p:cNvPr id="36" name="Rectangle 36"/>
            <p:cNvSpPr/>
            <p:nvPr/>
          </p:nvSpPr>
          <p:spPr>
            <a:xfrm>
              <a:off x="7114222" y="4158615"/>
              <a:ext cx="4544378" cy="1530668"/>
            </a:xfrm>
            <a:prstGeom prst="roundRect">
              <a:avLst>
                <a:gd name="adj" fmla="val 87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123748" y="4291965"/>
              <a:ext cx="47625" cy="12639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333298" y="43395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25017" y="43724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99273" y="438007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已编译运行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26820" y="4696301"/>
              <a:ext cx="39225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zig cc -std=c11 -Wall -Wextra 编译零警告。查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 返回 3（3 次比较），查 96 返回 12（3 次比较），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个元素逐个查全部返回正确下标。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3" name="Rectangle 4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1273" y="6039326"/>
              <a:ext cx="68503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 数组必须至少存到 F[k]，且调用方要保证 n = F[k] − 1，否则 mid 会算到区间外面去。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14620" cy="909257"/>
            <a:chOff x="520446" y="342900"/>
            <a:chExt cx="761462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斐波那契查找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146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长度不是 Fₖ−1 时：向上取一个阶，用末元素补齐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465826" cy="264033"/>
            <a:chOff x="526542" y="1545907"/>
            <a:chExt cx="546582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真实数据的长度当然不会恰好是斐波那契数减一，补齐是标准做法。</a:t>
              </a:r>
            </a:p>
          </p:txBody>
        </p:sp>
      </p:grpSp>
      <p:grpSp>
        <p:nvGrpSpPr>
          <p:cNvPr id="21" name="c1-card-1"/>
          <p:cNvGrpSpPr/>
          <p:nvPr/>
        </p:nvGrpSpPr>
        <p:grpSpPr>
          <a:xfrm>
            <a:off x="533400" y="1928812"/>
            <a:ext cx="5410200" cy="1691640"/>
            <a:chOff x="533400" y="1928812"/>
            <a:chExt cx="5410200" cy="169164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691640"/>
            </a:xfrm>
            <a:prstGeom prst="roundRect">
              <a:avLst>
                <a:gd name="adj" fmla="val 7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42494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5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8450" y="21493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两步补齐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52475" y="245459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4382" y="249021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2223" y="2465546"/>
              <a:ext cx="44546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k = min{k ｜ Fₖ − 1 ≥ n}，把数组长度扩充到 Fₖ − 1。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52475" y="273939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4382" y="277501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22223" y="2751296"/>
              <a:ext cx="42638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R[n+1] 到 R[Fₖ−1] 全部用 R[n] 填满，数组仍然递增有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7141" y="3274695"/>
              <a:ext cx="4696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返回时写成 (mid &lt; n) ? mid : n，避免把命中位置报到补出来的那一段里。</a:t>
              </a:r>
            </a:p>
          </p:txBody>
        </p:sp>
      </p:grpSp>
      <p:grpSp>
        <p:nvGrpSpPr>
          <p:cNvPr id="48" name="c1-cells-2"/>
          <p:cNvGrpSpPr/>
          <p:nvPr/>
        </p:nvGrpSpPr>
        <p:grpSpPr>
          <a:xfrm>
            <a:off x="528066" y="3785235"/>
            <a:ext cx="5415534" cy="848201"/>
            <a:chOff x="528066" y="3785235"/>
            <a:chExt cx="5415534" cy="848201"/>
          </a:xfrm>
        </p:grpSpPr>
        <p:sp>
          <p:nvSpPr>
            <p:cNvPr id="22" name="TextBox 22"/>
            <p:cNvSpPr txBox="1"/>
            <p:nvPr/>
          </p:nvSpPr>
          <p:spPr>
            <a:xfrm>
              <a:off x="528066" y="389763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43902" y="3785235"/>
              <a:ext cx="74295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28413" y="38976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486852" y="3785235"/>
              <a:ext cx="74295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771363" y="38976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229802" y="3785235"/>
              <a:ext cx="74295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514313" y="38976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971800" y="3785235"/>
              <a:ext cx="74295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256311" y="38976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714750" y="3785235"/>
              <a:ext cx="74295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999261" y="38976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98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457700" y="3785235"/>
              <a:ext cx="742950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742211" y="38976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98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200650" y="3785235"/>
              <a:ext cx="742950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485161" y="38976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80258" y="41952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23208" y="41952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566158" y="41952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308156" y="41952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51106" y="41952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94056" y="41952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537006" y="41952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4048125" y="434149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985839" y="4471511"/>
              <a:ext cx="20077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n=5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5534025" y="434149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365289" y="4471511"/>
              <a:ext cx="4136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F₆−1=7</a:t>
              </a:r>
            </a:p>
          </p:txBody>
        </p:sp>
      </p:grpSp>
      <p:grpSp>
        <p:nvGrpSpPr>
          <p:cNvPr id="55" name="c1-callout-3"/>
          <p:cNvGrpSpPr/>
          <p:nvPr/>
        </p:nvGrpSpPr>
        <p:grpSpPr>
          <a:xfrm>
            <a:off x="533400" y="4772025"/>
            <a:ext cx="5410200" cy="788670"/>
            <a:chOff x="533400" y="4772025"/>
            <a:chExt cx="5410200" cy="788670"/>
          </a:xfrm>
        </p:grpSpPr>
        <p:sp>
          <p:nvSpPr>
            <p:cNvPr id="49" name="Rectangle 49"/>
            <p:cNvSpPr/>
            <p:nvPr/>
          </p:nvSpPr>
          <p:spPr>
            <a:xfrm>
              <a:off x="533400" y="4772025"/>
              <a:ext cx="5410200" cy="788670"/>
            </a:xfrm>
            <a:prstGeom prst="roundRect">
              <a:avLst>
                <a:gd name="adj" fmla="val 1449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066348"/>
              <a:ext cx="200026" cy="200025"/>
              <a:chOff x="738188" y="5066348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0663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77926" y="51107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12642" y="52219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1273" y="5077301"/>
              <a:ext cx="48465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n=5 时 F₅−1 = 4 &lt; 5，F₆−1 = 7 ≥ 5，所以 k = 6，补两个 98。</a:t>
              </a:r>
            </a:p>
          </p:txBody>
        </p:sp>
      </p:grpSp>
      <p:grpSp>
        <p:nvGrpSpPr>
          <p:cNvPr id="60" name="c2-code-1"/>
          <p:cNvGrpSpPr/>
          <p:nvPr/>
        </p:nvGrpSpPr>
        <p:grpSpPr>
          <a:xfrm>
            <a:off x="6248400" y="1928812"/>
            <a:ext cx="5410200" cy="1737360"/>
            <a:chOff x="6248400" y="1928812"/>
            <a:chExt cx="5410200" cy="1737360"/>
          </a:xfrm>
        </p:grpSpPr>
        <p:sp>
          <p:nvSpPr>
            <p:cNvPr id="56" name="Rectangle 56"/>
            <p:cNvSpPr/>
            <p:nvPr/>
          </p:nvSpPr>
          <p:spPr>
            <a:xfrm>
              <a:off x="6248400" y="1928812"/>
              <a:ext cx="5410200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76797" y="208073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补齐后只改一处返回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67450" y="3358515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76797" y="2340769"/>
              <a:ext cx="2131949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mid = low + F[k-1] - 1;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&lt; R[mid])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high = mid - 1;  k -=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&gt; R[mid])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low  = mid + 1;  k -= 2;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(mid &lt; n) ? mid : n;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6248400" y="3830002"/>
            <a:ext cx="5410200" cy="1730692"/>
            <a:chOff x="6248400" y="3830002"/>
            <a:chExt cx="5410200" cy="1730692"/>
          </a:xfrm>
        </p:grpSpPr>
        <p:sp>
          <p:nvSpPr>
            <p:cNvPr id="61" name="Rectangle 61"/>
            <p:cNvSpPr/>
            <p:nvPr/>
          </p:nvSpPr>
          <p:spPr>
            <a:xfrm>
              <a:off x="6248400" y="3830002"/>
              <a:ext cx="5410200" cy="1730692"/>
            </a:xfrm>
            <a:prstGeom prst="roundRect">
              <a:avLst>
                <a:gd name="adj" fmla="val 770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29375" y="401097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10846" y="404383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为什么可行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68730" y="405145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补出来的元素不会破坏有序性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22898" y="4367689"/>
              <a:ext cx="48084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补的值等于原表最大值 R[n]，所以整张表依然递增有序，二分的推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断继续成立。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438900" y="494823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94348" y="4895374"/>
              <a:ext cx="49360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补出来的位置上存的都是同一个值，命中它们等价于命中 R[n]。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438900" y="523303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594348" y="5180171"/>
              <a:ext cx="3709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代价只是最多多比较一两次，不影响 O(log n)。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1" name="Rectangle 7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1273" y="6039326"/>
              <a:ext cx="76386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另一种写法是不真的扩充数组，只在访问 R[mid] 前把 mid 夹到 n 以内，效果相同且不额外占空间。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斐波那契查找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斐波那契查找总结：只用加减法，比较总次数更少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410200" cy="1720215"/>
            <a:chOff x="533400" y="1524000"/>
            <a:chExt cx="5410200" cy="17202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20215"/>
            </a:xfrm>
            <a:prstGeom prst="roundRect">
              <a:avLst>
                <a:gd name="adj" fmla="val 7752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31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43978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三条要记住的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42950" y="211645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047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3940" y="2129790"/>
              <a:ext cx="43976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平均和最坏情况下的时间复杂度都是 O(log₂n)。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42950" y="245173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47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3940" y="246507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算法不涉及乘除法，只涉及加减法。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42950" y="278701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4799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3940" y="280035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总体运行时间略快于对半查找算法。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16"/>
              <p:cNvSpPr txBox="1">
                <a:spLocks noGrp="1"/>
              </p:cNvSpPr>
              <p:nvPr/>
            </p:nvSpPr>
            <p:spPr>
              <a:xfrm>
                <a:off x="533400" y="3434715"/>
                <a:ext cx="5410200" cy="7677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limLow>
                            <m:limLowPr/>
                            <m:e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type m:val="bar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0.618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…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8" name="c1-callout-3"/>
          <p:cNvGrpSpPr/>
          <p:nvPr/>
        </p:nvGrpSpPr>
        <p:grpSpPr>
          <a:xfrm>
            <a:off x="533400" y="4392930"/>
            <a:ext cx="5410200" cy="1211580"/>
            <a:chOff x="533400" y="4392930"/>
            <a:chExt cx="5410200" cy="1211580"/>
          </a:xfrm>
        </p:grpSpPr>
        <p:sp>
          <p:nvSpPr>
            <p:cNvPr id="22" name="Rectangle 22"/>
            <p:cNvSpPr/>
            <p:nvPr/>
          </p:nvSpPr>
          <p:spPr>
            <a:xfrm>
              <a:off x="533400" y="4392930"/>
              <a:ext cx="5410200" cy="1211580"/>
            </a:xfrm>
            <a:prstGeom prst="roundRect">
              <a:avLst>
                <a:gd name="adj" fmla="val 943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4898708"/>
              <a:ext cx="200026" cy="200025"/>
              <a:chOff x="738188" y="4898708"/>
              <a:chExt cx="200026" cy="200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48987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77926" y="49431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12642" y="50542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4755832"/>
              <a:ext cx="45110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本质是在黄金分割点处划分数组：左段约占 0.618n，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右段约占 0.382n。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248400" y="1524000"/>
            <a:ext cx="5410200" cy="2291715"/>
            <a:chOff x="6248400" y="1524000"/>
            <a:chExt cx="5410200" cy="2291715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1657350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96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7345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为什么更快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23798" y="176879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左段更长，而进左段更便宜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88430" y="2129790"/>
              <a:ext cx="466058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代码写成 if (K &lt; R[mid]) … else if (K &gt; R[mid]) 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时，进入左段只需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 次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关键词比较，进入右段要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 次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501765" y="2813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59880" y="2750820"/>
              <a:ext cx="4434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左段长 Fₖ₋₁−1，右段长 Fₖ₋₂−1，左段更长，落进左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段的概率更大。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501765" y="34347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59880" y="337185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概率大的那条路恰好更便宜，于是比较的总次数更少。</a:t>
              </a:r>
            </a:p>
          </p:txBody>
        </p:sp>
      </p:grpSp>
      <p:grpSp>
        <p:nvGrpSpPr>
          <p:cNvPr id="58" name="c2-table-2"/>
          <p:cNvGrpSpPr/>
          <p:nvPr/>
        </p:nvGrpSpPr>
        <p:grpSpPr>
          <a:xfrm>
            <a:off x="6242685" y="4006215"/>
            <a:ext cx="5415915" cy="1642587"/>
            <a:chOff x="6242685" y="4006215"/>
            <a:chExt cx="5415915" cy="1642587"/>
          </a:xfrm>
        </p:grpSpPr>
        <p:sp>
          <p:nvSpPr>
            <p:cNvPr id="40" name="Rectangle 40"/>
            <p:cNvSpPr/>
            <p:nvPr/>
          </p:nvSpPr>
          <p:spPr>
            <a:xfrm>
              <a:off x="6248400" y="4006215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60234" y="41419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指标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34831" y="414194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对半查找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77945" y="414194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斐波那契查找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56223" y="459057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平均迭代轮数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638222" y="4464368"/>
              <a:ext cx="149542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736520" y="459057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51948" y="459057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3.17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48987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48400" y="490347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56223" y="503920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平均关键词比较次数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36520" y="503920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5.33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153650" y="4912995"/>
              <a:ext cx="149542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251948" y="503920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4.83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4006215"/>
              <a:ext cx="541020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623935" y="400621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139362" y="400621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42685" y="5428774"/>
              <a:ext cx="3102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n=12 的表上逐个元素成功查找，已用脚本实测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9" name="Rectangle 5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130" y="5991225"/>
              <a:ext cx="97280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“更快”要看怎么计数：按轮数算斐波那契略多，按关键词比较次数算它更少，再加上省掉除法才有总体优势。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735678" cy="2997517"/>
            <a:chOff x="667512" y="1835468"/>
            <a:chExt cx="473567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插值查找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7257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已知数据分布均匀时，直接按比例把 mid 猜出来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799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用线性插值预测 K 的位置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870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 O(log log n) 而最坏 O(n)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引入了乘除法并依赖分布假设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56379" cy="909257"/>
            <a:chOff x="520446" y="342900"/>
            <a:chExt cx="59563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插值查找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563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插值查找：按 K 在值域里的比例猜位置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370561" cy="278702"/>
            <a:chOff x="526161" y="1547336"/>
            <a:chExt cx="637056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3705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查英文词典找 zoo 时没人从中间翻起，插值查找就是把这个直觉写成公式。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41195"/>
            <a:ext cx="5410200" cy="1226820"/>
            <a:chOff x="533400" y="1941195"/>
            <a:chExt cx="5410200" cy="122682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假设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7597" y="217360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元素在值域上均匀随机分布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47971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例如 R = 10 20 30 40 50 60 70 80 90 100。此时 R[low] 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R[high] 内各元素大致呈线性增长关系，下标与值之间成比例：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formula25"/>
              <p:cNvSpPr txBox="1">
                <a:spLocks noGrp="1"/>
              </p:cNvSpPr>
              <p:nvPr/>
            </p:nvSpPr>
            <p:spPr>
              <a:xfrm>
                <a:off x="533400" y="3343275"/>
                <a:ext cx="5410200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mid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low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high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low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low</m:t>
                              </m:r>
                            </m:e>
                          </m:d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high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low</m:t>
                              </m:r>
                            </m:e>
                          </m:d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formula26"/>
              <p:cNvSpPr txBox="1">
                <a:spLocks noGrp="1"/>
              </p:cNvSpPr>
              <p:nvPr/>
            </p:nvSpPr>
            <p:spPr>
              <a:xfrm>
                <a:off x="533400" y="4135755"/>
                <a:ext cx="5410200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mid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low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⌊"/>
                          <m:sepChr m:val=""/>
                          <m:endChr m:val="⌋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low</m:t>
                                  </m:r>
                                </m:e>
                              </m:d>
                            </m:num>
                            <m:den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high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low</m:t>
                                  </m:r>
                                </m:e>
                              </m:d>
                            </m:den>
                          </m:f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high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low</m:t>
                              </m:r>
                            </m:e>
                          </m:d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4" name="c1-callout-4"/>
          <p:cNvGrpSpPr/>
          <p:nvPr/>
        </p:nvGrpSpPr>
        <p:grpSpPr>
          <a:xfrm>
            <a:off x="533400" y="4928235"/>
            <a:ext cx="5410200" cy="747712"/>
            <a:chOff x="533400" y="4928235"/>
            <a:chExt cx="5410200" cy="747712"/>
          </a:xfrm>
        </p:grpSpPr>
        <p:sp>
          <p:nvSpPr>
            <p:cNvPr id="18" name="Rectangle 18"/>
            <p:cNvSpPr/>
            <p:nvPr/>
          </p:nvSpPr>
          <p:spPr>
            <a:xfrm>
              <a:off x="533400" y="4928235"/>
              <a:ext cx="5410200" cy="747712"/>
            </a:xfrm>
            <a:prstGeom prst="roundRect">
              <a:avLst>
                <a:gd name="adj" fmla="val 1528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201603"/>
              <a:ext cx="200026" cy="200025"/>
              <a:chOff x="738188" y="5201603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2016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7926" y="52460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12642" y="53571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892" y="5083492"/>
              <a:ext cx="407708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把对半查找写成同样的形式就是 mid = low + ⌊(high −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low)/2⌋：它假定 K 永远落在区间正中间。</a:t>
              </a:r>
            </a:p>
          </p:txBody>
        </p:sp>
      </p:grpSp>
      <p:grpSp>
        <p:nvGrpSpPr>
          <p:cNvPr id="62" name="c2-cells-1"/>
          <p:cNvGrpSpPr/>
          <p:nvPr/>
        </p:nvGrpSpPr>
        <p:grpSpPr>
          <a:xfrm>
            <a:off x="6242685" y="1941195"/>
            <a:ext cx="5415915" cy="889635"/>
            <a:chOff x="6242685" y="1941195"/>
            <a:chExt cx="5415915" cy="889635"/>
          </a:xfrm>
        </p:grpSpPr>
        <p:sp>
          <p:nvSpPr>
            <p:cNvPr id="25" name="TextBox 25"/>
            <p:cNvSpPr txBox="1"/>
            <p:nvPr/>
          </p:nvSpPr>
          <p:spPr>
            <a:xfrm>
              <a:off x="6242685" y="206263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463665" y="1941195"/>
              <a:ext cx="5191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30910" y="20626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983730" y="1941195"/>
              <a:ext cx="5191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50023" y="20626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502842" y="1941195"/>
              <a:ext cx="5191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70088" y="20626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021955" y="1941195"/>
              <a:ext cx="5191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89200" y="20626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542020" y="1941195"/>
              <a:ext cx="5191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708313" y="20626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061132" y="1941195"/>
              <a:ext cx="5191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28378" y="20626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580245" y="1941195"/>
              <a:ext cx="51911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747490" y="20626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100310" y="1941195"/>
              <a:ext cx="5191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267555" y="20626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0619422" y="1941195"/>
              <a:ext cx="5191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786668" y="20626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1139488" y="1941195"/>
              <a:ext cx="51911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1262244" y="206263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88578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07691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2775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46868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65981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28604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805158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325223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84433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333091" y="237696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6685598" y="252317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17162" y="2654618"/>
              <a:ext cx="2130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low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9802178" y="252317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733742" y="2654618"/>
              <a:ext cx="2130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mid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11360468" y="252317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1269769" y="2654618"/>
              <a:ext cx="2575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high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6248400" y="2978468"/>
            <a:ext cx="5410200" cy="1792605"/>
            <a:chOff x="6248400" y="2978468"/>
            <a:chExt cx="5410200" cy="1792605"/>
          </a:xfrm>
        </p:grpSpPr>
        <p:sp>
          <p:nvSpPr>
            <p:cNvPr id="63" name="Rectangle 63"/>
            <p:cNvSpPr/>
            <p:nvPr/>
          </p:nvSpPr>
          <p:spPr>
            <a:xfrm>
              <a:off x="6248400" y="2978468"/>
              <a:ext cx="5410200" cy="1792605"/>
            </a:xfrm>
            <a:prstGeom prst="roundRect">
              <a:avLst>
                <a:gd name="adj" fmla="val 74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57925" y="3111818"/>
              <a:ext cx="47625" cy="15259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78905" y="3170872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74346" y="32051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929247" y="3209925"/>
              <a:ext cx="14264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在上表中查 K=70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72047" y="3544252"/>
              <a:ext cx="44799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mid = 1 + ⌊(70−10)/(100−10) × (10−1)⌋ = 1 + ⌊60×9/90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⌋ = 1 + 6 = 7。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72047" y="4104322"/>
              <a:ext cx="48936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R[7] = 70，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一次比较就命中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；同一个表用对半查找要 3 次。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73190" y="4402931"/>
              <a:ext cx="412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已用 C 程序实测：InterpolationSearch 返回 7，比较 1 次。</a:t>
              </a:r>
            </a:p>
          </p:txBody>
        </p:sp>
      </p:grpSp>
      <p:grpSp>
        <p:nvGrpSpPr>
          <p:cNvPr id="78" name="c2-callout-3"/>
          <p:cNvGrpSpPr/>
          <p:nvPr/>
        </p:nvGrpSpPr>
        <p:grpSpPr>
          <a:xfrm>
            <a:off x="6248400" y="4946332"/>
            <a:ext cx="5410200" cy="729615"/>
            <a:chOff x="6248400" y="4946332"/>
            <a:chExt cx="5410200" cy="729615"/>
          </a:xfrm>
        </p:grpSpPr>
        <p:sp>
          <p:nvSpPr>
            <p:cNvPr id="72" name="Rectangle 72"/>
            <p:cNvSpPr/>
            <p:nvPr/>
          </p:nvSpPr>
          <p:spPr>
            <a:xfrm>
              <a:off x="6248400" y="494633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6441129" y="5207436"/>
              <a:ext cx="224134" cy="192560"/>
              <a:chOff x="6441129" y="5207436"/>
              <a:chExt cx="224134" cy="19256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6553200" y="52778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441129" y="52074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553200" y="53555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6755892" y="5092065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公式里出现了乘法和除法。除法在多数处理器上比比较贵得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多，这是插值查找的隐性成本。</a:t>
              </a:r>
            </a:p>
          </p:txBody>
        </p:sp>
      </p:grpSp>
      <p:grpSp>
        <p:nvGrpSpPr>
          <p:cNvPr id="8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9" name="Rectangle 7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040892" y="6023610"/>
              <a:ext cx="67561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插值查找把“猜位置”做进了算法里；猜得准不准，完全取决于数据是不是真的均匀。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插值查找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插值查找的代码：循环条件里多了两个守卫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276022" cy="2967990"/>
            <a:chOff x="533400" y="1524000"/>
            <a:chExt cx="6276022" cy="29679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2967990"/>
            </a:xfrm>
            <a:prstGeom prst="roundRect">
              <a:avLst>
                <a:gd name="adj" fmla="val 32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6966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插值查找（源课件第 42 页）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426970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602230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797" y="1935956"/>
              <a:ext cx="3843274" cy="2481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InterpolationSearch(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low = 1, high = n, mid;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(low &lt;= high &amp;&amp; K &gt;= R[low] &amp;&amp; K &lt;= R[high])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(R[low] == R[high])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low;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区间内值全相同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mid = low + (K - R[low]) * (high - low)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/ (R[high] - R[low]);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&lt; R[mid])       high = mid - 1;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&gt; R[mid])  low  = mid + 1;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mid;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661535"/>
            <a:ext cx="6276022" cy="944880"/>
            <a:chOff x="533400" y="4661535"/>
            <a:chExt cx="6276022" cy="944880"/>
          </a:xfrm>
        </p:grpSpPr>
        <p:sp>
          <p:nvSpPr>
            <p:cNvPr id="13" name="Rectangle 13"/>
            <p:cNvSpPr/>
            <p:nvPr/>
          </p:nvSpPr>
          <p:spPr>
            <a:xfrm>
              <a:off x="533400" y="4661535"/>
              <a:ext cx="6276022" cy="944880"/>
            </a:xfrm>
            <a:prstGeom prst="roundRect">
              <a:avLst>
                <a:gd name="adj" fmla="val 141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794885"/>
              <a:ext cx="47625" cy="67818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8190" y="484822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0862" y="488108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陷阱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3784" y="4883468"/>
              <a:ext cx="32802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(K−R[low])×(high−low) 可能溢出 int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332" y="5209223"/>
              <a:ext cx="35575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关键词范围大时把中间结果转成 long long。</a:t>
              </a:r>
            </a:p>
          </p:txBody>
        </p:sp>
      </p:grpSp>
      <p:grpSp>
        <p:nvGrpSpPr>
          <p:cNvPr id="33" name="c2-steps-1"/>
          <p:cNvGrpSpPr/>
          <p:nvPr/>
        </p:nvGrpSpPr>
        <p:grpSpPr>
          <a:xfrm>
            <a:off x="7114222" y="1533525"/>
            <a:ext cx="4434704" cy="2099786"/>
            <a:chOff x="7114222" y="1533525"/>
            <a:chExt cx="4434704" cy="2099786"/>
          </a:xfrm>
        </p:grpSpPr>
        <p:sp>
          <p:nvSpPr>
            <p:cNvPr id="20" name="Rectangle 20"/>
            <p:cNvSpPr/>
            <p:nvPr/>
          </p:nvSpPr>
          <p:spPr>
            <a:xfrm>
              <a:off x="7247572" y="1676400"/>
              <a:ext cx="19050" cy="1372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7114222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0784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114222" y="21164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207846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114222" y="290607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07846" y="29798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26464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两个守卫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27608" y="1833086"/>
              <a:ext cx="40213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&lt; R[low] 或 K &gt; R[high] 时 K 一定不在表里，直接判失败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26464" y="214788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防除零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27608" y="2416016"/>
              <a:ext cx="397281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R[low] == R[high] 时分母为 0，此时由守卫可知 K 就等于它，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 low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26464" y="293846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先乘后除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27608" y="3205639"/>
              <a:ext cx="393014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 (K−R[low])*(high−low)/(R[high]−R[low])，先乘再整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除可以少丢精度</a:t>
              </a:r>
            </a:p>
          </p:txBody>
        </p:sp>
      </p:grpSp>
      <p:grpSp>
        <p:nvGrpSpPr>
          <p:cNvPr id="36" name="c2-image-2"/>
          <p:cNvGrpSpPr/>
          <p:nvPr/>
        </p:nvGrpSpPr>
        <p:grpSpPr>
          <a:xfrm>
            <a:off x="8547735" y="3796665"/>
            <a:ext cx="1676400" cy="1540859"/>
            <a:chOff x="8547735" y="3796665"/>
            <a:chExt cx="1676400" cy="1540859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47735" y="3796665"/>
              <a:ext cx="1676400" cy="1257300"/>
            </a:xfrm>
            <a:prstGeom prst="roundRect">
              <a:avLst>
                <a:gd name="adj" fmla="val 10606"/>
              </a:avLst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8572925" y="5146834"/>
              <a:ext cx="16260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 zoo 时直接翻到词典末尾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7" name="Rectangle 37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892" y="6028373"/>
              <a:ext cx="5738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守卫不能省。少了它们，mid 会算到区间外面，R[mid] 直接越界访问。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87173" cy="909257"/>
            <a:chOff x="520446" y="342900"/>
            <a:chExt cx="59871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插值查找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871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 O(log log n)，最坏退化到 O(n)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619856" cy="264033"/>
            <a:chOff x="526542" y="1545907"/>
            <a:chExt cx="661985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619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姚期智与储枫 1976 年证明：平均情况下，每迭代一次待查区间长度由 n 缩到 √n。</a:t>
              </a:r>
            </a:p>
          </p:txBody>
        </p:sp>
      </p:grpSp>
      <p:grpSp>
        <p:nvGrpSpPr>
          <p:cNvPr id="28" name="c1-table-1"/>
          <p:cNvGrpSpPr/>
          <p:nvPr/>
        </p:nvGrpSpPr>
        <p:grpSpPr>
          <a:xfrm>
            <a:off x="533400" y="1928812"/>
            <a:ext cx="5626418" cy="762952"/>
            <a:chOff x="533400" y="1928812"/>
            <a:chExt cx="5626418" cy="76295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93445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49755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66952" y="2045970"/>
              <a:ext cx="5163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第1次后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23262" y="2045970"/>
              <a:ext cx="5163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第2次后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79572" y="2045970"/>
              <a:ext cx="5163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第3次后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79684" y="2045970"/>
              <a:ext cx="5163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第k次后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8078" y="2426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区间长度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40586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40698" y="242697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97961" y="242697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⁴√n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54271" y="242697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⁸√n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10581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1928812"/>
              <a:ext cx="5626418" cy="762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541145" y="192881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441258" y="192881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398520" y="192881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354830" y="192881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11140" y="192881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formula39"/>
              <p:cNvSpPr txBox="1">
                <a:spLocks noGrp="1"/>
              </p:cNvSpPr>
              <p:nvPr/>
            </p:nvSpPr>
            <p:spPr>
              <a:xfrm>
                <a:off x="533400" y="2856548"/>
                <a:ext cx="5626418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p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p>
                          </m:sSup>
                        </m:sup>
                      </m:s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⟹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unc>
                            <m:funcPr/>
                            <m:fNam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36" name="c1-card-3"/>
          <p:cNvGrpSpPr/>
          <p:nvPr/>
        </p:nvGrpSpPr>
        <p:grpSpPr>
          <a:xfrm>
            <a:off x="533400" y="3440430"/>
            <a:ext cx="5626418" cy="1357312"/>
            <a:chOff x="533400" y="3440430"/>
            <a:chExt cx="5626418" cy="1357312"/>
          </a:xfrm>
        </p:grpSpPr>
        <p:sp>
          <p:nvSpPr>
            <p:cNvPr id="30" name="Rectangle 30"/>
            <p:cNvSpPr/>
            <p:nvPr/>
          </p:nvSpPr>
          <p:spPr>
            <a:xfrm>
              <a:off x="533400" y="3440430"/>
              <a:ext cx="5626418" cy="1357312"/>
            </a:xfrm>
            <a:prstGeom prst="roundRect">
              <a:avLst>
                <a:gd name="adj" fmla="val 982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14375" y="362140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7047" y="365426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80350" y="366093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元素比较的次数等于迭代的次数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7898" y="3977164"/>
              <a:ext cx="525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平均时间复杂度 </a:t>
              </a:r>
              <a:r>
                <a:rPr lang="en-US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O(log log n)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。前提是元素在值域上均匀随机分布。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9041" y="4258628"/>
              <a:ext cx="4884611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2³² ≈ 42.9 亿时，log₂n = 32，log₂log₂n = 5；脚本按 n→√n 连续开方，确实 5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步降到 2。</a:t>
              </a:r>
            </a:p>
          </p:txBody>
        </p:sp>
      </p:grpSp>
      <p:grpSp>
        <p:nvGrpSpPr>
          <p:cNvPr id="43" name="c1-callout-4"/>
          <p:cNvGrpSpPr/>
          <p:nvPr/>
        </p:nvGrpSpPr>
        <p:grpSpPr>
          <a:xfrm>
            <a:off x="533400" y="4961572"/>
            <a:ext cx="5626418" cy="702945"/>
            <a:chOff x="533400" y="4961572"/>
            <a:chExt cx="5626418" cy="702945"/>
          </a:xfrm>
        </p:grpSpPr>
        <p:sp>
          <p:nvSpPr>
            <p:cNvPr id="37" name="Rectangle 37"/>
            <p:cNvSpPr/>
            <p:nvPr/>
          </p:nvSpPr>
          <p:spPr>
            <a:xfrm>
              <a:off x="533400" y="4961572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213033"/>
              <a:ext cx="200026" cy="200025"/>
              <a:chOff x="738188" y="5213033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2130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7926" y="52574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2642" y="53686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1273" y="5106829"/>
              <a:ext cx="45239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文献出处：AC Yao and FF Yao, The Complexity of Searching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an Ordered Random Table, FOCS 1976, 173-177。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464618" y="1928812"/>
            <a:ext cx="5193982" cy="1160145"/>
            <a:chOff x="6464618" y="1928812"/>
            <a:chExt cx="5193982" cy="1160145"/>
          </a:xfrm>
        </p:grpSpPr>
        <p:sp>
          <p:nvSpPr>
            <p:cNvPr id="44" name="Rectangle 44"/>
            <p:cNvSpPr/>
            <p:nvPr/>
          </p:nvSpPr>
          <p:spPr>
            <a:xfrm>
              <a:off x="6464618" y="1928812"/>
              <a:ext cx="5193982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74142" y="206216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83692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76364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50620" y="214931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分布极不均匀时退化成顺序扫描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77216" y="2465546"/>
              <a:ext cx="44670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R = 1 2 3 5 6 9999（下标 1 到 6），查 K = 6。R[high] 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大，插值公式算出的 mid 一直贴在 low 上，每轮只前进一格。</a:t>
              </a:r>
            </a:p>
          </p:txBody>
        </p:sp>
      </p:grpSp>
      <p:grpSp>
        <p:nvGrpSpPr>
          <p:cNvPr id="81" name="c2-table-2"/>
          <p:cNvGrpSpPr/>
          <p:nvPr/>
        </p:nvGrpSpPr>
        <p:grpSpPr>
          <a:xfrm>
            <a:off x="6464618" y="3253740"/>
            <a:ext cx="5193982" cy="1525905"/>
            <a:chOff x="6464618" y="3253740"/>
            <a:chExt cx="5193982" cy="1525905"/>
          </a:xfrm>
        </p:grpSpPr>
        <p:sp>
          <p:nvSpPr>
            <p:cNvPr id="51" name="Rectangle 51"/>
            <p:cNvSpPr/>
            <p:nvPr/>
          </p:nvSpPr>
          <p:spPr>
            <a:xfrm>
              <a:off x="6464618" y="3253740"/>
              <a:ext cx="519398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03898" y="337089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91194" y="3370898"/>
              <a:ext cx="2481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low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703445" y="3370898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high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68596" y="3370898"/>
              <a:ext cx="2481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785738" y="3370898"/>
              <a:ext cx="499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R[mid]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59296" y="37528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90829" y="37528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29054" y="37528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468231" y="37528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506456" y="37528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64618" y="40119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64618" y="401669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59296" y="41338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90829" y="41338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429054" y="41338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468231" y="41338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506456" y="41338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464618" y="43929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559296" y="45148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390829" y="45148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429054" y="45148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468231" y="45148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0421302" y="4407218"/>
              <a:ext cx="1227772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506456" y="45148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464618" y="3253740"/>
              <a:ext cx="5193982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7291388" y="325374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8329612" y="325374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9368790" y="325374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10407015" y="325374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7" name="c2-callout-3"/>
          <p:cNvGrpSpPr/>
          <p:nvPr/>
        </p:nvGrpSpPr>
        <p:grpSpPr>
          <a:xfrm>
            <a:off x="6464618" y="4944428"/>
            <a:ext cx="5193982" cy="720090"/>
            <a:chOff x="6464618" y="4944428"/>
            <a:chExt cx="5193982" cy="720090"/>
          </a:xfrm>
        </p:grpSpPr>
        <p:sp>
          <p:nvSpPr>
            <p:cNvPr id="82" name="Rectangle 82"/>
            <p:cNvSpPr/>
            <p:nvPr/>
          </p:nvSpPr>
          <p:spPr>
            <a:xfrm>
              <a:off x="6464618" y="4944428"/>
              <a:ext cx="5193982" cy="720090"/>
            </a:xfrm>
            <a:prstGeom prst="roundRect">
              <a:avLst>
                <a:gd name="adj" fmla="val 1587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6669405" y="5204462"/>
              <a:ext cx="200023" cy="200023"/>
              <a:chOff x="6669405" y="5204462"/>
              <a:chExt cx="200023" cy="200023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6669405" y="52044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6802755" y="52711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6972491" y="5098256"/>
              <a:ext cx="4185869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6 个元素比较 5 次，与顺序查找一样，最坏 </a:t>
              </a:r>
              <a:r>
                <a:rPr lang="en-US" sz="1280" b="1" dirty="0">
                  <a:solidFill>
                    <a:srgbClr val="FFC2BD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。已用 C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程序实测。</a:t>
              </a:r>
            </a:p>
          </p:txBody>
        </p:sp>
      </p:grpSp>
      <p:grpSp>
        <p:nvGrpSpPr>
          <p:cNvPr id="9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8" name="Rectangle 8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1041273" y="6039326"/>
              <a:ext cx="78012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对半查找的 O(log n) 不依赖任何分布假设，插值查找的 O(log log n) 依赖；这是两者最本质的区别。</a:t>
              </a:r>
            </a:p>
          </p:txBody>
        </p:sp>
      </p:grpSp>
      <p:grpSp>
        <p:nvGrpSpPr>
          <p:cNvPr id="9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5" name="TextBox 9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插值查找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插值查找与二分查找各自的适用边界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card-1"/>
          <p:cNvGrpSpPr/>
          <p:nvPr/>
        </p:nvGrpSpPr>
        <p:grpSpPr>
          <a:xfrm>
            <a:off x="533400" y="1524000"/>
            <a:ext cx="5410200" cy="2493645"/>
            <a:chOff x="533400" y="1524000"/>
            <a:chExt cx="5410200" cy="24936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93645"/>
            </a:xfrm>
            <a:prstGeom prst="roundRect">
              <a:avLst>
                <a:gd name="adj" fmla="val 53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269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059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插值查找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19631" y="175688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四条要权衡的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9620" y="208883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7965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0514" y="2100739"/>
              <a:ext cx="436067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O(log n) 到 O(log log n) 的优势并不明显，除非查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找表极长或比较操作成本极高。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9620" y="2677477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7965" y="27178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0514" y="269033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需引入乘除法运算。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9620" y="299561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7965" y="303499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0514" y="3007519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元素分布不均匀时效率受影响。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9620" y="3312795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7965" y="335313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60514" y="3325654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实际中可行的做法：先用插值查找迅速把范围缩小到一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定区间，再改用对半查找或顺序查找。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197668"/>
            <a:ext cx="5410200" cy="1482090"/>
            <a:chOff x="533400" y="4197668"/>
            <a:chExt cx="5410200" cy="1482090"/>
          </a:xfrm>
        </p:grpSpPr>
        <p:sp>
          <p:nvSpPr>
            <p:cNvPr id="25" name="Rectangle 25"/>
            <p:cNvSpPr/>
            <p:nvPr/>
          </p:nvSpPr>
          <p:spPr>
            <a:xfrm>
              <a:off x="533400" y="4197668"/>
              <a:ext cx="5410200" cy="1482090"/>
            </a:xfrm>
            <a:prstGeom prst="roundRect">
              <a:avLst>
                <a:gd name="adj" fmla="val 771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4838700"/>
              <a:ext cx="200026" cy="200025"/>
              <a:chOff x="738188" y="4838700"/>
              <a:chExt cx="200026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48387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7926" y="48831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12642" y="49942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511" y="4707731"/>
              <a:ext cx="441477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 = 2³² 时 log n = 32 而 log log n = 5，省下的 27 次比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较，很可能抵不过 5 次除法加上分布不匀的风险。</a:t>
              </a:r>
            </a:p>
          </p:txBody>
        </p:sp>
      </p:grpSp>
      <p:grpSp>
        <p:nvGrpSpPr>
          <p:cNvPr id="52" name="c2-compare-1"/>
          <p:cNvGrpSpPr/>
          <p:nvPr/>
        </p:nvGrpSpPr>
        <p:grpSpPr>
          <a:xfrm>
            <a:off x="6248400" y="1524000"/>
            <a:ext cx="5410200" cy="2156460"/>
            <a:chOff x="6248400" y="1524000"/>
            <a:chExt cx="5410200" cy="2156460"/>
          </a:xfrm>
        </p:grpSpPr>
        <p:sp>
          <p:nvSpPr>
            <p:cNvPr id="32" name="Rectangle 32"/>
            <p:cNvSpPr/>
            <p:nvPr/>
          </p:nvSpPr>
          <p:spPr>
            <a:xfrm>
              <a:off x="6248400" y="1524000"/>
              <a:ext cx="2495550" cy="2156460"/>
            </a:xfrm>
            <a:prstGeom prst="roundRect">
              <a:avLst>
                <a:gd name="adj" fmla="val 61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57925" y="1657350"/>
              <a:ext cx="47625" cy="18897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77381" y="174545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二分查找的优点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92240" y="214122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48831" y="2081689"/>
              <a:ext cx="165557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平均查找效率不超过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 n)，比顺序查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找高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92240" y="300228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8831" y="294179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不需要额外空间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92240" y="331946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48831" y="325993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代码短、常数小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163050" y="1524000"/>
              <a:ext cx="2495550" cy="2156460"/>
            </a:xfrm>
            <a:prstGeom prst="roundRect">
              <a:avLst>
                <a:gd name="adj" fmla="val 61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172575" y="1657350"/>
              <a:ext cx="47625" cy="188976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92031" y="174545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二分查找的缺点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9406890" y="214122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63481" y="2081689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只适用于有序数组，有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序链表难以二分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9406890" y="273081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563481" y="267033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只适合静态查找场景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9406890" y="304800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563481" y="2988469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动态增删后要 O(n) 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间维持有序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8791575" y="244030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868046" y="254174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248400" y="3860482"/>
            <a:ext cx="5410200" cy="1819275"/>
            <a:chOff x="6248400" y="3860482"/>
            <a:chExt cx="5410200" cy="1819275"/>
          </a:xfrm>
        </p:grpSpPr>
        <p:sp>
          <p:nvSpPr>
            <p:cNvPr id="53" name="Rectangle 53"/>
            <p:cNvSpPr/>
            <p:nvPr/>
          </p:nvSpPr>
          <p:spPr>
            <a:xfrm>
              <a:off x="6248400" y="3860482"/>
              <a:ext cx="5410200" cy="1819275"/>
            </a:xfrm>
            <a:prstGeom prst="roundRect">
              <a:avLst>
                <a:gd name="adj" fmla="val 733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46520" y="405860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37960" y="40928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29831" y="409432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什么时候二分就不划算了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39281" y="4437221"/>
              <a:ext cx="482955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元素频繁增删时，为了维持数组有序每次都要 O(n) 搬移，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加上一次 O(log n) 的查找，总代价反而不如直接在无序表上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 O(n) 的顺序查找。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40424" y="5293995"/>
              <a:ext cx="45515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这正是第七部分要引入跳跃表的原因：把“有序”维护在链表上。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0" name="Rectangle 60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511" y="6011704"/>
              <a:ext cx="57492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选查找算法先问三句：表有序吗，能随机访问吗，要不要频繁增删。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135499" cy="2997517"/>
            <a:chOff x="667512" y="1835468"/>
            <a:chExt cx="5135499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分块查找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块间有序、块内无序，用一张小索引表把范围先圈住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索引表记每块的最大关键字与起始地址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索引表用对半查找块内用顺序查找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7816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块长取 √n 时平均查找长度最小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分块查找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分块查找：给大数组配一张索引表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5851017" cy="293370"/>
            <a:chOff x="525780" y="1548765"/>
            <a:chExt cx="5851017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8510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49、50 页。数据只要求“块间有序”，块内怎么摆都行。</a:t>
              </a:r>
            </a:p>
          </p:txBody>
        </p:sp>
      </p:grpSp>
      <p:grpSp>
        <p:nvGrpSpPr>
          <p:cNvPr id="30" name="c1-cells-1"/>
          <p:cNvGrpSpPr/>
          <p:nvPr/>
        </p:nvGrpSpPr>
        <p:grpSpPr>
          <a:xfrm>
            <a:off x="527304" y="1954530"/>
            <a:ext cx="4227576" cy="1552576"/>
            <a:chOff x="527304" y="1954530"/>
            <a:chExt cx="4227576" cy="1552576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208311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索引表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428750" y="1954530"/>
              <a:ext cx="110871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68819" y="2083118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第1块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537460" y="1954530"/>
              <a:ext cx="110871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77529" y="2083118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第2块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46170" y="1954530"/>
              <a:ext cx="110871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986239" y="2083118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第3块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7304" y="265557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最大关键字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428750" y="2526982"/>
              <a:ext cx="110871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883717" y="265557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537460" y="2526982"/>
              <a:ext cx="110871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992427" y="265557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646170" y="2526982"/>
              <a:ext cx="110871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101137" y="265557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7304" y="3228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起始地址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428750" y="3100388"/>
              <a:ext cx="110871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930363" y="3228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537460" y="3100388"/>
              <a:ext cx="110871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039073" y="3228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646170" y="3100388"/>
              <a:ext cx="110871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101137" y="322897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  <p:grpSp>
        <p:nvGrpSpPr>
          <p:cNvPr id="92" name="c1-cells-2"/>
          <p:cNvGrpSpPr/>
          <p:nvPr/>
        </p:nvGrpSpPr>
        <p:grpSpPr>
          <a:xfrm>
            <a:off x="527304" y="3691890"/>
            <a:ext cx="7580376" cy="939831"/>
            <a:chOff x="527304" y="3691890"/>
            <a:chExt cx="7580376" cy="939831"/>
          </a:xfrm>
        </p:grpSpPr>
        <p:sp>
          <p:nvSpPr>
            <p:cNvPr id="31" name="TextBox 31"/>
            <p:cNvSpPr txBox="1"/>
            <p:nvPr/>
          </p:nvSpPr>
          <p:spPr>
            <a:xfrm>
              <a:off x="527304" y="3820477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54380" y="3691890"/>
              <a:ext cx="408622" cy="4067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59780" y="382047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163002" y="3691890"/>
              <a:ext cx="408622" cy="4067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268402" y="382047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571625" y="3691890"/>
              <a:ext cx="408622" cy="4067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677025" y="382047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980248" y="3691890"/>
              <a:ext cx="408622" cy="4067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31341" y="382047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388870" y="3691890"/>
              <a:ext cx="408622" cy="4067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539963" y="382047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797492" y="3691890"/>
              <a:ext cx="408622" cy="4067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901940" y="382047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206115" y="3691890"/>
              <a:ext cx="408622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310562" y="382047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613785" y="3691890"/>
              <a:ext cx="408622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719185" y="382047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022408" y="3691890"/>
              <a:ext cx="408622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127807" y="382047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431030" y="3691890"/>
              <a:ext cx="408622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536430" y="382047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839652" y="3691890"/>
              <a:ext cx="408622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944100" y="382047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248275" y="3691890"/>
              <a:ext cx="408622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352722" y="382047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656898" y="3691890"/>
              <a:ext cx="408622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761345" y="382047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065520" y="3691890"/>
              <a:ext cx="408622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169967" y="382047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474142" y="3691890"/>
              <a:ext cx="408622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78590" y="382047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74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881812" y="3691890"/>
              <a:ext cx="408622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87212" y="382047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290435" y="3691890"/>
              <a:ext cx="408622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395835" y="382047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699058" y="3691890"/>
              <a:ext cx="408622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804457" y="382047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21087" y="415385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329709" y="415385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738332" y="415385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2146002" y="415385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554624" y="415385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2963247" y="415385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371869" y="415385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3780492" y="415385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4189114" y="415385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4564418" y="415385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972088" y="415385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380711" y="415385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789333" y="415385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197956" y="415385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606578" y="415385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015201" y="415385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423823" y="415385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832446" y="415385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86" name="Freeform 86"/>
            <p:cNvSpPr/>
            <p:nvPr/>
          </p:nvSpPr>
          <p:spPr>
            <a:xfrm>
              <a:off x="921068" y="430815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63414" y="4441031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起始 1</a:t>
              </a:r>
            </a:p>
          </p:txBody>
        </p:sp>
        <p:sp>
          <p:nvSpPr>
            <p:cNvPr id="88" name="Freeform 88"/>
            <p:cNvSpPr/>
            <p:nvPr/>
          </p:nvSpPr>
          <p:spPr>
            <a:xfrm>
              <a:off x="3371850" y="430815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3214197" y="4441031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起始 7</a:t>
              </a:r>
            </a:p>
          </p:txBody>
        </p:sp>
        <p:sp>
          <p:nvSpPr>
            <p:cNvPr id="90" name="Freeform 90"/>
            <p:cNvSpPr/>
            <p:nvPr/>
          </p:nvSpPr>
          <p:spPr>
            <a:xfrm>
              <a:off x="5822632" y="430815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5626885" y="4441031"/>
              <a:ext cx="4676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起始 13</a:t>
              </a:r>
            </a:p>
          </p:txBody>
        </p:sp>
      </p:grpSp>
      <p:grpSp>
        <p:nvGrpSpPr>
          <p:cNvPr id="98" name="c1-callout-3"/>
          <p:cNvGrpSpPr/>
          <p:nvPr/>
        </p:nvGrpSpPr>
        <p:grpSpPr>
          <a:xfrm>
            <a:off x="533400" y="4787265"/>
            <a:ext cx="7574280" cy="756285"/>
            <a:chOff x="533400" y="4787265"/>
            <a:chExt cx="7574280" cy="756285"/>
          </a:xfrm>
        </p:grpSpPr>
        <p:sp>
          <p:nvSpPr>
            <p:cNvPr id="93" name="Rectangle 93"/>
            <p:cNvSpPr/>
            <p:nvPr/>
          </p:nvSpPr>
          <p:spPr>
            <a:xfrm>
              <a:off x="533400" y="4787265"/>
              <a:ext cx="7574280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96" name="Group 96"/>
            <p:cNvGrpSpPr/>
            <p:nvPr/>
          </p:nvGrpSpPr>
          <p:grpSpPr>
            <a:xfrm>
              <a:off x="738188" y="5065397"/>
              <a:ext cx="200023" cy="200023"/>
              <a:chOff x="738188" y="5065397"/>
              <a:chExt cx="200023" cy="200023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738188" y="50653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871538" y="51320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1040511" y="4934426"/>
              <a:ext cx="629031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 块的最大关键字是 22，第 2 块最小的是 24；第 2 块最大 50，第 3 块最小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51。块与块之间不重叠，这就是“块间有序”。</a:t>
              </a:r>
            </a:p>
          </p:txBody>
        </p:sp>
      </p:grpSp>
      <p:grpSp>
        <p:nvGrpSpPr>
          <p:cNvPr id="108" name="c2-steps-1"/>
          <p:cNvGrpSpPr/>
          <p:nvPr/>
        </p:nvGrpSpPr>
        <p:grpSpPr>
          <a:xfrm>
            <a:off x="8412480" y="1964055"/>
            <a:ext cx="3015996" cy="1611059"/>
            <a:chOff x="8412480" y="1964055"/>
            <a:chExt cx="3015996" cy="1611059"/>
          </a:xfrm>
        </p:grpSpPr>
        <p:sp>
          <p:nvSpPr>
            <p:cNvPr id="99" name="Rectangle 99"/>
            <p:cNvSpPr/>
            <p:nvPr/>
          </p:nvSpPr>
          <p:spPr>
            <a:xfrm>
              <a:off x="8545830" y="2106930"/>
              <a:ext cx="19050" cy="8420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8412480" y="19640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8506104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2" name="Ellipse 102"/>
            <p:cNvSpPr/>
            <p:nvPr/>
          </p:nvSpPr>
          <p:spPr>
            <a:xfrm>
              <a:off x="8412480" y="28060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8506104" y="28798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824341" y="199691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825484" y="2277428"/>
              <a:ext cx="26029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对索引表使用对半查找，因为索引表是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有序表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824341" y="283892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第二步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825484" y="3119438"/>
              <a:ext cx="26029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确定关键字所在的块后，在块内采用顺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序查找</a:t>
              </a:r>
            </a:p>
          </p:txBody>
        </p:sp>
      </p:grpSp>
      <p:grpSp>
        <p:nvGrpSpPr>
          <p:cNvPr id="115" name="c2-callout-2"/>
          <p:cNvGrpSpPr/>
          <p:nvPr/>
        </p:nvGrpSpPr>
        <p:grpSpPr>
          <a:xfrm>
            <a:off x="8412480" y="3750945"/>
            <a:ext cx="3246120" cy="1792605"/>
            <a:chOff x="8412480" y="3750945"/>
            <a:chExt cx="3246120" cy="1792605"/>
          </a:xfrm>
        </p:grpSpPr>
        <p:sp>
          <p:nvSpPr>
            <p:cNvPr id="109" name="Rectangle 109"/>
            <p:cNvSpPr/>
            <p:nvPr/>
          </p:nvSpPr>
          <p:spPr>
            <a:xfrm>
              <a:off x="8412480" y="3750945"/>
              <a:ext cx="3246120" cy="1792605"/>
            </a:xfrm>
            <a:prstGeom prst="roundRect">
              <a:avLst>
                <a:gd name="adj" fmla="val 637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13" name="Group 113"/>
            <p:cNvGrpSpPr/>
            <p:nvPr/>
          </p:nvGrpSpPr>
          <p:grpSpPr>
            <a:xfrm>
              <a:off x="8617268" y="4547235"/>
              <a:ext cx="200026" cy="200025"/>
              <a:chOff x="8617268" y="4547235"/>
              <a:chExt cx="200026" cy="200025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8617268" y="45472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1" name="Freeform 111"/>
              <p:cNvSpPr/>
              <p:nvPr/>
            </p:nvSpPr>
            <p:spPr>
              <a:xfrm>
                <a:off x="8657006" y="45916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8691722" y="47028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14" name="TextBox 114"/>
            <p:cNvSpPr txBox="1"/>
            <p:nvPr/>
          </p:nvSpPr>
          <p:spPr>
            <a:xfrm>
              <a:off x="8919591" y="4285774"/>
              <a:ext cx="235889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索引表小、常驻内存，块内数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据可以留在外存，这是分块查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找在文件系统里流行的原因。</a:t>
              </a:r>
            </a:p>
          </p:txBody>
        </p:sp>
      </p:grpSp>
      <p:grpSp>
        <p:nvGrpSpPr>
          <p:cNvPr id="121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116" name="Rectangle 11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19" name="Group 119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18" name="Freeform 118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20" name="TextBox 120"/>
            <p:cNvSpPr txBox="1"/>
            <p:nvPr/>
          </p:nvSpPr>
          <p:spPr>
            <a:xfrm>
              <a:off x="1040511" y="6004084"/>
              <a:ext cx="82343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每个块中的数值都比后一块中的数值小，但块内不要求有序：第 1 块里 22 排在 8 前面完全合法。</a:t>
              </a:r>
            </a:p>
          </p:txBody>
        </p:sp>
      </p:grpSp>
      <p:grpSp>
        <p:nvGrpSpPr>
          <p:cNvPr id="12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2" name="TextBox 122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分块查找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分块查找的平均查找长度与最佳块长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997799" cy="278702"/>
            <a:chOff x="526161" y="1547336"/>
            <a:chExt cx="599779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997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两段代价相加：先在 b 个索引项里定位，再在块内的 s 个元素里扫描。</a:t>
              </a:r>
            </a:p>
          </p:txBody>
        </p:sp>
      </p:grpSp>
      <p:grpSp>
        <p:nvGrpSpPr>
          <p:cNvPr id="21" name="c1-card-1"/>
          <p:cNvGrpSpPr/>
          <p:nvPr/>
        </p:nvGrpSpPr>
        <p:grpSpPr>
          <a:xfrm>
            <a:off x="533400" y="1941195"/>
            <a:ext cx="5626418" cy="2049780"/>
            <a:chOff x="533400" y="1941195"/>
            <a:chExt cx="5626418" cy="204978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626418" cy="2049780"/>
            </a:xfrm>
            <a:prstGeom prst="roundRect">
              <a:avLst>
                <a:gd name="adj" fmla="val 65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7830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9346" y="216789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14247" y="2173605"/>
              <a:ext cx="17899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在上页的表中查 K=38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3905" y="249555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9583" y="25339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4702" y="2507932"/>
              <a:ext cx="46771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索引表 22 50 86 中找第一个 ≥ 38 的项，得到第 2 块，起始地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 7。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3905" y="305562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9583" y="30940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4702" y="3068002"/>
              <a:ext cx="47028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R[7] 起顺序扫描：33、42、44、38，第 4 次命中，返回下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 10。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8190" y="3623786"/>
              <a:ext cx="50282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已用 C 程序对 18 个元素逐个验证，返回下标全部正确；查 K=99 返回 −1。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formula44"/>
              <p:cNvSpPr txBox="1">
                <a:spLocks noGrp="1"/>
              </p:cNvSpPr>
              <p:nvPr/>
            </p:nvSpPr>
            <p:spPr>
              <a:xfrm>
                <a:off x="533400" y="4167188"/>
                <a:ext cx="5626418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ASL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num>
                            <m:den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ad>
                        <m:radPr>
                          <m:degHide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ra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8" name="c1-callout-3"/>
          <p:cNvGrpSpPr/>
          <p:nvPr/>
        </p:nvGrpSpPr>
        <p:grpSpPr>
          <a:xfrm>
            <a:off x="533400" y="4958715"/>
            <a:ext cx="5626418" cy="729615"/>
            <a:chOff x="533400" y="4958715"/>
            <a:chExt cx="5626418" cy="729615"/>
          </a:xfrm>
        </p:grpSpPr>
        <p:sp>
          <p:nvSpPr>
            <p:cNvPr id="23" name="Rectangle 23"/>
            <p:cNvSpPr/>
            <p:nvPr/>
          </p:nvSpPr>
          <p:spPr>
            <a:xfrm>
              <a:off x="533400" y="4958715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223512"/>
              <a:ext cx="200023" cy="200023"/>
              <a:chOff x="738188" y="5223512"/>
              <a:chExt cx="200023" cy="20002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2235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71538" y="52901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892" y="5105400"/>
              <a:ext cx="446284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由均值不等式，s = √n 时取到最小值 √n + 1。n = 10000 时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约 101 次，远好于顺序查找的 5000 次。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459284" y="1941195"/>
            <a:ext cx="5199316" cy="1497902"/>
            <a:chOff x="6459284" y="1941195"/>
            <a:chExt cx="5199316" cy="1497902"/>
          </a:xfrm>
        </p:grpSpPr>
        <p:sp>
          <p:nvSpPr>
            <p:cNvPr id="29" name="Rectangle 29"/>
            <p:cNvSpPr/>
            <p:nvPr/>
          </p:nvSpPr>
          <p:spPr>
            <a:xfrm>
              <a:off x="6464618" y="1941195"/>
              <a:ext cx="5193982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85724" y="20654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索引表的查法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36369" y="20654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索引比较次数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29191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块内平均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839561" y="206549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ASL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64630" y="24712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顺序查找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22920" y="2471261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 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65920" y="24712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07968" y="24712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5.50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64618" y="27479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64618" y="2752725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64630" y="28770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对半查找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22920" y="2877026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恒为 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65920" y="28770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317480" y="2762250"/>
              <a:ext cx="133159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407968" y="28770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5.50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1941195"/>
              <a:ext cx="5193982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018145" y="194119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161145" y="194119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303192" y="194119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59284" y="3233738"/>
              <a:ext cx="33324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n=18、b=3、s=6 的实测（脚本枚举全部 18 个元素）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464618" y="3572828"/>
            <a:ext cx="5193982" cy="2116455"/>
            <a:chOff x="6464618" y="3572828"/>
            <a:chExt cx="5193982" cy="2116455"/>
          </a:xfrm>
        </p:grpSpPr>
        <p:sp>
          <p:nvSpPr>
            <p:cNvPr id="51" name="Rectangle 51"/>
            <p:cNvSpPr/>
            <p:nvPr/>
          </p:nvSpPr>
          <p:spPr>
            <a:xfrm>
              <a:off x="6464618" y="3572828"/>
              <a:ext cx="5193982" cy="2116455"/>
            </a:xfrm>
            <a:prstGeom prst="roundRect">
              <a:avLst>
                <a:gd name="adj" fmla="val 63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74142" y="3706178"/>
              <a:ext cx="47625" cy="18497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95122" y="376523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86562" y="37995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78814" y="380428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这个例子里两种查法为什么一样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88264" y="4138612"/>
              <a:ext cx="450570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3 时，“找第一个 ≥ K 的索引项”的对半查找每次恰好循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环两轮，顺序查找平均也是 (3+1)/2 = 2 次，正好持平。b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变大差距才显出来：b = 100 时顺序平均 50 次，对半只要 7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89408" y="5208746"/>
              <a:ext cx="33074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若按 s = √18 ≈ 4.24 分块，ASL 可降到约 5.24。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9" name="Rectangle 5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892" y="6023610"/>
              <a:ext cx="96845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分块查找是顺序与对半的折中：不要求全表有序，插入时把元素塞进对应块即可；判据是“第一个最大关键字 ≥ K 的块”。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79834" cy="2997517"/>
            <a:chOff x="667512" y="1835468"/>
            <a:chExt cx="537983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再谈对半查找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699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让查找失败也返回有用的信息，再把二分用到“答案”上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0033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循环结束时 low 与 high 各自带着一条不变式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两个边界函数只差一个等号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单调判定问题都可以二分答案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31161" cy="909257"/>
            <a:chOff x="520446" y="342900"/>
            <a:chExt cx="61311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再谈对半查找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311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只返回 −1 太可惜：失败的位置也是信息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156427" cy="264033"/>
            <a:chOff x="526542" y="1545907"/>
            <a:chExt cx="615642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1564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52、53 页。要往有序表里插入新元素，正好需要知道它该插在哪。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842635" cy="2440305"/>
            <a:chOff x="533400" y="1928812"/>
            <a:chExt cx="5842635" cy="24403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回顾：传统对半查找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3090291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BinarySearch(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low = 1, high = n, mid;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(low &lt;= high)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mid = (low + high) / 2;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&lt; R[mid])       high = mid - 1;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&gt; R[mid])  low  = mid + 1;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mid;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-1;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只知道没找到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533900"/>
            <a:ext cx="5842635" cy="1160145"/>
            <a:chOff x="533400" y="4533900"/>
            <a:chExt cx="5842635" cy="1160145"/>
          </a:xfrm>
        </p:grpSpPr>
        <p:sp>
          <p:nvSpPr>
            <p:cNvPr id="13" name="Rectangle 13"/>
            <p:cNvSpPr/>
            <p:nvPr/>
          </p:nvSpPr>
          <p:spPr>
            <a:xfrm>
              <a:off x="533400" y="4533900"/>
              <a:ext cx="5842635" cy="1160145"/>
            </a:xfrm>
            <a:prstGeom prst="roundRect">
              <a:avLst>
                <a:gd name="adj" fmla="val 1149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4375" y="471487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2996" y="47477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缺什么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05128" y="475440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这个返回值丢掉了三条信息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898" y="5070634"/>
              <a:ext cx="5214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应该插在哪个位置、有重复关键词时返回的是哪一个、比 K 小的最大元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素是谁。</a:t>
              </a:r>
            </a:p>
          </p:txBody>
        </p:sp>
      </p:grpSp>
      <p:grpSp>
        <p:nvGrpSpPr>
          <p:cNvPr id="47" name="c2-cells-1"/>
          <p:cNvGrpSpPr/>
          <p:nvPr/>
        </p:nvGrpSpPr>
        <p:grpSpPr>
          <a:xfrm>
            <a:off x="6675501" y="1928812"/>
            <a:ext cx="4983099" cy="1039178"/>
            <a:chOff x="6675501" y="1928812"/>
            <a:chExt cx="4983099" cy="1039178"/>
          </a:xfrm>
        </p:grpSpPr>
        <p:sp>
          <p:nvSpPr>
            <p:cNvPr id="19" name="TextBox 19"/>
            <p:cNvSpPr txBox="1"/>
            <p:nvPr/>
          </p:nvSpPr>
          <p:spPr>
            <a:xfrm>
              <a:off x="6675501" y="204120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080885" y="1928812"/>
              <a:ext cx="57245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21438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53338" y="1928812"/>
              <a:ext cx="57245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92938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225790" y="1928812"/>
              <a:ext cx="57245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65391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797290" y="1928812"/>
              <a:ext cx="57245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37843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369742" y="1928812"/>
              <a:ext cx="57245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610296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942195" y="1928812"/>
              <a:ext cx="57245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181796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514648" y="1928812"/>
              <a:ext cx="57245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754248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1086148" y="1928812"/>
              <a:ext cx="57245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285886" y="204120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32468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03968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7642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48873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62132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19282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765278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33773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75501" y="27241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插入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080885" y="2611755"/>
              <a:ext cx="572452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321438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680835" y="3132772"/>
            <a:ext cx="4977765" cy="1642110"/>
            <a:chOff x="6680835" y="3132772"/>
            <a:chExt cx="4977765" cy="1642110"/>
          </a:xfrm>
        </p:grpSpPr>
        <p:sp>
          <p:nvSpPr>
            <p:cNvPr id="48" name="Rectangle 48"/>
            <p:cNvSpPr/>
            <p:nvPr/>
          </p:nvSpPr>
          <p:spPr>
            <a:xfrm>
              <a:off x="6680835" y="3132772"/>
              <a:ext cx="4977765" cy="1642110"/>
            </a:xfrm>
            <a:prstGeom prst="roundRect">
              <a:avLst>
                <a:gd name="adj" fmla="val 812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861810" y="331374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43280" y="334660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更好的方案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02118" y="335327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返回更多信息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862762" y="365855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14669" y="36941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132511" y="3669506"/>
              <a:ext cx="21177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大于等于 K 的第一个位置。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862762" y="394335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14669" y="397897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132511" y="3955256"/>
              <a:ext cx="22900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小于等于 K 的最后一个位置。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56476" y="4235768"/>
              <a:ext cx="428453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7 插在“第一个 ≥ 7 的位置”前面，就是 R[8] 之前；有重复关键词时这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两个位置也能圈出相等元素的整个区间。</a:t>
              </a:r>
            </a:p>
          </p:txBody>
        </p:sp>
      </p:grpSp>
      <p:grpSp>
        <p:nvGrpSpPr>
          <p:cNvPr id="66" name="c2-callout-3"/>
          <p:cNvGrpSpPr/>
          <p:nvPr/>
        </p:nvGrpSpPr>
        <p:grpSpPr>
          <a:xfrm>
            <a:off x="6680835" y="4939665"/>
            <a:ext cx="4977765" cy="754380"/>
            <a:chOff x="6680835" y="4939665"/>
            <a:chExt cx="4977765" cy="754380"/>
          </a:xfrm>
        </p:grpSpPr>
        <p:sp>
          <p:nvSpPr>
            <p:cNvPr id="60" name="Rectangle 60"/>
            <p:cNvSpPr/>
            <p:nvPr/>
          </p:nvSpPr>
          <p:spPr>
            <a:xfrm>
              <a:off x="6680835" y="4939665"/>
              <a:ext cx="4977765" cy="754380"/>
            </a:xfrm>
            <a:prstGeom prst="roundRect">
              <a:avLst>
                <a:gd name="adj" fmla="val 1515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885623" y="5216843"/>
              <a:ext cx="200026" cy="200025"/>
              <a:chOff x="6885623" y="5216843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885623" y="52168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925361" y="52612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960077" y="53724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7188708" y="5110639"/>
              <a:ext cx="41094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C++ 标准库的 lower_bound 与 upper_bound 就是这两个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函数，Python 的 bisect 模块同理。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7" name="Rectangle 6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1273" y="6039326"/>
              <a:ext cx="73044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表里有重复关键词时，传统对半查找返回的是“某一个”等于 K 的位置，具体是哪一个不受控制。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91535" cy="909257"/>
            <a:chOff x="520446" y="342900"/>
            <a:chExt cx="86915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再谈对半查找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915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循环结束时：low 的左边全小于 K，high 的右边全大于 K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956516" cy="264033"/>
            <a:chOff x="526542" y="1545907"/>
            <a:chExt cx="595651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956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54 页。把这条不变式看清楚，两个边界函数就是顺手写出来的。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951220" cy="1912620"/>
            <a:chOff x="533400" y="1928812"/>
            <a:chExt cx="5951220" cy="191262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951220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给对半查找加上不变式注释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4011295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low = 1, high = n, mid;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(low &lt;= high)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mid = (low + high) / 2;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&lt; R[mid])       high = mid - 1;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右边都 &gt; K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&gt; R[mid])  low  = mid + 1;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左边都 &lt; K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mid;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-1;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此时 high = low - 1 */</a:t>
              </a:r>
            </a:p>
          </p:txBody>
        </p:sp>
      </p:grpSp>
      <p:grpSp>
        <p:nvGrpSpPr>
          <p:cNvPr id="37" name="c1-table-2"/>
          <p:cNvGrpSpPr/>
          <p:nvPr/>
        </p:nvGrpSpPr>
        <p:grpSpPr>
          <a:xfrm>
            <a:off x="533400" y="4010978"/>
            <a:ext cx="5951220" cy="1600200"/>
            <a:chOff x="533400" y="4010978"/>
            <a:chExt cx="5951220" cy="1600200"/>
          </a:xfrm>
        </p:grpSpPr>
        <p:sp>
          <p:nvSpPr>
            <p:cNvPr id="13" name="Rectangle 13"/>
            <p:cNvSpPr/>
            <p:nvPr/>
          </p:nvSpPr>
          <p:spPr>
            <a:xfrm>
              <a:off x="533400" y="4010978"/>
              <a:ext cx="595122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31278" y="41324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69135" y="4132421"/>
              <a:ext cx="9747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R[1..low−1]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56114" y="41324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待查区间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57144" y="4132421"/>
              <a:ext cx="10262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R[high+1..n]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0555" y="453247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40243" y="453247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68040" y="4532471"/>
              <a:ext cx="6083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R[1..n]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53025" y="453247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80631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4811078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0555" y="493252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执行过程中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40243" y="4932521"/>
              <a:ext cx="433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 &lt; 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68040" y="4932521"/>
              <a:ext cx="9680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R[low..high]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53025" y="4932521"/>
              <a:ext cx="433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 &gt; K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20636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533257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失败结束后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40243" y="5332571"/>
              <a:ext cx="433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 &lt; 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68040" y="533257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53025" y="5332571"/>
              <a:ext cx="433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 &gt; K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010978"/>
              <a:ext cx="595122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838325" y="401097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266122" y="401097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051108" y="401097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2-card-1"/>
          <p:cNvGrpSpPr/>
          <p:nvPr/>
        </p:nvGrpSpPr>
        <p:grpSpPr>
          <a:xfrm>
            <a:off x="6789420" y="1928812"/>
            <a:ext cx="4869180" cy="1927860"/>
            <a:chOff x="6789420" y="1928812"/>
            <a:chExt cx="4869180" cy="1927860"/>
          </a:xfrm>
        </p:grpSpPr>
        <p:sp>
          <p:nvSpPr>
            <p:cNvPr id="38" name="Rectangle 38"/>
            <p:cNvSpPr/>
            <p:nvPr/>
          </p:nvSpPr>
          <p:spPr>
            <a:xfrm>
              <a:off x="6789420" y="1928812"/>
              <a:ext cx="4869180" cy="1927860"/>
            </a:xfrm>
            <a:prstGeom prst="roundRect">
              <a:avLst>
                <a:gd name="adj" fmla="val 691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976110" y="211550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64731" y="214836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不变式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66482" y="215074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每一次缩区间都在维护这两句话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69252" y="2476500"/>
              <a:ext cx="421424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&gt; R[mid] 时把 low 移到 mid+1，于是 R[mid] 及其左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边都已确认 &lt; K；K &lt; R[mid] 时把 high 移到 mid−1，于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 R[mid] 及其右边都已确认 &gt; K。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70395" y="3287554"/>
              <a:ext cx="42359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循环退出时区间为空且 high = low − 1，两段断言把整张表铺满，中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间没有缝隙。</a:t>
              </a:r>
            </a:p>
          </p:txBody>
        </p:sp>
      </p:grpSp>
      <p:grpSp>
        <p:nvGrpSpPr>
          <p:cNvPr id="50" name="c2-callout-2"/>
          <p:cNvGrpSpPr/>
          <p:nvPr/>
        </p:nvGrpSpPr>
        <p:grpSpPr>
          <a:xfrm>
            <a:off x="6789420" y="4027170"/>
            <a:ext cx="4869180" cy="1584960"/>
            <a:chOff x="6789420" y="4027170"/>
            <a:chExt cx="4869180" cy="1584960"/>
          </a:xfrm>
        </p:grpSpPr>
        <p:sp>
          <p:nvSpPr>
            <p:cNvPr id="45" name="Rectangle 45"/>
            <p:cNvSpPr/>
            <p:nvPr/>
          </p:nvSpPr>
          <p:spPr>
            <a:xfrm>
              <a:off x="6789420" y="4027170"/>
              <a:ext cx="4869180" cy="1584960"/>
            </a:xfrm>
            <a:prstGeom prst="roundRect">
              <a:avLst>
                <a:gd name="adj" fmla="val 721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994208" y="4718685"/>
              <a:ext cx="200026" cy="200026"/>
              <a:chOff x="6994208" y="4718685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994208" y="47186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060883" y="479647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7296912" y="4475798"/>
              <a:ext cx="397421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失败时 low 正好是“第一个 &gt; K 的位置”，high 正好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是“最后一个 &lt; K 的位置”。把判断里的等号挪一挪，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就能改成带等号的版本。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1" name="Rectangle 5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892" y="6028373"/>
              <a:ext cx="82100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不变式只在“每轮都真正缩小区间”的前提下成立。把 high = mid − 1 写成 high = mid，断言立刻失效。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再谈对半查找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两个边界函数：只差一个等号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991922" cy="293370"/>
            <a:chOff x="525780" y="1548765"/>
            <a:chExt cx="6991922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9919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都去掉了“相等就返回”的分支，让循环一直跑到区间为空，再读 low 或 high。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54530"/>
            <a:ext cx="5410200" cy="2776538"/>
            <a:chOff x="533400" y="1954530"/>
            <a:chExt cx="5410200" cy="277653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2776538"/>
            </a:xfrm>
            <a:prstGeom prst="roundRect">
              <a:avLst>
                <a:gd name="adj" fmla="val 343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14975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大于等于 K 的第一个位置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274695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416" y="2367915"/>
              <a:ext cx="3457766" cy="2290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BinSearchFirstPosGEK(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low = 1, high = n;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(low &lt;= high)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mid = (low + high) / 2;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&lt;= R[mid])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high = mid - 1;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low = mid + 1;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low;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911090"/>
            <a:ext cx="5410200" cy="756285"/>
            <a:chOff x="533400" y="4911090"/>
            <a:chExt cx="5410200" cy="756285"/>
          </a:xfrm>
        </p:grpSpPr>
        <p:sp>
          <p:nvSpPr>
            <p:cNvPr id="14" name="Rectangle 14"/>
            <p:cNvSpPr/>
            <p:nvPr/>
          </p:nvSpPr>
          <p:spPr>
            <a:xfrm>
              <a:off x="533400" y="491109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5189220"/>
              <a:ext cx="200026" cy="200026"/>
              <a:chOff x="738188" y="5189220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51892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04863" y="526700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511" y="5058251"/>
              <a:ext cx="450494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K 与 R[mid] 相等时仍然往左缩，所以 low 最终停在第一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个 ≥ K 的位置上。</a:t>
              </a:r>
            </a:p>
          </p:txBody>
        </p:sp>
      </p:grpSp>
      <p:grpSp>
        <p:nvGrpSpPr>
          <p:cNvPr id="24" name="c2-code-1"/>
          <p:cNvGrpSpPr/>
          <p:nvPr/>
        </p:nvGrpSpPr>
        <p:grpSpPr>
          <a:xfrm>
            <a:off x="6248400" y="1954530"/>
            <a:ext cx="5410200" cy="2776538"/>
            <a:chOff x="6248400" y="1954530"/>
            <a:chExt cx="5410200" cy="2776538"/>
          </a:xfrm>
        </p:grpSpPr>
        <p:sp>
          <p:nvSpPr>
            <p:cNvPr id="20" name="Rectangle 20"/>
            <p:cNvSpPr/>
            <p:nvPr/>
          </p:nvSpPr>
          <p:spPr>
            <a:xfrm>
              <a:off x="6248400" y="1954530"/>
              <a:ext cx="5410200" cy="2776538"/>
            </a:xfrm>
            <a:prstGeom prst="roundRect">
              <a:avLst>
                <a:gd name="adj" fmla="val 343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797" y="2106454"/>
              <a:ext cx="16294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小于等于 K 的最后一个位置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67450" y="3274695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416" y="2367915"/>
              <a:ext cx="3384423" cy="2290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BinSearchLastPosLEK(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low = 1, high = n;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(low &lt;= high)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mid = (low + high) / 2;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&lt; R[mid])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high = mid - 1;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low = mid + 1;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high;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0" name="c2-callout-2"/>
          <p:cNvGrpSpPr/>
          <p:nvPr/>
        </p:nvGrpSpPr>
        <p:grpSpPr>
          <a:xfrm>
            <a:off x="6248400" y="4911090"/>
            <a:ext cx="5410200" cy="756285"/>
            <a:chOff x="6248400" y="4911090"/>
            <a:chExt cx="5410200" cy="756285"/>
          </a:xfrm>
        </p:grpSpPr>
        <p:sp>
          <p:nvSpPr>
            <p:cNvPr id="25" name="Rectangle 25"/>
            <p:cNvSpPr/>
            <p:nvPr/>
          </p:nvSpPr>
          <p:spPr>
            <a:xfrm>
              <a:off x="6248400" y="491109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453188" y="5189220"/>
              <a:ext cx="200026" cy="200026"/>
              <a:chOff x="6453188" y="5189220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453188" y="51892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519863" y="526700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755511" y="5058251"/>
              <a:ext cx="444182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相等时往右缩，所以 high 最终停在最后一个 ≤ K 的位置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上。两段代码只差 if 里的那个等号和最后返回谁。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1" name="Rectangle 31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511" y="6011704"/>
              <a:ext cx="81101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记法：要“第一个”就把相等推向左边并返回 low，要“最后一个”就把相等推向右边并返回 high。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再谈对半查找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课下思考：不存在这样的位置时，函数返回什么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066005" cy="264033"/>
            <a:chOff x="526542" y="1545907"/>
            <a:chExt cx="506600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0660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55、56 页留的两问。答案就藏在上一页的不变式里。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28812"/>
            <a:ext cx="5410200" cy="1803082"/>
            <a:chOff x="533400" y="1928812"/>
            <a:chExt cx="5410200" cy="180308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803082"/>
            </a:xfrm>
            <a:prstGeom prst="roundRect">
              <a:avLst>
                <a:gd name="adj" fmla="val 73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5363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6811" y="214836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48562" y="2150745"/>
              <a:ext cx="2999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不存在 ≥ K 的元素时，GEK 返回 n+1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46943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比表中所有元素都大时，每一轮都走 else 分支，low 一路加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n+1，high 停在 n。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308991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3033712"/>
              <a:ext cx="44841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所以调用方用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返回值 &gt; 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判断“表里没有 ≥ K 的元素”。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338994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3333750"/>
              <a:ext cx="4511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反过来，K 比所有元素都小时返回 1，表示插入到表头。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901440"/>
            <a:ext cx="5410200" cy="1803082"/>
            <a:chOff x="533400" y="3901440"/>
            <a:chExt cx="5410200" cy="1803082"/>
          </a:xfrm>
        </p:grpSpPr>
        <p:sp>
          <p:nvSpPr>
            <p:cNvPr id="20" name="Rectangle 20"/>
            <p:cNvSpPr/>
            <p:nvPr/>
          </p:nvSpPr>
          <p:spPr>
            <a:xfrm>
              <a:off x="533400" y="3901440"/>
              <a:ext cx="5410200" cy="1803082"/>
            </a:xfrm>
            <a:prstGeom prst="roundRect">
              <a:avLst>
                <a:gd name="adj" fmla="val 73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034790"/>
              <a:ext cx="47625" cy="15363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8190" y="408813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6811" y="412099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48562" y="4123372"/>
              <a:ext cx="27897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不存在 ≤ K 的元素时，LEK 返回 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1332" y="4449128"/>
              <a:ext cx="47800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比表中所有元素都小时，每一轮都走 high = mid − 1，high 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路减到 0。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66762" y="50625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22782" y="5006340"/>
              <a:ext cx="44841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所以调用方用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返回值 &lt; 1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判断“表里没有 ≤ K 的元素”。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66762" y="536257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2782" y="5306378"/>
              <a:ext cx="4884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返回值恰好落在有效下标 1..n 之外，不会和正常结果混淆。</a:t>
              </a:r>
            </a:p>
          </p:txBody>
        </p:sp>
      </p:grpSp>
      <p:grpSp>
        <p:nvGrpSpPr>
          <p:cNvPr id="64" name="c2-table-1"/>
          <p:cNvGrpSpPr/>
          <p:nvPr/>
        </p:nvGrpSpPr>
        <p:grpSpPr>
          <a:xfrm>
            <a:off x="6243447" y="1928812"/>
            <a:ext cx="5415153" cy="2463832"/>
            <a:chOff x="6243447" y="1928812"/>
            <a:chExt cx="5415153" cy="2463832"/>
          </a:xfrm>
        </p:grpSpPr>
        <p:sp>
          <p:nvSpPr>
            <p:cNvPr id="31" name="Rectangle 31"/>
            <p:cNvSpPr/>
            <p:nvPr/>
          </p:nvSpPr>
          <p:spPr>
            <a:xfrm>
              <a:off x="6248400" y="1928812"/>
              <a:ext cx="5410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21487" y="20502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03015" y="2050256"/>
              <a:ext cx="5634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GEK(K)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76470" y="2050256"/>
              <a:ext cx="5634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LEK(K)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095268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45555" y="2450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95160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68615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42070" y="2450306"/>
              <a:ext cx="19111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相等元素占据 R[3] 到 R[6]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27241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2728912"/>
              <a:ext cx="541020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5555" y="29503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95160" y="29503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68615" y="29503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942070" y="2850356"/>
              <a:ext cx="245795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表中没有 7，两者交错，7 应插在 R[7]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之前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33242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5555" y="345043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907530" y="3338512"/>
              <a:ext cx="95440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95160" y="34504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68615" y="34504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42070" y="3450431"/>
              <a:ext cx="2364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比最大值还大，GEK 返回 n+1 = 9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37242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48400" y="3729038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45555" y="3850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95160" y="38504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880985" y="3738562"/>
              <a:ext cx="95440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968615" y="38504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942070" y="3850481"/>
              <a:ext cx="1942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比最小值还小，LEK 返回 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1928812"/>
              <a:ext cx="5410200" cy="2200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893242" y="1928812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866698" y="1928812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840152" y="1928812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243447" y="4201954"/>
              <a:ext cx="27993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 = 2 3 6 6 6 6 8 10，下标 1 到 8，C 程序实测</a:t>
              </a:r>
            </a:p>
          </p:txBody>
        </p:sp>
      </p:grpSp>
      <p:grpSp>
        <p:nvGrpSpPr>
          <p:cNvPr id="70" name="c2-callout-2"/>
          <p:cNvGrpSpPr/>
          <p:nvPr/>
        </p:nvGrpSpPr>
        <p:grpSpPr>
          <a:xfrm>
            <a:off x="6248400" y="4524375"/>
            <a:ext cx="5410200" cy="1180148"/>
            <a:chOff x="6248400" y="4524375"/>
            <a:chExt cx="5410200" cy="1180148"/>
          </a:xfrm>
        </p:grpSpPr>
        <p:sp>
          <p:nvSpPr>
            <p:cNvPr id="65" name="Rectangle 65"/>
            <p:cNvSpPr/>
            <p:nvPr/>
          </p:nvSpPr>
          <p:spPr>
            <a:xfrm>
              <a:off x="6248400" y="4524375"/>
              <a:ext cx="5410200" cy="1180148"/>
            </a:xfrm>
            <a:prstGeom prst="roundRect">
              <a:avLst>
                <a:gd name="adj" fmla="val 968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6453188" y="5013962"/>
              <a:ext cx="200023" cy="200023"/>
              <a:chOff x="6453188" y="5013962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453188" y="50139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586538" y="50806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755892" y="4895850"/>
              <a:ext cx="440283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GEK(K) 与 LEK(K) 之差正好是等于 K 的元素个数：K=6 时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6 − 3 + 1 = 4 个，K=7 时 6 − 7 + 1 = 0 个。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1" name="Rectangle 7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0892" y="6028373"/>
              <a:ext cx="8963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两个函数都不做“是否等于 K”的判断，所以返回值只说明位置。要确认 K 在不在表里，还得再取一次元素比较。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18070" cy="909257"/>
            <a:chOff x="520446" y="342900"/>
            <a:chExt cx="86180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再谈对半查找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180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例题：第一个/最后一个等于 K 的位置（LeetCode 34）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099023" cy="264033"/>
            <a:chOff x="526542" y="1545907"/>
            <a:chExt cx="909902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0990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给定有序整型数组 R 和整数 K，找出 K 在数组中的开始位置和结束位置，K 不在 R 中则返回 −1。下标从 0 开始。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28812"/>
            <a:ext cx="5410200" cy="2616518"/>
            <a:chOff x="533400" y="1928812"/>
            <a:chExt cx="5410200" cy="261651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2336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第一个等于 K 的位置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10940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340769"/>
              <a:ext cx="3812159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LeftBound(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low = 0, high = n - 1;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(low &lt;= high) {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先找 ≥K 的第一个位置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mid = (low + high) / 2;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&lt;= R[mid]) high = mid - 1;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low  = mid + 1;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    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此时 low 为该位置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(low &lt; n &amp;&amp; R[low] == K)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low;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714875"/>
            <a:ext cx="5410200" cy="978218"/>
            <a:chOff x="533400" y="4714875"/>
            <a:chExt cx="5410200" cy="978218"/>
          </a:xfrm>
        </p:grpSpPr>
        <p:sp>
          <p:nvSpPr>
            <p:cNvPr id="14" name="Rectangle 14"/>
            <p:cNvSpPr/>
            <p:nvPr/>
          </p:nvSpPr>
          <p:spPr>
            <a:xfrm>
              <a:off x="533400" y="4714875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5103495"/>
              <a:ext cx="200026" cy="200026"/>
              <a:chOff x="738188" y="5103495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51034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04863" y="518128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892" y="4860608"/>
              <a:ext cx="438569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循环退出时 low 是第一个 ≥ K 的位置，只有 R[low] 真的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等于 K 才算找到。K 比所有元素都大时 low = n，守卫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low</a:t>
              </a:r>
              <a:br/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&lt; n</a:t>
              </a: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 靠 &amp;&amp; 的短路求值挡住越界。</a:t>
              </a:r>
            </a:p>
          </p:txBody>
        </p:sp>
      </p:grpSp>
      <p:grpSp>
        <p:nvGrpSpPr>
          <p:cNvPr id="24" name="c2-code-1"/>
          <p:cNvGrpSpPr/>
          <p:nvPr/>
        </p:nvGrpSpPr>
        <p:grpSpPr>
          <a:xfrm>
            <a:off x="6248400" y="1928812"/>
            <a:ext cx="5410200" cy="2616518"/>
            <a:chOff x="6248400" y="1928812"/>
            <a:chExt cx="5410200" cy="2616518"/>
          </a:xfrm>
        </p:grpSpPr>
        <p:sp>
          <p:nvSpPr>
            <p:cNvPr id="20" name="Rectangle 20"/>
            <p:cNvSpPr/>
            <p:nvPr/>
          </p:nvSpPr>
          <p:spPr>
            <a:xfrm>
              <a:off x="6248400" y="1928812"/>
              <a:ext cx="5410200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797" y="2080736"/>
              <a:ext cx="13655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最后一个等于 K 的位置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67450" y="3710940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797" y="2340769"/>
              <a:ext cx="3936619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RightBound(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low = 0, high = n - 1;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(low &lt;= high) {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先找 ≤K 的最后一个位置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mid = (low + high) / 2;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&lt; R[mid]) high = mid - 1;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low  = mid + 1;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    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此时 high 为该位置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(high &gt;= 0 &amp;&amp; R[high] == K)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high;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0" name="c2-callout-2"/>
          <p:cNvGrpSpPr/>
          <p:nvPr/>
        </p:nvGrpSpPr>
        <p:grpSpPr>
          <a:xfrm>
            <a:off x="6248400" y="4714875"/>
            <a:ext cx="5410200" cy="978218"/>
            <a:chOff x="6248400" y="4714875"/>
            <a:chExt cx="5410200" cy="978218"/>
          </a:xfrm>
        </p:grpSpPr>
        <p:sp>
          <p:nvSpPr>
            <p:cNvPr id="25" name="Rectangle 25"/>
            <p:cNvSpPr/>
            <p:nvPr/>
          </p:nvSpPr>
          <p:spPr>
            <a:xfrm>
              <a:off x="6248400" y="4714875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453188" y="5103495"/>
              <a:ext cx="200026" cy="200026"/>
              <a:chOff x="6453188" y="5103495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453188" y="51034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519863" y="518128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755892" y="4860608"/>
              <a:ext cx="449713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循环退出时 high 是最后一个 ≤ K 的位置，同样要再验一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次。K 比所有元素都小时 high = −1，守卫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high &gt;= 0</a:t>
              </a: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 同理不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能省。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1" name="Rectangle 3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892" y="6028373"/>
              <a:ext cx="73464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策略是两步：先用边界二分定位，再取一次元素验证是否真的等于 K。两次都是 O(log n)。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88547" cy="909257"/>
            <a:chOff x="520446" y="342900"/>
            <a:chExt cx="56885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再谈对半查找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885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LeetCode 34 的执行过程与边界情形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4136708" cy="293370"/>
            <a:chOff x="525780" y="1548765"/>
            <a:chExt cx="4136708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1367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数组 2 3 6 6 6 6 8 10，下标 0 到 7，查 K=6。</a:t>
              </a:r>
            </a:p>
          </p:txBody>
        </p:sp>
      </p:grpSp>
      <p:grpSp>
        <p:nvGrpSpPr>
          <p:cNvPr id="38" name="c1-cells-1"/>
          <p:cNvGrpSpPr/>
          <p:nvPr/>
        </p:nvGrpSpPr>
        <p:grpSpPr>
          <a:xfrm>
            <a:off x="527304" y="1954530"/>
            <a:ext cx="5632513" cy="927449"/>
            <a:chOff x="527304" y="1954530"/>
            <a:chExt cx="5632513" cy="927449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207645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54380" y="1954530"/>
              <a:ext cx="67532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9776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430655" y="1954530"/>
              <a:ext cx="67532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15098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105978" y="1954530"/>
              <a:ext cx="675322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391373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781300" y="1954530"/>
              <a:ext cx="675322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66696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457575" y="1954530"/>
              <a:ext cx="675322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742018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132898" y="1954530"/>
              <a:ext cx="675322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18293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809172" y="1954530"/>
              <a:ext cx="67532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093616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484495" y="1954530"/>
              <a:ext cx="67532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723245" y="20764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4437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29759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06034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81357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56679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32954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08277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84552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2406015" y="255841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307234" y="26912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开始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4432935" y="255841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334154" y="26912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</p:grpSp>
      <p:grpSp>
        <p:nvGrpSpPr>
          <p:cNvPr id="83" name="c1-table-2"/>
          <p:cNvGrpSpPr/>
          <p:nvPr/>
        </p:nvGrpSpPr>
        <p:grpSpPr>
          <a:xfrm>
            <a:off x="528066" y="3031808"/>
            <a:ext cx="5631752" cy="2615184"/>
            <a:chOff x="528066" y="3031808"/>
            <a:chExt cx="5631752" cy="2615184"/>
          </a:xfrm>
        </p:grpSpPr>
        <p:sp>
          <p:nvSpPr>
            <p:cNvPr id="39" name="Rectangle 39"/>
            <p:cNvSpPr/>
            <p:nvPr/>
          </p:nvSpPr>
          <p:spPr>
            <a:xfrm>
              <a:off x="533400" y="3031808"/>
              <a:ext cx="5626418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7520" y="316039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20295" y="3160395"/>
              <a:ext cx="283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low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049753" y="3160395"/>
              <a:ext cx="342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high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839532" y="3160395"/>
              <a:ext cx="283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511034" y="3160395"/>
              <a:ext cx="5712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R[mid]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35867" y="316039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5889" y="35852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98816" y="35852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930337" y="35852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718054" y="35852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449574" y="35852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349686" y="3585210"/>
              <a:ext cx="11268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≤ 6，high = 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38757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3400" y="3880485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5889" y="400907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98816" y="400907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930337" y="400907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718054" y="400907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449574" y="400907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349686" y="4009072"/>
              <a:ext cx="1070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&gt; 3，low = 2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33400" y="43005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5889" y="44338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98816" y="443388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930337" y="443388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718054" y="443388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449574" y="443388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349686" y="4433888"/>
              <a:ext cx="11268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≤ 6，high = 1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33400" y="472535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33400" y="4730115"/>
              <a:ext cx="5626418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35889" y="496443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98816" y="496443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930337" y="496443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718054" y="496443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449574" y="496443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4256722" y="4739640"/>
              <a:ext cx="1893570" cy="61912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4349686" y="4857750"/>
              <a:ext cx="15819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low=2，且 R[2]=6，返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 2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33400" y="3031808"/>
              <a:ext cx="5626418" cy="2335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1091565" y="3031808"/>
              <a:ext cx="9525" cy="2335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1823085" y="3031808"/>
              <a:ext cx="9525" cy="2335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2610802" y="3031808"/>
              <a:ext cx="9525" cy="2335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3342322" y="3031808"/>
              <a:ext cx="9525" cy="2335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4242435" y="3031808"/>
              <a:ext cx="9525" cy="2335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28066" y="5441633"/>
              <a:ext cx="30758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LeftBound 的逐轮状态（K ≤ R[mid] 就往左缩）</a:t>
              </a:r>
            </a:p>
          </p:txBody>
        </p:sp>
      </p:grpSp>
      <p:grpSp>
        <p:nvGrpSpPr>
          <p:cNvPr id="111" name="c2-table-1"/>
          <p:cNvGrpSpPr/>
          <p:nvPr/>
        </p:nvGrpSpPr>
        <p:grpSpPr>
          <a:xfrm>
            <a:off x="6459284" y="1954530"/>
            <a:ext cx="5199316" cy="1977961"/>
            <a:chOff x="6459284" y="1954530"/>
            <a:chExt cx="5199316" cy="1977961"/>
          </a:xfrm>
        </p:grpSpPr>
        <p:sp>
          <p:nvSpPr>
            <p:cNvPr id="84" name="Rectangle 84"/>
            <p:cNvSpPr/>
            <p:nvPr/>
          </p:nvSpPr>
          <p:spPr>
            <a:xfrm>
              <a:off x="6464618" y="1954530"/>
              <a:ext cx="5193982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720703" y="208311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227863" y="2083118"/>
              <a:ext cx="8623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LeftBound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345660" y="2083118"/>
              <a:ext cx="9127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RightBound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347960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567106" y="25069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7098030" y="2388870"/>
              <a:ext cx="1123950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190994" y="25069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8240078" y="2388870"/>
              <a:ext cx="1123950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333042" y="25069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476042" y="2506980"/>
              <a:ext cx="15710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 [2, 5] 共 4 个 6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6464618" y="27984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6464618" y="2803208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567106" y="29317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190994" y="29317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333042" y="29317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476042" y="293179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只有一个，首尾重合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6464618" y="322326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567106" y="33566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190994" y="33566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333042" y="33566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9476042" y="3356610"/>
              <a:ext cx="795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表中没有 7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6464618" y="1954530"/>
              <a:ext cx="5193982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7083742" y="195453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8225790" y="195453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9368790" y="195453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6459284" y="3727132"/>
              <a:ext cx="9857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 程序实测结果</a:t>
              </a:r>
            </a:p>
          </p:txBody>
        </p:sp>
      </p:grpSp>
      <p:grpSp>
        <p:nvGrpSpPr>
          <p:cNvPr id="118" name="c2-card-2"/>
          <p:cNvGrpSpPr/>
          <p:nvPr/>
        </p:nvGrpSpPr>
        <p:grpSpPr>
          <a:xfrm>
            <a:off x="6464618" y="4070985"/>
            <a:ext cx="5193982" cy="1540192"/>
            <a:chOff x="6464618" y="4070985"/>
            <a:chExt cx="5193982" cy="1540192"/>
          </a:xfrm>
        </p:grpSpPr>
        <p:sp>
          <p:nvSpPr>
            <p:cNvPr id="112" name="Rectangle 112"/>
            <p:cNvSpPr/>
            <p:nvPr/>
          </p:nvSpPr>
          <p:spPr>
            <a:xfrm>
              <a:off x="6464618" y="4070985"/>
              <a:ext cx="5193982" cy="1540192"/>
            </a:xfrm>
            <a:prstGeom prst="roundRect">
              <a:avLst>
                <a:gd name="adj" fmla="val 86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6474142" y="4204335"/>
              <a:ext cx="47625" cy="12734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6700838" y="42691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6792278" y="43033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7284148" y="4303871"/>
              <a:ext cx="13115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57 页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6693598" y="4647724"/>
              <a:ext cx="454101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题面写“数组下标从0开始”，配图却把下标标成 1 到 8，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与第 58、59 页的 0 基代码不一致。本讲义统一按 0 基，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K=6 的答案是 2 和 5。</a:t>
              </a:r>
            </a:p>
          </p:txBody>
        </p:sp>
      </p:grpSp>
      <p:grpSp>
        <p:nvGrpSpPr>
          <p:cNvPr id="124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119" name="Rectangle 119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22" name="Group 122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21" name="Freeform 121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23" name="TextBox 123"/>
            <p:cNvSpPr txBox="1"/>
            <p:nvPr/>
          </p:nvSpPr>
          <p:spPr>
            <a:xfrm>
              <a:off x="1040511" y="6011704"/>
              <a:ext cx="87218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验证那步的两个守卫不能少：low &lt; n 防止 low 落到 n，high ≥ 0 防止 high 落到 −1，否则会越界访问。</a:t>
              </a:r>
            </a:p>
          </p:txBody>
        </p:sp>
      </p:grpSp>
      <p:grpSp>
        <p:nvGrpSpPr>
          <p:cNvPr id="12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5" name="TextBox 12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90885" cy="909257"/>
            <a:chOff x="520446" y="342900"/>
            <a:chExt cx="79908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再谈对半查找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908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二分搜索答案：把“求最小可行值”变成“找第一个 1”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940671" cy="512636"/>
            <a:chOff x="526542" y="1545907"/>
            <a:chExt cx="9940671" cy="51263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94067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珂珂有 n 堆香蕉，第 i 堆 p[i] 根。每小时她挑一堆吃 s 根，不足 s 根就吃完并空等这一小时。求能在 H 小时内吃完的最小速度 s。</a:t>
              </a:r>
              <a:br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（LeetCode 875）</a:t>
              </a:r>
            </a:p>
          </p:txBody>
        </p:sp>
      </p:grpSp>
      <p:grpSp>
        <p:nvGrpSpPr>
          <p:cNvPr id="34" name="c1-cells-1"/>
          <p:cNvGrpSpPr/>
          <p:nvPr/>
        </p:nvGrpSpPr>
        <p:grpSpPr>
          <a:xfrm>
            <a:off x="528066" y="2177415"/>
            <a:ext cx="5631752" cy="571976"/>
            <a:chOff x="528066" y="2177415"/>
            <a:chExt cx="5631752" cy="571976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22898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43902" y="2177415"/>
              <a:ext cx="67722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5891" y="22898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421130" y="2177415"/>
              <a:ext cx="67722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13118" y="22898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097405" y="2177415"/>
              <a:ext cx="67722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390346" y="22898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774632" y="2177415"/>
              <a:ext cx="67722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26758" y="22898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451860" y="2177415"/>
              <a:ext cx="67722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743848" y="22898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129088" y="2177415"/>
              <a:ext cx="67722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21076" y="22898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806315" y="2177415"/>
              <a:ext cx="67722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098303" y="22898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482590" y="2177415"/>
              <a:ext cx="67722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775531" y="22898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6921" y="2587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24148" y="2587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01376" y="2587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78603" y="2587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54878" y="2587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32106" y="2587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09333" y="2587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86561" y="2587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70" name="c1-cells-2"/>
          <p:cNvGrpSpPr/>
          <p:nvPr/>
        </p:nvGrpSpPr>
        <p:grpSpPr>
          <a:xfrm>
            <a:off x="528066" y="2879408"/>
            <a:ext cx="5631751" cy="848201"/>
            <a:chOff x="528066" y="2879408"/>
            <a:chExt cx="5631751" cy="848201"/>
          </a:xfrm>
        </p:grpSpPr>
        <p:sp>
          <p:nvSpPr>
            <p:cNvPr id="35" name="TextBox 35"/>
            <p:cNvSpPr txBox="1"/>
            <p:nvPr/>
          </p:nvSpPr>
          <p:spPr>
            <a:xfrm>
              <a:off x="528066" y="29918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能否吃完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200150" y="2879408"/>
              <a:ext cx="49625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401651" y="29918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696402" y="2879408"/>
              <a:ext cx="49625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897903" y="29918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191702" y="2879408"/>
              <a:ext cx="49625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394156" y="29918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687955" y="2879408"/>
              <a:ext cx="49625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890408" y="29918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184208" y="2879408"/>
              <a:ext cx="496252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385708" y="29918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680460" y="2879408"/>
              <a:ext cx="496252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881961" y="29918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175760" y="2879408"/>
              <a:ext cx="496252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378213" y="29918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672012" y="2879408"/>
              <a:ext cx="496252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873513" y="29918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168265" y="2879408"/>
              <a:ext cx="496252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369766" y="29918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663565" y="2879408"/>
              <a:ext cx="496252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866018" y="29918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412681" y="32894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908933" y="32894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405186" y="32894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901438" y="32894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396738" y="32894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892991" y="32894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389243" y="32894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884543" y="32894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380796" y="32894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846691" y="328945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6" name="Freeform 66"/>
            <p:cNvSpPr/>
            <p:nvPr/>
          </p:nvSpPr>
          <p:spPr>
            <a:xfrm>
              <a:off x="3393758" y="343566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212252" y="3565684"/>
              <a:ext cx="4392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要找的 s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5874068" y="343566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863940" y="3565684"/>
              <a:ext cx="964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</p:grpSp>
      <p:grpSp>
        <p:nvGrpSpPr>
          <p:cNvPr id="77" name="c1-card-3"/>
          <p:cNvGrpSpPr/>
          <p:nvPr/>
        </p:nvGrpSpPr>
        <p:grpSpPr>
          <a:xfrm>
            <a:off x="533400" y="3866198"/>
            <a:ext cx="5626418" cy="1782128"/>
            <a:chOff x="533400" y="3866198"/>
            <a:chExt cx="5626418" cy="1782128"/>
          </a:xfrm>
        </p:grpSpPr>
        <p:sp>
          <p:nvSpPr>
            <p:cNvPr id="71" name="Rectangle 71"/>
            <p:cNvSpPr/>
            <p:nvPr/>
          </p:nvSpPr>
          <p:spPr>
            <a:xfrm>
              <a:off x="533400" y="3866198"/>
              <a:ext cx="5626418" cy="1782128"/>
            </a:xfrm>
            <a:prstGeom prst="roundRect">
              <a:avLst>
                <a:gd name="adj" fmla="val 748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14375" y="404717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98944" y="408003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关键一步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529906" y="408670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造出一个虚拟的有序数组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07898" y="4403884"/>
              <a:ext cx="5052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下标是速度 s（范围 1 到 m = max p[i]），元素值是“以速度 s 能否在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 小时内吃完”，0 表示不能、1 表示能。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07898" y="4931569"/>
              <a:ext cx="49141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速度越大越容易吃完，所以这个数组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单调不减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，前面一段 0 后面一段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1。要求的答案就是第一个 1 的位置。</a:t>
              </a:r>
            </a:p>
          </p:txBody>
        </p:sp>
      </p:grpSp>
      <p:grpSp>
        <p:nvGrpSpPr>
          <p:cNvPr id="81" name="c2-code-1"/>
          <p:cNvGrpSpPr/>
          <p:nvPr/>
        </p:nvGrpSpPr>
        <p:grpSpPr>
          <a:xfrm>
            <a:off x="6464618" y="2177415"/>
            <a:ext cx="5193982" cy="1737360"/>
            <a:chOff x="6464618" y="2177415"/>
            <a:chExt cx="5193982" cy="1737360"/>
          </a:xfrm>
        </p:grpSpPr>
        <p:sp>
          <p:nvSpPr>
            <p:cNvPr id="78" name="Rectangle 78"/>
            <p:cNvSpPr/>
            <p:nvPr/>
          </p:nvSpPr>
          <p:spPr>
            <a:xfrm>
              <a:off x="6464618" y="2177415"/>
              <a:ext cx="5193982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593015" y="232933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判定函数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593015" y="2589371"/>
              <a:ext cx="2953385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CanEat(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long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time =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time +=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long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)ceil(1.0 * p[i] / s);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time &lt;= H;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88" name="c2-callout-2"/>
          <p:cNvGrpSpPr/>
          <p:nvPr/>
        </p:nvGrpSpPr>
        <p:grpSpPr>
          <a:xfrm>
            <a:off x="6464618" y="4078605"/>
            <a:ext cx="5193982" cy="702945"/>
            <a:chOff x="6464618" y="4078605"/>
            <a:chExt cx="5193982" cy="702945"/>
          </a:xfrm>
        </p:grpSpPr>
        <p:sp>
          <p:nvSpPr>
            <p:cNvPr id="82" name="Rectangle 82"/>
            <p:cNvSpPr/>
            <p:nvPr/>
          </p:nvSpPr>
          <p:spPr>
            <a:xfrm>
              <a:off x="6464618" y="4078605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6657347" y="4326373"/>
              <a:ext cx="224134" cy="192560"/>
              <a:chOff x="6657347" y="4326373"/>
              <a:chExt cx="224134" cy="19256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6769418" y="439674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6657347" y="432637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6769418" y="44745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6972491" y="4223861"/>
              <a:ext cx="4273245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暴力解法逐个试 s，时间复杂度 </a:t>
              </a:r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O(nm)</a:t>
              </a: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，m = max p[i]，m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到十亿量级时不可行。</a:t>
              </a:r>
            </a:p>
          </p:txBody>
        </p:sp>
      </p:grpSp>
      <p:grpSp>
        <p:nvGrpSpPr>
          <p:cNvPr id="95" name="c2-callout-3"/>
          <p:cNvGrpSpPr/>
          <p:nvPr/>
        </p:nvGrpSpPr>
        <p:grpSpPr>
          <a:xfrm>
            <a:off x="6464618" y="4946332"/>
            <a:ext cx="5193982" cy="702945"/>
            <a:chOff x="6464618" y="4946332"/>
            <a:chExt cx="5193982" cy="702945"/>
          </a:xfrm>
        </p:grpSpPr>
        <p:sp>
          <p:nvSpPr>
            <p:cNvPr id="89" name="Rectangle 89"/>
            <p:cNvSpPr/>
            <p:nvPr/>
          </p:nvSpPr>
          <p:spPr>
            <a:xfrm>
              <a:off x="6464618" y="4946332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6669405" y="5197793"/>
              <a:ext cx="200026" cy="200026"/>
              <a:chOff x="6669405" y="5197793"/>
              <a:chExt cx="200026" cy="200026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6669405" y="51977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6769418" y="52644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6758305" y="52978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6972491" y="5091589"/>
              <a:ext cx="41257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更正：源课件第 61 页暴力解法缺右花括号，且把 CanEat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的定义写在了循环体里。</a:t>
              </a:r>
            </a:p>
          </p:txBody>
        </p:sp>
      </p:grpSp>
      <p:grpSp>
        <p:nvGrpSpPr>
          <p:cNvPr id="10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96" name="Rectangle 9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99" name="Group 99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0" name="TextBox 100"/>
            <p:cNvSpPr txBox="1"/>
            <p:nvPr/>
          </p:nvSpPr>
          <p:spPr>
            <a:xfrm>
              <a:off x="1041273" y="6039326"/>
              <a:ext cx="79566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这个数组并不真的存在，每个“元素值”都是现算的；二分搜索答案就是在这样的虚拟数组上做边界二分。</a:t>
              </a:r>
            </a:p>
          </p:txBody>
        </p:sp>
      </p:grpSp>
      <p:grpSp>
        <p:nvGrpSpPr>
          <p:cNvPr id="10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2" name="TextBox 102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再谈对半查找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二分搜索答案的代码与执行过程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576438" cy="264033"/>
            <a:chOff x="526542" y="1545907"/>
            <a:chExt cx="757643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5764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 BinSearchFirstPosGEK 里的 “K ≤ R[mid]” 换成 “CanEat(mid)”，其余一个字都不用改。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28812"/>
            <a:ext cx="6059805" cy="2791778"/>
            <a:chOff x="533400" y="1928812"/>
            <a:chExt cx="6059805" cy="279177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最小吃香蕉速度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10940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340769"/>
              <a:ext cx="3693922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MinEatingSpeed(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 = -1;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m 存 max p[i]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(p[i] &gt; m) m = p[i];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low = 1, high = m;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(low &lt;= high)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mid = (low + high) / 2;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(CanEat(p, n, mid, H))  high = mid - 1;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low  = mid + 1;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low;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890135"/>
            <a:ext cx="6059805" cy="762952"/>
            <a:chOff x="533400" y="4890135"/>
            <a:chExt cx="6059805" cy="762952"/>
          </a:xfrm>
        </p:grpSpPr>
        <p:sp>
          <p:nvSpPr>
            <p:cNvPr id="14" name="Rectangle 14"/>
            <p:cNvSpPr/>
            <p:nvPr/>
          </p:nvSpPr>
          <p:spPr>
            <a:xfrm>
              <a:off x="533400" y="4890135"/>
              <a:ext cx="6059805" cy="762952"/>
            </a:xfrm>
            <a:prstGeom prst="roundRect">
              <a:avLst>
                <a:gd name="adj" fmla="val 14981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5172077"/>
              <a:ext cx="200023" cy="200023"/>
              <a:chOff x="738188" y="5172077"/>
              <a:chExt cx="200023" cy="20002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517207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71538" y="5238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892" y="5053965"/>
              <a:ext cx="5141357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时间复杂度 </a:t>
              </a:r>
              <a:r>
                <a:rPr lang="en-US" sz="135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 log m)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。每轮二分调用一次 CanEat，CanEat 自身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 O(n)。</a:t>
              </a:r>
            </a:p>
          </p:txBody>
        </p:sp>
      </p:grpSp>
      <p:grpSp>
        <p:nvGrpSpPr>
          <p:cNvPr id="71" name="c2-table-1"/>
          <p:cNvGrpSpPr/>
          <p:nvPr/>
        </p:nvGrpSpPr>
        <p:grpSpPr>
          <a:xfrm>
            <a:off x="6893052" y="1928812"/>
            <a:ext cx="4765548" cy="2863882"/>
            <a:chOff x="6893052" y="1928812"/>
            <a:chExt cx="4765548" cy="2863882"/>
          </a:xfrm>
        </p:grpSpPr>
        <p:sp>
          <p:nvSpPr>
            <p:cNvPr id="20" name="Rectangle 20"/>
            <p:cNvSpPr/>
            <p:nvPr/>
          </p:nvSpPr>
          <p:spPr>
            <a:xfrm>
              <a:off x="6898005" y="1928812"/>
              <a:ext cx="476059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55028" y="20502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74312" y="2050256"/>
              <a:ext cx="2647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low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37170" y="2050256"/>
              <a:ext cx="320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high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31625" y="2050256"/>
              <a:ext cx="2647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98063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740111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95160" y="2450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70458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37208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51582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70708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32708" y="2450306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可行，high = 4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898005" y="272415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98005" y="2728912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95160" y="2850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70458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37208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51582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70708" y="28503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232708" y="2850356"/>
              <a:ext cx="1112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不可行，low = 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898005" y="312420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95160" y="3250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70458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37208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851582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70708" y="32504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32708" y="3250406"/>
              <a:ext cx="1112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不可行，low = 4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898005" y="352425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898005" y="3529012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95160" y="36504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70458" y="36504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137208" y="36504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51582" y="36504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70708" y="36504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232708" y="3650456"/>
              <a:ext cx="1112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不可行，low = 5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898005" y="392430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95160" y="4050506"/>
              <a:ext cx="1536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70458" y="41505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137208" y="41505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851582" y="41505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470708" y="41505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0145078" y="3938588"/>
              <a:ext cx="1503998" cy="58102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232708" y="4150519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 5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898005" y="1928812"/>
              <a:ext cx="4760595" cy="26003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368540" y="1928812"/>
              <a:ext cx="9525" cy="26003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8035290" y="1928812"/>
              <a:ext cx="9525" cy="26003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8749665" y="1928812"/>
              <a:ext cx="9525" cy="26003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368790" y="1928812"/>
              <a:ext cx="9525" cy="26003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10130790" y="1928812"/>
              <a:ext cx="9525" cy="26003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893052" y="4602004"/>
              <a:ext cx="28738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 = 5 3 2 10 6 7 8 9，H = 15，m = 10，脚本实测</a:t>
              </a:r>
            </a:p>
          </p:txBody>
        </p:sp>
      </p:grpSp>
      <p:grpSp>
        <p:nvGrpSpPr>
          <p:cNvPr id="78" name="c2-callout-2"/>
          <p:cNvGrpSpPr/>
          <p:nvPr/>
        </p:nvGrpSpPr>
        <p:grpSpPr>
          <a:xfrm>
            <a:off x="6898005" y="4924425"/>
            <a:ext cx="4760595" cy="729615"/>
            <a:chOff x="6898005" y="4924425"/>
            <a:chExt cx="4760595" cy="729615"/>
          </a:xfrm>
        </p:grpSpPr>
        <p:sp>
          <p:nvSpPr>
            <p:cNvPr id="72" name="Rectangle 72"/>
            <p:cNvSpPr/>
            <p:nvPr/>
          </p:nvSpPr>
          <p:spPr>
            <a:xfrm>
              <a:off x="6898005" y="4924425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102793" y="5189220"/>
              <a:ext cx="200026" cy="200026"/>
              <a:chOff x="7102793" y="5189220"/>
              <a:chExt cx="200026" cy="200026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102793" y="51892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202805" y="52558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191693" y="52892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7405497" y="5070158"/>
              <a:ext cx="358844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更正：源课件第 63 页正文留着模板残句</a:t>
              </a:r>
              <a:br/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if(K&lt;=R[mid])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，K 与 R 均不存在，编译不过。</a:t>
              </a:r>
            </a:p>
          </p:txBody>
        </p:sp>
      </p:grpSp>
      <p:grpSp>
        <p:nvGrpSpPr>
          <p:cNvPr id="85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9" name="Rectangle 7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1040892" y="6028373"/>
              <a:ext cx="82554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s=5 时各堆用时 1 1 1 2 2 2 2 2 共 13 小时，s=4 时为 2 1 1 3 2 2 2 3 共 16 小时超时，答案确实是 5。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123904" cy="2997517"/>
            <a:chOff x="667512" y="1835468"/>
            <a:chExt cx="612390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第七部分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跳跃表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1139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二分用不了的链表，可以靠多层索引把查找降到期望 O(log n)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分层次、相互耦合的多个有序链表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1521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空间期望 O(n) 时间期望 O(log n)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插入时抛硬币决定长几层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跳跃表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跳跃表：给有序链表加几层快车道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866553" cy="293370"/>
            <a:chOff x="525780" y="1548765"/>
            <a:chExt cx="1086655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8665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二分查找无法应用于链表，因为链表不能按下标跳到中间。William Pugh 1989 年提出的办法是再建几条“只停大站”的链。</a:t>
              </a:r>
            </a:p>
          </p:txBody>
        </p:sp>
      </p:grpSp>
      <p:grpSp>
        <p:nvGrpSpPr>
          <p:cNvPr id="108" name="c1-graph-1"/>
          <p:cNvGrpSpPr/>
          <p:nvPr/>
        </p:nvGrpSpPr>
        <p:grpSpPr>
          <a:xfrm>
            <a:off x="608648" y="1982629"/>
            <a:ext cx="7900034" cy="2180462"/>
            <a:chOff x="608648" y="1982629"/>
            <a:chExt cx="7900034" cy="2180462"/>
          </a:xfrm>
        </p:grpSpPr>
        <p:sp>
          <p:nvSpPr>
            <p:cNvPr id="9" name="Freeform 9"/>
            <p:cNvSpPr/>
            <p:nvPr/>
          </p:nvSpPr>
          <p:spPr>
            <a:xfrm>
              <a:off x="1042988" y="2231708"/>
              <a:ext cx="6108382" cy="9525"/>
            </a:xfrm>
            <a:custGeom>
              <a:avLst/>
              <a:gdLst/>
              <a:ahLst/>
              <a:cxnLst/>
              <a:rect l="l" t="t" r="r" b="b"/>
              <a:pathLst>
                <a:path w="6108382" h="9525">
                  <a:moveTo>
                    <a:pt x="0" y="0"/>
                  </a:moveTo>
                  <a:lnTo>
                    <a:pt x="610838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7151370" y="21840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616190" y="2231708"/>
              <a:ext cx="427672" cy="9525"/>
            </a:xfrm>
            <a:custGeom>
              <a:avLst/>
              <a:gdLst/>
              <a:ahLst/>
              <a:cxnLst/>
              <a:rect l="l" t="t" r="r" b="b"/>
              <a:pathLst>
                <a:path w="427672" h="9525">
                  <a:moveTo>
                    <a:pt x="0" y="0"/>
                  </a:moveTo>
                  <a:lnTo>
                    <a:pt x="4276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043862" y="21840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042988" y="2832735"/>
              <a:ext cx="2781300" cy="9525"/>
            </a:xfrm>
            <a:custGeom>
              <a:avLst/>
              <a:gdLst/>
              <a:ahLst/>
              <a:cxnLst/>
              <a:rect l="l" t="t" r="r" b="b"/>
              <a:pathLst>
                <a:path w="2781300" h="9525">
                  <a:moveTo>
                    <a:pt x="0" y="0"/>
                  </a:moveTo>
                  <a:lnTo>
                    <a:pt x="27813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824288" y="27851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289108" y="2832735"/>
              <a:ext cx="2862262" cy="9525"/>
            </a:xfrm>
            <a:custGeom>
              <a:avLst/>
              <a:gdLst/>
              <a:ahLst/>
              <a:cxnLst/>
              <a:rect l="l" t="t" r="r" b="b"/>
              <a:pathLst>
                <a:path w="2862262" h="9525">
                  <a:moveTo>
                    <a:pt x="0" y="0"/>
                  </a:moveTo>
                  <a:lnTo>
                    <a:pt x="28622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7151370" y="27851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7616190" y="2832735"/>
              <a:ext cx="427672" cy="9525"/>
            </a:xfrm>
            <a:custGeom>
              <a:avLst/>
              <a:gdLst/>
              <a:ahLst/>
              <a:cxnLst/>
              <a:rect l="l" t="t" r="r" b="b"/>
              <a:pathLst>
                <a:path w="427672" h="9525">
                  <a:moveTo>
                    <a:pt x="0" y="0"/>
                  </a:moveTo>
                  <a:lnTo>
                    <a:pt x="4276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043862" y="27851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042988" y="3432810"/>
              <a:ext cx="1158240" cy="9525"/>
            </a:xfrm>
            <a:custGeom>
              <a:avLst/>
              <a:gdLst/>
              <a:ahLst/>
              <a:cxnLst/>
              <a:rect l="l" t="t" r="r" b="b"/>
              <a:pathLst>
                <a:path w="1158240" h="9525">
                  <a:moveTo>
                    <a:pt x="0" y="0"/>
                  </a:moveTo>
                  <a:lnTo>
                    <a:pt x="11582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201228" y="33851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666048" y="3432810"/>
              <a:ext cx="1158240" cy="9525"/>
            </a:xfrm>
            <a:custGeom>
              <a:avLst/>
              <a:gdLst/>
              <a:ahLst/>
              <a:cxnLst/>
              <a:rect l="l" t="t" r="r" b="b"/>
              <a:pathLst>
                <a:path w="1158240" h="9525">
                  <a:moveTo>
                    <a:pt x="0" y="0"/>
                  </a:moveTo>
                  <a:lnTo>
                    <a:pt x="11582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824288" y="33851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289108" y="3432810"/>
              <a:ext cx="1158240" cy="9525"/>
            </a:xfrm>
            <a:custGeom>
              <a:avLst/>
              <a:gdLst/>
              <a:ahLst/>
              <a:cxnLst/>
              <a:rect l="l" t="t" r="r" b="b"/>
              <a:pathLst>
                <a:path w="1158240" h="9525">
                  <a:moveTo>
                    <a:pt x="0" y="0"/>
                  </a:moveTo>
                  <a:lnTo>
                    <a:pt x="11582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447348" y="33851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5912168" y="3432810"/>
              <a:ext cx="1239202" cy="9525"/>
            </a:xfrm>
            <a:custGeom>
              <a:avLst/>
              <a:gdLst/>
              <a:ahLst/>
              <a:cxnLst/>
              <a:rect l="l" t="t" r="r" b="b"/>
              <a:pathLst>
                <a:path w="1239202" h="9525">
                  <a:moveTo>
                    <a:pt x="0" y="0"/>
                  </a:moveTo>
                  <a:lnTo>
                    <a:pt x="123920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151370" y="33851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7616190" y="3432810"/>
              <a:ext cx="427672" cy="9525"/>
            </a:xfrm>
            <a:custGeom>
              <a:avLst/>
              <a:gdLst/>
              <a:ahLst/>
              <a:cxnLst/>
              <a:rect l="l" t="t" r="r" b="b"/>
              <a:pathLst>
                <a:path w="427672" h="9525">
                  <a:moveTo>
                    <a:pt x="0" y="0"/>
                  </a:moveTo>
                  <a:lnTo>
                    <a:pt x="4276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043862" y="33851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042988" y="4032885"/>
              <a:ext cx="346710" cy="9525"/>
            </a:xfrm>
            <a:custGeom>
              <a:avLst/>
              <a:gdLst/>
              <a:ahLst/>
              <a:cxnLst/>
              <a:rect l="l" t="t" r="r" b="b"/>
              <a:pathLst>
                <a:path w="346710" h="9525">
                  <a:moveTo>
                    <a:pt x="0" y="0"/>
                  </a:moveTo>
                  <a:lnTo>
                    <a:pt x="3467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389698" y="39852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854518" y="4032885"/>
              <a:ext cx="346710" cy="9525"/>
            </a:xfrm>
            <a:custGeom>
              <a:avLst/>
              <a:gdLst/>
              <a:ahLst/>
              <a:cxnLst/>
              <a:rect l="l" t="t" r="r" b="b"/>
              <a:pathLst>
                <a:path w="346710" h="9525">
                  <a:moveTo>
                    <a:pt x="0" y="0"/>
                  </a:moveTo>
                  <a:lnTo>
                    <a:pt x="3467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2201228" y="39852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2666048" y="4032885"/>
              <a:ext cx="346710" cy="9525"/>
            </a:xfrm>
            <a:custGeom>
              <a:avLst/>
              <a:gdLst/>
              <a:ahLst/>
              <a:cxnLst/>
              <a:rect l="l" t="t" r="r" b="b"/>
              <a:pathLst>
                <a:path w="346710" h="9525">
                  <a:moveTo>
                    <a:pt x="0" y="0"/>
                  </a:moveTo>
                  <a:lnTo>
                    <a:pt x="3467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3012758" y="39852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3477578" y="4032885"/>
              <a:ext cx="346710" cy="9525"/>
            </a:xfrm>
            <a:custGeom>
              <a:avLst/>
              <a:gdLst/>
              <a:ahLst/>
              <a:cxnLst/>
              <a:rect l="l" t="t" r="r" b="b"/>
              <a:pathLst>
                <a:path w="346710" h="9525">
                  <a:moveTo>
                    <a:pt x="0" y="0"/>
                  </a:moveTo>
                  <a:lnTo>
                    <a:pt x="3467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3824288" y="39852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4289108" y="4032885"/>
              <a:ext cx="346710" cy="9525"/>
            </a:xfrm>
            <a:custGeom>
              <a:avLst/>
              <a:gdLst/>
              <a:ahLst/>
              <a:cxnLst/>
              <a:rect l="l" t="t" r="r" b="b"/>
              <a:pathLst>
                <a:path w="346710" h="9525">
                  <a:moveTo>
                    <a:pt x="0" y="0"/>
                  </a:moveTo>
                  <a:lnTo>
                    <a:pt x="3467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4635818" y="39852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5100638" y="4032885"/>
              <a:ext cx="346710" cy="9525"/>
            </a:xfrm>
            <a:custGeom>
              <a:avLst/>
              <a:gdLst/>
              <a:ahLst/>
              <a:cxnLst/>
              <a:rect l="l" t="t" r="r" b="b"/>
              <a:pathLst>
                <a:path w="346710" h="9525">
                  <a:moveTo>
                    <a:pt x="0" y="0"/>
                  </a:moveTo>
                  <a:lnTo>
                    <a:pt x="3467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5447348" y="39852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5912168" y="4032885"/>
              <a:ext cx="346710" cy="9525"/>
            </a:xfrm>
            <a:custGeom>
              <a:avLst/>
              <a:gdLst/>
              <a:ahLst/>
              <a:cxnLst/>
              <a:rect l="l" t="t" r="r" b="b"/>
              <a:pathLst>
                <a:path w="346710" h="9525">
                  <a:moveTo>
                    <a:pt x="0" y="0"/>
                  </a:moveTo>
                  <a:lnTo>
                    <a:pt x="3467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6258878" y="39852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6723698" y="4032885"/>
              <a:ext cx="427672" cy="9525"/>
            </a:xfrm>
            <a:custGeom>
              <a:avLst/>
              <a:gdLst/>
              <a:ahLst/>
              <a:cxnLst/>
              <a:rect l="l" t="t" r="r" b="b"/>
              <a:pathLst>
                <a:path w="427672" h="9525">
                  <a:moveTo>
                    <a:pt x="0" y="0"/>
                  </a:moveTo>
                  <a:lnTo>
                    <a:pt x="4276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151370" y="39852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7616190" y="4032885"/>
              <a:ext cx="427672" cy="9525"/>
            </a:xfrm>
            <a:custGeom>
              <a:avLst/>
              <a:gdLst/>
              <a:ahLst/>
              <a:cxnLst/>
              <a:rect l="l" t="t" r="r" b="b"/>
              <a:pathLst>
                <a:path w="427672" h="9525">
                  <a:moveTo>
                    <a:pt x="0" y="0"/>
                  </a:moveTo>
                  <a:lnTo>
                    <a:pt x="4276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043862" y="39852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858202" y="2342198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0"/>
                  </a:moveTo>
                  <a:lnTo>
                    <a:pt x="0" y="37909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48" name="Freeform 48"/>
            <p:cNvSpPr/>
            <p:nvPr/>
          </p:nvSpPr>
          <p:spPr>
            <a:xfrm>
              <a:off x="858202" y="2943225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0"/>
                  </a:moveTo>
                  <a:lnTo>
                    <a:pt x="0" y="37909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49" name="Freeform 49"/>
            <p:cNvSpPr/>
            <p:nvPr/>
          </p:nvSpPr>
          <p:spPr>
            <a:xfrm>
              <a:off x="858202" y="3543300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0"/>
                  </a:moveTo>
                  <a:lnTo>
                    <a:pt x="0" y="37909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0" name="Freeform 50"/>
            <p:cNvSpPr/>
            <p:nvPr/>
          </p:nvSpPr>
          <p:spPr>
            <a:xfrm>
              <a:off x="7431405" y="2342198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0"/>
                  </a:moveTo>
                  <a:lnTo>
                    <a:pt x="0" y="37909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1" name="Freeform 51"/>
            <p:cNvSpPr/>
            <p:nvPr/>
          </p:nvSpPr>
          <p:spPr>
            <a:xfrm>
              <a:off x="7431405" y="2943225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0"/>
                  </a:moveTo>
                  <a:lnTo>
                    <a:pt x="0" y="37909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2" name="Freeform 52"/>
            <p:cNvSpPr/>
            <p:nvPr/>
          </p:nvSpPr>
          <p:spPr>
            <a:xfrm>
              <a:off x="7431405" y="3543300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0"/>
                  </a:moveTo>
                  <a:lnTo>
                    <a:pt x="0" y="37909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3" name="Freeform 53"/>
            <p:cNvSpPr/>
            <p:nvPr/>
          </p:nvSpPr>
          <p:spPr>
            <a:xfrm>
              <a:off x="4104322" y="2943225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0"/>
                  </a:moveTo>
                  <a:lnTo>
                    <a:pt x="0" y="37909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4" name="Freeform 54"/>
            <p:cNvSpPr/>
            <p:nvPr/>
          </p:nvSpPr>
          <p:spPr>
            <a:xfrm>
              <a:off x="4104322" y="3543300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0"/>
                  </a:moveTo>
                  <a:lnTo>
                    <a:pt x="0" y="37909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5" name="Freeform 55"/>
            <p:cNvSpPr/>
            <p:nvPr/>
          </p:nvSpPr>
          <p:spPr>
            <a:xfrm>
              <a:off x="2481262" y="3543300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0"/>
                  </a:moveTo>
                  <a:lnTo>
                    <a:pt x="0" y="37909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6" name="Freeform 56"/>
            <p:cNvSpPr/>
            <p:nvPr/>
          </p:nvSpPr>
          <p:spPr>
            <a:xfrm>
              <a:off x="5727382" y="3543300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0"/>
                  </a:moveTo>
                  <a:lnTo>
                    <a:pt x="0" y="37909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7" name="Freeform 57"/>
            <p:cNvSpPr/>
            <p:nvPr/>
          </p:nvSpPr>
          <p:spPr>
            <a:xfrm>
              <a:off x="8323898" y="2342198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0"/>
                  </a:moveTo>
                  <a:lnTo>
                    <a:pt x="0" y="37909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8" name="Freeform 58"/>
            <p:cNvSpPr/>
            <p:nvPr/>
          </p:nvSpPr>
          <p:spPr>
            <a:xfrm>
              <a:off x="8323898" y="2943225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0"/>
                  </a:moveTo>
                  <a:lnTo>
                    <a:pt x="0" y="37909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9" name="Freeform 59"/>
            <p:cNvSpPr/>
            <p:nvPr/>
          </p:nvSpPr>
          <p:spPr>
            <a:xfrm>
              <a:off x="8323898" y="3543300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0"/>
                  </a:moveTo>
                  <a:lnTo>
                    <a:pt x="0" y="37909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60" name="Rectangle 60"/>
            <p:cNvSpPr/>
            <p:nvPr/>
          </p:nvSpPr>
          <p:spPr>
            <a:xfrm>
              <a:off x="673418" y="2121218"/>
              <a:ext cx="369570" cy="221932"/>
            </a:xfrm>
            <a:prstGeom prst="roundRect">
              <a:avLst>
                <a:gd name="adj" fmla="val 4291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246620" y="2121218"/>
              <a:ext cx="369570" cy="221932"/>
            </a:xfrm>
            <a:prstGeom prst="roundRect">
              <a:avLst>
                <a:gd name="adj" fmla="val 4291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8139112" y="2121218"/>
              <a:ext cx="369570" cy="221932"/>
            </a:xfrm>
            <a:prstGeom prst="roundRect">
              <a:avLst>
                <a:gd name="adj" fmla="val 4291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73418" y="2721292"/>
              <a:ext cx="369570" cy="221932"/>
            </a:xfrm>
            <a:prstGeom prst="roundRect">
              <a:avLst>
                <a:gd name="adj" fmla="val 4291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3919538" y="2721292"/>
              <a:ext cx="369570" cy="221932"/>
            </a:xfrm>
            <a:prstGeom prst="roundRect">
              <a:avLst>
                <a:gd name="adj" fmla="val 4291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246620" y="2721292"/>
              <a:ext cx="369570" cy="221932"/>
            </a:xfrm>
            <a:prstGeom prst="roundRect">
              <a:avLst>
                <a:gd name="adj" fmla="val 4291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139112" y="2721292"/>
              <a:ext cx="369570" cy="221932"/>
            </a:xfrm>
            <a:prstGeom prst="roundRect">
              <a:avLst>
                <a:gd name="adj" fmla="val 4291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73418" y="3322320"/>
              <a:ext cx="369570" cy="221932"/>
            </a:xfrm>
            <a:prstGeom prst="roundRect">
              <a:avLst>
                <a:gd name="adj" fmla="val 4291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2296478" y="3322320"/>
              <a:ext cx="369570" cy="221932"/>
            </a:xfrm>
            <a:prstGeom prst="roundRect">
              <a:avLst>
                <a:gd name="adj" fmla="val 4291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3919538" y="3322320"/>
              <a:ext cx="369570" cy="221932"/>
            </a:xfrm>
            <a:prstGeom prst="roundRect">
              <a:avLst>
                <a:gd name="adj" fmla="val 4291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5542598" y="3322320"/>
              <a:ext cx="369570" cy="221932"/>
            </a:xfrm>
            <a:prstGeom prst="roundRect">
              <a:avLst>
                <a:gd name="adj" fmla="val 4291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7246620" y="3322320"/>
              <a:ext cx="369570" cy="221932"/>
            </a:xfrm>
            <a:prstGeom prst="roundRect">
              <a:avLst>
                <a:gd name="adj" fmla="val 4291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8139112" y="3322320"/>
              <a:ext cx="369570" cy="221932"/>
            </a:xfrm>
            <a:prstGeom prst="roundRect">
              <a:avLst>
                <a:gd name="adj" fmla="val 4291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673418" y="3922395"/>
              <a:ext cx="369570" cy="221932"/>
            </a:xfrm>
            <a:prstGeom prst="roundRect">
              <a:avLst>
                <a:gd name="adj" fmla="val 4291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1484948" y="3922395"/>
              <a:ext cx="369570" cy="221932"/>
            </a:xfrm>
            <a:prstGeom prst="roundRect">
              <a:avLst>
                <a:gd name="adj" fmla="val 4291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2296478" y="3922395"/>
              <a:ext cx="369570" cy="221932"/>
            </a:xfrm>
            <a:prstGeom prst="roundRect">
              <a:avLst>
                <a:gd name="adj" fmla="val 4291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3108008" y="3922395"/>
              <a:ext cx="369570" cy="221932"/>
            </a:xfrm>
            <a:prstGeom prst="roundRect">
              <a:avLst>
                <a:gd name="adj" fmla="val 4291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3919538" y="3922395"/>
              <a:ext cx="369570" cy="221932"/>
            </a:xfrm>
            <a:prstGeom prst="roundRect">
              <a:avLst>
                <a:gd name="adj" fmla="val 4291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4731068" y="3922395"/>
              <a:ext cx="369570" cy="221932"/>
            </a:xfrm>
            <a:prstGeom prst="roundRect">
              <a:avLst>
                <a:gd name="adj" fmla="val 4291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5542598" y="3922395"/>
              <a:ext cx="369570" cy="221932"/>
            </a:xfrm>
            <a:prstGeom prst="roundRect">
              <a:avLst>
                <a:gd name="adj" fmla="val 4291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6354128" y="3922395"/>
              <a:ext cx="369570" cy="221932"/>
            </a:xfrm>
            <a:prstGeom prst="roundRect">
              <a:avLst>
                <a:gd name="adj" fmla="val 4291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7246620" y="3922395"/>
              <a:ext cx="369570" cy="221932"/>
            </a:xfrm>
            <a:prstGeom prst="roundRect">
              <a:avLst>
                <a:gd name="adj" fmla="val 4291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8139112" y="3922395"/>
              <a:ext cx="369570" cy="221932"/>
            </a:xfrm>
            <a:prstGeom prst="roundRect">
              <a:avLst>
                <a:gd name="adj" fmla="val 4291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77061" y="217122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-∞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350264" y="217122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242756" y="217122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+∞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77061" y="277129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-∞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4061275" y="27712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350264" y="277129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242756" y="277129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+∞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77061" y="337232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-∞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2438215" y="337232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4061275" y="337232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646241" y="337232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350264" y="337232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242756" y="337232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+∞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77061" y="39724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-∞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626685" y="39724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2438215" y="39724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3249745" y="39724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4061275" y="39724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4834711" y="39724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5646241" y="39724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457771" y="39724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350264" y="39724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242756" y="39724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+∞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08648" y="1982629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第3层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608648" y="3635216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第0层</a:t>
              </a:r>
            </a:p>
          </p:txBody>
        </p:sp>
      </p:grpSp>
      <p:grpSp>
        <p:nvGrpSpPr>
          <p:cNvPr id="115" name="c1-bullets-2"/>
          <p:cNvGrpSpPr/>
          <p:nvPr/>
        </p:nvGrpSpPr>
        <p:grpSpPr>
          <a:xfrm>
            <a:off x="533400" y="4469130"/>
            <a:ext cx="5590832" cy="815721"/>
            <a:chOff x="533400" y="4469130"/>
            <a:chExt cx="5590832" cy="815721"/>
          </a:xfrm>
        </p:grpSpPr>
        <p:sp>
          <p:nvSpPr>
            <p:cNvPr id="109" name="Freeform 109"/>
            <p:cNvSpPr/>
            <p:nvPr/>
          </p:nvSpPr>
          <p:spPr>
            <a:xfrm>
              <a:off x="533400" y="4494848"/>
              <a:ext cx="115252" cy="93345"/>
            </a:xfrm>
            <a:custGeom>
              <a:avLst/>
              <a:gdLst/>
              <a:ahLst/>
              <a:cxnLst/>
              <a:rect l="l" t="t" r="r" b="b"/>
              <a:pathLst>
                <a:path w="115252" h="93345">
                  <a:moveTo>
                    <a:pt x="0" y="49530"/>
                  </a:moveTo>
                  <a:lnTo>
                    <a:pt x="43815" y="93345"/>
                  </a:lnTo>
                  <a:lnTo>
                    <a:pt x="11525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756856" y="4469130"/>
              <a:ext cx="53673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每一层都是一个有序链表，第 0 层包含全部元素，上层是下层的稀疏子集。</a:t>
              </a:r>
            </a:p>
          </p:txBody>
        </p:sp>
        <p:sp>
          <p:nvSpPr>
            <p:cNvPr id="111" name="Freeform 111"/>
            <p:cNvSpPr/>
            <p:nvPr/>
          </p:nvSpPr>
          <p:spPr>
            <a:xfrm>
              <a:off x="533400" y="4785360"/>
              <a:ext cx="115252" cy="93345"/>
            </a:xfrm>
            <a:custGeom>
              <a:avLst/>
              <a:gdLst/>
              <a:ahLst/>
              <a:cxnLst/>
              <a:rect l="l" t="t" r="r" b="b"/>
              <a:pathLst>
                <a:path w="115252" h="93345">
                  <a:moveTo>
                    <a:pt x="0" y="49530"/>
                  </a:moveTo>
                  <a:lnTo>
                    <a:pt x="43815" y="93345"/>
                  </a:lnTo>
                  <a:lnTo>
                    <a:pt x="11525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756856" y="4759642"/>
              <a:ext cx="47131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同一个关键词在相邻两层之间用竖直指针串起来，形成一座“塔”。</a:t>
              </a:r>
            </a:p>
          </p:txBody>
        </p:sp>
        <p:sp>
          <p:nvSpPr>
            <p:cNvPr id="113" name="Freeform 113"/>
            <p:cNvSpPr/>
            <p:nvPr/>
          </p:nvSpPr>
          <p:spPr>
            <a:xfrm>
              <a:off x="533400" y="5075872"/>
              <a:ext cx="115252" cy="93345"/>
            </a:xfrm>
            <a:custGeom>
              <a:avLst/>
              <a:gdLst/>
              <a:ahLst/>
              <a:cxnLst/>
              <a:rect l="l" t="t" r="r" b="b"/>
              <a:pathLst>
                <a:path w="115252" h="93345">
                  <a:moveTo>
                    <a:pt x="0" y="49530"/>
                  </a:moveTo>
                  <a:lnTo>
                    <a:pt x="43815" y="93345"/>
                  </a:lnTo>
                  <a:lnTo>
                    <a:pt x="11525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756856" y="5050155"/>
              <a:ext cx="36307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两端的 −∞ 与 +∞ 是哨兵，省掉了对空指针的特判。</a:t>
              </a:r>
            </a:p>
          </p:txBody>
        </p:sp>
      </p:grpSp>
      <p:grpSp>
        <p:nvGrpSpPr>
          <p:cNvPr id="118" name="c2-image-1"/>
          <p:cNvGrpSpPr/>
          <p:nvPr/>
        </p:nvGrpSpPr>
        <p:grpSpPr>
          <a:xfrm>
            <a:off x="9074468" y="1954530"/>
            <a:ext cx="2464118" cy="2162652"/>
            <a:chOff x="9074468" y="1954530"/>
            <a:chExt cx="2464118" cy="2162652"/>
          </a:xfrm>
        </p:grpSpPr>
        <p:pic>
          <p:nvPicPr>
            <p:cNvPr id="116" name="Image 116"/>
            <p:cNvPicPr>
              <a:picLocks noChangeAspect="1"/>
            </p:cNvPicPr>
            <p:nvPr/>
          </p:nvPicPr>
          <p:blipFill>
            <a:blip r:embed="rId2"/>
            <a:srcRect l="0" t="6" r="0" b="7"/>
            <a:stretch>
              <a:fillRect/>
            </a:stretch>
          </p:blipFill>
          <p:spPr>
            <a:xfrm>
              <a:off x="9074468" y="1954530"/>
              <a:ext cx="2464118" cy="1847850"/>
            </a:xfrm>
            <a:prstGeom prst="roundRect">
              <a:avLst>
                <a:gd name="adj" fmla="val 7216"/>
              </a:avLst>
            </a:prstGeom>
          </p:spPr>
        </p:pic>
        <p:sp>
          <p:nvSpPr>
            <p:cNvPr id="117" name="TextBox 117"/>
            <p:cNvSpPr txBox="1"/>
            <p:nvPr/>
          </p:nvSpPr>
          <p:spPr>
            <a:xfrm>
              <a:off x="9546463" y="389715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上层货架只放少数几块</a:t>
              </a:r>
            </a:p>
          </p:txBody>
        </p:sp>
      </p:grpSp>
      <p:grpSp>
        <p:nvGrpSpPr>
          <p:cNvPr id="125" name="c2-callout-2"/>
          <p:cNvGrpSpPr/>
          <p:nvPr/>
        </p:nvGrpSpPr>
        <p:grpSpPr>
          <a:xfrm>
            <a:off x="8953500" y="4277678"/>
            <a:ext cx="2705100" cy="960120"/>
            <a:chOff x="8953500" y="4277678"/>
            <a:chExt cx="2705100" cy="960120"/>
          </a:xfrm>
        </p:grpSpPr>
        <p:sp>
          <p:nvSpPr>
            <p:cNvPr id="119" name="Rectangle 119"/>
            <p:cNvSpPr/>
            <p:nvPr/>
          </p:nvSpPr>
          <p:spPr>
            <a:xfrm>
              <a:off x="8953500" y="4277678"/>
              <a:ext cx="2705100" cy="960120"/>
            </a:xfrm>
            <a:prstGeom prst="roundRect">
              <a:avLst>
                <a:gd name="adj" fmla="val 1190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23" name="Group 123"/>
            <p:cNvGrpSpPr/>
            <p:nvPr/>
          </p:nvGrpSpPr>
          <p:grpSpPr>
            <a:xfrm>
              <a:off x="9158288" y="4657725"/>
              <a:ext cx="200026" cy="200025"/>
              <a:chOff x="9158288" y="4657725"/>
              <a:chExt cx="200026" cy="200025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9158288" y="46577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1" name="Freeform 121"/>
              <p:cNvSpPr/>
              <p:nvPr/>
            </p:nvSpPr>
            <p:spPr>
              <a:xfrm>
                <a:off x="9198026" y="47021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2" name="Freeform 122"/>
              <p:cNvSpPr/>
              <p:nvPr/>
            </p:nvSpPr>
            <p:spPr>
              <a:xfrm>
                <a:off x="9232742" y="48133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24" name="TextBox 124"/>
            <p:cNvSpPr txBox="1"/>
            <p:nvPr/>
          </p:nvSpPr>
          <p:spPr>
            <a:xfrm>
              <a:off x="9460611" y="4526756"/>
              <a:ext cx="18178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上层越稀疏，一步跨得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越远。</a:t>
              </a:r>
            </a:p>
          </p:txBody>
        </p:sp>
      </p:grpSp>
      <p:grpSp>
        <p:nvGrpSpPr>
          <p:cNvPr id="131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126" name="Rectangle 12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29" name="Group 129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127" name="Freeform 127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28" name="Freeform 128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30" name="TextBox 130"/>
            <p:cNvSpPr txBox="1"/>
            <p:nvPr/>
          </p:nvSpPr>
          <p:spPr>
            <a:xfrm>
              <a:off x="1040511" y="6004084"/>
              <a:ext cx="63227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上层链表起索引作用：在高层一步跨过去的距离，在底层要走好几个结点。</a:t>
              </a:r>
            </a:p>
          </p:txBody>
        </p:sp>
      </p:grpSp>
      <p:grpSp>
        <p:nvGrpSpPr>
          <p:cNvPr id="1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2" name="TextBox 132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79746" cy="909257"/>
            <a:chOff x="520446" y="342900"/>
            <a:chExt cx="56797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跳跃表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797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跳跃表的空间：期望结点总数不到 2n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bullets-1"/>
          <p:cNvGrpSpPr/>
          <p:nvPr/>
        </p:nvGrpSpPr>
        <p:grpSpPr>
          <a:xfrm>
            <a:off x="533400" y="1534478"/>
            <a:ext cx="2747963" cy="1201293"/>
            <a:chOff x="533400" y="1534478"/>
            <a:chExt cx="2747963" cy="1201293"/>
          </a:xfrm>
        </p:grpSpPr>
        <p:sp>
          <p:nvSpPr>
            <p:cNvPr id="7" name="Ellipse 7"/>
            <p:cNvSpPr/>
            <p:nvPr/>
          </p:nvSpPr>
          <p:spPr>
            <a:xfrm>
              <a:off x="533400" y="153447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907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4197" y="1545907"/>
              <a:ext cx="1703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层有 n 个结点。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4308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18814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1854518"/>
              <a:ext cx="24126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层期望结点个数 ⌊n/2⌋。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5169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19008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163128"/>
              <a:ext cx="24126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层期望结点个数 ⌊n/4⌋。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60307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249869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2471738"/>
              <a:ext cx="24671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层期望结点个数 ⌊n/2ⁱ⌋。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formula53"/>
              <p:cNvSpPr txBox="1">
                <a:spLocks noGrp="1"/>
              </p:cNvSpPr>
              <p:nvPr/>
            </p:nvSpPr>
            <p:spPr>
              <a:xfrm>
                <a:off x="533400" y="2852738"/>
                <a:ext cx="5626418" cy="766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sup>
                        <m:e>
                          <m:d>
                            <m:dPr>
                              <m:begChr m:val="⌊"/>
                              <m:sepChr m:val=""/>
                              <m:endChr m:val="⌋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num>
                                <m:den>
                                  <m:sSup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num>
                            <m:den>
                              <m:sSup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sSup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2n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6" name="c1-callout-3"/>
          <p:cNvGrpSpPr/>
          <p:nvPr/>
        </p:nvGrpSpPr>
        <p:grpSpPr>
          <a:xfrm>
            <a:off x="533400" y="3789998"/>
            <a:ext cx="5626418" cy="1850708"/>
            <a:chOff x="533400" y="3789998"/>
            <a:chExt cx="5626418" cy="1850708"/>
          </a:xfrm>
        </p:grpSpPr>
        <p:sp>
          <p:nvSpPr>
            <p:cNvPr id="21" name="Rectangle 21"/>
            <p:cNvSpPr/>
            <p:nvPr/>
          </p:nvSpPr>
          <p:spPr>
            <a:xfrm>
              <a:off x="533400" y="3789998"/>
              <a:ext cx="5626418" cy="1850708"/>
            </a:xfrm>
            <a:prstGeom prst="roundRect">
              <a:avLst>
                <a:gd name="adj" fmla="val 617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4614865"/>
              <a:ext cx="200023" cy="200023"/>
              <a:chOff x="738188" y="4614865"/>
              <a:chExt cx="200023" cy="20002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461486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71538" y="46815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892" y="4496752"/>
              <a:ext cx="4612005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空间复杂度 </a:t>
              </a:r>
              <a:r>
                <a:rPr lang="en-US" sz="135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。前提是每个结点向上生长一层的概率恒为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1/2，各结点独立。</a:t>
              </a:r>
            </a:p>
          </p:txBody>
        </p:sp>
      </p:grpSp>
      <p:grpSp>
        <p:nvGrpSpPr>
          <p:cNvPr id="58" name="c2-table-1"/>
          <p:cNvGrpSpPr/>
          <p:nvPr/>
        </p:nvGrpSpPr>
        <p:grpSpPr>
          <a:xfrm>
            <a:off x="6459665" y="1524000"/>
            <a:ext cx="5198935" cy="2263806"/>
            <a:chOff x="6459665" y="1524000"/>
            <a:chExt cx="5198935" cy="2263806"/>
          </a:xfrm>
        </p:grpSpPr>
        <p:sp>
          <p:nvSpPr>
            <p:cNvPr id="27" name="Rectangle 27"/>
            <p:cNvSpPr/>
            <p:nvPr/>
          </p:nvSpPr>
          <p:spPr>
            <a:xfrm>
              <a:off x="6464618" y="1524000"/>
              <a:ext cx="519398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94983" y="16454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2645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8856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855806" y="164544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n/2ⁱ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61772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85660" y="2045494"/>
              <a:ext cx="1323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3 6 7 9 12 19 21 30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74530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508933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23193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64618" y="23241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61772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85660" y="2445544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6 9 19 30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574530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508933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27193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61772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85660" y="2845594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9 30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74530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508933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31194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64618" y="31242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61772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85660" y="32456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574530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508933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64618" y="1524000"/>
              <a:ext cx="5193982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08374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47261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407015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459665" y="3597116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上页那张图的实际结点数（不含两端哨兵）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6464618" y="3919538"/>
            <a:ext cx="5193982" cy="1721168"/>
            <a:chOff x="6464618" y="3919538"/>
            <a:chExt cx="5193982" cy="1721168"/>
          </a:xfrm>
        </p:grpSpPr>
        <p:sp>
          <p:nvSpPr>
            <p:cNvPr id="59" name="Rectangle 59"/>
            <p:cNvSpPr/>
            <p:nvPr/>
          </p:nvSpPr>
          <p:spPr>
            <a:xfrm>
              <a:off x="6464618" y="3919538"/>
              <a:ext cx="5193982" cy="1721168"/>
            </a:xfrm>
            <a:prstGeom prst="roundRect">
              <a:avLst>
                <a:gd name="adj" fmla="val 77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74142" y="4052888"/>
              <a:ext cx="47625" cy="14544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689408" y="410622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782079" y="41390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55954" y="4141470"/>
              <a:ext cx="26130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结点总数 15，确实不到 2n = 16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82549" y="4467225"/>
              <a:ext cx="44714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跳跃表是随机化的数据结构，每个结点的层数由抛硬币决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定，上表是最理想的一次结果，实际各层结点数会在期望值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附近波动。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83692" y="5278279"/>
              <a:ext cx="4474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层数 h 的期望是 O(log n)，求和上限写 h 还是写 log n 是一回事。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7" name="Rectangle 67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892" y="6028373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代价是每个元素平均要存两份指针，换来的是不用做任何旋转或整体搬移就能维持有序。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跳跃表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跳跃表的查找：能往右就往右，不能往右就往下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067855" cy="264033"/>
            <a:chOff x="526542" y="1545907"/>
            <a:chExt cx="706785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0678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令 p 指向最上层第一个结点，反复把 K 与 p-&gt;next-&gt;data 比较。下面以查找 12 为例。</a:t>
              </a:r>
            </a:p>
          </p:txBody>
        </p:sp>
      </p:grpSp>
      <p:grpSp>
        <p:nvGrpSpPr>
          <p:cNvPr id="106" name="c1-graph-1"/>
          <p:cNvGrpSpPr/>
          <p:nvPr/>
        </p:nvGrpSpPr>
        <p:grpSpPr>
          <a:xfrm>
            <a:off x="816292" y="1991678"/>
            <a:ext cx="10559416" cy="1259204"/>
            <a:chOff x="816292" y="1991678"/>
            <a:chExt cx="10559416" cy="1259204"/>
          </a:xfrm>
        </p:grpSpPr>
        <p:sp>
          <p:nvSpPr>
            <p:cNvPr id="9" name="Freeform 9"/>
            <p:cNvSpPr/>
            <p:nvPr/>
          </p:nvSpPr>
          <p:spPr>
            <a:xfrm>
              <a:off x="1140142" y="2088832"/>
              <a:ext cx="8592502" cy="9525"/>
            </a:xfrm>
            <a:custGeom>
              <a:avLst/>
              <a:gdLst/>
              <a:ahLst/>
              <a:cxnLst/>
              <a:rect l="l" t="t" r="r" b="b"/>
              <a:pathLst>
                <a:path w="8592502" h="9525">
                  <a:moveTo>
                    <a:pt x="0" y="0"/>
                  </a:moveTo>
                  <a:lnTo>
                    <a:pt x="859250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9732645" y="20412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151745" y="2088832"/>
              <a:ext cx="804862" cy="9525"/>
            </a:xfrm>
            <a:custGeom>
              <a:avLst/>
              <a:gdLst/>
              <a:ahLst/>
              <a:cxnLst/>
              <a:rect l="l" t="t" r="r" b="b"/>
              <a:pathLst>
                <a:path w="804862" h="9525">
                  <a:moveTo>
                    <a:pt x="0" y="0"/>
                  </a:moveTo>
                  <a:lnTo>
                    <a:pt x="8048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0956608" y="20412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140142" y="2436495"/>
              <a:ext cx="4030980" cy="9525"/>
            </a:xfrm>
            <a:custGeom>
              <a:avLst/>
              <a:gdLst/>
              <a:ahLst/>
              <a:cxnLst/>
              <a:rect l="l" t="t" r="r" b="b"/>
              <a:pathLst>
                <a:path w="4030980" h="9525">
                  <a:moveTo>
                    <a:pt x="0" y="0"/>
                  </a:moveTo>
                  <a:lnTo>
                    <a:pt x="40309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171122" y="23888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590222" y="2436495"/>
              <a:ext cx="4142422" cy="9525"/>
            </a:xfrm>
            <a:custGeom>
              <a:avLst/>
              <a:gdLst/>
              <a:ahLst/>
              <a:cxnLst/>
              <a:rect l="l" t="t" r="r" b="b"/>
              <a:pathLst>
                <a:path w="4142422" h="9525">
                  <a:moveTo>
                    <a:pt x="0" y="0"/>
                  </a:moveTo>
                  <a:lnTo>
                    <a:pt x="41424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9732645" y="23888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0151745" y="2436495"/>
              <a:ext cx="804862" cy="9525"/>
            </a:xfrm>
            <a:custGeom>
              <a:avLst/>
              <a:gdLst/>
              <a:ahLst/>
              <a:cxnLst/>
              <a:rect l="l" t="t" r="r" b="b"/>
              <a:pathLst>
                <a:path w="804862" h="9525">
                  <a:moveTo>
                    <a:pt x="0" y="0"/>
                  </a:moveTo>
                  <a:lnTo>
                    <a:pt x="8048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0956608" y="23888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140142" y="2783205"/>
              <a:ext cx="1805940" cy="9525"/>
            </a:xfrm>
            <a:custGeom>
              <a:avLst/>
              <a:gdLst/>
              <a:ahLst/>
              <a:cxnLst/>
              <a:rect l="l" t="t" r="r" b="b"/>
              <a:pathLst>
                <a:path w="1805940" h="9525">
                  <a:moveTo>
                    <a:pt x="0" y="0"/>
                  </a:moveTo>
                  <a:lnTo>
                    <a:pt x="18059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946082" y="27355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365182" y="2783205"/>
              <a:ext cx="1805940" cy="9525"/>
            </a:xfrm>
            <a:custGeom>
              <a:avLst/>
              <a:gdLst/>
              <a:ahLst/>
              <a:cxnLst/>
              <a:rect l="l" t="t" r="r" b="b"/>
              <a:pathLst>
                <a:path w="1805940" h="9525">
                  <a:moveTo>
                    <a:pt x="0" y="0"/>
                  </a:moveTo>
                  <a:lnTo>
                    <a:pt x="18059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171122" y="27355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590222" y="2783205"/>
              <a:ext cx="1805940" cy="9525"/>
            </a:xfrm>
            <a:custGeom>
              <a:avLst/>
              <a:gdLst/>
              <a:ahLst/>
              <a:cxnLst/>
              <a:rect l="l" t="t" r="r" b="b"/>
              <a:pathLst>
                <a:path w="1805940" h="9525">
                  <a:moveTo>
                    <a:pt x="0" y="0"/>
                  </a:moveTo>
                  <a:lnTo>
                    <a:pt x="18059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396162" y="27355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7815262" y="2783205"/>
              <a:ext cx="1917382" cy="9525"/>
            </a:xfrm>
            <a:custGeom>
              <a:avLst/>
              <a:gdLst/>
              <a:ahLst/>
              <a:cxnLst/>
              <a:rect l="l" t="t" r="r" b="b"/>
              <a:pathLst>
                <a:path w="1917382" h="9525">
                  <a:moveTo>
                    <a:pt x="0" y="0"/>
                  </a:moveTo>
                  <a:lnTo>
                    <a:pt x="191738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732645" y="27355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0151745" y="2783205"/>
              <a:ext cx="804862" cy="9525"/>
            </a:xfrm>
            <a:custGeom>
              <a:avLst/>
              <a:gdLst/>
              <a:ahLst/>
              <a:cxnLst/>
              <a:rect l="l" t="t" r="r" b="b"/>
              <a:pathLst>
                <a:path w="804862" h="9525">
                  <a:moveTo>
                    <a:pt x="0" y="0"/>
                  </a:moveTo>
                  <a:lnTo>
                    <a:pt x="8048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0956608" y="27355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140142" y="3130868"/>
              <a:ext cx="693420" cy="9525"/>
            </a:xfrm>
            <a:custGeom>
              <a:avLst/>
              <a:gdLst/>
              <a:ahLst/>
              <a:cxnLst/>
              <a:rect l="l" t="t" r="r" b="b"/>
              <a:pathLst>
                <a:path w="693420" h="9525">
                  <a:moveTo>
                    <a:pt x="0" y="0"/>
                  </a:moveTo>
                  <a:lnTo>
                    <a:pt x="6934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833562" y="30832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2252662" y="3130868"/>
              <a:ext cx="693420" cy="9525"/>
            </a:xfrm>
            <a:custGeom>
              <a:avLst/>
              <a:gdLst/>
              <a:ahLst/>
              <a:cxnLst/>
              <a:rect l="l" t="t" r="r" b="b"/>
              <a:pathLst>
                <a:path w="693420" h="9525">
                  <a:moveTo>
                    <a:pt x="0" y="0"/>
                  </a:moveTo>
                  <a:lnTo>
                    <a:pt x="6934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2946082" y="30832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3365182" y="3130868"/>
              <a:ext cx="693420" cy="9525"/>
            </a:xfrm>
            <a:custGeom>
              <a:avLst/>
              <a:gdLst/>
              <a:ahLst/>
              <a:cxnLst/>
              <a:rect l="l" t="t" r="r" b="b"/>
              <a:pathLst>
                <a:path w="693420" h="9525">
                  <a:moveTo>
                    <a:pt x="0" y="0"/>
                  </a:moveTo>
                  <a:lnTo>
                    <a:pt x="6934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4058602" y="30832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4477702" y="3130868"/>
              <a:ext cx="693420" cy="9525"/>
            </a:xfrm>
            <a:custGeom>
              <a:avLst/>
              <a:gdLst/>
              <a:ahLst/>
              <a:cxnLst/>
              <a:rect l="l" t="t" r="r" b="b"/>
              <a:pathLst>
                <a:path w="693420" h="9525">
                  <a:moveTo>
                    <a:pt x="0" y="0"/>
                  </a:moveTo>
                  <a:lnTo>
                    <a:pt x="6934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5171122" y="30832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5590222" y="3130868"/>
              <a:ext cx="693420" cy="9525"/>
            </a:xfrm>
            <a:custGeom>
              <a:avLst/>
              <a:gdLst/>
              <a:ahLst/>
              <a:cxnLst/>
              <a:rect l="l" t="t" r="r" b="b"/>
              <a:pathLst>
                <a:path w="693420" h="9525">
                  <a:moveTo>
                    <a:pt x="0" y="0"/>
                  </a:moveTo>
                  <a:lnTo>
                    <a:pt x="6934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6283642" y="30832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6702742" y="3130868"/>
              <a:ext cx="693420" cy="9525"/>
            </a:xfrm>
            <a:custGeom>
              <a:avLst/>
              <a:gdLst/>
              <a:ahLst/>
              <a:cxnLst/>
              <a:rect l="l" t="t" r="r" b="b"/>
              <a:pathLst>
                <a:path w="693420" h="9525">
                  <a:moveTo>
                    <a:pt x="0" y="0"/>
                  </a:moveTo>
                  <a:lnTo>
                    <a:pt x="6934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396162" y="30832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7815262" y="3130868"/>
              <a:ext cx="693420" cy="9525"/>
            </a:xfrm>
            <a:custGeom>
              <a:avLst/>
              <a:gdLst/>
              <a:ahLst/>
              <a:cxnLst/>
              <a:rect l="l" t="t" r="r" b="b"/>
              <a:pathLst>
                <a:path w="693420" h="9525">
                  <a:moveTo>
                    <a:pt x="0" y="0"/>
                  </a:moveTo>
                  <a:lnTo>
                    <a:pt x="6934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508682" y="30832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927782" y="3130868"/>
              <a:ext cx="804862" cy="9525"/>
            </a:xfrm>
            <a:custGeom>
              <a:avLst/>
              <a:gdLst/>
              <a:ahLst/>
              <a:cxnLst/>
              <a:rect l="l" t="t" r="r" b="b"/>
              <a:pathLst>
                <a:path w="804862" h="9525">
                  <a:moveTo>
                    <a:pt x="0" y="0"/>
                  </a:moveTo>
                  <a:lnTo>
                    <a:pt x="8048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732645" y="30832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10151745" y="3130868"/>
              <a:ext cx="804862" cy="9525"/>
            </a:xfrm>
            <a:custGeom>
              <a:avLst/>
              <a:gdLst/>
              <a:ahLst/>
              <a:cxnLst/>
              <a:rect l="l" t="t" r="r" b="b"/>
              <a:pathLst>
                <a:path w="804862" h="9525">
                  <a:moveTo>
                    <a:pt x="0" y="0"/>
                  </a:moveTo>
                  <a:lnTo>
                    <a:pt x="8048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0956608" y="30832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978218" y="2185988"/>
              <a:ext cx="9525" cy="153352"/>
            </a:xfrm>
            <a:custGeom>
              <a:avLst/>
              <a:gdLst/>
              <a:ahLst/>
              <a:cxnLst/>
              <a:rect l="l" t="t" r="r" b="b"/>
              <a:pathLst>
                <a:path w="9525" h="153352">
                  <a:moveTo>
                    <a:pt x="0" y="0"/>
                  </a:moveTo>
                  <a:lnTo>
                    <a:pt x="0" y="153352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48" name="Freeform 48"/>
            <p:cNvSpPr/>
            <p:nvPr/>
          </p:nvSpPr>
          <p:spPr>
            <a:xfrm>
              <a:off x="978218" y="25336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49" name="Freeform 49"/>
            <p:cNvSpPr/>
            <p:nvPr/>
          </p:nvSpPr>
          <p:spPr>
            <a:xfrm>
              <a:off x="978218" y="2880360"/>
              <a:ext cx="9525" cy="153353"/>
            </a:xfrm>
            <a:custGeom>
              <a:avLst/>
              <a:gdLst/>
              <a:ahLst/>
              <a:cxnLst/>
              <a:rect l="l" t="t" r="r" b="b"/>
              <a:pathLst>
                <a:path w="9525" h="153353">
                  <a:moveTo>
                    <a:pt x="0" y="0"/>
                  </a:moveTo>
                  <a:lnTo>
                    <a:pt x="0" y="153353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0" name="Freeform 50"/>
            <p:cNvSpPr/>
            <p:nvPr/>
          </p:nvSpPr>
          <p:spPr>
            <a:xfrm>
              <a:off x="9989820" y="2185988"/>
              <a:ext cx="9525" cy="153352"/>
            </a:xfrm>
            <a:custGeom>
              <a:avLst/>
              <a:gdLst/>
              <a:ahLst/>
              <a:cxnLst/>
              <a:rect l="l" t="t" r="r" b="b"/>
              <a:pathLst>
                <a:path w="9525" h="153352">
                  <a:moveTo>
                    <a:pt x="0" y="0"/>
                  </a:moveTo>
                  <a:lnTo>
                    <a:pt x="0" y="153352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1" name="Freeform 51"/>
            <p:cNvSpPr/>
            <p:nvPr/>
          </p:nvSpPr>
          <p:spPr>
            <a:xfrm>
              <a:off x="9989820" y="25336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2" name="Freeform 52"/>
            <p:cNvSpPr/>
            <p:nvPr/>
          </p:nvSpPr>
          <p:spPr>
            <a:xfrm>
              <a:off x="9989820" y="2880360"/>
              <a:ext cx="9525" cy="153353"/>
            </a:xfrm>
            <a:custGeom>
              <a:avLst/>
              <a:gdLst/>
              <a:ahLst/>
              <a:cxnLst/>
              <a:rect l="l" t="t" r="r" b="b"/>
              <a:pathLst>
                <a:path w="9525" h="153353">
                  <a:moveTo>
                    <a:pt x="0" y="0"/>
                  </a:moveTo>
                  <a:lnTo>
                    <a:pt x="0" y="153353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3" name="Freeform 53"/>
            <p:cNvSpPr/>
            <p:nvPr/>
          </p:nvSpPr>
          <p:spPr>
            <a:xfrm>
              <a:off x="5428298" y="25336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4" name="Freeform 54"/>
            <p:cNvSpPr/>
            <p:nvPr/>
          </p:nvSpPr>
          <p:spPr>
            <a:xfrm>
              <a:off x="5428298" y="2880360"/>
              <a:ext cx="9525" cy="153353"/>
            </a:xfrm>
            <a:custGeom>
              <a:avLst/>
              <a:gdLst/>
              <a:ahLst/>
              <a:cxnLst/>
              <a:rect l="l" t="t" r="r" b="b"/>
              <a:pathLst>
                <a:path w="9525" h="153353">
                  <a:moveTo>
                    <a:pt x="0" y="0"/>
                  </a:moveTo>
                  <a:lnTo>
                    <a:pt x="0" y="153353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5" name="Freeform 55"/>
            <p:cNvSpPr/>
            <p:nvPr/>
          </p:nvSpPr>
          <p:spPr>
            <a:xfrm>
              <a:off x="3203258" y="2880360"/>
              <a:ext cx="9525" cy="153353"/>
            </a:xfrm>
            <a:custGeom>
              <a:avLst/>
              <a:gdLst/>
              <a:ahLst/>
              <a:cxnLst/>
              <a:rect l="l" t="t" r="r" b="b"/>
              <a:pathLst>
                <a:path w="9525" h="153353">
                  <a:moveTo>
                    <a:pt x="0" y="0"/>
                  </a:moveTo>
                  <a:lnTo>
                    <a:pt x="0" y="153353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6" name="Freeform 56"/>
            <p:cNvSpPr/>
            <p:nvPr/>
          </p:nvSpPr>
          <p:spPr>
            <a:xfrm>
              <a:off x="7653338" y="2880360"/>
              <a:ext cx="9525" cy="153353"/>
            </a:xfrm>
            <a:custGeom>
              <a:avLst/>
              <a:gdLst/>
              <a:ahLst/>
              <a:cxnLst/>
              <a:rect l="l" t="t" r="r" b="b"/>
              <a:pathLst>
                <a:path w="9525" h="153353">
                  <a:moveTo>
                    <a:pt x="0" y="0"/>
                  </a:moveTo>
                  <a:lnTo>
                    <a:pt x="0" y="153353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7" name="Freeform 57"/>
            <p:cNvSpPr/>
            <p:nvPr/>
          </p:nvSpPr>
          <p:spPr>
            <a:xfrm>
              <a:off x="11213782" y="2185988"/>
              <a:ext cx="9525" cy="153352"/>
            </a:xfrm>
            <a:custGeom>
              <a:avLst/>
              <a:gdLst/>
              <a:ahLst/>
              <a:cxnLst/>
              <a:rect l="l" t="t" r="r" b="b"/>
              <a:pathLst>
                <a:path w="9525" h="153352">
                  <a:moveTo>
                    <a:pt x="0" y="0"/>
                  </a:moveTo>
                  <a:lnTo>
                    <a:pt x="0" y="153352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8" name="Freeform 58"/>
            <p:cNvSpPr/>
            <p:nvPr/>
          </p:nvSpPr>
          <p:spPr>
            <a:xfrm>
              <a:off x="11213782" y="25336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9" name="Freeform 59"/>
            <p:cNvSpPr/>
            <p:nvPr/>
          </p:nvSpPr>
          <p:spPr>
            <a:xfrm>
              <a:off x="11213782" y="2880360"/>
              <a:ext cx="9525" cy="153353"/>
            </a:xfrm>
            <a:custGeom>
              <a:avLst/>
              <a:gdLst/>
              <a:ahLst/>
              <a:cxnLst/>
              <a:rect l="l" t="t" r="r" b="b"/>
              <a:pathLst>
                <a:path w="9525" h="153353">
                  <a:moveTo>
                    <a:pt x="0" y="0"/>
                  </a:moveTo>
                  <a:lnTo>
                    <a:pt x="0" y="153353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60" name="Rectangle 60"/>
            <p:cNvSpPr/>
            <p:nvPr/>
          </p:nvSpPr>
          <p:spPr>
            <a:xfrm>
              <a:off x="816292" y="1991678"/>
              <a:ext cx="323850" cy="194310"/>
            </a:xfrm>
            <a:prstGeom prst="roundRect">
              <a:avLst>
                <a:gd name="adj" fmla="val 4902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9827895" y="1991678"/>
              <a:ext cx="323850" cy="194310"/>
            </a:xfrm>
            <a:prstGeom prst="roundRect">
              <a:avLst>
                <a:gd name="adj" fmla="val 490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1051858" y="1991678"/>
              <a:ext cx="323850" cy="194310"/>
            </a:xfrm>
            <a:prstGeom prst="roundRect">
              <a:avLst>
                <a:gd name="adj" fmla="val 490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16292" y="2339340"/>
              <a:ext cx="323850" cy="194310"/>
            </a:xfrm>
            <a:prstGeom prst="roundRect">
              <a:avLst>
                <a:gd name="adj" fmla="val 4902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5266372" y="2339340"/>
              <a:ext cx="323850" cy="194310"/>
            </a:xfrm>
            <a:prstGeom prst="roundRect">
              <a:avLst>
                <a:gd name="adj" fmla="val 4902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9827895" y="2339340"/>
              <a:ext cx="323850" cy="194310"/>
            </a:xfrm>
            <a:prstGeom prst="roundRect">
              <a:avLst>
                <a:gd name="adj" fmla="val 490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11051858" y="2339340"/>
              <a:ext cx="323850" cy="194310"/>
            </a:xfrm>
            <a:prstGeom prst="roundRect">
              <a:avLst>
                <a:gd name="adj" fmla="val 490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816292" y="2686050"/>
              <a:ext cx="323850" cy="194310"/>
            </a:xfrm>
            <a:prstGeom prst="roundRect">
              <a:avLst>
                <a:gd name="adj" fmla="val 490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3041332" y="2686050"/>
              <a:ext cx="323850" cy="194310"/>
            </a:xfrm>
            <a:prstGeom prst="roundRect">
              <a:avLst>
                <a:gd name="adj" fmla="val 490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5266372" y="2686050"/>
              <a:ext cx="323850" cy="194310"/>
            </a:xfrm>
            <a:prstGeom prst="roundRect">
              <a:avLst>
                <a:gd name="adj" fmla="val 4902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7491412" y="2686050"/>
              <a:ext cx="323850" cy="194310"/>
            </a:xfrm>
            <a:prstGeom prst="roundRect">
              <a:avLst>
                <a:gd name="adj" fmla="val 490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9827895" y="2686050"/>
              <a:ext cx="323850" cy="194310"/>
            </a:xfrm>
            <a:prstGeom prst="roundRect">
              <a:avLst>
                <a:gd name="adj" fmla="val 490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11051858" y="2686050"/>
              <a:ext cx="323850" cy="194310"/>
            </a:xfrm>
            <a:prstGeom prst="roundRect">
              <a:avLst>
                <a:gd name="adj" fmla="val 490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816292" y="3033712"/>
              <a:ext cx="323850" cy="194310"/>
            </a:xfrm>
            <a:prstGeom prst="roundRect">
              <a:avLst>
                <a:gd name="adj" fmla="val 490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1928812" y="3033712"/>
              <a:ext cx="323850" cy="194310"/>
            </a:xfrm>
            <a:prstGeom prst="roundRect">
              <a:avLst>
                <a:gd name="adj" fmla="val 490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3041332" y="3033712"/>
              <a:ext cx="323850" cy="194310"/>
            </a:xfrm>
            <a:prstGeom prst="roundRect">
              <a:avLst>
                <a:gd name="adj" fmla="val 490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4153852" y="3033712"/>
              <a:ext cx="323850" cy="194310"/>
            </a:xfrm>
            <a:prstGeom prst="roundRect">
              <a:avLst>
                <a:gd name="adj" fmla="val 490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5266372" y="3033712"/>
              <a:ext cx="323850" cy="194310"/>
            </a:xfrm>
            <a:prstGeom prst="roundRect">
              <a:avLst>
                <a:gd name="adj" fmla="val 4902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6378892" y="3033712"/>
              <a:ext cx="323850" cy="194310"/>
            </a:xfrm>
            <a:prstGeom prst="roundRect">
              <a:avLst>
                <a:gd name="adj" fmla="val 4902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7491412" y="3033712"/>
              <a:ext cx="323850" cy="194310"/>
            </a:xfrm>
            <a:prstGeom prst="roundRect">
              <a:avLst>
                <a:gd name="adj" fmla="val 490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8603932" y="3033712"/>
              <a:ext cx="323850" cy="194310"/>
            </a:xfrm>
            <a:prstGeom prst="roundRect">
              <a:avLst>
                <a:gd name="adj" fmla="val 490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9827895" y="3033712"/>
              <a:ext cx="323850" cy="194310"/>
            </a:xfrm>
            <a:prstGeom prst="roundRect">
              <a:avLst>
                <a:gd name="adj" fmla="val 490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11051858" y="3033712"/>
              <a:ext cx="323850" cy="194310"/>
            </a:xfrm>
            <a:prstGeom prst="roundRect">
              <a:avLst>
                <a:gd name="adj" fmla="val 490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03486" y="203263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-∞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915089" y="203263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139051" y="203263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+∞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03486" y="238029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-∞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5388551" y="238029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915089" y="238029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139051" y="238029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+∞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03486" y="27279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-∞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3163511" y="27279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5388551" y="27279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578606" y="27279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915089" y="27279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139051" y="27279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+∞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03486" y="30746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-∞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2050991" y="30746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3163511" y="30746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4276031" y="30746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5388551" y="30746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6466086" y="30746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7578606" y="30746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8691126" y="30746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9915089" y="30746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139051" y="30746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+∞</a:t>
              </a:r>
            </a:p>
          </p:txBody>
        </p:sp>
      </p:grpSp>
      <p:grpSp>
        <p:nvGrpSpPr>
          <p:cNvPr id="143" name="c1-table-2"/>
          <p:cNvGrpSpPr/>
          <p:nvPr/>
        </p:nvGrpSpPr>
        <p:grpSpPr>
          <a:xfrm>
            <a:off x="533400" y="3429000"/>
            <a:ext cx="11125200" cy="2287905"/>
            <a:chOff x="533400" y="3429000"/>
            <a:chExt cx="11125200" cy="2287905"/>
          </a:xfrm>
        </p:grpSpPr>
        <p:sp>
          <p:nvSpPr>
            <p:cNvPr id="107" name="Rectangle 107"/>
            <p:cNvSpPr/>
            <p:nvPr/>
          </p:nvSpPr>
          <p:spPr>
            <a:xfrm>
              <a:off x="533400" y="3429000"/>
              <a:ext cx="11125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846963" y="354615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2028612" y="3546158"/>
              <a:ext cx="1126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 所在的层与结点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4524373" y="3546158"/>
              <a:ext cx="1584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 p-&gt;next-&gt;data 比较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9063990" y="35461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628078" y="3928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407224" y="3928110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层的 −∞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3965638" y="392811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&lt; 30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6858381" y="3928110"/>
              <a:ext cx="17846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再往右就超过 12 了，p 向下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533400" y="4187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533400" y="4191952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628078" y="4309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407224" y="4309110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层的 −∞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3965638" y="4309110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&gt; 9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6858381" y="4309110"/>
              <a:ext cx="20249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还在 12 左边，p 向右到结点 9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533400" y="4569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628078" y="4691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407224" y="469106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层的 9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3965638" y="469106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&lt; 30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6858381" y="4691062"/>
              <a:ext cx="41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向下</a:t>
              </a:r>
            </a:p>
          </p:txBody>
        </p:sp>
        <p:sp>
          <p:nvSpPr>
            <p:cNvPr id="127" name="Rectangle 127"/>
            <p:cNvSpPr/>
            <p:nvPr/>
          </p:nvSpPr>
          <p:spPr>
            <a:xfrm>
              <a:off x="533400" y="4950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533400" y="4954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628078" y="5072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407224" y="507206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层的 9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3965638" y="507206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&lt; 19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6858381" y="5072062"/>
              <a:ext cx="1261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向下，落到最底层</a:t>
              </a:r>
            </a:p>
          </p:txBody>
        </p:sp>
        <p:sp>
          <p:nvSpPr>
            <p:cNvPr id="133" name="Rectangle 133"/>
            <p:cNvSpPr/>
            <p:nvPr/>
          </p:nvSpPr>
          <p:spPr>
            <a:xfrm>
              <a:off x="533400" y="5331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628078" y="5454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1407224" y="545401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层的 9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3965638" y="545401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= 12</a:t>
              </a:r>
            </a:p>
          </p:txBody>
        </p:sp>
        <p:sp>
          <p:nvSpPr>
            <p:cNvPr id="137" name="Rectangle 137"/>
            <p:cNvSpPr/>
            <p:nvPr/>
          </p:nvSpPr>
          <p:spPr>
            <a:xfrm>
              <a:off x="6773228" y="5345430"/>
              <a:ext cx="487584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6858381" y="5454015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查找成功，共比较 5 次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533400" y="3429000"/>
              <a:ext cx="11125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40" name="Rectangle 140"/>
            <p:cNvSpPr/>
            <p:nvPr/>
          </p:nvSpPr>
          <p:spPr>
            <a:xfrm>
              <a:off x="1307782" y="3429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1" name="Rectangle 141"/>
            <p:cNvSpPr/>
            <p:nvPr/>
          </p:nvSpPr>
          <p:spPr>
            <a:xfrm>
              <a:off x="3866198" y="3429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6758940" y="3429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4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44" name="Rectangle 14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47" name="Group 147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145" name="Freeform 145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46" name="Freeform 146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48" name="TextBox 148"/>
            <p:cNvSpPr txBox="1"/>
            <p:nvPr/>
          </p:nvSpPr>
          <p:spPr>
            <a:xfrm>
              <a:off x="1041273" y="6039326"/>
              <a:ext cx="67510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时间复杂度 </a:t>
              </a:r>
              <a:r>
                <a:rPr lang="en-US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O(log n)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：层数期望 O(log n)，每层向右走的期望步数是常数，两者相乘。</a:t>
              </a:r>
            </a:p>
          </p:txBody>
        </p:sp>
      </p:grpSp>
      <p:grpSp>
        <p:nvGrpSpPr>
          <p:cNvPr id="1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0" name="TextBox 150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跳跃表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跳跃表的插入：查找失败的位置就是插入点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630336" cy="308039"/>
            <a:chOff x="525399" y="1550194"/>
            <a:chExt cx="863033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6303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以插入 17 为例。先按查找的规则走到底层，17 的查找在结点 12 处失败，就插在 12 后面。</a:t>
              </a:r>
            </a:p>
          </p:txBody>
        </p:sp>
      </p:grpSp>
      <p:grpSp>
        <p:nvGrpSpPr>
          <p:cNvPr id="115" name="c1-graph-1"/>
          <p:cNvGrpSpPr/>
          <p:nvPr/>
        </p:nvGrpSpPr>
        <p:grpSpPr>
          <a:xfrm>
            <a:off x="787718" y="2123122"/>
            <a:ext cx="10616564" cy="1997107"/>
            <a:chOff x="787718" y="2123122"/>
            <a:chExt cx="10616564" cy="1997107"/>
          </a:xfrm>
        </p:grpSpPr>
        <p:sp>
          <p:nvSpPr>
            <p:cNvPr id="9" name="Freeform 9"/>
            <p:cNvSpPr/>
            <p:nvPr/>
          </p:nvSpPr>
          <p:spPr>
            <a:xfrm>
              <a:off x="1168718" y="2237422"/>
              <a:ext cx="8646795" cy="9525"/>
            </a:xfrm>
            <a:custGeom>
              <a:avLst/>
              <a:gdLst/>
              <a:ahLst/>
              <a:cxnLst/>
              <a:rect l="l" t="t" r="r" b="b"/>
              <a:pathLst>
                <a:path w="8646795" h="9525">
                  <a:moveTo>
                    <a:pt x="0" y="0"/>
                  </a:moveTo>
                  <a:lnTo>
                    <a:pt x="86467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9815512" y="21897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291762" y="2237422"/>
              <a:ext cx="636270" cy="9525"/>
            </a:xfrm>
            <a:custGeom>
              <a:avLst/>
              <a:gdLst/>
              <a:ahLst/>
              <a:cxnLst/>
              <a:rect l="l" t="t" r="r" b="b"/>
              <a:pathLst>
                <a:path w="636270" h="9525">
                  <a:moveTo>
                    <a:pt x="0" y="0"/>
                  </a:moveTo>
                  <a:lnTo>
                    <a:pt x="6362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0928032" y="21897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168718" y="2821305"/>
              <a:ext cx="3529012" cy="9525"/>
            </a:xfrm>
            <a:custGeom>
              <a:avLst/>
              <a:gdLst/>
              <a:ahLst/>
              <a:cxnLst/>
              <a:rect l="l" t="t" r="r" b="b"/>
              <a:pathLst>
                <a:path w="3529012" h="9525">
                  <a:moveTo>
                    <a:pt x="0" y="0"/>
                  </a:moveTo>
                  <a:lnTo>
                    <a:pt x="35290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697730" y="27736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173980" y="2821305"/>
              <a:ext cx="4641532" cy="9525"/>
            </a:xfrm>
            <a:custGeom>
              <a:avLst/>
              <a:gdLst/>
              <a:ahLst/>
              <a:cxnLst/>
              <a:rect l="l" t="t" r="r" b="b"/>
              <a:pathLst>
                <a:path w="4641532" h="9525">
                  <a:moveTo>
                    <a:pt x="0" y="0"/>
                  </a:moveTo>
                  <a:lnTo>
                    <a:pt x="464153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9815512" y="27736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0291762" y="2821305"/>
              <a:ext cx="636270" cy="9525"/>
            </a:xfrm>
            <a:custGeom>
              <a:avLst/>
              <a:gdLst/>
              <a:ahLst/>
              <a:cxnLst/>
              <a:rect l="l" t="t" r="r" b="b"/>
              <a:pathLst>
                <a:path w="636270" h="9525">
                  <a:moveTo>
                    <a:pt x="0" y="0"/>
                  </a:moveTo>
                  <a:lnTo>
                    <a:pt x="6362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0928032" y="27736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168718" y="3406140"/>
              <a:ext cx="1526858" cy="9525"/>
            </a:xfrm>
            <a:custGeom>
              <a:avLst/>
              <a:gdLst/>
              <a:ahLst/>
              <a:cxnLst/>
              <a:rect l="l" t="t" r="r" b="b"/>
              <a:pathLst>
                <a:path w="1526858" h="9525">
                  <a:moveTo>
                    <a:pt x="0" y="0"/>
                  </a:moveTo>
                  <a:lnTo>
                    <a:pt x="152685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695575" y="33585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171825" y="3406140"/>
              <a:ext cx="1525905" cy="9525"/>
            </a:xfrm>
            <a:custGeom>
              <a:avLst/>
              <a:gdLst/>
              <a:ahLst/>
              <a:cxnLst/>
              <a:rect l="l" t="t" r="r" b="b"/>
              <a:pathLst>
                <a:path w="1525905" h="9525">
                  <a:moveTo>
                    <a:pt x="0" y="0"/>
                  </a:moveTo>
                  <a:lnTo>
                    <a:pt x="15259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697730" y="33585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173980" y="3406140"/>
              <a:ext cx="1525905" cy="9525"/>
            </a:xfrm>
            <a:custGeom>
              <a:avLst/>
              <a:gdLst/>
              <a:ahLst/>
              <a:cxnLst/>
              <a:rect l="l" t="t" r="r" b="b"/>
              <a:pathLst>
                <a:path w="1525905" h="9525">
                  <a:moveTo>
                    <a:pt x="0" y="0"/>
                  </a:moveTo>
                  <a:lnTo>
                    <a:pt x="15259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699885" y="33585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7176135" y="3406140"/>
              <a:ext cx="525780" cy="9525"/>
            </a:xfrm>
            <a:custGeom>
              <a:avLst/>
              <a:gdLst/>
              <a:ahLst/>
              <a:cxnLst/>
              <a:rect l="l" t="t" r="r" b="b"/>
              <a:pathLst>
                <a:path w="525780" h="9525">
                  <a:moveTo>
                    <a:pt x="0" y="0"/>
                  </a:moveTo>
                  <a:lnTo>
                    <a:pt x="5257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701915" y="33585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8178165" y="3406140"/>
              <a:ext cx="1637347" cy="9525"/>
            </a:xfrm>
            <a:custGeom>
              <a:avLst/>
              <a:gdLst/>
              <a:ahLst/>
              <a:cxnLst/>
              <a:rect l="l" t="t" r="r" b="b"/>
              <a:pathLst>
                <a:path w="1637347" h="9525">
                  <a:moveTo>
                    <a:pt x="0" y="0"/>
                  </a:moveTo>
                  <a:lnTo>
                    <a:pt x="163734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815512" y="33585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0291762" y="3406140"/>
              <a:ext cx="636270" cy="9525"/>
            </a:xfrm>
            <a:custGeom>
              <a:avLst/>
              <a:gdLst/>
              <a:ahLst/>
              <a:cxnLst/>
              <a:rect l="l" t="t" r="r" b="b"/>
              <a:pathLst>
                <a:path w="636270" h="9525">
                  <a:moveTo>
                    <a:pt x="0" y="0"/>
                  </a:moveTo>
                  <a:lnTo>
                    <a:pt x="6362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928032" y="33585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168718" y="3990975"/>
              <a:ext cx="524828" cy="9525"/>
            </a:xfrm>
            <a:custGeom>
              <a:avLst/>
              <a:gdLst/>
              <a:ahLst/>
              <a:cxnLst/>
              <a:rect l="l" t="t" r="r" b="b"/>
              <a:pathLst>
                <a:path w="524828" h="9525">
                  <a:moveTo>
                    <a:pt x="0" y="0"/>
                  </a:moveTo>
                  <a:lnTo>
                    <a:pt x="52482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693545" y="39433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2169795" y="3990975"/>
              <a:ext cx="525780" cy="9525"/>
            </a:xfrm>
            <a:custGeom>
              <a:avLst/>
              <a:gdLst/>
              <a:ahLst/>
              <a:cxnLst/>
              <a:rect l="l" t="t" r="r" b="b"/>
              <a:pathLst>
                <a:path w="525780" h="9525">
                  <a:moveTo>
                    <a:pt x="0" y="0"/>
                  </a:moveTo>
                  <a:lnTo>
                    <a:pt x="5257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2695575" y="39433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3171825" y="3990975"/>
              <a:ext cx="524828" cy="9525"/>
            </a:xfrm>
            <a:custGeom>
              <a:avLst/>
              <a:gdLst/>
              <a:ahLst/>
              <a:cxnLst/>
              <a:rect l="l" t="t" r="r" b="b"/>
              <a:pathLst>
                <a:path w="524828" h="9525">
                  <a:moveTo>
                    <a:pt x="0" y="0"/>
                  </a:moveTo>
                  <a:lnTo>
                    <a:pt x="52482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3696652" y="39433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4172902" y="3990975"/>
              <a:ext cx="524827" cy="9525"/>
            </a:xfrm>
            <a:custGeom>
              <a:avLst/>
              <a:gdLst/>
              <a:ahLst/>
              <a:cxnLst/>
              <a:rect l="l" t="t" r="r" b="b"/>
              <a:pathLst>
                <a:path w="524827" h="9525">
                  <a:moveTo>
                    <a:pt x="0" y="0"/>
                  </a:moveTo>
                  <a:lnTo>
                    <a:pt x="52482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4697730" y="39433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5173980" y="3990975"/>
              <a:ext cx="524827" cy="9525"/>
            </a:xfrm>
            <a:custGeom>
              <a:avLst/>
              <a:gdLst/>
              <a:ahLst/>
              <a:cxnLst/>
              <a:rect l="l" t="t" r="r" b="b"/>
              <a:pathLst>
                <a:path w="524827" h="9525">
                  <a:moveTo>
                    <a:pt x="0" y="0"/>
                  </a:moveTo>
                  <a:lnTo>
                    <a:pt x="52482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5698808" y="39433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6175058" y="3990975"/>
              <a:ext cx="524828" cy="9525"/>
            </a:xfrm>
            <a:custGeom>
              <a:avLst/>
              <a:gdLst/>
              <a:ahLst/>
              <a:cxnLst/>
              <a:rect l="l" t="t" r="r" b="b"/>
              <a:pathLst>
                <a:path w="524828" h="9525">
                  <a:moveTo>
                    <a:pt x="0" y="0"/>
                  </a:moveTo>
                  <a:lnTo>
                    <a:pt x="52482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6699885" y="39433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7176135" y="3990975"/>
              <a:ext cx="525780" cy="9525"/>
            </a:xfrm>
            <a:custGeom>
              <a:avLst/>
              <a:gdLst/>
              <a:ahLst/>
              <a:cxnLst/>
              <a:rect l="l" t="t" r="r" b="b"/>
              <a:pathLst>
                <a:path w="525780" h="9525">
                  <a:moveTo>
                    <a:pt x="0" y="0"/>
                  </a:moveTo>
                  <a:lnTo>
                    <a:pt x="5257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701915" y="39433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8178165" y="3990975"/>
              <a:ext cx="524828" cy="9525"/>
            </a:xfrm>
            <a:custGeom>
              <a:avLst/>
              <a:gdLst/>
              <a:ahLst/>
              <a:cxnLst/>
              <a:rect l="l" t="t" r="r" b="b"/>
              <a:pathLst>
                <a:path w="524828" h="9525">
                  <a:moveTo>
                    <a:pt x="0" y="0"/>
                  </a:moveTo>
                  <a:lnTo>
                    <a:pt x="52482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702992" y="39433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9179242" y="3990975"/>
              <a:ext cx="636270" cy="9525"/>
            </a:xfrm>
            <a:custGeom>
              <a:avLst/>
              <a:gdLst/>
              <a:ahLst/>
              <a:cxnLst/>
              <a:rect l="l" t="t" r="r" b="b"/>
              <a:pathLst>
                <a:path w="636270" h="9525">
                  <a:moveTo>
                    <a:pt x="0" y="0"/>
                  </a:moveTo>
                  <a:lnTo>
                    <a:pt x="6362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9815512" y="39433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10291762" y="3990975"/>
              <a:ext cx="636270" cy="9525"/>
            </a:xfrm>
            <a:custGeom>
              <a:avLst/>
              <a:gdLst/>
              <a:ahLst/>
              <a:cxnLst/>
              <a:rect l="l" t="t" r="r" b="b"/>
              <a:pathLst>
                <a:path w="636270" h="9525">
                  <a:moveTo>
                    <a:pt x="0" y="0"/>
                  </a:moveTo>
                  <a:lnTo>
                    <a:pt x="6362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0928032" y="39433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978218" y="2351722"/>
              <a:ext cx="9525" cy="355282"/>
            </a:xfrm>
            <a:custGeom>
              <a:avLst/>
              <a:gdLst/>
              <a:ahLst/>
              <a:cxnLst/>
              <a:rect l="l" t="t" r="r" b="b"/>
              <a:pathLst>
                <a:path w="9525" h="355282">
                  <a:moveTo>
                    <a:pt x="0" y="0"/>
                  </a:moveTo>
                  <a:lnTo>
                    <a:pt x="0" y="355282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2" name="Freeform 52"/>
            <p:cNvSpPr/>
            <p:nvPr/>
          </p:nvSpPr>
          <p:spPr>
            <a:xfrm>
              <a:off x="978218" y="2935605"/>
              <a:ext cx="9525" cy="356235"/>
            </a:xfrm>
            <a:custGeom>
              <a:avLst/>
              <a:gdLst/>
              <a:ahLst/>
              <a:cxnLst/>
              <a:rect l="l" t="t" r="r" b="b"/>
              <a:pathLst>
                <a:path w="9525" h="356235">
                  <a:moveTo>
                    <a:pt x="0" y="0"/>
                  </a:moveTo>
                  <a:lnTo>
                    <a:pt x="0" y="35623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3" name="Freeform 53"/>
            <p:cNvSpPr/>
            <p:nvPr/>
          </p:nvSpPr>
          <p:spPr>
            <a:xfrm>
              <a:off x="978218" y="3520440"/>
              <a:ext cx="9525" cy="356235"/>
            </a:xfrm>
            <a:custGeom>
              <a:avLst/>
              <a:gdLst/>
              <a:ahLst/>
              <a:cxnLst/>
              <a:rect l="l" t="t" r="r" b="b"/>
              <a:pathLst>
                <a:path w="9525" h="356235">
                  <a:moveTo>
                    <a:pt x="0" y="0"/>
                  </a:moveTo>
                  <a:lnTo>
                    <a:pt x="0" y="35623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4" name="Freeform 54"/>
            <p:cNvSpPr/>
            <p:nvPr/>
          </p:nvSpPr>
          <p:spPr>
            <a:xfrm>
              <a:off x="10101262" y="2351722"/>
              <a:ext cx="9525" cy="355282"/>
            </a:xfrm>
            <a:custGeom>
              <a:avLst/>
              <a:gdLst/>
              <a:ahLst/>
              <a:cxnLst/>
              <a:rect l="l" t="t" r="r" b="b"/>
              <a:pathLst>
                <a:path w="9525" h="355282">
                  <a:moveTo>
                    <a:pt x="0" y="0"/>
                  </a:moveTo>
                  <a:lnTo>
                    <a:pt x="0" y="355282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5" name="Freeform 55"/>
            <p:cNvSpPr/>
            <p:nvPr/>
          </p:nvSpPr>
          <p:spPr>
            <a:xfrm>
              <a:off x="10101262" y="2935605"/>
              <a:ext cx="9525" cy="356235"/>
            </a:xfrm>
            <a:custGeom>
              <a:avLst/>
              <a:gdLst/>
              <a:ahLst/>
              <a:cxnLst/>
              <a:rect l="l" t="t" r="r" b="b"/>
              <a:pathLst>
                <a:path w="9525" h="356235">
                  <a:moveTo>
                    <a:pt x="0" y="0"/>
                  </a:moveTo>
                  <a:lnTo>
                    <a:pt x="0" y="35623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6" name="Freeform 56"/>
            <p:cNvSpPr/>
            <p:nvPr/>
          </p:nvSpPr>
          <p:spPr>
            <a:xfrm>
              <a:off x="10101262" y="3520440"/>
              <a:ext cx="9525" cy="356235"/>
            </a:xfrm>
            <a:custGeom>
              <a:avLst/>
              <a:gdLst/>
              <a:ahLst/>
              <a:cxnLst/>
              <a:rect l="l" t="t" r="r" b="b"/>
              <a:pathLst>
                <a:path w="9525" h="356235">
                  <a:moveTo>
                    <a:pt x="0" y="0"/>
                  </a:moveTo>
                  <a:lnTo>
                    <a:pt x="0" y="35623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7" name="Freeform 57"/>
            <p:cNvSpPr/>
            <p:nvPr/>
          </p:nvSpPr>
          <p:spPr>
            <a:xfrm>
              <a:off x="4983480" y="2935605"/>
              <a:ext cx="9525" cy="356235"/>
            </a:xfrm>
            <a:custGeom>
              <a:avLst/>
              <a:gdLst/>
              <a:ahLst/>
              <a:cxnLst/>
              <a:rect l="l" t="t" r="r" b="b"/>
              <a:pathLst>
                <a:path w="9525" h="356235">
                  <a:moveTo>
                    <a:pt x="0" y="0"/>
                  </a:moveTo>
                  <a:lnTo>
                    <a:pt x="0" y="35623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8" name="Freeform 58"/>
            <p:cNvSpPr/>
            <p:nvPr/>
          </p:nvSpPr>
          <p:spPr>
            <a:xfrm>
              <a:off x="4983480" y="3520440"/>
              <a:ext cx="9525" cy="356235"/>
            </a:xfrm>
            <a:custGeom>
              <a:avLst/>
              <a:gdLst/>
              <a:ahLst/>
              <a:cxnLst/>
              <a:rect l="l" t="t" r="r" b="b"/>
              <a:pathLst>
                <a:path w="9525" h="356235">
                  <a:moveTo>
                    <a:pt x="0" y="0"/>
                  </a:moveTo>
                  <a:lnTo>
                    <a:pt x="0" y="35623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9" name="Freeform 59"/>
            <p:cNvSpPr/>
            <p:nvPr/>
          </p:nvSpPr>
          <p:spPr>
            <a:xfrm>
              <a:off x="2981325" y="3520440"/>
              <a:ext cx="9525" cy="356235"/>
            </a:xfrm>
            <a:custGeom>
              <a:avLst/>
              <a:gdLst/>
              <a:ahLst/>
              <a:cxnLst/>
              <a:rect l="l" t="t" r="r" b="b"/>
              <a:pathLst>
                <a:path w="9525" h="356235">
                  <a:moveTo>
                    <a:pt x="0" y="0"/>
                  </a:moveTo>
                  <a:lnTo>
                    <a:pt x="0" y="35623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60" name="Freeform 60"/>
            <p:cNvSpPr/>
            <p:nvPr/>
          </p:nvSpPr>
          <p:spPr>
            <a:xfrm>
              <a:off x="6985635" y="3520440"/>
              <a:ext cx="9525" cy="356235"/>
            </a:xfrm>
            <a:custGeom>
              <a:avLst/>
              <a:gdLst/>
              <a:ahLst/>
              <a:cxnLst/>
              <a:rect l="l" t="t" r="r" b="b"/>
              <a:pathLst>
                <a:path w="9525" h="356235">
                  <a:moveTo>
                    <a:pt x="0" y="0"/>
                  </a:moveTo>
                  <a:lnTo>
                    <a:pt x="0" y="35623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61" name="Freeform 61"/>
            <p:cNvSpPr/>
            <p:nvPr/>
          </p:nvSpPr>
          <p:spPr>
            <a:xfrm>
              <a:off x="7987665" y="3520440"/>
              <a:ext cx="9525" cy="356235"/>
            </a:xfrm>
            <a:custGeom>
              <a:avLst/>
              <a:gdLst/>
              <a:ahLst/>
              <a:cxnLst/>
              <a:rect l="l" t="t" r="r" b="b"/>
              <a:pathLst>
                <a:path w="9525" h="356235">
                  <a:moveTo>
                    <a:pt x="0" y="0"/>
                  </a:moveTo>
                  <a:lnTo>
                    <a:pt x="0" y="35623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62" name="Freeform 62"/>
            <p:cNvSpPr/>
            <p:nvPr/>
          </p:nvSpPr>
          <p:spPr>
            <a:xfrm>
              <a:off x="11213782" y="2351722"/>
              <a:ext cx="9525" cy="355282"/>
            </a:xfrm>
            <a:custGeom>
              <a:avLst/>
              <a:gdLst/>
              <a:ahLst/>
              <a:cxnLst/>
              <a:rect l="l" t="t" r="r" b="b"/>
              <a:pathLst>
                <a:path w="9525" h="355282">
                  <a:moveTo>
                    <a:pt x="0" y="0"/>
                  </a:moveTo>
                  <a:lnTo>
                    <a:pt x="0" y="355282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63" name="Freeform 63"/>
            <p:cNvSpPr/>
            <p:nvPr/>
          </p:nvSpPr>
          <p:spPr>
            <a:xfrm>
              <a:off x="11213782" y="2935605"/>
              <a:ext cx="9525" cy="356235"/>
            </a:xfrm>
            <a:custGeom>
              <a:avLst/>
              <a:gdLst/>
              <a:ahLst/>
              <a:cxnLst/>
              <a:rect l="l" t="t" r="r" b="b"/>
              <a:pathLst>
                <a:path w="9525" h="356235">
                  <a:moveTo>
                    <a:pt x="0" y="0"/>
                  </a:moveTo>
                  <a:lnTo>
                    <a:pt x="0" y="35623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64" name="Freeform 64"/>
            <p:cNvSpPr/>
            <p:nvPr/>
          </p:nvSpPr>
          <p:spPr>
            <a:xfrm>
              <a:off x="11213782" y="3520440"/>
              <a:ext cx="9525" cy="356235"/>
            </a:xfrm>
            <a:custGeom>
              <a:avLst/>
              <a:gdLst/>
              <a:ahLst/>
              <a:cxnLst/>
              <a:rect l="l" t="t" r="r" b="b"/>
              <a:pathLst>
                <a:path w="9525" h="356235">
                  <a:moveTo>
                    <a:pt x="0" y="0"/>
                  </a:moveTo>
                  <a:lnTo>
                    <a:pt x="0" y="35623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65" name="Rectangle 65"/>
            <p:cNvSpPr/>
            <p:nvPr/>
          </p:nvSpPr>
          <p:spPr>
            <a:xfrm>
              <a:off x="787718" y="2123122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9910762" y="2123122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11023282" y="2123122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787718" y="2707005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4792980" y="2707005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9910762" y="2707005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11023282" y="2707005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787718" y="3291840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2790825" y="3291840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4792980" y="3291840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795135" y="3291840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7797165" y="3291840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9910762" y="3291840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11023282" y="3291840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787718" y="3876675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1788795" y="3876675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2790825" y="3876675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3791902" y="3876675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4792980" y="3876675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5794058" y="3876675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6795135" y="3876675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7797165" y="3876675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8798242" y="3876675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9910762" y="3876675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11023282" y="3876675"/>
              <a:ext cx="381000" cy="22860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97076" y="21769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-∞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020121" y="21769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132641" y="21769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+∞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97076" y="276082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-∞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4940433" y="276082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020121" y="276082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132641" y="276082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+∞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97076" y="334565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-∞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2938278" y="334565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4940433" y="334565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904494" y="334565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906524" y="334565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020121" y="334565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132641" y="334565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+∞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97076" y="39295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-∞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936248" y="39295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2938278" y="39295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3939355" y="39295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4940433" y="39295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5903416" y="39295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6904494" y="39295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7906524" y="39295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8907601" y="39295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020121" y="39295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132641" y="39295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+∞</a:t>
              </a:r>
            </a:p>
          </p:txBody>
        </p:sp>
      </p:grpSp>
      <p:grpSp>
        <p:nvGrpSpPr>
          <p:cNvPr id="125" name="c1-bullets-2"/>
          <p:cNvGrpSpPr/>
          <p:nvPr/>
        </p:nvGrpSpPr>
        <p:grpSpPr>
          <a:xfrm>
            <a:off x="533400" y="4415790"/>
            <a:ext cx="8682340" cy="872775"/>
            <a:chOff x="533400" y="4415790"/>
            <a:chExt cx="8682340" cy="872775"/>
          </a:xfrm>
        </p:grpSpPr>
        <p:sp>
          <p:nvSpPr>
            <p:cNvPr id="116" name="Ellipse 116"/>
            <p:cNvSpPr/>
            <p:nvPr/>
          </p:nvSpPr>
          <p:spPr>
            <a:xfrm>
              <a:off x="533400" y="441579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585307" y="445141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803148" y="4426744"/>
              <a:ext cx="84125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 K，在查找失败的位置 p 插入 K。脚本实测：查 17 比较 6 次后停在第 0 层的结点 12，17 就插在它后面。</a:t>
              </a:r>
            </a:p>
          </p:txBody>
        </p:sp>
        <p:sp>
          <p:nvSpPr>
            <p:cNvPr id="119" name="Ellipse 119"/>
            <p:cNvSpPr/>
            <p:nvPr/>
          </p:nvSpPr>
          <p:spPr>
            <a:xfrm>
              <a:off x="533400" y="472154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585307" y="475716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803148" y="4732496"/>
              <a:ext cx="8137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以 1/2 的概率（抛硬币）向上生长一层，生长概率逐层减半，代码写成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while (rand() % 2 == 0)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继续长。</a:t>
              </a:r>
            </a:p>
          </p:txBody>
        </p:sp>
        <p:sp>
          <p:nvSpPr>
            <p:cNvPr id="122" name="Ellipse 122"/>
            <p:cNvSpPr/>
            <p:nvPr/>
          </p:nvSpPr>
          <p:spPr>
            <a:xfrm>
              <a:off x="533400" y="502729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585307" y="506291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803148" y="5039201"/>
              <a:ext cx="79572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插入的时间复杂度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O(log n)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：查找 O(log n)，生长层数的期望是常数，每层接一个结点只改两个指针。</a:t>
              </a:r>
            </a:p>
          </p:txBody>
        </p:sp>
      </p:grpSp>
      <p:grpSp>
        <p:nvGrpSpPr>
          <p:cNvPr id="13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126" name="Rectangle 12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30" name="Group 130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127" name="Freeform 127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28" name="Freeform 128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29" name="Freeform 129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31" name="TextBox 131"/>
            <p:cNvSpPr txBox="1"/>
            <p:nvPr/>
          </p:nvSpPr>
          <p:spPr>
            <a:xfrm>
              <a:off x="1040130" y="5991225"/>
              <a:ext cx="95362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本例抛硬币的结果是长了一层，所以 17 出现在第 0 层和第 1 层；再抛一次若仍是正面就会出现在第 2 层。</a:t>
              </a:r>
            </a:p>
          </p:txBody>
        </p:sp>
      </p:grpSp>
      <p:grpSp>
        <p:nvGrpSpPr>
          <p:cNvPr id="1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3" name="TextBox 133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跳跃表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跳跃表的删除与六条性质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4736140" cy="278702"/>
            <a:chOff x="526161" y="1547336"/>
            <a:chExt cx="473614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47361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删除 6：先查找 6，再把它在每一层出现的结点都摘掉。</a:t>
              </a:r>
            </a:p>
          </p:txBody>
        </p:sp>
      </p:grpSp>
      <p:grpSp>
        <p:nvGrpSpPr>
          <p:cNvPr id="98" name="c1-graph-1"/>
          <p:cNvGrpSpPr/>
          <p:nvPr/>
        </p:nvGrpSpPr>
        <p:grpSpPr>
          <a:xfrm>
            <a:off x="628650" y="1967865"/>
            <a:ext cx="5747384" cy="1904047"/>
            <a:chOff x="628650" y="1967865"/>
            <a:chExt cx="5747384" cy="1904047"/>
          </a:xfrm>
        </p:grpSpPr>
        <p:sp>
          <p:nvSpPr>
            <p:cNvPr id="9" name="Freeform 9"/>
            <p:cNvSpPr/>
            <p:nvPr/>
          </p:nvSpPr>
          <p:spPr>
            <a:xfrm>
              <a:off x="922972" y="2183130"/>
              <a:ext cx="4336733" cy="9525"/>
            </a:xfrm>
            <a:custGeom>
              <a:avLst/>
              <a:gdLst/>
              <a:ahLst/>
              <a:cxnLst/>
              <a:rect l="l" t="t" r="r" b="b"/>
              <a:pathLst>
                <a:path w="4336733" h="9525">
                  <a:moveTo>
                    <a:pt x="0" y="0"/>
                  </a:moveTo>
                  <a:lnTo>
                    <a:pt x="433673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259705" y="21355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5649278" y="2183130"/>
              <a:ext cx="337185" cy="9525"/>
            </a:xfrm>
            <a:custGeom>
              <a:avLst/>
              <a:gdLst/>
              <a:ahLst/>
              <a:cxnLst/>
              <a:rect l="l" t="t" r="r" b="b"/>
              <a:pathLst>
                <a:path w="337185" h="9525">
                  <a:moveTo>
                    <a:pt x="0" y="0"/>
                  </a:moveTo>
                  <a:lnTo>
                    <a:pt x="33718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986462" y="21355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22972" y="2706052"/>
              <a:ext cx="1609725" cy="9525"/>
            </a:xfrm>
            <a:custGeom>
              <a:avLst/>
              <a:gdLst/>
              <a:ahLst/>
              <a:cxnLst/>
              <a:rect l="l" t="t" r="r" b="b"/>
              <a:pathLst>
                <a:path w="1609725" h="9525">
                  <a:moveTo>
                    <a:pt x="0" y="0"/>
                  </a:moveTo>
                  <a:lnTo>
                    <a:pt x="16097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532698" y="26584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922270" y="2706052"/>
              <a:ext cx="2337435" cy="9525"/>
            </a:xfrm>
            <a:custGeom>
              <a:avLst/>
              <a:gdLst/>
              <a:ahLst/>
              <a:cxnLst/>
              <a:rect l="l" t="t" r="r" b="b"/>
              <a:pathLst>
                <a:path w="2337435" h="9525">
                  <a:moveTo>
                    <a:pt x="0" y="0"/>
                  </a:moveTo>
                  <a:lnTo>
                    <a:pt x="23374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259705" y="26584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5649278" y="2706052"/>
              <a:ext cx="337185" cy="9525"/>
            </a:xfrm>
            <a:custGeom>
              <a:avLst/>
              <a:gdLst/>
              <a:ahLst/>
              <a:cxnLst/>
              <a:rect l="l" t="t" r="r" b="b"/>
              <a:pathLst>
                <a:path w="337185" h="9525">
                  <a:moveTo>
                    <a:pt x="0" y="0"/>
                  </a:moveTo>
                  <a:lnTo>
                    <a:pt x="33718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986462" y="26584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922972" y="3228975"/>
              <a:ext cx="1609725" cy="9525"/>
            </a:xfrm>
            <a:custGeom>
              <a:avLst/>
              <a:gdLst/>
              <a:ahLst/>
              <a:cxnLst/>
              <a:rect l="l" t="t" r="r" b="b"/>
              <a:pathLst>
                <a:path w="1609725" h="9525">
                  <a:moveTo>
                    <a:pt x="0" y="0"/>
                  </a:moveTo>
                  <a:lnTo>
                    <a:pt x="16097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532698" y="31813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922270" y="3228975"/>
              <a:ext cx="943927" cy="9525"/>
            </a:xfrm>
            <a:custGeom>
              <a:avLst/>
              <a:gdLst/>
              <a:ahLst/>
              <a:cxnLst/>
              <a:rect l="l" t="t" r="r" b="b"/>
              <a:pathLst>
                <a:path w="943927" h="9525">
                  <a:moveTo>
                    <a:pt x="0" y="0"/>
                  </a:moveTo>
                  <a:lnTo>
                    <a:pt x="94392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866198" y="31813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255770" y="3228975"/>
              <a:ext cx="1003935" cy="9525"/>
            </a:xfrm>
            <a:custGeom>
              <a:avLst/>
              <a:gdLst/>
              <a:ahLst/>
              <a:cxnLst/>
              <a:rect l="l" t="t" r="r" b="b"/>
              <a:pathLst>
                <a:path w="1003935" h="9525">
                  <a:moveTo>
                    <a:pt x="0" y="0"/>
                  </a:moveTo>
                  <a:lnTo>
                    <a:pt x="10039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259705" y="31813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5649278" y="3228975"/>
              <a:ext cx="337185" cy="9525"/>
            </a:xfrm>
            <a:custGeom>
              <a:avLst/>
              <a:gdLst/>
              <a:ahLst/>
              <a:cxnLst/>
              <a:rect l="l" t="t" r="r" b="b"/>
              <a:pathLst>
                <a:path w="337185" h="9525">
                  <a:moveTo>
                    <a:pt x="0" y="0"/>
                  </a:moveTo>
                  <a:lnTo>
                    <a:pt x="33718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986462" y="31813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922972" y="3750945"/>
              <a:ext cx="277177" cy="9525"/>
            </a:xfrm>
            <a:custGeom>
              <a:avLst/>
              <a:gdLst/>
              <a:ahLst/>
              <a:cxnLst/>
              <a:rect l="l" t="t" r="r" b="b"/>
              <a:pathLst>
                <a:path w="277177" h="9525">
                  <a:moveTo>
                    <a:pt x="0" y="0"/>
                  </a:moveTo>
                  <a:lnTo>
                    <a:pt x="27717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200150" y="37033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589722" y="3750945"/>
              <a:ext cx="276225" cy="9525"/>
            </a:xfrm>
            <a:custGeom>
              <a:avLst/>
              <a:gdLst/>
              <a:ahLst/>
              <a:cxnLst/>
              <a:rect l="l" t="t" r="r" b="b"/>
              <a:pathLst>
                <a:path w="276225" h="9525">
                  <a:moveTo>
                    <a:pt x="0" y="0"/>
                  </a:moveTo>
                  <a:lnTo>
                    <a:pt x="2762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865948" y="37033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2256472" y="3750945"/>
              <a:ext cx="276225" cy="9525"/>
            </a:xfrm>
            <a:custGeom>
              <a:avLst/>
              <a:gdLst/>
              <a:ahLst/>
              <a:cxnLst/>
              <a:rect l="l" t="t" r="r" b="b"/>
              <a:pathLst>
                <a:path w="276225" h="9525">
                  <a:moveTo>
                    <a:pt x="0" y="0"/>
                  </a:moveTo>
                  <a:lnTo>
                    <a:pt x="2762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2532698" y="37033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2922270" y="3750945"/>
              <a:ext cx="277177" cy="9525"/>
            </a:xfrm>
            <a:custGeom>
              <a:avLst/>
              <a:gdLst/>
              <a:ahLst/>
              <a:cxnLst/>
              <a:rect l="l" t="t" r="r" b="b"/>
              <a:pathLst>
                <a:path w="277177" h="9525">
                  <a:moveTo>
                    <a:pt x="0" y="0"/>
                  </a:moveTo>
                  <a:lnTo>
                    <a:pt x="27717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3199448" y="37033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3589020" y="3750945"/>
              <a:ext cx="277177" cy="9525"/>
            </a:xfrm>
            <a:custGeom>
              <a:avLst/>
              <a:gdLst/>
              <a:ahLst/>
              <a:cxnLst/>
              <a:rect l="l" t="t" r="r" b="b"/>
              <a:pathLst>
                <a:path w="277177" h="9525">
                  <a:moveTo>
                    <a:pt x="0" y="0"/>
                  </a:moveTo>
                  <a:lnTo>
                    <a:pt x="27717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3866198" y="37033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4255770" y="3750945"/>
              <a:ext cx="276225" cy="9525"/>
            </a:xfrm>
            <a:custGeom>
              <a:avLst/>
              <a:gdLst/>
              <a:ahLst/>
              <a:cxnLst/>
              <a:rect l="l" t="t" r="r" b="b"/>
              <a:pathLst>
                <a:path w="276225" h="9525">
                  <a:moveTo>
                    <a:pt x="0" y="0"/>
                  </a:moveTo>
                  <a:lnTo>
                    <a:pt x="2762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4531995" y="37033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4922520" y="3750945"/>
              <a:ext cx="337185" cy="9525"/>
            </a:xfrm>
            <a:custGeom>
              <a:avLst/>
              <a:gdLst/>
              <a:ahLst/>
              <a:cxnLst/>
              <a:rect l="l" t="t" r="r" b="b"/>
              <a:pathLst>
                <a:path w="337185" h="9525">
                  <a:moveTo>
                    <a:pt x="0" y="0"/>
                  </a:moveTo>
                  <a:lnTo>
                    <a:pt x="33718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5259705" y="37033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5649278" y="3750945"/>
              <a:ext cx="337185" cy="9525"/>
            </a:xfrm>
            <a:custGeom>
              <a:avLst/>
              <a:gdLst/>
              <a:ahLst/>
              <a:cxnLst/>
              <a:rect l="l" t="t" r="r" b="b"/>
              <a:pathLst>
                <a:path w="337185" h="9525">
                  <a:moveTo>
                    <a:pt x="0" y="0"/>
                  </a:moveTo>
                  <a:lnTo>
                    <a:pt x="33718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5986462" y="37033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775335" y="2278380"/>
              <a:ext cx="9525" cy="332423"/>
            </a:xfrm>
            <a:custGeom>
              <a:avLst/>
              <a:gdLst/>
              <a:ahLst/>
              <a:cxnLst/>
              <a:rect l="l" t="t" r="r" b="b"/>
              <a:pathLst>
                <a:path w="9525" h="332423">
                  <a:moveTo>
                    <a:pt x="0" y="0"/>
                  </a:moveTo>
                  <a:lnTo>
                    <a:pt x="0" y="332423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44" name="Freeform 44"/>
            <p:cNvSpPr/>
            <p:nvPr/>
          </p:nvSpPr>
          <p:spPr>
            <a:xfrm>
              <a:off x="775335" y="2801302"/>
              <a:ext cx="9525" cy="331470"/>
            </a:xfrm>
            <a:custGeom>
              <a:avLst/>
              <a:gdLst/>
              <a:ahLst/>
              <a:cxnLst/>
              <a:rect l="l" t="t" r="r" b="b"/>
              <a:pathLst>
                <a:path w="9525" h="331470">
                  <a:moveTo>
                    <a:pt x="0" y="0"/>
                  </a:moveTo>
                  <a:lnTo>
                    <a:pt x="0" y="33147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45" name="Freeform 45"/>
            <p:cNvSpPr/>
            <p:nvPr/>
          </p:nvSpPr>
          <p:spPr>
            <a:xfrm>
              <a:off x="775335" y="3324225"/>
              <a:ext cx="9525" cy="331470"/>
            </a:xfrm>
            <a:custGeom>
              <a:avLst/>
              <a:gdLst/>
              <a:ahLst/>
              <a:cxnLst/>
              <a:rect l="l" t="t" r="r" b="b"/>
              <a:pathLst>
                <a:path w="9525" h="331470">
                  <a:moveTo>
                    <a:pt x="0" y="0"/>
                  </a:moveTo>
                  <a:lnTo>
                    <a:pt x="0" y="33147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46" name="Freeform 46"/>
            <p:cNvSpPr/>
            <p:nvPr/>
          </p:nvSpPr>
          <p:spPr>
            <a:xfrm>
              <a:off x="5502592" y="2278380"/>
              <a:ext cx="9525" cy="332423"/>
            </a:xfrm>
            <a:custGeom>
              <a:avLst/>
              <a:gdLst/>
              <a:ahLst/>
              <a:cxnLst/>
              <a:rect l="l" t="t" r="r" b="b"/>
              <a:pathLst>
                <a:path w="9525" h="332423">
                  <a:moveTo>
                    <a:pt x="0" y="0"/>
                  </a:moveTo>
                  <a:lnTo>
                    <a:pt x="0" y="332423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47" name="Freeform 47"/>
            <p:cNvSpPr/>
            <p:nvPr/>
          </p:nvSpPr>
          <p:spPr>
            <a:xfrm>
              <a:off x="5502592" y="2801302"/>
              <a:ext cx="9525" cy="331470"/>
            </a:xfrm>
            <a:custGeom>
              <a:avLst/>
              <a:gdLst/>
              <a:ahLst/>
              <a:cxnLst/>
              <a:rect l="l" t="t" r="r" b="b"/>
              <a:pathLst>
                <a:path w="9525" h="331470">
                  <a:moveTo>
                    <a:pt x="0" y="0"/>
                  </a:moveTo>
                  <a:lnTo>
                    <a:pt x="0" y="33147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48" name="Freeform 48"/>
            <p:cNvSpPr/>
            <p:nvPr/>
          </p:nvSpPr>
          <p:spPr>
            <a:xfrm>
              <a:off x="5502592" y="3324225"/>
              <a:ext cx="9525" cy="331470"/>
            </a:xfrm>
            <a:custGeom>
              <a:avLst/>
              <a:gdLst/>
              <a:ahLst/>
              <a:cxnLst/>
              <a:rect l="l" t="t" r="r" b="b"/>
              <a:pathLst>
                <a:path w="9525" h="331470">
                  <a:moveTo>
                    <a:pt x="0" y="0"/>
                  </a:moveTo>
                  <a:lnTo>
                    <a:pt x="0" y="33147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49" name="Freeform 49"/>
            <p:cNvSpPr/>
            <p:nvPr/>
          </p:nvSpPr>
          <p:spPr>
            <a:xfrm>
              <a:off x="2775585" y="2801302"/>
              <a:ext cx="9525" cy="331470"/>
            </a:xfrm>
            <a:custGeom>
              <a:avLst/>
              <a:gdLst/>
              <a:ahLst/>
              <a:cxnLst/>
              <a:rect l="l" t="t" r="r" b="b"/>
              <a:pathLst>
                <a:path w="9525" h="331470">
                  <a:moveTo>
                    <a:pt x="0" y="0"/>
                  </a:moveTo>
                  <a:lnTo>
                    <a:pt x="0" y="33147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0" name="Freeform 50"/>
            <p:cNvSpPr/>
            <p:nvPr/>
          </p:nvSpPr>
          <p:spPr>
            <a:xfrm>
              <a:off x="2775585" y="3324225"/>
              <a:ext cx="9525" cy="331470"/>
            </a:xfrm>
            <a:custGeom>
              <a:avLst/>
              <a:gdLst/>
              <a:ahLst/>
              <a:cxnLst/>
              <a:rect l="l" t="t" r="r" b="b"/>
              <a:pathLst>
                <a:path w="9525" h="331470">
                  <a:moveTo>
                    <a:pt x="0" y="0"/>
                  </a:moveTo>
                  <a:lnTo>
                    <a:pt x="0" y="33147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1" name="Freeform 51"/>
            <p:cNvSpPr/>
            <p:nvPr/>
          </p:nvSpPr>
          <p:spPr>
            <a:xfrm>
              <a:off x="4108132" y="3324225"/>
              <a:ext cx="9525" cy="331470"/>
            </a:xfrm>
            <a:custGeom>
              <a:avLst/>
              <a:gdLst/>
              <a:ahLst/>
              <a:cxnLst/>
              <a:rect l="l" t="t" r="r" b="b"/>
              <a:pathLst>
                <a:path w="9525" h="331470">
                  <a:moveTo>
                    <a:pt x="0" y="0"/>
                  </a:moveTo>
                  <a:lnTo>
                    <a:pt x="0" y="33147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2" name="Freeform 52"/>
            <p:cNvSpPr/>
            <p:nvPr/>
          </p:nvSpPr>
          <p:spPr>
            <a:xfrm>
              <a:off x="6229350" y="2278380"/>
              <a:ext cx="9525" cy="332423"/>
            </a:xfrm>
            <a:custGeom>
              <a:avLst/>
              <a:gdLst/>
              <a:ahLst/>
              <a:cxnLst/>
              <a:rect l="l" t="t" r="r" b="b"/>
              <a:pathLst>
                <a:path w="9525" h="332423">
                  <a:moveTo>
                    <a:pt x="0" y="0"/>
                  </a:moveTo>
                  <a:lnTo>
                    <a:pt x="0" y="332423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3" name="Freeform 53"/>
            <p:cNvSpPr/>
            <p:nvPr/>
          </p:nvSpPr>
          <p:spPr>
            <a:xfrm>
              <a:off x="6229350" y="2801302"/>
              <a:ext cx="9525" cy="331470"/>
            </a:xfrm>
            <a:custGeom>
              <a:avLst/>
              <a:gdLst/>
              <a:ahLst/>
              <a:cxnLst/>
              <a:rect l="l" t="t" r="r" b="b"/>
              <a:pathLst>
                <a:path w="9525" h="331470">
                  <a:moveTo>
                    <a:pt x="0" y="0"/>
                  </a:moveTo>
                  <a:lnTo>
                    <a:pt x="0" y="33147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4" name="Freeform 54"/>
            <p:cNvSpPr/>
            <p:nvPr/>
          </p:nvSpPr>
          <p:spPr>
            <a:xfrm>
              <a:off x="6229350" y="3324225"/>
              <a:ext cx="9525" cy="331470"/>
            </a:xfrm>
            <a:custGeom>
              <a:avLst/>
              <a:gdLst/>
              <a:ahLst/>
              <a:cxnLst/>
              <a:rect l="l" t="t" r="r" b="b"/>
              <a:pathLst>
                <a:path w="9525" h="331470">
                  <a:moveTo>
                    <a:pt x="0" y="0"/>
                  </a:moveTo>
                  <a:lnTo>
                    <a:pt x="0" y="33147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8650" y="2087880"/>
              <a:ext cx="294322" cy="190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354955" y="2087880"/>
              <a:ext cx="294322" cy="190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81712" y="2087880"/>
              <a:ext cx="294322" cy="190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28650" y="2610802"/>
              <a:ext cx="294322" cy="190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2627948" y="2610802"/>
              <a:ext cx="294322" cy="190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5354955" y="2610802"/>
              <a:ext cx="294322" cy="190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081712" y="2610802"/>
              <a:ext cx="294322" cy="190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8650" y="3132772"/>
              <a:ext cx="294322" cy="190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2627948" y="3132772"/>
              <a:ext cx="294322" cy="190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3961448" y="3132772"/>
              <a:ext cx="294322" cy="190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5354955" y="3132772"/>
              <a:ext cx="294322" cy="190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081712" y="3132772"/>
              <a:ext cx="294322" cy="190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8650" y="3655695"/>
              <a:ext cx="294322" cy="190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1295400" y="3655695"/>
              <a:ext cx="294322" cy="190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1961198" y="3655695"/>
              <a:ext cx="294322" cy="190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2627948" y="3655695"/>
              <a:ext cx="294322" cy="190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3294698" y="3655695"/>
              <a:ext cx="294322" cy="190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3961448" y="3655695"/>
              <a:ext cx="294322" cy="190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4627245" y="3655695"/>
              <a:ext cx="294322" cy="190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5354955" y="3655695"/>
              <a:ext cx="294322" cy="190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081712" y="3655695"/>
              <a:ext cx="294322" cy="190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00604" y="21269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-∞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427861" y="21269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154619" y="21269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+∞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00604" y="264985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-∞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2735838" y="264985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427861" y="264985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154619" y="264985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+∞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00604" y="317277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-∞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2735838" y="317277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4033401" y="317277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427861" y="317277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154619" y="317277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+∞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00604" y="36957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-∞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402338" y="36957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2069088" y="36957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2735838" y="36957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3367604" y="36957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4033401" y="36957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4700151" y="36957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5427861" y="36957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154619" y="36957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+∞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649034" y="1967865"/>
              <a:ext cx="2781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删除 6 之后：第 0 层与第 1 层的 6 都被摘掉</a:t>
              </a:r>
            </a:p>
          </p:txBody>
        </p:sp>
      </p:grpSp>
      <p:grpSp>
        <p:nvGrpSpPr>
          <p:cNvPr id="104" name="c1-callout-2"/>
          <p:cNvGrpSpPr/>
          <p:nvPr/>
        </p:nvGrpSpPr>
        <p:grpSpPr>
          <a:xfrm>
            <a:off x="533400" y="4127182"/>
            <a:ext cx="6059805" cy="1449705"/>
            <a:chOff x="533400" y="4127182"/>
            <a:chExt cx="6059805" cy="1449705"/>
          </a:xfrm>
        </p:grpSpPr>
        <p:sp>
          <p:nvSpPr>
            <p:cNvPr id="99" name="Rectangle 99"/>
            <p:cNvSpPr/>
            <p:nvPr/>
          </p:nvSpPr>
          <p:spPr>
            <a:xfrm>
              <a:off x="533400" y="4127182"/>
              <a:ext cx="6059805" cy="1449705"/>
            </a:xfrm>
            <a:prstGeom prst="roundRect">
              <a:avLst>
                <a:gd name="adj" fmla="val 788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02" name="Group 102"/>
            <p:cNvGrpSpPr/>
            <p:nvPr/>
          </p:nvGrpSpPr>
          <p:grpSpPr>
            <a:xfrm>
              <a:off x="738188" y="4752025"/>
              <a:ext cx="200023" cy="200023"/>
              <a:chOff x="738188" y="4752025"/>
              <a:chExt cx="200023" cy="200023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738188" y="47520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71538" y="48186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3" name="TextBox 103"/>
            <p:cNvSpPr txBox="1"/>
            <p:nvPr/>
          </p:nvSpPr>
          <p:spPr>
            <a:xfrm>
              <a:off x="1040892" y="4633912"/>
              <a:ext cx="5089493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删除的时间复杂度 </a:t>
              </a:r>
              <a:r>
                <a:rPr lang="en-US" sz="135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O(log n)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，和查找同阶；摘结点时顺着塔从上往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下改指针即可。</a:t>
              </a:r>
            </a:p>
          </p:txBody>
        </p:sp>
      </p:grpSp>
      <p:grpSp>
        <p:nvGrpSpPr>
          <p:cNvPr id="127" name="c2-card-1"/>
          <p:cNvGrpSpPr/>
          <p:nvPr/>
        </p:nvGrpSpPr>
        <p:grpSpPr>
          <a:xfrm>
            <a:off x="6898005" y="1941195"/>
            <a:ext cx="4760595" cy="2482215"/>
            <a:chOff x="6898005" y="1941195"/>
            <a:chExt cx="4760595" cy="2482215"/>
          </a:xfrm>
        </p:grpSpPr>
        <p:sp>
          <p:nvSpPr>
            <p:cNvPr id="105" name="Rectangle 105"/>
            <p:cNvSpPr/>
            <p:nvPr/>
          </p:nvSpPr>
          <p:spPr>
            <a:xfrm>
              <a:off x="6898005" y="1941195"/>
              <a:ext cx="4760595" cy="2482215"/>
            </a:xfrm>
            <a:prstGeom prst="roundRect">
              <a:avLst>
                <a:gd name="adj" fmla="val 5372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7090410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7181850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总结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674102" y="217360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跳跃表的六条性质</a:t>
              </a:r>
            </a:p>
          </p:txBody>
        </p:sp>
        <p:sp>
          <p:nvSpPr>
            <p:cNvPr id="109" name="Ellipse 109"/>
            <p:cNvSpPr/>
            <p:nvPr/>
          </p:nvSpPr>
          <p:spPr>
            <a:xfrm>
              <a:off x="7089458" y="249555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7145136" y="25339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7370254" y="250793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每一层都是一个有序的链表。</a:t>
              </a:r>
            </a:p>
          </p:txBody>
        </p:sp>
        <p:sp>
          <p:nvSpPr>
            <p:cNvPr id="112" name="Ellipse 112"/>
            <p:cNvSpPr/>
            <p:nvPr/>
          </p:nvSpPr>
          <p:spPr>
            <a:xfrm>
              <a:off x="7089458" y="279844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7145136" y="28368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7370254" y="2810827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最底层的链表包含所有元素。</a:t>
              </a:r>
            </a:p>
          </p:txBody>
        </p:sp>
        <p:sp>
          <p:nvSpPr>
            <p:cNvPr id="115" name="Ellipse 115"/>
            <p:cNvSpPr/>
            <p:nvPr/>
          </p:nvSpPr>
          <p:spPr>
            <a:xfrm>
              <a:off x="7089458" y="310038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7145136" y="313972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7370254" y="311277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是一种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随机化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的数据结构。</a:t>
              </a:r>
            </a:p>
          </p:txBody>
        </p:sp>
        <p:sp>
          <p:nvSpPr>
            <p:cNvPr id="118" name="Ellipse 118"/>
            <p:cNvSpPr/>
            <p:nvPr/>
          </p:nvSpPr>
          <p:spPr>
            <a:xfrm>
              <a:off x="7089458" y="340328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7145136" y="344166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7370254" y="3415665"/>
              <a:ext cx="3911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查找、插入、删除的时间复杂度都是 O(log n)。</a:t>
              </a:r>
            </a:p>
          </p:txBody>
        </p:sp>
        <p:sp>
          <p:nvSpPr>
            <p:cNvPr id="121" name="Ellipse 121"/>
            <p:cNvSpPr/>
            <p:nvPr/>
          </p:nvSpPr>
          <p:spPr>
            <a:xfrm>
              <a:off x="7089458" y="3706177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7145136" y="37445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7370254" y="3717608"/>
              <a:ext cx="1790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空间复杂度为 O(n)。</a:t>
              </a:r>
            </a:p>
          </p:txBody>
        </p:sp>
        <p:sp>
          <p:nvSpPr>
            <p:cNvPr id="124" name="Ellipse 124"/>
            <p:cNvSpPr/>
            <p:nvPr/>
          </p:nvSpPr>
          <p:spPr>
            <a:xfrm>
              <a:off x="7089458" y="400812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7145136" y="40465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7370254" y="402050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适合动态查找场景。</a:t>
              </a:r>
            </a:p>
          </p:txBody>
        </p:sp>
      </p:grpSp>
      <p:grpSp>
        <p:nvGrpSpPr>
          <p:cNvPr id="134" name="c2-callout-2"/>
          <p:cNvGrpSpPr/>
          <p:nvPr/>
        </p:nvGrpSpPr>
        <p:grpSpPr>
          <a:xfrm>
            <a:off x="6898005" y="4598670"/>
            <a:ext cx="4760595" cy="978218"/>
            <a:chOff x="6898005" y="4598670"/>
            <a:chExt cx="4760595" cy="978218"/>
          </a:xfrm>
        </p:grpSpPr>
        <p:sp>
          <p:nvSpPr>
            <p:cNvPr id="128" name="Rectangle 128"/>
            <p:cNvSpPr/>
            <p:nvPr/>
          </p:nvSpPr>
          <p:spPr>
            <a:xfrm>
              <a:off x="6898005" y="4598670"/>
              <a:ext cx="4760595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32" name="Group 132"/>
            <p:cNvGrpSpPr/>
            <p:nvPr/>
          </p:nvGrpSpPr>
          <p:grpSpPr>
            <a:xfrm>
              <a:off x="7102793" y="4988243"/>
              <a:ext cx="200026" cy="200025"/>
              <a:chOff x="7102793" y="4988243"/>
              <a:chExt cx="200026" cy="200025"/>
            </a:xfrm>
          </p:grpSpPr>
          <p:sp>
            <p:nvSpPr>
              <p:cNvPr id="129" name="Freeform 129"/>
              <p:cNvSpPr/>
              <p:nvPr/>
            </p:nvSpPr>
            <p:spPr>
              <a:xfrm>
                <a:off x="7102793" y="49882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0" name="Freeform 130"/>
              <p:cNvSpPr/>
              <p:nvPr/>
            </p:nvSpPr>
            <p:spPr>
              <a:xfrm>
                <a:off x="7142531" y="50326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1" name="Freeform 131"/>
              <p:cNvSpPr/>
              <p:nvPr/>
            </p:nvSpPr>
            <p:spPr>
              <a:xfrm>
                <a:off x="7177247" y="51438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33" name="TextBox 133"/>
            <p:cNvSpPr txBox="1"/>
            <p:nvPr/>
          </p:nvSpPr>
          <p:spPr>
            <a:xfrm>
              <a:off x="7405497" y="4745355"/>
              <a:ext cx="37856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平衡树靠旋转维持高度，情形繁多；跳跃表靠抛硬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币，插入删除只改几个指针，实现简单且适合并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发。</a:t>
              </a:r>
            </a:p>
          </p:txBody>
        </p:sp>
      </p:grpSp>
      <p:grpSp>
        <p:nvGrpSpPr>
          <p:cNvPr id="14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35" name="Rectangle 13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39" name="Group 139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136" name="Freeform 136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7" name="Freeform 137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8" name="Freeform 138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40" name="TextBox 140"/>
            <p:cNvSpPr txBox="1"/>
            <p:nvPr/>
          </p:nvSpPr>
          <p:spPr>
            <a:xfrm>
              <a:off x="1040892" y="6023610"/>
              <a:ext cx="8596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O(log n) 是期望复杂度。最坏情况下所有结点都只有一层，跳跃表退化成普通有序链表，查找变成 O(n)。</a:t>
              </a:r>
            </a:p>
          </p:txBody>
        </p:sp>
      </p:grpSp>
      <p:grpSp>
        <p:nvGrpSpPr>
          <p:cNvPr id="1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2" name="TextBox 142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 · 跳跃表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跳跃表的两种实现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1831658"/>
            <a:chOff x="533400" y="1524000"/>
            <a:chExt cx="5626418" cy="18316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344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实现一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0947" y="175641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四联表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6943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每个结点存四个指针：pre、next、above、below。同一层用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pre/next 串成双向链表，同一座塔用 above/below 串起来。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70605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649855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好处是从任意结点都能上下左右走，删除时不必从头再查一遍。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300894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29527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代价是指针多，空间常数大。</a:t>
              </a:r>
            </a:p>
          </p:txBody>
        </p:sp>
      </p:grpSp>
      <p:grpSp>
        <p:nvGrpSpPr>
          <p:cNvPr id="36" name="c1-graph-2"/>
          <p:cNvGrpSpPr/>
          <p:nvPr/>
        </p:nvGrpSpPr>
        <p:grpSpPr>
          <a:xfrm>
            <a:off x="1100138" y="3678555"/>
            <a:ext cx="4492942" cy="1771651"/>
            <a:chOff x="1100138" y="3678555"/>
            <a:chExt cx="4492942" cy="1771651"/>
          </a:xfrm>
        </p:grpSpPr>
        <p:sp>
          <p:nvSpPr>
            <p:cNvPr id="18" name="Freeform 18"/>
            <p:cNvSpPr/>
            <p:nvPr/>
          </p:nvSpPr>
          <p:spPr>
            <a:xfrm>
              <a:off x="3347085" y="4015740"/>
              <a:ext cx="9525" cy="401002"/>
            </a:xfrm>
            <a:custGeom>
              <a:avLst/>
              <a:gdLst/>
              <a:ahLst/>
              <a:cxnLst/>
              <a:rect l="l" t="t" r="r" b="b"/>
              <a:pathLst>
                <a:path w="9525" h="401002">
                  <a:moveTo>
                    <a:pt x="0" y="40100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299460" y="39204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3347085" y="4712018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299460" y="51120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749742" y="4564380"/>
              <a:ext cx="1232535" cy="9525"/>
            </a:xfrm>
            <a:custGeom>
              <a:avLst/>
              <a:gdLst/>
              <a:ahLst/>
              <a:cxnLst/>
              <a:rect l="l" t="t" r="r" b="b"/>
              <a:pathLst>
                <a:path w="1232535" h="9525">
                  <a:moveTo>
                    <a:pt x="123253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654492" y="45167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3710940" y="4564380"/>
              <a:ext cx="1232535" cy="9525"/>
            </a:xfrm>
            <a:custGeom>
              <a:avLst/>
              <a:gdLst/>
              <a:ahLst/>
              <a:cxnLst/>
              <a:rect l="l" t="t" r="r" b="b"/>
              <a:pathLst>
                <a:path w="1232535" h="9525">
                  <a:moveTo>
                    <a:pt x="0" y="0"/>
                  </a:moveTo>
                  <a:lnTo>
                    <a:pt x="12325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943475" y="45167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982278" y="4416742"/>
              <a:ext cx="727710" cy="294322"/>
            </a:xfrm>
            <a:prstGeom prst="roundRect">
              <a:avLst>
                <a:gd name="adj" fmla="val 323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034665" y="3678555"/>
              <a:ext cx="623888" cy="242888"/>
            </a:xfrm>
            <a:prstGeom prst="roundRect">
              <a:avLst>
                <a:gd name="adj" fmla="val 3921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034665" y="5207318"/>
              <a:ext cx="623888" cy="242888"/>
            </a:xfrm>
            <a:prstGeom prst="roundRect">
              <a:avLst>
                <a:gd name="adj" fmla="val 3921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100138" y="4442460"/>
              <a:ext cx="554355" cy="242888"/>
            </a:xfrm>
            <a:prstGeom prst="roundRect">
              <a:avLst>
                <a:gd name="adj" fmla="val 3921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038725" y="4442460"/>
              <a:ext cx="554355" cy="242888"/>
            </a:xfrm>
            <a:prstGeom prst="roundRect">
              <a:avLst>
                <a:gd name="adj" fmla="val 3921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202385" y="4508182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67401" y="3743325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above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70581" y="5273040"/>
              <a:ext cx="3530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below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67599" y="4508182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171203" y="4508182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464618" y="1524000"/>
            <a:ext cx="5193982" cy="1483995"/>
            <a:chOff x="6464618" y="1524000"/>
            <a:chExt cx="5193982" cy="1483995"/>
          </a:xfrm>
        </p:grpSpPr>
        <p:sp>
          <p:nvSpPr>
            <p:cNvPr id="37" name="Rectangle 37"/>
            <p:cNvSpPr/>
            <p:nvPr/>
          </p:nvSpPr>
          <p:spPr>
            <a:xfrm>
              <a:off x="6464618" y="1524000"/>
              <a:ext cx="5193982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4142" y="165735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95122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82562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实现二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12164" y="175641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指针数组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88264" y="2090738"/>
              <a:ext cx="443712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一个关键词只存一个结点，结点里带一个变长的 next 指针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数组：next[i] 指向本结点在第 i 层的后继，数组长度就是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层数。空间更省，Redis 的有序集合用的就是这种写法。</a:t>
              </a:r>
            </a:p>
          </p:txBody>
        </p:sp>
      </p:grpSp>
      <p:grpSp>
        <p:nvGrpSpPr>
          <p:cNvPr id="47" name="c2-code-2"/>
          <p:cNvGrpSpPr/>
          <p:nvPr/>
        </p:nvGrpSpPr>
        <p:grpSpPr>
          <a:xfrm>
            <a:off x="6464618" y="3183255"/>
            <a:ext cx="5193982" cy="1261110"/>
            <a:chOff x="6464618" y="3183255"/>
            <a:chExt cx="5193982" cy="1261110"/>
          </a:xfrm>
        </p:grpSpPr>
        <p:sp>
          <p:nvSpPr>
            <p:cNvPr id="44" name="Rectangle 44"/>
            <p:cNvSpPr/>
            <p:nvPr/>
          </p:nvSpPr>
          <p:spPr>
            <a:xfrm>
              <a:off x="6464618" y="3183255"/>
              <a:ext cx="5193982" cy="1261110"/>
            </a:xfrm>
            <a:prstGeom prst="roundRect">
              <a:avLst>
                <a:gd name="adj" fmla="val 75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93015" y="3335179"/>
              <a:ext cx="16966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结点定义（源课件第 88 页）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92634" y="3596640"/>
              <a:ext cx="3451098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SkipNode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SkipNode *next[];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柔性数组成员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grpSp>
        <p:nvGrpSpPr>
          <p:cNvPr id="54" name="c2-callout-3"/>
          <p:cNvGrpSpPr/>
          <p:nvPr/>
        </p:nvGrpSpPr>
        <p:grpSpPr>
          <a:xfrm>
            <a:off x="6464618" y="4619625"/>
            <a:ext cx="5193982" cy="978218"/>
            <a:chOff x="6464618" y="4619625"/>
            <a:chExt cx="5193982" cy="978218"/>
          </a:xfrm>
        </p:grpSpPr>
        <p:sp>
          <p:nvSpPr>
            <p:cNvPr id="48" name="Rectangle 48"/>
            <p:cNvSpPr/>
            <p:nvPr/>
          </p:nvSpPr>
          <p:spPr>
            <a:xfrm>
              <a:off x="6464618" y="4619625"/>
              <a:ext cx="5193982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657347" y="5004553"/>
              <a:ext cx="224134" cy="192560"/>
              <a:chOff x="6657347" y="5004553"/>
              <a:chExt cx="224134" cy="19256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769418" y="50749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657347" y="50045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769418" y="51527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972110" y="4765358"/>
              <a:ext cx="424853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抛硬币得到层数 lv 后一次 malloc 出「结构体 + lv 个指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针」。更正：源课件写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SkipNode *next[];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是 C++ 省略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写法，C 里要写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struct SkipNode *next[];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5" name="Rectangle 5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892" y="6023610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两种实现的时间复杂度完全相同，选哪种取决于是否需要反向遍历和对空间的要求。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42644" cy="909257"/>
            <a:chOff x="520446" y="342900"/>
            <a:chExt cx="13426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558034" cy="264033"/>
            <a:chOff x="526542" y="1545907"/>
            <a:chExt cx="255803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先把答案写在纸上，再看解答。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2157412"/>
            <a:chOff x="533400" y="1928812"/>
            <a:chExt cx="3505200" cy="215741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294147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12 23 26 37 55 60 68 75 82 96 中对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半查找 58，要比较几次？结束时 low 和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high 各是多少？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3220879"/>
              <a:ext cx="289026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次。mid 依次取 5(55)、8(75)、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6(60)，最后 low=6、high=5 交叉返回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−1。失败位置就在 R[5] 与 R[6] 之间。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251008"/>
            <a:ext cx="3505200" cy="1914525"/>
            <a:chOff x="533400" y="4251008"/>
            <a:chExt cx="3505200" cy="1914525"/>
          </a:xfrm>
        </p:grpSpPr>
        <p:sp>
          <p:nvSpPr>
            <p:cNvPr id="15" name="Rectangle 15"/>
            <p:cNvSpPr/>
            <p:nvPr/>
          </p:nvSpPr>
          <p:spPr>
            <a:xfrm>
              <a:off x="533400" y="4251008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44319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44648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772501"/>
              <a:ext cx="283174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BinSearchFirstPosGEK 在表中不存在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 K 的元素时返回什么？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5300186"/>
              <a:ext cx="30203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 n+1。这时每轮都走 else 分支，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low 一路加到 n+1。调用方用“返回值 &gt;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n”判断没有满足条件的元素。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1914525"/>
            <a:chOff x="4343400" y="1928812"/>
            <a:chExt cx="3505200" cy="1914525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2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7898" y="2449354"/>
              <a:ext cx="2834589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T(1,10) 的外结点有几个？查找失败的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ASL 怎么算？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7898" y="2977991"/>
              <a:ext cx="291465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个，等于 n+1。5 个在深度 3、6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个在深度 4，失败比较次数等于外结点深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度，ASL = (5×3+6×4)/11 ≈ 3.55。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008120"/>
            <a:ext cx="3505200" cy="2157412"/>
            <a:chOff x="4343400" y="4008120"/>
            <a:chExt cx="3505200" cy="2157412"/>
          </a:xfrm>
        </p:grpSpPr>
        <p:sp>
          <p:nvSpPr>
            <p:cNvPr id="27" name="Rectangle 27"/>
            <p:cNvSpPr/>
            <p:nvPr/>
          </p:nvSpPr>
          <p:spPr>
            <a:xfrm>
              <a:off x="434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2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7898" y="4529614"/>
              <a:ext cx="286832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n=10000 的分块查找，块长 s 取多少时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ASL 最小？最小值是多少？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7898" y="5057299"/>
              <a:ext cx="291465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ASL = (n/s+s)/2+1，由均值不等式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s = √n = 100 时最小，ASL = √n+1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101。顺序查找同规模要 5000 次。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1914525"/>
            <a:chOff x="8153400" y="1928812"/>
            <a:chExt cx="3505200" cy="1914525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3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7898" y="2449354"/>
              <a:ext cx="28760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斐波那契查找要求 n = Fₖ−1。若 n=100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该取 k 为几？多出的位置怎么补？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27898" y="2977991"/>
              <a:ext cx="293090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F₁₁−1=88 &lt; 100，F₁₂−1=143 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100，取 k=12。把 R[101] 到 R[143] 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填成 R[100]，返回时取 min(mid, n)。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008120"/>
            <a:ext cx="3505200" cy="2157412"/>
            <a:chOff x="8153400" y="4008120"/>
            <a:chExt cx="3505200" cy="2157412"/>
          </a:xfrm>
        </p:grpSpPr>
        <p:sp>
          <p:nvSpPr>
            <p:cNvPr id="39" name="Rectangle 39"/>
            <p:cNvSpPr/>
            <p:nvPr/>
          </p:nvSpPr>
          <p:spPr>
            <a:xfrm>
              <a:off x="815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3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7898" y="4529614"/>
              <a:ext cx="291221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跳跃表的空间为什么是 O(n)？查找为什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么是 O(log n)？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7898" y="5057299"/>
              <a:ext cx="30203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层期望 n/2ⁱ 个结点，总数 &lt;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2n。层数期望 O(log n)，每层向右的期望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步数是常数，相乘得 O(log n)。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第22讲 线性查找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287905"/>
            <a:chOff x="533400" y="1524000"/>
            <a:chExt cx="5842635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775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97046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要点与代价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顺序查找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30158" y="2023110"/>
              <a:ext cx="3694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无任何前提；ASL 成功 (n+1)/2、失败 n；有序表可提前停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对半查找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30158" y="2404110"/>
              <a:ext cx="40283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mid 取中点；O(log n)；判定树读出 ASL 成功 2.9、失败 39/11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斐波那契与插值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30158" y="2785110"/>
              <a:ext cx="36918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mid 换一种取法；前者只用加减法，后者平均 O(log log n)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分块查找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30158" y="3167062"/>
              <a:ext cx="3487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块间有序块内无序；ASL = (n/s+s)/2+1，s=√n 时最小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边界二分与跳跃表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30158" y="3548062"/>
              <a:ext cx="3781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边界版返回 low 或 high；跳跃表期望 O(log n)、空间 O(n)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930718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rd-2"/>
          <p:cNvGrpSpPr/>
          <p:nvPr/>
        </p:nvGrpSpPr>
        <p:grpSpPr>
          <a:xfrm>
            <a:off x="533400" y="3976688"/>
            <a:ext cx="5842635" cy="1687830"/>
            <a:chOff x="533400" y="3976688"/>
            <a:chExt cx="5842635" cy="1687830"/>
          </a:xfrm>
        </p:grpSpPr>
        <p:sp>
          <p:nvSpPr>
            <p:cNvPr id="29" name="Rectangle 29"/>
            <p:cNvSpPr/>
            <p:nvPr/>
          </p:nvSpPr>
          <p:spPr>
            <a:xfrm>
              <a:off x="533400" y="3976688"/>
              <a:ext cx="5842635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10038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15766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3946" y="41905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更正与补充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91830" y="419814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52475" y="450342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4382" y="453904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2223" y="4514374"/>
              <a:ext cx="47840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18、23 页标题写错；第 29 与 32 页同一数组第 5 个元素写法不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一；第 57 页题面与配图的下标基准不一致。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52475" y="503110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4382" y="506672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2223" y="5042059"/>
              <a:ext cx="49791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63 页残留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if(K&lt;=R[mid])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、第 61 页缺右花括号且函数嵌套定义，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均已改正。</a:t>
              </a:r>
            </a:p>
          </p:txBody>
        </p:sp>
      </p:grpSp>
      <p:grpSp>
        <p:nvGrpSpPr>
          <p:cNvPr id="53" name="c2-bullets-1"/>
          <p:cNvGrpSpPr/>
          <p:nvPr/>
        </p:nvGrpSpPr>
        <p:grpSpPr>
          <a:xfrm>
            <a:off x="6681788" y="1533525"/>
            <a:ext cx="5000193" cy="1869091"/>
            <a:chOff x="6681788" y="1533525"/>
            <a:chExt cx="5000193" cy="1869091"/>
          </a:xfrm>
        </p:grpSpPr>
        <p:sp>
          <p:nvSpPr>
            <p:cNvPr id="41" name="Ellipse 41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51536" y="1545431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选查找算法先问三句：表有序吗、能随机访问吗、要不要频繁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增删。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681788" y="206978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33694" y="21054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51536" y="2080736"/>
              <a:ext cx="44508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二分类算法的区别只在 mid 怎么取，正确性都靠“递增有序”这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一条。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681788" y="260604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33694" y="264166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51536" y="2616994"/>
              <a:ext cx="47304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判定树把比较次数变成结点深度，两个 ASL 都能直接数出来。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81788" y="289845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33694" y="293408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51536" y="2910364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边界版二分是工程里用得最多的写法，单调判定问题都能套二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分搜索答案。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680835" y="3516630"/>
            <a:ext cx="4977765" cy="2148840"/>
            <a:chOff x="6680835" y="3516630"/>
            <a:chExt cx="4977765" cy="2148840"/>
          </a:xfrm>
        </p:grpSpPr>
        <p:sp>
          <p:nvSpPr>
            <p:cNvPr id="54" name="Rectangle 54"/>
            <p:cNvSpPr/>
            <p:nvPr/>
          </p:nvSpPr>
          <p:spPr>
            <a:xfrm>
              <a:off x="6680835" y="3516630"/>
              <a:ext cx="4977765" cy="2148840"/>
            </a:xfrm>
            <a:prstGeom prst="roundRect">
              <a:avLst>
                <a:gd name="adj" fmla="val 620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861810" y="369760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47332" y="373046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77341" y="37380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三步自查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862762" y="404336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14669" y="407898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132511" y="4054316"/>
              <a:ext cx="40444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手画 T(1,10)，算出两个 ASL，再在树上描出查 96 和查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58 的路径。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862762" y="457104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914669" y="460667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32511" y="4582001"/>
              <a:ext cx="40200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默写 BinarySearch、FibSearch 和两个边界函数，重点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 mid 的算法与 low/high 的更新。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862762" y="509873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914669" y="513435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132511" y="5109686"/>
              <a:ext cx="43638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在纸上插入 17、删除 6，复现跳跃表每一步的指针变化。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8" name="Rectangle 6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1273" y="6039326"/>
              <a:ext cx="89646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下一讲：第23讲 二叉查找树。把本讲的二叉判定树从“分析工具”变成真正存数据的结构，让插入删除也是 O(log n)。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第22讲 线性结构查找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22">
  <a:themeElements>
    <a:clrScheme name="ds_l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22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2026-09-19T14:57:08Z</dcterms:created>
  <dcterms:modified xsi:type="dcterms:W3CDTF">2026-09-19T14:57:08Z</dcterms:modified>
  <cp:category/>
  <cp:contentStatus/>
</cp:coreProperties>
</file>