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Default Extension="png" ContentType="image/png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</p:sldIdLst>
  <p:sldSz cx="12192000" cy="6858000" type="screen16x9"/>
  <p:notesSz cx="6858000" cy="9144000"/>
  <p:defaultTextStyle>
    <a:defPPr>
      <a:defRPr lang="zh-CN"/>
    </a:defPPr>
    <a:lvl1pPr marL="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7.xml><?xml version="1.0" encoding="utf-8"?>
<p:sldLayout xmlns:a="http://schemas.openxmlformats.org/drawingml/2006/main" xmlns:p="http://schemas.openxmlformats.org/presentationml/2006/main" type="blank" preserve="1">
  <p:cSld name="ds_t01 — 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zh-CN" smtClean="0"/>
              <a:t>1/27/13</a:t>
            </a:fld>
            <a:endParaRPr lang="zh-CN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zh-CN" smtClean="0"/>
              <a:t>‹#›</a:t>
            </a:fld>
            <a:endParaRPr lang="zh-CN"/>
          </a:p>
        </p:txBody>
      </p:sp>
    </p:spTree>
  </p:cSld>
  <p:clrMapOvr>
    <a:masterClrMapping/>
  </p:clrMapOvr>
</p:sldLayout>
</file>

<file path=ppt/slideMasters/_rels/slideMaster1.xml.rels><?xml version='1.0' encoding='UTF-8' standalone='yes'?>
<Relationships xmlns="http://schemas.openxmlformats.org/package/2006/relationships"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 name="ds_t01 — 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lang="zh-CN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zh-CN" smtClean="0"/>
              <a:t>1/27/13</a:t>
            </a:fld>
            <a:endParaRPr lang="zh-C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lang="zh-CN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lang="zh-CN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zh-CN" smtClean="0"/>
              <a:t>‹#›</a:t>
            </a:fld>
            <a:endParaRPr lang="zh-CN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5" r:id="rId7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 lang="zh-CN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 lang="zh-CN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 lang="zh-CN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 lang="zh-CN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 lang="zh-CN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 lang="zh-CN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 lang="zh-CN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 lang="zh-CN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 lang="zh-CN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 lang="zh-CN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457200" rtl="0" eaLnBrk="1" latinLnBrk="0" hangingPunct="1">
        <a:defRPr sz="1800" kern="1200" lang="zh-CN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 lang="zh-CN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 lang="zh-CN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 lang="zh-CN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 lang="zh-CN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 lang="zh-CN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 lang="zh-CN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 lang="zh-CN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 lang="zh-CN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  <Relationship Id="rId2" Type="http://schemas.openxmlformats.org/officeDocument/2006/relationships/image" Target="../media/image_b035fdecbec1127c.png"/>
</Relationships>
</file>

<file path=ppt/slides/_rels/slide2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3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4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5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6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7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  <Relationship Id="rId2" Type="http://schemas.openxmlformats.org/officeDocument/2006/relationships/image" Target="../media/image_5e100bf8c3498676.png"/>
</Relationships>
</file>

<file path=ppt/slides/_rels/slide8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9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10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11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12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13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  <Relationship Id="rId2" Type="http://schemas.openxmlformats.org/officeDocument/2006/relationships/image" Target="../media/image_a119e9adc93ddb84.png"/>
</Relationships>
</file>

<file path=ppt/slides/_rels/slide14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15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16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17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18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19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20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21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22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23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24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25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26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27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28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29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30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31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32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33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34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35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cover-hero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cover-scrim"/>
          <p:cNvSpPr/>
          <p:nvPr/>
        </p:nvSpPr>
        <p:spPr>
          <a:xfrm>
            <a:off x="0" y="0"/>
            <a:ext cx="7620000" cy="6858000"/>
          </a:xfrm>
          <a:prstGeom prst="rect">
            <a:avLst/>
          </a:prstGeom>
          <a:gradFill>
            <a:gsLst>
              <a:gs pos="0">
                <a:srgbClr val="FFFFFF">
                  <a:alpha val="97000"/>
                </a:srgbClr>
              </a:gs>
              <a:gs pos="58000">
                <a:srgbClr val="FFFFFF">
                  <a:alpha val="85000"/>
                </a:srgbClr>
              </a:gs>
              <a:gs pos="100000">
                <a:srgbClr val="FFFFFF">
                  <a:alpha val="0"/>
                </a:srgbClr>
              </a:gs>
            </a:gsLst>
            <a:lin ang="0" scaled="1"/>
          </a:gradFill>
          <a:ln>
            <a:noFill/>
          </a:ln>
        </p:spPr>
      </p:sp>
      <p:grpSp>
        <p:nvGrpSpPr>
          <p:cNvPr id="17" name="cover-title"/>
          <p:cNvGrpSpPr/>
          <p:nvPr/>
        </p:nvGrpSpPr>
        <p:grpSpPr>
          <a:xfrm>
            <a:off x="666750" y="1619250"/>
            <a:ext cx="5116830" cy="3437763"/>
            <a:chOff x="666750" y="1619250"/>
            <a:chExt cx="5116830" cy="3437763"/>
          </a:xfrm>
        </p:grpSpPr>
        <p:sp>
          <p:nvSpPr>
            <p:cNvPr id="4" name="Rectangle 4"/>
            <p:cNvSpPr/>
            <p:nvPr/>
          </p:nvSpPr>
          <p:spPr>
            <a:xfrm>
              <a:off x="685800" y="1619250"/>
              <a:ext cx="1529715" cy="342900"/>
            </a:xfrm>
            <a:prstGeom prst="roundRect">
              <a:avLst>
                <a:gd name="adj" fmla="val 50000"/>
              </a:avLst>
            </a:prstGeom>
            <a:solidFill>
              <a:srgbClr val="E6EFF9"/>
            </a:solidFill>
            <a:ln>
              <a:noFill/>
            </a:ln>
          </p:spPr>
        </p:sp>
        <p:sp>
          <p:nvSpPr>
            <p:cNvPr id="5" name="TextBox 5"/>
            <p:cNvSpPr txBox="1"/>
            <p:nvPr/>
          </p:nvSpPr>
          <p:spPr>
            <a:xfrm>
              <a:off x="815751" y="1718310"/>
              <a:ext cx="1269812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1F5FA8"/>
                  </a:solidFill>
                  <a:latin typeface="+mn-lt"/>
                  <a:ea typeface="+mn-ea"/>
                  <a:cs typeface="+mn-cs"/>
                </a:rPr>
                <a:t>数据结构 · 专题1</a:t>
              </a:r>
            </a:p>
          </p:txBody>
        </p:sp>
        <p:sp>
          <p:nvSpPr>
            <p:cNvPr id="6" name="TextBox 6"/>
            <p:cNvSpPr txBox="1"/>
            <p:nvPr/>
          </p:nvSpPr>
          <p:spPr>
            <a:xfrm>
              <a:off x="666750" y="2407920"/>
              <a:ext cx="4561332" cy="8191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4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字符串的模糊匹配</a:t>
              </a:r>
            </a:p>
          </p:txBody>
        </p:sp>
        <p:sp>
          <p:nvSpPr>
            <p:cNvPr id="7" name="Rectangle 7"/>
            <p:cNvSpPr/>
            <p:nvPr/>
          </p:nvSpPr>
          <p:spPr>
            <a:xfrm>
              <a:off x="685800" y="3147060"/>
              <a:ext cx="990600" cy="5715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1F5FA8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676656" y="3467100"/>
              <a:ext cx="5106924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用编辑距离和最长公共子序列度量两个串有多像</a:t>
              </a:r>
            </a:p>
          </p:txBody>
        </p:sp>
        <p:sp>
          <p:nvSpPr>
            <p:cNvPr id="9" name="Ellipse 9"/>
            <p:cNvSpPr/>
            <p:nvPr/>
          </p:nvSpPr>
          <p:spPr>
            <a:xfrm>
              <a:off x="709612" y="3976688"/>
              <a:ext cx="66675" cy="66675"/>
            </a:xfrm>
            <a:prstGeom prst="ellipse">
              <a:avLst/>
            </a:prstGeom>
            <a:solidFill>
              <a:srgbClr val="F26B3A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869442" y="3921442"/>
              <a:ext cx="164934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模糊匹配要解决什么</a:t>
              </a:r>
            </a:p>
          </p:txBody>
        </p:sp>
        <p:sp>
          <p:nvSpPr>
            <p:cNvPr id="11" name="Ellipse 11"/>
            <p:cNvSpPr/>
            <p:nvPr/>
          </p:nvSpPr>
          <p:spPr>
            <a:xfrm>
              <a:off x="709612" y="4267200"/>
              <a:ext cx="66675" cy="66675"/>
            </a:xfrm>
            <a:prstGeom prst="ellipse">
              <a:avLst/>
            </a:prstGeom>
            <a:solidFill>
              <a:srgbClr val="F26B3A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869442" y="4211955"/>
              <a:ext cx="183108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编辑距离的递推与填表</a:t>
              </a:r>
            </a:p>
          </p:txBody>
        </p:sp>
        <p:sp>
          <p:nvSpPr>
            <p:cNvPr id="13" name="Ellipse 13"/>
            <p:cNvSpPr/>
            <p:nvPr/>
          </p:nvSpPr>
          <p:spPr>
            <a:xfrm>
              <a:off x="709612" y="4557712"/>
              <a:ext cx="66675" cy="66675"/>
            </a:xfrm>
            <a:prstGeom prst="ellipse">
              <a:avLst/>
            </a:prstGeom>
            <a:solidFill>
              <a:srgbClr val="F26B3A"/>
            </a:solidFill>
            <a:ln>
              <a:noFill/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869442" y="4502468"/>
              <a:ext cx="128587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最长公共子序列</a:t>
              </a:r>
            </a:p>
          </p:txBody>
        </p:sp>
        <p:sp>
          <p:nvSpPr>
            <p:cNvPr id="15" name="Ellipse 15"/>
            <p:cNvSpPr/>
            <p:nvPr/>
          </p:nvSpPr>
          <p:spPr>
            <a:xfrm>
              <a:off x="709612" y="4848225"/>
              <a:ext cx="66675" cy="66675"/>
            </a:xfrm>
            <a:prstGeom prst="ellipse">
              <a:avLst/>
            </a:prstGeom>
            <a:solidFill>
              <a:srgbClr val="F26B3A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869442" y="4792980"/>
              <a:ext cx="128587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三道变形面试题</a:t>
              </a:r>
            </a:p>
          </p:txBody>
        </p:sp>
      </p:grpSp>
      <p:grpSp>
        <p:nvGrpSpPr>
          <p:cNvPr id="19" name="cover-credit"/>
          <p:cNvGrpSpPr/>
          <p:nvPr/>
        </p:nvGrpSpPr>
        <p:grpSpPr>
          <a:xfrm>
            <a:off x="680466" y="6192202"/>
            <a:ext cx="4425870" cy="205359"/>
            <a:chOff x="680466" y="6192202"/>
            <a:chExt cx="4425870" cy="205359"/>
          </a:xfrm>
        </p:grpSpPr>
        <p:sp>
          <p:nvSpPr>
            <p:cNvPr id="18" name="TextBox 18"/>
            <p:cNvSpPr txBox="1"/>
            <p:nvPr/>
          </p:nvSpPr>
          <p:spPr>
            <a:xfrm>
              <a:off x="680466" y="6192202"/>
              <a:ext cx="442587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重制讲义 · 自学复习版｜据吉林大学《数据结构》Tutorial 1 课件整理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2428875" cy="909257"/>
            <a:chOff x="520446" y="342900"/>
            <a:chExt cx="2428875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1246822" cy="266700"/>
            </a:xfrm>
            <a:prstGeom prst="roundRect">
              <a:avLst>
                <a:gd name="adj" fmla="val 50000"/>
              </a:avLst>
            </a:prstGeom>
            <a:solidFill>
              <a:srgbClr val="E6EFF9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31966" y="407194"/>
              <a:ext cx="105064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5FA8"/>
                  </a:solidFill>
                  <a:latin typeface="+mn-lt"/>
                  <a:ea typeface="+mn-ea"/>
                  <a:cs typeface="+mn-cs"/>
                </a:rPr>
                <a:t>专题1 模糊匹配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2428875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本专题学习路线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1F5FA8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26" name="c1-agenda-1"/>
          <p:cNvGrpSpPr/>
          <p:nvPr/>
        </p:nvGrpSpPr>
        <p:grpSpPr>
          <a:xfrm>
            <a:off x="521970" y="1515428"/>
            <a:ext cx="6287453" cy="3689317"/>
            <a:chOff x="521970" y="1515428"/>
            <a:chExt cx="6287453" cy="3689317"/>
          </a:xfrm>
        </p:grpSpPr>
        <p:sp>
          <p:nvSpPr>
            <p:cNvPr id="7" name="TextBox 7"/>
            <p:cNvSpPr txBox="1"/>
            <p:nvPr/>
          </p:nvSpPr>
          <p:spPr>
            <a:xfrm>
              <a:off x="521970" y="1515428"/>
              <a:ext cx="372704" cy="44005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250" b="1" dirty="0">
                  <a:solidFill>
                    <a:srgbClr val="1F5FA8"/>
                  </a:solidFill>
                  <a:latin typeface="+mn-lt"/>
                  <a:ea typeface="+mn-ea"/>
                  <a:cs typeface="+mn-cs"/>
                </a:rPr>
                <a:t>01</a:t>
              </a: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1065086" y="1551622"/>
              <a:ext cx="1571625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模糊匹配的位置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1066990" y="1868329"/>
              <a:ext cx="3347222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第 6 讲求“出现在哪里”，本专题求“有多像”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1073468" y="2181225"/>
              <a:ext cx="573595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521970" y="2286952"/>
              <a:ext cx="372704" cy="44005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250" b="1" dirty="0">
                  <a:solidFill>
                    <a:srgbClr val="1F5FA8"/>
                  </a:solidFill>
                  <a:latin typeface="+mn-lt"/>
                  <a:ea typeface="+mn-ea"/>
                  <a:cs typeface="+mn-cs"/>
                </a:rPr>
                <a:t>02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1065086" y="2323148"/>
              <a:ext cx="905256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编辑距离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066990" y="2639854"/>
              <a:ext cx="3441670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三种编辑操作、递推式、二维表填法、C 代码</a:t>
              </a:r>
            </a:p>
          </p:txBody>
        </p:sp>
        <p:sp>
          <p:nvSpPr>
            <p:cNvPr id="14" name="Rectangle 14"/>
            <p:cNvSpPr/>
            <p:nvPr/>
          </p:nvSpPr>
          <p:spPr>
            <a:xfrm>
              <a:off x="1073468" y="2953702"/>
              <a:ext cx="573595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521970" y="3058478"/>
              <a:ext cx="372704" cy="44005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250" b="1" dirty="0">
                  <a:solidFill>
                    <a:srgbClr val="1F5FA8"/>
                  </a:solidFill>
                  <a:latin typeface="+mn-lt"/>
                  <a:ea typeface="+mn-ea"/>
                  <a:cs typeface="+mn-cs"/>
                </a:rPr>
                <a:t>03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1065086" y="3094673"/>
              <a:ext cx="1127379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填表与回溯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1066990" y="3412331"/>
              <a:ext cx="3215589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手算 Dist 表并还原出一份具体的编辑方案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1073468" y="3725228"/>
              <a:ext cx="573595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521970" y="3830955"/>
              <a:ext cx="372704" cy="44005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250" b="1" dirty="0">
                  <a:solidFill>
                    <a:srgbClr val="1F5FA8"/>
                  </a:solidFill>
                  <a:latin typeface="+mn-lt"/>
                  <a:ea typeface="+mn-ea"/>
                  <a:cs typeface="+mn-cs"/>
                </a:rPr>
                <a:t>04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1065086" y="3867150"/>
              <a:ext cx="1571625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最长公共子序列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1066990" y="4183856"/>
              <a:ext cx="3286912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子序列的定义、递推式、与编辑距离的关系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1073468" y="4497705"/>
              <a:ext cx="573595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3" name="TextBox 23"/>
            <p:cNvSpPr txBox="1"/>
            <p:nvPr/>
          </p:nvSpPr>
          <p:spPr>
            <a:xfrm>
              <a:off x="521970" y="4602480"/>
              <a:ext cx="372704" cy="44005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250" b="1" dirty="0">
                  <a:solidFill>
                    <a:srgbClr val="1F5FA8"/>
                  </a:solidFill>
                  <a:latin typeface="+mn-lt"/>
                  <a:ea typeface="+mn-ea"/>
                  <a:cs typeface="+mn-cs"/>
                </a:rPr>
                <a:t>05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1065086" y="4638675"/>
              <a:ext cx="1127379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三道变形题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066990" y="4955381"/>
              <a:ext cx="2698242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LeetCode 583 / 516 以及删成回文</a:t>
              </a:r>
            </a:p>
          </p:txBody>
        </p:sp>
      </p:grpSp>
      <p:grpSp>
        <p:nvGrpSpPr>
          <p:cNvPr id="41" name="c2-card-1"/>
          <p:cNvGrpSpPr/>
          <p:nvPr/>
        </p:nvGrpSpPr>
        <p:grpSpPr>
          <a:xfrm>
            <a:off x="7114222" y="1524000"/>
            <a:ext cx="4544378" cy="3630930"/>
            <a:chOff x="7114222" y="1524000"/>
            <a:chExt cx="4544378" cy="3630930"/>
          </a:xfrm>
        </p:grpSpPr>
        <p:sp>
          <p:nvSpPr>
            <p:cNvPr id="27" name="Rectangle 27"/>
            <p:cNvSpPr/>
            <p:nvPr/>
          </p:nvSpPr>
          <p:spPr>
            <a:xfrm>
              <a:off x="7114222" y="1524000"/>
              <a:ext cx="4544378" cy="3630930"/>
            </a:xfrm>
            <a:prstGeom prst="roundRect">
              <a:avLst>
                <a:gd name="adj" fmla="val 3673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7123748" y="1657350"/>
              <a:ext cx="47625" cy="3364230"/>
            </a:xfrm>
            <a:prstGeom prst="roundRect">
              <a:avLst>
                <a:gd name="adj" fmla="val 50000"/>
              </a:avLst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29" name="Rectangle 29"/>
            <p:cNvSpPr/>
            <p:nvPr/>
          </p:nvSpPr>
          <p:spPr>
            <a:xfrm>
              <a:off x="7361872" y="1733550"/>
              <a:ext cx="778192" cy="257175"/>
            </a:xfrm>
            <a:prstGeom prst="roundRect">
              <a:avLst>
                <a:gd name="adj" fmla="val 50000"/>
              </a:avLst>
            </a:prstGeom>
            <a:solidFill>
              <a:srgbClr val="E6EFF9"/>
            </a:solidFill>
            <a:ln>
              <a:noFill/>
            </a:ln>
          </p:spPr>
        </p:sp>
        <p:sp>
          <p:nvSpPr>
            <p:cNvPr id="30" name="TextBox 30"/>
            <p:cNvSpPr txBox="1"/>
            <p:nvPr/>
          </p:nvSpPr>
          <p:spPr>
            <a:xfrm>
              <a:off x="7443229" y="1769269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5FA8"/>
                  </a:solidFill>
                  <a:latin typeface="+mn-lt"/>
                  <a:ea typeface="+mn-ea"/>
                  <a:cs typeface="+mn-cs"/>
                </a:rPr>
                <a:t>学习目标</a:t>
              </a:r>
            </a:p>
          </p:txBody>
        </p:sp>
        <p:sp>
          <p:nvSpPr>
            <p:cNvPr id="31" name="Ellipse 31"/>
            <p:cNvSpPr/>
            <p:nvPr/>
          </p:nvSpPr>
          <p:spPr>
            <a:xfrm>
              <a:off x="7367588" y="2173605"/>
              <a:ext cx="64770" cy="64770"/>
            </a:xfrm>
            <a:prstGeom prst="ellipse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32" name="TextBox 32"/>
            <p:cNvSpPr txBox="1"/>
            <p:nvPr/>
          </p:nvSpPr>
          <p:spPr>
            <a:xfrm>
              <a:off x="7525702" y="2110740"/>
              <a:ext cx="363474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说出编辑距离的三种编辑操作，并给出一对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串的一组最优编辑方案</a:t>
              </a:r>
            </a:p>
          </p:txBody>
        </p:sp>
        <p:sp>
          <p:nvSpPr>
            <p:cNvPr id="33" name="Ellipse 33"/>
            <p:cNvSpPr/>
            <p:nvPr/>
          </p:nvSpPr>
          <p:spPr>
            <a:xfrm>
              <a:off x="7367588" y="2794635"/>
              <a:ext cx="64770" cy="64770"/>
            </a:xfrm>
            <a:prstGeom prst="ellipse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7525702" y="2731770"/>
              <a:ext cx="3358515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给定两个短串，手算出完整的 Dist 表和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LCS 表并读出答案</a:t>
              </a:r>
            </a:p>
          </p:txBody>
        </p:sp>
        <p:sp>
          <p:nvSpPr>
            <p:cNvPr id="35" name="Ellipse 35"/>
            <p:cNvSpPr/>
            <p:nvPr/>
          </p:nvSpPr>
          <p:spPr>
            <a:xfrm>
              <a:off x="7367588" y="3415665"/>
              <a:ext cx="64770" cy="64770"/>
            </a:xfrm>
            <a:prstGeom prst="ellipse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7525702" y="3352800"/>
              <a:ext cx="3912489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解释两张表的第 0 行、第 0 列为什么那样填</a:t>
              </a:r>
            </a:p>
          </p:txBody>
        </p:sp>
        <p:sp>
          <p:nvSpPr>
            <p:cNvPr id="37" name="Ellipse 37"/>
            <p:cNvSpPr/>
            <p:nvPr/>
          </p:nvSpPr>
          <p:spPr>
            <a:xfrm>
              <a:off x="7367588" y="3750945"/>
              <a:ext cx="64770" cy="64770"/>
            </a:xfrm>
            <a:prstGeom prst="ellipse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7525702" y="3688080"/>
              <a:ext cx="371094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写出编辑距离与 LCS 的 C 代码，并说明时间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和空间复杂度的前提</a:t>
              </a:r>
            </a:p>
          </p:txBody>
        </p:sp>
        <p:sp>
          <p:nvSpPr>
            <p:cNvPr id="39" name="Ellipse 39"/>
            <p:cNvSpPr/>
            <p:nvPr/>
          </p:nvSpPr>
          <p:spPr>
            <a:xfrm>
              <a:off x="7367588" y="4371975"/>
              <a:ext cx="64770" cy="64770"/>
            </a:xfrm>
            <a:prstGeom prst="ellipse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40" name="TextBox 40"/>
            <p:cNvSpPr txBox="1"/>
            <p:nvPr/>
          </p:nvSpPr>
          <p:spPr>
            <a:xfrm>
              <a:off x="7525702" y="4309110"/>
              <a:ext cx="367284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把“最少删几个字符”“最长回文子序列”这类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问题归约到 LCS</a:t>
              </a:r>
            </a:p>
          </p:txBody>
        </p:sp>
      </p:grpSp>
      <p:grpSp>
        <p:nvGrpSpPr>
          <p:cNvPr id="44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42" name="TextBox 42"/>
            <p:cNvSpPr txBox="1"/>
            <p:nvPr/>
          </p:nvSpPr>
          <p:spPr>
            <a:xfrm>
              <a:off x="528447" y="6581299"/>
              <a:ext cx="2120748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数据结构 · 专题1 字符串的模糊匹配</a:t>
              </a:r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11581087" y="6581299"/>
              <a:ext cx="8246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-disc"/>
          <p:cNvSpPr/>
          <p:nvPr/>
        </p:nvSpPr>
        <p:spPr>
          <a:xfrm>
            <a:off x="7715250" y="571500"/>
            <a:ext cx="5715000" cy="5715000"/>
          </a:xfrm>
          <a:prstGeom prst="ellipse">
            <a:avLst/>
          </a:prstGeom>
          <a:solidFill>
            <a:srgbClr val="1F5FA8"/>
          </a:solidFill>
          <a:ln>
            <a:noFill/>
          </a:ln>
        </p:spPr>
      </p:sp>
      <p:sp>
        <p:nvSpPr>
          <p:cNvPr id="3" name="section-ring"/>
          <p:cNvSpPr/>
          <p:nvPr/>
        </p:nvSpPr>
        <p:spPr>
          <a:xfrm>
            <a:off x="7334250" y="190500"/>
            <a:ext cx="6477000" cy="6477000"/>
          </a:xfrm>
          <a:prstGeom prst="ellipse">
            <a:avLst/>
          </a:prstGeom>
          <a:noFill/>
          <a:ln w="133350">
            <a:solidFill>
              <a:srgbClr val="E6EFF9"/>
            </a:solidFill>
          </a:ln>
        </p:spPr>
      </p:sp>
      <p:grpSp>
        <p:nvGrpSpPr>
          <p:cNvPr id="5" name="section-num"/>
          <p:cNvGrpSpPr/>
          <p:nvPr/>
        </p:nvGrpSpPr>
        <p:grpSpPr>
          <a:xfrm>
            <a:off x="8954033" y="2705100"/>
            <a:ext cx="1903933" cy="2305050"/>
            <a:chOff x="8954033" y="2705100"/>
            <a:chExt cx="1903933" cy="2305050"/>
          </a:xfrm>
        </p:grpSpPr>
        <p:sp>
          <p:nvSpPr>
            <p:cNvPr id="4" name="TextBox 4"/>
            <p:cNvSpPr txBox="1"/>
            <p:nvPr/>
          </p:nvSpPr>
          <p:spPr>
            <a:xfrm>
              <a:off x="8954033" y="2705100"/>
              <a:ext cx="1903933" cy="23050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01</a:t>
              </a:r>
            </a:p>
          </p:txBody>
        </p:sp>
      </p:grpSp>
      <p:grpSp>
        <p:nvGrpSpPr>
          <p:cNvPr id="16" name="section-title"/>
          <p:cNvGrpSpPr/>
          <p:nvPr/>
        </p:nvGrpSpPr>
        <p:grpSpPr>
          <a:xfrm>
            <a:off x="667512" y="1835468"/>
            <a:ext cx="4882896" cy="2997517"/>
            <a:chOff x="667512" y="1835468"/>
            <a:chExt cx="4882896" cy="2997517"/>
          </a:xfrm>
        </p:grpSpPr>
        <p:sp>
          <p:nvSpPr>
            <p:cNvPr id="6" name="TextBox 6"/>
            <p:cNvSpPr txBox="1"/>
            <p:nvPr/>
          </p:nvSpPr>
          <p:spPr>
            <a:xfrm>
              <a:off x="678942" y="1835468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第一部分</a:t>
              </a:r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667512" y="2240280"/>
              <a:ext cx="4882896" cy="70408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6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从精确匹配到模糊匹配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685800" y="3041332"/>
              <a:ext cx="762000" cy="47625"/>
            </a:xfrm>
            <a:prstGeom prst="roundRect">
              <a:avLst>
                <a:gd name="adj" fmla="val 50000"/>
              </a:avLst>
            </a:prstGeom>
            <a:solidFill>
              <a:srgbClr val="F26B3A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677418" y="3377565"/>
              <a:ext cx="4459224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允许串之间有差异，再把差异的大小量化出来</a:t>
              </a:r>
            </a:p>
          </p:txBody>
        </p:sp>
        <p:sp>
          <p:nvSpPr>
            <p:cNvPr id="10" name="Ellipse 10"/>
            <p:cNvSpPr/>
            <p:nvPr/>
          </p:nvSpPr>
          <p:spPr>
            <a:xfrm>
              <a:off x="723900" y="3888105"/>
              <a:ext cx="76200" cy="76200"/>
            </a:xfrm>
            <a:prstGeom prst="ellipse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906780" y="3830955"/>
              <a:ext cx="203454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精确匹配只回答有没有</a:t>
              </a:r>
            </a:p>
          </p:txBody>
        </p:sp>
        <p:sp>
          <p:nvSpPr>
            <p:cNvPr id="12" name="Ellipse 12"/>
            <p:cNvSpPr/>
            <p:nvPr/>
          </p:nvSpPr>
          <p:spPr>
            <a:xfrm>
              <a:off x="723900" y="4242435"/>
              <a:ext cx="76200" cy="76200"/>
            </a:xfrm>
            <a:prstGeom prst="ellipse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906780" y="4185285"/>
              <a:ext cx="183261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模糊匹配回答有多像</a:t>
              </a:r>
            </a:p>
          </p:txBody>
        </p:sp>
        <p:sp>
          <p:nvSpPr>
            <p:cNvPr id="14" name="Ellipse 14"/>
            <p:cNvSpPr/>
            <p:nvPr/>
          </p:nvSpPr>
          <p:spPr>
            <a:xfrm>
              <a:off x="723900" y="4596765"/>
              <a:ext cx="76200" cy="76200"/>
            </a:xfrm>
            <a:prstGeom prst="ellipse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906780" y="4539615"/>
              <a:ext cx="2498979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基因比对 / 查重 / 拼写纠错</a:t>
              </a:r>
            </a:p>
          </p:txBody>
        </p:sp>
      </p:grpSp>
      <p:grpSp>
        <p:nvGrpSpPr>
          <p:cNvPr id="19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17" name="TextBox 17"/>
            <p:cNvSpPr txBox="1"/>
            <p:nvPr/>
          </p:nvSpPr>
          <p:spPr>
            <a:xfrm>
              <a:off x="528447" y="6581299"/>
              <a:ext cx="2120748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数据结构 · 专题1 字符串的模糊匹配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1581087" y="6581299"/>
              <a:ext cx="8246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5968102" cy="909257"/>
            <a:chOff x="520446" y="342900"/>
            <a:chExt cx="5968102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841308" cy="266700"/>
            </a:xfrm>
            <a:prstGeom prst="roundRect">
              <a:avLst>
                <a:gd name="adj" fmla="val 50000"/>
              </a:avLst>
            </a:prstGeom>
            <a:solidFill>
              <a:srgbClr val="E6EFF9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83354" y="407194"/>
              <a:ext cx="274044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5FA8"/>
                  </a:solidFill>
                  <a:latin typeface="+mn-lt"/>
                  <a:ea typeface="+mn-ea"/>
                  <a:cs typeface="+mn-cs"/>
                </a:rPr>
                <a:t>专题1 模糊匹配 · 从精确匹配到模糊匹配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5968102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模糊匹配：把“相等”放宽成“足够相似”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1F5FA8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8" name="lead"/>
          <p:cNvGrpSpPr/>
          <p:nvPr/>
        </p:nvGrpSpPr>
        <p:grpSpPr>
          <a:xfrm>
            <a:off x="525780" y="1548765"/>
            <a:ext cx="7030022" cy="293370"/>
            <a:chOff x="525780" y="1548765"/>
            <a:chExt cx="7030022" cy="293370"/>
          </a:xfrm>
        </p:grpSpPr>
        <p:sp>
          <p:nvSpPr>
            <p:cNvPr id="7" name="TextBox 7"/>
            <p:cNvSpPr txBox="1"/>
            <p:nvPr/>
          </p:nvSpPr>
          <p:spPr>
            <a:xfrm>
              <a:off x="525780" y="1548765"/>
              <a:ext cx="7030022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第 6 讲的朴素匹配和 KMP 都要求子串逐字符相等，现实里的串很少这么听话。</a:t>
              </a:r>
            </a:p>
          </p:txBody>
        </p:sp>
      </p:grpSp>
      <p:grpSp>
        <p:nvGrpSpPr>
          <p:cNvPr id="16" name="c1-card-1"/>
          <p:cNvGrpSpPr/>
          <p:nvPr/>
        </p:nvGrpSpPr>
        <p:grpSpPr>
          <a:xfrm>
            <a:off x="533400" y="1954530"/>
            <a:ext cx="4977765" cy="1884998"/>
            <a:chOff x="533400" y="1954530"/>
            <a:chExt cx="4977765" cy="1884998"/>
          </a:xfrm>
        </p:grpSpPr>
        <p:sp>
          <p:nvSpPr>
            <p:cNvPr id="9" name="Rectangle 9"/>
            <p:cNvSpPr/>
            <p:nvPr/>
          </p:nvSpPr>
          <p:spPr>
            <a:xfrm>
              <a:off x="533400" y="1954530"/>
              <a:ext cx="4977765" cy="1884998"/>
            </a:xfrm>
            <a:prstGeom prst="roundRect">
              <a:avLst>
                <a:gd name="adj" fmla="val 7074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10" name="Rectangle 10"/>
            <p:cNvSpPr/>
            <p:nvPr/>
          </p:nvSpPr>
          <p:spPr>
            <a:xfrm>
              <a:off x="542925" y="2087880"/>
              <a:ext cx="47625" cy="1618298"/>
            </a:xfrm>
            <a:prstGeom prst="roundRect">
              <a:avLst>
                <a:gd name="adj" fmla="val 50000"/>
              </a:avLst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11" name="Rectangle 11"/>
            <p:cNvSpPr/>
            <p:nvPr/>
          </p:nvSpPr>
          <p:spPr>
            <a:xfrm>
              <a:off x="775335" y="2158365"/>
              <a:ext cx="494348" cy="257175"/>
            </a:xfrm>
            <a:prstGeom prst="roundRect">
              <a:avLst>
                <a:gd name="adj" fmla="val 50000"/>
              </a:avLst>
            </a:prstGeom>
            <a:solidFill>
              <a:srgbClr val="E6EFF9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865543" y="2194084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5FA8"/>
                  </a:solidFill>
                  <a:latin typeface="+mn-lt"/>
                  <a:ea typeface="+mn-ea"/>
                  <a:cs typeface="+mn-cs"/>
                </a:rPr>
                <a:t>定义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376744" y="2197894"/>
              <a:ext cx="779120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模糊匹配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768096" y="2550319"/>
              <a:ext cx="4216400" cy="5501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降低精确匹配的要求：目标串 S 与模式串 P 之间只要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有一定程度的相似，就认为匹配成功。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768096" y="3141821"/>
              <a:ext cx="4342638" cy="5501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配套需要一个能比较大小的相似度指标，用来衡量两个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串之间的相似程度。</a:t>
              </a:r>
            </a:p>
          </p:txBody>
        </p:sp>
      </p:grpSp>
      <p:grpSp>
        <p:nvGrpSpPr>
          <p:cNvPr id="26" name="c1-card-2"/>
          <p:cNvGrpSpPr/>
          <p:nvPr/>
        </p:nvGrpSpPr>
        <p:grpSpPr>
          <a:xfrm>
            <a:off x="533400" y="4024312"/>
            <a:ext cx="4977765" cy="1342072"/>
            <a:chOff x="533400" y="4024312"/>
            <a:chExt cx="4977765" cy="1342072"/>
          </a:xfrm>
        </p:grpSpPr>
        <p:sp>
          <p:nvSpPr>
            <p:cNvPr id="17" name="Rectangle 17"/>
            <p:cNvSpPr/>
            <p:nvPr/>
          </p:nvSpPr>
          <p:spPr>
            <a:xfrm>
              <a:off x="533400" y="4024312"/>
              <a:ext cx="4977765" cy="1342072"/>
            </a:xfrm>
            <a:prstGeom prst="roundRect">
              <a:avLst>
                <a:gd name="adj" fmla="val 9936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542925" y="4157662"/>
              <a:ext cx="47625" cy="1075372"/>
            </a:xfrm>
            <a:prstGeom prst="roundRect">
              <a:avLst>
                <a:gd name="adj" fmla="val 50000"/>
              </a:avLst>
            </a:prstGeom>
            <a:solidFill>
              <a:srgbClr val="D97706"/>
            </a:solidFill>
            <a:ln>
              <a:noFill/>
            </a:ln>
          </p:spPr>
        </p:sp>
        <p:sp>
          <p:nvSpPr>
            <p:cNvPr id="19" name="Rectangle 19"/>
            <p:cNvSpPr/>
            <p:nvPr/>
          </p:nvSpPr>
          <p:spPr>
            <a:xfrm>
              <a:off x="775335" y="4228148"/>
              <a:ext cx="494348" cy="257175"/>
            </a:xfrm>
            <a:prstGeom prst="roundRect">
              <a:avLst>
                <a:gd name="adj" fmla="val 50000"/>
              </a:avLst>
            </a:prstGeom>
            <a:solidFill>
              <a:srgbClr val="FEF3C7"/>
            </a:solidFill>
            <a:ln>
              <a:noFill/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865543" y="4263866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92400E"/>
                  </a:solidFill>
                  <a:latin typeface="+mn-lt"/>
                  <a:ea typeface="+mn-ea"/>
                  <a:cs typeface="+mn-cs"/>
                </a:rPr>
                <a:t>指标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1376744" y="4268629"/>
              <a:ext cx="1543761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本专题的两把尺子</a:t>
              </a:r>
            </a:p>
          </p:txBody>
        </p:sp>
        <p:sp>
          <p:nvSpPr>
            <p:cNvPr id="22" name="Ellipse 22"/>
            <p:cNvSpPr/>
            <p:nvPr/>
          </p:nvSpPr>
          <p:spPr>
            <a:xfrm>
              <a:off x="782955" y="4680585"/>
              <a:ext cx="60960" cy="60960"/>
            </a:xfrm>
            <a:prstGeom prst="ellipse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23" name="TextBox 23"/>
            <p:cNvSpPr txBox="1"/>
            <p:nvPr/>
          </p:nvSpPr>
          <p:spPr>
            <a:xfrm>
              <a:off x="939546" y="4620101"/>
              <a:ext cx="3617852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编辑距离：越小越像，0 表示两串完全相同</a:t>
              </a:r>
            </a:p>
          </p:txBody>
        </p:sp>
        <p:sp>
          <p:nvSpPr>
            <p:cNvPr id="24" name="Ellipse 24"/>
            <p:cNvSpPr/>
            <p:nvPr/>
          </p:nvSpPr>
          <p:spPr>
            <a:xfrm>
              <a:off x="782955" y="5000625"/>
              <a:ext cx="60960" cy="60960"/>
            </a:xfrm>
            <a:prstGeom prst="ellipse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939546" y="4940141"/>
              <a:ext cx="4439841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最长公共子序列长度：越长越像，最多是 min(n, m)</a:t>
              </a:r>
            </a:p>
          </p:txBody>
        </p:sp>
      </p:grpSp>
      <p:grpSp>
        <p:nvGrpSpPr>
          <p:cNvPr id="62" name="c2-table-1"/>
          <p:cNvGrpSpPr/>
          <p:nvPr/>
        </p:nvGrpSpPr>
        <p:grpSpPr>
          <a:xfrm>
            <a:off x="5815965" y="1954530"/>
            <a:ext cx="5842635" cy="3225165"/>
            <a:chOff x="5815965" y="1954530"/>
            <a:chExt cx="5842635" cy="3225165"/>
          </a:xfrm>
        </p:grpSpPr>
        <p:sp>
          <p:nvSpPr>
            <p:cNvPr id="27" name="Rectangle 27"/>
            <p:cNvSpPr/>
            <p:nvPr/>
          </p:nvSpPr>
          <p:spPr>
            <a:xfrm>
              <a:off x="5815965" y="1954530"/>
              <a:ext cx="5842635" cy="430530"/>
            </a:xfrm>
            <a:prstGeom prst="rect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6209538" y="2085975"/>
              <a:ext cx="49682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对比项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7490273" y="2085975"/>
              <a:ext cx="149960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精确匹配（第 6 讲）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9786366" y="2085975"/>
              <a:ext cx="146608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模糊匹配（本专题）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5921312" y="2515552"/>
              <a:ext cx="33528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问题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7206234" y="2515552"/>
              <a:ext cx="180746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P 在 S 中首次出现的位置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9485566" y="2515552"/>
              <a:ext cx="116128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S 与 P 有多相似</a:t>
              </a:r>
            </a:p>
          </p:txBody>
        </p:sp>
        <p:sp>
          <p:nvSpPr>
            <p:cNvPr id="34" name="Rectangle 34"/>
            <p:cNvSpPr/>
            <p:nvPr/>
          </p:nvSpPr>
          <p:spPr>
            <a:xfrm>
              <a:off x="5815965" y="2809875"/>
              <a:ext cx="584263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5" name="Rectangle 35"/>
            <p:cNvSpPr/>
            <p:nvPr/>
          </p:nvSpPr>
          <p:spPr>
            <a:xfrm>
              <a:off x="5815965" y="2814638"/>
              <a:ext cx="5842635" cy="430530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5921312" y="2946082"/>
              <a:ext cx="33528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判定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7206234" y="2946082"/>
              <a:ext cx="114300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逐字符全部相等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9485566" y="2946082"/>
              <a:ext cx="146608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相似度达到阈值即可</a:t>
              </a:r>
            </a:p>
          </p:txBody>
        </p:sp>
        <p:sp>
          <p:nvSpPr>
            <p:cNvPr id="39" name="Rectangle 39"/>
            <p:cNvSpPr/>
            <p:nvPr/>
          </p:nvSpPr>
          <p:spPr>
            <a:xfrm>
              <a:off x="5815965" y="3240405"/>
              <a:ext cx="584263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0" name="TextBox 40"/>
            <p:cNvSpPr txBox="1"/>
            <p:nvPr/>
          </p:nvSpPr>
          <p:spPr>
            <a:xfrm>
              <a:off x="5921312" y="3376612"/>
              <a:ext cx="33528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输出</a:t>
              </a:r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7206234" y="3376612"/>
              <a:ext cx="72298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下标或 -1</a:t>
              </a:r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9485566" y="3376612"/>
              <a:ext cx="65836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一个数值</a:t>
              </a:r>
            </a:p>
          </p:txBody>
        </p:sp>
        <p:sp>
          <p:nvSpPr>
            <p:cNvPr id="43" name="Rectangle 43"/>
            <p:cNvSpPr/>
            <p:nvPr/>
          </p:nvSpPr>
          <p:spPr>
            <a:xfrm>
              <a:off x="5815965" y="3669982"/>
              <a:ext cx="584263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4" name="Rectangle 44"/>
            <p:cNvSpPr/>
            <p:nvPr/>
          </p:nvSpPr>
          <p:spPr>
            <a:xfrm>
              <a:off x="5815965" y="3674745"/>
              <a:ext cx="5842635" cy="430530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5921312" y="3806190"/>
              <a:ext cx="65836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典型算法</a:t>
              </a:r>
            </a:p>
          </p:txBody>
        </p:sp>
        <p:sp>
          <p:nvSpPr>
            <p:cNvPr id="46" name="TextBox 46"/>
            <p:cNvSpPr txBox="1"/>
            <p:nvPr/>
          </p:nvSpPr>
          <p:spPr>
            <a:xfrm>
              <a:off x="7206234" y="3806190"/>
              <a:ext cx="1135685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朴素匹配、KMP</a:t>
              </a:r>
            </a:p>
          </p:txBody>
        </p:sp>
        <p:sp>
          <p:nvSpPr>
            <p:cNvPr id="47" name="TextBox 47"/>
            <p:cNvSpPr txBox="1"/>
            <p:nvPr/>
          </p:nvSpPr>
          <p:spPr>
            <a:xfrm>
              <a:off x="9485566" y="3806190"/>
              <a:ext cx="195072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编辑距离、最长公共子序列</a:t>
              </a:r>
            </a:p>
          </p:txBody>
        </p:sp>
        <p:sp>
          <p:nvSpPr>
            <p:cNvPr id="48" name="Rectangle 48"/>
            <p:cNvSpPr/>
            <p:nvPr/>
          </p:nvSpPr>
          <p:spPr>
            <a:xfrm>
              <a:off x="5815965" y="4100512"/>
              <a:ext cx="584263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9" name="TextBox 49"/>
            <p:cNvSpPr txBox="1"/>
            <p:nvPr/>
          </p:nvSpPr>
          <p:spPr>
            <a:xfrm>
              <a:off x="5921312" y="4236720"/>
              <a:ext cx="33528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时间</a:t>
              </a:r>
            </a:p>
          </p:txBody>
        </p:sp>
        <p:sp>
          <p:nvSpPr>
            <p:cNvPr id="50" name="TextBox 50"/>
            <p:cNvSpPr txBox="1"/>
            <p:nvPr/>
          </p:nvSpPr>
          <p:spPr>
            <a:xfrm>
              <a:off x="7206234" y="4236720"/>
              <a:ext cx="204536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朴素 O(nm)，KMP O(n+m)</a:t>
              </a:r>
            </a:p>
          </p:txBody>
        </p:sp>
        <p:sp>
          <p:nvSpPr>
            <p:cNvPr id="51" name="Rectangle 51"/>
            <p:cNvSpPr/>
            <p:nvPr/>
          </p:nvSpPr>
          <p:spPr>
            <a:xfrm>
              <a:off x="9389745" y="4114800"/>
              <a:ext cx="2259330" cy="411480"/>
            </a:xfrm>
            <a:prstGeom prst="rect">
              <a:avLst/>
            </a:prstGeom>
            <a:solidFill>
              <a:srgbClr val="E6EFF9"/>
            </a:solidFill>
            <a:ln>
              <a:noFill/>
            </a:ln>
          </p:spPr>
        </p:sp>
        <p:sp>
          <p:nvSpPr>
            <p:cNvPr id="52" name="TextBox 52"/>
            <p:cNvSpPr txBox="1"/>
            <p:nvPr/>
          </p:nvSpPr>
          <p:spPr>
            <a:xfrm>
              <a:off x="9485566" y="4236720"/>
              <a:ext cx="530657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O(nm)</a:t>
              </a:r>
            </a:p>
          </p:txBody>
        </p:sp>
        <p:sp>
          <p:nvSpPr>
            <p:cNvPr id="53" name="Rectangle 53"/>
            <p:cNvSpPr/>
            <p:nvPr/>
          </p:nvSpPr>
          <p:spPr>
            <a:xfrm>
              <a:off x="5815965" y="4531042"/>
              <a:ext cx="584263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54" name="Rectangle 54"/>
            <p:cNvSpPr/>
            <p:nvPr/>
          </p:nvSpPr>
          <p:spPr>
            <a:xfrm>
              <a:off x="5815965" y="4535805"/>
              <a:ext cx="5842635" cy="643890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55" name="TextBox 55"/>
            <p:cNvSpPr txBox="1"/>
            <p:nvPr/>
          </p:nvSpPr>
          <p:spPr>
            <a:xfrm>
              <a:off x="5921312" y="4772978"/>
              <a:ext cx="17373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例</a:t>
              </a:r>
            </a:p>
          </p:txBody>
        </p:sp>
        <p:sp>
          <p:nvSpPr>
            <p:cNvPr id="56" name="TextBox 56"/>
            <p:cNvSpPr txBox="1"/>
            <p:nvPr/>
          </p:nvSpPr>
          <p:spPr>
            <a:xfrm>
              <a:off x="7206234" y="4666298"/>
              <a:ext cx="1261872" cy="44805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680"/>
                </a:lnSpc>
              </a:pPr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在 computer 中找</a:t>
              </a:r>
              <a:br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compueter：-1</a:t>
              </a:r>
            </a:p>
          </p:txBody>
        </p:sp>
        <p:sp>
          <p:nvSpPr>
            <p:cNvPr id="57" name="Rectangle 57"/>
            <p:cNvSpPr/>
            <p:nvPr/>
          </p:nvSpPr>
          <p:spPr>
            <a:xfrm>
              <a:off x="9389745" y="4545330"/>
              <a:ext cx="2259330" cy="624840"/>
            </a:xfrm>
            <a:prstGeom prst="rect">
              <a:avLst/>
            </a:prstGeom>
            <a:solidFill>
              <a:srgbClr val="E3F5F1"/>
            </a:solidFill>
            <a:ln>
              <a:noFill/>
            </a:ln>
          </p:spPr>
        </p:sp>
        <p:sp>
          <p:nvSpPr>
            <p:cNvPr id="58" name="TextBox 58"/>
            <p:cNvSpPr txBox="1"/>
            <p:nvPr/>
          </p:nvSpPr>
          <p:spPr>
            <a:xfrm>
              <a:off x="9485566" y="4666298"/>
              <a:ext cx="1261872" cy="44805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680"/>
                </a:lnSpc>
              </a:pPr>
              <a:r>
                <a:rPr lang="en-US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Dist(compueter,</a:t>
              </a:r>
              <a:br/>
              <a:r>
                <a:rPr lang="en-US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computer) = 1</a:t>
              </a:r>
            </a:p>
          </p:txBody>
        </p:sp>
        <p:sp>
          <p:nvSpPr>
            <p:cNvPr id="59" name="Rectangle 59"/>
            <p:cNvSpPr/>
            <p:nvPr/>
          </p:nvSpPr>
          <p:spPr>
            <a:xfrm>
              <a:off x="5815965" y="1954530"/>
              <a:ext cx="5842635" cy="3224212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60" name="Rectangle 60"/>
            <p:cNvSpPr/>
            <p:nvPr/>
          </p:nvSpPr>
          <p:spPr>
            <a:xfrm>
              <a:off x="7096125" y="1954530"/>
              <a:ext cx="9525" cy="3224212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61" name="Rectangle 61"/>
            <p:cNvSpPr/>
            <p:nvPr/>
          </p:nvSpPr>
          <p:spPr>
            <a:xfrm>
              <a:off x="9375458" y="1954530"/>
              <a:ext cx="9525" cy="3224212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</p:grpSp>
      <p:grpSp>
        <p:nvGrpSpPr>
          <p:cNvPr id="68" name="takeaway"/>
          <p:cNvGrpSpPr/>
          <p:nvPr/>
        </p:nvGrpSpPr>
        <p:grpSpPr>
          <a:xfrm>
            <a:off x="533400" y="5844540"/>
            <a:ext cx="11125200" cy="518160"/>
            <a:chOff x="533400" y="5844540"/>
            <a:chExt cx="11125200" cy="518160"/>
          </a:xfrm>
        </p:grpSpPr>
        <p:sp>
          <p:nvSpPr>
            <p:cNvPr id="63" name="Rectangle 63"/>
            <p:cNvSpPr/>
            <p:nvPr/>
          </p:nvSpPr>
          <p:spPr>
            <a:xfrm>
              <a:off x="533400" y="5844540"/>
              <a:ext cx="11125200" cy="518160"/>
            </a:xfrm>
            <a:prstGeom prst="roundRect">
              <a:avLst>
                <a:gd name="adj" fmla="val 22059"/>
              </a:avLst>
            </a:prstGeom>
            <a:solidFill>
              <a:srgbClr val="1F5FA8"/>
            </a:solidFill>
            <a:ln>
              <a:noFill/>
            </a:ln>
          </p:spPr>
        </p:sp>
        <p:grpSp>
          <p:nvGrpSpPr>
            <p:cNvPr id="66" name="Group 66"/>
            <p:cNvGrpSpPr/>
            <p:nvPr/>
          </p:nvGrpSpPr>
          <p:grpSpPr>
            <a:xfrm>
              <a:off x="738188" y="6003610"/>
              <a:ext cx="200023" cy="200023"/>
              <a:chOff x="738188" y="6003610"/>
              <a:chExt cx="200023" cy="200023"/>
            </a:xfrm>
          </p:grpSpPr>
          <p:sp>
            <p:nvSpPr>
              <p:cNvPr id="64" name="Freeform 64"/>
              <p:cNvSpPr/>
              <p:nvPr/>
            </p:nvSpPr>
            <p:spPr>
              <a:xfrm>
                <a:off x="738188" y="6003610"/>
                <a:ext cx="200023" cy="200023"/>
              </a:xfrm>
              <a:custGeom>
                <a:avLst/>
                <a:gdLst/>
                <a:ahLst/>
                <a:cxnLst/>
                <a:rect l="l" t="t" r="r" b="b"/>
                <a:pathLst>
                  <a:path w="200023" h="200023">
                    <a:moveTo>
                      <a:pt x="150630" y="9366"/>
                    </a:moveTo>
                    <a:lnTo>
                      <a:pt x="190658" y="49393"/>
                    </a:lnTo>
                    <a:cubicBezTo>
                      <a:pt x="196654" y="55389"/>
                      <a:pt x="200023" y="63522"/>
                      <a:pt x="200023" y="72002"/>
                    </a:cubicBezTo>
                    <a:cubicBezTo>
                      <a:pt x="200023" y="80482"/>
                      <a:pt x="196654" y="88614"/>
                      <a:pt x="190658" y="94610"/>
                    </a:cubicBezTo>
                    <a:lnTo>
                      <a:pt x="161287" y="123980"/>
                    </a:lnTo>
                    <a:cubicBezTo>
                      <a:pt x="155291" y="129977"/>
                      <a:pt x="147159" y="133346"/>
                      <a:pt x="138679" y="133346"/>
                    </a:cubicBezTo>
                    <a:cubicBezTo>
                      <a:pt x="130199" y="133346"/>
                      <a:pt x="122066" y="129977"/>
                      <a:pt x="116070" y="123980"/>
                    </a:cubicBezTo>
                    <a:lnTo>
                      <a:pt x="112726" y="120636"/>
                    </a:lnTo>
                    <a:lnTo>
                      <a:pt x="39850" y="193511"/>
                    </a:lnTo>
                    <a:cubicBezTo>
                      <a:pt x="36157" y="197203"/>
                      <a:pt x="31283" y="199477"/>
                      <a:pt x="26081" y="199935"/>
                    </a:cubicBezTo>
                    <a:lnTo>
                      <a:pt x="24136" y="200023"/>
                    </a:lnTo>
                    <a:lnTo>
                      <a:pt x="11113" y="200023"/>
                    </a:lnTo>
                    <a:cubicBezTo>
                      <a:pt x="5479" y="200023"/>
                      <a:pt x="737" y="195806"/>
                      <a:pt x="78" y="190211"/>
                    </a:cubicBezTo>
                    <a:lnTo>
                      <a:pt x="0" y="188911"/>
                    </a:lnTo>
                    <a:lnTo>
                      <a:pt x="0" y="175887"/>
                    </a:lnTo>
                    <a:cubicBezTo>
                      <a:pt x="1" y="170669"/>
                      <a:pt x="1838" y="165618"/>
                      <a:pt x="5190" y="161619"/>
                    </a:cubicBezTo>
                    <a:lnTo>
                      <a:pt x="6512" y="160174"/>
                    </a:lnTo>
                    <a:lnTo>
                      <a:pt x="11113" y="155573"/>
                    </a:lnTo>
                    <a:lnTo>
                      <a:pt x="33338" y="155573"/>
                    </a:lnTo>
                    <a:lnTo>
                      <a:pt x="33338" y="133348"/>
                    </a:lnTo>
                    <a:lnTo>
                      <a:pt x="55563" y="133348"/>
                    </a:lnTo>
                    <a:lnTo>
                      <a:pt x="55563" y="111123"/>
                    </a:lnTo>
                    <a:lnTo>
                      <a:pt x="79388" y="87298"/>
                    </a:lnTo>
                    <a:lnTo>
                      <a:pt x="76043" y="83953"/>
                    </a:lnTo>
                    <a:cubicBezTo>
                      <a:pt x="70046" y="77957"/>
                      <a:pt x="66677" y="69825"/>
                      <a:pt x="66677" y="61345"/>
                    </a:cubicBezTo>
                    <a:cubicBezTo>
                      <a:pt x="66677" y="52865"/>
                      <a:pt x="70046" y="44732"/>
                      <a:pt x="76043" y="38736"/>
                    </a:cubicBezTo>
                    <a:lnTo>
                      <a:pt x="105413" y="9366"/>
                    </a:lnTo>
                    <a:cubicBezTo>
                      <a:pt x="111409" y="3369"/>
                      <a:pt x="119542" y="0"/>
                      <a:pt x="128022" y="0"/>
                    </a:cubicBezTo>
                    <a:cubicBezTo>
                      <a:pt x="136502" y="0"/>
                      <a:pt x="144635" y="3369"/>
                      <a:pt x="150630" y="9366"/>
                    </a:cubicBez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  <p:sp>
            <p:nvSpPr>
              <p:cNvPr id="65" name="Freeform 65"/>
              <p:cNvSpPr/>
              <p:nvPr/>
            </p:nvSpPr>
            <p:spPr>
              <a:xfrm>
                <a:off x="871538" y="6070283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</p:grpSp>
        <p:sp>
          <p:nvSpPr>
            <p:cNvPr id="67" name="TextBox 67"/>
            <p:cNvSpPr txBox="1"/>
            <p:nvPr/>
          </p:nvSpPr>
          <p:spPr>
            <a:xfrm>
              <a:off x="1040511" y="6004084"/>
              <a:ext cx="5366969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两类问题的输入都是两个串，区别在于输出的是位置还是距离。</a:t>
              </a:r>
            </a:p>
          </p:txBody>
        </p:sp>
      </p:grpSp>
      <p:grpSp>
        <p:nvGrpSpPr>
          <p:cNvPr id="71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69" name="TextBox 69"/>
            <p:cNvSpPr txBox="1"/>
            <p:nvPr/>
          </p:nvSpPr>
          <p:spPr>
            <a:xfrm>
              <a:off x="528447" y="6581299"/>
              <a:ext cx="2120748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数据结构 · 专题1 字符串的模糊匹配</a:t>
              </a:r>
            </a:p>
          </p:txBody>
        </p:sp>
        <p:sp>
          <p:nvSpPr>
            <p:cNvPr id="70" name="TextBox 70"/>
            <p:cNvSpPr txBox="1"/>
            <p:nvPr/>
          </p:nvSpPr>
          <p:spPr>
            <a:xfrm>
              <a:off x="11581087" y="6581299"/>
              <a:ext cx="8246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5571613" cy="909257"/>
            <a:chOff x="520446" y="342900"/>
            <a:chExt cx="5571613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841308" cy="266700"/>
            </a:xfrm>
            <a:prstGeom prst="roundRect">
              <a:avLst>
                <a:gd name="adj" fmla="val 50000"/>
              </a:avLst>
            </a:prstGeom>
            <a:solidFill>
              <a:srgbClr val="E6EFF9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83354" y="407194"/>
              <a:ext cx="274044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5FA8"/>
                  </a:solidFill>
                  <a:latin typeface="+mn-lt"/>
                  <a:ea typeface="+mn-ea"/>
                  <a:cs typeface="+mn-cs"/>
                </a:rPr>
                <a:t>专题1 模糊匹配 · 从精确匹配到模糊匹配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5571613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三类真实场景都在问“这两段有多像”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1F5FA8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26" name="c1-table-1"/>
          <p:cNvGrpSpPr/>
          <p:nvPr/>
        </p:nvGrpSpPr>
        <p:grpSpPr>
          <a:xfrm>
            <a:off x="533400" y="1524000"/>
            <a:ext cx="5842635" cy="1712595"/>
            <a:chOff x="533400" y="1524000"/>
            <a:chExt cx="5842635" cy="1712595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5842635" cy="381000"/>
            </a:xfrm>
            <a:prstGeom prst="rect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1029652" y="1641157"/>
              <a:ext cx="29337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场景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2486978" y="1641157"/>
              <a:ext cx="1000125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要比较的两个串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4836986" y="1641157"/>
              <a:ext cx="858774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相似度的用途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628078" y="2023110"/>
              <a:ext cx="858774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基因序列比对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1913954" y="2023110"/>
              <a:ext cx="1194816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两段 DNA 碱基序列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4250436" y="2023110"/>
              <a:ext cx="1848231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判断物种或个体间的亲缘关系</a:t>
              </a:r>
            </a:p>
          </p:txBody>
        </p:sp>
        <p:sp>
          <p:nvSpPr>
            <p:cNvPr id="14" name="Rectangle 14"/>
            <p:cNvSpPr/>
            <p:nvPr/>
          </p:nvSpPr>
          <p:spPr>
            <a:xfrm>
              <a:off x="533400" y="2282190"/>
              <a:ext cx="584263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5" name="Rectangle 15"/>
            <p:cNvSpPr/>
            <p:nvPr/>
          </p:nvSpPr>
          <p:spPr>
            <a:xfrm>
              <a:off x="533400" y="2286952"/>
              <a:ext cx="5842635" cy="381000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628078" y="2404110"/>
              <a:ext cx="1029455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论文 / 代码查重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1913954" y="2404110"/>
              <a:ext cx="1282827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两份文档或两段源码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4250436" y="2404110"/>
              <a:ext cx="170688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给出重复率并定位抄袭片段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533400" y="2663190"/>
              <a:ext cx="584263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628078" y="2878455"/>
              <a:ext cx="1000125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搜索框拼写纠错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1913954" y="2878455"/>
              <a:ext cx="142417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用户输入与词典里的词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4250436" y="2785110"/>
              <a:ext cx="1817560" cy="39204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470"/>
                </a:lnSpc>
              </a:pPr>
              <a:r>
                <a:rPr lang="zh-CN" sz="10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距离最小的词就是“您是不是要</a:t>
              </a:r>
              <a:br/>
              <a:r>
                <a:rPr lang="zh-CN" sz="10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找”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533400" y="1524000"/>
              <a:ext cx="5842635" cy="1712595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24" name="Rectangle 24"/>
            <p:cNvSpPr/>
            <p:nvPr/>
          </p:nvSpPr>
          <p:spPr>
            <a:xfrm>
              <a:off x="1814512" y="1524000"/>
              <a:ext cx="9525" cy="171259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5" name="Rectangle 25"/>
            <p:cNvSpPr/>
            <p:nvPr/>
          </p:nvSpPr>
          <p:spPr>
            <a:xfrm>
              <a:off x="4150995" y="1524000"/>
              <a:ext cx="9525" cy="171259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</p:grpSp>
      <p:grpSp>
        <p:nvGrpSpPr>
          <p:cNvPr id="34" name="c1-card-2"/>
          <p:cNvGrpSpPr/>
          <p:nvPr/>
        </p:nvGrpSpPr>
        <p:grpSpPr>
          <a:xfrm>
            <a:off x="533400" y="3401378"/>
            <a:ext cx="5842635" cy="2806065"/>
            <a:chOff x="533400" y="3401378"/>
            <a:chExt cx="5842635" cy="2806065"/>
          </a:xfrm>
        </p:grpSpPr>
        <p:sp>
          <p:nvSpPr>
            <p:cNvPr id="27" name="Rectangle 27"/>
            <p:cNvSpPr/>
            <p:nvPr/>
          </p:nvSpPr>
          <p:spPr>
            <a:xfrm>
              <a:off x="533400" y="3401378"/>
              <a:ext cx="5842635" cy="2806065"/>
            </a:xfrm>
            <a:prstGeom prst="roundRect">
              <a:avLst>
                <a:gd name="adj" fmla="val 4752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542925" y="3534728"/>
              <a:ext cx="47625" cy="2539365"/>
            </a:xfrm>
            <a:prstGeom prst="roundRect">
              <a:avLst>
                <a:gd name="adj" fmla="val 50000"/>
              </a:avLst>
            </a:prstGeom>
            <a:solidFill>
              <a:srgbClr val="14A38B"/>
            </a:solidFill>
            <a:ln>
              <a:noFill/>
            </a:ln>
          </p:spPr>
        </p:sp>
        <p:sp>
          <p:nvSpPr>
            <p:cNvPr id="29" name="Rectangle 29"/>
            <p:cNvSpPr/>
            <p:nvPr/>
          </p:nvSpPr>
          <p:spPr>
            <a:xfrm>
              <a:off x="752475" y="3582352"/>
              <a:ext cx="458152" cy="238125"/>
            </a:xfrm>
            <a:prstGeom prst="roundRect">
              <a:avLst>
                <a:gd name="adj" fmla="val 50000"/>
              </a:avLst>
            </a:prstGeom>
            <a:solidFill>
              <a:srgbClr val="E3F5F1"/>
            </a:solidFill>
            <a:ln>
              <a:noFill/>
            </a:ln>
          </p:spPr>
        </p:sp>
        <p:sp>
          <p:nvSpPr>
            <p:cNvPr id="30" name="TextBox 30"/>
            <p:cNvSpPr txBox="1"/>
            <p:nvPr/>
          </p:nvSpPr>
          <p:spPr>
            <a:xfrm>
              <a:off x="845147" y="3615214"/>
              <a:ext cx="273761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数据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1318450" y="3621881"/>
              <a:ext cx="2425344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黑猩猩与人类基因组的比对结果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745998" y="3938111"/>
              <a:ext cx="5239258" cy="49225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12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Tomkins 在 Answers Research Journal 4 (2011) 上把 40000 条黑猩猩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DNA 序列与人类基因组比对，全基因组的相似度报为 86%–89%。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747141" y="4462462"/>
              <a:ext cx="5435346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这类结论正是靠大规模序列比对算出来的，编辑距离与 LCS 是其中最基础的两把尺子。</a:t>
              </a:r>
            </a:p>
          </p:txBody>
        </p:sp>
      </p:grpSp>
      <p:grpSp>
        <p:nvGrpSpPr>
          <p:cNvPr id="42" name="c2-bullets-1"/>
          <p:cNvGrpSpPr/>
          <p:nvPr/>
        </p:nvGrpSpPr>
        <p:grpSpPr>
          <a:xfrm>
            <a:off x="6674358" y="1545431"/>
            <a:ext cx="4044762" cy="1136142"/>
            <a:chOff x="6674358" y="1545431"/>
            <a:chExt cx="4044762" cy="1136142"/>
          </a:xfrm>
        </p:grpSpPr>
        <p:sp>
          <p:nvSpPr>
            <p:cNvPr id="35" name="TextBox 35"/>
            <p:cNvSpPr txBox="1"/>
            <p:nvPr/>
          </p:nvSpPr>
          <p:spPr>
            <a:xfrm>
              <a:off x="6674358" y="1545431"/>
              <a:ext cx="2425344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5FA8"/>
                  </a:solidFill>
                  <a:latin typeface="+mn-lt"/>
                  <a:ea typeface="+mn-ea"/>
                  <a:cs typeface="+mn-cs"/>
                </a:rPr>
                <a:t>为什么这些场景不能用精确匹配</a:t>
              </a:r>
            </a:p>
          </p:txBody>
        </p:sp>
        <p:sp>
          <p:nvSpPr>
            <p:cNvPr id="36" name="Freeform 36"/>
            <p:cNvSpPr/>
            <p:nvPr/>
          </p:nvSpPr>
          <p:spPr>
            <a:xfrm>
              <a:off x="6680835" y="1877378"/>
              <a:ext cx="97155" cy="97155"/>
            </a:xfrm>
            <a:custGeom>
              <a:avLst/>
              <a:gdLst/>
              <a:ahLst/>
              <a:cxnLst/>
              <a:rect l="l" t="t" r="r" b="b"/>
              <a:pathLst>
                <a:path w="97155" h="97155">
                  <a:moveTo>
                    <a:pt x="0" y="0"/>
                  </a:moveTo>
                  <a:lnTo>
                    <a:pt x="97155" y="97155"/>
                  </a:lnTo>
                  <a:moveTo>
                    <a:pt x="97155" y="0"/>
                  </a:moveTo>
                  <a:lnTo>
                    <a:pt x="0" y="97155"/>
                  </a:lnTo>
                </a:path>
              </a:pathLst>
            </a:custGeom>
            <a:noFill/>
            <a:ln w="24765" cap="rnd">
              <a:solidFill>
                <a:srgbClr val="B42318"/>
              </a:solidFill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6904863" y="1846421"/>
              <a:ext cx="3814257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DNA 测序本身带错误，碱基会有替换、缺失和插入</a:t>
              </a:r>
            </a:p>
          </p:txBody>
        </p:sp>
        <p:sp>
          <p:nvSpPr>
            <p:cNvPr id="38" name="Freeform 38"/>
            <p:cNvSpPr/>
            <p:nvPr/>
          </p:nvSpPr>
          <p:spPr>
            <a:xfrm>
              <a:off x="6680835" y="2169795"/>
              <a:ext cx="97155" cy="97155"/>
            </a:xfrm>
            <a:custGeom>
              <a:avLst/>
              <a:gdLst/>
              <a:ahLst/>
              <a:cxnLst/>
              <a:rect l="l" t="t" r="r" b="b"/>
              <a:pathLst>
                <a:path w="97155" h="97155">
                  <a:moveTo>
                    <a:pt x="0" y="0"/>
                  </a:moveTo>
                  <a:lnTo>
                    <a:pt x="97155" y="97155"/>
                  </a:lnTo>
                  <a:moveTo>
                    <a:pt x="97155" y="0"/>
                  </a:moveTo>
                  <a:lnTo>
                    <a:pt x="0" y="97155"/>
                  </a:lnTo>
                </a:path>
              </a:pathLst>
            </a:custGeom>
            <a:noFill/>
            <a:ln w="24765" cap="rnd">
              <a:solidFill>
                <a:srgbClr val="B42318"/>
              </a:solidFill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6904863" y="2139791"/>
              <a:ext cx="3286912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抄袭者会改词序、换变量名、插入无关语句</a:t>
              </a:r>
            </a:p>
          </p:txBody>
        </p:sp>
        <p:sp>
          <p:nvSpPr>
            <p:cNvPr id="40" name="Freeform 40"/>
            <p:cNvSpPr/>
            <p:nvPr/>
          </p:nvSpPr>
          <p:spPr>
            <a:xfrm>
              <a:off x="6680835" y="2463165"/>
              <a:ext cx="97155" cy="97155"/>
            </a:xfrm>
            <a:custGeom>
              <a:avLst/>
              <a:gdLst/>
              <a:ahLst/>
              <a:cxnLst/>
              <a:rect l="l" t="t" r="r" b="b"/>
              <a:pathLst>
                <a:path w="97155" h="97155">
                  <a:moveTo>
                    <a:pt x="0" y="0"/>
                  </a:moveTo>
                  <a:lnTo>
                    <a:pt x="97155" y="97155"/>
                  </a:lnTo>
                  <a:moveTo>
                    <a:pt x="97155" y="0"/>
                  </a:moveTo>
                  <a:lnTo>
                    <a:pt x="0" y="97155"/>
                  </a:lnTo>
                </a:path>
              </a:pathLst>
            </a:custGeom>
            <a:noFill/>
            <a:ln w="24765" cap="rnd">
              <a:solidFill>
                <a:srgbClr val="B42318"/>
              </a:solidFill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6904863" y="2432209"/>
              <a:ext cx="345922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用户打字漏字母、多敲一个键、字母顺序敲反</a:t>
              </a:r>
            </a:p>
          </p:txBody>
        </p:sp>
      </p:grpSp>
      <p:grpSp>
        <p:nvGrpSpPr>
          <p:cNvPr id="49" name="c2-callout-2"/>
          <p:cNvGrpSpPr/>
          <p:nvPr/>
        </p:nvGrpSpPr>
        <p:grpSpPr>
          <a:xfrm>
            <a:off x="6680835" y="2796540"/>
            <a:ext cx="4977765" cy="702945"/>
            <a:chOff x="6680835" y="2796540"/>
            <a:chExt cx="4977765" cy="702945"/>
          </a:xfrm>
        </p:grpSpPr>
        <p:sp>
          <p:nvSpPr>
            <p:cNvPr id="43" name="Rectangle 43"/>
            <p:cNvSpPr/>
            <p:nvPr/>
          </p:nvSpPr>
          <p:spPr>
            <a:xfrm>
              <a:off x="6680835" y="2796540"/>
              <a:ext cx="4977765" cy="702945"/>
            </a:xfrm>
            <a:prstGeom prst="roundRect">
              <a:avLst>
                <a:gd name="adj" fmla="val 16260"/>
              </a:avLst>
            </a:prstGeom>
            <a:solidFill>
              <a:srgbClr val="F4F6FB"/>
            </a:solidFill>
            <a:ln>
              <a:noFill/>
            </a:ln>
          </p:spPr>
        </p:sp>
        <p:grpSp>
          <p:nvGrpSpPr>
            <p:cNvPr id="47" name="Group 47"/>
            <p:cNvGrpSpPr/>
            <p:nvPr/>
          </p:nvGrpSpPr>
          <p:grpSpPr>
            <a:xfrm>
              <a:off x="6885623" y="3048000"/>
              <a:ext cx="200026" cy="200026"/>
              <a:chOff x="6885623" y="3048000"/>
              <a:chExt cx="200026" cy="200026"/>
            </a:xfrm>
          </p:grpSpPr>
          <p:sp>
            <p:nvSpPr>
              <p:cNvPr id="44" name="Freeform 44"/>
              <p:cNvSpPr/>
              <p:nvPr/>
            </p:nvSpPr>
            <p:spPr>
              <a:xfrm>
                <a:off x="6885623" y="3048000"/>
                <a:ext cx="200026" cy="200026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200026">
                    <a:moveTo>
                      <a:pt x="0" y="100013"/>
                    </a:moveTo>
                    <a:cubicBezTo>
                      <a:pt x="0" y="155248"/>
                      <a:pt x="44777" y="200026"/>
                      <a:pt x="100013" y="200026"/>
                    </a:cubicBezTo>
                    <a:cubicBezTo>
                      <a:pt x="155248" y="200026"/>
                      <a:pt x="200026" y="155248"/>
                      <a:pt x="200026" y="100013"/>
                    </a:cubicBezTo>
                    <a:cubicBezTo>
                      <a:pt x="200026" y="44777"/>
                      <a:pt x="155248" y="0"/>
                      <a:pt x="100013" y="0"/>
                    </a:cubicBezTo>
                    <a:cubicBezTo>
                      <a:pt x="44777" y="0"/>
                      <a:pt x="0" y="44777"/>
                      <a:pt x="0" y="100013"/>
                    </a:cubicBez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45" name="Freeform 45"/>
              <p:cNvSpPr/>
              <p:nvPr/>
            </p:nvSpPr>
            <p:spPr>
              <a:xfrm>
                <a:off x="6985635" y="3114675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46" name="Freeform 46"/>
              <p:cNvSpPr/>
              <p:nvPr/>
            </p:nvSpPr>
            <p:spPr>
              <a:xfrm>
                <a:off x="6974523" y="3148013"/>
                <a:ext cx="2222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22225" h="44450">
                    <a:moveTo>
                      <a:pt x="0" y="0"/>
                    </a:moveTo>
                    <a:lnTo>
                      <a:pt x="11113" y="0"/>
                    </a:lnTo>
                    <a:lnTo>
                      <a:pt x="11113" y="44450"/>
                    </a:lnTo>
                    <a:lnTo>
                      <a:pt x="22225" y="4445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</p:grpSp>
        <p:sp>
          <p:nvSpPr>
            <p:cNvPr id="48" name="TextBox 48"/>
            <p:cNvSpPr txBox="1"/>
            <p:nvPr/>
          </p:nvSpPr>
          <p:spPr>
            <a:xfrm>
              <a:off x="7188708" y="2940844"/>
              <a:ext cx="4093210" cy="483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845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这三种“出错方式”恰好对应替换、删除、插入三种编辑操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作。</a:t>
              </a:r>
            </a:p>
          </p:txBody>
        </p:sp>
      </p:grpSp>
      <p:grpSp>
        <p:nvGrpSpPr>
          <p:cNvPr id="63" name="c2-card-3"/>
          <p:cNvGrpSpPr/>
          <p:nvPr/>
        </p:nvGrpSpPr>
        <p:grpSpPr>
          <a:xfrm>
            <a:off x="6680835" y="3664268"/>
            <a:ext cx="4977765" cy="2543175"/>
            <a:chOff x="6680835" y="3664268"/>
            <a:chExt cx="4977765" cy="2543175"/>
          </a:xfrm>
        </p:grpSpPr>
        <p:sp>
          <p:nvSpPr>
            <p:cNvPr id="50" name="Rectangle 50"/>
            <p:cNvSpPr/>
            <p:nvPr/>
          </p:nvSpPr>
          <p:spPr>
            <a:xfrm>
              <a:off x="6680835" y="3664268"/>
              <a:ext cx="4977765" cy="2543175"/>
            </a:xfrm>
            <a:prstGeom prst="roundRect">
              <a:avLst>
                <a:gd name="adj" fmla="val 5243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51" name="Rectangle 51"/>
            <p:cNvSpPr/>
            <p:nvPr/>
          </p:nvSpPr>
          <p:spPr>
            <a:xfrm>
              <a:off x="6690360" y="3797618"/>
              <a:ext cx="47625" cy="2276475"/>
            </a:xfrm>
            <a:prstGeom prst="roundRect">
              <a:avLst>
                <a:gd name="adj" fmla="val 50000"/>
              </a:avLst>
            </a:prstGeom>
            <a:solidFill>
              <a:srgbClr val="14A38B"/>
            </a:solidFill>
            <a:ln>
              <a:noFill/>
            </a:ln>
          </p:spPr>
        </p:sp>
        <p:sp>
          <p:nvSpPr>
            <p:cNvPr id="52" name="Rectangle 52"/>
            <p:cNvSpPr/>
            <p:nvPr/>
          </p:nvSpPr>
          <p:spPr>
            <a:xfrm>
              <a:off x="6899910" y="3845242"/>
              <a:ext cx="334328" cy="238125"/>
            </a:xfrm>
            <a:prstGeom prst="roundRect">
              <a:avLst>
                <a:gd name="adj" fmla="val 50000"/>
              </a:avLst>
            </a:prstGeom>
            <a:solidFill>
              <a:srgbClr val="E3F5F1"/>
            </a:solidFill>
            <a:ln>
              <a:noFill/>
            </a:ln>
          </p:spPr>
        </p:sp>
        <p:sp>
          <p:nvSpPr>
            <p:cNvPr id="53" name="TextBox 53"/>
            <p:cNvSpPr txBox="1"/>
            <p:nvPr/>
          </p:nvSpPr>
          <p:spPr>
            <a:xfrm>
              <a:off x="6996633" y="3878104"/>
              <a:ext cx="141834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例</a:t>
              </a:r>
            </a:p>
          </p:txBody>
        </p:sp>
        <p:sp>
          <p:nvSpPr>
            <p:cNvPr id="54" name="TextBox 54"/>
            <p:cNvSpPr txBox="1"/>
            <p:nvPr/>
          </p:nvSpPr>
          <p:spPr>
            <a:xfrm>
              <a:off x="7342061" y="3884771"/>
              <a:ext cx="210742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搜索框里的“您是不是要找”</a:t>
              </a:r>
            </a:p>
          </p:txBody>
        </p:sp>
        <p:sp>
          <p:nvSpPr>
            <p:cNvPr id="55" name="TextBox 55"/>
            <p:cNvSpPr txBox="1"/>
            <p:nvPr/>
          </p:nvSpPr>
          <p:spPr>
            <a:xfrm>
              <a:off x="6893433" y="4201001"/>
              <a:ext cx="4312666" cy="49225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12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用户输入 compueter，与词典里几个候选词的编辑距离分别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是：</a:t>
              </a:r>
            </a:p>
          </p:txBody>
        </p:sp>
        <p:sp>
          <p:nvSpPr>
            <p:cNvPr id="56" name="Ellipse 56"/>
            <p:cNvSpPr/>
            <p:nvPr/>
          </p:nvSpPr>
          <p:spPr>
            <a:xfrm>
              <a:off x="6909435" y="4781550"/>
              <a:ext cx="57150" cy="57150"/>
            </a:xfrm>
            <a:prstGeom prst="ellipse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57" name="TextBox 57"/>
            <p:cNvSpPr txBox="1"/>
            <p:nvPr/>
          </p:nvSpPr>
          <p:spPr>
            <a:xfrm>
              <a:off x="7064883" y="4728686"/>
              <a:ext cx="3050412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 xml:space="preserve">computer 距离 </a:t>
              </a:r>
              <a:r>
                <a:rPr lang="zh-CN" sz="128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1</a:t>
              </a: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（删掉多敲的一个 e）</a:t>
              </a:r>
            </a:p>
          </p:txBody>
        </p:sp>
        <p:sp>
          <p:nvSpPr>
            <p:cNvPr id="58" name="Ellipse 58"/>
            <p:cNvSpPr/>
            <p:nvPr/>
          </p:nvSpPr>
          <p:spPr>
            <a:xfrm>
              <a:off x="6909435" y="5066348"/>
              <a:ext cx="57150" cy="57150"/>
            </a:xfrm>
            <a:prstGeom prst="ellipse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59" name="TextBox 59"/>
            <p:cNvSpPr txBox="1"/>
            <p:nvPr/>
          </p:nvSpPr>
          <p:spPr>
            <a:xfrm>
              <a:off x="7064883" y="5014436"/>
              <a:ext cx="427771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compute 距离 2，computers 距离 2，compiler 距离 3</a:t>
              </a:r>
            </a:p>
          </p:txBody>
        </p:sp>
        <p:sp>
          <p:nvSpPr>
            <p:cNvPr id="60" name="Ellipse 60"/>
            <p:cNvSpPr/>
            <p:nvPr/>
          </p:nvSpPr>
          <p:spPr>
            <a:xfrm>
              <a:off x="6909435" y="5351145"/>
              <a:ext cx="57150" cy="57150"/>
            </a:xfrm>
            <a:prstGeom prst="ellipse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61" name="TextBox 61"/>
            <p:cNvSpPr txBox="1"/>
            <p:nvPr/>
          </p:nvSpPr>
          <p:spPr>
            <a:xfrm>
              <a:off x="7064883" y="5299234"/>
              <a:ext cx="1253612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compare 距离 4</a:t>
              </a:r>
            </a:p>
          </p:txBody>
        </p:sp>
        <p:sp>
          <p:nvSpPr>
            <p:cNvPr id="62" name="TextBox 62"/>
            <p:cNvSpPr txBox="1"/>
            <p:nvPr/>
          </p:nvSpPr>
          <p:spPr>
            <a:xfrm>
              <a:off x="6893433" y="5584031"/>
              <a:ext cx="4272026" cy="49225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12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搜索引擎按距离从小到大排，距离最小的 computer 被提示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出来。</a:t>
              </a:r>
            </a:p>
          </p:txBody>
        </p:sp>
      </p:grpSp>
      <p:grpSp>
        <p:nvGrpSpPr>
          <p:cNvPr id="66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64" name="TextBox 64"/>
            <p:cNvSpPr txBox="1"/>
            <p:nvPr/>
          </p:nvSpPr>
          <p:spPr>
            <a:xfrm>
              <a:off x="528447" y="6581299"/>
              <a:ext cx="2120748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数据结构 · 专题1 字符串的模糊匹配</a:t>
              </a:r>
            </a:p>
          </p:txBody>
        </p:sp>
        <p:sp>
          <p:nvSpPr>
            <p:cNvPr id="65" name="TextBox 65"/>
            <p:cNvSpPr txBox="1"/>
            <p:nvPr/>
          </p:nvSpPr>
          <p:spPr>
            <a:xfrm>
              <a:off x="11581087" y="6581299"/>
              <a:ext cx="8246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5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-disc"/>
          <p:cNvSpPr/>
          <p:nvPr/>
        </p:nvSpPr>
        <p:spPr>
          <a:xfrm>
            <a:off x="7715250" y="571500"/>
            <a:ext cx="5715000" cy="5715000"/>
          </a:xfrm>
          <a:prstGeom prst="ellipse">
            <a:avLst/>
          </a:prstGeom>
          <a:solidFill>
            <a:srgbClr val="1F5FA8"/>
          </a:solidFill>
          <a:ln>
            <a:noFill/>
          </a:ln>
        </p:spPr>
      </p:sp>
      <p:sp>
        <p:nvSpPr>
          <p:cNvPr id="3" name="section-ring"/>
          <p:cNvSpPr/>
          <p:nvPr/>
        </p:nvSpPr>
        <p:spPr>
          <a:xfrm>
            <a:off x="7334250" y="190500"/>
            <a:ext cx="6477000" cy="6477000"/>
          </a:xfrm>
          <a:prstGeom prst="ellipse">
            <a:avLst/>
          </a:prstGeom>
          <a:noFill/>
          <a:ln w="133350">
            <a:solidFill>
              <a:srgbClr val="E6EFF9"/>
            </a:solidFill>
          </a:ln>
        </p:spPr>
      </p:sp>
      <p:grpSp>
        <p:nvGrpSpPr>
          <p:cNvPr id="5" name="section-num"/>
          <p:cNvGrpSpPr/>
          <p:nvPr/>
        </p:nvGrpSpPr>
        <p:grpSpPr>
          <a:xfrm>
            <a:off x="8954033" y="2705100"/>
            <a:ext cx="1903933" cy="2305050"/>
            <a:chOff x="8954033" y="2705100"/>
            <a:chExt cx="1903933" cy="2305050"/>
          </a:xfrm>
        </p:grpSpPr>
        <p:sp>
          <p:nvSpPr>
            <p:cNvPr id="4" name="TextBox 4"/>
            <p:cNvSpPr txBox="1"/>
            <p:nvPr/>
          </p:nvSpPr>
          <p:spPr>
            <a:xfrm>
              <a:off x="8954033" y="2705100"/>
              <a:ext cx="1903933" cy="23050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02</a:t>
              </a:r>
            </a:p>
          </p:txBody>
        </p:sp>
      </p:grpSp>
      <p:grpSp>
        <p:nvGrpSpPr>
          <p:cNvPr id="16" name="section-title"/>
          <p:cNvGrpSpPr/>
          <p:nvPr/>
        </p:nvGrpSpPr>
        <p:grpSpPr>
          <a:xfrm>
            <a:off x="667512" y="1835468"/>
            <a:ext cx="3913632" cy="2997517"/>
            <a:chOff x="667512" y="1835468"/>
            <a:chExt cx="3913632" cy="2997517"/>
          </a:xfrm>
        </p:grpSpPr>
        <p:sp>
          <p:nvSpPr>
            <p:cNvPr id="6" name="TextBox 6"/>
            <p:cNvSpPr txBox="1"/>
            <p:nvPr/>
          </p:nvSpPr>
          <p:spPr>
            <a:xfrm>
              <a:off x="678942" y="1835468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第二部分</a:t>
              </a:r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667512" y="2240280"/>
              <a:ext cx="3913632" cy="70408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6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字符串的编辑距离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685800" y="3041332"/>
              <a:ext cx="762000" cy="47625"/>
            </a:xfrm>
            <a:prstGeom prst="roundRect">
              <a:avLst>
                <a:gd name="adj" fmla="val 50000"/>
              </a:avLst>
            </a:prstGeom>
            <a:solidFill>
              <a:srgbClr val="F26B3A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677418" y="3377565"/>
              <a:ext cx="3792855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把一个串改成另一个串，最少要改几次</a:t>
              </a:r>
            </a:p>
          </p:txBody>
        </p:sp>
        <p:sp>
          <p:nvSpPr>
            <p:cNvPr id="10" name="Ellipse 10"/>
            <p:cNvSpPr/>
            <p:nvPr/>
          </p:nvSpPr>
          <p:spPr>
            <a:xfrm>
              <a:off x="723900" y="3888105"/>
              <a:ext cx="76200" cy="76200"/>
            </a:xfrm>
            <a:prstGeom prst="ellipse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906780" y="3830955"/>
              <a:ext cx="122682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三种编辑操作</a:t>
              </a:r>
            </a:p>
          </p:txBody>
        </p:sp>
        <p:sp>
          <p:nvSpPr>
            <p:cNvPr id="12" name="Ellipse 12"/>
            <p:cNvSpPr/>
            <p:nvPr/>
          </p:nvSpPr>
          <p:spPr>
            <a:xfrm>
              <a:off x="723900" y="4242435"/>
              <a:ext cx="76200" cy="76200"/>
            </a:xfrm>
            <a:prstGeom prst="ellipse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906780" y="4185285"/>
              <a:ext cx="223647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只看最后一个字符的递推</a:t>
              </a:r>
            </a:p>
          </p:txBody>
        </p:sp>
        <p:sp>
          <p:nvSpPr>
            <p:cNvPr id="14" name="Ellipse 14"/>
            <p:cNvSpPr/>
            <p:nvPr/>
          </p:nvSpPr>
          <p:spPr>
            <a:xfrm>
              <a:off x="723900" y="4596765"/>
              <a:ext cx="76200" cy="76200"/>
            </a:xfrm>
            <a:prstGeom prst="ellipse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906780" y="4539615"/>
              <a:ext cx="1876044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二维表填法与 C 代码</a:t>
              </a:r>
            </a:p>
          </p:txBody>
        </p:sp>
      </p:grpSp>
      <p:grpSp>
        <p:nvGrpSpPr>
          <p:cNvPr id="19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17" name="TextBox 17"/>
            <p:cNvSpPr txBox="1"/>
            <p:nvPr/>
          </p:nvSpPr>
          <p:spPr>
            <a:xfrm>
              <a:off x="528447" y="6581299"/>
              <a:ext cx="2120748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数据结构 · 专题1 字符串的模糊匹配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1581087" y="6581299"/>
              <a:ext cx="8246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6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6737634" cy="909257"/>
            <a:chOff x="520446" y="342900"/>
            <a:chExt cx="6737634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556510" cy="266700"/>
            </a:xfrm>
            <a:prstGeom prst="roundRect">
              <a:avLst>
                <a:gd name="adj" fmla="val 50000"/>
              </a:avLst>
            </a:prstGeom>
            <a:solidFill>
              <a:srgbClr val="E6EFF9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92206" y="407194"/>
              <a:ext cx="243889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5FA8"/>
                  </a:solidFill>
                  <a:latin typeface="+mn-lt"/>
                  <a:ea typeface="+mn-ea"/>
                  <a:cs typeface="+mn-cs"/>
                </a:rPr>
                <a:t>专题1 模糊匹配 · 字符串的编辑距离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6737634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编辑距离：把 S 改成 P 所需的最少编辑次数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1F5FA8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19" name="c1-card-1"/>
          <p:cNvGrpSpPr/>
          <p:nvPr/>
        </p:nvGrpSpPr>
        <p:grpSpPr>
          <a:xfrm>
            <a:off x="533400" y="1524000"/>
            <a:ext cx="5626418" cy="2222182"/>
            <a:chOff x="533400" y="1524000"/>
            <a:chExt cx="5626418" cy="2222182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5626418" cy="2222182"/>
            </a:xfrm>
            <a:prstGeom prst="roundRect">
              <a:avLst>
                <a:gd name="adj" fmla="val 6001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8" name="Rectangle 8"/>
            <p:cNvSpPr/>
            <p:nvPr/>
          </p:nvSpPr>
          <p:spPr>
            <a:xfrm>
              <a:off x="542925" y="1657350"/>
              <a:ext cx="47625" cy="1955482"/>
            </a:xfrm>
            <a:prstGeom prst="roundRect">
              <a:avLst>
                <a:gd name="adj" fmla="val 50000"/>
              </a:avLst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9" name="Rectangle 9"/>
            <p:cNvSpPr/>
            <p:nvPr/>
          </p:nvSpPr>
          <p:spPr>
            <a:xfrm>
              <a:off x="769620" y="1722120"/>
              <a:ext cx="476250" cy="247650"/>
            </a:xfrm>
            <a:prstGeom prst="roundRect">
              <a:avLst>
                <a:gd name="adj" fmla="val 50000"/>
              </a:avLst>
            </a:prstGeom>
            <a:solidFill>
              <a:srgbClr val="E6EFF9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861060" y="1756410"/>
              <a:ext cx="29337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1F5FA8"/>
                  </a:solidFill>
                  <a:latin typeface="+mn-lt"/>
                  <a:ea typeface="+mn-ea"/>
                  <a:cs typeface="+mn-cs"/>
                </a:rPr>
                <a:t>定义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1352931" y="1756886"/>
              <a:ext cx="3031638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字符串编辑距离（Edit Distance）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762381" y="2100739"/>
              <a:ext cx="4937760" cy="5501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 xml:space="preserve">将一个字符串转化成另一个字符串，所需要的 </a:t>
              </a:r>
              <a:r>
                <a:rPr lang="zh-CN" sz="142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最少编辑操作次</a:t>
              </a:r>
              <a:br/>
              <a:r>
                <a:rPr lang="zh-CN" sz="142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数</a:t>
              </a: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。</a:t>
              </a:r>
            </a:p>
          </p:txBody>
        </p:sp>
        <p:sp>
          <p:nvSpPr>
            <p:cNvPr id="13" name="Ellipse 13"/>
            <p:cNvSpPr/>
            <p:nvPr/>
          </p:nvSpPr>
          <p:spPr>
            <a:xfrm>
              <a:off x="777240" y="2749868"/>
              <a:ext cx="60960" cy="60960"/>
            </a:xfrm>
            <a:prstGeom prst="ellipse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933831" y="2690336"/>
              <a:ext cx="2499563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编辑距离越小，两个串越相似</a:t>
              </a:r>
            </a:p>
          </p:txBody>
        </p:sp>
        <p:sp>
          <p:nvSpPr>
            <p:cNvPr id="15" name="Ellipse 15"/>
            <p:cNvSpPr/>
            <p:nvPr/>
          </p:nvSpPr>
          <p:spPr>
            <a:xfrm>
              <a:off x="777240" y="3068002"/>
              <a:ext cx="60960" cy="60960"/>
            </a:xfrm>
            <a:prstGeom prst="ellipse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933831" y="3007519"/>
              <a:ext cx="2853210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两个完全相同的串，编辑距离为 0</a:t>
              </a:r>
            </a:p>
          </p:txBody>
        </p:sp>
        <p:sp>
          <p:nvSpPr>
            <p:cNvPr id="17" name="Ellipse 17"/>
            <p:cNvSpPr/>
            <p:nvPr/>
          </p:nvSpPr>
          <p:spPr>
            <a:xfrm>
              <a:off x="777240" y="3385185"/>
              <a:ext cx="60960" cy="60960"/>
            </a:xfrm>
            <a:prstGeom prst="ellipse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933831" y="3325654"/>
              <a:ext cx="2008842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又称 Levenshtein 距离</a:t>
              </a:r>
            </a:p>
          </p:txBody>
        </p:sp>
      </p:grpSp>
      <p:grpSp>
        <p:nvGrpSpPr>
          <p:cNvPr id="39" name="c1-table-2"/>
          <p:cNvGrpSpPr/>
          <p:nvPr/>
        </p:nvGrpSpPr>
        <p:grpSpPr>
          <a:xfrm>
            <a:off x="533400" y="3926205"/>
            <a:ext cx="5626418" cy="1697355"/>
            <a:chOff x="533400" y="3926205"/>
            <a:chExt cx="5626418" cy="1697355"/>
          </a:xfrm>
        </p:grpSpPr>
        <p:sp>
          <p:nvSpPr>
            <p:cNvPr id="20" name="Rectangle 20"/>
            <p:cNvSpPr/>
            <p:nvPr/>
          </p:nvSpPr>
          <p:spPr>
            <a:xfrm>
              <a:off x="533400" y="3926205"/>
              <a:ext cx="5626418" cy="424815"/>
            </a:xfrm>
            <a:prstGeom prst="rect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1160526" y="4054792"/>
              <a:ext cx="65836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编辑操作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3404235" y="4054792"/>
              <a:ext cx="33528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例子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5260658" y="4054792"/>
              <a:ext cx="33528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代价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635889" y="4479608"/>
              <a:ext cx="98145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替换一个字符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2548509" y="4479608"/>
              <a:ext cx="731063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cat → cut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4799266" y="4479608"/>
              <a:ext cx="101041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533400" y="4770120"/>
              <a:ext cx="5626418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8" name="Rectangle 28"/>
            <p:cNvSpPr/>
            <p:nvPr/>
          </p:nvSpPr>
          <p:spPr>
            <a:xfrm>
              <a:off x="533400" y="4774882"/>
              <a:ext cx="5626418" cy="424815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29" name="TextBox 29"/>
            <p:cNvSpPr txBox="1"/>
            <p:nvPr/>
          </p:nvSpPr>
          <p:spPr>
            <a:xfrm>
              <a:off x="635889" y="4903470"/>
              <a:ext cx="98145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插入一个字符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2548509" y="4903470"/>
              <a:ext cx="819912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cat → cart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4799266" y="4903470"/>
              <a:ext cx="101041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32" name="Rectangle 32"/>
            <p:cNvSpPr/>
            <p:nvPr/>
          </p:nvSpPr>
          <p:spPr>
            <a:xfrm>
              <a:off x="533400" y="5194935"/>
              <a:ext cx="5626418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635889" y="5328285"/>
              <a:ext cx="98145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删除一个字符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2548509" y="5328285"/>
              <a:ext cx="819912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cart → cat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4799266" y="5328285"/>
              <a:ext cx="101041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36" name="Rectangle 36"/>
            <p:cNvSpPr/>
            <p:nvPr/>
          </p:nvSpPr>
          <p:spPr>
            <a:xfrm>
              <a:off x="533400" y="3926205"/>
              <a:ext cx="5626418" cy="1697355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37" name="Rectangle 37"/>
            <p:cNvSpPr/>
            <p:nvPr/>
          </p:nvSpPr>
          <p:spPr>
            <a:xfrm>
              <a:off x="2441258" y="3926205"/>
              <a:ext cx="9525" cy="169735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8" name="Rectangle 38"/>
            <p:cNvSpPr/>
            <p:nvPr/>
          </p:nvSpPr>
          <p:spPr>
            <a:xfrm>
              <a:off x="4692015" y="3926205"/>
              <a:ext cx="9525" cy="169735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</p:grpSp>
      <p:grpSp>
        <p:nvGrpSpPr>
          <p:cNvPr id="42" name="c2-image-1"/>
          <p:cNvGrpSpPr/>
          <p:nvPr/>
        </p:nvGrpSpPr>
        <p:grpSpPr>
          <a:xfrm>
            <a:off x="7569518" y="1524000"/>
            <a:ext cx="2984182" cy="2537079"/>
            <a:chOff x="7569518" y="1524000"/>
            <a:chExt cx="2984182" cy="2537079"/>
          </a:xfrm>
        </p:grpSpPr>
        <p:pic>
          <p:nvPicPr>
            <p:cNvPr id="40" name="Image 40"/>
            <p:cNvPicPr>
              <a:picLocks noChangeAspect="1"/>
            </p:cNvPicPr>
            <p:nvPr/>
          </p:nvPicPr>
          <p:blipFill>
            <a:blip r:embed="rId2"/>
            <a:srcRect l="6" t="0" r="5" b="0"/>
            <a:stretch>
              <a:fillRect/>
            </a:stretch>
          </p:blipFill>
          <p:spPr>
            <a:xfrm>
              <a:off x="7569518" y="1524000"/>
              <a:ext cx="2984182" cy="2238375"/>
            </a:xfrm>
            <a:prstGeom prst="roundRect">
              <a:avLst>
                <a:gd name="adj" fmla="val 5957"/>
              </a:avLst>
            </a:prstGeom>
          </p:spPr>
        </p:pic>
        <p:sp>
          <p:nvSpPr>
            <p:cNvPr id="41" name="TextBox 41"/>
            <p:cNvSpPr txBox="1"/>
            <p:nvPr/>
          </p:nvSpPr>
          <p:spPr>
            <a:xfrm>
              <a:off x="7572566" y="3855720"/>
              <a:ext cx="2979039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三种编辑操作：取走一格、塞进一格、换掉一格</a:t>
              </a:r>
            </a:p>
          </p:txBody>
        </p:sp>
      </p:grpSp>
      <p:grpSp>
        <p:nvGrpSpPr>
          <p:cNvPr id="49" name="c2-callout-2"/>
          <p:cNvGrpSpPr/>
          <p:nvPr/>
        </p:nvGrpSpPr>
        <p:grpSpPr>
          <a:xfrm>
            <a:off x="6464618" y="4219575"/>
            <a:ext cx="5193982" cy="1404938"/>
            <a:chOff x="6464618" y="4219575"/>
            <a:chExt cx="5193982" cy="1404938"/>
          </a:xfrm>
        </p:grpSpPr>
        <p:sp>
          <p:nvSpPr>
            <p:cNvPr id="43" name="Rectangle 43"/>
            <p:cNvSpPr/>
            <p:nvPr/>
          </p:nvSpPr>
          <p:spPr>
            <a:xfrm>
              <a:off x="6464618" y="4219575"/>
              <a:ext cx="5193982" cy="1404938"/>
            </a:xfrm>
            <a:prstGeom prst="roundRect">
              <a:avLst>
                <a:gd name="adj" fmla="val 8136"/>
              </a:avLst>
            </a:prstGeom>
            <a:solidFill>
              <a:srgbClr val="FDECEA"/>
            </a:solidFill>
            <a:ln>
              <a:noFill/>
            </a:ln>
          </p:spPr>
        </p:sp>
        <p:grpSp>
          <p:nvGrpSpPr>
            <p:cNvPr id="47" name="Group 47"/>
            <p:cNvGrpSpPr/>
            <p:nvPr/>
          </p:nvGrpSpPr>
          <p:grpSpPr>
            <a:xfrm>
              <a:off x="6657347" y="4817863"/>
              <a:ext cx="224134" cy="192560"/>
              <a:chOff x="6657347" y="4817863"/>
              <a:chExt cx="224134" cy="192560"/>
            </a:xfrm>
          </p:grpSpPr>
          <p:sp>
            <p:nvSpPr>
              <p:cNvPr id="44" name="Freeform 44"/>
              <p:cNvSpPr/>
              <p:nvPr/>
            </p:nvSpPr>
            <p:spPr>
              <a:xfrm>
                <a:off x="6769418" y="4888230"/>
                <a:ext cx="952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44450">
                    <a:moveTo>
                      <a:pt x="0" y="0"/>
                    </a:moveTo>
                    <a:lnTo>
                      <a:pt x="0" y="44450"/>
                    </a:ln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  <p:sp>
            <p:nvSpPr>
              <p:cNvPr id="45" name="Freeform 45"/>
              <p:cNvSpPr/>
              <p:nvPr/>
            </p:nvSpPr>
            <p:spPr>
              <a:xfrm>
                <a:off x="6657347" y="4817863"/>
                <a:ext cx="224134" cy="192560"/>
              </a:xfrm>
              <a:custGeom>
                <a:avLst/>
                <a:gdLst/>
                <a:ahLst/>
                <a:cxnLst/>
                <a:rect l="l" t="t" r="r" b="b"/>
                <a:pathLst>
                  <a:path w="224134" h="192560">
                    <a:moveTo>
                      <a:pt x="93880" y="10259"/>
                    </a:moveTo>
                    <a:lnTo>
                      <a:pt x="3802" y="160656"/>
                    </a:lnTo>
                    <a:cubicBezTo>
                      <a:pt x="23" y="167200"/>
                      <a:pt x="0" y="175257"/>
                      <a:pt x="3741" y="181823"/>
                    </a:cubicBezTo>
                    <a:cubicBezTo>
                      <a:pt x="7482" y="188388"/>
                      <a:pt x="14426" y="192476"/>
                      <a:pt x="21982" y="192560"/>
                    </a:cubicBezTo>
                    <a:lnTo>
                      <a:pt x="202160" y="192560"/>
                    </a:lnTo>
                    <a:cubicBezTo>
                      <a:pt x="209713" y="192473"/>
                      <a:pt x="216653" y="188387"/>
                      <a:pt x="220393" y="181826"/>
                    </a:cubicBezTo>
                    <a:cubicBezTo>
                      <a:pt x="224134" y="175264"/>
                      <a:pt x="224114" y="167211"/>
                      <a:pt x="220341" y="160667"/>
                    </a:cubicBezTo>
                    <a:lnTo>
                      <a:pt x="130262" y="10248"/>
                    </a:lnTo>
                    <a:cubicBezTo>
                      <a:pt x="126408" y="3886"/>
                      <a:pt x="119510" y="0"/>
                      <a:pt x="112071" y="0"/>
                    </a:cubicBezTo>
                    <a:cubicBezTo>
                      <a:pt x="104633" y="0"/>
                      <a:pt x="97734" y="3886"/>
                      <a:pt x="93880" y="10248"/>
                    </a:cubicBez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  <p:sp>
            <p:nvSpPr>
              <p:cNvPr id="46" name="Freeform 46"/>
              <p:cNvSpPr/>
              <p:nvPr/>
            </p:nvSpPr>
            <p:spPr>
              <a:xfrm>
                <a:off x="6769418" y="4966018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</p:grpSp>
        <p:sp>
          <p:nvSpPr>
            <p:cNvPr id="48" name="TextBox 48"/>
            <p:cNvSpPr txBox="1"/>
            <p:nvPr/>
          </p:nvSpPr>
          <p:spPr>
            <a:xfrm>
              <a:off x="6971729" y="4690586"/>
              <a:ext cx="4288536" cy="5415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70"/>
                </a:lnSpc>
              </a:pPr>
              <a:r>
                <a:rPr lang="zh-CN" sz="1420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三种操作的代价都记为 1。若把替换的代价改成 2，得</a:t>
              </a:r>
              <a:br/>
              <a:r>
                <a:rPr lang="zh-CN" sz="1420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到的就是另一种距离，结论不通用。</a:t>
              </a:r>
            </a:p>
          </p:txBody>
        </p:sp>
      </p:grpSp>
      <p:grpSp>
        <p:nvGrpSpPr>
          <p:cNvPr id="56" name="takeaway"/>
          <p:cNvGrpSpPr/>
          <p:nvPr/>
        </p:nvGrpSpPr>
        <p:grpSpPr>
          <a:xfrm>
            <a:off x="533400" y="5858828"/>
            <a:ext cx="11125200" cy="503872"/>
            <a:chOff x="533400" y="5858828"/>
            <a:chExt cx="11125200" cy="503872"/>
          </a:xfrm>
        </p:grpSpPr>
        <p:sp>
          <p:nvSpPr>
            <p:cNvPr id="50" name="Rectangle 50"/>
            <p:cNvSpPr/>
            <p:nvPr/>
          </p:nvSpPr>
          <p:spPr>
            <a:xfrm>
              <a:off x="533400" y="5858828"/>
              <a:ext cx="11125200" cy="503872"/>
            </a:xfrm>
            <a:prstGeom prst="roundRect">
              <a:avLst>
                <a:gd name="adj" fmla="val 22684"/>
              </a:avLst>
            </a:prstGeom>
            <a:solidFill>
              <a:srgbClr val="F4F6FB"/>
            </a:solidFill>
            <a:ln>
              <a:noFill/>
            </a:ln>
          </p:spPr>
        </p:sp>
        <p:grpSp>
          <p:nvGrpSpPr>
            <p:cNvPr id="54" name="Group 54"/>
            <p:cNvGrpSpPr/>
            <p:nvPr/>
          </p:nvGrpSpPr>
          <p:grpSpPr>
            <a:xfrm>
              <a:off x="738188" y="6011228"/>
              <a:ext cx="200026" cy="200026"/>
              <a:chOff x="738188" y="6011228"/>
              <a:chExt cx="200026" cy="200026"/>
            </a:xfrm>
          </p:grpSpPr>
          <p:sp>
            <p:nvSpPr>
              <p:cNvPr id="51" name="Freeform 51"/>
              <p:cNvSpPr/>
              <p:nvPr/>
            </p:nvSpPr>
            <p:spPr>
              <a:xfrm>
                <a:off x="738188" y="6011228"/>
                <a:ext cx="200026" cy="200026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200026">
                    <a:moveTo>
                      <a:pt x="0" y="100013"/>
                    </a:moveTo>
                    <a:cubicBezTo>
                      <a:pt x="0" y="155248"/>
                      <a:pt x="44777" y="200026"/>
                      <a:pt x="100013" y="200026"/>
                    </a:cubicBezTo>
                    <a:cubicBezTo>
                      <a:pt x="155248" y="200026"/>
                      <a:pt x="200026" y="155248"/>
                      <a:pt x="200026" y="100013"/>
                    </a:cubicBezTo>
                    <a:cubicBezTo>
                      <a:pt x="200026" y="44777"/>
                      <a:pt x="155248" y="0"/>
                      <a:pt x="100013" y="0"/>
                    </a:cubicBezTo>
                    <a:cubicBezTo>
                      <a:pt x="44777" y="0"/>
                      <a:pt x="0" y="44777"/>
                      <a:pt x="0" y="100013"/>
                    </a:cubicBez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52" name="Freeform 52"/>
              <p:cNvSpPr/>
              <p:nvPr/>
            </p:nvSpPr>
            <p:spPr>
              <a:xfrm>
                <a:off x="838200" y="6077903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53" name="Freeform 53"/>
              <p:cNvSpPr/>
              <p:nvPr/>
            </p:nvSpPr>
            <p:spPr>
              <a:xfrm>
                <a:off x="827088" y="6111240"/>
                <a:ext cx="2222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22225" h="44450">
                    <a:moveTo>
                      <a:pt x="0" y="0"/>
                    </a:moveTo>
                    <a:lnTo>
                      <a:pt x="11113" y="0"/>
                    </a:lnTo>
                    <a:lnTo>
                      <a:pt x="11113" y="44450"/>
                    </a:lnTo>
                    <a:lnTo>
                      <a:pt x="22225" y="4445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</p:grpSp>
        <p:sp>
          <p:nvSpPr>
            <p:cNvPr id="55" name="TextBox 55"/>
            <p:cNvSpPr txBox="1"/>
            <p:nvPr/>
          </p:nvSpPr>
          <p:spPr>
            <a:xfrm>
              <a:off x="1040511" y="6011704"/>
              <a:ext cx="6067680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给定 S[1..n] 和 P[1..m]，求 S 与 P 的编辑距离，即 LeetCode 72。</a:t>
              </a:r>
            </a:p>
          </p:txBody>
        </p:sp>
      </p:grpSp>
      <p:grpSp>
        <p:nvGrpSpPr>
          <p:cNvPr id="59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57" name="TextBox 57"/>
            <p:cNvSpPr txBox="1"/>
            <p:nvPr/>
          </p:nvSpPr>
          <p:spPr>
            <a:xfrm>
              <a:off x="528447" y="6581299"/>
              <a:ext cx="2120748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数据结构 · 专题1 字符串的模糊匹配</a:t>
              </a:r>
            </a:p>
          </p:txBody>
        </p:sp>
        <p:sp>
          <p:nvSpPr>
            <p:cNvPr id="58" name="TextBox 58"/>
            <p:cNvSpPr txBox="1"/>
            <p:nvPr/>
          </p:nvSpPr>
          <p:spPr>
            <a:xfrm>
              <a:off x="11581087" y="6581299"/>
              <a:ext cx="8246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7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5032742" cy="909257"/>
            <a:chOff x="520446" y="342900"/>
            <a:chExt cx="5032742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556510" cy="266700"/>
            </a:xfrm>
            <a:prstGeom prst="roundRect">
              <a:avLst>
                <a:gd name="adj" fmla="val 50000"/>
              </a:avLst>
            </a:prstGeom>
            <a:solidFill>
              <a:srgbClr val="E6EFF9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92206" y="407194"/>
              <a:ext cx="243889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5FA8"/>
                  </a:solidFill>
                  <a:latin typeface="+mn-lt"/>
                  <a:ea typeface="+mn-ea"/>
                  <a:cs typeface="+mn-cs"/>
                </a:rPr>
                <a:t>专题1 模糊匹配 · 字符串的编辑距离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5032742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例：FOOD 改成 MONEY 要 4 步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1F5FA8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60" name="c1-cells-1"/>
          <p:cNvGrpSpPr/>
          <p:nvPr/>
        </p:nvGrpSpPr>
        <p:grpSpPr>
          <a:xfrm>
            <a:off x="526923" y="1524000"/>
            <a:ext cx="5169027" cy="2981325"/>
            <a:chOff x="526923" y="1524000"/>
            <a:chExt cx="5169027" cy="2981325"/>
          </a:xfrm>
        </p:grpSpPr>
        <p:sp>
          <p:nvSpPr>
            <p:cNvPr id="7" name="TextBox 7"/>
            <p:cNvSpPr txBox="1"/>
            <p:nvPr/>
          </p:nvSpPr>
          <p:spPr>
            <a:xfrm>
              <a:off x="526923" y="1654016"/>
              <a:ext cx="11809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80" b="1" dirty="0">
                  <a:solidFill>
                    <a:srgbClr val="1F5FA8"/>
                  </a:solidFill>
                  <a:latin typeface="+mn-lt"/>
                  <a:ea typeface="+mn-ea"/>
                  <a:cs typeface="+mn-cs"/>
                </a:rPr>
                <a:t>S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1085850" y="1524000"/>
              <a:ext cx="922020" cy="419100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1F5FA8"/>
              </a:solidFill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1487811" y="1654016"/>
              <a:ext cx="11809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F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2007870" y="1524000"/>
              <a:ext cx="922020" cy="419100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1F5FA8"/>
              </a:solidFill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2390714" y="1654016"/>
              <a:ext cx="156332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O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2929890" y="1524000"/>
              <a:ext cx="922020" cy="419100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1F5FA8"/>
              </a:solidFill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3312734" y="1654016"/>
              <a:ext cx="156332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O</a:t>
              </a:r>
            </a:p>
          </p:txBody>
        </p:sp>
        <p:sp>
          <p:nvSpPr>
            <p:cNvPr id="14" name="Rectangle 14"/>
            <p:cNvSpPr/>
            <p:nvPr/>
          </p:nvSpPr>
          <p:spPr>
            <a:xfrm>
              <a:off x="3851910" y="1524000"/>
              <a:ext cx="922020" cy="419100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1F5FA8"/>
              </a:solidFill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4253871" y="1654016"/>
              <a:ext cx="11809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D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1505627" y="1999774"/>
              <a:ext cx="8246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2427647" y="1999774"/>
              <a:ext cx="8246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3349667" y="1999774"/>
              <a:ext cx="8246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4271687" y="1999774"/>
              <a:ext cx="8246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526923" y="2444591"/>
              <a:ext cx="457092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5FA8"/>
                  </a:solidFill>
                  <a:latin typeface="+mn-lt"/>
                  <a:ea typeface="+mn-ea"/>
                  <a:cs typeface="+mn-cs"/>
                </a:rPr>
                <a:t>第1步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1085850" y="2314575"/>
              <a:ext cx="922020" cy="419100"/>
            </a:xfrm>
            <a:prstGeom prst="rect">
              <a:avLst/>
            </a:prstGeom>
            <a:solidFill>
              <a:srgbClr val="FDEEE7"/>
            </a:solidFill>
            <a:ln w="15240">
              <a:solidFill>
                <a:srgbClr val="F26B3A"/>
              </a:solidFill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1468694" y="2444591"/>
              <a:ext cx="156332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M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2007870" y="2314575"/>
              <a:ext cx="922020" cy="419100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1F5FA8"/>
              </a:solidFill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2390714" y="2444591"/>
              <a:ext cx="156332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O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2929890" y="2314575"/>
              <a:ext cx="922020" cy="419100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1F5FA8"/>
              </a:solidFill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3312734" y="2444591"/>
              <a:ext cx="156332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O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3851910" y="2314575"/>
              <a:ext cx="922020" cy="419100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1F5FA8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4253871" y="2444591"/>
              <a:ext cx="11809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D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526923" y="3035141"/>
              <a:ext cx="457092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5FA8"/>
                  </a:solidFill>
                  <a:latin typeface="+mn-lt"/>
                  <a:ea typeface="+mn-ea"/>
                  <a:cs typeface="+mn-cs"/>
                </a:rPr>
                <a:t>第2步</a:t>
              </a:r>
            </a:p>
          </p:txBody>
        </p:sp>
        <p:sp>
          <p:nvSpPr>
            <p:cNvPr id="30" name="Rectangle 30"/>
            <p:cNvSpPr/>
            <p:nvPr/>
          </p:nvSpPr>
          <p:spPr>
            <a:xfrm>
              <a:off x="1085850" y="2905125"/>
              <a:ext cx="922020" cy="419100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1F5FA8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1468694" y="3035141"/>
              <a:ext cx="156332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M</a:t>
              </a:r>
            </a:p>
          </p:txBody>
        </p:sp>
        <p:sp>
          <p:nvSpPr>
            <p:cNvPr id="32" name="Rectangle 32"/>
            <p:cNvSpPr/>
            <p:nvPr/>
          </p:nvSpPr>
          <p:spPr>
            <a:xfrm>
              <a:off x="2007870" y="2905125"/>
              <a:ext cx="922020" cy="419100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1F5FA8"/>
              </a:solidFill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2390714" y="3035141"/>
              <a:ext cx="156332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O</a:t>
              </a:r>
            </a:p>
          </p:txBody>
        </p:sp>
        <p:sp>
          <p:nvSpPr>
            <p:cNvPr id="34" name="Rectangle 34"/>
            <p:cNvSpPr/>
            <p:nvPr/>
          </p:nvSpPr>
          <p:spPr>
            <a:xfrm>
              <a:off x="2929890" y="2905125"/>
              <a:ext cx="922020" cy="419100"/>
            </a:xfrm>
            <a:prstGeom prst="rect">
              <a:avLst/>
            </a:prstGeom>
            <a:solidFill>
              <a:srgbClr val="FDEEE7"/>
            </a:solidFill>
            <a:ln w="15240">
              <a:solidFill>
                <a:srgbClr val="F26B3A"/>
              </a:solidFill>
            </a:ln>
          </p:spPr>
        </p:sp>
        <p:sp>
          <p:nvSpPr>
            <p:cNvPr id="35" name="TextBox 35"/>
            <p:cNvSpPr txBox="1"/>
            <p:nvPr/>
          </p:nvSpPr>
          <p:spPr>
            <a:xfrm>
              <a:off x="3331851" y="3035141"/>
              <a:ext cx="11809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N</a:t>
              </a:r>
            </a:p>
          </p:txBody>
        </p:sp>
        <p:sp>
          <p:nvSpPr>
            <p:cNvPr id="36" name="Rectangle 36"/>
            <p:cNvSpPr/>
            <p:nvPr/>
          </p:nvSpPr>
          <p:spPr>
            <a:xfrm>
              <a:off x="3851910" y="2905125"/>
              <a:ext cx="922020" cy="419100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1F5FA8"/>
              </a:solidFill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4253871" y="3035141"/>
              <a:ext cx="11809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D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526923" y="3625691"/>
              <a:ext cx="457092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5FA8"/>
                  </a:solidFill>
                  <a:latin typeface="+mn-lt"/>
                  <a:ea typeface="+mn-ea"/>
                  <a:cs typeface="+mn-cs"/>
                </a:rPr>
                <a:t>第3步</a:t>
              </a:r>
            </a:p>
          </p:txBody>
        </p:sp>
        <p:sp>
          <p:nvSpPr>
            <p:cNvPr id="39" name="Rectangle 39"/>
            <p:cNvSpPr/>
            <p:nvPr/>
          </p:nvSpPr>
          <p:spPr>
            <a:xfrm>
              <a:off x="1085850" y="3495675"/>
              <a:ext cx="922020" cy="419100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1F5FA8"/>
              </a:solidFill>
            </a:ln>
          </p:spPr>
        </p:sp>
        <p:sp>
          <p:nvSpPr>
            <p:cNvPr id="40" name="TextBox 40"/>
            <p:cNvSpPr txBox="1"/>
            <p:nvPr/>
          </p:nvSpPr>
          <p:spPr>
            <a:xfrm>
              <a:off x="1468694" y="3625691"/>
              <a:ext cx="156332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M</a:t>
              </a:r>
            </a:p>
          </p:txBody>
        </p:sp>
        <p:sp>
          <p:nvSpPr>
            <p:cNvPr id="41" name="Rectangle 41"/>
            <p:cNvSpPr/>
            <p:nvPr/>
          </p:nvSpPr>
          <p:spPr>
            <a:xfrm>
              <a:off x="2007870" y="3495675"/>
              <a:ext cx="922020" cy="419100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1F5FA8"/>
              </a:solidFill>
            </a:ln>
          </p:spPr>
        </p:sp>
        <p:sp>
          <p:nvSpPr>
            <p:cNvPr id="42" name="TextBox 42"/>
            <p:cNvSpPr txBox="1"/>
            <p:nvPr/>
          </p:nvSpPr>
          <p:spPr>
            <a:xfrm>
              <a:off x="2390714" y="3625691"/>
              <a:ext cx="156332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O</a:t>
              </a:r>
            </a:p>
          </p:txBody>
        </p:sp>
        <p:sp>
          <p:nvSpPr>
            <p:cNvPr id="43" name="Rectangle 43"/>
            <p:cNvSpPr/>
            <p:nvPr/>
          </p:nvSpPr>
          <p:spPr>
            <a:xfrm>
              <a:off x="2929890" y="3495675"/>
              <a:ext cx="922020" cy="419100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1F5FA8"/>
              </a:solidFill>
            </a:ln>
          </p:spPr>
        </p:sp>
        <p:sp>
          <p:nvSpPr>
            <p:cNvPr id="44" name="TextBox 44"/>
            <p:cNvSpPr txBox="1"/>
            <p:nvPr/>
          </p:nvSpPr>
          <p:spPr>
            <a:xfrm>
              <a:off x="3331851" y="3625691"/>
              <a:ext cx="11809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N</a:t>
              </a:r>
            </a:p>
          </p:txBody>
        </p:sp>
        <p:sp>
          <p:nvSpPr>
            <p:cNvPr id="45" name="Rectangle 45"/>
            <p:cNvSpPr/>
            <p:nvPr/>
          </p:nvSpPr>
          <p:spPr>
            <a:xfrm>
              <a:off x="3851910" y="3495675"/>
              <a:ext cx="922020" cy="419100"/>
            </a:xfrm>
            <a:prstGeom prst="rect">
              <a:avLst/>
            </a:prstGeom>
            <a:solidFill>
              <a:srgbClr val="FDEEE7"/>
            </a:solidFill>
            <a:ln w="15240">
              <a:solidFill>
                <a:srgbClr val="F26B3A"/>
              </a:solidFill>
            </a:ln>
          </p:spPr>
        </p:sp>
        <p:sp>
          <p:nvSpPr>
            <p:cNvPr id="46" name="TextBox 46"/>
            <p:cNvSpPr txBox="1"/>
            <p:nvPr/>
          </p:nvSpPr>
          <p:spPr>
            <a:xfrm>
              <a:off x="4253871" y="3625691"/>
              <a:ext cx="11809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E</a:t>
              </a:r>
            </a:p>
          </p:txBody>
        </p:sp>
        <p:sp>
          <p:nvSpPr>
            <p:cNvPr id="47" name="Rectangle 47"/>
            <p:cNvSpPr/>
            <p:nvPr/>
          </p:nvSpPr>
          <p:spPr>
            <a:xfrm>
              <a:off x="4773930" y="3495675"/>
              <a:ext cx="922020" cy="419100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1F5FA8"/>
              </a:solidFill>
            </a:ln>
          </p:spPr>
        </p:sp>
        <p:sp>
          <p:nvSpPr>
            <p:cNvPr id="48" name="TextBox 48"/>
            <p:cNvSpPr txBox="1"/>
            <p:nvPr/>
          </p:nvSpPr>
          <p:spPr>
            <a:xfrm>
              <a:off x="5175891" y="3625691"/>
              <a:ext cx="11809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D</a:t>
              </a:r>
            </a:p>
          </p:txBody>
        </p:sp>
        <p:sp>
          <p:nvSpPr>
            <p:cNvPr id="49" name="TextBox 49"/>
            <p:cNvSpPr txBox="1"/>
            <p:nvPr/>
          </p:nvSpPr>
          <p:spPr>
            <a:xfrm>
              <a:off x="526923" y="4216241"/>
              <a:ext cx="11809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80" b="1" dirty="0">
                  <a:solidFill>
                    <a:srgbClr val="1F5FA8"/>
                  </a:solidFill>
                  <a:latin typeface="+mn-lt"/>
                  <a:ea typeface="+mn-ea"/>
                  <a:cs typeface="+mn-cs"/>
                </a:rPr>
                <a:t>P</a:t>
              </a:r>
            </a:p>
          </p:txBody>
        </p:sp>
        <p:sp>
          <p:nvSpPr>
            <p:cNvPr id="50" name="Rectangle 50"/>
            <p:cNvSpPr/>
            <p:nvPr/>
          </p:nvSpPr>
          <p:spPr>
            <a:xfrm>
              <a:off x="1085850" y="4086225"/>
              <a:ext cx="922020" cy="419100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1F5FA8"/>
              </a:solidFill>
            </a:ln>
          </p:spPr>
        </p:sp>
        <p:sp>
          <p:nvSpPr>
            <p:cNvPr id="51" name="TextBox 51"/>
            <p:cNvSpPr txBox="1"/>
            <p:nvPr/>
          </p:nvSpPr>
          <p:spPr>
            <a:xfrm>
              <a:off x="1468694" y="4216241"/>
              <a:ext cx="156332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M</a:t>
              </a:r>
            </a:p>
          </p:txBody>
        </p:sp>
        <p:sp>
          <p:nvSpPr>
            <p:cNvPr id="52" name="Rectangle 52"/>
            <p:cNvSpPr/>
            <p:nvPr/>
          </p:nvSpPr>
          <p:spPr>
            <a:xfrm>
              <a:off x="2007870" y="4086225"/>
              <a:ext cx="922020" cy="419100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1F5FA8"/>
              </a:solidFill>
            </a:ln>
          </p:spPr>
        </p:sp>
        <p:sp>
          <p:nvSpPr>
            <p:cNvPr id="53" name="TextBox 53"/>
            <p:cNvSpPr txBox="1"/>
            <p:nvPr/>
          </p:nvSpPr>
          <p:spPr>
            <a:xfrm>
              <a:off x="2390714" y="4216241"/>
              <a:ext cx="156332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O</a:t>
              </a:r>
            </a:p>
          </p:txBody>
        </p:sp>
        <p:sp>
          <p:nvSpPr>
            <p:cNvPr id="54" name="Rectangle 54"/>
            <p:cNvSpPr/>
            <p:nvPr/>
          </p:nvSpPr>
          <p:spPr>
            <a:xfrm>
              <a:off x="2929890" y="4086225"/>
              <a:ext cx="922020" cy="419100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1F5FA8"/>
              </a:solidFill>
            </a:ln>
          </p:spPr>
        </p:sp>
        <p:sp>
          <p:nvSpPr>
            <p:cNvPr id="55" name="TextBox 55"/>
            <p:cNvSpPr txBox="1"/>
            <p:nvPr/>
          </p:nvSpPr>
          <p:spPr>
            <a:xfrm>
              <a:off x="3331851" y="4216241"/>
              <a:ext cx="11809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N</a:t>
              </a:r>
            </a:p>
          </p:txBody>
        </p:sp>
        <p:sp>
          <p:nvSpPr>
            <p:cNvPr id="56" name="Rectangle 56"/>
            <p:cNvSpPr/>
            <p:nvPr/>
          </p:nvSpPr>
          <p:spPr>
            <a:xfrm>
              <a:off x="3851910" y="4086225"/>
              <a:ext cx="922020" cy="419100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1F5FA8"/>
              </a:solidFill>
            </a:ln>
          </p:spPr>
        </p:sp>
        <p:sp>
          <p:nvSpPr>
            <p:cNvPr id="57" name="TextBox 57"/>
            <p:cNvSpPr txBox="1"/>
            <p:nvPr/>
          </p:nvSpPr>
          <p:spPr>
            <a:xfrm>
              <a:off x="4253871" y="4216241"/>
              <a:ext cx="11809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E</a:t>
              </a:r>
            </a:p>
          </p:txBody>
        </p:sp>
        <p:sp>
          <p:nvSpPr>
            <p:cNvPr id="58" name="Rectangle 58"/>
            <p:cNvSpPr/>
            <p:nvPr/>
          </p:nvSpPr>
          <p:spPr>
            <a:xfrm>
              <a:off x="4773930" y="4086225"/>
              <a:ext cx="922020" cy="419100"/>
            </a:xfrm>
            <a:prstGeom prst="rect">
              <a:avLst/>
            </a:prstGeom>
            <a:solidFill>
              <a:srgbClr val="FDEEE7"/>
            </a:solidFill>
            <a:ln w="15240">
              <a:solidFill>
                <a:srgbClr val="F26B3A"/>
              </a:solidFill>
            </a:ln>
          </p:spPr>
        </p:sp>
        <p:sp>
          <p:nvSpPr>
            <p:cNvPr id="59" name="TextBox 59"/>
            <p:cNvSpPr txBox="1"/>
            <p:nvPr/>
          </p:nvSpPr>
          <p:spPr>
            <a:xfrm>
              <a:off x="5175891" y="4216241"/>
              <a:ext cx="11809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Y</a:t>
              </a:r>
            </a:p>
          </p:txBody>
        </p:sp>
      </p:grpSp>
      <p:grpSp>
        <p:nvGrpSpPr>
          <p:cNvPr id="66" name="c1-callout-2"/>
          <p:cNvGrpSpPr/>
          <p:nvPr/>
        </p:nvGrpSpPr>
        <p:grpSpPr>
          <a:xfrm>
            <a:off x="533400" y="4695825"/>
            <a:ext cx="5951220" cy="1502092"/>
            <a:chOff x="533400" y="4695825"/>
            <a:chExt cx="5951220" cy="1502092"/>
          </a:xfrm>
        </p:grpSpPr>
        <p:sp>
          <p:nvSpPr>
            <p:cNvPr id="61" name="Rectangle 61"/>
            <p:cNvSpPr/>
            <p:nvPr/>
          </p:nvSpPr>
          <p:spPr>
            <a:xfrm>
              <a:off x="533400" y="4695825"/>
              <a:ext cx="5951220" cy="1502092"/>
            </a:xfrm>
            <a:prstGeom prst="roundRect">
              <a:avLst>
                <a:gd name="adj" fmla="val 7609"/>
              </a:avLst>
            </a:prstGeom>
            <a:solidFill>
              <a:srgbClr val="E3F5F1"/>
            </a:solidFill>
            <a:ln>
              <a:noFill/>
            </a:ln>
          </p:spPr>
        </p:sp>
        <p:grpSp>
          <p:nvGrpSpPr>
            <p:cNvPr id="64" name="Group 64"/>
            <p:cNvGrpSpPr/>
            <p:nvPr/>
          </p:nvGrpSpPr>
          <p:grpSpPr>
            <a:xfrm>
              <a:off x="738188" y="5346383"/>
              <a:ext cx="200026" cy="200026"/>
              <a:chOff x="738188" y="5346383"/>
              <a:chExt cx="200026" cy="200026"/>
            </a:xfrm>
          </p:grpSpPr>
          <p:sp>
            <p:nvSpPr>
              <p:cNvPr id="62" name="Freeform 62"/>
              <p:cNvSpPr/>
              <p:nvPr/>
            </p:nvSpPr>
            <p:spPr>
              <a:xfrm>
                <a:off x="738188" y="5346383"/>
                <a:ext cx="200026" cy="200026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200026">
                    <a:moveTo>
                      <a:pt x="0" y="100013"/>
                    </a:moveTo>
                    <a:cubicBezTo>
                      <a:pt x="0" y="155248"/>
                      <a:pt x="44777" y="200026"/>
                      <a:pt x="100013" y="200026"/>
                    </a:cubicBezTo>
                    <a:cubicBezTo>
                      <a:pt x="155248" y="200026"/>
                      <a:pt x="200026" y="155248"/>
                      <a:pt x="200026" y="100013"/>
                    </a:cubicBezTo>
                    <a:cubicBezTo>
                      <a:pt x="200026" y="44777"/>
                      <a:pt x="155248" y="0"/>
                      <a:pt x="100013" y="0"/>
                    </a:cubicBezTo>
                    <a:cubicBezTo>
                      <a:pt x="44777" y="0"/>
                      <a:pt x="0" y="44777"/>
                      <a:pt x="0" y="100013"/>
                    </a:cubicBezTo>
                  </a:path>
                </a:pathLst>
              </a:custGeom>
              <a:noFill/>
              <a:ln w="22225">
                <a:solidFill>
                  <a:srgbClr val="0F7A68"/>
                </a:solidFill>
              </a:ln>
            </p:spPr>
          </p:sp>
          <p:sp>
            <p:nvSpPr>
              <p:cNvPr id="63" name="Freeform 63"/>
              <p:cNvSpPr/>
              <p:nvPr/>
            </p:nvSpPr>
            <p:spPr>
              <a:xfrm>
                <a:off x="804863" y="5424170"/>
                <a:ext cx="6667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66675" h="44450">
                    <a:moveTo>
                      <a:pt x="0" y="22225"/>
                    </a:moveTo>
                    <a:lnTo>
                      <a:pt x="22225" y="44450"/>
                    </a:lnTo>
                    <a:lnTo>
                      <a:pt x="66675" y="0"/>
                    </a:lnTo>
                  </a:path>
                </a:pathLst>
              </a:custGeom>
              <a:noFill/>
              <a:ln w="22225">
                <a:solidFill>
                  <a:srgbClr val="0F7A68"/>
                </a:solidFill>
              </a:ln>
            </p:spPr>
          </p:sp>
        </p:grpSp>
        <p:sp>
          <p:nvSpPr>
            <p:cNvPr id="65" name="TextBox 65"/>
            <p:cNvSpPr txBox="1"/>
            <p:nvPr/>
          </p:nvSpPr>
          <p:spPr>
            <a:xfrm>
              <a:off x="1040130" y="5203508"/>
              <a:ext cx="4777740" cy="56959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75"/>
                </a:lnSpc>
              </a:pPr>
              <a:r>
                <a:rPr lang="zh-CN" sz="1500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每一步都只动一个字符，相邻两行之间的编辑距离恰好是</a:t>
              </a:r>
              <a:br/>
              <a:r>
                <a:rPr lang="zh-CN" sz="1500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1，四步合起来是 4。</a:t>
              </a:r>
            </a:p>
          </p:txBody>
        </p:sp>
      </p:grpSp>
      <p:grpSp>
        <p:nvGrpSpPr>
          <p:cNvPr id="84" name="c2-steps-1"/>
          <p:cNvGrpSpPr/>
          <p:nvPr/>
        </p:nvGrpSpPr>
        <p:grpSpPr>
          <a:xfrm>
            <a:off x="6789420" y="1533525"/>
            <a:ext cx="2173062" cy="2529173"/>
            <a:chOff x="6789420" y="1533525"/>
            <a:chExt cx="2173062" cy="2529173"/>
          </a:xfrm>
        </p:grpSpPr>
        <p:sp>
          <p:nvSpPr>
            <p:cNvPr id="67" name="Rectangle 67"/>
            <p:cNvSpPr/>
            <p:nvPr/>
          </p:nvSpPr>
          <p:spPr>
            <a:xfrm>
              <a:off x="6922770" y="1676400"/>
              <a:ext cx="19050" cy="19526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68" name="Ellipse 68"/>
            <p:cNvSpPr/>
            <p:nvPr/>
          </p:nvSpPr>
          <p:spPr>
            <a:xfrm>
              <a:off x="6789420" y="1533525"/>
              <a:ext cx="285750" cy="285750"/>
            </a:xfrm>
            <a:prstGeom prst="ellipse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69" name="TextBox 69"/>
            <p:cNvSpPr txBox="1"/>
            <p:nvPr/>
          </p:nvSpPr>
          <p:spPr>
            <a:xfrm>
              <a:off x="6883044" y="1607344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70" name="Ellipse 70"/>
            <p:cNvSpPr/>
            <p:nvPr/>
          </p:nvSpPr>
          <p:spPr>
            <a:xfrm>
              <a:off x="6789420" y="2184082"/>
              <a:ext cx="285750" cy="285750"/>
            </a:xfrm>
            <a:prstGeom prst="ellipse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71" name="TextBox 71"/>
            <p:cNvSpPr txBox="1"/>
            <p:nvPr/>
          </p:nvSpPr>
          <p:spPr>
            <a:xfrm>
              <a:off x="6883044" y="2257901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72" name="Ellipse 72"/>
            <p:cNvSpPr/>
            <p:nvPr/>
          </p:nvSpPr>
          <p:spPr>
            <a:xfrm>
              <a:off x="6789420" y="2834640"/>
              <a:ext cx="285750" cy="285750"/>
            </a:xfrm>
            <a:prstGeom prst="ellipse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73" name="TextBox 73"/>
            <p:cNvSpPr txBox="1"/>
            <p:nvPr/>
          </p:nvSpPr>
          <p:spPr>
            <a:xfrm>
              <a:off x="6883044" y="2908459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74" name="Ellipse 74"/>
            <p:cNvSpPr/>
            <p:nvPr/>
          </p:nvSpPr>
          <p:spPr>
            <a:xfrm>
              <a:off x="6789420" y="3486150"/>
              <a:ext cx="285750" cy="285750"/>
            </a:xfrm>
            <a:prstGeom prst="ellipse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75" name="TextBox 75"/>
            <p:cNvSpPr txBox="1"/>
            <p:nvPr/>
          </p:nvSpPr>
          <p:spPr>
            <a:xfrm>
              <a:off x="6883044" y="3559969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76" name="TextBox 76"/>
            <p:cNvSpPr txBox="1"/>
            <p:nvPr/>
          </p:nvSpPr>
          <p:spPr>
            <a:xfrm>
              <a:off x="7200900" y="1567815"/>
              <a:ext cx="1761582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第 1 位 F 替换为 M</a:t>
              </a:r>
            </a:p>
          </p:txBody>
        </p:sp>
        <p:sp>
          <p:nvSpPr>
            <p:cNvPr id="77" name="TextBox 77"/>
            <p:cNvSpPr txBox="1"/>
            <p:nvPr/>
          </p:nvSpPr>
          <p:spPr>
            <a:xfrm>
              <a:off x="7202043" y="1861661"/>
              <a:ext cx="1205494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FOOD → MOOD</a:t>
              </a:r>
            </a:p>
          </p:txBody>
        </p:sp>
        <p:sp>
          <p:nvSpPr>
            <p:cNvPr id="78" name="TextBox 78"/>
            <p:cNvSpPr txBox="1"/>
            <p:nvPr/>
          </p:nvSpPr>
          <p:spPr>
            <a:xfrm>
              <a:off x="7200900" y="2218372"/>
              <a:ext cx="1761582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第 3 位 O 替换为 N</a:t>
              </a:r>
            </a:p>
          </p:txBody>
        </p:sp>
        <p:sp>
          <p:nvSpPr>
            <p:cNvPr id="79" name="TextBox 79"/>
            <p:cNvSpPr txBox="1"/>
            <p:nvPr/>
          </p:nvSpPr>
          <p:spPr>
            <a:xfrm>
              <a:off x="7202043" y="2512219"/>
              <a:ext cx="1205494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MOOD → MOND</a:t>
              </a:r>
            </a:p>
          </p:txBody>
        </p:sp>
        <p:sp>
          <p:nvSpPr>
            <p:cNvPr id="80" name="TextBox 80"/>
            <p:cNvSpPr txBox="1"/>
            <p:nvPr/>
          </p:nvSpPr>
          <p:spPr>
            <a:xfrm>
              <a:off x="7200900" y="2868930"/>
              <a:ext cx="1257214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第 4 位插入 E</a:t>
              </a:r>
            </a:p>
          </p:txBody>
        </p:sp>
        <p:sp>
          <p:nvSpPr>
            <p:cNvPr id="81" name="TextBox 81"/>
            <p:cNvSpPr txBox="1"/>
            <p:nvPr/>
          </p:nvSpPr>
          <p:spPr>
            <a:xfrm>
              <a:off x="7202043" y="3162776"/>
              <a:ext cx="126921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MOND → MONED</a:t>
              </a:r>
            </a:p>
          </p:txBody>
        </p:sp>
        <p:sp>
          <p:nvSpPr>
            <p:cNvPr id="82" name="TextBox 82"/>
            <p:cNvSpPr txBox="1"/>
            <p:nvPr/>
          </p:nvSpPr>
          <p:spPr>
            <a:xfrm>
              <a:off x="7200900" y="3520440"/>
              <a:ext cx="1716776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第 5 位 D 替换为 Y</a:t>
              </a:r>
            </a:p>
          </p:txBody>
        </p:sp>
        <p:sp>
          <p:nvSpPr>
            <p:cNvPr id="83" name="TextBox 83"/>
            <p:cNvSpPr txBox="1"/>
            <p:nvPr/>
          </p:nvSpPr>
          <p:spPr>
            <a:xfrm>
              <a:off x="7202043" y="3813334"/>
              <a:ext cx="136935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MONED → MONEY</a:t>
              </a:r>
            </a:p>
          </p:txBody>
        </p:sp>
      </p:grpSp>
      <p:grpSp>
        <p:nvGrpSpPr>
          <p:cNvPr id="92" name="c2-card-2"/>
          <p:cNvGrpSpPr/>
          <p:nvPr/>
        </p:nvGrpSpPr>
        <p:grpSpPr>
          <a:xfrm>
            <a:off x="6789420" y="4241482"/>
            <a:ext cx="4869180" cy="1956435"/>
            <a:chOff x="6789420" y="4241482"/>
            <a:chExt cx="4869180" cy="1956435"/>
          </a:xfrm>
        </p:grpSpPr>
        <p:sp>
          <p:nvSpPr>
            <p:cNvPr id="85" name="Rectangle 85"/>
            <p:cNvSpPr/>
            <p:nvPr/>
          </p:nvSpPr>
          <p:spPr>
            <a:xfrm>
              <a:off x="6789420" y="4241482"/>
              <a:ext cx="4869180" cy="1956435"/>
            </a:xfrm>
            <a:prstGeom prst="roundRect">
              <a:avLst>
                <a:gd name="adj" fmla="val 6816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86" name="Rectangle 86"/>
            <p:cNvSpPr/>
            <p:nvPr/>
          </p:nvSpPr>
          <p:spPr>
            <a:xfrm>
              <a:off x="6798945" y="4374832"/>
              <a:ext cx="47625" cy="1689735"/>
            </a:xfrm>
            <a:prstGeom prst="roundRect">
              <a:avLst>
                <a:gd name="adj" fmla="val 50000"/>
              </a:avLst>
            </a:prstGeom>
            <a:solidFill>
              <a:srgbClr val="B42318"/>
            </a:solidFill>
            <a:ln>
              <a:noFill/>
            </a:ln>
          </p:spPr>
        </p:sp>
        <p:sp>
          <p:nvSpPr>
            <p:cNvPr id="87" name="Rectangle 87"/>
            <p:cNvSpPr/>
            <p:nvPr/>
          </p:nvSpPr>
          <p:spPr>
            <a:xfrm>
              <a:off x="7037070" y="4451032"/>
              <a:ext cx="494348" cy="257175"/>
            </a:xfrm>
            <a:prstGeom prst="roundRect">
              <a:avLst>
                <a:gd name="adj" fmla="val 50000"/>
              </a:avLst>
            </a:prstGeom>
            <a:solidFill>
              <a:srgbClr val="FDECEA"/>
            </a:solidFill>
            <a:ln>
              <a:noFill/>
            </a:ln>
          </p:spPr>
        </p:sp>
        <p:sp>
          <p:nvSpPr>
            <p:cNvPr id="88" name="TextBox 88"/>
            <p:cNvSpPr txBox="1"/>
            <p:nvPr/>
          </p:nvSpPr>
          <p:spPr>
            <a:xfrm>
              <a:off x="7127278" y="4486751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易错</a:t>
              </a:r>
            </a:p>
          </p:txBody>
        </p:sp>
        <p:sp>
          <p:nvSpPr>
            <p:cNvPr id="89" name="TextBox 89"/>
            <p:cNvSpPr txBox="1"/>
            <p:nvPr/>
          </p:nvSpPr>
          <p:spPr>
            <a:xfrm>
              <a:off x="7638098" y="4486275"/>
              <a:ext cx="3690871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4 是“最少次数”，不是“某种改法的次数”</a:t>
              </a:r>
            </a:p>
          </p:txBody>
        </p:sp>
        <p:sp>
          <p:nvSpPr>
            <p:cNvPr id="90" name="TextBox 90"/>
            <p:cNvSpPr txBox="1"/>
            <p:nvPr/>
          </p:nvSpPr>
          <p:spPr>
            <a:xfrm>
              <a:off x="7029450" y="4847272"/>
              <a:ext cx="4234815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随便改也能把 FOOD 变成 MONEY，比如全删再全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插要 9 步。编辑距离取的是所有改法里的最小值。</a:t>
              </a:r>
            </a:p>
          </p:txBody>
        </p:sp>
        <p:sp>
          <p:nvSpPr>
            <p:cNvPr id="91" name="TextBox 91"/>
            <p:cNvSpPr txBox="1"/>
            <p:nvPr/>
          </p:nvSpPr>
          <p:spPr>
            <a:xfrm>
              <a:off x="7029450" y="5468302"/>
              <a:ext cx="4120515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本讲义用程序填出了这对串的完整 Dist 表，右下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角确实是 4。</a:t>
              </a:r>
            </a:p>
          </p:txBody>
        </p:sp>
      </p:grpSp>
      <p:grpSp>
        <p:nvGrpSpPr>
          <p:cNvPr id="95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93" name="TextBox 93"/>
            <p:cNvSpPr txBox="1"/>
            <p:nvPr/>
          </p:nvSpPr>
          <p:spPr>
            <a:xfrm>
              <a:off x="528447" y="6581299"/>
              <a:ext cx="2120748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数据结构 · 专题1 字符串的模糊匹配</a:t>
              </a:r>
            </a:p>
          </p:txBody>
        </p:sp>
        <p:sp>
          <p:nvSpPr>
            <p:cNvPr id="94" name="TextBox 94"/>
            <p:cNvSpPr txBox="1"/>
            <p:nvPr/>
          </p:nvSpPr>
          <p:spPr>
            <a:xfrm>
              <a:off x="11581087" y="6581299"/>
              <a:ext cx="8246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8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6548247" cy="909257"/>
            <a:chOff x="520446" y="342900"/>
            <a:chExt cx="6548247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556510" cy="266700"/>
            </a:xfrm>
            <a:prstGeom prst="roundRect">
              <a:avLst>
                <a:gd name="adj" fmla="val 50000"/>
              </a:avLst>
            </a:prstGeom>
            <a:solidFill>
              <a:srgbClr val="E6EFF9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92206" y="407194"/>
              <a:ext cx="243889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5FA8"/>
                  </a:solidFill>
                  <a:latin typeface="+mn-lt"/>
                  <a:ea typeface="+mn-ea"/>
                  <a:cs typeface="+mn-cs"/>
                </a:rPr>
                <a:t>专题1 模糊匹配 · 字符串的编辑距离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6548247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拆解的入口：只盯住两个串的最后一个字符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1F5FA8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8" name="lead"/>
          <p:cNvGrpSpPr/>
          <p:nvPr/>
        </p:nvGrpSpPr>
        <p:grpSpPr>
          <a:xfrm>
            <a:off x="526161" y="1547336"/>
            <a:ext cx="6936829" cy="278702"/>
            <a:chOff x="526161" y="1547336"/>
            <a:chExt cx="6936829" cy="278702"/>
          </a:xfrm>
        </p:grpSpPr>
        <p:sp>
          <p:nvSpPr>
            <p:cNvPr id="7" name="TextBox 7"/>
            <p:cNvSpPr txBox="1"/>
            <p:nvPr/>
          </p:nvSpPr>
          <p:spPr>
            <a:xfrm>
              <a:off x="526161" y="1547336"/>
              <a:ext cx="6936829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记 Dist(n, m) 为 S[1..n] 与 P[1..m] 的编辑距离，先看末尾字符相等的情形。</a:t>
              </a:r>
            </a:p>
          </p:txBody>
        </p:sp>
      </p:grpSp>
      <p:grpSp>
        <p:nvGrpSpPr>
          <p:cNvPr id="31" name="c1-cells-1"/>
          <p:cNvGrpSpPr/>
          <p:nvPr/>
        </p:nvGrpSpPr>
        <p:grpSpPr>
          <a:xfrm>
            <a:off x="527685" y="1941195"/>
            <a:ext cx="5415915" cy="919163"/>
            <a:chOff x="527685" y="1941195"/>
            <a:chExt cx="5415915" cy="919163"/>
          </a:xfrm>
        </p:grpSpPr>
        <p:sp>
          <p:nvSpPr>
            <p:cNvPr id="9" name="TextBox 9"/>
            <p:cNvSpPr txBox="1"/>
            <p:nvPr/>
          </p:nvSpPr>
          <p:spPr>
            <a:xfrm>
              <a:off x="527685" y="2062639"/>
              <a:ext cx="10343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b="1" dirty="0">
                  <a:solidFill>
                    <a:srgbClr val="1F5FA8"/>
                  </a:solidFill>
                  <a:latin typeface="+mn-lt"/>
                  <a:ea typeface="+mn-ea"/>
                  <a:cs typeface="+mn-cs"/>
                </a:rPr>
                <a:t>S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748665" y="1941195"/>
              <a:ext cx="1039178" cy="381000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1F5FA8"/>
              </a:solidFill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1171014" y="2062639"/>
              <a:ext cx="19543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S₁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1787842" y="1941195"/>
              <a:ext cx="1039178" cy="381000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1F5FA8"/>
              </a:solidFill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2209239" y="2062639"/>
              <a:ext cx="19543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S₂</a:t>
              </a:r>
            </a:p>
          </p:txBody>
        </p:sp>
        <p:sp>
          <p:nvSpPr>
            <p:cNvPr id="14" name="Rectangle 14"/>
            <p:cNvSpPr/>
            <p:nvPr/>
          </p:nvSpPr>
          <p:spPr>
            <a:xfrm>
              <a:off x="2827020" y="1941195"/>
              <a:ext cx="1039178" cy="381000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1F5FA8"/>
              </a:solidFill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3296881" y="2062639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…</a:t>
              </a:r>
            </a:p>
          </p:txBody>
        </p:sp>
        <p:sp>
          <p:nvSpPr>
            <p:cNvPr id="16" name="Rectangle 16"/>
            <p:cNvSpPr/>
            <p:nvPr/>
          </p:nvSpPr>
          <p:spPr>
            <a:xfrm>
              <a:off x="3865245" y="1941195"/>
              <a:ext cx="1039178" cy="381000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1F5FA8"/>
              </a:solidFill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4195593" y="2062639"/>
              <a:ext cx="37943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Sₙ₋₁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4904422" y="1941195"/>
              <a:ext cx="1039178" cy="381000"/>
            </a:xfrm>
            <a:prstGeom prst="rect">
              <a:avLst/>
            </a:prstGeom>
            <a:solidFill>
              <a:srgbClr val="FDEEE7"/>
            </a:solidFill>
            <a:ln w="15240">
              <a:solidFill>
                <a:srgbClr val="F26B3A"/>
              </a:solidFill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5326772" y="2062639"/>
              <a:ext cx="19543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Sₙ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527685" y="2599849"/>
              <a:ext cx="10343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b="1" dirty="0">
                  <a:solidFill>
                    <a:srgbClr val="1F5FA8"/>
                  </a:solidFill>
                  <a:latin typeface="+mn-lt"/>
                  <a:ea typeface="+mn-ea"/>
                  <a:cs typeface="+mn-cs"/>
                </a:rPr>
                <a:t>P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748665" y="2479358"/>
              <a:ext cx="1039178" cy="381000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1F5FA8"/>
              </a:solidFill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1171014" y="2599849"/>
              <a:ext cx="19543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P₁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1787842" y="2479358"/>
              <a:ext cx="1039178" cy="381000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1F5FA8"/>
              </a:solidFill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2209239" y="2599849"/>
              <a:ext cx="19543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P₂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2827020" y="2479358"/>
              <a:ext cx="1039178" cy="381000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1F5FA8"/>
              </a:solidFill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3296881" y="2599849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…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3865245" y="2479358"/>
              <a:ext cx="1039178" cy="381000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1F5FA8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4195593" y="2599849"/>
              <a:ext cx="37943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Pₘ₋₁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4904422" y="2479358"/>
              <a:ext cx="1039178" cy="381000"/>
            </a:xfrm>
            <a:prstGeom prst="rect">
              <a:avLst/>
            </a:prstGeom>
            <a:solidFill>
              <a:srgbClr val="FDEEE7"/>
            </a:solidFill>
            <a:ln w="15240">
              <a:solidFill>
                <a:srgbClr val="F26B3A"/>
              </a:solidFill>
            </a:ln>
          </p:spPr>
        </p:sp>
        <p:sp>
          <p:nvSpPr>
            <p:cNvPr id="30" name="TextBox 30"/>
            <p:cNvSpPr txBox="1"/>
            <p:nvPr/>
          </p:nvSpPr>
          <p:spPr>
            <a:xfrm>
              <a:off x="5326772" y="2599849"/>
              <a:ext cx="19543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Pₘ</a:t>
              </a:r>
            </a:p>
          </p:txBody>
        </p:sp>
      </p:grpSp>
      <p:grpSp>
        <p:nvGrpSpPr>
          <p:cNvPr id="39" name="c1-card-2"/>
          <p:cNvGrpSpPr/>
          <p:nvPr/>
        </p:nvGrpSpPr>
        <p:grpSpPr>
          <a:xfrm>
            <a:off x="533400" y="3035618"/>
            <a:ext cx="5410200" cy="1529715"/>
            <a:chOff x="533400" y="3035618"/>
            <a:chExt cx="5410200" cy="1529715"/>
          </a:xfrm>
        </p:grpSpPr>
        <p:sp>
          <p:nvSpPr>
            <p:cNvPr id="32" name="Rectangle 32"/>
            <p:cNvSpPr/>
            <p:nvPr/>
          </p:nvSpPr>
          <p:spPr>
            <a:xfrm>
              <a:off x="533400" y="3035618"/>
              <a:ext cx="5410200" cy="1529715"/>
            </a:xfrm>
            <a:prstGeom prst="roundRect">
              <a:avLst>
                <a:gd name="adj" fmla="val 8717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33" name="Rectangle 33"/>
            <p:cNvSpPr/>
            <p:nvPr/>
          </p:nvSpPr>
          <p:spPr>
            <a:xfrm>
              <a:off x="542925" y="3168968"/>
              <a:ext cx="47625" cy="1263015"/>
            </a:xfrm>
            <a:prstGeom prst="roundRect">
              <a:avLst>
                <a:gd name="adj" fmla="val 50000"/>
              </a:avLst>
            </a:prstGeom>
            <a:solidFill>
              <a:srgbClr val="F26B3A"/>
            </a:solidFill>
            <a:ln>
              <a:noFill/>
            </a:ln>
          </p:spPr>
        </p:sp>
        <p:sp>
          <p:nvSpPr>
            <p:cNvPr id="34" name="Rectangle 34"/>
            <p:cNvSpPr/>
            <p:nvPr/>
          </p:nvSpPr>
          <p:spPr>
            <a:xfrm>
              <a:off x="763905" y="3228022"/>
              <a:ext cx="609600" cy="247650"/>
            </a:xfrm>
            <a:prstGeom prst="roundRect">
              <a:avLst>
                <a:gd name="adj" fmla="val 50000"/>
              </a:avLst>
            </a:prstGeom>
            <a:solidFill>
              <a:srgbClr val="FDEEE7"/>
            </a:solidFill>
            <a:ln>
              <a:noFill/>
            </a:ln>
          </p:spPr>
        </p:sp>
        <p:sp>
          <p:nvSpPr>
            <p:cNvPr id="35" name="TextBox 35"/>
            <p:cNvSpPr txBox="1"/>
            <p:nvPr/>
          </p:nvSpPr>
          <p:spPr>
            <a:xfrm>
              <a:off x="851344" y="3262312"/>
              <a:ext cx="434721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情形一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1480947" y="3268027"/>
              <a:ext cx="93138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若 Sₙ = Pₘ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757047" y="3601402"/>
              <a:ext cx="4299966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末尾这一对字符已经对上了，谁也不用动，问题缩小成把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S[1..n-1] 变换为 P[1..m-1]。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757047" y="4161472"/>
              <a:ext cx="253617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Dist(n, m) = Dist(n-1, m-1)</a:t>
              </a:r>
            </a:p>
          </p:txBody>
        </p:sp>
      </p:grpSp>
      <p:grpSp>
        <p:nvGrpSpPr>
          <p:cNvPr id="46" name="c1-card-3"/>
          <p:cNvGrpSpPr/>
          <p:nvPr/>
        </p:nvGrpSpPr>
        <p:grpSpPr>
          <a:xfrm>
            <a:off x="533400" y="4739640"/>
            <a:ext cx="5410200" cy="1551622"/>
            <a:chOff x="533400" y="4739640"/>
            <a:chExt cx="5410200" cy="1551622"/>
          </a:xfrm>
        </p:grpSpPr>
        <p:sp>
          <p:nvSpPr>
            <p:cNvPr id="40" name="Rectangle 40"/>
            <p:cNvSpPr/>
            <p:nvPr/>
          </p:nvSpPr>
          <p:spPr>
            <a:xfrm>
              <a:off x="533400" y="4739640"/>
              <a:ext cx="5410200" cy="1551622"/>
            </a:xfrm>
            <a:prstGeom prst="roundRect">
              <a:avLst>
                <a:gd name="adj" fmla="val 8594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41" name="Rectangle 41"/>
            <p:cNvSpPr/>
            <p:nvPr/>
          </p:nvSpPr>
          <p:spPr>
            <a:xfrm>
              <a:off x="542925" y="4872990"/>
              <a:ext cx="47625" cy="1284922"/>
            </a:xfrm>
            <a:prstGeom prst="roundRect">
              <a:avLst>
                <a:gd name="adj" fmla="val 50000"/>
              </a:avLst>
            </a:prstGeom>
            <a:solidFill>
              <a:srgbClr val="14A38B"/>
            </a:solidFill>
            <a:ln>
              <a:noFill/>
            </a:ln>
          </p:spPr>
        </p:sp>
        <p:sp>
          <p:nvSpPr>
            <p:cNvPr id="42" name="Rectangle 42"/>
            <p:cNvSpPr/>
            <p:nvPr/>
          </p:nvSpPr>
          <p:spPr>
            <a:xfrm>
              <a:off x="763905" y="4932045"/>
              <a:ext cx="342900" cy="247650"/>
            </a:xfrm>
            <a:prstGeom prst="roundRect">
              <a:avLst>
                <a:gd name="adj" fmla="val 50000"/>
              </a:avLst>
            </a:prstGeom>
            <a:solidFill>
              <a:srgbClr val="E3F5F1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859346" y="4966335"/>
              <a:ext cx="152019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例</a:t>
              </a:r>
            </a:p>
          </p:txBody>
        </p:sp>
        <p:sp>
          <p:nvSpPr>
            <p:cNvPr id="44" name="TextBox 44"/>
            <p:cNvSpPr txBox="1"/>
            <p:nvPr/>
          </p:nvSpPr>
          <p:spPr>
            <a:xfrm>
              <a:off x="1214247" y="4972050"/>
              <a:ext cx="196975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S = FOOD，P = MOOD</a:t>
              </a:r>
            </a:p>
          </p:txBody>
        </p:sp>
        <p:sp>
          <p:nvSpPr>
            <p:cNvPr id="45" name="TextBox 45"/>
            <p:cNvSpPr txBox="1"/>
            <p:nvPr/>
          </p:nvSpPr>
          <p:spPr>
            <a:xfrm>
              <a:off x="757047" y="5306378"/>
              <a:ext cx="4539996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末位都是 D，直接去掉：Dist(FOOD, MOOD) = Dist(FOO,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MOO) = 1，只需把 F 换成 M。</a:t>
              </a:r>
            </a:p>
          </p:txBody>
        </p:sp>
      </p:grpSp>
      <p:grpSp>
        <p:nvGrpSpPr>
          <p:cNvPr id="53" name="c2-card-1"/>
          <p:cNvGrpSpPr/>
          <p:nvPr/>
        </p:nvGrpSpPr>
        <p:grpSpPr>
          <a:xfrm>
            <a:off x="6248400" y="1941195"/>
            <a:ext cx="5410200" cy="1786890"/>
            <a:chOff x="6248400" y="1941195"/>
            <a:chExt cx="5410200" cy="1786890"/>
          </a:xfrm>
        </p:grpSpPr>
        <p:sp>
          <p:nvSpPr>
            <p:cNvPr id="47" name="Rectangle 47"/>
            <p:cNvSpPr/>
            <p:nvPr/>
          </p:nvSpPr>
          <p:spPr>
            <a:xfrm>
              <a:off x="6248400" y="1941195"/>
              <a:ext cx="5410200" cy="1786890"/>
            </a:xfrm>
            <a:prstGeom prst="roundRect">
              <a:avLst>
                <a:gd name="adj" fmla="val 7463"/>
              </a:avLst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48" name="Rectangle 48"/>
            <p:cNvSpPr/>
            <p:nvPr/>
          </p:nvSpPr>
          <p:spPr>
            <a:xfrm>
              <a:off x="6440805" y="2133600"/>
              <a:ext cx="476250" cy="247650"/>
            </a:xfrm>
            <a:prstGeom prst="roundRect">
              <a:avLst>
                <a:gd name="adj" fmla="val 50000"/>
              </a:avLst>
            </a:prstGeom>
            <a:solidFill>
              <a:srgbClr val="174A85"/>
            </a:solidFill>
            <a:ln>
              <a:noFill/>
            </a:ln>
          </p:spPr>
        </p:sp>
        <p:sp>
          <p:nvSpPr>
            <p:cNvPr id="49" name="TextBox 49"/>
            <p:cNvSpPr txBox="1"/>
            <p:nvPr/>
          </p:nvSpPr>
          <p:spPr>
            <a:xfrm>
              <a:off x="6532245" y="2167890"/>
              <a:ext cx="29337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关键</a:t>
              </a:r>
            </a:p>
          </p:txBody>
        </p:sp>
        <p:sp>
          <p:nvSpPr>
            <p:cNvPr id="50" name="TextBox 50"/>
            <p:cNvSpPr txBox="1"/>
            <p:nvPr/>
          </p:nvSpPr>
          <p:spPr>
            <a:xfrm>
              <a:off x="7024497" y="2173605"/>
              <a:ext cx="237629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为什么允许只看最后一个字符</a:t>
              </a:r>
            </a:p>
          </p:txBody>
        </p:sp>
        <p:sp>
          <p:nvSpPr>
            <p:cNvPr id="51" name="TextBox 51"/>
            <p:cNvSpPr txBox="1"/>
            <p:nvPr/>
          </p:nvSpPr>
          <p:spPr>
            <a:xfrm>
              <a:off x="6433947" y="2507932"/>
              <a:ext cx="4840034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任何一份最优编辑方案，作用在 S 末位字符上的动作只有四种可</a:t>
              </a:r>
              <a:br/>
              <a:r>
                <a:rPr lang="zh-CN" sz="135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能：保留、替换、把它删掉、或者在它后面插入 P 的末位字符。</a:t>
              </a:r>
            </a:p>
          </p:txBody>
        </p:sp>
        <p:sp>
          <p:nvSpPr>
            <p:cNvPr id="52" name="TextBox 52"/>
            <p:cNvSpPr txBox="1"/>
            <p:nvPr/>
          </p:nvSpPr>
          <p:spPr>
            <a:xfrm>
              <a:off x="6433947" y="3068002"/>
              <a:ext cx="4814316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四种可能各自把原问题缩成一个更短串的同类问题，于是可以递</a:t>
              </a:r>
              <a:br/>
              <a:r>
                <a:rPr lang="zh-CN" sz="135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推。</a:t>
              </a:r>
            </a:p>
          </p:txBody>
        </p:sp>
      </p:grpSp>
      <p:grpSp>
        <p:nvGrpSpPr>
          <p:cNvPr id="60" name="c2-card-2"/>
          <p:cNvGrpSpPr/>
          <p:nvPr/>
        </p:nvGrpSpPr>
        <p:grpSpPr>
          <a:xfrm>
            <a:off x="6248400" y="3903345"/>
            <a:ext cx="5410200" cy="1483995"/>
            <a:chOff x="6248400" y="3903345"/>
            <a:chExt cx="5410200" cy="1483995"/>
          </a:xfrm>
        </p:grpSpPr>
        <p:sp>
          <p:nvSpPr>
            <p:cNvPr id="54" name="Rectangle 54"/>
            <p:cNvSpPr/>
            <p:nvPr/>
          </p:nvSpPr>
          <p:spPr>
            <a:xfrm>
              <a:off x="6248400" y="3903345"/>
              <a:ext cx="5410200" cy="1483995"/>
            </a:xfrm>
            <a:prstGeom prst="roundRect">
              <a:avLst>
                <a:gd name="adj" fmla="val 8986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55" name="Rectangle 55"/>
            <p:cNvSpPr/>
            <p:nvPr/>
          </p:nvSpPr>
          <p:spPr>
            <a:xfrm>
              <a:off x="6257925" y="4036695"/>
              <a:ext cx="47625" cy="1217295"/>
            </a:xfrm>
            <a:prstGeom prst="roundRect">
              <a:avLst>
                <a:gd name="adj" fmla="val 50000"/>
              </a:avLst>
            </a:prstGeom>
            <a:solidFill>
              <a:srgbClr val="5B6475"/>
            </a:solidFill>
            <a:ln>
              <a:noFill/>
            </a:ln>
          </p:spPr>
        </p:sp>
        <p:sp>
          <p:nvSpPr>
            <p:cNvPr id="56" name="Rectangle 56"/>
            <p:cNvSpPr/>
            <p:nvPr/>
          </p:nvSpPr>
          <p:spPr>
            <a:xfrm>
              <a:off x="6478905" y="4095750"/>
              <a:ext cx="476250" cy="247650"/>
            </a:xfrm>
            <a:prstGeom prst="roundRect">
              <a:avLst>
                <a:gd name="adj" fmla="val 50000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57" name="TextBox 57"/>
            <p:cNvSpPr txBox="1"/>
            <p:nvPr/>
          </p:nvSpPr>
          <p:spPr>
            <a:xfrm>
              <a:off x="6570345" y="4130040"/>
              <a:ext cx="29337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说明</a:t>
              </a:r>
            </a:p>
          </p:txBody>
        </p:sp>
        <p:sp>
          <p:nvSpPr>
            <p:cNvPr id="58" name="TextBox 58"/>
            <p:cNvSpPr txBox="1"/>
            <p:nvPr/>
          </p:nvSpPr>
          <p:spPr>
            <a:xfrm>
              <a:off x="7062597" y="4135755"/>
              <a:ext cx="292150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末位相等时，为什么不再比另外三种</a:t>
              </a:r>
            </a:p>
          </p:txBody>
        </p:sp>
        <p:sp>
          <p:nvSpPr>
            <p:cNvPr id="59" name="TextBox 59"/>
            <p:cNvSpPr txBox="1"/>
            <p:nvPr/>
          </p:nvSpPr>
          <p:spPr>
            <a:xfrm>
              <a:off x="6472047" y="4469130"/>
              <a:ext cx="4720018" cy="77838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任一个串多一个或少一个字符，编辑距离最多变 1，所以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Dist(n-1, m-1) ≤ Dist(n-1, m) + 1，换成 Dist(n, m-1) 也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一样。保留末位永远不比删、插、换更差。</a:t>
              </a:r>
            </a:p>
          </p:txBody>
        </p:sp>
      </p:grpSp>
      <p:grpSp>
        <p:nvGrpSpPr>
          <p:cNvPr id="67" name="c2-callout-3"/>
          <p:cNvGrpSpPr/>
          <p:nvPr/>
        </p:nvGrpSpPr>
        <p:grpSpPr>
          <a:xfrm>
            <a:off x="6248400" y="5562600"/>
            <a:ext cx="5410200" cy="729615"/>
            <a:chOff x="6248400" y="5562600"/>
            <a:chExt cx="5410200" cy="729615"/>
          </a:xfrm>
        </p:grpSpPr>
        <p:sp>
          <p:nvSpPr>
            <p:cNvPr id="61" name="Rectangle 61"/>
            <p:cNvSpPr/>
            <p:nvPr/>
          </p:nvSpPr>
          <p:spPr>
            <a:xfrm>
              <a:off x="6248400" y="5562600"/>
              <a:ext cx="5410200" cy="729615"/>
            </a:xfrm>
            <a:prstGeom prst="roundRect">
              <a:avLst>
                <a:gd name="adj" fmla="val 15666"/>
              </a:avLst>
            </a:prstGeom>
            <a:solidFill>
              <a:srgbClr val="FDEEE7"/>
            </a:solidFill>
            <a:ln>
              <a:noFill/>
            </a:ln>
          </p:spPr>
        </p:sp>
        <p:grpSp>
          <p:nvGrpSpPr>
            <p:cNvPr id="65" name="Group 65"/>
            <p:cNvGrpSpPr/>
            <p:nvPr/>
          </p:nvGrpSpPr>
          <p:grpSpPr>
            <a:xfrm>
              <a:off x="6453188" y="5826443"/>
              <a:ext cx="200026" cy="200025"/>
              <a:chOff x="6453188" y="5826443"/>
              <a:chExt cx="200026" cy="200025"/>
            </a:xfrm>
          </p:grpSpPr>
          <p:sp>
            <p:nvSpPr>
              <p:cNvPr id="62" name="Freeform 62"/>
              <p:cNvSpPr/>
              <p:nvPr/>
            </p:nvSpPr>
            <p:spPr>
              <a:xfrm>
                <a:off x="6453188" y="5826443"/>
                <a:ext cx="200026" cy="100013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100013">
                    <a:moveTo>
                      <a:pt x="0" y="100013"/>
                    </a:moveTo>
                    <a:lnTo>
                      <a:pt x="11113" y="100013"/>
                    </a:lnTo>
                    <a:moveTo>
                      <a:pt x="100013" y="0"/>
                    </a:moveTo>
                    <a:lnTo>
                      <a:pt x="100013" y="11113"/>
                    </a:lnTo>
                    <a:moveTo>
                      <a:pt x="188913" y="100013"/>
                    </a:moveTo>
                    <a:lnTo>
                      <a:pt x="200026" y="100013"/>
                    </a:lnTo>
                    <a:moveTo>
                      <a:pt x="28893" y="28893"/>
                    </a:moveTo>
                    <a:lnTo>
                      <a:pt x="36671" y="36671"/>
                    </a:lnTo>
                    <a:moveTo>
                      <a:pt x="171133" y="28893"/>
                    </a:moveTo>
                    <a:lnTo>
                      <a:pt x="163354" y="36671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63" name="Freeform 63"/>
              <p:cNvSpPr/>
              <p:nvPr/>
            </p:nvSpPr>
            <p:spPr>
              <a:xfrm>
                <a:off x="6492926" y="5870893"/>
                <a:ext cx="120548" cy="155575"/>
              </a:xfrm>
              <a:custGeom>
                <a:avLst/>
                <a:gdLst/>
                <a:ahLst/>
                <a:cxnLst/>
                <a:rect l="l" t="t" r="r" b="b"/>
                <a:pathLst>
                  <a:path w="120548" h="155575">
                    <a:moveTo>
                      <a:pt x="26937" y="100013"/>
                    </a:moveTo>
                    <a:cubicBezTo>
                      <a:pt x="7804" y="85663"/>
                      <a:pt x="0" y="60681"/>
                      <a:pt x="7563" y="37992"/>
                    </a:cubicBezTo>
                    <a:cubicBezTo>
                      <a:pt x="15126" y="15304"/>
                      <a:pt x="36358" y="0"/>
                      <a:pt x="60274" y="0"/>
                    </a:cubicBezTo>
                    <a:cubicBezTo>
                      <a:pt x="84190" y="0"/>
                      <a:pt x="105423" y="15304"/>
                      <a:pt x="112986" y="37992"/>
                    </a:cubicBezTo>
                    <a:cubicBezTo>
                      <a:pt x="120548" y="60681"/>
                      <a:pt x="112745" y="85663"/>
                      <a:pt x="93612" y="100013"/>
                    </a:cubicBezTo>
                    <a:cubicBezTo>
                      <a:pt x="84812" y="108723"/>
                      <a:pt x="80686" y="121103"/>
                      <a:pt x="82499" y="133350"/>
                    </a:cubicBezTo>
                    <a:cubicBezTo>
                      <a:pt x="82499" y="145625"/>
                      <a:pt x="72549" y="155575"/>
                      <a:pt x="60274" y="155575"/>
                    </a:cubicBezTo>
                    <a:cubicBezTo>
                      <a:pt x="48000" y="155575"/>
                      <a:pt x="38049" y="145625"/>
                      <a:pt x="38049" y="133350"/>
                    </a:cubicBezTo>
                    <a:cubicBezTo>
                      <a:pt x="39862" y="121103"/>
                      <a:pt x="35736" y="108723"/>
                      <a:pt x="26937" y="100013"/>
                    </a:cubicBez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64" name="Freeform 64"/>
              <p:cNvSpPr/>
              <p:nvPr/>
            </p:nvSpPr>
            <p:spPr>
              <a:xfrm>
                <a:off x="6527642" y="5982018"/>
                <a:ext cx="51118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51118" h="9525">
                    <a:moveTo>
                      <a:pt x="0" y="0"/>
                    </a:moveTo>
                    <a:lnTo>
                      <a:pt x="51118" y="0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</p:grpSp>
        <p:sp>
          <p:nvSpPr>
            <p:cNvPr id="66" name="TextBox 66"/>
            <p:cNvSpPr txBox="1"/>
            <p:nvPr/>
          </p:nvSpPr>
          <p:spPr>
            <a:xfrm>
              <a:off x="6755892" y="5708333"/>
              <a:ext cx="4488561" cy="51263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58"/>
                </a:lnSpc>
              </a:pPr>
              <a:r>
                <a:rPr lang="zh-CN" sz="135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这正是动态规划的套路：先找到“最后一步怎么走”，再把剩</a:t>
              </a:r>
              <a:br/>
              <a:r>
                <a:rPr lang="zh-CN" sz="135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下的部分交给同一个函数。</a:t>
              </a:r>
            </a:p>
          </p:txBody>
        </p:sp>
      </p:grpSp>
      <p:grpSp>
        <p:nvGrpSpPr>
          <p:cNvPr id="70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68" name="TextBox 68"/>
            <p:cNvSpPr txBox="1"/>
            <p:nvPr/>
          </p:nvSpPr>
          <p:spPr>
            <a:xfrm>
              <a:off x="528447" y="6581299"/>
              <a:ext cx="2120748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数据结构 · 专题1 字符串的模糊匹配</a:t>
              </a:r>
            </a:p>
          </p:txBody>
        </p:sp>
        <p:sp>
          <p:nvSpPr>
            <p:cNvPr id="69" name="TextBox 69"/>
            <p:cNvSpPr txBox="1"/>
            <p:nvPr/>
          </p:nvSpPr>
          <p:spPr>
            <a:xfrm>
              <a:off x="11581087" y="6581299"/>
              <a:ext cx="8246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9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6548247" cy="909257"/>
            <a:chOff x="520446" y="342900"/>
            <a:chExt cx="6548247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556510" cy="266700"/>
            </a:xfrm>
            <a:prstGeom prst="roundRect">
              <a:avLst>
                <a:gd name="adj" fmla="val 50000"/>
              </a:avLst>
            </a:prstGeom>
            <a:solidFill>
              <a:srgbClr val="E6EFF9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92206" y="407194"/>
              <a:ext cx="243889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5FA8"/>
                  </a:solidFill>
                  <a:latin typeface="+mn-lt"/>
                  <a:ea typeface="+mn-ea"/>
                  <a:cs typeface="+mn-cs"/>
                </a:rPr>
                <a:t>专题1 模糊匹配 · 字符串的编辑距离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6548247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末位不等时有三种改法，取代价最小的一种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1F5FA8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14" name="c1-card-1"/>
          <p:cNvGrpSpPr/>
          <p:nvPr/>
        </p:nvGrpSpPr>
        <p:grpSpPr>
          <a:xfrm>
            <a:off x="533400" y="1524000"/>
            <a:ext cx="4760595" cy="1956435"/>
            <a:chOff x="533400" y="1524000"/>
            <a:chExt cx="4760595" cy="1956435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4760595" cy="1956435"/>
            </a:xfrm>
            <a:prstGeom prst="roundRect">
              <a:avLst>
                <a:gd name="adj" fmla="val 6816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8" name="Rectangle 8"/>
            <p:cNvSpPr/>
            <p:nvPr/>
          </p:nvSpPr>
          <p:spPr>
            <a:xfrm>
              <a:off x="542925" y="1657350"/>
              <a:ext cx="47625" cy="1689735"/>
            </a:xfrm>
            <a:prstGeom prst="roundRect">
              <a:avLst>
                <a:gd name="adj" fmla="val 50000"/>
              </a:avLst>
            </a:prstGeom>
            <a:solidFill>
              <a:srgbClr val="5B6475"/>
            </a:solidFill>
            <a:ln>
              <a:noFill/>
            </a:ln>
          </p:spPr>
        </p:sp>
        <p:sp>
          <p:nvSpPr>
            <p:cNvPr id="9" name="Rectangle 9"/>
            <p:cNvSpPr/>
            <p:nvPr/>
          </p:nvSpPr>
          <p:spPr>
            <a:xfrm>
              <a:off x="781050" y="1733550"/>
              <a:ext cx="494348" cy="257175"/>
            </a:xfrm>
            <a:prstGeom prst="roundRect">
              <a:avLst>
                <a:gd name="adj" fmla="val 50000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871258" y="1769269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前提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1382078" y="1768792"/>
              <a:ext cx="1034872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若 Sₙ ≠ Pₘ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773430" y="2129790"/>
              <a:ext cx="382524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末位这一对字符对不上，必须花掉一次编辑操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作，剩下的部分仍然是同类子问题。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773430" y="2750820"/>
              <a:ext cx="4044315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三种方案各自付出 1 次操作，结果取三者的最小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值。</a:t>
              </a:r>
            </a:p>
          </p:txBody>
        </p:sp>
      </p:grpSp>
      <p:grpSp>
        <p:nvGrpSpPr>
          <p:cNvPr id="21" name="c1-callout-2"/>
          <p:cNvGrpSpPr/>
          <p:nvPr/>
        </p:nvGrpSpPr>
        <p:grpSpPr>
          <a:xfrm>
            <a:off x="533400" y="3670935"/>
            <a:ext cx="4760595" cy="1528762"/>
            <a:chOff x="533400" y="3670935"/>
            <a:chExt cx="4760595" cy="1528762"/>
          </a:xfrm>
        </p:grpSpPr>
        <p:sp>
          <p:nvSpPr>
            <p:cNvPr id="15" name="Rectangle 15"/>
            <p:cNvSpPr/>
            <p:nvPr/>
          </p:nvSpPr>
          <p:spPr>
            <a:xfrm>
              <a:off x="533400" y="3670935"/>
              <a:ext cx="4760595" cy="1528762"/>
            </a:xfrm>
            <a:prstGeom prst="roundRect">
              <a:avLst>
                <a:gd name="adj" fmla="val 7477"/>
              </a:avLst>
            </a:prstGeom>
            <a:solidFill>
              <a:srgbClr val="FDECEA"/>
            </a:solidFill>
            <a:ln>
              <a:noFill/>
            </a:ln>
          </p:spPr>
        </p:sp>
        <p:grpSp>
          <p:nvGrpSpPr>
            <p:cNvPr id="19" name="Group 19"/>
            <p:cNvGrpSpPr/>
            <p:nvPr/>
          </p:nvGrpSpPr>
          <p:grpSpPr>
            <a:xfrm>
              <a:off x="726129" y="4331136"/>
              <a:ext cx="224134" cy="192560"/>
              <a:chOff x="726129" y="4331136"/>
              <a:chExt cx="224134" cy="192560"/>
            </a:xfrm>
          </p:grpSpPr>
          <p:sp>
            <p:nvSpPr>
              <p:cNvPr id="16" name="Freeform 16"/>
              <p:cNvSpPr/>
              <p:nvPr/>
            </p:nvSpPr>
            <p:spPr>
              <a:xfrm>
                <a:off x="838200" y="4401503"/>
                <a:ext cx="952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44450">
                    <a:moveTo>
                      <a:pt x="0" y="0"/>
                    </a:moveTo>
                    <a:lnTo>
                      <a:pt x="0" y="44450"/>
                    </a:ln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  <p:sp>
            <p:nvSpPr>
              <p:cNvPr id="17" name="Freeform 17"/>
              <p:cNvSpPr/>
              <p:nvPr/>
            </p:nvSpPr>
            <p:spPr>
              <a:xfrm>
                <a:off x="726129" y="4331136"/>
                <a:ext cx="224134" cy="192560"/>
              </a:xfrm>
              <a:custGeom>
                <a:avLst/>
                <a:gdLst/>
                <a:ahLst/>
                <a:cxnLst/>
                <a:rect l="l" t="t" r="r" b="b"/>
                <a:pathLst>
                  <a:path w="224134" h="192560">
                    <a:moveTo>
                      <a:pt x="93880" y="10259"/>
                    </a:moveTo>
                    <a:lnTo>
                      <a:pt x="3802" y="160656"/>
                    </a:lnTo>
                    <a:cubicBezTo>
                      <a:pt x="23" y="167200"/>
                      <a:pt x="0" y="175257"/>
                      <a:pt x="3741" y="181823"/>
                    </a:cubicBezTo>
                    <a:cubicBezTo>
                      <a:pt x="7482" y="188388"/>
                      <a:pt x="14426" y="192476"/>
                      <a:pt x="21982" y="192560"/>
                    </a:cubicBezTo>
                    <a:lnTo>
                      <a:pt x="202160" y="192560"/>
                    </a:lnTo>
                    <a:cubicBezTo>
                      <a:pt x="209713" y="192473"/>
                      <a:pt x="216653" y="188387"/>
                      <a:pt x="220393" y="181826"/>
                    </a:cubicBezTo>
                    <a:cubicBezTo>
                      <a:pt x="224134" y="175264"/>
                      <a:pt x="224114" y="167211"/>
                      <a:pt x="220341" y="160667"/>
                    </a:cubicBezTo>
                    <a:lnTo>
                      <a:pt x="130262" y="10248"/>
                    </a:lnTo>
                    <a:cubicBezTo>
                      <a:pt x="126408" y="3886"/>
                      <a:pt x="119510" y="0"/>
                      <a:pt x="112071" y="0"/>
                    </a:cubicBezTo>
                    <a:cubicBezTo>
                      <a:pt x="104633" y="0"/>
                      <a:pt x="97734" y="3886"/>
                      <a:pt x="93880" y="10248"/>
                    </a:cubicBez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  <p:sp>
            <p:nvSpPr>
              <p:cNvPr id="18" name="Freeform 18"/>
              <p:cNvSpPr/>
              <p:nvPr/>
            </p:nvSpPr>
            <p:spPr>
              <a:xfrm>
                <a:off x="838200" y="4479291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</p:grpSp>
        <p:sp>
          <p:nvSpPr>
            <p:cNvPr id="20" name="TextBox 20"/>
            <p:cNvSpPr txBox="1"/>
            <p:nvPr/>
          </p:nvSpPr>
          <p:spPr>
            <a:xfrm>
              <a:off x="1040130" y="4191952"/>
              <a:ext cx="3739515" cy="56959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75"/>
                </a:lnSpc>
              </a:pPr>
              <a:r>
                <a:rPr lang="zh-CN" sz="1500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三种方案是并列的候选，不存在“哪种一定更</a:t>
              </a:r>
              <a:br/>
              <a:r>
                <a:rPr lang="zh-CN" sz="1500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好”，必须三个都算出来再比。</a:t>
              </a:r>
            </a:p>
          </p:txBody>
        </p:sp>
      </p:grpSp>
      <p:grpSp>
        <p:nvGrpSpPr>
          <p:cNvPr id="46" name="c2-table-1"/>
          <p:cNvGrpSpPr/>
          <p:nvPr/>
        </p:nvGrpSpPr>
        <p:grpSpPr>
          <a:xfrm>
            <a:off x="5598795" y="1524000"/>
            <a:ext cx="6059805" cy="2475548"/>
            <a:chOff x="5598795" y="1524000"/>
            <a:chExt cx="6059805" cy="2475548"/>
          </a:xfrm>
        </p:grpSpPr>
        <p:sp>
          <p:nvSpPr>
            <p:cNvPr id="22" name="Rectangle 22"/>
            <p:cNvSpPr/>
            <p:nvPr/>
          </p:nvSpPr>
          <p:spPr>
            <a:xfrm>
              <a:off x="5598795" y="1524000"/>
              <a:ext cx="6059805" cy="448628"/>
            </a:xfrm>
            <a:prstGeom prst="rect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23" name="TextBox 23"/>
            <p:cNvSpPr txBox="1"/>
            <p:nvPr/>
          </p:nvSpPr>
          <p:spPr>
            <a:xfrm>
              <a:off x="5783859" y="1659731"/>
              <a:ext cx="35758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方案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126021" y="1659731"/>
              <a:ext cx="70220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先做什么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9013965" y="1659731"/>
              <a:ext cx="104683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再做一次操作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10874019" y="1659731"/>
              <a:ext cx="35758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代价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5706618" y="2221706"/>
              <a:ext cx="11246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6434328" y="2108359"/>
              <a:ext cx="1354074" cy="4760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785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S[1..n-1] 变换为</a:t>
              </a:r>
              <a:br/>
              <a:r>
                <a:rPr lang="en-US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P[1..m-1]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8736520" y="2108359"/>
              <a:ext cx="1118362" cy="4760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785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把 S[n] 替换为</a:t>
              </a:r>
              <a:br/>
              <a:r>
                <a:rPr lang="en-US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P[m]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10554843" y="2108359"/>
              <a:ext cx="776986" cy="4760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785"/>
                </a:lnSpc>
              </a:pPr>
              <a:r>
                <a:rPr lang="en-US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Dist(n-1,</a:t>
              </a:r>
              <a:br/>
              <a:r>
                <a:rPr lang="en-US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m-1)+1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5598795" y="2643188"/>
              <a:ext cx="605980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2" name="Rectangle 32"/>
            <p:cNvSpPr/>
            <p:nvPr/>
          </p:nvSpPr>
          <p:spPr>
            <a:xfrm>
              <a:off x="5598795" y="2647950"/>
              <a:ext cx="6059805" cy="675322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5706618" y="2897029"/>
              <a:ext cx="11246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6434328" y="2783681"/>
              <a:ext cx="1175258" cy="4760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785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S[1..n] 变换为</a:t>
              </a:r>
              <a:br/>
              <a:r>
                <a:rPr lang="en-US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P[1..m-1]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8736520" y="2897029"/>
              <a:ext cx="135293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在末尾插入 P[m]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10554843" y="2783681"/>
              <a:ext cx="598170" cy="4760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785"/>
                </a:lnSpc>
              </a:pPr>
              <a:r>
                <a:rPr lang="en-US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Dist(n,</a:t>
              </a:r>
              <a:br/>
              <a:r>
                <a:rPr lang="en-US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m-1)+1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5598795" y="3319462"/>
              <a:ext cx="605980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5706618" y="3572351"/>
              <a:ext cx="11246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6434328" y="3459004"/>
              <a:ext cx="1354074" cy="4760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785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S[1..n-1] 变换为</a:t>
              </a:r>
              <a:br/>
              <a:r>
                <a:rPr lang="en-US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P[1..m]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8736520" y="3572351"/>
              <a:ext cx="800557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删去 S[n]</a:t>
              </a:r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10554843" y="3459004"/>
              <a:ext cx="776986" cy="4760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785"/>
                </a:lnSpc>
              </a:pPr>
              <a:r>
                <a:rPr lang="en-US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Dist(n-1,</a:t>
              </a:r>
              <a:br/>
              <a:r>
                <a:rPr lang="en-US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m)+1</a:t>
              </a:r>
            </a:p>
          </p:txBody>
        </p:sp>
        <p:sp>
          <p:nvSpPr>
            <p:cNvPr id="42" name="Rectangle 42"/>
            <p:cNvSpPr/>
            <p:nvPr/>
          </p:nvSpPr>
          <p:spPr>
            <a:xfrm>
              <a:off x="5598795" y="1524000"/>
              <a:ext cx="6059805" cy="2475548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43" name="Rectangle 43"/>
            <p:cNvSpPr/>
            <p:nvPr/>
          </p:nvSpPr>
          <p:spPr>
            <a:xfrm>
              <a:off x="6321742" y="1524000"/>
              <a:ext cx="9525" cy="2475548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4" name="Rectangle 44"/>
            <p:cNvSpPr/>
            <p:nvPr/>
          </p:nvSpPr>
          <p:spPr>
            <a:xfrm>
              <a:off x="8623935" y="1524000"/>
              <a:ext cx="9525" cy="2475548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5" name="Rectangle 45"/>
            <p:cNvSpPr/>
            <p:nvPr/>
          </p:nvSpPr>
          <p:spPr>
            <a:xfrm>
              <a:off x="10442258" y="1524000"/>
              <a:ext cx="9525" cy="2475548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</p:grpSp>
      <p:grpSp>
        <p:nvGrpSpPr>
          <p:cNvPr id="68" name="c2-cells-2"/>
          <p:cNvGrpSpPr/>
          <p:nvPr/>
        </p:nvGrpSpPr>
        <p:grpSpPr>
          <a:xfrm>
            <a:off x="5592699" y="4190048"/>
            <a:ext cx="6065901" cy="1009650"/>
            <a:chOff x="5592699" y="4190048"/>
            <a:chExt cx="6065901" cy="1009650"/>
          </a:xfrm>
        </p:grpSpPr>
        <p:sp>
          <p:nvSpPr>
            <p:cNvPr id="47" name="TextBox 47"/>
            <p:cNvSpPr txBox="1"/>
            <p:nvPr/>
          </p:nvSpPr>
          <p:spPr>
            <a:xfrm>
              <a:off x="5592699" y="4324350"/>
              <a:ext cx="428572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1F5FA8"/>
                  </a:solidFill>
                  <a:latin typeface="+mn-lt"/>
                  <a:ea typeface="+mn-ea"/>
                  <a:cs typeface="+mn-cs"/>
                </a:rPr>
                <a:t>方案2</a:t>
              </a:r>
            </a:p>
          </p:txBody>
        </p:sp>
        <p:sp>
          <p:nvSpPr>
            <p:cNvPr id="48" name="Rectangle 48"/>
            <p:cNvSpPr/>
            <p:nvPr/>
          </p:nvSpPr>
          <p:spPr>
            <a:xfrm>
              <a:off x="6125528" y="4190048"/>
              <a:ext cx="1106805" cy="419100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1F5FA8"/>
              </a:solidFill>
            </a:ln>
          </p:spPr>
        </p:sp>
        <p:sp>
          <p:nvSpPr>
            <p:cNvPr id="49" name="TextBox 49"/>
            <p:cNvSpPr txBox="1"/>
            <p:nvPr/>
          </p:nvSpPr>
          <p:spPr>
            <a:xfrm>
              <a:off x="6574262" y="4324350"/>
              <a:ext cx="209337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S₁</a:t>
              </a:r>
            </a:p>
          </p:txBody>
        </p:sp>
        <p:sp>
          <p:nvSpPr>
            <p:cNvPr id="50" name="Rectangle 50"/>
            <p:cNvSpPr/>
            <p:nvPr/>
          </p:nvSpPr>
          <p:spPr>
            <a:xfrm>
              <a:off x="7232332" y="4190048"/>
              <a:ext cx="1106805" cy="419100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1F5FA8"/>
              </a:solidFill>
            </a:ln>
          </p:spPr>
        </p:sp>
        <p:sp>
          <p:nvSpPr>
            <p:cNvPr id="51" name="TextBox 51"/>
            <p:cNvSpPr txBox="1"/>
            <p:nvPr/>
          </p:nvSpPr>
          <p:spPr>
            <a:xfrm>
              <a:off x="7732993" y="4324350"/>
              <a:ext cx="10548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…</a:t>
              </a:r>
            </a:p>
          </p:txBody>
        </p:sp>
        <p:sp>
          <p:nvSpPr>
            <p:cNvPr id="52" name="Rectangle 52"/>
            <p:cNvSpPr/>
            <p:nvPr/>
          </p:nvSpPr>
          <p:spPr>
            <a:xfrm>
              <a:off x="8338185" y="4190048"/>
              <a:ext cx="1106805" cy="419100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1F5FA8"/>
              </a:solidFill>
            </a:ln>
          </p:spPr>
        </p:sp>
        <p:sp>
          <p:nvSpPr>
            <p:cNvPr id="53" name="TextBox 53"/>
            <p:cNvSpPr txBox="1"/>
            <p:nvPr/>
          </p:nvSpPr>
          <p:spPr>
            <a:xfrm>
              <a:off x="8688347" y="4324350"/>
              <a:ext cx="406481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Sₙ₋₁</a:t>
              </a:r>
            </a:p>
          </p:txBody>
        </p:sp>
        <p:sp>
          <p:nvSpPr>
            <p:cNvPr id="54" name="Rectangle 54"/>
            <p:cNvSpPr/>
            <p:nvPr/>
          </p:nvSpPr>
          <p:spPr>
            <a:xfrm>
              <a:off x="9444990" y="4190048"/>
              <a:ext cx="1106805" cy="419100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1F5FA8"/>
              </a:solidFill>
            </a:ln>
          </p:spPr>
        </p:sp>
        <p:sp>
          <p:nvSpPr>
            <p:cNvPr id="55" name="TextBox 55"/>
            <p:cNvSpPr txBox="1"/>
            <p:nvPr/>
          </p:nvSpPr>
          <p:spPr>
            <a:xfrm>
              <a:off x="9893724" y="4324350"/>
              <a:ext cx="209337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Sₙ</a:t>
              </a:r>
            </a:p>
          </p:txBody>
        </p:sp>
        <p:sp>
          <p:nvSpPr>
            <p:cNvPr id="56" name="Rectangle 56"/>
            <p:cNvSpPr/>
            <p:nvPr/>
          </p:nvSpPr>
          <p:spPr>
            <a:xfrm>
              <a:off x="10551795" y="4190048"/>
              <a:ext cx="1106805" cy="419100"/>
            </a:xfrm>
            <a:prstGeom prst="rect">
              <a:avLst/>
            </a:prstGeom>
            <a:solidFill>
              <a:srgbClr val="E3F5F1"/>
            </a:solidFill>
            <a:ln w="15240">
              <a:solidFill>
                <a:srgbClr val="14A38B"/>
              </a:solidFill>
            </a:ln>
          </p:spPr>
        </p:sp>
        <p:sp>
          <p:nvSpPr>
            <p:cNvPr id="57" name="TextBox 57"/>
            <p:cNvSpPr txBox="1"/>
            <p:nvPr/>
          </p:nvSpPr>
          <p:spPr>
            <a:xfrm>
              <a:off x="10919757" y="4324350"/>
              <a:ext cx="370881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＋Pₘ</a:t>
              </a:r>
            </a:p>
          </p:txBody>
        </p:sp>
        <p:sp>
          <p:nvSpPr>
            <p:cNvPr id="58" name="TextBox 58"/>
            <p:cNvSpPr txBox="1"/>
            <p:nvPr/>
          </p:nvSpPr>
          <p:spPr>
            <a:xfrm>
              <a:off x="5592699" y="4914900"/>
              <a:ext cx="428572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1F5FA8"/>
                  </a:solidFill>
                  <a:latin typeface="+mn-lt"/>
                  <a:ea typeface="+mn-ea"/>
                  <a:cs typeface="+mn-cs"/>
                </a:rPr>
                <a:t>方案3</a:t>
              </a:r>
            </a:p>
          </p:txBody>
        </p:sp>
        <p:sp>
          <p:nvSpPr>
            <p:cNvPr id="59" name="Rectangle 59"/>
            <p:cNvSpPr/>
            <p:nvPr/>
          </p:nvSpPr>
          <p:spPr>
            <a:xfrm>
              <a:off x="6125528" y="4780598"/>
              <a:ext cx="1106805" cy="419100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1F5FA8"/>
              </a:solidFill>
            </a:ln>
          </p:spPr>
        </p:sp>
        <p:sp>
          <p:nvSpPr>
            <p:cNvPr id="60" name="TextBox 60"/>
            <p:cNvSpPr txBox="1"/>
            <p:nvPr/>
          </p:nvSpPr>
          <p:spPr>
            <a:xfrm>
              <a:off x="6574262" y="4914900"/>
              <a:ext cx="209337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S₁</a:t>
              </a:r>
            </a:p>
          </p:txBody>
        </p:sp>
        <p:sp>
          <p:nvSpPr>
            <p:cNvPr id="61" name="Rectangle 61"/>
            <p:cNvSpPr/>
            <p:nvPr/>
          </p:nvSpPr>
          <p:spPr>
            <a:xfrm>
              <a:off x="7232332" y="4780598"/>
              <a:ext cx="1106805" cy="419100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1F5FA8"/>
              </a:solidFill>
            </a:ln>
          </p:spPr>
        </p:sp>
        <p:sp>
          <p:nvSpPr>
            <p:cNvPr id="62" name="TextBox 62"/>
            <p:cNvSpPr txBox="1"/>
            <p:nvPr/>
          </p:nvSpPr>
          <p:spPr>
            <a:xfrm>
              <a:off x="7732993" y="4914900"/>
              <a:ext cx="10548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…</a:t>
              </a:r>
            </a:p>
          </p:txBody>
        </p:sp>
        <p:sp>
          <p:nvSpPr>
            <p:cNvPr id="63" name="Rectangle 63"/>
            <p:cNvSpPr/>
            <p:nvPr/>
          </p:nvSpPr>
          <p:spPr>
            <a:xfrm>
              <a:off x="8338185" y="4780598"/>
              <a:ext cx="1106805" cy="419100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1F5FA8"/>
              </a:solidFill>
            </a:ln>
          </p:spPr>
        </p:sp>
        <p:sp>
          <p:nvSpPr>
            <p:cNvPr id="64" name="TextBox 64"/>
            <p:cNvSpPr txBox="1"/>
            <p:nvPr/>
          </p:nvSpPr>
          <p:spPr>
            <a:xfrm>
              <a:off x="8688347" y="4914900"/>
              <a:ext cx="406481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Sₙ₋₁</a:t>
              </a:r>
            </a:p>
          </p:txBody>
        </p:sp>
        <p:sp>
          <p:nvSpPr>
            <p:cNvPr id="65" name="Rectangle 65"/>
            <p:cNvSpPr/>
            <p:nvPr/>
          </p:nvSpPr>
          <p:spPr>
            <a:xfrm>
              <a:off x="9444990" y="4780598"/>
              <a:ext cx="1106805" cy="419100"/>
            </a:xfrm>
            <a:prstGeom prst="rect">
              <a:avLst/>
            </a:prstGeom>
            <a:solidFill>
              <a:srgbClr val="FDECEA"/>
            </a:solidFill>
            <a:ln w="15240">
              <a:solidFill>
                <a:srgbClr val="B42318"/>
              </a:solidFill>
            </a:ln>
          </p:spPr>
        </p:sp>
        <p:sp>
          <p:nvSpPr>
            <p:cNvPr id="66" name="TextBox 66"/>
            <p:cNvSpPr txBox="1"/>
            <p:nvPr/>
          </p:nvSpPr>
          <p:spPr>
            <a:xfrm>
              <a:off x="9830752" y="4914900"/>
              <a:ext cx="33528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删去</a:t>
              </a:r>
            </a:p>
          </p:txBody>
        </p:sp>
        <p:sp>
          <p:nvSpPr>
            <p:cNvPr id="67" name="Rectangle 67"/>
            <p:cNvSpPr/>
            <p:nvPr/>
          </p:nvSpPr>
          <p:spPr>
            <a:xfrm>
              <a:off x="10551795" y="4780598"/>
              <a:ext cx="1106805" cy="419100"/>
            </a:xfrm>
            <a:prstGeom prst="rect">
              <a:avLst/>
            </a:prstGeom>
            <a:solidFill>
              <a:srgbClr val="F4F6FB"/>
            </a:solidFill>
            <a:ln w="15240">
              <a:solidFill>
                <a:srgbClr val="1F5FA8"/>
              </a:solidFill>
            </a:ln>
          </p:spPr>
        </p:sp>
      </p:grpSp>
      <p:grpSp>
        <p:nvGrpSpPr>
          <p:cNvPr id="74" name="takeaway"/>
          <p:cNvGrpSpPr/>
          <p:nvPr/>
        </p:nvGrpSpPr>
        <p:grpSpPr>
          <a:xfrm>
            <a:off x="533400" y="5829300"/>
            <a:ext cx="11125200" cy="533400"/>
            <a:chOff x="533400" y="5829300"/>
            <a:chExt cx="11125200" cy="533400"/>
          </a:xfrm>
        </p:grpSpPr>
        <p:sp>
          <p:nvSpPr>
            <p:cNvPr id="69" name="Rectangle 69"/>
            <p:cNvSpPr/>
            <p:nvPr/>
          </p:nvSpPr>
          <p:spPr>
            <a:xfrm>
              <a:off x="533400" y="5829300"/>
              <a:ext cx="11125200" cy="533400"/>
            </a:xfrm>
            <a:prstGeom prst="roundRect">
              <a:avLst>
                <a:gd name="adj" fmla="val 21429"/>
              </a:avLst>
            </a:prstGeom>
            <a:solidFill>
              <a:srgbClr val="1F5FA8"/>
            </a:solidFill>
            <a:ln>
              <a:noFill/>
            </a:ln>
          </p:spPr>
        </p:sp>
        <p:grpSp>
          <p:nvGrpSpPr>
            <p:cNvPr id="72" name="Group 72"/>
            <p:cNvGrpSpPr/>
            <p:nvPr/>
          </p:nvGrpSpPr>
          <p:grpSpPr>
            <a:xfrm>
              <a:off x="738188" y="5995990"/>
              <a:ext cx="200023" cy="200023"/>
              <a:chOff x="738188" y="5995990"/>
              <a:chExt cx="200023" cy="200023"/>
            </a:xfrm>
          </p:grpSpPr>
          <p:sp>
            <p:nvSpPr>
              <p:cNvPr id="70" name="Freeform 70"/>
              <p:cNvSpPr/>
              <p:nvPr/>
            </p:nvSpPr>
            <p:spPr>
              <a:xfrm>
                <a:off x="738188" y="5995990"/>
                <a:ext cx="200023" cy="200023"/>
              </a:xfrm>
              <a:custGeom>
                <a:avLst/>
                <a:gdLst/>
                <a:ahLst/>
                <a:cxnLst/>
                <a:rect l="l" t="t" r="r" b="b"/>
                <a:pathLst>
                  <a:path w="200023" h="200023">
                    <a:moveTo>
                      <a:pt x="150630" y="9366"/>
                    </a:moveTo>
                    <a:lnTo>
                      <a:pt x="190658" y="49393"/>
                    </a:lnTo>
                    <a:cubicBezTo>
                      <a:pt x="196654" y="55389"/>
                      <a:pt x="200023" y="63522"/>
                      <a:pt x="200023" y="72002"/>
                    </a:cubicBezTo>
                    <a:cubicBezTo>
                      <a:pt x="200023" y="80482"/>
                      <a:pt x="196654" y="88614"/>
                      <a:pt x="190658" y="94610"/>
                    </a:cubicBezTo>
                    <a:lnTo>
                      <a:pt x="161287" y="123980"/>
                    </a:lnTo>
                    <a:cubicBezTo>
                      <a:pt x="155291" y="129977"/>
                      <a:pt x="147159" y="133346"/>
                      <a:pt x="138679" y="133346"/>
                    </a:cubicBezTo>
                    <a:cubicBezTo>
                      <a:pt x="130199" y="133346"/>
                      <a:pt x="122066" y="129977"/>
                      <a:pt x="116070" y="123980"/>
                    </a:cubicBezTo>
                    <a:lnTo>
                      <a:pt x="112726" y="120636"/>
                    </a:lnTo>
                    <a:lnTo>
                      <a:pt x="39850" y="193511"/>
                    </a:lnTo>
                    <a:cubicBezTo>
                      <a:pt x="36157" y="197203"/>
                      <a:pt x="31283" y="199477"/>
                      <a:pt x="26081" y="199935"/>
                    </a:cubicBezTo>
                    <a:lnTo>
                      <a:pt x="24136" y="200023"/>
                    </a:lnTo>
                    <a:lnTo>
                      <a:pt x="11113" y="200023"/>
                    </a:lnTo>
                    <a:cubicBezTo>
                      <a:pt x="5479" y="200023"/>
                      <a:pt x="737" y="195806"/>
                      <a:pt x="78" y="190211"/>
                    </a:cubicBezTo>
                    <a:lnTo>
                      <a:pt x="0" y="188911"/>
                    </a:lnTo>
                    <a:lnTo>
                      <a:pt x="0" y="175887"/>
                    </a:lnTo>
                    <a:cubicBezTo>
                      <a:pt x="1" y="170669"/>
                      <a:pt x="1838" y="165618"/>
                      <a:pt x="5190" y="161619"/>
                    </a:cubicBezTo>
                    <a:lnTo>
                      <a:pt x="6512" y="160174"/>
                    </a:lnTo>
                    <a:lnTo>
                      <a:pt x="11113" y="155573"/>
                    </a:lnTo>
                    <a:lnTo>
                      <a:pt x="33338" y="155573"/>
                    </a:lnTo>
                    <a:lnTo>
                      <a:pt x="33338" y="133348"/>
                    </a:lnTo>
                    <a:lnTo>
                      <a:pt x="55563" y="133348"/>
                    </a:lnTo>
                    <a:lnTo>
                      <a:pt x="55563" y="111123"/>
                    </a:lnTo>
                    <a:lnTo>
                      <a:pt x="79388" y="87298"/>
                    </a:lnTo>
                    <a:lnTo>
                      <a:pt x="76043" y="83953"/>
                    </a:lnTo>
                    <a:cubicBezTo>
                      <a:pt x="70046" y="77957"/>
                      <a:pt x="66677" y="69825"/>
                      <a:pt x="66677" y="61345"/>
                    </a:cubicBezTo>
                    <a:cubicBezTo>
                      <a:pt x="66677" y="52865"/>
                      <a:pt x="70046" y="44732"/>
                      <a:pt x="76043" y="38736"/>
                    </a:cubicBezTo>
                    <a:lnTo>
                      <a:pt x="105413" y="9366"/>
                    </a:lnTo>
                    <a:cubicBezTo>
                      <a:pt x="111409" y="3369"/>
                      <a:pt x="119542" y="0"/>
                      <a:pt x="128022" y="0"/>
                    </a:cubicBezTo>
                    <a:cubicBezTo>
                      <a:pt x="136502" y="0"/>
                      <a:pt x="144635" y="3369"/>
                      <a:pt x="150630" y="9366"/>
                    </a:cubicBez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  <p:sp>
            <p:nvSpPr>
              <p:cNvPr id="71" name="Freeform 71"/>
              <p:cNvSpPr/>
              <p:nvPr/>
            </p:nvSpPr>
            <p:spPr>
              <a:xfrm>
                <a:off x="871538" y="6062663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</p:grpSp>
        <p:sp>
          <p:nvSpPr>
            <p:cNvPr id="73" name="TextBox 73"/>
            <p:cNvSpPr txBox="1"/>
            <p:nvPr/>
          </p:nvSpPr>
          <p:spPr>
            <a:xfrm>
              <a:off x="1040130" y="5991225"/>
              <a:ext cx="566928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记忆口诀按下标走：对角线是替换，左邻是插入，上邻是删除。</a:t>
              </a:r>
            </a:p>
          </p:txBody>
        </p:sp>
      </p:grpSp>
      <p:grpSp>
        <p:nvGrpSpPr>
          <p:cNvPr id="77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75" name="TextBox 75"/>
            <p:cNvSpPr txBox="1"/>
            <p:nvPr/>
          </p:nvSpPr>
          <p:spPr>
            <a:xfrm>
              <a:off x="528447" y="6581299"/>
              <a:ext cx="2120748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数据结构 · 专题1 字符串的模糊匹配</a:t>
              </a:r>
            </a:p>
          </p:txBody>
        </p:sp>
        <p:sp>
          <p:nvSpPr>
            <p:cNvPr id="76" name="TextBox 76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10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3801999" cy="909257"/>
            <a:chOff x="520446" y="342900"/>
            <a:chExt cx="3801999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556510" cy="266700"/>
            </a:xfrm>
            <a:prstGeom prst="roundRect">
              <a:avLst>
                <a:gd name="adj" fmla="val 50000"/>
              </a:avLst>
            </a:prstGeom>
            <a:solidFill>
              <a:srgbClr val="E6EFF9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92206" y="407194"/>
              <a:ext cx="243889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5FA8"/>
                  </a:solidFill>
                  <a:latin typeface="+mn-lt"/>
                  <a:ea typeface="+mn-ea"/>
                  <a:cs typeface="+mn-cs"/>
                </a:rPr>
                <a:t>专题1 模糊匹配 · 字符串的编辑距离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3801999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两种情形合成一条递推式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1F5FA8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formula9"/>
              <p:cNvSpPr txBox="1">
                <a:spLocks noGrp="1"/>
              </p:cNvSpPr>
              <p:nvPr/>
            </p:nvSpPr>
            <p:spPr>
              <a:xfrm>
                <a:off x="533400" y="1524000"/>
                <a:ext cx="11125200" cy="8686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lIns="0" tIns="0" rIns="0" bIns="0" wrap="none" anchor="ctr">
                <a:normAutofit/>
              </a:bodyPr>
              <a:lstStyle/>
              <a:p>
                <a:pPr algn="ctr"/>
                <a14:m>
                  <m:oMathPara xmlns:a="http://schemas.openxmlformats.org/drawingml/2006/main" xmlns:m="http://schemas.openxmlformats.org/officeDocument/2006/math">
                    <m:oMathParaPr>
                      <m:jc m:val="center"/>
                    </m:oMathParaPr>
                    <m:oMath>
                      <m:r>
                        <a:rPr lang="zh-CN" sz="180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Dist</m:t>
                      </m:r>
                      <m:d>
                        <m:dPr>
                          <m:begChr m:val="("/>
                          <m:sepChr m:val=""/>
                          <m:endChr m:val=")"/>
                          <m:grow m:val="on"/>
                          <m:ctrlPr>
                            <a:rPr lang="zh-CN" sz="180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a:rPr lang="zh-CN" sz="180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n</m:t>
                          </m:r>
                          <m:r>
                            <m:rPr>
                              <m:sty m:val="p"/>
                            </m:rPr>
                            <a:rPr lang="zh-CN" sz="180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,</m:t>
                          </m:r>
                          <m:r>
                            <a:rPr lang="zh-CN" sz="180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m</m:t>
                          </m:r>
                        </m:e>
                      </m:d>
                      <m:r>
                        <m:rPr>
                          <m:sty m:val="p"/>
                        </m:rPr>
                        <a:rPr lang="zh-CN" sz="180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d>
                        <m:dPr>
                          <m:begChr m:val="{"/>
                          <m:sepChr m:val=""/>
                          <m:endChr m:val=""/>
                          <m:grow m:val="on"/>
                          <m:ctrlPr>
                            <a:rPr lang="zh-CN" sz="180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eqArr>
                            <m:eqArrPr>
                              <m:baseJc m:val="center"/>
                            </m:eqArrPr>
                            <m:e>
                              <m:r>
                                <a:rPr lang="zh-CN" sz="180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&amp;</m:t>
                              </m:r>
                              <m:r>
                                <a:rPr lang="zh-CN" sz="180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Dist</m:t>
                              </m:r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 m:val="on"/>
                                  <m:ctrlPr>
                                    <a:rPr lang="zh-CN" sz="180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</m:ctrlPr>
                                </m:dPr>
                                <m:e>
                                  <m:r>
                                    <a:rPr lang="zh-CN" sz="180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n</m:t>
                                  </m:r>
                                  <m:r>
                                    <m:rPr>
                                      <m:sty m:val="p"/>
                                    </m:rPr>
                                    <a:rPr lang="zh-CN" sz="180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−</m:t>
                                  </m:r>
                                  <m:r>
                                    <a:rPr lang="zh-CN" sz="180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1</m:t>
                                  </m:r>
                                  <m:r>
                                    <m:rPr>
                                      <m:sty m:val="p"/>
                                    </m:rPr>
                                    <a:rPr lang="zh-CN" sz="180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,</m:t>
                                  </m:r>
                                  <m:r>
                                    <a:rPr lang="zh-CN" sz="180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 xml:space="preserve"> </m:t>
                                  </m:r>
                                  <m:r>
                                    <a:rPr lang="zh-CN" sz="180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m</m:t>
                                  </m:r>
                                  <m:r>
                                    <m:rPr>
                                      <m:sty m:val="p"/>
                                    </m:rPr>
                                    <a:rPr lang="zh-CN" sz="180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−</m:t>
                                  </m:r>
                                  <m:r>
                                    <a:rPr lang="zh-CN" sz="180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1</m:t>
                                  </m:r>
                                </m:e>
                              </m:d>
                              <m:r>
                                <m:rPr>
                                  <m:sty m:val="p"/>
                                </m:rPr>
                                <a:rPr lang="zh-CN" sz="180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,</m:t>
                              </m:r>
                              <m:r>
                                <a:rPr lang="zh-CN" sz="180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 xml:space="preserve"> </m:t>
                              </m:r>
                              <m:sSub>
                                <m:e>
                                  <m:r>
                                    <a:rPr lang="zh-CN" sz="180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S</m:t>
                                  </m:r>
                                </m:e>
                                <m:sub>
                                  <m:r>
                                    <a:rPr lang="zh-CN" sz="180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n</m:t>
                                  </m:r>
                                </m:sub>
                              </m:sSub>
                              <m:r>
                                <m:rPr>
                                  <m:sty m:val="p"/>
                                </m:rPr>
                                <a:rPr lang="zh-CN" sz="180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=</m:t>
                              </m:r>
                              <m:sSub>
                                <m:e>
                                  <m:r>
                                    <a:rPr lang="zh-CN" sz="180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P</m:t>
                                  </m:r>
                                </m:e>
                                <m:sub>
                                  <m:r>
                                    <a:rPr lang="zh-CN" sz="180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m</m:t>
                                  </m:r>
                                </m:sub>
                              </m:sSub>
                            </m:e>
                            <m:e>
                              <m:r>
                                <a:rPr lang="zh-CN" sz="180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&amp;</m:t>
                              </m:r>
                              <m:func>
                                <m:funcPr/>
                                <m:fName>
                                  <m:r>
                                    <m:rPr>
                                      <m:sty m:val="p"/>
                                    </m:rPr>
                                    <a:rPr lang="zh-CN" sz="180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min</m:t>
                                  </m:r>
                                </m:fName>
                                <m:e>
                                  <m:d>
                                    <m:dPr>
                                      <m:begChr m:val="{"/>
                                      <m:sepChr m:val=""/>
                                      <m:endChr m:val="}"/>
                                      <m:grow m:val="on"/>
                                      <m:ctrlPr>
                                        <a:rPr lang="zh-CN" sz="1800" dirty="0">
                                          <a:solidFill>
                                            <a:srgbClr val="1F2937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zh-CN" sz="1800" dirty="0">
                                          <a:solidFill>
                                            <a:srgbClr val="1F2937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Dist</m:t>
                                      </m:r>
                                      <m:d>
                                        <m:dPr>
                                          <m:begChr m:val="("/>
                                          <m:sepChr m:val=""/>
                                          <m:endChr m:val=")"/>
                                          <m:grow m:val="on"/>
                                          <m:ctrlPr>
                                            <a:rPr lang="zh-CN" sz="1800" dirty="0">
                                              <a:solidFill>
                                                <a:srgbClr val="1F2937"/>
                                              </a:solidFill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zh-CN" sz="1800" dirty="0">
                                              <a:solidFill>
                                                <a:srgbClr val="1F2937"/>
                                              </a:solidFill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  <m:t>n</m:t>
                                          </m:r>
                                          <m:r>
                                            <m:rPr>
                                              <m:sty m:val="p"/>
                                            </m:rPr>
                                            <a:rPr lang="zh-CN" sz="1800" dirty="0">
                                              <a:solidFill>
                                                <a:srgbClr val="1F2937"/>
                                              </a:solidFill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  <m:t>−</m:t>
                                          </m:r>
                                          <m:r>
                                            <a:rPr lang="zh-CN" sz="1800" dirty="0">
                                              <a:solidFill>
                                                <a:srgbClr val="1F2937"/>
                                              </a:solidFill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  <m:t>1</m:t>
                                          </m:r>
                                          <m:r>
                                            <m:rPr>
                                              <m:sty m:val="p"/>
                                            </m:rPr>
                                            <a:rPr lang="zh-CN" sz="1800" dirty="0">
                                              <a:solidFill>
                                                <a:srgbClr val="1F2937"/>
                                              </a:solidFill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  <m:t>,</m:t>
                                          </m:r>
                                          <m:r>
                                            <a:rPr lang="zh-CN" sz="1800" dirty="0">
                                              <a:solidFill>
                                                <a:srgbClr val="1F2937"/>
                                              </a:solidFill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  <m:t>m</m:t>
                                          </m:r>
                                          <m:r>
                                            <m:rPr>
                                              <m:sty m:val="p"/>
                                            </m:rPr>
                                            <a:rPr lang="zh-CN" sz="1800" dirty="0">
                                              <a:solidFill>
                                                <a:srgbClr val="1F2937"/>
                                              </a:solidFill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  <m:t>−</m:t>
                                          </m:r>
                                          <m:r>
                                            <a:rPr lang="zh-CN" sz="1800" dirty="0">
                                              <a:solidFill>
                                                <a:srgbClr val="1F2937"/>
                                              </a:solidFill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  <m:t>1</m:t>
                                          </m:r>
                                        </m:e>
                                      </m:d>
                                      <m:r>
                                        <m:rPr>
                                          <m:sty m:val="p"/>
                                        </m:rPr>
                                        <a:rPr lang="zh-CN" sz="1800" dirty="0">
                                          <a:solidFill>
                                            <a:srgbClr val="1F2937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,</m:t>
                                      </m:r>
                                      <m:r>
                                        <a:rPr lang="zh-CN" sz="1800" dirty="0">
                                          <a:solidFill>
                                            <a:srgbClr val="1F2937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 xml:space="preserve"> </m:t>
                                      </m:r>
                                      <m:r>
                                        <a:rPr lang="zh-CN" sz="1800" dirty="0">
                                          <a:solidFill>
                                            <a:srgbClr val="1F2937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Dist</m:t>
                                      </m:r>
                                      <m:d>
                                        <m:dPr>
                                          <m:begChr m:val="("/>
                                          <m:sepChr m:val=""/>
                                          <m:endChr m:val=")"/>
                                          <m:grow m:val="on"/>
                                          <m:ctrlPr>
                                            <a:rPr lang="zh-CN" sz="1800" dirty="0">
                                              <a:solidFill>
                                                <a:srgbClr val="1F2937"/>
                                              </a:solidFill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zh-CN" sz="1800" dirty="0">
                                              <a:solidFill>
                                                <a:srgbClr val="1F2937"/>
                                              </a:solidFill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  <m:t>n</m:t>
                                          </m:r>
                                          <m:r>
                                            <m:rPr>
                                              <m:sty m:val="p"/>
                                            </m:rPr>
                                            <a:rPr lang="zh-CN" sz="1800" dirty="0">
                                              <a:solidFill>
                                                <a:srgbClr val="1F2937"/>
                                              </a:solidFill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  <m:t>,</m:t>
                                          </m:r>
                                          <m:r>
                                            <a:rPr lang="zh-CN" sz="1800" dirty="0">
                                              <a:solidFill>
                                                <a:srgbClr val="1F2937"/>
                                              </a:solidFill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  <m:t>m</m:t>
                                          </m:r>
                                          <m:r>
                                            <m:rPr>
                                              <m:sty m:val="p"/>
                                            </m:rPr>
                                            <a:rPr lang="zh-CN" sz="1800" dirty="0">
                                              <a:solidFill>
                                                <a:srgbClr val="1F2937"/>
                                              </a:solidFill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  <m:t>−</m:t>
                                          </m:r>
                                          <m:r>
                                            <a:rPr lang="zh-CN" sz="1800" dirty="0">
                                              <a:solidFill>
                                                <a:srgbClr val="1F2937"/>
                                              </a:solidFill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  <m:t>1</m:t>
                                          </m:r>
                                        </m:e>
                                      </m:d>
                                      <m:r>
                                        <m:rPr>
                                          <m:sty m:val="p"/>
                                        </m:rPr>
                                        <a:rPr lang="zh-CN" sz="1800" dirty="0">
                                          <a:solidFill>
                                            <a:srgbClr val="1F2937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,</m:t>
                                      </m:r>
                                      <m:r>
                                        <a:rPr lang="zh-CN" sz="1800" dirty="0">
                                          <a:solidFill>
                                            <a:srgbClr val="1F2937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 xml:space="preserve"> </m:t>
                                      </m:r>
                                      <m:r>
                                        <a:rPr lang="zh-CN" sz="1800" dirty="0">
                                          <a:solidFill>
                                            <a:srgbClr val="1F2937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Dist</m:t>
                                      </m:r>
                                      <m:d>
                                        <m:dPr>
                                          <m:begChr m:val="("/>
                                          <m:sepChr m:val=""/>
                                          <m:endChr m:val=")"/>
                                          <m:grow m:val="on"/>
                                          <m:ctrlPr>
                                            <a:rPr lang="zh-CN" sz="1800" dirty="0">
                                              <a:solidFill>
                                                <a:srgbClr val="1F2937"/>
                                              </a:solidFill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zh-CN" sz="1800" dirty="0">
                                              <a:solidFill>
                                                <a:srgbClr val="1F2937"/>
                                              </a:solidFill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  <m:t>n</m:t>
                                          </m:r>
                                          <m:r>
                                            <m:rPr>
                                              <m:sty m:val="p"/>
                                            </m:rPr>
                                            <a:rPr lang="zh-CN" sz="1800" dirty="0">
                                              <a:solidFill>
                                                <a:srgbClr val="1F2937"/>
                                              </a:solidFill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  <m:t>−</m:t>
                                          </m:r>
                                          <m:r>
                                            <a:rPr lang="zh-CN" sz="1800" dirty="0">
                                              <a:solidFill>
                                                <a:srgbClr val="1F2937"/>
                                              </a:solidFill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  <m:t>1</m:t>
                                          </m:r>
                                          <m:r>
                                            <m:rPr>
                                              <m:sty m:val="p"/>
                                            </m:rPr>
                                            <a:rPr lang="zh-CN" sz="1800" dirty="0">
                                              <a:solidFill>
                                                <a:srgbClr val="1F2937"/>
                                              </a:solidFill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  <m:t>,</m:t>
                                          </m:r>
                                          <m:r>
                                            <a:rPr lang="zh-CN" sz="1800" dirty="0">
                                              <a:solidFill>
                                                <a:srgbClr val="1F2937"/>
                                              </a:solidFill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  <m:t>m</m:t>
                                          </m:r>
                                        </m:e>
                                      </m:d>
                                    </m:e>
                                  </m:d>
                                </m:e>
                              </m:func>
                              <m:r>
                                <m:rPr>
                                  <m:sty m:val="p"/>
                                </m:rPr>
                                <a:rPr lang="zh-CN" sz="180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+</m:t>
                              </m:r>
                              <m:r>
                                <a:rPr lang="zh-CN" sz="180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1</m:t>
                              </m:r>
                              <m:r>
                                <m:rPr>
                                  <m:sty m:val="p"/>
                                </m:rPr>
                                <a:rPr lang="zh-CN" sz="180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,</m:t>
                              </m:r>
                              <m:r>
                                <a:rPr lang="zh-CN" sz="180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 xml:space="preserve"> </m:t>
                              </m:r>
                              <m:sSub>
                                <m:e>
                                  <m:r>
                                    <a:rPr lang="zh-CN" sz="180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S</m:t>
                                  </m:r>
                                </m:e>
                                <m:sub>
                                  <m:r>
                                    <a:rPr lang="zh-CN" sz="180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n</m:t>
                                  </m:r>
                                </m:sub>
                              </m:sSub>
                              <m:r>
                                <m:rPr>
                                  <m:sty m:val="p"/>
                                </m:rPr>
                                <a:rPr lang="zh-CN" sz="180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≠</m:t>
                              </m:r>
                              <m:sSub>
                                <m:e>
                                  <m:r>
                                    <a:rPr lang="zh-CN" sz="180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P</m:t>
                                  </m:r>
                                </m:e>
                                <m:sub>
                                  <m:r>
                                    <a:rPr lang="zh-CN" sz="180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m</m:t>
                                  </m:r>
                                </m:sub>
                              </m:sSub>
                            </m:e>
                          </m:eqArr>
                        </m:e>
                      </m:d>
                    </m:oMath>
                  </m:oMathPara>
                </a14:m>
              </a:p>
            </p:txBody>
          </p:sp>
        </mc:Choice>
      </mc:AlternateContent>
      <p:grpSp>
        <p:nvGrpSpPr>
          <p:cNvPr id="27" name="c1-table-2"/>
          <p:cNvGrpSpPr/>
          <p:nvPr/>
        </p:nvGrpSpPr>
        <p:grpSpPr>
          <a:xfrm>
            <a:off x="533400" y="2567940"/>
            <a:ext cx="11125200" cy="1623060"/>
            <a:chOff x="533400" y="2567940"/>
            <a:chExt cx="11125200" cy="1623060"/>
          </a:xfrm>
        </p:grpSpPr>
        <p:sp>
          <p:nvSpPr>
            <p:cNvPr id="8" name="Rectangle 8"/>
            <p:cNvSpPr/>
            <p:nvPr/>
          </p:nvSpPr>
          <p:spPr>
            <a:xfrm>
              <a:off x="533400" y="2567940"/>
              <a:ext cx="11125200" cy="405765"/>
            </a:xfrm>
            <a:prstGeom prst="rect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1450099" y="2692241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边界情形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3714471" y="2692241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取值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8053108" y="2692241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理由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633412" y="3098006"/>
              <a:ext cx="84397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Dist(0, m)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3081338" y="3098006"/>
              <a:ext cx="12451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m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4860608" y="3098006"/>
              <a:ext cx="376798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空串变成 P 的前 m 个字符，只能一个一个插入，插 m 次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533400" y="3374708"/>
              <a:ext cx="11125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6" name="Rectangle 16"/>
            <p:cNvSpPr/>
            <p:nvPr/>
          </p:nvSpPr>
          <p:spPr>
            <a:xfrm>
              <a:off x="533400" y="3379470"/>
              <a:ext cx="11125200" cy="405765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633412" y="3503771"/>
              <a:ext cx="81195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Dist(n, 0)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3081338" y="3503771"/>
              <a:ext cx="9435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n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4860608" y="3503771"/>
              <a:ext cx="320756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S 的前 n 个字符全部删光才能变成空串，删 n 次</a:t>
              </a:r>
            </a:p>
          </p:txBody>
        </p:sp>
        <p:sp>
          <p:nvSpPr>
            <p:cNvPr id="20" name="Rectangle 20"/>
            <p:cNvSpPr/>
            <p:nvPr/>
          </p:nvSpPr>
          <p:spPr>
            <a:xfrm>
              <a:off x="533400" y="3780472"/>
              <a:ext cx="11125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633412" y="3909536"/>
              <a:ext cx="81419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Dist(0, 0)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3081338" y="3909536"/>
              <a:ext cx="9435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4860608" y="3909536"/>
              <a:ext cx="136840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空串变空串，不用动</a:t>
              </a:r>
            </a:p>
          </p:txBody>
        </p:sp>
        <p:sp>
          <p:nvSpPr>
            <p:cNvPr id="24" name="Rectangle 24"/>
            <p:cNvSpPr/>
            <p:nvPr/>
          </p:nvSpPr>
          <p:spPr>
            <a:xfrm>
              <a:off x="533400" y="2567940"/>
              <a:ext cx="11125200" cy="1623060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25" name="Rectangle 25"/>
            <p:cNvSpPr/>
            <p:nvPr/>
          </p:nvSpPr>
          <p:spPr>
            <a:xfrm>
              <a:off x="2976562" y="2567940"/>
              <a:ext cx="9525" cy="162306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6" name="Rectangle 26"/>
            <p:cNvSpPr/>
            <p:nvPr/>
          </p:nvSpPr>
          <p:spPr>
            <a:xfrm>
              <a:off x="4755832" y="2567940"/>
              <a:ext cx="9525" cy="162306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</p:grpSp>
      <p:grpSp>
        <p:nvGrpSpPr>
          <p:cNvPr id="34" name="c1-callout-3"/>
          <p:cNvGrpSpPr/>
          <p:nvPr/>
        </p:nvGrpSpPr>
        <p:grpSpPr>
          <a:xfrm>
            <a:off x="533400" y="4366260"/>
            <a:ext cx="11125200" cy="488632"/>
            <a:chOff x="533400" y="4366260"/>
            <a:chExt cx="11125200" cy="488632"/>
          </a:xfrm>
        </p:grpSpPr>
        <p:sp>
          <p:nvSpPr>
            <p:cNvPr id="28" name="Rectangle 28"/>
            <p:cNvSpPr/>
            <p:nvPr/>
          </p:nvSpPr>
          <p:spPr>
            <a:xfrm>
              <a:off x="533400" y="4366260"/>
              <a:ext cx="11125200" cy="488632"/>
            </a:xfrm>
            <a:prstGeom prst="roundRect">
              <a:avLst>
                <a:gd name="adj" fmla="val 23392"/>
              </a:avLst>
            </a:prstGeom>
            <a:solidFill>
              <a:srgbClr val="FDECEA"/>
            </a:solidFill>
            <a:ln>
              <a:noFill/>
            </a:ln>
          </p:spPr>
        </p:sp>
        <p:grpSp>
          <p:nvGrpSpPr>
            <p:cNvPr id="32" name="Group 32"/>
            <p:cNvGrpSpPr/>
            <p:nvPr/>
          </p:nvGrpSpPr>
          <p:grpSpPr>
            <a:xfrm>
              <a:off x="726129" y="4506396"/>
              <a:ext cx="224134" cy="192560"/>
              <a:chOff x="726129" y="4506396"/>
              <a:chExt cx="224134" cy="192560"/>
            </a:xfrm>
          </p:grpSpPr>
          <p:sp>
            <p:nvSpPr>
              <p:cNvPr id="29" name="Freeform 29"/>
              <p:cNvSpPr/>
              <p:nvPr/>
            </p:nvSpPr>
            <p:spPr>
              <a:xfrm>
                <a:off x="838200" y="4576763"/>
                <a:ext cx="952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44450">
                    <a:moveTo>
                      <a:pt x="0" y="0"/>
                    </a:moveTo>
                    <a:lnTo>
                      <a:pt x="0" y="44450"/>
                    </a:ln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  <p:sp>
            <p:nvSpPr>
              <p:cNvPr id="30" name="Freeform 30"/>
              <p:cNvSpPr/>
              <p:nvPr/>
            </p:nvSpPr>
            <p:spPr>
              <a:xfrm>
                <a:off x="726129" y="4506396"/>
                <a:ext cx="224134" cy="192560"/>
              </a:xfrm>
              <a:custGeom>
                <a:avLst/>
                <a:gdLst/>
                <a:ahLst/>
                <a:cxnLst/>
                <a:rect l="l" t="t" r="r" b="b"/>
                <a:pathLst>
                  <a:path w="224134" h="192560">
                    <a:moveTo>
                      <a:pt x="93880" y="10259"/>
                    </a:moveTo>
                    <a:lnTo>
                      <a:pt x="3802" y="160656"/>
                    </a:lnTo>
                    <a:cubicBezTo>
                      <a:pt x="23" y="167200"/>
                      <a:pt x="0" y="175257"/>
                      <a:pt x="3741" y="181823"/>
                    </a:cubicBezTo>
                    <a:cubicBezTo>
                      <a:pt x="7482" y="188388"/>
                      <a:pt x="14426" y="192476"/>
                      <a:pt x="21982" y="192560"/>
                    </a:cubicBezTo>
                    <a:lnTo>
                      <a:pt x="202160" y="192560"/>
                    </a:lnTo>
                    <a:cubicBezTo>
                      <a:pt x="209713" y="192473"/>
                      <a:pt x="216653" y="188387"/>
                      <a:pt x="220393" y="181826"/>
                    </a:cubicBezTo>
                    <a:cubicBezTo>
                      <a:pt x="224134" y="175264"/>
                      <a:pt x="224114" y="167211"/>
                      <a:pt x="220341" y="160667"/>
                    </a:cubicBezTo>
                    <a:lnTo>
                      <a:pt x="130262" y="10248"/>
                    </a:lnTo>
                    <a:cubicBezTo>
                      <a:pt x="126408" y="3886"/>
                      <a:pt x="119510" y="0"/>
                      <a:pt x="112071" y="0"/>
                    </a:cubicBezTo>
                    <a:cubicBezTo>
                      <a:pt x="104633" y="0"/>
                      <a:pt x="97734" y="3886"/>
                      <a:pt x="93880" y="10248"/>
                    </a:cubicBez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  <p:sp>
            <p:nvSpPr>
              <p:cNvPr id="31" name="Freeform 31"/>
              <p:cNvSpPr/>
              <p:nvPr/>
            </p:nvSpPr>
            <p:spPr>
              <a:xfrm>
                <a:off x="838200" y="4654551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</p:grpSp>
        <p:sp>
          <p:nvSpPr>
            <p:cNvPr id="33" name="TextBox 33"/>
            <p:cNvSpPr txBox="1"/>
            <p:nvPr/>
          </p:nvSpPr>
          <p:spPr>
            <a:xfrm>
              <a:off x="1040892" y="4515802"/>
              <a:ext cx="673798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递推式本身不含终止条件，两条边界必须单独写出来，否则递归会一直往负下标走。</a:t>
              </a:r>
            </a:p>
          </p:txBody>
        </p:sp>
      </p:grpSp>
      <p:grpSp>
        <p:nvGrpSpPr>
          <p:cNvPr id="42" name="c1-card-4"/>
          <p:cNvGrpSpPr/>
          <p:nvPr/>
        </p:nvGrpSpPr>
        <p:grpSpPr>
          <a:xfrm>
            <a:off x="533400" y="5030152"/>
            <a:ext cx="11125200" cy="1332548"/>
            <a:chOff x="533400" y="5030152"/>
            <a:chExt cx="11125200" cy="1332548"/>
          </a:xfrm>
        </p:grpSpPr>
        <p:sp>
          <p:nvSpPr>
            <p:cNvPr id="35" name="Rectangle 35"/>
            <p:cNvSpPr/>
            <p:nvPr/>
          </p:nvSpPr>
          <p:spPr>
            <a:xfrm>
              <a:off x="533400" y="5030152"/>
              <a:ext cx="11125200" cy="1332548"/>
            </a:xfrm>
            <a:prstGeom prst="roundRect">
              <a:avLst>
                <a:gd name="adj" fmla="val 10007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36" name="Rectangle 36"/>
            <p:cNvSpPr/>
            <p:nvPr/>
          </p:nvSpPr>
          <p:spPr>
            <a:xfrm>
              <a:off x="542925" y="5163502"/>
              <a:ext cx="47625" cy="1065848"/>
            </a:xfrm>
            <a:prstGeom prst="roundRect">
              <a:avLst>
                <a:gd name="adj" fmla="val 50000"/>
              </a:avLst>
            </a:prstGeom>
            <a:solidFill>
              <a:srgbClr val="14A38B"/>
            </a:solidFill>
            <a:ln>
              <a:noFill/>
            </a:ln>
          </p:spPr>
        </p:sp>
        <p:sp>
          <p:nvSpPr>
            <p:cNvPr id="37" name="Rectangle 37"/>
            <p:cNvSpPr/>
            <p:nvPr/>
          </p:nvSpPr>
          <p:spPr>
            <a:xfrm>
              <a:off x="763905" y="5222558"/>
              <a:ext cx="342900" cy="247650"/>
            </a:xfrm>
            <a:prstGeom prst="roundRect">
              <a:avLst>
                <a:gd name="adj" fmla="val 50000"/>
              </a:avLst>
            </a:prstGeom>
            <a:solidFill>
              <a:srgbClr val="E3F5F1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859346" y="5256848"/>
              <a:ext cx="152019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例</a:t>
              </a: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1214247" y="5261610"/>
              <a:ext cx="11041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套一次递推式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757047" y="5595938"/>
              <a:ext cx="436976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Dist(AB, B)：末位 B = B，等于 Dist(A, 空串) = 1。</a:t>
              </a:r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757047" y="5898833"/>
              <a:ext cx="1001482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Dist(AB, BC)：末位 B ≠ C，等于 1 + min{Dist(A, B) = 1, Dist(AB, B) = 1, Dist(A, BC) = 2} = 2，对应“删 A、补 C”。</a:t>
              </a:r>
            </a:p>
          </p:txBody>
        </p:sp>
      </p:grpSp>
      <p:grpSp>
        <p:nvGrpSpPr>
          <p:cNvPr id="45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43" name="TextBox 43"/>
            <p:cNvSpPr txBox="1"/>
            <p:nvPr/>
          </p:nvSpPr>
          <p:spPr>
            <a:xfrm>
              <a:off x="528447" y="6581299"/>
              <a:ext cx="2120748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数据结构 · 专题1 字符串的模糊匹配</a:t>
              </a:r>
            </a:p>
          </p:txBody>
        </p:sp>
        <p:sp>
          <p:nvSpPr>
            <p:cNvPr id="44" name="TextBox 44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11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7699105" cy="909257"/>
            <a:chOff x="520446" y="342900"/>
            <a:chExt cx="7699105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556510" cy="266700"/>
            </a:xfrm>
            <a:prstGeom prst="roundRect">
              <a:avLst>
                <a:gd name="adj" fmla="val 50000"/>
              </a:avLst>
            </a:prstGeom>
            <a:solidFill>
              <a:srgbClr val="E6EFF9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92206" y="407194"/>
              <a:ext cx="243889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5FA8"/>
                  </a:solidFill>
                  <a:latin typeface="+mn-lt"/>
                  <a:ea typeface="+mn-ea"/>
                  <a:cs typeface="+mn-cs"/>
                </a:rPr>
                <a:t>专题1 模糊匹配 · 字符串的编辑距离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7699105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换成二维数组：Dist[i][j] 记住每一对前缀的答案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1F5FA8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17" name="c1-card-1"/>
          <p:cNvGrpSpPr/>
          <p:nvPr/>
        </p:nvGrpSpPr>
        <p:grpSpPr>
          <a:xfrm>
            <a:off x="533400" y="1524000"/>
            <a:ext cx="5842635" cy="1487805"/>
            <a:chOff x="533400" y="1524000"/>
            <a:chExt cx="5842635" cy="1487805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5842635" cy="1487805"/>
            </a:xfrm>
            <a:prstGeom prst="roundRect">
              <a:avLst>
                <a:gd name="adj" fmla="val 8963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8" name="Rectangle 8"/>
            <p:cNvSpPr/>
            <p:nvPr/>
          </p:nvSpPr>
          <p:spPr>
            <a:xfrm>
              <a:off x="542925" y="1657350"/>
              <a:ext cx="47625" cy="1221105"/>
            </a:xfrm>
            <a:prstGeom prst="roundRect">
              <a:avLst>
                <a:gd name="adj" fmla="val 50000"/>
              </a:avLst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9" name="Rectangle 9"/>
            <p:cNvSpPr/>
            <p:nvPr/>
          </p:nvSpPr>
          <p:spPr>
            <a:xfrm>
              <a:off x="752475" y="1704975"/>
              <a:ext cx="458152" cy="238125"/>
            </a:xfrm>
            <a:prstGeom prst="roundRect">
              <a:avLst>
                <a:gd name="adj" fmla="val 50000"/>
              </a:avLst>
            </a:prstGeom>
            <a:solidFill>
              <a:srgbClr val="E6EFF9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845147" y="1737836"/>
              <a:ext cx="273761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1F5FA8"/>
                  </a:solidFill>
                  <a:latin typeface="+mn-lt"/>
                  <a:ea typeface="+mn-ea"/>
                  <a:cs typeface="+mn-cs"/>
                </a:rPr>
                <a:t>状态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1318450" y="1744504"/>
              <a:ext cx="1452207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Dist[i][j] 的含义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745998" y="2061686"/>
              <a:ext cx="5181062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S 的前 i 个字符 S₁…Sᵢ 与 P 的前 j 个字符 P₁…Pⱼ 之间的编辑距离。</a:t>
              </a:r>
            </a:p>
          </p:txBody>
        </p:sp>
        <p:sp>
          <p:nvSpPr>
            <p:cNvPr id="13" name="Ellipse 13"/>
            <p:cNvSpPr/>
            <p:nvPr/>
          </p:nvSpPr>
          <p:spPr>
            <a:xfrm>
              <a:off x="762000" y="2398395"/>
              <a:ext cx="57150" cy="57150"/>
            </a:xfrm>
            <a:prstGeom prst="ellipse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917448" y="2346484"/>
              <a:ext cx="3924473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i 从 0 到 n，j 从 0 到 m，一共 (n+1)(m+1) 个格子</a:t>
              </a:r>
            </a:p>
          </p:txBody>
        </p:sp>
        <p:sp>
          <p:nvSpPr>
            <p:cNvPr id="15" name="Ellipse 15"/>
            <p:cNvSpPr/>
            <p:nvPr/>
          </p:nvSpPr>
          <p:spPr>
            <a:xfrm>
              <a:off x="762000" y="2684145"/>
              <a:ext cx="57150" cy="57150"/>
            </a:xfrm>
            <a:prstGeom prst="ellipse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917448" y="2631281"/>
              <a:ext cx="2908554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整串的答案就落在右下角 Dist[n][m]</a:t>
              </a:r>
            </a:p>
          </p:txBody>
        </p:sp>
      </p:grpSp>
      <p:grpSp>
        <p:nvGrpSpPr>
          <p:cNvPr id="27" name="c1-card-2"/>
          <p:cNvGrpSpPr/>
          <p:nvPr/>
        </p:nvGrpSpPr>
        <p:grpSpPr>
          <a:xfrm>
            <a:off x="533400" y="3176588"/>
            <a:ext cx="5842635" cy="1202055"/>
            <a:chOff x="533400" y="3176588"/>
            <a:chExt cx="5842635" cy="1202055"/>
          </a:xfrm>
        </p:grpSpPr>
        <p:sp>
          <p:nvSpPr>
            <p:cNvPr id="18" name="Rectangle 18"/>
            <p:cNvSpPr/>
            <p:nvPr/>
          </p:nvSpPr>
          <p:spPr>
            <a:xfrm>
              <a:off x="533400" y="3176588"/>
              <a:ext cx="5842635" cy="1202055"/>
            </a:xfrm>
            <a:prstGeom prst="roundRect">
              <a:avLst>
                <a:gd name="adj" fmla="val 11094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542925" y="3309938"/>
              <a:ext cx="47625" cy="935355"/>
            </a:xfrm>
            <a:prstGeom prst="roundRect">
              <a:avLst>
                <a:gd name="adj" fmla="val 50000"/>
              </a:avLst>
            </a:prstGeom>
            <a:solidFill>
              <a:srgbClr val="F26B3A"/>
            </a:solidFill>
            <a:ln>
              <a:noFill/>
            </a:ln>
          </p:spPr>
        </p:sp>
        <p:sp>
          <p:nvSpPr>
            <p:cNvPr id="20" name="Rectangle 20"/>
            <p:cNvSpPr/>
            <p:nvPr/>
          </p:nvSpPr>
          <p:spPr>
            <a:xfrm>
              <a:off x="752475" y="3357562"/>
              <a:ext cx="458152" cy="238125"/>
            </a:xfrm>
            <a:prstGeom prst="roundRect">
              <a:avLst>
                <a:gd name="adj" fmla="val 50000"/>
              </a:avLst>
            </a:prstGeom>
            <a:solidFill>
              <a:srgbClr val="FDEEE7"/>
            </a:solidFill>
            <a:ln>
              <a:noFill/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845147" y="3390424"/>
              <a:ext cx="273761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递推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1318450" y="3397091"/>
              <a:ext cx="3756987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数组版递推式（简记为 D，和第 16 页代码同名）</a:t>
              </a:r>
            </a:p>
          </p:txBody>
        </p:sp>
        <p:sp>
          <p:nvSpPr>
            <p:cNvPr id="23" name="Ellipse 23"/>
            <p:cNvSpPr/>
            <p:nvPr/>
          </p:nvSpPr>
          <p:spPr>
            <a:xfrm>
              <a:off x="762000" y="3766185"/>
              <a:ext cx="57150" cy="57150"/>
            </a:xfrm>
            <a:prstGeom prst="ellipse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917448" y="3713321"/>
              <a:ext cx="2786553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Sᵢ = Pⱼ 时：D[i][j] = D[i-1][j-1]</a:t>
              </a:r>
            </a:p>
          </p:txBody>
        </p:sp>
        <p:sp>
          <p:nvSpPr>
            <p:cNvPr id="25" name="Ellipse 25"/>
            <p:cNvSpPr/>
            <p:nvPr/>
          </p:nvSpPr>
          <p:spPr>
            <a:xfrm>
              <a:off x="762000" y="4050982"/>
              <a:ext cx="57150" cy="57150"/>
            </a:xfrm>
            <a:prstGeom prst="ellipse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917448" y="3998119"/>
              <a:ext cx="540373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Sᵢ ≠ Pⱼ 时：D[i][j] = 1 + min{D[i-1][j-1], D[i][j-1], D[i-1][j]}</a:t>
              </a:r>
            </a:p>
          </p:txBody>
        </p:sp>
      </p:grpSp>
      <p:grpSp>
        <p:nvGrpSpPr>
          <p:cNvPr id="34" name="c1-card-3"/>
          <p:cNvGrpSpPr/>
          <p:nvPr/>
        </p:nvGrpSpPr>
        <p:grpSpPr>
          <a:xfrm>
            <a:off x="533400" y="4543425"/>
            <a:ext cx="5842635" cy="1687830"/>
            <a:chOff x="533400" y="4543425"/>
            <a:chExt cx="5842635" cy="1687830"/>
          </a:xfrm>
        </p:grpSpPr>
        <p:sp>
          <p:nvSpPr>
            <p:cNvPr id="28" name="Rectangle 28"/>
            <p:cNvSpPr/>
            <p:nvPr/>
          </p:nvSpPr>
          <p:spPr>
            <a:xfrm>
              <a:off x="533400" y="4543425"/>
              <a:ext cx="5842635" cy="1687830"/>
            </a:xfrm>
            <a:prstGeom prst="roundRect">
              <a:avLst>
                <a:gd name="adj" fmla="val 7901"/>
              </a:avLst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29" name="Rectangle 29"/>
            <p:cNvSpPr/>
            <p:nvPr/>
          </p:nvSpPr>
          <p:spPr>
            <a:xfrm>
              <a:off x="714375" y="4724400"/>
              <a:ext cx="1204912" cy="238125"/>
            </a:xfrm>
            <a:prstGeom prst="roundRect">
              <a:avLst>
                <a:gd name="adj" fmla="val 50000"/>
              </a:avLst>
            </a:prstGeom>
            <a:solidFill>
              <a:srgbClr val="174A85"/>
            </a:solidFill>
            <a:ln>
              <a:noFill/>
            </a:ln>
          </p:spPr>
        </p:sp>
        <p:sp>
          <p:nvSpPr>
            <p:cNvPr id="30" name="TextBox 30"/>
            <p:cNvSpPr txBox="1"/>
            <p:nvPr/>
          </p:nvSpPr>
          <p:spPr>
            <a:xfrm>
              <a:off x="784644" y="4757261"/>
              <a:ext cx="1065327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为什么值得存下来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2027110" y="4763929"/>
              <a:ext cx="2425344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递归会把同一个子问题算很多遍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707898" y="5081111"/>
              <a:ext cx="5133594" cy="49225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12"/>
                </a:lnSpc>
              </a:pPr>
              <a:r>
                <a:rPr lang="zh-CN" sz="128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照递推式直接写递归，Dist(n, m) 会一路岔成三支，同一对下标被重复</a:t>
              </a:r>
              <a:br/>
              <a:r>
                <a:rPr lang="zh-CN" sz="128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求解，规模指数级增长。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707898" y="5608796"/>
              <a:ext cx="4914138" cy="49225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12"/>
                </a:lnSpc>
              </a:pPr>
              <a:r>
                <a:rPr lang="zh-CN" sz="128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把每对 (i, j) 的答案存进数组只算一次，总工作量降到 (n+1)(m+1)</a:t>
              </a:r>
              <a:br/>
              <a:r>
                <a:rPr lang="zh-CN" sz="128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格，这一步就是动态规划。</a:t>
              </a:r>
            </a:p>
          </p:txBody>
        </p:sp>
      </p:grpSp>
      <p:grpSp>
        <p:nvGrpSpPr>
          <p:cNvPr id="56" name="c2-graph-1"/>
          <p:cNvGrpSpPr/>
          <p:nvPr/>
        </p:nvGrpSpPr>
        <p:grpSpPr>
          <a:xfrm>
            <a:off x="7490460" y="1986915"/>
            <a:ext cx="3408045" cy="2449544"/>
            <a:chOff x="7490460" y="1986915"/>
            <a:chExt cx="3408045" cy="2449544"/>
          </a:xfrm>
        </p:grpSpPr>
        <p:sp>
          <p:nvSpPr>
            <p:cNvPr id="35" name="Freeform 35"/>
            <p:cNvSpPr/>
            <p:nvPr/>
          </p:nvSpPr>
          <p:spPr>
            <a:xfrm>
              <a:off x="8300085" y="2343150"/>
              <a:ext cx="1709738" cy="1107758"/>
            </a:xfrm>
            <a:custGeom>
              <a:avLst/>
              <a:gdLst/>
              <a:ahLst/>
              <a:cxnLst/>
              <a:rect l="l" t="t" r="r" b="b"/>
              <a:pathLst>
                <a:path w="1709738" h="1107758">
                  <a:moveTo>
                    <a:pt x="0" y="0"/>
                  </a:moveTo>
                  <a:lnTo>
                    <a:pt x="1709738" y="1107758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36" name="Freeform 36"/>
            <p:cNvSpPr/>
            <p:nvPr/>
          </p:nvSpPr>
          <p:spPr>
            <a:xfrm>
              <a:off x="9984105" y="3410902"/>
              <a:ext cx="105727" cy="91440"/>
            </a:xfrm>
            <a:custGeom>
              <a:avLst/>
              <a:gdLst/>
              <a:ahLst/>
              <a:cxnLst/>
              <a:rect l="l" t="t" r="r" b="b"/>
              <a:pathLst>
                <a:path w="105727" h="91440">
                  <a:moveTo>
                    <a:pt x="105727" y="91440"/>
                  </a:moveTo>
                  <a:lnTo>
                    <a:pt x="0" y="80010"/>
                  </a:lnTo>
                  <a:lnTo>
                    <a:pt x="51435" y="0"/>
                  </a:lnTo>
                  <a:close/>
                </a:path>
              </a:pathLst>
            </a:custGeom>
            <a:solidFill>
              <a:srgbClr val="1F2937"/>
            </a:solidFill>
            <a:ln>
              <a:noFill/>
            </a:ln>
          </p:spPr>
        </p:sp>
        <p:sp>
          <p:nvSpPr>
            <p:cNvPr id="37" name="Freeform 37"/>
            <p:cNvSpPr/>
            <p:nvPr/>
          </p:nvSpPr>
          <p:spPr>
            <a:xfrm>
              <a:off x="10364152" y="2343150"/>
              <a:ext cx="9525" cy="1063942"/>
            </a:xfrm>
            <a:custGeom>
              <a:avLst/>
              <a:gdLst/>
              <a:ahLst/>
              <a:cxnLst/>
              <a:rect l="l" t="t" r="r" b="b"/>
              <a:pathLst>
                <a:path w="9525" h="1063942">
                  <a:moveTo>
                    <a:pt x="0" y="0"/>
                  </a:moveTo>
                  <a:lnTo>
                    <a:pt x="0" y="1063942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38" name="Freeform 38"/>
            <p:cNvSpPr/>
            <p:nvPr/>
          </p:nvSpPr>
          <p:spPr>
            <a:xfrm>
              <a:off x="10316528" y="3407092"/>
              <a:ext cx="95250" cy="95250"/>
            </a:xfrm>
            <a:custGeom>
              <a:avLst/>
              <a:gdLst/>
              <a:ahLst/>
              <a:cxnLst/>
              <a:rect l="l" t="t" r="r" b="b"/>
              <a:pathLst>
                <a:path w="95250" h="95250">
                  <a:moveTo>
                    <a:pt x="47625" y="95250"/>
                  </a:moveTo>
                  <a:lnTo>
                    <a:pt x="0" y="0"/>
                  </a:lnTo>
                  <a:lnTo>
                    <a:pt x="95250" y="0"/>
                  </a:lnTo>
                  <a:close/>
                </a:path>
              </a:pathLst>
            </a:custGeom>
            <a:solidFill>
              <a:srgbClr val="1F2937"/>
            </a:solidFill>
            <a:ln>
              <a:noFill/>
            </a:ln>
          </p:spPr>
        </p:sp>
        <p:sp>
          <p:nvSpPr>
            <p:cNvPr id="39" name="Freeform 39"/>
            <p:cNvSpPr/>
            <p:nvPr/>
          </p:nvSpPr>
          <p:spPr>
            <a:xfrm>
              <a:off x="8559165" y="3680460"/>
              <a:ext cx="1175385" cy="9525"/>
            </a:xfrm>
            <a:custGeom>
              <a:avLst/>
              <a:gdLst/>
              <a:ahLst/>
              <a:cxnLst/>
              <a:rect l="l" t="t" r="r" b="b"/>
              <a:pathLst>
                <a:path w="1175385" h="9525">
                  <a:moveTo>
                    <a:pt x="0" y="0"/>
                  </a:moveTo>
                  <a:lnTo>
                    <a:pt x="1175385" y="0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40" name="Freeform 40"/>
            <p:cNvSpPr/>
            <p:nvPr/>
          </p:nvSpPr>
          <p:spPr>
            <a:xfrm>
              <a:off x="9734550" y="3632835"/>
              <a:ext cx="95250" cy="95250"/>
            </a:xfrm>
            <a:custGeom>
              <a:avLst/>
              <a:gdLst/>
              <a:ahLst/>
              <a:cxnLst/>
              <a:rect l="l" t="t" r="r" b="b"/>
              <a:pathLst>
                <a:path w="95250" h="95250">
                  <a:moveTo>
                    <a:pt x="95250" y="47625"/>
                  </a:moveTo>
                  <a:lnTo>
                    <a:pt x="0" y="9525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F2937"/>
            </a:solidFill>
            <a:ln>
              <a:noFill/>
            </a:ln>
          </p:spPr>
        </p:sp>
        <p:sp>
          <p:nvSpPr>
            <p:cNvPr id="41" name="Rectangle 41"/>
            <p:cNvSpPr/>
            <p:nvPr/>
          </p:nvSpPr>
          <p:spPr>
            <a:xfrm>
              <a:off x="7490460" y="1986915"/>
              <a:ext cx="1068705" cy="356235"/>
            </a:xfrm>
            <a:prstGeom prst="roundRect">
              <a:avLst>
                <a:gd name="adj" fmla="val 26738"/>
              </a:avLst>
            </a:prstGeom>
            <a:solidFill>
              <a:srgbClr val="FFFFFF"/>
            </a:solidFill>
            <a:ln w="17145">
              <a:solidFill>
                <a:srgbClr val="1F5FA8"/>
              </a:solidFill>
            </a:ln>
          </p:spPr>
        </p:sp>
        <p:sp>
          <p:nvSpPr>
            <p:cNvPr id="42" name="Rectangle 42"/>
            <p:cNvSpPr/>
            <p:nvPr/>
          </p:nvSpPr>
          <p:spPr>
            <a:xfrm>
              <a:off x="9829800" y="1986915"/>
              <a:ext cx="1068705" cy="356235"/>
            </a:xfrm>
            <a:prstGeom prst="roundRect">
              <a:avLst>
                <a:gd name="adj" fmla="val 26738"/>
              </a:avLst>
            </a:prstGeom>
            <a:solidFill>
              <a:srgbClr val="FFFFFF"/>
            </a:solidFill>
            <a:ln w="17145">
              <a:solidFill>
                <a:srgbClr val="1F5FA8"/>
              </a:solidFill>
            </a:ln>
          </p:spPr>
        </p:sp>
        <p:sp>
          <p:nvSpPr>
            <p:cNvPr id="43" name="Rectangle 43"/>
            <p:cNvSpPr/>
            <p:nvPr/>
          </p:nvSpPr>
          <p:spPr>
            <a:xfrm>
              <a:off x="7490460" y="3502342"/>
              <a:ext cx="1068705" cy="356235"/>
            </a:xfrm>
            <a:prstGeom prst="roundRect">
              <a:avLst>
                <a:gd name="adj" fmla="val 26738"/>
              </a:avLst>
            </a:prstGeom>
            <a:solidFill>
              <a:srgbClr val="FFFFFF"/>
            </a:solidFill>
            <a:ln w="17145">
              <a:solidFill>
                <a:srgbClr val="1F5FA8"/>
              </a:solidFill>
            </a:ln>
          </p:spPr>
        </p:sp>
        <p:sp>
          <p:nvSpPr>
            <p:cNvPr id="44" name="Rectangle 44"/>
            <p:cNvSpPr/>
            <p:nvPr/>
          </p:nvSpPr>
          <p:spPr>
            <a:xfrm>
              <a:off x="9829800" y="3502342"/>
              <a:ext cx="1068705" cy="356235"/>
            </a:xfrm>
            <a:prstGeom prst="roundRect">
              <a:avLst>
                <a:gd name="adj" fmla="val 26738"/>
              </a:avLst>
            </a:prstGeom>
            <a:solidFill>
              <a:srgbClr val="FDEEE7"/>
            </a:solidFill>
            <a:ln w="17145">
              <a:solidFill>
                <a:srgbClr val="F26B3A"/>
              </a:solidFill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7533947" y="2104549"/>
              <a:ext cx="981730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9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Dist[i-1][j-1]</a:t>
              </a:r>
            </a:p>
          </p:txBody>
        </p:sp>
        <p:sp>
          <p:nvSpPr>
            <p:cNvPr id="46" name="TextBox 46"/>
            <p:cNvSpPr txBox="1"/>
            <p:nvPr/>
          </p:nvSpPr>
          <p:spPr>
            <a:xfrm>
              <a:off x="9950194" y="2104549"/>
              <a:ext cx="82791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9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Dist[i-1][j]</a:t>
              </a:r>
            </a:p>
          </p:txBody>
        </p:sp>
        <p:sp>
          <p:nvSpPr>
            <p:cNvPr id="47" name="TextBox 47"/>
            <p:cNvSpPr txBox="1"/>
            <p:nvPr/>
          </p:nvSpPr>
          <p:spPr>
            <a:xfrm>
              <a:off x="7610854" y="3619976"/>
              <a:ext cx="82791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9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Dist[i][j-1]</a:t>
              </a:r>
            </a:p>
          </p:txBody>
        </p:sp>
        <p:sp>
          <p:nvSpPr>
            <p:cNvPr id="48" name="TextBox 48"/>
            <p:cNvSpPr txBox="1"/>
            <p:nvPr/>
          </p:nvSpPr>
          <p:spPr>
            <a:xfrm>
              <a:off x="10027101" y="3619976"/>
              <a:ext cx="674102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9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Dist[i][j]</a:t>
              </a:r>
            </a:p>
          </p:txBody>
        </p:sp>
        <p:sp>
          <p:nvSpPr>
            <p:cNvPr id="49" name="Rectangle 49"/>
            <p:cNvSpPr/>
            <p:nvPr/>
          </p:nvSpPr>
          <p:spPr>
            <a:xfrm>
              <a:off x="9052560" y="2844165"/>
              <a:ext cx="284798" cy="146685"/>
            </a:xfrm>
            <a:prstGeom prst="roundRect">
              <a:avLst>
                <a:gd name="adj" fmla="val 25974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50" name="TextBox 50"/>
            <p:cNvSpPr txBox="1"/>
            <p:nvPr/>
          </p:nvSpPr>
          <p:spPr>
            <a:xfrm>
              <a:off x="9079332" y="2874169"/>
              <a:ext cx="230302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替换</a:t>
              </a:r>
            </a:p>
          </p:txBody>
        </p:sp>
        <p:sp>
          <p:nvSpPr>
            <p:cNvPr id="51" name="Rectangle 51"/>
            <p:cNvSpPr/>
            <p:nvPr/>
          </p:nvSpPr>
          <p:spPr>
            <a:xfrm>
              <a:off x="10222230" y="2844165"/>
              <a:ext cx="284798" cy="146685"/>
            </a:xfrm>
            <a:prstGeom prst="roundRect">
              <a:avLst>
                <a:gd name="adj" fmla="val 25974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52" name="TextBox 52"/>
            <p:cNvSpPr txBox="1"/>
            <p:nvPr/>
          </p:nvSpPr>
          <p:spPr>
            <a:xfrm>
              <a:off x="10249002" y="2874169"/>
              <a:ext cx="230302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删除</a:t>
              </a:r>
            </a:p>
          </p:txBody>
        </p:sp>
        <p:sp>
          <p:nvSpPr>
            <p:cNvPr id="53" name="Rectangle 53"/>
            <p:cNvSpPr/>
            <p:nvPr/>
          </p:nvSpPr>
          <p:spPr>
            <a:xfrm>
              <a:off x="9052560" y="3602355"/>
              <a:ext cx="284798" cy="146685"/>
            </a:xfrm>
            <a:prstGeom prst="roundRect">
              <a:avLst>
                <a:gd name="adj" fmla="val 25974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54" name="TextBox 54"/>
            <p:cNvSpPr txBox="1"/>
            <p:nvPr/>
          </p:nvSpPr>
          <p:spPr>
            <a:xfrm>
              <a:off x="9079332" y="3631406"/>
              <a:ext cx="230302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插入</a:t>
              </a:r>
            </a:p>
          </p:txBody>
        </p:sp>
        <p:sp>
          <p:nvSpPr>
            <p:cNvPr id="55" name="TextBox 55"/>
            <p:cNvSpPr txBox="1"/>
            <p:nvPr/>
          </p:nvSpPr>
          <p:spPr>
            <a:xfrm>
              <a:off x="8043380" y="4245769"/>
              <a:ext cx="2252675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每个格子只依赖左、上、左上三个邻居</a:t>
              </a:r>
            </a:p>
          </p:txBody>
        </p:sp>
      </p:grpSp>
      <p:grpSp>
        <p:nvGrpSpPr>
          <p:cNvPr id="63" name="c2-callout-2"/>
          <p:cNvGrpSpPr/>
          <p:nvPr/>
        </p:nvGrpSpPr>
        <p:grpSpPr>
          <a:xfrm>
            <a:off x="6680835" y="4603432"/>
            <a:ext cx="4977765" cy="1627822"/>
            <a:chOff x="6680835" y="4603432"/>
            <a:chExt cx="4977765" cy="1627822"/>
          </a:xfrm>
        </p:grpSpPr>
        <p:sp>
          <p:nvSpPr>
            <p:cNvPr id="57" name="Rectangle 57"/>
            <p:cNvSpPr/>
            <p:nvPr/>
          </p:nvSpPr>
          <p:spPr>
            <a:xfrm>
              <a:off x="6680835" y="4603432"/>
              <a:ext cx="4977765" cy="1627822"/>
            </a:xfrm>
            <a:prstGeom prst="roundRect">
              <a:avLst>
                <a:gd name="adj" fmla="val 7022"/>
              </a:avLst>
            </a:prstGeom>
            <a:solidFill>
              <a:srgbClr val="FDEEE7"/>
            </a:solidFill>
            <a:ln>
              <a:noFill/>
            </a:ln>
          </p:spPr>
        </p:sp>
        <p:grpSp>
          <p:nvGrpSpPr>
            <p:cNvPr id="61" name="Group 61"/>
            <p:cNvGrpSpPr/>
            <p:nvPr/>
          </p:nvGrpSpPr>
          <p:grpSpPr>
            <a:xfrm>
              <a:off x="6885623" y="5317808"/>
              <a:ext cx="200026" cy="200025"/>
              <a:chOff x="6885623" y="5317808"/>
              <a:chExt cx="200026" cy="200025"/>
            </a:xfrm>
          </p:grpSpPr>
          <p:sp>
            <p:nvSpPr>
              <p:cNvPr id="58" name="Freeform 58"/>
              <p:cNvSpPr/>
              <p:nvPr/>
            </p:nvSpPr>
            <p:spPr>
              <a:xfrm>
                <a:off x="6885623" y="5317808"/>
                <a:ext cx="200026" cy="100013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100013">
                    <a:moveTo>
                      <a:pt x="0" y="100013"/>
                    </a:moveTo>
                    <a:lnTo>
                      <a:pt x="11113" y="100013"/>
                    </a:lnTo>
                    <a:moveTo>
                      <a:pt x="100013" y="0"/>
                    </a:moveTo>
                    <a:lnTo>
                      <a:pt x="100013" y="11113"/>
                    </a:lnTo>
                    <a:moveTo>
                      <a:pt x="188913" y="100013"/>
                    </a:moveTo>
                    <a:lnTo>
                      <a:pt x="200026" y="100013"/>
                    </a:lnTo>
                    <a:moveTo>
                      <a:pt x="28893" y="28893"/>
                    </a:moveTo>
                    <a:lnTo>
                      <a:pt x="36671" y="36671"/>
                    </a:lnTo>
                    <a:moveTo>
                      <a:pt x="171133" y="28893"/>
                    </a:moveTo>
                    <a:lnTo>
                      <a:pt x="163354" y="36671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59" name="Freeform 59"/>
              <p:cNvSpPr/>
              <p:nvPr/>
            </p:nvSpPr>
            <p:spPr>
              <a:xfrm>
                <a:off x="6925361" y="5362258"/>
                <a:ext cx="120548" cy="155575"/>
              </a:xfrm>
              <a:custGeom>
                <a:avLst/>
                <a:gdLst/>
                <a:ahLst/>
                <a:cxnLst/>
                <a:rect l="l" t="t" r="r" b="b"/>
                <a:pathLst>
                  <a:path w="120548" h="155575">
                    <a:moveTo>
                      <a:pt x="26937" y="100013"/>
                    </a:moveTo>
                    <a:cubicBezTo>
                      <a:pt x="7804" y="85663"/>
                      <a:pt x="0" y="60681"/>
                      <a:pt x="7563" y="37992"/>
                    </a:cubicBezTo>
                    <a:cubicBezTo>
                      <a:pt x="15126" y="15304"/>
                      <a:pt x="36358" y="0"/>
                      <a:pt x="60274" y="0"/>
                    </a:cubicBezTo>
                    <a:cubicBezTo>
                      <a:pt x="84190" y="0"/>
                      <a:pt x="105423" y="15304"/>
                      <a:pt x="112986" y="37992"/>
                    </a:cubicBezTo>
                    <a:cubicBezTo>
                      <a:pt x="120548" y="60681"/>
                      <a:pt x="112745" y="85663"/>
                      <a:pt x="93612" y="100013"/>
                    </a:cubicBezTo>
                    <a:cubicBezTo>
                      <a:pt x="84812" y="108723"/>
                      <a:pt x="80686" y="121103"/>
                      <a:pt x="82499" y="133350"/>
                    </a:cubicBezTo>
                    <a:cubicBezTo>
                      <a:pt x="82499" y="145625"/>
                      <a:pt x="72549" y="155575"/>
                      <a:pt x="60274" y="155575"/>
                    </a:cubicBezTo>
                    <a:cubicBezTo>
                      <a:pt x="48000" y="155575"/>
                      <a:pt x="38049" y="145625"/>
                      <a:pt x="38049" y="133350"/>
                    </a:cubicBezTo>
                    <a:cubicBezTo>
                      <a:pt x="39862" y="121103"/>
                      <a:pt x="35736" y="108723"/>
                      <a:pt x="26937" y="100013"/>
                    </a:cubicBez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60" name="Freeform 60"/>
              <p:cNvSpPr/>
              <p:nvPr/>
            </p:nvSpPr>
            <p:spPr>
              <a:xfrm>
                <a:off x="6960077" y="5473383"/>
                <a:ext cx="51118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51118" h="9525">
                    <a:moveTo>
                      <a:pt x="0" y="0"/>
                    </a:moveTo>
                    <a:lnTo>
                      <a:pt x="51118" y="0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</p:grpSp>
        <p:sp>
          <p:nvSpPr>
            <p:cNvPr id="62" name="TextBox 62"/>
            <p:cNvSpPr txBox="1"/>
            <p:nvPr/>
          </p:nvSpPr>
          <p:spPr>
            <a:xfrm>
              <a:off x="7188708" y="5210651"/>
              <a:ext cx="4093210" cy="483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845"/>
                </a:lnSpc>
              </a:pPr>
              <a:r>
                <a:rPr lang="zh-CN" sz="128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把 n、m 换成 i、j 之后，递归定义就变成了可以逐格填写</a:t>
              </a:r>
              <a:br/>
              <a:r>
                <a:rPr lang="zh-CN" sz="128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的表格。</a:t>
              </a:r>
            </a:p>
          </p:txBody>
        </p:sp>
      </p:grpSp>
      <p:grpSp>
        <p:nvGrpSpPr>
          <p:cNvPr id="66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64" name="TextBox 64"/>
            <p:cNvSpPr txBox="1"/>
            <p:nvPr/>
          </p:nvSpPr>
          <p:spPr>
            <a:xfrm>
              <a:off x="528447" y="6581299"/>
              <a:ext cx="2120748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数据结构 · 专题1 字符串的模糊匹配</a:t>
              </a:r>
            </a:p>
          </p:txBody>
        </p:sp>
        <p:sp>
          <p:nvSpPr>
            <p:cNvPr id="65" name="TextBox 65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12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8407114" cy="909257"/>
            <a:chOff x="520446" y="342900"/>
            <a:chExt cx="8407114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556510" cy="266700"/>
            </a:xfrm>
            <a:prstGeom prst="roundRect">
              <a:avLst>
                <a:gd name="adj" fmla="val 50000"/>
              </a:avLst>
            </a:prstGeom>
            <a:solidFill>
              <a:srgbClr val="E6EFF9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92206" y="407194"/>
              <a:ext cx="243889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5FA8"/>
                  </a:solidFill>
                  <a:latin typeface="+mn-lt"/>
                  <a:ea typeface="+mn-ea"/>
                  <a:cs typeface="+mn-cs"/>
                </a:rPr>
                <a:t>专题1 模糊匹配 · 字符串的编辑距离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8407114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填表顺序：先铺好第 0 行和第 0 列，再从左上填到右下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1F5FA8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9" name="c1-image-1"/>
          <p:cNvGrpSpPr/>
          <p:nvPr/>
        </p:nvGrpSpPr>
        <p:grpSpPr>
          <a:xfrm>
            <a:off x="1456690" y="1524000"/>
            <a:ext cx="3780790" cy="2562702"/>
            <a:chOff x="1456690" y="1524000"/>
            <a:chExt cx="3780790" cy="2562702"/>
          </a:xfrm>
        </p:grpSpPr>
        <p:pic>
          <p:nvPicPr>
            <p:cNvPr id="7" name="Image 7"/>
            <p:cNvPicPr>
              <a:picLocks noChangeAspect="1"/>
            </p:cNvPicPr>
            <p:nvPr/>
          </p:nvPicPr>
          <p:blipFill>
            <a:blip r:embed="rId2"/>
            <a:srcRect l="0" t="6" r="0" b="5"/>
            <a:stretch>
              <a:fillRect/>
            </a:stretch>
          </p:blipFill>
          <p:spPr>
            <a:xfrm>
              <a:off x="1847850" y="1524000"/>
              <a:ext cx="2997518" cy="2247900"/>
            </a:xfrm>
            <a:prstGeom prst="roundRect">
              <a:avLst>
                <a:gd name="adj" fmla="val 5932"/>
              </a:avLst>
            </a:prstGeom>
          </p:spPr>
        </p:pic>
        <p:sp>
          <p:nvSpPr>
            <p:cNvPr id="8" name="TextBox 8"/>
            <p:cNvSpPr txBox="1"/>
            <p:nvPr/>
          </p:nvSpPr>
          <p:spPr>
            <a:xfrm>
              <a:off x="1456690" y="3866674"/>
              <a:ext cx="378079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首行首列先填满，中间每一格只看它的左、上、左上三颗</a:t>
              </a:r>
            </a:p>
          </p:txBody>
        </p:sp>
      </p:grpSp>
      <p:grpSp>
        <p:nvGrpSpPr>
          <p:cNvPr id="15" name="c1-callout-2"/>
          <p:cNvGrpSpPr/>
          <p:nvPr/>
        </p:nvGrpSpPr>
        <p:grpSpPr>
          <a:xfrm>
            <a:off x="533400" y="4251960"/>
            <a:ext cx="5626418" cy="1660208"/>
            <a:chOff x="533400" y="4251960"/>
            <a:chExt cx="5626418" cy="1660208"/>
          </a:xfrm>
        </p:grpSpPr>
        <p:sp>
          <p:nvSpPr>
            <p:cNvPr id="10" name="Rectangle 10"/>
            <p:cNvSpPr/>
            <p:nvPr/>
          </p:nvSpPr>
          <p:spPr>
            <a:xfrm>
              <a:off x="533400" y="4251960"/>
              <a:ext cx="5626418" cy="1660208"/>
            </a:xfrm>
            <a:prstGeom prst="roundRect">
              <a:avLst>
                <a:gd name="adj" fmla="val 6885"/>
              </a:avLst>
            </a:prstGeom>
            <a:solidFill>
              <a:srgbClr val="1F5FA8"/>
            </a:solidFill>
            <a:ln>
              <a:noFill/>
            </a:ln>
          </p:spPr>
        </p:sp>
        <p:grpSp>
          <p:nvGrpSpPr>
            <p:cNvPr id="13" name="Group 13"/>
            <p:cNvGrpSpPr/>
            <p:nvPr/>
          </p:nvGrpSpPr>
          <p:grpSpPr>
            <a:xfrm>
              <a:off x="738188" y="4981577"/>
              <a:ext cx="200023" cy="200023"/>
              <a:chOff x="738188" y="4981577"/>
              <a:chExt cx="200023" cy="200023"/>
            </a:xfrm>
          </p:grpSpPr>
          <p:sp>
            <p:nvSpPr>
              <p:cNvPr id="11" name="Freeform 11"/>
              <p:cNvSpPr/>
              <p:nvPr/>
            </p:nvSpPr>
            <p:spPr>
              <a:xfrm>
                <a:off x="738188" y="4981577"/>
                <a:ext cx="200023" cy="200023"/>
              </a:xfrm>
              <a:custGeom>
                <a:avLst/>
                <a:gdLst/>
                <a:ahLst/>
                <a:cxnLst/>
                <a:rect l="l" t="t" r="r" b="b"/>
                <a:pathLst>
                  <a:path w="200023" h="200023">
                    <a:moveTo>
                      <a:pt x="150630" y="9366"/>
                    </a:moveTo>
                    <a:lnTo>
                      <a:pt x="190658" y="49393"/>
                    </a:lnTo>
                    <a:cubicBezTo>
                      <a:pt x="196654" y="55389"/>
                      <a:pt x="200023" y="63522"/>
                      <a:pt x="200023" y="72002"/>
                    </a:cubicBezTo>
                    <a:cubicBezTo>
                      <a:pt x="200023" y="80482"/>
                      <a:pt x="196654" y="88614"/>
                      <a:pt x="190658" y="94610"/>
                    </a:cubicBezTo>
                    <a:lnTo>
                      <a:pt x="161287" y="123980"/>
                    </a:lnTo>
                    <a:cubicBezTo>
                      <a:pt x="155291" y="129977"/>
                      <a:pt x="147159" y="133346"/>
                      <a:pt x="138679" y="133346"/>
                    </a:cubicBezTo>
                    <a:cubicBezTo>
                      <a:pt x="130199" y="133346"/>
                      <a:pt x="122066" y="129977"/>
                      <a:pt x="116070" y="123980"/>
                    </a:cubicBezTo>
                    <a:lnTo>
                      <a:pt x="112726" y="120636"/>
                    </a:lnTo>
                    <a:lnTo>
                      <a:pt x="39850" y="193511"/>
                    </a:lnTo>
                    <a:cubicBezTo>
                      <a:pt x="36157" y="197203"/>
                      <a:pt x="31283" y="199477"/>
                      <a:pt x="26081" y="199935"/>
                    </a:cubicBezTo>
                    <a:lnTo>
                      <a:pt x="24136" y="200023"/>
                    </a:lnTo>
                    <a:lnTo>
                      <a:pt x="11113" y="200023"/>
                    </a:lnTo>
                    <a:cubicBezTo>
                      <a:pt x="5479" y="200023"/>
                      <a:pt x="737" y="195806"/>
                      <a:pt x="78" y="190211"/>
                    </a:cubicBezTo>
                    <a:lnTo>
                      <a:pt x="0" y="188911"/>
                    </a:lnTo>
                    <a:lnTo>
                      <a:pt x="0" y="175887"/>
                    </a:lnTo>
                    <a:cubicBezTo>
                      <a:pt x="1" y="170669"/>
                      <a:pt x="1838" y="165618"/>
                      <a:pt x="5190" y="161619"/>
                    </a:cubicBezTo>
                    <a:lnTo>
                      <a:pt x="6512" y="160174"/>
                    </a:lnTo>
                    <a:lnTo>
                      <a:pt x="11113" y="155573"/>
                    </a:lnTo>
                    <a:lnTo>
                      <a:pt x="33338" y="155573"/>
                    </a:lnTo>
                    <a:lnTo>
                      <a:pt x="33338" y="133348"/>
                    </a:lnTo>
                    <a:lnTo>
                      <a:pt x="55563" y="133348"/>
                    </a:lnTo>
                    <a:lnTo>
                      <a:pt x="55563" y="111123"/>
                    </a:lnTo>
                    <a:lnTo>
                      <a:pt x="79388" y="87298"/>
                    </a:lnTo>
                    <a:lnTo>
                      <a:pt x="76043" y="83953"/>
                    </a:lnTo>
                    <a:cubicBezTo>
                      <a:pt x="70046" y="77957"/>
                      <a:pt x="66677" y="69825"/>
                      <a:pt x="66677" y="61345"/>
                    </a:cubicBezTo>
                    <a:cubicBezTo>
                      <a:pt x="66677" y="52865"/>
                      <a:pt x="70046" y="44732"/>
                      <a:pt x="76043" y="38736"/>
                    </a:cubicBezTo>
                    <a:lnTo>
                      <a:pt x="105413" y="9366"/>
                    </a:lnTo>
                    <a:cubicBezTo>
                      <a:pt x="111409" y="3369"/>
                      <a:pt x="119542" y="0"/>
                      <a:pt x="128022" y="0"/>
                    </a:cubicBezTo>
                    <a:cubicBezTo>
                      <a:pt x="136502" y="0"/>
                      <a:pt x="144635" y="3369"/>
                      <a:pt x="150630" y="9366"/>
                    </a:cubicBez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  <p:sp>
            <p:nvSpPr>
              <p:cNvPr id="12" name="Freeform 12"/>
              <p:cNvSpPr/>
              <p:nvPr/>
            </p:nvSpPr>
            <p:spPr>
              <a:xfrm>
                <a:off x="871538" y="5048250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</p:grpSp>
        <p:sp>
          <p:nvSpPr>
            <p:cNvPr id="14" name="TextBox 14"/>
            <p:cNvSpPr txBox="1"/>
            <p:nvPr/>
          </p:nvSpPr>
          <p:spPr>
            <a:xfrm>
              <a:off x="1040130" y="4838700"/>
              <a:ext cx="4463415" cy="56959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75"/>
                </a:lnSpc>
              </a:pPr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只要保证填 Dist[i][j] 时三个邻居都已经有值，行优</a:t>
              </a:r>
              <a:br/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先、列优先都对。</a:t>
              </a:r>
            </a:p>
          </p:txBody>
        </p:sp>
      </p:grpSp>
      <p:grpSp>
        <p:nvGrpSpPr>
          <p:cNvPr id="33" name="c2-steps-1"/>
          <p:cNvGrpSpPr/>
          <p:nvPr/>
        </p:nvGrpSpPr>
        <p:grpSpPr>
          <a:xfrm>
            <a:off x="6464618" y="1533525"/>
            <a:ext cx="4324335" cy="2529173"/>
            <a:chOff x="6464618" y="1533525"/>
            <a:chExt cx="4324335" cy="2529173"/>
          </a:xfrm>
        </p:grpSpPr>
        <p:sp>
          <p:nvSpPr>
            <p:cNvPr id="16" name="Rectangle 16"/>
            <p:cNvSpPr/>
            <p:nvPr/>
          </p:nvSpPr>
          <p:spPr>
            <a:xfrm>
              <a:off x="6597968" y="1676400"/>
              <a:ext cx="19050" cy="19526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7" name="Ellipse 17"/>
            <p:cNvSpPr/>
            <p:nvPr/>
          </p:nvSpPr>
          <p:spPr>
            <a:xfrm>
              <a:off x="6464618" y="1533525"/>
              <a:ext cx="285750" cy="285750"/>
            </a:xfrm>
            <a:prstGeom prst="ellipse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6558241" y="1607344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19" name="Ellipse 19"/>
            <p:cNvSpPr/>
            <p:nvPr/>
          </p:nvSpPr>
          <p:spPr>
            <a:xfrm>
              <a:off x="6464618" y="2184082"/>
              <a:ext cx="285750" cy="285750"/>
            </a:xfrm>
            <a:prstGeom prst="ellipse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6558241" y="2257901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21" name="Ellipse 21"/>
            <p:cNvSpPr/>
            <p:nvPr/>
          </p:nvSpPr>
          <p:spPr>
            <a:xfrm>
              <a:off x="6464618" y="2834640"/>
              <a:ext cx="285750" cy="285750"/>
            </a:xfrm>
            <a:prstGeom prst="ellipse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6558241" y="2908459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23" name="Ellipse 23"/>
            <p:cNvSpPr/>
            <p:nvPr/>
          </p:nvSpPr>
          <p:spPr>
            <a:xfrm>
              <a:off x="6464618" y="3486150"/>
              <a:ext cx="285750" cy="285750"/>
            </a:xfrm>
            <a:prstGeom prst="ellipse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6558241" y="3559969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6876098" y="1567815"/>
              <a:ext cx="126872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初始化第 0 列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6877241" y="1861661"/>
              <a:ext cx="373939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Dist[i][0] = i，含义是把 S 的前 i 个字符全删掉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6876098" y="2218372"/>
              <a:ext cx="126872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初始化第 0 行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6877241" y="2512219"/>
              <a:ext cx="3911712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Dist[0][j] = j，含义是从空串插入 P 的前 j 个字符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6876098" y="2868930"/>
              <a:ext cx="82296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逐行推进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6877241" y="3162776"/>
              <a:ext cx="2373650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i 从 1 到 n，每行内 j 从 1 到 m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6876098" y="3520440"/>
              <a:ext cx="62103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读答案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6877241" y="3813334"/>
              <a:ext cx="3133049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右下角 Dist[n][m] 就是整串的编辑距离</a:t>
              </a:r>
            </a:p>
          </p:txBody>
        </p:sp>
      </p:grpSp>
      <p:grpSp>
        <p:nvGrpSpPr>
          <p:cNvPr id="41" name="c2-card-2"/>
          <p:cNvGrpSpPr/>
          <p:nvPr/>
        </p:nvGrpSpPr>
        <p:grpSpPr>
          <a:xfrm>
            <a:off x="6464618" y="4241482"/>
            <a:ext cx="5193982" cy="1670685"/>
            <a:chOff x="6464618" y="4241482"/>
            <a:chExt cx="5193982" cy="1670685"/>
          </a:xfrm>
        </p:grpSpPr>
        <p:sp>
          <p:nvSpPr>
            <p:cNvPr id="34" name="Rectangle 34"/>
            <p:cNvSpPr/>
            <p:nvPr/>
          </p:nvSpPr>
          <p:spPr>
            <a:xfrm>
              <a:off x="6464618" y="4241482"/>
              <a:ext cx="5193982" cy="1670685"/>
            </a:xfrm>
            <a:prstGeom prst="roundRect">
              <a:avLst>
                <a:gd name="adj" fmla="val 7982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35" name="Rectangle 35"/>
            <p:cNvSpPr/>
            <p:nvPr/>
          </p:nvSpPr>
          <p:spPr>
            <a:xfrm>
              <a:off x="6474142" y="4374832"/>
              <a:ext cx="47625" cy="1403985"/>
            </a:xfrm>
            <a:prstGeom prst="roundRect">
              <a:avLst>
                <a:gd name="adj" fmla="val 50000"/>
              </a:avLst>
            </a:prstGeom>
            <a:solidFill>
              <a:srgbClr val="B42318"/>
            </a:solidFill>
            <a:ln>
              <a:noFill/>
            </a:ln>
          </p:spPr>
        </p:sp>
        <p:sp>
          <p:nvSpPr>
            <p:cNvPr id="36" name="Rectangle 36"/>
            <p:cNvSpPr/>
            <p:nvPr/>
          </p:nvSpPr>
          <p:spPr>
            <a:xfrm>
              <a:off x="6712268" y="4451032"/>
              <a:ext cx="494348" cy="257175"/>
            </a:xfrm>
            <a:prstGeom prst="roundRect">
              <a:avLst>
                <a:gd name="adj" fmla="val 50000"/>
              </a:avLst>
            </a:prstGeom>
            <a:solidFill>
              <a:srgbClr val="FDECEA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6803428" y="4486751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易错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7313295" y="4486275"/>
              <a:ext cx="82296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下标差一</a:t>
              </a: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6704648" y="4847272"/>
              <a:ext cx="4406265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表的下标 i、j 从 1 数起，而 C 数组 s、p 的下标从 0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数起，所以比较的是 s[i-1] 与 p[j-1]。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6704648" y="5468302"/>
              <a:ext cx="3387471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表要开成 (n+1)×(m+1)，不是 n×m。</a:t>
              </a:r>
            </a:p>
          </p:txBody>
        </p:sp>
      </p:grpSp>
      <p:grpSp>
        <p:nvGrpSpPr>
          <p:cNvPr id="44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42" name="TextBox 42"/>
            <p:cNvSpPr txBox="1"/>
            <p:nvPr/>
          </p:nvSpPr>
          <p:spPr>
            <a:xfrm>
              <a:off x="528447" y="6581299"/>
              <a:ext cx="2120748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数据结构 · 专题1 字符串的模糊匹配</a:t>
              </a:r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13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6431029" cy="909257"/>
            <a:chOff x="520446" y="342900"/>
            <a:chExt cx="6431029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556510" cy="266700"/>
            </a:xfrm>
            <a:prstGeom prst="roundRect">
              <a:avLst>
                <a:gd name="adj" fmla="val 50000"/>
              </a:avLst>
            </a:prstGeom>
            <a:solidFill>
              <a:srgbClr val="E6EFF9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92206" y="407194"/>
              <a:ext cx="243889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5FA8"/>
                  </a:solidFill>
                  <a:latin typeface="+mn-lt"/>
                  <a:ea typeface="+mn-ea"/>
                  <a:cs typeface="+mn-cs"/>
                </a:rPr>
                <a:t>专题1 模糊匹配 · 字符串的编辑距离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6431029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例题：S = ABC，P = BCD 的编辑距离是 2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1F5FA8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48" name="c1-table-1"/>
          <p:cNvGrpSpPr/>
          <p:nvPr/>
        </p:nvGrpSpPr>
        <p:grpSpPr>
          <a:xfrm>
            <a:off x="527685" y="1524000"/>
            <a:ext cx="4983480" cy="2539842"/>
            <a:chOff x="527685" y="1524000"/>
            <a:chExt cx="4983480" cy="2539842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4977765" cy="448628"/>
            </a:xfrm>
            <a:prstGeom prst="rect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883310" y="1659731"/>
              <a:ext cx="39555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S＼P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1947189" y="1659731"/>
              <a:ext cx="35758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空串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3037529" y="1659731"/>
              <a:ext cx="11809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B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3983361" y="1659731"/>
              <a:ext cx="11809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C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4953959" y="1659731"/>
              <a:ext cx="11809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D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902297" y="2108359"/>
              <a:ext cx="35758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空串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2072117" y="2108359"/>
              <a:ext cx="10772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3042714" y="2108359"/>
              <a:ext cx="10772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3988547" y="2108359"/>
              <a:ext cx="10772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4959144" y="2108359"/>
              <a:ext cx="10772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533400" y="2416492"/>
              <a:ext cx="497776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9" name="Rectangle 19"/>
            <p:cNvSpPr/>
            <p:nvPr/>
          </p:nvSpPr>
          <p:spPr>
            <a:xfrm>
              <a:off x="533400" y="2421255"/>
              <a:ext cx="4977765" cy="448628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1022039" y="2556986"/>
              <a:ext cx="11809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A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2072117" y="2556986"/>
              <a:ext cx="10772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2633662" y="2430780"/>
              <a:ext cx="926782" cy="429578"/>
            </a:xfrm>
            <a:prstGeom prst="rect">
              <a:avLst/>
            </a:prstGeom>
            <a:solidFill>
              <a:srgbClr val="E6EFF9"/>
            </a:solidFill>
            <a:ln>
              <a:noFill/>
            </a:ln>
          </p:spPr>
        </p:sp>
        <p:sp>
          <p:nvSpPr>
            <p:cNvPr id="23" name="TextBox 23"/>
            <p:cNvSpPr txBox="1"/>
            <p:nvPr/>
          </p:nvSpPr>
          <p:spPr>
            <a:xfrm>
              <a:off x="3042714" y="2556986"/>
              <a:ext cx="10772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3988547" y="2556986"/>
              <a:ext cx="10772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4959144" y="2556986"/>
              <a:ext cx="10772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26" name="Rectangle 26"/>
            <p:cNvSpPr/>
            <p:nvPr/>
          </p:nvSpPr>
          <p:spPr>
            <a:xfrm>
              <a:off x="533400" y="2866072"/>
              <a:ext cx="497776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1022039" y="3005614"/>
              <a:ext cx="11809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B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2072117" y="3005614"/>
              <a:ext cx="10772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2633662" y="2880360"/>
              <a:ext cx="926782" cy="429578"/>
            </a:xfrm>
            <a:prstGeom prst="rect">
              <a:avLst/>
            </a:prstGeom>
            <a:solidFill>
              <a:srgbClr val="E6EFF9"/>
            </a:solidFill>
            <a:ln>
              <a:noFill/>
            </a:ln>
          </p:spPr>
        </p:sp>
        <p:sp>
          <p:nvSpPr>
            <p:cNvPr id="30" name="TextBox 30"/>
            <p:cNvSpPr txBox="1"/>
            <p:nvPr/>
          </p:nvSpPr>
          <p:spPr>
            <a:xfrm>
              <a:off x="3042714" y="3005614"/>
              <a:ext cx="10772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3988547" y="3005614"/>
              <a:ext cx="10772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4959144" y="3005614"/>
              <a:ext cx="10772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33" name="Rectangle 33"/>
            <p:cNvSpPr/>
            <p:nvPr/>
          </p:nvSpPr>
          <p:spPr>
            <a:xfrm>
              <a:off x="533400" y="3314700"/>
              <a:ext cx="497776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4" name="Rectangle 34"/>
            <p:cNvSpPr/>
            <p:nvPr/>
          </p:nvSpPr>
          <p:spPr>
            <a:xfrm>
              <a:off x="533400" y="3319462"/>
              <a:ext cx="4977765" cy="448628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35" name="TextBox 35"/>
            <p:cNvSpPr txBox="1"/>
            <p:nvPr/>
          </p:nvSpPr>
          <p:spPr>
            <a:xfrm>
              <a:off x="1022039" y="3454241"/>
              <a:ext cx="11809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C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2072117" y="3454241"/>
              <a:ext cx="10772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3042714" y="3454241"/>
              <a:ext cx="10772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38" name="Rectangle 38"/>
            <p:cNvSpPr/>
            <p:nvPr/>
          </p:nvSpPr>
          <p:spPr>
            <a:xfrm>
              <a:off x="3579495" y="3328988"/>
              <a:ext cx="926782" cy="429578"/>
            </a:xfrm>
            <a:prstGeom prst="rect">
              <a:avLst/>
            </a:prstGeom>
            <a:solidFill>
              <a:srgbClr val="E6EFF9"/>
            </a:solidFill>
            <a:ln>
              <a:noFill/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3988547" y="3454241"/>
              <a:ext cx="10772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40" name="Rectangle 40"/>
            <p:cNvSpPr/>
            <p:nvPr/>
          </p:nvSpPr>
          <p:spPr>
            <a:xfrm>
              <a:off x="4524375" y="3328988"/>
              <a:ext cx="976312" cy="429578"/>
            </a:xfrm>
            <a:prstGeom prst="rect">
              <a:avLst/>
            </a:prstGeom>
            <a:solidFill>
              <a:srgbClr val="FDEEE7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4959144" y="3454241"/>
              <a:ext cx="10772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42" name="Rectangle 42"/>
            <p:cNvSpPr/>
            <p:nvPr/>
          </p:nvSpPr>
          <p:spPr>
            <a:xfrm>
              <a:off x="533400" y="1524000"/>
              <a:ext cx="4977765" cy="2244090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43" name="Rectangle 43"/>
            <p:cNvSpPr/>
            <p:nvPr/>
          </p:nvSpPr>
          <p:spPr>
            <a:xfrm>
              <a:off x="1624012" y="1524000"/>
              <a:ext cx="9525" cy="224409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4" name="Rectangle 44"/>
            <p:cNvSpPr/>
            <p:nvPr/>
          </p:nvSpPr>
          <p:spPr>
            <a:xfrm>
              <a:off x="2619375" y="1524000"/>
              <a:ext cx="9525" cy="224409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5" name="Rectangle 45"/>
            <p:cNvSpPr/>
            <p:nvPr/>
          </p:nvSpPr>
          <p:spPr>
            <a:xfrm>
              <a:off x="3565208" y="1524000"/>
              <a:ext cx="9525" cy="224409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6" name="Rectangle 46"/>
            <p:cNvSpPr/>
            <p:nvPr/>
          </p:nvSpPr>
          <p:spPr>
            <a:xfrm>
              <a:off x="4510088" y="1524000"/>
              <a:ext cx="9525" cy="224409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7" name="TextBox 47"/>
            <p:cNvSpPr txBox="1"/>
            <p:nvPr/>
          </p:nvSpPr>
          <p:spPr>
            <a:xfrm>
              <a:off x="527685" y="3843814"/>
              <a:ext cx="350185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蓝色格子是右侧四步逐格算出来的，右下角 2 是答案</a:t>
              </a:r>
            </a:p>
          </p:txBody>
        </p:sp>
      </p:grpSp>
      <p:grpSp>
        <p:nvGrpSpPr>
          <p:cNvPr id="55" name="c1-callout-2"/>
          <p:cNvGrpSpPr/>
          <p:nvPr/>
        </p:nvGrpSpPr>
        <p:grpSpPr>
          <a:xfrm>
            <a:off x="533400" y="4210050"/>
            <a:ext cx="4977765" cy="1399222"/>
            <a:chOff x="533400" y="4210050"/>
            <a:chExt cx="4977765" cy="1399222"/>
          </a:xfrm>
        </p:grpSpPr>
        <p:sp>
          <p:nvSpPr>
            <p:cNvPr id="49" name="Rectangle 49"/>
            <p:cNvSpPr/>
            <p:nvPr/>
          </p:nvSpPr>
          <p:spPr>
            <a:xfrm>
              <a:off x="533400" y="4210050"/>
              <a:ext cx="4977765" cy="1399222"/>
            </a:xfrm>
            <a:prstGeom prst="roundRect">
              <a:avLst>
                <a:gd name="adj" fmla="val 8169"/>
              </a:avLst>
            </a:prstGeom>
            <a:solidFill>
              <a:srgbClr val="F4F6FB"/>
            </a:solidFill>
            <a:ln>
              <a:noFill/>
            </a:ln>
          </p:spPr>
        </p:sp>
        <p:grpSp>
          <p:nvGrpSpPr>
            <p:cNvPr id="53" name="Group 53"/>
            <p:cNvGrpSpPr/>
            <p:nvPr/>
          </p:nvGrpSpPr>
          <p:grpSpPr>
            <a:xfrm>
              <a:off x="738188" y="4809173"/>
              <a:ext cx="200026" cy="200026"/>
              <a:chOff x="738188" y="4809173"/>
              <a:chExt cx="200026" cy="200026"/>
            </a:xfrm>
          </p:grpSpPr>
          <p:sp>
            <p:nvSpPr>
              <p:cNvPr id="50" name="Freeform 50"/>
              <p:cNvSpPr/>
              <p:nvPr/>
            </p:nvSpPr>
            <p:spPr>
              <a:xfrm>
                <a:off x="738188" y="4809173"/>
                <a:ext cx="200026" cy="200026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200026">
                    <a:moveTo>
                      <a:pt x="0" y="100013"/>
                    </a:moveTo>
                    <a:cubicBezTo>
                      <a:pt x="0" y="155248"/>
                      <a:pt x="44777" y="200026"/>
                      <a:pt x="100013" y="200026"/>
                    </a:cubicBezTo>
                    <a:cubicBezTo>
                      <a:pt x="155248" y="200026"/>
                      <a:pt x="200026" y="155248"/>
                      <a:pt x="200026" y="100013"/>
                    </a:cubicBezTo>
                    <a:cubicBezTo>
                      <a:pt x="200026" y="44777"/>
                      <a:pt x="155248" y="0"/>
                      <a:pt x="100013" y="0"/>
                    </a:cubicBezTo>
                    <a:cubicBezTo>
                      <a:pt x="44777" y="0"/>
                      <a:pt x="0" y="44777"/>
                      <a:pt x="0" y="100013"/>
                    </a:cubicBez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51" name="Freeform 51"/>
              <p:cNvSpPr/>
              <p:nvPr/>
            </p:nvSpPr>
            <p:spPr>
              <a:xfrm>
                <a:off x="838200" y="4875848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52" name="Freeform 52"/>
              <p:cNvSpPr/>
              <p:nvPr/>
            </p:nvSpPr>
            <p:spPr>
              <a:xfrm>
                <a:off x="827088" y="4909185"/>
                <a:ext cx="2222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22225" h="44450">
                    <a:moveTo>
                      <a:pt x="0" y="0"/>
                    </a:moveTo>
                    <a:lnTo>
                      <a:pt x="11113" y="0"/>
                    </a:lnTo>
                    <a:lnTo>
                      <a:pt x="11113" y="44450"/>
                    </a:lnTo>
                    <a:lnTo>
                      <a:pt x="22225" y="4445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</p:grpSp>
        <p:sp>
          <p:nvSpPr>
            <p:cNvPr id="54" name="TextBox 54"/>
            <p:cNvSpPr txBox="1"/>
            <p:nvPr/>
          </p:nvSpPr>
          <p:spPr>
            <a:xfrm>
              <a:off x="1040130" y="4666298"/>
              <a:ext cx="3958590" cy="56959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75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第 0 行 0 1 2 3 与第 0 列 0 1 2 3 是初始化写上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去的，其余 9 个格子按递推式算。</a:t>
              </a:r>
            </a:p>
          </p:txBody>
        </p:sp>
      </p:grpSp>
      <p:grpSp>
        <p:nvGrpSpPr>
          <p:cNvPr id="73" name="c2-steps-1"/>
          <p:cNvGrpSpPr/>
          <p:nvPr/>
        </p:nvGrpSpPr>
        <p:grpSpPr>
          <a:xfrm>
            <a:off x="5815965" y="1533525"/>
            <a:ext cx="5104574" cy="2529173"/>
            <a:chOff x="5815965" y="1533525"/>
            <a:chExt cx="5104574" cy="2529173"/>
          </a:xfrm>
        </p:grpSpPr>
        <p:sp>
          <p:nvSpPr>
            <p:cNvPr id="56" name="Rectangle 56"/>
            <p:cNvSpPr/>
            <p:nvPr/>
          </p:nvSpPr>
          <p:spPr>
            <a:xfrm>
              <a:off x="5949315" y="1676400"/>
              <a:ext cx="19050" cy="19526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57" name="Ellipse 57"/>
            <p:cNvSpPr/>
            <p:nvPr/>
          </p:nvSpPr>
          <p:spPr>
            <a:xfrm>
              <a:off x="5815965" y="1533525"/>
              <a:ext cx="285750" cy="285750"/>
            </a:xfrm>
            <a:prstGeom prst="ellipse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58" name="TextBox 58"/>
            <p:cNvSpPr txBox="1"/>
            <p:nvPr/>
          </p:nvSpPr>
          <p:spPr>
            <a:xfrm>
              <a:off x="5909589" y="1607344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59" name="Ellipse 59"/>
            <p:cNvSpPr/>
            <p:nvPr/>
          </p:nvSpPr>
          <p:spPr>
            <a:xfrm>
              <a:off x="5815965" y="2184082"/>
              <a:ext cx="285750" cy="285750"/>
            </a:xfrm>
            <a:prstGeom prst="ellipse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60" name="TextBox 60"/>
            <p:cNvSpPr txBox="1"/>
            <p:nvPr/>
          </p:nvSpPr>
          <p:spPr>
            <a:xfrm>
              <a:off x="5909589" y="2257901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61" name="Ellipse 61"/>
            <p:cNvSpPr/>
            <p:nvPr/>
          </p:nvSpPr>
          <p:spPr>
            <a:xfrm>
              <a:off x="5815965" y="2834640"/>
              <a:ext cx="285750" cy="285750"/>
            </a:xfrm>
            <a:prstGeom prst="ellipse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62" name="TextBox 62"/>
            <p:cNvSpPr txBox="1"/>
            <p:nvPr/>
          </p:nvSpPr>
          <p:spPr>
            <a:xfrm>
              <a:off x="5909589" y="2908459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63" name="Ellipse 63"/>
            <p:cNvSpPr/>
            <p:nvPr/>
          </p:nvSpPr>
          <p:spPr>
            <a:xfrm>
              <a:off x="5815965" y="3486150"/>
              <a:ext cx="285750" cy="285750"/>
            </a:xfrm>
            <a:prstGeom prst="ellipse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64" name="TextBox 64"/>
            <p:cNvSpPr txBox="1"/>
            <p:nvPr/>
          </p:nvSpPr>
          <p:spPr>
            <a:xfrm>
              <a:off x="5909589" y="3559969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65" name="TextBox 65"/>
            <p:cNvSpPr txBox="1"/>
            <p:nvPr/>
          </p:nvSpPr>
          <p:spPr>
            <a:xfrm>
              <a:off x="6227445" y="1567815"/>
              <a:ext cx="2399907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Dist[1][1]：A 与 B 不等</a:t>
              </a:r>
            </a:p>
          </p:txBody>
        </p:sp>
        <p:sp>
          <p:nvSpPr>
            <p:cNvPr id="66" name="TextBox 66"/>
            <p:cNvSpPr txBox="1"/>
            <p:nvPr/>
          </p:nvSpPr>
          <p:spPr>
            <a:xfrm>
              <a:off x="6228588" y="1861661"/>
              <a:ext cx="469195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 + min(Dist[0][0]=0, Dist[1][0]=1, Dist[0][1]=1) = 1</a:t>
              </a:r>
            </a:p>
          </p:txBody>
        </p:sp>
        <p:sp>
          <p:nvSpPr>
            <p:cNvPr id="67" name="TextBox 67"/>
            <p:cNvSpPr txBox="1"/>
            <p:nvPr/>
          </p:nvSpPr>
          <p:spPr>
            <a:xfrm>
              <a:off x="6227445" y="2218372"/>
              <a:ext cx="2399907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Dist[2][1]：B 与 B 相等</a:t>
              </a:r>
            </a:p>
          </p:txBody>
        </p:sp>
        <p:sp>
          <p:nvSpPr>
            <p:cNvPr id="68" name="TextBox 68"/>
            <p:cNvSpPr txBox="1"/>
            <p:nvPr/>
          </p:nvSpPr>
          <p:spPr>
            <a:xfrm>
              <a:off x="6228588" y="2512219"/>
              <a:ext cx="231378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直接抄左上角 Dist[1][0] = 1</a:t>
              </a:r>
            </a:p>
          </p:txBody>
        </p:sp>
        <p:sp>
          <p:nvSpPr>
            <p:cNvPr id="69" name="TextBox 69"/>
            <p:cNvSpPr txBox="1"/>
            <p:nvPr/>
          </p:nvSpPr>
          <p:spPr>
            <a:xfrm>
              <a:off x="6227445" y="2868930"/>
              <a:ext cx="2399907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Dist[3][2]：C 与 C 相等</a:t>
              </a:r>
            </a:p>
          </p:txBody>
        </p:sp>
        <p:sp>
          <p:nvSpPr>
            <p:cNvPr id="70" name="TextBox 70"/>
            <p:cNvSpPr txBox="1"/>
            <p:nvPr/>
          </p:nvSpPr>
          <p:spPr>
            <a:xfrm>
              <a:off x="6228588" y="3162776"/>
              <a:ext cx="231378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直接抄左上角 Dist[2][1] = 1</a:t>
              </a:r>
            </a:p>
          </p:txBody>
        </p:sp>
        <p:sp>
          <p:nvSpPr>
            <p:cNvPr id="71" name="TextBox 71"/>
            <p:cNvSpPr txBox="1"/>
            <p:nvPr/>
          </p:nvSpPr>
          <p:spPr>
            <a:xfrm>
              <a:off x="6227445" y="3520440"/>
              <a:ext cx="2399907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Dist[3][3]：C 与 D 不等</a:t>
              </a:r>
            </a:p>
          </p:txBody>
        </p:sp>
        <p:sp>
          <p:nvSpPr>
            <p:cNvPr id="72" name="TextBox 72"/>
            <p:cNvSpPr txBox="1"/>
            <p:nvPr/>
          </p:nvSpPr>
          <p:spPr>
            <a:xfrm>
              <a:off x="6228588" y="3813334"/>
              <a:ext cx="469195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 + min(Dist[2][2]=2, Dist[3][2]=1, Dist[2][3]=3) = 2</a:t>
              </a:r>
            </a:p>
          </p:txBody>
        </p:sp>
      </p:grpSp>
      <p:grpSp>
        <p:nvGrpSpPr>
          <p:cNvPr id="79" name="c2-card-2"/>
          <p:cNvGrpSpPr/>
          <p:nvPr/>
        </p:nvGrpSpPr>
        <p:grpSpPr>
          <a:xfrm>
            <a:off x="5815965" y="4241482"/>
            <a:ext cx="5842635" cy="1367790"/>
            <a:chOff x="5815965" y="4241482"/>
            <a:chExt cx="5842635" cy="1367790"/>
          </a:xfrm>
        </p:grpSpPr>
        <p:sp>
          <p:nvSpPr>
            <p:cNvPr id="74" name="Rectangle 74"/>
            <p:cNvSpPr/>
            <p:nvPr/>
          </p:nvSpPr>
          <p:spPr>
            <a:xfrm>
              <a:off x="5815965" y="4241482"/>
              <a:ext cx="5842635" cy="1367790"/>
            </a:xfrm>
            <a:prstGeom prst="roundRect">
              <a:avLst>
                <a:gd name="adj" fmla="val 9749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75" name="Rectangle 75"/>
            <p:cNvSpPr/>
            <p:nvPr/>
          </p:nvSpPr>
          <p:spPr>
            <a:xfrm>
              <a:off x="5825490" y="4374832"/>
              <a:ext cx="47625" cy="1101090"/>
            </a:xfrm>
            <a:prstGeom prst="roundRect">
              <a:avLst>
                <a:gd name="adj" fmla="val 50000"/>
              </a:avLst>
            </a:prstGeom>
            <a:solidFill>
              <a:srgbClr val="14A38B"/>
            </a:solidFill>
            <a:ln>
              <a:noFill/>
            </a:ln>
          </p:spPr>
        </p:sp>
        <p:sp>
          <p:nvSpPr>
            <p:cNvPr id="76" name="TextBox 76"/>
            <p:cNvSpPr txBox="1"/>
            <p:nvPr/>
          </p:nvSpPr>
          <p:spPr>
            <a:xfrm>
              <a:off x="6055995" y="4475798"/>
              <a:ext cx="82296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答案核对</a:t>
              </a:r>
            </a:p>
          </p:txBody>
        </p:sp>
        <p:sp>
          <p:nvSpPr>
            <p:cNvPr id="77" name="TextBox 77"/>
            <p:cNvSpPr txBox="1"/>
            <p:nvPr/>
          </p:nvSpPr>
          <p:spPr>
            <a:xfrm>
              <a:off x="6055995" y="4830128"/>
              <a:ext cx="4494047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Dist(ABC, BCD) = 2，对应“删去 A、末尾补 D”。</a:t>
              </a:r>
            </a:p>
          </p:txBody>
        </p:sp>
        <p:sp>
          <p:nvSpPr>
            <p:cNvPr id="78" name="TextBox 78"/>
            <p:cNvSpPr txBox="1"/>
            <p:nvPr/>
          </p:nvSpPr>
          <p:spPr>
            <a:xfrm>
              <a:off x="6055995" y="5165408"/>
              <a:ext cx="4275963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界检查：|3-3| = 0 ≤ 2 ≤ max(3,3) = 3，通过。</a:t>
              </a:r>
            </a:p>
          </p:txBody>
        </p:sp>
      </p:grpSp>
      <p:grpSp>
        <p:nvGrpSpPr>
          <p:cNvPr id="85" name="takeaway"/>
          <p:cNvGrpSpPr/>
          <p:nvPr/>
        </p:nvGrpSpPr>
        <p:grpSpPr>
          <a:xfrm>
            <a:off x="533400" y="5829300"/>
            <a:ext cx="11125200" cy="533400"/>
            <a:chOff x="533400" y="5829300"/>
            <a:chExt cx="11125200" cy="533400"/>
          </a:xfrm>
        </p:grpSpPr>
        <p:sp>
          <p:nvSpPr>
            <p:cNvPr id="80" name="Rectangle 80"/>
            <p:cNvSpPr/>
            <p:nvPr/>
          </p:nvSpPr>
          <p:spPr>
            <a:xfrm>
              <a:off x="533400" y="5829300"/>
              <a:ext cx="11125200" cy="533400"/>
            </a:xfrm>
            <a:prstGeom prst="roundRect">
              <a:avLst>
                <a:gd name="adj" fmla="val 21429"/>
              </a:avLst>
            </a:prstGeom>
            <a:solidFill>
              <a:srgbClr val="1F5FA8"/>
            </a:solidFill>
            <a:ln>
              <a:noFill/>
            </a:ln>
          </p:spPr>
        </p:sp>
        <p:grpSp>
          <p:nvGrpSpPr>
            <p:cNvPr id="83" name="Group 83"/>
            <p:cNvGrpSpPr/>
            <p:nvPr/>
          </p:nvGrpSpPr>
          <p:grpSpPr>
            <a:xfrm>
              <a:off x="738188" y="5995990"/>
              <a:ext cx="200023" cy="200023"/>
              <a:chOff x="738188" y="5995990"/>
              <a:chExt cx="200023" cy="200023"/>
            </a:xfrm>
          </p:grpSpPr>
          <p:sp>
            <p:nvSpPr>
              <p:cNvPr id="81" name="Freeform 81"/>
              <p:cNvSpPr/>
              <p:nvPr/>
            </p:nvSpPr>
            <p:spPr>
              <a:xfrm>
                <a:off x="738188" y="5995990"/>
                <a:ext cx="200023" cy="200023"/>
              </a:xfrm>
              <a:custGeom>
                <a:avLst/>
                <a:gdLst/>
                <a:ahLst/>
                <a:cxnLst/>
                <a:rect l="l" t="t" r="r" b="b"/>
                <a:pathLst>
                  <a:path w="200023" h="200023">
                    <a:moveTo>
                      <a:pt x="150630" y="9366"/>
                    </a:moveTo>
                    <a:lnTo>
                      <a:pt x="190658" y="49393"/>
                    </a:lnTo>
                    <a:cubicBezTo>
                      <a:pt x="196654" y="55389"/>
                      <a:pt x="200023" y="63522"/>
                      <a:pt x="200023" y="72002"/>
                    </a:cubicBezTo>
                    <a:cubicBezTo>
                      <a:pt x="200023" y="80482"/>
                      <a:pt x="196654" y="88614"/>
                      <a:pt x="190658" y="94610"/>
                    </a:cubicBezTo>
                    <a:lnTo>
                      <a:pt x="161287" y="123980"/>
                    </a:lnTo>
                    <a:cubicBezTo>
                      <a:pt x="155291" y="129977"/>
                      <a:pt x="147159" y="133346"/>
                      <a:pt x="138679" y="133346"/>
                    </a:cubicBezTo>
                    <a:cubicBezTo>
                      <a:pt x="130199" y="133346"/>
                      <a:pt x="122066" y="129977"/>
                      <a:pt x="116070" y="123980"/>
                    </a:cubicBezTo>
                    <a:lnTo>
                      <a:pt x="112726" y="120636"/>
                    </a:lnTo>
                    <a:lnTo>
                      <a:pt x="39850" y="193511"/>
                    </a:lnTo>
                    <a:cubicBezTo>
                      <a:pt x="36157" y="197203"/>
                      <a:pt x="31283" y="199477"/>
                      <a:pt x="26081" y="199935"/>
                    </a:cubicBezTo>
                    <a:lnTo>
                      <a:pt x="24136" y="200023"/>
                    </a:lnTo>
                    <a:lnTo>
                      <a:pt x="11113" y="200023"/>
                    </a:lnTo>
                    <a:cubicBezTo>
                      <a:pt x="5479" y="200023"/>
                      <a:pt x="737" y="195806"/>
                      <a:pt x="78" y="190211"/>
                    </a:cubicBezTo>
                    <a:lnTo>
                      <a:pt x="0" y="188911"/>
                    </a:lnTo>
                    <a:lnTo>
                      <a:pt x="0" y="175887"/>
                    </a:lnTo>
                    <a:cubicBezTo>
                      <a:pt x="1" y="170669"/>
                      <a:pt x="1838" y="165618"/>
                      <a:pt x="5190" y="161619"/>
                    </a:cubicBezTo>
                    <a:lnTo>
                      <a:pt x="6512" y="160174"/>
                    </a:lnTo>
                    <a:lnTo>
                      <a:pt x="11113" y="155573"/>
                    </a:lnTo>
                    <a:lnTo>
                      <a:pt x="33338" y="155573"/>
                    </a:lnTo>
                    <a:lnTo>
                      <a:pt x="33338" y="133348"/>
                    </a:lnTo>
                    <a:lnTo>
                      <a:pt x="55563" y="133348"/>
                    </a:lnTo>
                    <a:lnTo>
                      <a:pt x="55563" y="111123"/>
                    </a:lnTo>
                    <a:lnTo>
                      <a:pt x="79388" y="87298"/>
                    </a:lnTo>
                    <a:lnTo>
                      <a:pt x="76043" y="83953"/>
                    </a:lnTo>
                    <a:cubicBezTo>
                      <a:pt x="70046" y="77957"/>
                      <a:pt x="66677" y="69825"/>
                      <a:pt x="66677" y="61345"/>
                    </a:cubicBezTo>
                    <a:cubicBezTo>
                      <a:pt x="66677" y="52865"/>
                      <a:pt x="70046" y="44732"/>
                      <a:pt x="76043" y="38736"/>
                    </a:cubicBezTo>
                    <a:lnTo>
                      <a:pt x="105413" y="9366"/>
                    </a:lnTo>
                    <a:cubicBezTo>
                      <a:pt x="111409" y="3369"/>
                      <a:pt x="119542" y="0"/>
                      <a:pt x="128022" y="0"/>
                    </a:cubicBezTo>
                    <a:cubicBezTo>
                      <a:pt x="136502" y="0"/>
                      <a:pt x="144635" y="3369"/>
                      <a:pt x="150630" y="9366"/>
                    </a:cubicBez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  <p:sp>
            <p:nvSpPr>
              <p:cNvPr id="82" name="Freeform 82"/>
              <p:cNvSpPr/>
              <p:nvPr/>
            </p:nvSpPr>
            <p:spPr>
              <a:xfrm>
                <a:off x="871538" y="6062663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</p:grpSp>
        <p:sp>
          <p:nvSpPr>
            <p:cNvPr id="84" name="TextBox 84"/>
            <p:cNvSpPr txBox="1"/>
            <p:nvPr/>
          </p:nvSpPr>
          <p:spPr>
            <a:xfrm>
              <a:off x="1040130" y="5991225"/>
              <a:ext cx="6820281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字符相等时一律照抄左上角，连 +1 都不做，这是全表唯一不花代价的一步。</a:t>
              </a:r>
            </a:p>
          </p:txBody>
        </p:sp>
      </p:grpSp>
      <p:grpSp>
        <p:nvGrpSpPr>
          <p:cNvPr id="88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86" name="TextBox 86"/>
            <p:cNvSpPr txBox="1"/>
            <p:nvPr/>
          </p:nvSpPr>
          <p:spPr>
            <a:xfrm>
              <a:off x="528447" y="6581299"/>
              <a:ext cx="2120748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数据结构 · 专题1 字符串的模糊匹配</a:t>
              </a:r>
            </a:p>
          </p:txBody>
        </p:sp>
        <p:sp>
          <p:nvSpPr>
            <p:cNvPr id="87" name="TextBox 87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14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6891528" cy="909257"/>
            <a:chOff x="520446" y="342900"/>
            <a:chExt cx="6891528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556510" cy="266700"/>
            </a:xfrm>
            <a:prstGeom prst="roundRect">
              <a:avLst>
                <a:gd name="adj" fmla="val 50000"/>
              </a:avLst>
            </a:prstGeom>
            <a:solidFill>
              <a:srgbClr val="E6EFF9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92206" y="407194"/>
              <a:ext cx="243889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5FA8"/>
                  </a:solidFill>
                  <a:latin typeface="+mn-lt"/>
                  <a:ea typeface="+mn-ea"/>
                  <a:cs typeface="+mn-cs"/>
                </a:rPr>
                <a:t>专题1 模糊匹配 · 字符串的编辑距离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6891528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沿着表格倒着走，还原出一份具体的编辑方案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1F5FA8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8" name="lead"/>
          <p:cNvGrpSpPr/>
          <p:nvPr/>
        </p:nvGrpSpPr>
        <p:grpSpPr>
          <a:xfrm>
            <a:off x="525780" y="1548765"/>
            <a:ext cx="6352175" cy="293370"/>
            <a:chOff x="525780" y="1548765"/>
            <a:chExt cx="6352175" cy="293370"/>
          </a:xfrm>
        </p:grpSpPr>
        <p:sp>
          <p:nvSpPr>
            <p:cNvPr id="7" name="TextBox 7"/>
            <p:cNvSpPr txBox="1"/>
            <p:nvPr/>
          </p:nvSpPr>
          <p:spPr>
            <a:xfrm>
              <a:off x="525780" y="1548765"/>
              <a:ext cx="6352175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Dist 表只给出次数，想知道“到底怎么改”，要从右下角回溯到左上角。</a:t>
              </a:r>
            </a:p>
          </p:txBody>
        </p:sp>
      </p:grpSp>
      <p:grpSp>
        <p:nvGrpSpPr>
          <p:cNvPr id="41" name="c1-table-1"/>
          <p:cNvGrpSpPr/>
          <p:nvPr/>
        </p:nvGrpSpPr>
        <p:grpSpPr>
          <a:xfrm>
            <a:off x="533400" y="1954530"/>
            <a:ext cx="6059805" cy="2150745"/>
            <a:chOff x="533400" y="1954530"/>
            <a:chExt cx="6059805" cy="2150745"/>
          </a:xfrm>
        </p:grpSpPr>
        <p:sp>
          <p:nvSpPr>
            <p:cNvPr id="9" name="Rectangle 9"/>
            <p:cNvSpPr/>
            <p:nvPr/>
          </p:nvSpPr>
          <p:spPr>
            <a:xfrm>
              <a:off x="533400" y="1954530"/>
              <a:ext cx="6059805" cy="430530"/>
            </a:xfrm>
            <a:prstGeom prst="rect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769811" y="2085975"/>
              <a:ext cx="49682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当前格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1749552" y="2085975"/>
              <a:ext cx="17373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值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2678240" y="2085975"/>
              <a:ext cx="98145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从哪个格子来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5051488" y="2085975"/>
              <a:ext cx="65836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对应操作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638746" y="2515552"/>
              <a:ext cx="571942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[3][3]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1608392" y="2515552"/>
              <a:ext cx="101041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2275142" y="2515552"/>
              <a:ext cx="1231849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[3][2] 的 1，+1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4274439" y="2515552"/>
              <a:ext cx="1349045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在末尾插入 P₃ = D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533400" y="2809875"/>
              <a:ext cx="605980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9" name="Rectangle 19"/>
            <p:cNvSpPr/>
            <p:nvPr/>
          </p:nvSpPr>
          <p:spPr>
            <a:xfrm>
              <a:off x="533400" y="2814638"/>
              <a:ext cx="6059805" cy="430530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638746" y="2946082"/>
              <a:ext cx="571942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[3][2]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1608392" y="2946082"/>
              <a:ext cx="101041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2275142" y="2946082"/>
              <a:ext cx="1438199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[2][1] 的 1，C = C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4178618" y="2824162"/>
              <a:ext cx="2405062" cy="411480"/>
            </a:xfrm>
            <a:prstGeom prst="rect">
              <a:avLst/>
            </a:prstGeom>
            <a:solidFill>
              <a:srgbClr val="E3F5F1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4274439" y="2946082"/>
              <a:ext cx="1288085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保留 C，不花代价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533400" y="3240405"/>
              <a:ext cx="605980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638746" y="3376612"/>
              <a:ext cx="571942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[2][1]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1608392" y="3376612"/>
              <a:ext cx="101041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2275142" y="3376612"/>
              <a:ext cx="1438199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[1][0] 的 1，B = B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4178618" y="3254692"/>
              <a:ext cx="2405062" cy="411480"/>
            </a:xfrm>
            <a:prstGeom prst="rect">
              <a:avLst/>
            </a:prstGeom>
            <a:solidFill>
              <a:srgbClr val="E3F5F1"/>
            </a:solidFill>
            <a:ln>
              <a:noFill/>
            </a:ln>
          </p:spPr>
        </p:sp>
        <p:sp>
          <p:nvSpPr>
            <p:cNvPr id="30" name="TextBox 30"/>
            <p:cNvSpPr txBox="1"/>
            <p:nvPr/>
          </p:nvSpPr>
          <p:spPr>
            <a:xfrm>
              <a:off x="4274439" y="3376612"/>
              <a:ext cx="1288085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保留 B，不花代价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533400" y="3669982"/>
              <a:ext cx="605980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2" name="Rectangle 32"/>
            <p:cNvSpPr/>
            <p:nvPr/>
          </p:nvSpPr>
          <p:spPr>
            <a:xfrm>
              <a:off x="533400" y="3674745"/>
              <a:ext cx="6059805" cy="430530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638746" y="3806190"/>
              <a:ext cx="571942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[1][0]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1608392" y="3806190"/>
              <a:ext cx="101041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2275142" y="3806190"/>
              <a:ext cx="1231849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[0][0] 的 0，+1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4274439" y="3806190"/>
              <a:ext cx="864413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删去 S₁ = A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533400" y="1954530"/>
              <a:ext cx="6059805" cy="2150745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38" name="Rectangle 38"/>
            <p:cNvSpPr/>
            <p:nvPr/>
          </p:nvSpPr>
          <p:spPr>
            <a:xfrm>
              <a:off x="1498282" y="1954530"/>
              <a:ext cx="9525" cy="215074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9" name="Rectangle 39"/>
            <p:cNvSpPr/>
            <p:nvPr/>
          </p:nvSpPr>
          <p:spPr>
            <a:xfrm>
              <a:off x="2165032" y="1954530"/>
              <a:ext cx="9525" cy="215074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0" name="Rectangle 40"/>
            <p:cNvSpPr/>
            <p:nvPr/>
          </p:nvSpPr>
          <p:spPr>
            <a:xfrm>
              <a:off x="4164330" y="1954530"/>
              <a:ext cx="9525" cy="215074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</p:grpSp>
      <p:grpSp>
        <p:nvGrpSpPr>
          <p:cNvPr id="61" name="c1-cells-2"/>
          <p:cNvGrpSpPr/>
          <p:nvPr/>
        </p:nvGrpSpPr>
        <p:grpSpPr>
          <a:xfrm>
            <a:off x="527304" y="4291012"/>
            <a:ext cx="3145536" cy="1551624"/>
            <a:chOff x="527304" y="4291012"/>
            <a:chExt cx="3145536" cy="1551624"/>
          </a:xfrm>
        </p:grpSpPr>
        <p:sp>
          <p:nvSpPr>
            <p:cNvPr id="42" name="TextBox 42"/>
            <p:cNvSpPr txBox="1"/>
            <p:nvPr/>
          </p:nvSpPr>
          <p:spPr>
            <a:xfrm>
              <a:off x="527304" y="4419600"/>
              <a:ext cx="11076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00" b="1" dirty="0">
                  <a:solidFill>
                    <a:srgbClr val="1F5FA8"/>
                  </a:solidFill>
                  <a:latin typeface="+mn-lt"/>
                  <a:ea typeface="+mn-ea"/>
                  <a:cs typeface="+mn-cs"/>
                </a:rPr>
                <a:t>S</a:t>
              </a:r>
            </a:p>
          </p:txBody>
        </p:sp>
        <p:sp>
          <p:nvSpPr>
            <p:cNvPr id="43" name="Rectangle 43"/>
            <p:cNvSpPr/>
            <p:nvPr/>
          </p:nvSpPr>
          <p:spPr>
            <a:xfrm>
              <a:off x="906780" y="4291012"/>
              <a:ext cx="922020" cy="406718"/>
            </a:xfrm>
            <a:prstGeom prst="rect">
              <a:avLst/>
            </a:prstGeom>
            <a:solidFill>
              <a:srgbClr val="FDECEA"/>
            </a:solidFill>
            <a:ln w="15240">
              <a:solidFill>
                <a:srgbClr val="B42318"/>
              </a:solidFill>
            </a:ln>
          </p:spPr>
        </p:sp>
        <p:sp>
          <p:nvSpPr>
            <p:cNvPr id="44" name="TextBox 44"/>
            <p:cNvSpPr txBox="1"/>
            <p:nvPr/>
          </p:nvSpPr>
          <p:spPr>
            <a:xfrm>
              <a:off x="1312408" y="4419600"/>
              <a:ext cx="11076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00" b="1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A</a:t>
              </a:r>
            </a:p>
          </p:txBody>
        </p:sp>
        <p:sp>
          <p:nvSpPr>
            <p:cNvPr id="45" name="Rectangle 45"/>
            <p:cNvSpPr/>
            <p:nvPr/>
          </p:nvSpPr>
          <p:spPr>
            <a:xfrm>
              <a:off x="1828800" y="4291012"/>
              <a:ext cx="922020" cy="406718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1F5FA8"/>
              </a:solidFill>
            </a:ln>
          </p:spPr>
        </p:sp>
        <p:sp>
          <p:nvSpPr>
            <p:cNvPr id="46" name="TextBox 46"/>
            <p:cNvSpPr txBox="1"/>
            <p:nvPr/>
          </p:nvSpPr>
          <p:spPr>
            <a:xfrm>
              <a:off x="2234428" y="4419600"/>
              <a:ext cx="11076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B</a:t>
              </a:r>
            </a:p>
          </p:txBody>
        </p:sp>
        <p:sp>
          <p:nvSpPr>
            <p:cNvPr id="47" name="Rectangle 47"/>
            <p:cNvSpPr/>
            <p:nvPr/>
          </p:nvSpPr>
          <p:spPr>
            <a:xfrm>
              <a:off x="2750820" y="4291012"/>
              <a:ext cx="922020" cy="406718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1F5FA8"/>
              </a:solidFill>
            </a:ln>
          </p:spPr>
        </p:sp>
        <p:sp>
          <p:nvSpPr>
            <p:cNvPr id="48" name="TextBox 48"/>
            <p:cNvSpPr txBox="1"/>
            <p:nvPr/>
          </p:nvSpPr>
          <p:spPr>
            <a:xfrm>
              <a:off x="3156448" y="4419600"/>
              <a:ext cx="11076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C</a:t>
              </a:r>
            </a:p>
          </p:txBody>
        </p:sp>
        <p:sp>
          <p:nvSpPr>
            <p:cNvPr id="49" name="TextBox 49"/>
            <p:cNvSpPr txBox="1"/>
            <p:nvPr/>
          </p:nvSpPr>
          <p:spPr>
            <a:xfrm>
              <a:off x="527304" y="4992052"/>
              <a:ext cx="27230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1F5FA8"/>
                  </a:solidFill>
                  <a:latin typeface="+mn-lt"/>
                  <a:ea typeface="+mn-ea"/>
                  <a:cs typeface="+mn-cs"/>
                </a:rPr>
                <a:t>删A</a:t>
              </a:r>
            </a:p>
          </p:txBody>
        </p:sp>
        <p:sp>
          <p:nvSpPr>
            <p:cNvPr id="50" name="Rectangle 50"/>
            <p:cNvSpPr/>
            <p:nvPr/>
          </p:nvSpPr>
          <p:spPr>
            <a:xfrm>
              <a:off x="906780" y="4863465"/>
              <a:ext cx="922020" cy="406718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1F5FA8"/>
              </a:solidFill>
            </a:ln>
          </p:spPr>
        </p:sp>
        <p:sp>
          <p:nvSpPr>
            <p:cNvPr id="51" name="TextBox 51"/>
            <p:cNvSpPr txBox="1"/>
            <p:nvPr/>
          </p:nvSpPr>
          <p:spPr>
            <a:xfrm>
              <a:off x="1312408" y="4992052"/>
              <a:ext cx="11076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B</a:t>
              </a:r>
            </a:p>
          </p:txBody>
        </p:sp>
        <p:sp>
          <p:nvSpPr>
            <p:cNvPr id="52" name="Rectangle 52"/>
            <p:cNvSpPr/>
            <p:nvPr/>
          </p:nvSpPr>
          <p:spPr>
            <a:xfrm>
              <a:off x="1828800" y="4863465"/>
              <a:ext cx="922020" cy="406718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1F5FA8"/>
              </a:solidFill>
            </a:ln>
          </p:spPr>
        </p:sp>
        <p:sp>
          <p:nvSpPr>
            <p:cNvPr id="53" name="TextBox 53"/>
            <p:cNvSpPr txBox="1"/>
            <p:nvPr/>
          </p:nvSpPr>
          <p:spPr>
            <a:xfrm>
              <a:off x="2234428" y="4992052"/>
              <a:ext cx="11076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C</a:t>
              </a:r>
            </a:p>
          </p:txBody>
        </p:sp>
        <p:sp>
          <p:nvSpPr>
            <p:cNvPr id="54" name="TextBox 54"/>
            <p:cNvSpPr txBox="1"/>
            <p:nvPr/>
          </p:nvSpPr>
          <p:spPr>
            <a:xfrm>
              <a:off x="527304" y="5564505"/>
              <a:ext cx="11076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00" b="1" dirty="0">
                  <a:solidFill>
                    <a:srgbClr val="1F5FA8"/>
                  </a:solidFill>
                  <a:latin typeface="+mn-lt"/>
                  <a:ea typeface="+mn-ea"/>
                  <a:cs typeface="+mn-cs"/>
                </a:rPr>
                <a:t>P</a:t>
              </a:r>
            </a:p>
          </p:txBody>
        </p:sp>
        <p:sp>
          <p:nvSpPr>
            <p:cNvPr id="55" name="Rectangle 55"/>
            <p:cNvSpPr/>
            <p:nvPr/>
          </p:nvSpPr>
          <p:spPr>
            <a:xfrm>
              <a:off x="906780" y="5435918"/>
              <a:ext cx="922020" cy="406718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1F5FA8"/>
              </a:solidFill>
            </a:ln>
          </p:spPr>
        </p:sp>
        <p:sp>
          <p:nvSpPr>
            <p:cNvPr id="56" name="TextBox 56"/>
            <p:cNvSpPr txBox="1"/>
            <p:nvPr/>
          </p:nvSpPr>
          <p:spPr>
            <a:xfrm>
              <a:off x="1312408" y="5564505"/>
              <a:ext cx="11076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B</a:t>
              </a:r>
            </a:p>
          </p:txBody>
        </p:sp>
        <p:sp>
          <p:nvSpPr>
            <p:cNvPr id="57" name="Rectangle 57"/>
            <p:cNvSpPr/>
            <p:nvPr/>
          </p:nvSpPr>
          <p:spPr>
            <a:xfrm>
              <a:off x="1828800" y="5435918"/>
              <a:ext cx="922020" cy="406718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1F5FA8"/>
              </a:solidFill>
            </a:ln>
          </p:spPr>
        </p:sp>
        <p:sp>
          <p:nvSpPr>
            <p:cNvPr id="58" name="TextBox 58"/>
            <p:cNvSpPr txBox="1"/>
            <p:nvPr/>
          </p:nvSpPr>
          <p:spPr>
            <a:xfrm>
              <a:off x="2234428" y="5564505"/>
              <a:ext cx="11076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C</a:t>
              </a:r>
            </a:p>
          </p:txBody>
        </p:sp>
        <p:sp>
          <p:nvSpPr>
            <p:cNvPr id="59" name="Rectangle 59"/>
            <p:cNvSpPr/>
            <p:nvPr/>
          </p:nvSpPr>
          <p:spPr>
            <a:xfrm>
              <a:off x="2750820" y="5435918"/>
              <a:ext cx="922020" cy="406718"/>
            </a:xfrm>
            <a:prstGeom prst="rect">
              <a:avLst/>
            </a:prstGeom>
            <a:solidFill>
              <a:srgbClr val="E3F5F1"/>
            </a:solidFill>
            <a:ln w="15240">
              <a:solidFill>
                <a:srgbClr val="14A38B"/>
              </a:solidFill>
            </a:ln>
          </p:spPr>
        </p:sp>
        <p:sp>
          <p:nvSpPr>
            <p:cNvPr id="60" name="TextBox 60"/>
            <p:cNvSpPr txBox="1"/>
            <p:nvPr/>
          </p:nvSpPr>
          <p:spPr>
            <a:xfrm>
              <a:off x="3156448" y="5564505"/>
              <a:ext cx="11076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0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D</a:t>
              </a:r>
            </a:p>
          </p:txBody>
        </p:sp>
      </p:grpSp>
      <p:grpSp>
        <p:nvGrpSpPr>
          <p:cNvPr id="76" name="c2-card-1"/>
          <p:cNvGrpSpPr/>
          <p:nvPr/>
        </p:nvGrpSpPr>
        <p:grpSpPr>
          <a:xfrm>
            <a:off x="6898005" y="1954530"/>
            <a:ext cx="4760595" cy="2757488"/>
            <a:chOff x="6898005" y="1954530"/>
            <a:chExt cx="4760595" cy="2757488"/>
          </a:xfrm>
        </p:grpSpPr>
        <p:sp>
          <p:nvSpPr>
            <p:cNvPr id="62" name="Rectangle 62"/>
            <p:cNvSpPr/>
            <p:nvPr/>
          </p:nvSpPr>
          <p:spPr>
            <a:xfrm>
              <a:off x="6898005" y="1954530"/>
              <a:ext cx="4760595" cy="2757488"/>
            </a:xfrm>
            <a:prstGeom prst="roundRect">
              <a:avLst>
                <a:gd name="adj" fmla="val 4836"/>
              </a:avLst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63" name="Rectangle 63"/>
            <p:cNvSpPr/>
            <p:nvPr/>
          </p:nvSpPr>
          <p:spPr>
            <a:xfrm>
              <a:off x="7101840" y="2158365"/>
              <a:ext cx="778192" cy="257175"/>
            </a:xfrm>
            <a:prstGeom prst="roundRect">
              <a:avLst>
                <a:gd name="adj" fmla="val 50000"/>
              </a:avLst>
            </a:prstGeom>
            <a:solidFill>
              <a:srgbClr val="174A85"/>
            </a:solidFill>
            <a:ln>
              <a:noFill/>
            </a:ln>
          </p:spPr>
        </p:sp>
        <p:sp>
          <p:nvSpPr>
            <p:cNvPr id="64" name="TextBox 64"/>
            <p:cNvSpPr txBox="1"/>
            <p:nvPr/>
          </p:nvSpPr>
          <p:spPr>
            <a:xfrm>
              <a:off x="7183196" y="2194084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回溯规则</a:t>
              </a:r>
            </a:p>
          </p:txBody>
        </p:sp>
        <p:sp>
          <p:nvSpPr>
            <p:cNvPr id="65" name="TextBox 65"/>
            <p:cNvSpPr txBox="1"/>
            <p:nvPr/>
          </p:nvSpPr>
          <p:spPr>
            <a:xfrm>
              <a:off x="7987094" y="2197894"/>
              <a:ext cx="1734922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每一步问同一个问题</a:t>
              </a:r>
            </a:p>
          </p:txBody>
        </p:sp>
        <p:sp>
          <p:nvSpPr>
            <p:cNvPr id="66" name="Ellipse 66"/>
            <p:cNvSpPr/>
            <p:nvPr/>
          </p:nvSpPr>
          <p:spPr>
            <a:xfrm>
              <a:off x="7101840" y="2537460"/>
              <a:ext cx="201930" cy="201930"/>
            </a:xfrm>
            <a:prstGeom prst="ellipse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67" name="TextBox 67"/>
            <p:cNvSpPr txBox="1"/>
            <p:nvPr/>
          </p:nvSpPr>
          <p:spPr>
            <a:xfrm>
              <a:off x="7160185" y="2577798"/>
              <a:ext cx="85241" cy="18922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7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68" name="TextBox 68"/>
            <p:cNvSpPr txBox="1"/>
            <p:nvPr/>
          </p:nvSpPr>
          <p:spPr>
            <a:xfrm>
              <a:off x="7391781" y="2550319"/>
              <a:ext cx="3819652" cy="5501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若 Sᵢ = Pⱼ 且 Dist[i][j] = Dist[i-1][j-1]，走</a:t>
              </a:r>
              <a:br/>
              <a:r>
                <a:rPr lang="zh-CN" sz="142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对角线，操作是“保留”。</a:t>
              </a:r>
            </a:p>
          </p:txBody>
        </p:sp>
        <p:sp>
          <p:nvSpPr>
            <p:cNvPr id="69" name="Ellipse 69"/>
            <p:cNvSpPr/>
            <p:nvPr/>
          </p:nvSpPr>
          <p:spPr>
            <a:xfrm>
              <a:off x="7101840" y="3128962"/>
              <a:ext cx="201930" cy="201930"/>
            </a:xfrm>
            <a:prstGeom prst="ellipse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70" name="TextBox 70"/>
            <p:cNvSpPr txBox="1"/>
            <p:nvPr/>
          </p:nvSpPr>
          <p:spPr>
            <a:xfrm>
              <a:off x="7160185" y="3169301"/>
              <a:ext cx="85241" cy="18922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7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71" name="TextBox 71"/>
            <p:cNvSpPr txBox="1"/>
            <p:nvPr/>
          </p:nvSpPr>
          <p:spPr>
            <a:xfrm>
              <a:off x="7391781" y="3141821"/>
              <a:ext cx="3837686" cy="5501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否则看 Dist[i][j] 等于哪个邻居加 1：左上是替</a:t>
              </a:r>
              <a:br/>
              <a:r>
                <a:rPr lang="zh-CN" sz="142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换，左邻是插入，上邻是删除。</a:t>
              </a:r>
            </a:p>
          </p:txBody>
        </p:sp>
        <p:sp>
          <p:nvSpPr>
            <p:cNvPr id="72" name="Ellipse 72"/>
            <p:cNvSpPr/>
            <p:nvPr/>
          </p:nvSpPr>
          <p:spPr>
            <a:xfrm>
              <a:off x="7101840" y="3720465"/>
              <a:ext cx="201930" cy="201930"/>
            </a:xfrm>
            <a:prstGeom prst="ellipse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73" name="TextBox 73"/>
            <p:cNvSpPr txBox="1"/>
            <p:nvPr/>
          </p:nvSpPr>
          <p:spPr>
            <a:xfrm>
              <a:off x="7160185" y="3760803"/>
              <a:ext cx="85241" cy="18922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7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74" name="TextBox 74"/>
            <p:cNvSpPr txBox="1"/>
            <p:nvPr/>
          </p:nvSpPr>
          <p:spPr>
            <a:xfrm>
              <a:off x="7391781" y="3733324"/>
              <a:ext cx="3837686" cy="5501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走到 i = 0 或 j = 0 时，剩下的整行或整列只能是</a:t>
              </a:r>
              <a:br/>
              <a:r>
                <a:rPr lang="zh-CN" sz="142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纯插入或纯删除。</a:t>
              </a:r>
            </a:p>
          </p:txBody>
        </p:sp>
        <p:sp>
          <p:nvSpPr>
            <p:cNvPr id="75" name="TextBox 75"/>
            <p:cNvSpPr txBox="1"/>
            <p:nvPr/>
          </p:nvSpPr>
          <p:spPr>
            <a:xfrm>
              <a:off x="7095744" y="4320540"/>
              <a:ext cx="388924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三个邻居同时满足时任选一个，最优方案通常不唯一。</a:t>
              </a:r>
            </a:p>
          </p:txBody>
        </p:sp>
      </p:grpSp>
      <p:grpSp>
        <p:nvGrpSpPr>
          <p:cNvPr id="83" name="c2-callout-2"/>
          <p:cNvGrpSpPr/>
          <p:nvPr/>
        </p:nvGrpSpPr>
        <p:grpSpPr>
          <a:xfrm>
            <a:off x="6898005" y="4897755"/>
            <a:ext cx="4760595" cy="1281112"/>
            <a:chOff x="6898005" y="4897755"/>
            <a:chExt cx="4760595" cy="1281112"/>
          </a:xfrm>
        </p:grpSpPr>
        <p:sp>
          <p:nvSpPr>
            <p:cNvPr id="77" name="Rectangle 77"/>
            <p:cNvSpPr/>
            <p:nvPr/>
          </p:nvSpPr>
          <p:spPr>
            <a:xfrm>
              <a:off x="6898005" y="4897755"/>
              <a:ext cx="4760595" cy="1281112"/>
            </a:xfrm>
            <a:prstGeom prst="roundRect">
              <a:avLst>
                <a:gd name="adj" fmla="val 8922"/>
              </a:avLst>
            </a:prstGeom>
            <a:solidFill>
              <a:srgbClr val="F4F6FB"/>
            </a:solidFill>
            <a:ln>
              <a:noFill/>
            </a:ln>
          </p:spPr>
        </p:sp>
        <p:grpSp>
          <p:nvGrpSpPr>
            <p:cNvPr id="81" name="Group 81"/>
            <p:cNvGrpSpPr/>
            <p:nvPr/>
          </p:nvGrpSpPr>
          <p:grpSpPr>
            <a:xfrm>
              <a:off x="7102793" y="5437823"/>
              <a:ext cx="200026" cy="200026"/>
              <a:chOff x="7102793" y="5437823"/>
              <a:chExt cx="200026" cy="200026"/>
            </a:xfrm>
          </p:grpSpPr>
          <p:sp>
            <p:nvSpPr>
              <p:cNvPr id="78" name="Freeform 78"/>
              <p:cNvSpPr/>
              <p:nvPr/>
            </p:nvSpPr>
            <p:spPr>
              <a:xfrm>
                <a:off x="7102793" y="5437823"/>
                <a:ext cx="200026" cy="200026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200026">
                    <a:moveTo>
                      <a:pt x="0" y="100013"/>
                    </a:moveTo>
                    <a:cubicBezTo>
                      <a:pt x="0" y="155248"/>
                      <a:pt x="44777" y="200026"/>
                      <a:pt x="100013" y="200026"/>
                    </a:cubicBezTo>
                    <a:cubicBezTo>
                      <a:pt x="155248" y="200026"/>
                      <a:pt x="200026" y="155248"/>
                      <a:pt x="200026" y="100013"/>
                    </a:cubicBezTo>
                    <a:cubicBezTo>
                      <a:pt x="200026" y="44777"/>
                      <a:pt x="155248" y="0"/>
                      <a:pt x="100013" y="0"/>
                    </a:cubicBezTo>
                    <a:cubicBezTo>
                      <a:pt x="44777" y="0"/>
                      <a:pt x="0" y="44777"/>
                      <a:pt x="0" y="100013"/>
                    </a:cubicBez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79" name="Freeform 79"/>
              <p:cNvSpPr/>
              <p:nvPr/>
            </p:nvSpPr>
            <p:spPr>
              <a:xfrm>
                <a:off x="7202805" y="5504498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80" name="Freeform 80"/>
              <p:cNvSpPr/>
              <p:nvPr/>
            </p:nvSpPr>
            <p:spPr>
              <a:xfrm>
                <a:off x="7191693" y="5537835"/>
                <a:ext cx="2222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22225" h="44450">
                    <a:moveTo>
                      <a:pt x="0" y="0"/>
                    </a:moveTo>
                    <a:lnTo>
                      <a:pt x="11113" y="0"/>
                    </a:lnTo>
                    <a:lnTo>
                      <a:pt x="11113" y="44450"/>
                    </a:lnTo>
                    <a:lnTo>
                      <a:pt x="22225" y="4445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</p:grpSp>
        <p:sp>
          <p:nvSpPr>
            <p:cNvPr id="82" name="TextBox 82"/>
            <p:cNvSpPr txBox="1"/>
            <p:nvPr/>
          </p:nvSpPr>
          <p:spPr>
            <a:xfrm>
              <a:off x="7405116" y="5044916"/>
              <a:ext cx="3756533" cy="106737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70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本讲义的 ds_t01_verify.c 实现了这段回溯。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FOOD → MONEY 读出的是“F→M、插入 N、O→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E、D→Y”，和源课件第 6 页的方案不同，也是 4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步。</a:t>
              </a:r>
            </a:p>
          </p:txBody>
        </p:sp>
      </p:grpSp>
      <p:grpSp>
        <p:nvGrpSpPr>
          <p:cNvPr id="86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84" name="TextBox 84"/>
            <p:cNvSpPr txBox="1"/>
            <p:nvPr/>
          </p:nvSpPr>
          <p:spPr>
            <a:xfrm>
              <a:off x="528447" y="6581299"/>
              <a:ext cx="2120748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数据结构 · 专题1 字符串的模糊匹配</a:t>
              </a:r>
            </a:p>
          </p:txBody>
        </p:sp>
        <p:sp>
          <p:nvSpPr>
            <p:cNvPr id="85" name="TextBox 85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15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2866850" cy="909257"/>
            <a:chOff x="520446" y="342900"/>
            <a:chExt cx="2866850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556510" cy="266700"/>
            </a:xfrm>
            <a:prstGeom prst="roundRect">
              <a:avLst>
                <a:gd name="adj" fmla="val 50000"/>
              </a:avLst>
            </a:prstGeom>
            <a:solidFill>
              <a:srgbClr val="E6EFF9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92206" y="407194"/>
              <a:ext cx="243889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5FA8"/>
                  </a:solidFill>
                  <a:latin typeface="+mn-lt"/>
                  <a:ea typeface="+mn-ea"/>
                  <a:cs typeface="+mn-cs"/>
                </a:rPr>
                <a:t>专题1 模糊匹配 · 字符串的编辑距离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2866850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编辑距离的 C 实现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1F5FA8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11" name="c1-code-1"/>
          <p:cNvGrpSpPr/>
          <p:nvPr/>
        </p:nvGrpSpPr>
        <p:grpSpPr>
          <a:xfrm>
            <a:off x="533400" y="1524000"/>
            <a:ext cx="6276022" cy="4559618"/>
            <a:chOff x="533400" y="1524000"/>
            <a:chExt cx="6276022" cy="4559618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6276022" cy="4559618"/>
            </a:xfrm>
            <a:prstGeom prst="roundRect">
              <a:avLst>
                <a:gd name="adj" fmla="val 2089"/>
              </a:avLst>
            </a:prstGeom>
            <a:solidFill>
              <a:srgbClr val="F6F8FA"/>
            </a:solidFill>
            <a:ln w="11430">
              <a:solidFill>
                <a:srgbClr val="D9DFEA"/>
              </a:solidFill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661797" y="1675924"/>
              <a:ext cx="862874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8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EditDistance</a:t>
              </a:r>
            </a:p>
          </p:txBody>
        </p:sp>
        <p:sp>
          <p:nvSpPr>
            <p:cNvPr id="9" name="Rectangle 9"/>
            <p:cNvSpPr/>
            <p:nvPr/>
          </p:nvSpPr>
          <p:spPr>
            <a:xfrm>
              <a:off x="552450" y="5344478"/>
              <a:ext cx="6237922" cy="202882"/>
            </a:xfrm>
            <a:prstGeom prst="rect">
              <a:avLst/>
            </a:prstGeom>
            <a:solidFill>
              <a:srgbClr val="FDEEE7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661035" y="1937861"/>
              <a:ext cx="4861814" cy="407479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598"/>
                </a:lnSpc>
              </a:pPr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#define N 110</a:t>
              </a:r>
              <a:br/>
              <a:r>
                <a:rPr lang="en-US" sz="1120" b="1" dirty="0">
                  <a:solidFill>
                    <a:srgbClr val="1F5FA8"/>
                  </a:solidFill>
                  <a:latin typeface="Consolas"/>
                  <a:ea typeface="Consolas"/>
                  <a:cs typeface="Consolas"/>
                </a:rPr>
                <a:t>int</a:t>
              </a:r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D[N][N];               </a:t>
              </a:r>
              <a:r>
                <a:rPr lang="zh-CN" sz="1120" dirty="0">
                  <a:solidFill>
                    <a:srgbClr val="0F7A68"/>
                  </a:solidFill>
                  <a:latin typeface="Consolas"/>
                  <a:ea typeface="Microsoft YaHei"/>
                  <a:cs typeface="Consolas"/>
                </a:rPr>
                <a:t>/* 全局，避免大数组压栈 */</a:t>
              </a:r>
              <a:br/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br/>
              <a:r>
                <a:rPr lang="en-US" sz="1120" b="1" dirty="0">
                  <a:solidFill>
                    <a:srgbClr val="1F5FA8"/>
                  </a:solidFill>
                  <a:latin typeface="Consolas"/>
                  <a:ea typeface="Consolas"/>
                  <a:cs typeface="Consolas"/>
                </a:rPr>
                <a:t>int</a:t>
              </a:r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min3(</a:t>
              </a:r>
              <a:r>
                <a:rPr lang="en-US" sz="1120" b="1" dirty="0">
                  <a:solidFill>
                    <a:srgbClr val="1F5FA8"/>
                  </a:solidFill>
                  <a:latin typeface="Consolas"/>
                  <a:ea typeface="Consolas"/>
                  <a:cs typeface="Consolas"/>
                </a:rPr>
                <a:t>int</a:t>
              </a:r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a, </a:t>
              </a:r>
              <a:r>
                <a:rPr lang="en-US" sz="1120" b="1" dirty="0">
                  <a:solidFill>
                    <a:srgbClr val="1F5FA8"/>
                  </a:solidFill>
                  <a:latin typeface="Consolas"/>
                  <a:ea typeface="Consolas"/>
                  <a:cs typeface="Consolas"/>
                </a:rPr>
                <a:t>int</a:t>
              </a:r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b, </a:t>
              </a:r>
              <a:r>
                <a:rPr lang="en-US" sz="1120" b="1" dirty="0">
                  <a:solidFill>
                    <a:srgbClr val="1F5FA8"/>
                  </a:solidFill>
                  <a:latin typeface="Consolas"/>
                  <a:ea typeface="Consolas"/>
                  <a:cs typeface="Consolas"/>
                </a:rPr>
                <a:t>int</a:t>
              </a:r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c) {</a:t>
              </a:r>
              <a:br/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</a:t>
              </a:r>
              <a:r>
                <a:rPr lang="en-US" sz="1120" b="1" dirty="0">
                  <a:solidFill>
                    <a:srgbClr val="1F5FA8"/>
                  </a:solidFill>
                  <a:latin typeface="Consolas"/>
                  <a:ea typeface="Consolas"/>
                  <a:cs typeface="Consolas"/>
                </a:rPr>
                <a:t>int</a:t>
              </a:r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t = a &lt; b ? a : b;</a:t>
              </a:r>
              <a:br/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</a:t>
              </a:r>
              <a:r>
                <a:rPr lang="en-US" sz="1120" b="1" dirty="0">
                  <a:solidFill>
                    <a:srgbClr val="1F5FA8"/>
                  </a:solidFill>
                  <a:latin typeface="Consolas"/>
                  <a:ea typeface="Consolas"/>
                  <a:cs typeface="Consolas"/>
                </a:rPr>
                <a:t>return</a:t>
              </a:r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t &lt; c ? t : c;</a:t>
              </a:r>
              <a:br/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}</a:t>
              </a:r>
              <a:br/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br/>
              <a:r>
                <a:rPr lang="en-US" sz="1120" b="1" dirty="0">
                  <a:solidFill>
                    <a:srgbClr val="1F5FA8"/>
                  </a:solidFill>
                  <a:latin typeface="Consolas"/>
                  <a:ea typeface="Consolas"/>
                  <a:cs typeface="Consolas"/>
                </a:rPr>
                <a:t>int</a:t>
              </a:r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EditDistance(</a:t>
              </a:r>
              <a:r>
                <a:rPr lang="en-US" sz="1120" b="1" dirty="0">
                  <a:solidFill>
                    <a:srgbClr val="1F5FA8"/>
                  </a:solidFill>
                  <a:latin typeface="Consolas"/>
                  <a:ea typeface="Consolas"/>
                  <a:cs typeface="Consolas"/>
                </a:rPr>
                <a:t>char</a:t>
              </a:r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*s, </a:t>
              </a:r>
              <a:r>
                <a:rPr lang="en-US" sz="1120" b="1" dirty="0">
                  <a:solidFill>
                    <a:srgbClr val="1F5FA8"/>
                  </a:solidFill>
                  <a:latin typeface="Consolas"/>
                  <a:ea typeface="Consolas"/>
                  <a:cs typeface="Consolas"/>
                </a:rPr>
                <a:t>char</a:t>
              </a:r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*p, </a:t>
              </a:r>
              <a:r>
                <a:rPr lang="en-US" sz="1120" b="1" dirty="0">
                  <a:solidFill>
                    <a:srgbClr val="1F5FA8"/>
                  </a:solidFill>
                  <a:latin typeface="Consolas"/>
                  <a:ea typeface="Consolas"/>
                  <a:cs typeface="Consolas"/>
                </a:rPr>
                <a:t>int</a:t>
              </a:r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n, </a:t>
              </a:r>
              <a:r>
                <a:rPr lang="en-US" sz="1120" b="1" dirty="0">
                  <a:solidFill>
                    <a:srgbClr val="1F5FA8"/>
                  </a:solidFill>
                  <a:latin typeface="Consolas"/>
                  <a:ea typeface="Consolas"/>
                  <a:cs typeface="Consolas"/>
                </a:rPr>
                <a:t>int</a:t>
              </a:r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m) {</a:t>
              </a:r>
              <a:br/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</a:t>
              </a:r>
              <a:r>
                <a:rPr lang="en-US" sz="1120" b="1" dirty="0">
                  <a:solidFill>
                    <a:srgbClr val="1F5FA8"/>
                  </a:solidFill>
                  <a:latin typeface="Consolas"/>
                  <a:ea typeface="Consolas"/>
                  <a:cs typeface="Consolas"/>
                </a:rPr>
                <a:t>int</a:t>
              </a:r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i, j;</a:t>
              </a:r>
              <a:br/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</a:t>
              </a:r>
              <a:r>
                <a:rPr lang="en-US" sz="1120" b="1" dirty="0">
                  <a:solidFill>
                    <a:srgbClr val="1F5FA8"/>
                  </a:solidFill>
                  <a:latin typeface="Consolas"/>
                  <a:ea typeface="Consolas"/>
                  <a:cs typeface="Consolas"/>
                </a:rPr>
                <a:t>for</a:t>
              </a:r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(i = 0; i &lt;= n; i++) D[i][0] = i;   </a:t>
              </a:r>
              <a:r>
                <a:rPr lang="zh-CN" sz="1120" dirty="0">
                  <a:solidFill>
                    <a:srgbClr val="0F7A68"/>
                  </a:solidFill>
                  <a:latin typeface="Consolas"/>
                  <a:ea typeface="Microsoft YaHei"/>
                  <a:cs typeface="Consolas"/>
                </a:rPr>
                <a:t>/* 第 0 列 */</a:t>
              </a:r>
              <a:br/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</a:t>
              </a:r>
              <a:r>
                <a:rPr lang="en-US" sz="1120" b="1" dirty="0">
                  <a:solidFill>
                    <a:srgbClr val="1F5FA8"/>
                  </a:solidFill>
                  <a:latin typeface="Consolas"/>
                  <a:ea typeface="Consolas"/>
                  <a:cs typeface="Consolas"/>
                </a:rPr>
                <a:t>for</a:t>
              </a:r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(j = 0; j &lt;= m; j++) D[0][j] = j;   </a:t>
              </a:r>
              <a:r>
                <a:rPr lang="zh-CN" sz="1120" dirty="0">
                  <a:solidFill>
                    <a:srgbClr val="0F7A68"/>
                  </a:solidFill>
                  <a:latin typeface="Consolas"/>
                  <a:ea typeface="Microsoft YaHei"/>
                  <a:cs typeface="Consolas"/>
                </a:rPr>
                <a:t>/* 第 0 行 */</a:t>
              </a:r>
              <a:br/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</a:t>
              </a:r>
              <a:r>
                <a:rPr lang="en-US" sz="1120" b="1" dirty="0">
                  <a:solidFill>
                    <a:srgbClr val="1F5FA8"/>
                  </a:solidFill>
                  <a:latin typeface="Consolas"/>
                  <a:ea typeface="Consolas"/>
                  <a:cs typeface="Consolas"/>
                </a:rPr>
                <a:t>for</a:t>
              </a:r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(i = 1; i &lt;= n; i++)</a:t>
              </a:r>
              <a:br/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1120" b="1" dirty="0">
                  <a:solidFill>
                    <a:srgbClr val="1F5FA8"/>
                  </a:solidFill>
                  <a:latin typeface="Consolas"/>
                  <a:ea typeface="Consolas"/>
                  <a:cs typeface="Consolas"/>
                </a:rPr>
                <a:t>for</a:t>
              </a:r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(j = 1; j &lt;= m; j++)</a:t>
              </a:r>
              <a:br/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</a:t>
              </a:r>
              <a:r>
                <a:rPr lang="en-US" sz="1120" b="1" dirty="0">
                  <a:solidFill>
                    <a:srgbClr val="1F5FA8"/>
                  </a:solidFill>
                  <a:latin typeface="Consolas"/>
                  <a:ea typeface="Consolas"/>
                  <a:cs typeface="Consolas"/>
                </a:rPr>
                <a:t>if</a:t>
              </a:r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(s[i-1] == p[j-1])</a:t>
              </a:r>
              <a:br/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D[i][j] = D[i-1][j-1];</a:t>
              </a:r>
              <a:br/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</a:t>
              </a:r>
              <a:r>
                <a:rPr lang="en-US" sz="1120" b="1" dirty="0">
                  <a:solidFill>
                    <a:srgbClr val="1F5FA8"/>
                  </a:solidFill>
                  <a:latin typeface="Consolas"/>
                  <a:ea typeface="Consolas"/>
                  <a:cs typeface="Consolas"/>
                </a:rPr>
                <a:t>else</a:t>
              </a:r>
              <a:br/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D[i][j] = 1 + min3(D[i-1][j-1], D[i][j-1], D[i-1][j]);</a:t>
              </a:r>
              <a:br/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</a:t>
              </a:r>
              <a:r>
                <a:rPr lang="en-US" sz="1120" b="1" dirty="0">
                  <a:solidFill>
                    <a:srgbClr val="1F5FA8"/>
                  </a:solidFill>
                  <a:latin typeface="Consolas"/>
                  <a:ea typeface="Consolas"/>
                  <a:cs typeface="Consolas"/>
                </a:rPr>
                <a:t>return</a:t>
              </a:r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D[n][m];</a:t>
              </a:r>
              <a:br/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}</a:t>
              </a:r>
            </a:p>
          </p:txBody>
        </p:sp>
      </p:grpSp>
      <p:grpSp>
        <p:nvGrpSpPr>
          <p:cNvPr id="20" name="c2-card-1"/>
          <p:cNvGrpSpPr/>
          <p:nvPr/>
        </p:nvGrpSpPr>
        <p:grpSpPr>
          <a:xfrm>
            <a:off x="7114222" y="1524000"/>
            <a:ext cx="4544378" cy="3345180"/>
            <a:chOff x="7114222" y="1524000"/>
            <a:chExt cx="4544378" cy="3345180"/>
          </a:xfrm>
        </p:grpSpPr>
        <p:sp>
          <p:nvSpPr>
            <p:cNvPr id="12" name="Rectangle 12"/>
            <p:cNvSpPr/>
            <p:nvPr/>
          </p:nvSpPr>
          <p:spPr>
            <a:xfrm>
              <a:off x="7114222" y="1524000"/>
              <a:ext cx="4544378" cy="3345180"/>
            </a:xfrm>
            <a:prstGeom prst="roundRect">
              <a:avLst>
                <a:gd name="adj" fmla="val 3986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13" name="Rectangle 13"/>
            <p:cNvSpPr/>
            <p:nvPr/>
          </p:nvSpPr>
          <p:spPr>
            <a:xfrm>
              <a:off x="7123748" y="1657350"/>
              <a:ext cx="47625" cy="3078480"/>
            </a:xfrm>
            <a:prstGeom prst="roundRect">
              <a:avLst>
                <a:gd name="adj" fmla="val 50000"/>
              </a:avLst>
            </a:prstGeom>
            <a:solidFill>
              <a:srgbClr val="5B6475"/>
            </a:solidFill>
            <a:ln>
              <a:noFill/>
            </a:ln>
          </p:spPr>
        </p:sp>
        <p:sp>
          <p:nvSpPr>
            <p:cNvPr id="14" name="Rectangle 14"/>
            <p:cNvSpPr/>
            <p:nvPr/>
          </p:nvSpPr>
          <p:spPr>
            <a:xfrm>
              <a:off x="7361872" y="1733550"/>
              <a:ext cx="494348" cy="257175"/>
            </a:xfrm>
            <a:prstGeom prst="roundRect">
              <a:avLst>
                <a:gd name="adj" fmla="val 50000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7452081" y="1769269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更正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7961948" y="1768792"/>
              <a:ext cx="2500998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源课件的 min 需要自己定义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7354252" y="2129790"/>
              <a:ext cx="3891915" cy="11506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更正：原课件第 14 页直接写</a:t>
              </a:r>
              <a:br/>
              <a:r>
                <a:rPr lang="en-US" sz="1500" dirty="0">
                  <a:solidFill>
                    <a:srgbClr val="174A85"/>
                  </a:solidFill>
                  <a:latin typeface="+mn-lt"/>
                  <a:ea typeface="+mn-ea"/>
                  <a:cs typeface="+mn-cs"/>
                </a:rPr>
                <a:t>1+min(D[i-1][j-1],D[i][j-1],D[i-1][j])</a:t>
              </a: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，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但标准 C 里没有 min 函数，更没有三参数版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本。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7354252" y="3322320"/>
              <a:ext cx="3577590" cy="8648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 xml:space="preserve">用 zig cc -std=c11 编译原代码报 </a:t>
              </a:r>
              <a:r>
                <a:rPr lang="en-US" sz="1500" dirty="0">
                  <a:solidFill>
                    <a:srgbClr val="174A85"/>
                  </a:solidFill>
                  <a:latin typeface="+mn-lt"/>
                  <a:ea typeface="+mn-ea"/>
                  <a:cs typeface="+mn-cs"/>
                </a:rPr>
                <a:t>call to</a:t>
              </a:r>
              <a:br/>
              <a:r>
                <a:rPr lang="en-US" sz="1500" dirty="0">
                  <a:solidFill>
                    <a:srgbClr val="174A85"/>
                  </a:solidFill>
                  <a:latin typeface="+mn-lt"/>
                  <a:ea typeface="+mn-ea"/>
                  <a:cs typeface="+mn-cs"/>
                </a:rPr>
                <a:t>undeclared function 'min'</a:t>
              </a: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。本页补上了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min3 的定义。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7355396" y="4225766"/>
              <a:ext cx="3898138" cy="483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845"/>
                </a:lnSpc>
              </a:pPr>
              <a:r>
                <a:rPr lang="zh-CN" sz="12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C++ 的 std::min 普通版本只收两个参数，三个数要写</a:t>
              </a:r>
              <a:br/>
              <a:r>
                <a:rPr lang="zh-CN" sz="12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成 std::min({a, b, c})（C++11）或嵌套两层。</a:t>
              </a:r>
            </a:p>
          </p:txBody>
        </p:sp>
      </p:grpSp>
      <p:grpSp>
        <p:nvGrpSpPr>
          <p:cNvPr id="27" name="c2-callout-2"/>
          <p:cNvGrpSpPr/>
          <p:nvPr/>
        </p:nvGrpSpPr>
        <p:grpSpPr>
          <a:xfrm>
            <a:off x="7114222" y="5059680"/>
            <a:ext cx="4544378" cy="1059180"/>
            <a:chOff x="7114222" y="5059680"/>
            <a:chExt cx="4544378" cy="1059180"/>
          </a:xfrm>
        </p:grpSpPr>
        <p:sp>
          <p:nvSpPr>
            <p:cNvPr id="21" name="Rectangle 21"/>
            <p:cNvSpPr/>
            <p:nvPr/>
          </p:nvSpPr>
          <p:spPr>
            <a:xfrm>
              <a:off x="7114222" y="5059680"/>
              <a:ext cx="4544378" cy="1059180"/>
            </a:xfrm>
            <a:prstGeom prst="roundRect">
              <a:avLst>
                <a:gd name="adj" fmla="val 10791"/>
              </a:avLst>
            </a:prstGeom>
            <a:solidFill>
              <a:srgbClr val="FDEEE7"/>
            </a:solidFill>
            <a:ln>
              <a:noFill/>
            </a:ln>
          </p:spPr>
        </p:sp>
        <p:grpSp>
          <p:nvGrpSpPr>
            <p:cNvPr id="25" name="Group 25"/>
            <p:cNvGrpSpPr/>
            <p:nvPr/>
          </p:nvGrpSpPr>
          <p:grpSpPr>
            <a:xfrm>
              <a:off x="7319010" y="5489258"/>
              <a:ext cx="200026" cy="200025"/>
              <a:chOff x="7319010" y="5489258"/>
              <a:chExt cx="200026" cy="200025"/>
            </a:xfrm>
          </p:grpSpPr>
          <p:sp>
            <p:nvSpPr>
              <p:cNvPr id="22" name="Freeform 22"/>
              <p:cNvSpPr/>
              <p:nvPr/>
            </p:nvSpPr>
            <p:spPr>
              <a:xfrm>
                <a:off x="7319010" y="5489258"/>
                <a:ext cx="200026" cy="100013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100013">
                    <a:moveTo>
                      <a:pt x="0" y="100013"/>
                    </a:moveTo>
                    <a:lnTo>
                      <a:pt x="11113" y="100013"/>
                    </a:lnTo>
                    <a:moveTo>
                      <a:pt x="100013" y="0"/>
                    </a:moveTo>
                    <a:lnTo>
                      <a:pt x="100013" y="11113"/>
                    </a:lnTo>
                    <a:moveTo>
                      <a:pt x="188913" y="100013"/>
                    </a:moveTo>
                    <a:lnTo>
                      <a:pt x="200026" y="100013"/>
                    </a:lnTo>
                    <a:moveTo>
                      <a:pt x="28893" y="28893"/>
                    </a:moveTo>
                    <a:lnTo>
                      <a:pt x="36671" y="36671"/>
                    </a:lnTo>
                    <a:moveTo>
                      <a:pt x="171133" y="28893"/>
                    </a:moveTo>
                    <a:lnTo>
                      <a:pt x="163354" y="36671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23" name="Freeform 23"/>
              <p:cNvSpPr/>
              <p:nvPr/>
            </p:nvSpPr>
            <p:spPr>
              <a:xfrm>
                <a:off x="7358749" y="5533708"/>
                <a:ext cx="120548" cy="155575"/>
              </a:xfrm>
              <a:custGeom>
                <a:avLst/>
                <a:gdLst/>
                <a:ahLst/>
                <a:cxnLst/>
                <a:rect l="l" t="t" r="r" b="b"/>
                <a:pathLst>
                  <a:path w="120548" h="155575">
                    <a:moveTo>
                      <a:pt x="26937" y="100013"/>
                    </a:moveTo>
                    <a:cubicBezTo>
                      <a:pt x="7804" y="85663"/>
                      <a:pt x="0" y="60681"/>
                      <a:pt x="7563" y="37992"/>
                    </a:cubicBezTo>
                    <a:cubicBezTo>
                      <a:pt x="15126" y="15304"/>
                      <a:pt x="36358" y="0"/>
                      <a:pt x="60274" y="0"/>
                    </a:cubicBezTo>
                    <a:cubicBezTo>
                      <a:pt x="84190" y="0"/>
                      <a:pt x="105423" y="15304"/>
                      <a:pt x="112986" y="37992"/>
                    </a:cubicBezTo>
                    <a:cubicBezTo>
                      <a:pt x="120548" y="60681"/>
                      <a:pt x="112745" y="85663"/>
                      <a:pt x="93612" y="100013"/>
                    </a:cubicBezTo>
                    <a:cubicBezTo>
                      <a:pt x="84812" y="108723"/>
                      <a:pt x="80686" y="121103"/>
                      <a:pt x="82499" y="133350"/>
                    </a:cubicBezTo>
                    <a:cubicBezTo>
                      <a:pt x="82499" y="145625"/>
                      <a:pt x="72549" y="155575"/>
                      <a:pt x="60274" y="155575"/>
                    </a:cubicBezTo>
                    <a:cubicBezTo>
                      <a:pt x="48000" y="155575"/>
                      <a:pt x="38049" y="145625"/>
                      <a:pt x="38049" y="133350"/>
                    </a:cubicBezTo>
                    <a:cubicBezTo>
                      <a:pt x="39862" y="121103"/>
                      <a:pt x="35736" y="108723"/>
                      <a:pt x="26937" y="100013"/>
                    </a:cubicBez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24" name="Freeform 24"/>
              <p:cNvSpPr/>
              <p:nvPr/>
            </p:nvSpPr>
            <p:spPr>
              <a:xfrm>
                <a:off x="7393464" y="5644833"/>
                <a:ext cx="51118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51118" h="9525">
                    <a:moveTo>
                      <a:pt x="0" y="0"/>
                    </a:moveTo>
                    <a:lnTo>
                      <a:pt x="51118" y="0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</p:grpSp>
        <p:sp>
          <p:nvSpPr>
            <p:cNvPr id="26" name="TextBox 26"/>
            <p:cNvSpPr txBox="1"/>
            <p:nvPr/>
          </p:nvSpPr>
          <p:spPr>
            <a:xfrm>
              <a:off x="7620952" y="5208270"/>
              <a:ext cx="3634740" cy="8458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75"/>
                </a:lnSpc>
              </a:pPr>
              <a:r>
                <a:rPr lang="zh-CN" sz="150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两重循环里的 s[i-1]、p[j-1] 是唯一和下</a:t>
              </a:r>
              <a:br/>
              <a:r>
                <a:rPr lang="zh-CN" sz="150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标约定打交道的地方，读代码时先把它对准</a:t>
              </a:r>
              <a:br/>
              <a:r>
                <a:rPr lang="zh-CN" sz="150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表格的第 i 行第 j 列。</a:t>
              </a:r>
            </a:p>
          </p:txBody>
        </p:sp>
      </p:grpSp>
      <p:grpSp>
        <p:nvGrpSpPr>
          <p:cNvPr id="30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28" name="TextBox 28"/>
            <p:cNvSpPr txBox="1"/>
            <p:nvPr/>
          </p:nvSpPr>
          <p:spPr>
            <a:xfrm>
              <a:off x="528447" y="6581299"/>
              <a:ext cx="2120748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数据结构 · 专题1 字符串的模糊匹配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16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5412278" cy="909257"/>
            <a:chOff x="520446" y="342900"/>
            <a:chExt cx="5412278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556510" cy="266700"/>
            </a:xfrm>
            <a:prstGeom prst="roundRect">
              <a:avLst>
                <a:gd name="adj" fmla="val 50000"/>
              </a:avLst>
            </a:prstGeom>
            <a:solidFill>
              <a:srgbClr val="E6EFF9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92206" y="407194"/>
              <a:ext cx="243889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5FA8"/>
                  </a:solidFill>
                  <a:latin typeface="+mn-lt"/>
                  <a:ea typeface="+mn-ea"/>
                  <a:cs typeface="+mn-cs"/>
                </a:rPr>
                <a:t>专题1 模糊匹配 · 字符串的编辑距离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5412278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复杂度 O(nm)，空间可以压到一行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1F5FA8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15" name="c1-card-1"/>
          <p:cNvGrpSpPr/>
          <p:nvPr/>
        </p:nvGrpSpPr>
        <p:grpSpPr>
          <a:xfrm>
            <a:off x="533400" y="1524000"/>
            <a:ext cx="4544378" cy="2577465"/>
            <a:chOff x="533400" y="1524000"/>
            <a:chExt cx="4544378" cy="2577465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4544378" cy="2577465"/>
            </a:xfrm>
            <a:prstGeom prst="roundRect">
              <a:avLst>
                <a:gd name="adj" fmla="val 5174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8" name="Rectangle 8"/>
            <p:cNvSpPr/>
            <p:nvPr/>
          </p:nvSpPr>
          <p:spPr>
            <a:xfrm>
              <a:off x="542925" y="1657350"/>
              <a:ext cx="47625" cy="2310765"/>
            </a:xfrm>
            <a:prstGeom prst="roundRect">
              <a:avLst>
                <a:gd name="adj" fmla="val 50000"/>
              </a:avLst>
            </a:prstGeom>
            <a:solidFill>
              <a:srgbClr val="F26B3A"/>
            </a:solidFill>
            <a:ln>
              <a:noFill/>
            </a:ln>
          </p:spPr>
        </p:sp>
        <p:sp>
          <p:nvSpPr>
            <p:cNvPr id="9" name="Rectangle 9"/>
            <p:cNvSpPr/>
            <p:nvPr/>
          </p:nvSpPr>
          <p:spPr>
            <a:xfrm>
              <a:off x="781050" y="1733550"/>
              <a:ext cx="636270" cy="257175"/>
            </a:xfrm>
            <a:prstGeom prst="roundRect">
              <a:avLst>
                <a:gd name="adj" fmla="val 50000"/>
              </a:avLst>
            </a:prstGeom>
            <a:solidFill>
              <a:srgbClr val="FDEEE7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867308" y="1769269"/>
              <a:ext cx="4637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复杂度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1524000" y="1768792"/>
              <a:ext cx="102489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时间与空间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773430" y="2129790"/>
              <a:ext cx="3807619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 xml:space="preserve">时间 </a:t>
              </a:r>
              <a:r>
                <a:rPr lang="en-US" sz="150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O(nm)</a:t>
              </a: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：一共 (n+1)(m+1) 个格子，每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格做常数次比较和取最小。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773430" y="2750820"/>
              <a:ext cx="3168015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朴素空间 O(nm)：n = m = 1000 时要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1002001 个 int，约 3.8 MB。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773430" y="3371850"/>
              <a:ext cx="393954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 xml:space="preserve">滚动数组把空间降到 </a:t>
              </a:r>
              <a:r>
                <a:rPr lang="en-US" sz="150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O(min(n, m))</a:t>
              </a: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：只留一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行（让较短的串当 P），1001 个 int 约 4 KB。</a:t>
              </a:r>
            </a:p>
          </p:txBody>
        </p:sp>
      </p:grpSp>
      <p:grpSp>
        <p:nvGrpSpPr>
          <p:cNvPr id="22" name="c1-callout-2"/>
          <p:cNvGrpSpPr/>
          <p:nvPr/>
        </p:nvGrpSpPr>
        <p:grpSpPr>
          <a:xfrm>
            <a:off x="533400" y="4291965"/>
            <a:ext cx="4544378" cy="1750695"/>
            <a:chOff x="533400" y="4291965"/>
            <a:chExt cx="4544378" cy="1750695"/>
          </a:xfrm>
        </p:grpSpPr>
        <p:sp>
          <p:nvSpPr>
            <p:cNvPr id="16" name="Rectangle 16"/>
            <p:cNvSpPr/>
            <p:nvPr/>
          </p:nvSpPr>
          <p:spPr>
            <a:xfrm>
              <a:off x="533400" y="4291965"/>
              <a:ext cx="4544378" cy="1750695"/>
            </a:xfrm>
            <a:prstGeom prst="roundRect">
              <a:avLst>
                <a:gd name="adj" fmla="val 6529"/>
              </a:avLst>
            </a:prstGeom>
            <a:solidFill>
              <a:srgbClr val="FDECEA"/>
            </a:solidFill>
            <a:ln>
              <a:noFill/>
            </a:ln>
          </p:spPr>
        </p:sp>
        <p:grpSp>
          <p:nvGrpSpPr>
            <p:cNvPr id="20" name="Group 20"/>
            <p:cNvGrpSpPr/>
            <p:nvPr/>
          </p:nvGrpSpPr>
          <p:grpSpPr>
            <a:xfrm>
              <a:off x="726129" y="5063608"/>
              <a:ext cx="224134" cy="192560"/>
              <a:chOff x="726129" y="5063608"/>
              <a:chExt cx="224134" cy="192560"/>
            </a:xfrm>
          </p:grpSpPr>
          <p:sp>
            <p:nvSpPr>
              <p:cNvPr id="17" name="Freeform 17"/>
              <p:cNvSpPr/>
              <p:nvPr/>
            </p:nvSpPr>
            <p:spPr>
              <a:xfrm>
                <a:off x="838200" y="5133975"/>
                <a:ext cx="952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44450">
                    <a:moveTo>
                      <a:pt x="0" y="0"/>
                    </a:moveTo>
                    <a:lnTo>
                      <a:pt x="0" y="44450"/>
                    </a:ln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  <p:sp>
            <p:nvSpPr>
              <p:cNvPr id="18" name="Freeform 18"/>
              <p:cNvSpPr/>
              <p:nvPr/>
            </p:nvSpPr>
            <p:spPr>
              <a:xfrm>
                <a:off x="726129" y="5063608"/>
                <a:ext cx="224134" cy="192560"/>
              </a:xfrm>
              <a:custGeom>
                <a:avLst/>
                <a:gdLst/>
                <a:ahLst/>
                <a:cxnLst/>
                <a:rect l="l" t="t" r="r" b="b"/>
                <a:pathLst>
                  <a:path w="224134" h="192560">
                    <a:moveTo>
                      <a:pt x="93880" y="10259"/>
                    </a:moveTo>
                    <a:lnTo>
                      <a:pt x="3802" y="160656"/>
                    </a:lnTo>
                    <a:cubicBezTo>
                      <a:pt x="23" y="167200"/>
                      <a:pt x="0" y="175257"/>
                      <a:pt x="3741" y="181823"/>
                    </a:cubicBezTo>
                    <a:cubicBezTo>
                      <a:pt x="7482" y="188388"/>
                      <a:pt x="14426" y="192476"/>
                      <a:pt x="21982" y="192560"/>
                    </a:cubicBezTo>
                    <a:lnTo>
                      <a:pt x="202160" y="192560"/>
                    </a:lnTo>
                    <a:cubicBezTo>
                      <a:pt x="209713" y="192473"/>
                      <a:pt x="216653" y="188387"/>
                      <a:pt x="220393" y="181826"/>
                    </a:cubicBezTo>
                    <a:cubicBezTo>
                      <a:pt x="224134" y="175264"/>
                      <a:pt x="224114" y="167211"/>
                      <a:pt x="220341" y="160667"/>
                    </a:cubicBezTo>
                    <a:lnTo>
                      <a:pt x="130262" y="10248"/>
                    </a:lnTo>
                    <a:cubicBezTo>
                      <a:pt x="126408" y="3886"/>
                      <a:pt x="119510" y="0"/>
                      <a:pt x="112071" y="0"/>
                    </a:cubicBezTo>
                    <a:cubicBezTo>
                      <a:pt x="104633" y="0"/>
                      <a:pt x="97734" y="3886"/>
                      <a:pt x="93880" y="10248"/>
                    </a:cubicBez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  <p:sp>
            <p:nvSpPr>
              <p:cNvPr id="19" name="Freeform 19"/>
              <p:cNvSpPr/>
              <p:nvPr/>
            </p:nvSpPr>
            <p:spPr>
              <a:xfrm>
                <a:off x="838200" y="5211763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</p:grpSp>
        <p:sp>
          <p:nvSpPr>
            <p:cNvPr id="21" name="TextBox 21"/>
            <p:cNvSpPr txBox="1"/>
            <p:nvPr/>
          </p:nvSpPr>
          <p:spPr>
            <a:xfrm>
              <a:off x="1040130" y="4786312"/>
              <a:ext cx="3663315" cy="8458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75"/>
                </a:lnSpc>
              </a:pPr>
              <a:r>
                <a:rPr lang="zh-CN" sz="1500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O(nm) 的前提是单次字符比较为 O(1)。比</a:t>
              </a:r>
              <a:br/>
              <a:r>
                <a:rPr lang="zh-CN" sz="1500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较的若是长单词或整行文本，要把比较代价</a:t>
              </a:r>
              <a:br/>
              <a:r>
                <a:rPr lang="zh-CN" sz="1500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单独计入。</a:t>
              </a:r>
            </a:p>
          </p:txBody>
        </p:sp>
      </p:grpSp>
      <p:grpSp>
        <p:nvGrpSpPr>
          <p:cNvPr id="26" name="c2-code-1"/>
          <p:cNvGrpSpPr/>
          <p:nvPr/>
        </p:nvGrpSpPr>
        <p:grpSpPr>
          <a:xfrm>
            <a:off x="5382578" y="1524000"/>
            <a:ext cx="6276022" cy="3545205"/>
            <a:chOff x="5382578" y="1524000"/>
            <a:chExt cx="6276022" cy="3545205"/>
          </a:xfrm>
        </p:grpSpPr>
        <p:sp>
          <p:nvSpPr>
            <p:cNvPr id="23" name="Rectangle 23"/>
            <p:cNvSpPr/>
            <p:nvPr/>
          </p:nvSpPr>
          <p:spPr>
            <a:xfrm>
              <a:off x="5382578" y="1524000"/>
              <a:ext cx="6276022" cy="3545205"/>
            </a:xfrm>
            <a:prstGeom prst="roundRect">
              <a:avLst>
                <a:gd name="adj" fmla="val 2687"/>
              </a:avLst>
            </a:prstGeom>
            <a:solidFill>
              <a:srgbClr val="F6F8FA"/>
            </a:solidFill>
            <a:ln w="11430">
              <a:solidFill>
                <a:srgbClr val="D9DFEA"/>
              </a:solidFill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5510974" y="1675924"/>
              <a:ext cx="1593037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滚动数组版（只保留一行）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5510212" y="1937861"/>
              <a:ext cx="4470654" cy="306038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598"/>
                </a:lnSpc>
              </a:pPr>
              <a:r>
                <a:rPr lang="en-US" sz="1120" b="1" dirty="0">
                  <a:solidFill>
                    <a:srgbClr val="1F5FA8"/>
                  </a:solidFill>
                  <a:latin typeface="Consolas"/>
                  <a:ea typeface="Consolas"/>
                  <a:cs typeface="Consolas"/>
                </a:rPr>
                <a:t>int</a:t>
              </a:r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EditDistanceRolling(</a:t>
              </a:r>
              <a:r>
                <a:rPr lang="en-US" sz="1120" b="1" dirty="0">
                  <a:solidFill>
                    <a:srgbClr val="1F5FA8"/>
                  </a:solidFill>
                  <a:latin typeface="Consolas"/>
                  <a:ea typeface="Consolas"/>
                  <a:cs typeface="Consolas"/>
                </a:rPr>
                <a:t>char</a:t>
              </a:r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*s, </a:t>
              </a:r>
              <a:r>
                <a:rPr lang="en-US" sz="1120" b="1" dirty="0">
                  <a:solidFill>
                    <a:srgbClr val="1F5FA8"/>
                  </a:solidFill>
                  <a:latin typeface="Consolas"/>
                  <a:ea typeface="Consolas"/>
                  <a:cs typeface="Consolas"/>
                </a:rPr>
                <a:t>char</a:t>
              </a:r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*p, </a:t>
              </a:r>
              <a:r>
                <a:rPr lang="en-US" sz="1120" b="1" dirty="0">
                  <a:solidFill>
                    <a:srgbClr val="1F5FA8"/>
                  </a:solidFill>
                  <a:latin typeface="Consolas"/>
                  <a:ea typeface="Consolas"/>
                  <a:cs typeface="Consolas"/>
                </a:rPr>
                <a:t>int</a:t>
              </a:r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n, </a:t>
              </a:r>
              <a:r>
                <a:rPr lang="en-US" sz="1120" b="1" dirty="0">
                  <a:solidFill>
                    <a:srgbClr val="1F5FA8"/>
                  </a:solidFill>
                  <a:latin typeface="Consolas"/>
                  <a:ea typeface="Consolas"/>
                  <a:cs typeface="Consolas"/>
                </a:rPr>
                <a:t>int</a:t>
              </a:r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m) {</a:t>
              </a:r>
              <a:br/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</a:t>
              </a:r>
              <a:r>
                <a:rPr lang="en-US" sz="1120" b="1" dirty="0">
                  <a:solidFill>
                    <a:srgbClr val="1F5FA8"/>
                  </a:solidFill>
                  <a:latin typeface="Consolas"/>
                  <a:ea typeface="Consolas"/>
                  <a:cs typeface="Consolas"/>
                </a:rPr>
                <a:t>int</a:t>
              </a:r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cur[N], i, j, prev, up;</a:t>
              </a:r>
              <a:br/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</a:t>
              </a:r>
              <a:r>
                <a:rPr lang="en-US" sz="1120" b="1" dirty="0">
                  <a:solidFill>
                    <a:srgbClr val="1F5FA8"/>
                  </a:solidFill>
                  <a:latin typeface="Consolas"/>
                  <a:ea typeface="Consolas"/>
                  <a:cs typeface="Consolas"/>
                </a:rPr>
                <a:t>for</a:t>
              </a:r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(j = 0; j &lt;= m; j++) cur[j] = j;</a:t>
              </a:r>
              <a:br/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</a:t>
              </a:r>
              <a:r>
                <a:rPr lang="en-US" sz="1120" b="1" dirty="0">
                  <a:solidFill>
                    <a:srgbClr val="1F5FA8"/>
                  </a:solidFill>
                  <a:latin typeface="Consolas"/>
                  <a:ea typeface="Consolas"/>
                  <a:cs typeface="Consolas"/>
                </a:rPr>
                <a:t>for</a:t>
              </a:r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(i = 1; i &lt;= n; i++) {</a:t>
              </a:r>
              <a:br/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prev = cur[0];        </a:t>
              </a:r>
              <a:r>
                <a:rPr lang="zh-CN" sz="1120" dirty="0">
                  <a:solidFill>
                    <a:srgbClr val="0F7A68"/>
                  </a:solidFill>
                  <a:latin typeface="Consolas"/>
                  <a:ea typeface="Microsoft YaHei"/>
                  <a:cs typeface="Consolas"/>
                </a:rPr>
                <a:t>/* prev 存 D[i-1][j-1] */</a:t>
              </a:r>
              <a:br/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cur[0] = i;</a:t>
              </a:r>
              <a:br/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1120" b="1" dirty="0">
                  <a:solidFill>
                    <a:srgbClr val="1F5FA8"/>
                  </a:solidFill>
                  <a:latin typeface="Consolas"/>
                  <a:ea typeface="Consolas"/>
                  <a:cs typeface="Consolas"/>
                </a:rPr>
                <a:t>for</a:t>
              </a:r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(j = 1; j &lt;= m; j++) {</a:t>
              </a:r>
              <a:br/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up = cur[j];        </a:t>
              </a:r>
              <a:r>
                <a:rPr lang="zh-CN" sz="1120" dirty="0">
                  <a:solidFill>
                    <a:srgbClr val="0F7A68"/>
                  </a:solidFill>
                  <a:latin typeface="Consolas"/>
                  <a:ea typeface="Microsoft YaHei"/>
                  <a:cs typeface="Consolas"/>
                </a:rPr>
                <a:t>/* 覆盖前先存 D[i-1][j] */</a:t>
              </a:r>
              <a:br/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</a:t>
              </a:r>
              <a:r>
                <a:rPr lang="en-US" sz="1120" b="1" dirty="0">
                  <a:solidFill>
                    <a:srgbClr val="1F5FA8"/>
                  </a:solidFill>
                  <a:latin typeface="Consolas"/>
                  <a:ea typeface="Consolas"/>
                  <a:cs typeface="Consolas"/>
                </a:rPr>
                <a:t>if</a:t>
              </a:r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(s[i-1] == p[j-1]) cur[j] = prev;</a:t>
              </a:r>
              <a:br/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</a:t>
              </a:r>
              <a:r>
                <a:rPr lang="en-US" sz="1120" b="1" dirty="0">
                  <a:solidFill>
                    <a:srgbClr val="1F5FA8"/>
                  </a:solidFill>
                  <a:latin typeface="Consolas"/>
                  <a:ea typeface="Consolas"/>
                  <a:cs typeface="Consolas"/>
                </a:rPr>
                <a:t>else</a:t>
              </a:r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cur[j] = 1 + min3(prev, cur[j-1], up);</a:t>
              </a:r>
              <a:br/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prev = up;</a:t>
              </a:r>
              <a:br/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}</a:t>
              </a:r>
              <a:br/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}</a:t>
              </a:r>
              <a:br/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</a:t>
              </a:r>
              <a:r>
                <a:rPr lang="en-US" sz="1120" b="1" dirty="0">
                  <a:solidFill>
                    <a:srgbClr val="1F5FA8"/>
                  </a:solidFill>
                  <a:latin typeface="Consolas"/>
                  <a:ea typeface="Consolas"/>
                  <a:cs typeface="Consolas"/>
                </a:rPr>
                <a:t>return</a:t>
              </a:r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cur[m];</a:t>
              </a:r>
              <a:br/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}</a:t>
              </a:r>
            </a:p>
          </p:txBody>
        </p:sp>
      </p:grpSp>
      <p:grpSp>
        <p:nvGrpSpPr>
          <p:cNvPr id="33" name="c2-callout-2"/>
          <p:cNvGrpSpPr/>
          <p:nvPr/>
        </p:nvGrpSpPr>
        <p:grpSpPr>
          <a:xfrm>
            <a:off x="5382578" y="5259705"/>
            <a:ext cx="6276022" cy="782955"/>
            <a:chOff x="5382578" y="5259705"/>
            <a:chExt cx="6276022" cy="782955"/>
          </a:xfrm>
        </p:grpSpPr>
        <p:sp>
          <p:nvSpPr>
            <p:cNvPr id="27" name="Rectangle 27"/>
            <p:cNvSpPr/>
            <p:nvPr/>
          </p:nvSpPr>
          <p:spPr>
            <a:xfrm>
              <a:off x="5382578" y="5259705"/>
              <a:ext cx="6276022" cy="782955"/>
            </a:xfrm>
            <a:prstGeom prst="roundRect">
              <a:avLst>
                <a:gd name="adj" fmla="val 14599"/>
              </a:avLst>
            </a:prstGeom>
            <a:solidFill>
              <a:srgbClr val="F4F6FB"/>
            </a:solidFill>
            <a:ln>
              <a:noFill/>
            </a:ln>
          </p:spPr>
        </p:sp>
        <p:grpSp>
          <p:nvGrpSpPr>
            <p:cNvPr id="31" name="Group 31"/>
            <p:cNvGrpSpPr/>
            <p:nvPr/>
          </p:nvGrpSpPr>
          <p:grpSpPr>
            <a:xfrm>
              <a:off x="5587365" y="5551170"/>
              <a:ext cx="200026" cy="200026"/>
              <a:chOff x="5587365" y="5551170"/>
              <a:chExt cx="200026" cy="200026"/>
            </a:xfrm>
          </p:grpSpPr>
          <p:sp>
            <p:nvSpPr>
              <p:cNvPr id="28" name="Freeform 28"/>
              <p:cNvSpPr/>
              <p:nvPr/>
            </p:nvSpPr>
            <p:spPr>
              <a:xfrm>
                <a:off x="5587365" y="5551170"/>
                <a:ext cx="200026" cy="200026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200026">
                    <a:moveTo>
                      <a:pt x="0" y="100013"/>
                    </a:moveTo>
                    <a:cubicBezTo>
                      <a:pt x="0" y="155248"/>
                      <a:pt x="44777" y="200026"/>
                      <a:pt x="100013" y="200026"/>
                    </a:cubicBezTo>
                    <a:cubicBezTo>
                      <a:pt x="155248" y="200026"/>
                      <a:pt x="200026" y="155248"/>
                      <a:pt x="200026" y="100013"/>
                    </a:cubicBezTo>
                    <a:cubicBezTo>
                      <a:pt x="200026" y="44777"/>
                      <a:pt x="155248" y="0"/>
                      <a:pt x="100013" y="0"/>
                    </a:cubicBezTo>
                    <a:cubicBezTo>
                      <a:pt x="44777" y="0"/>
                      <a:pt x="0" y="44777"/>
                      <a:pt x="0" y="100013"/>
                    </a:cubicBez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29" name="Freeform 29"/>
              <p:cNvSpPr/>
              <p:nvPr/>
            </p:nvSpPr>
            <p:spPr>
              <a:xfrm>
                <a:off x="5687378" y="5617845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30" name="Freeform 30"/>
              <p:cNvSpPr/>
              <p:nvPr/>
            </p:nvSpPr>
            <p:spPr>
              <a:xfrm>
                <a:off x="5676265" y="5651183"/>
                <a:ext cx="2222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22225" h="44450">
                    <a:moveTo>
                      <a:pt x="0" y="0"/>
                    </a:moveTo>
                    <a:lnTo>
                      <a:pt x="11113" y="0"/>
                    </a:lnTo>
                    <a:lnTo>
                      <a:pt x="11113" y="44450"/>
                    </a:lnTo>
                    <a:lnTo>
                      <a:pt x="22225" y="4445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</p:grpSp>
        <p:sp>
          <p:nvSpPr>
            <p:cNvPr id="32" name="TextBox 32"/>
            <p:cNvSpPr txBox="1"/>
            <p:nvPr/>
          </p:nvSpPr>
          <p:spPr>
            <a:xfrm>
              <a:off x="5889308" y="5408295"/>
              <a:ext cx="5349240" cy="56959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75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压成一行之后表就没了，回溯不出具体的编辑方案。要方案就得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留整张表。</a:t>
              </a:r>
            </a:p>
          </p:txBody>
        </p:sp>
      </p:grpSp>
      <p:grpSp>
        <p:nvGrpSpPr>
          <p:cNvPr id="36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34" name="TextBox 34"/>
            <p:cNvSpPr txBox="1"/>
            <p:nvPr/>
          </p:nvSpPr>
          <p:spPr>
            <a:xfrm>
              <a:off x="528447" y="6581299"/>
              <a:ext cx="2120748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数据结构 · 专题1 字符串的模糊匹配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17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6548247" cy="909257"/>
            <a:chOff x="520446" y="342900"/>
            <a:chExt cx="6548247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556510" cy="266700"/>
            </a:xfrm>
            <a:prstGeom prst="roundRect">
              <a:avLst>
                <a:gd name="adj" fmla="val 50000"/>
              </a:avLst>
            </a:prstGeom>
            <a:solidFill>
              <a:srgbClr val="E6EFF9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92206" y="407194"/>
              <a:ext cx="243889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5FA8"/>
                  </a:solidFill>
                  <a:latin typeface="+mn-lt"/>
                  <a:ea typeface="+mn-ea"/>
                  <a:cs typeface="+mn-cs"/>
                </a:rPr>
                <a:t>专题1 模糊匹配 · 字符串的编辑距离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6548247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编辑距离的五条性质，用来自查算得对不对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1F5FA8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35" name="c1-table-1"/>
          <p:cNvGrpSpPr/>
          <p:nvPr/>
        </p:nvGrpSpPr>
        <p:grpSpPr>
          <a:xfrm>
            <a:off x="533400" y="1524000"/>
            <a:ext cx="5842635" cy="3826192"/>
            <a:chOff x="533400" y="1524000"/>
            <a:chExt cx="5842635" cy="3826192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5842635" cy="448628"/>
            </a:xfrm>
            <a:prstGeom prst="rect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938492" y="1659731"/>
              <a:ext cx="35758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性质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2925407" y="1659731"/>
              <a:ext cx="35758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内容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5262842" y="1659731"/>
              <a:ext cx="35758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例子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641223" y="2108359"/>
              <a:ext cx="825754" cy="4760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785"/>
                </a:lnSpc>
              </a:pPr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非负且可判</a:t>
              </a:r>
              <a:br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同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1809940" y="2108359"/>
              <a:ext cx="2288794" cy="4760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785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Dist(S, P) = 0 当且仅当 S 与 P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完全相同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4614100" y="2221706"/>
              <a:ext cx="1404549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Dist(AB, AB) = 0</a:t>
              </a:r>
            </a:p>
          </p:txBody>
        </p:sp>
        <p:sp>
          <p:nvSpPr>
            <p:cNvPr id="14" name="Rectangle 14"/>
            <p:cNvSpPr/>
            <p:nvPr/>
          </p:nvSpPr>
          <p:spPr>
            <a:xfrm>
              <a:off x="533400" y="2643188"/>
              <a:ext cx="584263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5" name="Rectangle 15"/>
            <p:cNvSpPr/>
            <p:nvPr/>
          </p:nvSpPr>
          <p:spPr>
            <a:xfrm>
              <a:off x="533400" y="2647950"/>
              <a:ext cx="5842635" cy="675322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641223" y="2897029"/>
              <a:ext cx="35758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对称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1809940" y="2897029"/>
              <a:ext cx="1988627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Dist(S, P) = Dist(P, S)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4614100" y="2783681"/>
              <a:ext cx="1475994" cy="4760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785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插入与删除互为逆操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作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533400" y="3319462"/>
              <a:ext cx="584263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641223" y="3572351"/>
              <a:ext cx="35758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下界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1809940" y="3572351"/>
              <a:ext cx="1082680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Dist ≥ |n - m|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4614100" y="3459004"/>
              <a:ext cx="931418" cy="4760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785"/>
                </a:lnSpc>
              </a:pPr>
              <a:r>
                <a:rPr lang="en-US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Dist(FOOD,</a:t>
              </a:r>
              <a:br/>
              <a:r>
                <a:rPr lang="en-US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MONEY) ≥ 1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533400" y="3994785"/>
              <a:ext cx="584263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4" name="Rectangle 24"/>
            <p:cNvSpPr/>
            <p:nvPr/>
          </p:nvSpPr>
          <p:spPr>
            <a:xfrm>
              <a:off x="533400" y="3999548"/>
              <a:ext cx="5842635" cy="675322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641223" y="4247674"/>
              <a:ext cx="35758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上界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1809940" y="4247674"/>
              <a:ext cx="1434812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Dist ≤ max(n, m)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4614100" y="4134326"/>
              <a:ext cx="1516634" cy="4760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785"/>
                </a:lnSpc>
              </a:pPr>
              <a:r>
                <a:rPr lang="en-US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Dist(FOOD,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MONEY) ≤ 5，实际 4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533400" y="4670108"/>
              <a:ext cx="584263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9" name="TextBox 29"/>
            <p:cNvSpPr txBox="1"/>
            <p:nvPr/>
          </p:nvSpPr>
          <p:spPr>
            <a:xfrm>
              <a:off x="641223" y="4923949"/>
              <a:ext cx="874522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三角不等式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1809940" y="4810601"/>
              <a:ext cx="1866138" cy="4760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785"/>
                </a:lnSpc>
              </a:pPr>
              <a:r>
                <a:rPr lang="en-US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Dist(S,T) ≤ Dist(S,P) +</a:t>
              </a:r>
              <a:br/>
              <a:r>
                <a:rPr lang="en-US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Dist(P,T)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4614100" y="4923949"/>
              <a:ext cx="156377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编辑距离是一个度量</a:t>
              </a:r>
            </a:p>
          </p:txBody>
        </p:sp>
        <p:sp>
          <p:nvSpPr>
            <p:cNvPr id="32" name="Rectangle 32"/>
            <p:cNvSpPr/>
            <p:nvPr/>
          </p:nvSpPr>
          <p:spPr>
            <a:xfrm>
              <a:off x="533400" y="1524000"/>
              <a:ext cx="5842635" cy="3826192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33" name="Rectangle 33"/>
            <p:cNvSpPr/>
            <p:nvPr/>
          </p:nvSpPr>
          <p:spPr>
            <a:xfrm>
              <a:off x="1697355" y="1524000"/>
              <a:ext cx="9525" cy="3826192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4" name="Rectangle 34"/>
            <p:cNvSpPr/>
            <p:nvPr/>
          </p:nvSpPr>
          <p:spPr>
            <a:xfrm>
              <a:off x="4501515" y="1524000"/>
              <a:ext cx="9525" cy="3826192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</p:grpSp>
      <p:grpSp>
        <p:nvGrpSpPr>
          <p:cNvPr id="41" name="c1-callout-2"/>
          <p:cNvGrpSpPr/>
          <p:nvPr/>
        </p:nvGrpSpPr>
        <p:grpSpPr>
          <a:xfrm>
            <a:off x="533400" y="5540692"/>
            <a:ext cx="5842635" cy="782955"/>
            <a:chOff x="533400" y="5540692"/>
            <a:chExt cx="5842635" cy="782955"/>
          </a:xfrm>
        </p:grpSpPr>
        <p:sp>
          <p:nvSpPr>
            <p:cNvPr id="36" name="Rectangle 36"/>
            <p:cNvSpPr/>
            <p:nvPr/>
          </p:nvSpPr>
          <p:spPr>
            <a:xfrm>
              <a:off x="533400" y="5540692"/>
              <a:ext cx="5842635" cy="782955"/>
            </a:xfrm>
            <a:prstGeom prst="roundRect">
              <a:avLst>
                <a:gd name="adj" fmla="val 14599"/>
              </a:avLst>
            </a:prstGeom>
            <a:solidFill>
              <a:srgbClr val="E3F5F1"/>
            </a:solidFill>
            <a:ln>
              <a:noFill/>
            </a:ln>
          </p:spPr>
        </p:sp>
        <p:grpSp>
          <p:nvGrpSpPr>
            <p:cNvPr id="39" name="Group 39"/>
            <p:cNvGrpSpPr/>
            <p:nvPr/>
          </p:nvGrpSpPr>
          <p:grpSpPr>
            <a:xfrm>
              <a:off x="738188" y="5832158"/>
              <a:ext cx="200026" cy="200026"/>
              <a:chOff x="738188" y="5832158"/>
              <a:chExt cx="200026" cy="200026"/>
            </a:xfrm>
          </p:grpSpPr>
          <p:sp>
            <p:nvSpPr>
              <p:cNvPr id="37" name="Freeform 37"/>
              <p:cNvSpPr/>
              <p:nvPr/>
            </p:nvSpPr>
            <p:spPr>
              <a:xfrm>
                <a:off x="738188" y="5832158"/>
                <a:ext cx="200026" cy="200026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200026">
                    <a:moveTo>
                      <a:pt x="0" y="100013"/>
                    </a:moveTo>
                    <a:cubicBezTo>
                      <a:pt x="0" y="155248"/>
                      <a:pt x="44777" y="200026"/>
                      <a:pt x="100013" y="200026"/>
                    </a:cubicBezTo>
                    <a:cubicBezTo>
                      <a:pt x="155248" y="200026"/>
                      <a:pt x="200026" y="155248"/>
                      <a:pt x="200026" y="100013"/>
                    </a:cubicBezTo>
                    <a:cubicBezTo>
                      <a:pt x="200026" y="44777"/>
                      <a:pt x="155248" y="0"/>
                      <a:pt x="100013" y="0"/>
                    </a:cubicBezTo>
                    <a:cubicBezTo>
                      <a:pt x="44777" y="0"/>
                      <a:pt x="0" y="44777"/>
                      <a:pt x="0" y="100013"/>
                    </a:cubicBezTo>
                  </a:path>
                </a:pathLst>
              </a:custGeom>
              <a:noFill/>
              <a:ln w="22225">
                <a:solidFill>
                  <a:srgbClr val="0F7A68"/>
                </a:solidFill>
              </a:ln>
            </p:spPr>
          </p:sp>
          <p:sp>
            <p:nvSpPr>
              <p:cNvPr id="38" name="Freeform 38"/>
              <p:cNvSpPr/>
              <p:nvPr/>
            </p:nvSpPr>
            <p:spPr>
              <a:xfrm>
                <a:off x="804863" y="5909945"/>
                <a:ext cx="6667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66675" h="44450">
                    <a:moveTo>
                      <a:pt x="0" y="22225"/>
                    </a:moveTo>
                    <a:lnTo>
                      <a:pt x="22225" y="44450"/>
                    </a:lnTo>
                    <a:lnTo>
                      <a:pt x="66675" y="0"/>
                    </a:lnTo>
                  </a:path>
                </a:pathLst>
              </a:custGeom>
              <a:noFill/>
              <a:ln w="22225">
                <a:solidFill>
                  <a:srgbClr val="0F7A68"/>
                </a:solidFill>
              </a:ln>
            </p:spPr>
          </p:sp>
        </p:grpSp>
        <p:sp>
          <p:nvSpPr>
            <p:cNvPr id="40" name="TextBox 40"/>
            <p:cNvSpPr txBox="1"/>
            <p:nvPr/>
          </p:nvSpPr>
          <p:spPr>
            <a:xfrm>
              <a:off x="1040130" y="5689282"/>
              <a:ext cx="4939665" cy="56959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75"/>
                </a:lnSpc>
              </a:pPr>
              <a:r>
                <a:rPr lang="zh-CN" sz="1500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本讲义用 30000 组随机串验证了前四条、5000 组三元组验</a:t>
              </a:r>
              <a:br/>
              <a:r>
                <a:rPr lang="zh-CN" sz="1500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证了三角不等式，无一例外。</a:t>
              </a:r>
            </a:p>
          </p:txBody>
        </p:sp>
      </p:grpSp>
      <p:grpSp>
        <p:nvGrpSpPr>
          <p:cNvPr id="53" name="c2-card-1"/>
          <p:cNvGrpSpPr/>
          <p:nvPr/>
        </p:nvGrpSpPr>
        <p:grpSpPr>
          <a:xfrm>
            <a:off x="6680835" y="1524000"/>
            <a:ext cx="4977765" cy="3148965"/>
            <a:chOff x="6680835" y="1524000"/>
            <a:chExt cx="4977765" cy="3148965"/>
          </a:xfrm>
        </p:grpSpPr>
        <p:sp>
          <p:nvSpPr>
            <p:cNvPr id="42" name="Rectangle 42"/>
            <p:cNvSpPr/>
            <p:nvPr/>
          </p:nvSpPr>
          <p:spPr>
            <a:xfrm>
              <a:off x="6680835" y="1524000"/>
              <a:ext cx="4977765" cy="3148965"/>
            </a:xfrm>
            <a:prstGeom prst="roundRect">
              <a:avLst>
                <a:gd name="adj" fmla="val 4235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43" name="Rectangle 43"/>
            <p:cNvSpPr/>
            <p:nvPr/>
          </p:nvSpPr>
          <p:spPr>
            <a:xfrm>
              <a:off x="6690360" y="1657350"/>
              <a:ext cx="47625" cy="2882265"/>
            </a:xfrm>
            <a:prstGeom prst="roundRect">
              <a:avLst>
                <a:gd name="adj" fmla="val 50000"/>
              </a:avLst>
            </a:prstGeom>
            <a:solidFill>
              <a:srgbClr val="B42318"/>
            </a:solidFill>
            <a:ln>
              <a:noFill/>
            </a:ln>
          </p:spPr>
        </p:sp>
        <p:sp>
          <p:nvSpPr>
            <p:cNvPr id="44" name="Rectangle 44"/>
            <p:cNvSpPr/>
            <p:nvPr/>
          </p:nvSpPr>
          <p:spPr>
            <a:xfrm>
              <a:off x="6928485" y="1733550"/>
              <a:ext cx="494348" cy="257175"/>
            </a:xfrm>
            <a:prstGeom prst="roundRect">
              <a:avLst>
                <a:gd name="adj" fmla="val 50000"/>
              </a:avLst>
            </a:prstGeom>
            <a:solidFill>
              <a:srgbClr val="FDECEA"/>
            </a:solidFill>
            <a:ln>
              <a:noFill/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7019646" y="1769269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易错</a:t>
              </a:r>
            </a:p>
          </p:txBody>
        </p:sp>
        <p:sp>
          <p:nvSpPr>
            <p:cNvPr id="46" name="TextBox 46"/>
            <p:cNvSpPr txBox="1"/>
            <p:nvPr/>
          </p:nvSpPr>
          <p:spPr>
            <a:xfrm>
              <a:off x="7529512" y="1768792"/>
              <a:ext cx="163068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三个常见的想当然</a:t>
              </a:r>
            </a:p>
          </p:txBody>
        </p:sp>
        <p:sp>
          <p:nvSpPr>
            <p:cNvPr id="47" name="Ellipse 47"/>
            <p:cNvSpPr/>
            <p:nvPr/>
          </p:nvSpPr>
          <p:spPr>
            <a:xfrm>
              <a:off x="6934200" y="2192655"/>
              <a:ext cx="64770" cy="64770"/>
            </a:xfrm>
            <a:prstGeom prst="ellipse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48" name="TextBox 48"/>
            <p:cNvSpPr txBox="1"/>
            <p:nvPr/>
          </p:nvSpPr>
          <p:spPr>
            <a:xfrm>
              <a:off x="7092315" y="2129790"/>
              <a:ext cx="3872865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以为长度差就是编辑距离。长度相同的 ABC 与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BCD 距离是 2，不是 0。</a:t>
              </a:r>
            </a:p>
          </p:txBody>
        </p:sp>
        <p:sp>
          <p:nvSpPr>
            <p:cNvPr id="49" name="Ellipse 49"/>
            <p:cNvSpPr/>
            <p:nvPr/>
          </p:nvSpPr>
          <p:spPr>
            <a:xfrm>
              <a:off x="6934200" y="2813685"/>
              <a:ext cx="64770" cy="64770"/>
            </a:xfrm>
            <a:prstGeom prst="ellipse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50" name="TextBox 50"/>
            <p:cNvSpPr txBox="1"/>
            <p:nvPr/>
          </p:nvSpPr>
          <p:spPr>
            <a:xfrm>
              <a:off x="7092315" y="2750820"/>
              <a:ext cx="4082415" cy="11506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以为最优方案唯一。FOOD → MONEY 有两份 4 步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方案：源课件第 6 页的“F→M、O→N、插 E、D→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Y”，和第 15 页程序读出的“F→M、插 N、O→E、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D→Y”。</a:t>
              </a:r>
            </a:p>
          </p:txBody>
        </p:sp>
        <p:sp>
          <p:nvSpPr>
            <p:cNvPr id="51" name="Ellipse 51"/>
            <p:cNvSpPr/>
            <p:nvPr/>
          </p:nvSpPr>
          <p:spPr>
            <a:xfrm>
              <a:off x="6934200" y="4006215"/>
              <a:ext cx="64770" cy="64770"/>
            </a:xfrm>
            <a:prstGeom prst="ellipse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52" name="TextBox 52"/>
            <p:cNvSpPr txBox="1"/>
            <p:nvPr/>
          </p:nvSpPr>
          <p:spPr>
            <a:xfrm>
              <a:off x="7092315" y="3943350"/>
              <a:ext cx="4101465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把表开成 n×m。少了第 0 行第 0 列，边界就无从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填起。</a:t>
              </a:r>
            </a:p>
          </p:txBody>
        </p:sp>
      </p:grpSp>
      <p:grpSp>
        <p:nvGrpSpPr>
          <p:cNvPr id="60" name="c2-callout-2"/>
          <p:cNvGrpSpPr/>
          <p:nvPr/>
        </p:nvGrpSpPr>
        <p:grpSpPr>
          <a:xfrm>
            <a:off x="6680835" y="4863465"/>
            <a:ext cx="4977765" cy="1460182"/>
            <a:chOff x="6680835" y="4863465"/>
            <a:chExt cx="4977765" cy="1460182"/>
          </a:xfrm>
        </p:grpSpPr>
        <p:sp>
          <p:nvSpPr>
            <p:cNvPr id="54" name="Rectangle 54"/>
            <p:cNvSpPr/>
            <p:nvPr/>
          </p:nvSpPr>
          <p:spPr>
            <a:xfrm>
              <a:off x="6680835" y="4863465"/>
              <a:ext cx="4977765" cy="1460182"/>
            </a:xfrm>
            <a:prstGeom prst="roundRect">
              <a:avLst>
                <a:gd name="adj" fmla="val 7828"/>
              </a:avLst>
            </a:prstGeom>
            <a:solidFill>
              <a:srgbClr val="FDEEE7"/>
            </a:solidFill>
            <a:ln>
              <a:noFill/>
            </a:ln>
          </p:spPr>
        </p:sp>
        <p:grpSp>
          <p:nvGrpSpPr>
            <p:cNvPr id="58" name="Group 58"/>
            <p:cNvGrpSpPr/>
            <p:nvPr/>
          </p:nvGrpSpPr>
          <p:grpSpPr>
            <a:xfrm>
              <a:off x="6885623" y="5494020"/>
              <a:ext cx="200026" cy="200025"/>
              <a:chOff x="6885623" y="5494020"/>
              <a:chExt cx="200026" cy="200025"/>
            </a:xfrm>
          </p:grpSpPr>
          <p:sp>
            <p:nvSpPr>
              <p:cNvPr id="55" name="Freeform 55"/>
              <p:cNvSpPr/>
              <p:nvPr/>
            </p:nvSpPr>
            <p:spPr>
              <a:xfrm>
                <a:off x="6885623" y="5494020"/>
                <a:ext cx="200026" cy="100013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100013">
                    <a:moveTo>
                      <a:pt x="0" y="100013"/>
                    </a:moveTo>
                    <a:lnTo>
                      <a:pt x="11113" y="100013"/>
                    </a:lnTo>
                    <a:moveTo>
                      <a:pt x="100013" y="0"/>
                    </a:moveTo>
                    <a:lnTo>
                      <a:pt x="100013" y="11113"/>
                    </a:lnTo>
                    <a:moveTo>
                      <a:pt x="188913" y="100013"/>
                    </a:moveTo>
                    <a:lnTo>
                      <a:pt x="200026" y="100013"/>
                    </a:lnTo>
                    <a:moveTo>
                      <a:pt x="28893" y="28893"/>
                    </a:moveTo>
                    <a:lnTo>
                      <a:pt x="36671" y="36671"/>
                    </a:lnTo>
                    <a:moveTo>
                      <a:pt x="171133" y="28893"/>
                    </a:moveTo>
                    <a:lnTo>
                      <a:pt x="163354" y="36671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56" name="Freeform 56"/>
              <p:cNvSpPr/>
              <p:nvPr/>
            </p:nvSpPr>
            <p:spPr>
              <a:xfrm>
                <a:off x="6925361" y="5538470"/>
                <a:ext cx="120548" cy="155575"/>
              </a:xfrm>
              <a:custGeom>
                <a:avLst/>
                <a:gdLst/>
                <a:ahLst/>
                <a:cxnLst/>
                <a:rect l="l" t="t" r="r" b="b"/>
                <a:pathLst>
                  <a:path w="120548" h="155575">
                    <a:moveTo>
                      <a:pt x="26937" y="100013"/>
                    </a:moveTo>
                    <a:cubicBezTo>
                      <a:pt x="7804" y="85663"/>
                      <a:pt x="0" y="60681"/>
                      <a:pt x="7563" y="37992"/>
                    </a:cubicBezTo>
                    <a:cubicBezTo>
                      <a:pt x="15126" y="15304"/>
                      <a:pt x="36358" y="0"/>
                      <a:pt x="60274" y="0"/>
                    </a:cubicBezTo>
                    <a:cubicBezTo>
                      <a:pt x="84190" y="0"/>
                      <a:pt x="105423" y="15304"/>
                      <a:pt x="112986" y="37992"/>
                    </a:cubicBezTo>
                    <a:cubicBezTo>
                      <a:pt x="120548" y="60681"/>
                      <a:pt x="112745" y="85663"/>
                      <a:pt x="93612" y="100013"/>
                    </a:cubicBezTo>
                    <a:cubicBezTo>
                      <a:pt x="84812" y="108723"/>
                      <a:pt x="80686" y="121103"/>
                      <a:pt x="82499" y="133350"/>
                    </a:cubicBezTo>
                    <a:cubicBezTo>
                      <a:pt x="82499" y="145625"/>
                      <a:pt x="72549" y="155575"/>
                      <a:pt x="60274" y="155575"/>
                    </a:cubicBezTo>
                    <a:cubicBezTo>
                      <a:pt x="48000" y="155575"/>
                      <a:pt x="38049" y="145625"/>
                      <a:pt x="38049" y="133350"/>
                    </a:cubicBezTo>
                    <a:cubicBezTo>
                      <a:pt x="39862" y="121103"/>
                      <a:pt x="35736" y="108723"/>
                      <a:pt x="26937" y="100013"/>
                    </a:cubicBez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57" name="Freeform 57"/>
              <p:cNvSpPr/>
              <p:nvPr/>
            </p:nvSpPr>
            <p:spPr>
              <a:xfrm>
                <a:off x="6960077" y="5649596"/>
                <a:ext cx="51118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51118" h="9525">
                    <a:moveTo>
                      <a:pt x="0" y="0"/>
                    </a:moveTo>
                    <a:lnTo>
                      <a:pt x="51118" y="0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</p:grpSp>
        <p:sp>
          <p:nvSpPr>
            <p:cNvPr id="59" name="TextBox 59"/>
            <p:cNvSpPr txBox="1"/>
            <p:nvPr/>
          </p:nvSpPr>
          <p:spPr>
            <a:xfrm>
              <a:off x="7187565" y="5351145"/>
              <a:ext cx="3653790" cy="56959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75"/>
                </a:lnSpc>
              </a:pPr>
              <a:r>
                <a:rPr lang="zh-CN" sz="150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手算完先用 |n-m| ≤ Dist ≤ max(n,m) 卡一</a:t>
              </a:r>
              <a:br/>
              <a:r>
                <a:rPr lang="zh-CN" sz="150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遍，越界说明表填错了。</a:t>
              </a:r>
            </a:p>
          </p:txBody>
        </p:sp>
      </p:grpSp>
      <p:grpSp>
        <p:nvGrpSpPr>
          <p:cNvPr id="63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61" name="TextBox 61"/>
            <p:cNvSpPr txBox="1"/>
            <p:nvPr/>
          </p:nvSpPr>
          <p:spPr>
            <a:xfrm>
              <a:off x="528447" y="6581299"/>
              <a:ext cx="2120748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数据结构 · 专题1 字符串的模糊匹配</a:t>
              </a:r>
            </a:p>
          </p:txBody>
        </p:sp>
        <p:sp>
          <p:nvSpPr>
            <p:cNvPr id="62" name="TextBox 62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18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-disc"/>
          <p:cNvSpPr/>
          <p:nvPr/>
        </p:nvSpPr>
        <p:spPr>
          <a:xfrm>
            <a:off x="7715250" y="571500"/>
            <a:ext cx="5715000" cy="5715000"/>
          </a:xfrm>
          <a:prstGeom prst="ellipse">
            <a:avLst/>
          </a:prstGeom>
          <a:solidFill>
            <a:srgbClr val="1F5FA8"/>
          </a:solidFill>
          <a:ln>
            <a:noFill/>
          </a:ln>
        </p:spPr>
      </p:sp>
      <p:sp>
        <p:nvSpPr>
          <p:cNvPr id="3" name="section-ring"/>
          <p:cNvSpPr/>
          <p:nvPr/>
        </p:nvSpPr>
        <p:spPr>
          <a:xfrm>
            <a:off x="7334250" y="190500"/>
            <a:ext cx="6477000" cy="6477000"/>
          </a:xfrm>
          <a:prstGeom prst="ellipse">
            <a:avLst/>
          </a:prstGeom>
          <a:noFill/>
          <a:ln w="133350">
            <a:solidFill>
              <a:srgbClr val="E6EFF9"/>
            </a:solidFill>
          </a:ln>
        </p:spPr>
      </p:sp>
      <p:grpSp>
        <p:nvGrpSpPr>
          <p:cNvPr id="5" name="section-num"/>
          <p:cNvGrpSpPr/>
          <p:nvPr/>
        </p:nvGrpSpPr>
        <p:grpSpPr>
          <a:xfrm>
            <a:off x="8954033" y="2705100"/>
            <a:ext cx="1903933" cy="2305050"/>
            <a:chOff x="8954033" y="2705100"/>
            <a:chExt cx="1903933" cy="2305050"/>
          </a:xfrm>
        </p:grpSpPr>
        <p:sp>
          <p:nvSpPr>
            <p:cNvPr id="4" name="TextBox 4"/>
            <p:cNvSpPr txBox="1"/>
            <p:nvPr/>
          </p:nvSpPr>
          <p:spPr>
            <a:xfrm>
              <a:off x="8954033" y="2705100"/>
              <a:ext cx="1903933" cy="23050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03</a:t>
              </a:r>
            </a:p>
          </p:txBody>
        </p:sp>
      </p:grpSp>
      <p:grpSp>
        <p:nvGrpSpPr>
          <p:cNvPr id="16" name="section-title"/>
          <p:cNvGrpSpPr/>
          <p:nvPr/>
        </p:nvGrpSpPr>
        <p:grpSpPr>
          <a:xfrm>
            <a:off x="667512" y="1835468"/>
            <a:ext cx="4935588" cy="2997517"/>
            <a:chOff x="667512" y="1835468"/>
            <a:chExt cx="4935588" cy="2997517"/>
          </a:xfrm>
        </p:grpSpPr>
        <p:sp>
          <p:nvSpPr>
            <p:cNvPr id="6" name="TextBox 6"/>
            <p:cNvSpPr txBox="1"/>
            <p:nvPr/>
          </p:nvSpPr>
          <p:spPr>
            <a:xfrm>
              <a:off x="678942" y="1835468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第三部分</a:t>
              </a:r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667512" y="2240280"/>
              <a:ext cx="3429000" cy="70408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6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最长公共子序列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685800" y="3041332"/>
              <a:ext cx="762000" cy="47625"/>
            </a:xfrm>
            <a:prstGeom prst="roundRect">
              <a:avLst>
                <a:gd name="adj" fmla="val 50000"/>
              </a:avLst>
            </a:prstGeom>
            <a:solidFill>
              <a:srgbClr val="F26B3A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677418" y="3377565"/>
              <a:ext cx="4925682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换一把尺子：两个串共有的最长“抽取序列”有多长</a:t>
              </a:r>
            </a:p>
          </p:txBody>
        </p:sp>
        <p:sp>
          <p:nvSpPr>
            <p:cNvPr id="10" name="Ellipse 10"/>
            <p:cNvSpPr/>
            <p:nvPr/>
          </p:nvSpPr>
          <p:spPr>
            <a:xfrm>
              <a:off x="723900" y="3888105"/>
              <a:ext cx="76200" cy="76200"/>
            </a:xfrm>
            <a:prstGeom prst="ellipse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906780" y="3830955"/>
              <a:ext cx="183261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子序列与子串的区别</a:t>
              </a:r>
            </a:p>
          </p:txBody>
        </p:sp>
        <p:sp>
          <p:nvSpPr>
            <p:cNvPr id="12" name="Ellipse 12"/>
            <p:cNvSpPr/>
            <p:nvPr/>
          </p:nvSpPr>
          <p:spPr>
            <a:xfrm>
              <a:off x="723900" y="4242435"/>
              <a:ext cx="76200" cy="76200"/>
            </a:xfrm>
            <a:prstGeom prst="ellipse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906780" y="4185285"/>
              <a:ext cx="1844802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LCS 的递推式与填表</a:t>
              </a:r>
            </a:p>
          </p:txBody>
        </p:sp>
        <p:sp>
          <p:nvSpPr>
            <p:cNvPr id="14" name="Ellipse 14"/>
            <p:cNvSpPr/>
            <p:nvPr/>
          </p:nvSpPr>
          <p:spPr>
            <a:xfrm>
              <a:off x="723900" y="4596765"/>
              <a:ext cx="76200" cy="76200"/>
            </a:xfrm>
            <a:prstGeom prst="ellipse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906780" y="4539615"/>
              <a:ext cx="203454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与编辑距离的换算关系</a:t>
              </a:r>
            </a:p>
          </p:txBody>
        </p:sp>
      </p:grpSp>
      <p:grpSp>
        <p:nvGrpSpPr>
          <p:cNvPr id="19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17" name="TextBox 17"/>
            <p:cNvSpPr txBox="1"/>
            <p:nvPr/>
          </p:nvSpPr>
          <p:spPr>
            <a:xfrm>
              <a:off x="528447" y="6581299"/>
              <a:ext cx="2120748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数据结构 · 专题1 字符串的模糊匹配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19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5518404" cy="909257"/>
            <a:chOff x="520446" y="342900"/>
            <a:chExt cx="5518404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414588" cy="266700"/>
            </a:xfrm>
            <a:prstGeom prst="roundRect">
              <a:avLst>
                <a:gd name="adj" fmla="val 50000"/>
              </a:avLst>
            </a:prstGeom>
            <a:solidFill>
              <a:srgbClr val="E6EFF9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96156" y="407194"/>
              <a:ext cx="228812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5FA8"/>
                  </a:solidFill>
                  <a:latin typeface="+mn-lt"/>
                  <a:ea typeface="+mn-ea"/>
                  <a:cs typeface="+mn-cs"/>
                </a:rPr>
                <a:t>专题1 模糊匹配 · 最长公共子序列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5518404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子序列只要求次序不变，不要求连续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1F5FA8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17" name="c1-card-1"/>
          <p:cNvGrpSpPr/>
          <p:nvPr/>
        </p:nvGrpSpPr>
        <p:grpSpPr>
          <a:xfrm>
            <a:off x="533400" y="1524000"/>
            <a:ext cx="5410200" cy="2005965"/>
            <a:chOff x="533400" y="1524000"/>
            <a:chExt cx="5410200" cy="2005965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5410200" cy="2005965"/>
            </a:xfrm>
            <a:prstGeom prst="roundRect">
              <a:avLst>
                <a:gd name="adj" fmla="val 6648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8" name="Rectangle 8"/>
            <p:cNvSpPr/>
            <p:nvPr/>
          </p:nvSpPr>
          <p:spPr>
            <a:xfrm>
              <a:off x="542925" y="1657350"/>
              <a:ext cx="47625" cy="1739265"/>
            </a:xfrm>
            <a:prstGeom prst="roundRect">
              <a:avLst>
                <a:gd name="adj" fmla="val 50000"/>
              </a:avLst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9" name="Rectangle 9"/>
            <p:cNvSpPr/>
            <p:nvPr/>
          </p:nvSpPr>
          <p:spPr>
            <a:xfrm>
              <a:off x="781050" y="1733550"/>
              <a:ext cx="494348" cy="257175"/>
            </a:xfrm>
            <a:prstGeom prst="roundRect">
              <a:avLst>
                <a:gd name="adj" fmla="val 50000"/>
              </a:avLst>
            </a:prstGeom>
            <a:solidFill>
              <a:srgbClr val="E6EFF9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871258" y="1769269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5FA8"/>
                  </a:solidFill>
                  <a:latin typeface="+mn-lt"/>
                  <a:ea typeface="+mn-ea"/>
                  <a:cs typeface="+mn-cs"/>
                </a:rPr>
                <a:t>定义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1382078" y="1768792"/>
              <a:ext cx="2314251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子序列（Subsequence）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773430" y="2129790"/>
              <a:ext cx="470154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 xml:space="preserve">由字符串中若干字符 </a:t>
              </a:r>
              <a:r>
                <a:rPr lang="zh-CN" sz="150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按原相对次序</a:t>
              </a: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 xml:space="preserve"> 构成的序列，中间允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许跳过任意多个字符。</a:t>
              </a:r>
            </a:p>
          </p:txBody>
        </p:sp>
        <p:sp>
          <p:nvSpPr>
            <p:cNvPr id="13" name="Ellipse 13"/>
            <p:cNvSpPr/>
            <p:nvPr/>
          </p:nvSpPr>
          <p:spPr>
            <a:xfrm>
              <a:off x="786765" y="2813685"/>
              <a:ext cx="64770" cy="64770"/>
            </a:xfrm>
            <a:prstGeom prst="ellipse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944880" y="2750820"/>
              <a:ext cx="4332923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JLU 是 JILINUNIV 的子序列（取第 1、3、6 位）</a:t>
              </a:r>
            </a:p>
          </p:txBody>
        </p:sp>
        <p:sp>
          <p:nvSpPr>
            <p:cNvPr id="15" name="Ellipse 15"/>
            <p:cNvSpPr/>
            <p:nvPr/>
          </p:nvSpPr>
          <p:spPr>
            <a:xfrm>
              <a:off x="786765" y="3148965"/>
              <a:ext cx="64770" cy="64770"/>
            </a:xfrm>
            <a:prstGeom prst="ellipse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944880" y="3086100"/>
              <a:ext cx="354711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JUL 不是，因为 U 在原串里排在 L 后面</a:t>
              </a:r>
            </a:p>
          </p:txBody>
        </p:sp>
      </p:grpSp>
      <p:grpSp>
        <p:nvGrpSpPr>
          <p:cNvPr id="53" name="c1-cells-2"/>
          <p:cNvGrpSpPr/>
          <p:nvPr/>
        </p:nvGrpSpPr>
        <p:grpSpPr>
          <a:xfrm>
            <a:off x="526923" y="3720465"/>
            <a:ext cx="5416677" cy="1209675"/>
            <a:chOff x="526923" y="3720465"/>
            <a:chExt cx="5416677" cy="1209675"/>
          </a:xfrm>
        </p:grpSpPr>
        <p:sp>
          <p:nvSpPr>
            <p:cNvPr id="18" name="TextBox 18"/>
            <p:cNvSpPr txBox="1"/>
            <p:nvPr/>
          </p:nvSpPr>
          <p:spPr>
            <a:xfrm>
              <a:off x="526923" y="3850481"/>
              <a:ext cx="11809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80" b="1" dirty="0">
                  <a:solidFill>
                    <a:srgbClr val="1F5FA8"/>
                  </a:solidFill>
                  <a:latin typeface="+mn-lt"/>
                  <a:ea typeface="+mn-ea"/>
                  <a:cs typeface="+mn-cs"/>
                </a:rPr>
                <a:t>S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1154430" y="3720465"/>
              <a:ext cx="532448" cy="419100"/>
            </a:xfrm>
            <a:prstGeom prst="rect">
              <a:avLst/>
            </a:prstGeom>
            <a:solidFill>
              <a:srgbClr val="FDEEE7"/>
            </a:solidFill>
            <a:ln w="15240">
              <a:solidFill>
                <a:srgbClr val="F26B3A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1361129" y="3850481"/>
              <a:ext cx="11809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J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1686878" y="3720465"/>
              <a:ext cx="532448" cy="419100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1F5FA8"/>
              </a:solidFill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1917472" y="3850481"/>
              <a:ext cx="7030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I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2218372" y="3720465"/>
              <a:ext cx="532448" cy="419100"/>
            </a:xfrm>
            <a:prstGeom prst="rect">
              <a:avLst/>
            </a:prstGeom>
            <a:solidFill>
              <a:srgbClr val="FDEEE7"/>
            </a:solidFill>
            <a:ln w="15240">
              <a:solidFill>
                <a:srgbClr val="F26B3A"/>
              </a:solidFill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2426024" y="3850481"/>
              <a:ext cx="11809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L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2750820" y="3720465"/>
              <a:ext cx="532448" cy="419100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1F5FA8"/>
              </a:solidFill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2981415" y="3850481"/>
              <a:ext cx="7030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I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3283268" y="3720465"/>
              <a:ext cx="532448" cy="419100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1F5FA8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3489966" y="3850481"/>
              <a:ext cx="11809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N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3814762" y="3720465"/>
              <a:ext cx="532448" cy="419100"/>
            </a:xfrm>
            <a:prstGeom prst="rect">
              <a:avLst/>
            </a:prstGeom>
            <a:solidFill>
              <a:srgbClr val="FDEEE7"/>
            </a:solidFill>
            <a:ln w="15240">
              <a:solidFill>
                <a:srgbClr val="F26B3A"/>
              </a:solidFill>
            </a:ln>
          </p:spPr>
        </p:sp>
        <p:sp>
          <p:nvSpPr>
            <p:cNvPr id="30" name="TextBox 30"/>
            <p:cNvSpPr txBox="1"/>
            <p:nvPr/>
          </p:nvSpPr>
          <p:spPr>
            <a:xfrm>
              <a:off x="4022414" y="3850481"/>
              <a:ext cx="11809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U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4347210" y="3720465"/>
              <a:ext cx="532448" cy="419100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1F5FA8"/>
              </a:solidFill>
            </a:ln>
          </p:spPr>
        </p:sp>
        <p:sp>
          <p:nvSpPr>
            <p:cNvPr id="32" name="TextBox 32"/>
            <p:cNvSpPr txBox="1"/>
            <p:nvPr/>
          </p:nvSpPr>
          <p:spPr>
            <a:xfrm>
              <a:off x="4553909" y="3850481"/>
              <a:ext cx="11809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N</a:t>
              </a:r>
            </a:p>
          </p:txBody>
        </p:sp>
        <p:sp>
          <p:nvSpPr>
            <p:cNvPr id="33" name="Rectangle 33"/>
            <p:cNvSpPr/>
            <p:nvPr/>
          </p:nvSpPr>
          <p:spPr>
            <a:xfrm>
              <a:off x="4879658" y="3720465"/>
              <a:ext cx="532448" cy="419100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1F5FA8"/>
              </a:solidFill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5110252" y="3850481"/>
              <a:ext cx="7030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I</a:t>
              </a:r>
            </a:p>
          </p:txBody>
        </p:sp>
        <p:sp>
          <p:nvSpPr>
            <p:cNvPr id="35" name="Rectangle 35"/>
            <p:cNvSpPr/>
            <p:nvPr/>
          </p:nvSpPr>
          <p:spPr>
            <a:xfrm>
              <a:off x="5411152" y="3720465"/>
              <a:ext cx="532448" cy="419100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1F5FA8"/>
              </a:solidFill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5618804" y="3850481"/>
              <a:ext cx="11809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V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1378944" y="4196239"/>
              <a:ext cx="8246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1911392" y="4196239"/>
              <a:ext cx="8246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2443839" y="4196239"/>
              <a:ext cx="8246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2975334" y="4196239"/>
              <a:ext cx="8246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3507782" y="4196239"/>
              <a:ext cx="8246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5</a:t>
              </a:r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4040229" y="4196239"/>
              <a:ext cx="8246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6</a:t>
              </a:r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4571724" y="4196239"/>
              <a:ext cx="8246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7</a:t>
              </a:r>
            </a:p>
          </p:txBody>
        </p:sp>
        <p:sp>
          <p:nvSpPr>
            <p:cNvPr id="44" name="TextBox 44"/>
            <p:cNvSpPr txBox="1"/>
            <p:nvPr/>
          </p:nvSpPr>
          <p:spPr>
            <a:xfrm>
              <a:off x="5104172" y="4196239"/>
              <a:ext cx="8246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8</a:t>
              </a:r>
            </a:p>
          </p:txBody>
        </p:sp>
        <p:sp>
          <p:nvSpPr>
            <p:cNvPr id="45" name="TextBox 45"/>
            <p:cNvSpPr txBox="1"/>
            <p:nvPr/>
          </p:nvSpPr>
          <p:spPr>
            <a:xfrm>
              <a:off x="5636619" y="4196239"/>
              <a:ext cx="8246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9</a:t>
              </a:r>
            </a:p>
          </p:txBody>
        </p:sp>
        <p:sp>
          <p:nvSpPr>
            <p:cNvPr id="46" name="TextBox 46"/>
            <p:cNvSpPr txBox="1"/>
            <p:nvPr/>
          </p:nvSpPr>
          <p:spPr>
            <a:xfrm>
              <a:off x="526923" y="4641056"/>
              <a:ext cx="52989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5FA8"/>
                  </a:solidFill>
                  <a:latin typeface="+mn-lt"/>
                  <a:ea typeface="+mn-ea"/>
                  <a:cs typeface="+mn-cs"/>
                </a:rPr>
                <a:t>子序列</a:t>
              </a:r>
            </a:p>
          </p:txBody>
        </p:sp>
        <p:sp>
          <p:nvSpPr>
            <p:cNvPr id="47" name="Rectangle 47"/>
            <p:cNvSpPr/>
            <p:nvPr/>
          </p:nvSpPr>
          <p:spPr>
            <a:xfrm>
              <a:off x="1154430" y="4511040"/>
              <a:ext cx="532448" cy="419100"/>
            </a:xfrm>
            <a:prstGeom prst="rect">
              <a:avLst/>
            </a:prstGeom>
            <a:solidFill>
              <a:srgbClr val="FDEEE7"/>
            </a:solidFill>
            <a:ln w="15240">
              <a:solidFill>
                <a:srgbClr val="F26B3A"/>
              </a:solidFill>
            </a:ln>
          </p:spPr>
        </p:sp>
        <p:sp>
          <p:nvSpPr>
            <p:cNvPr id="48" name="TextBox 48"/>
            <p:cNvSpPr txBox="1"/>
            <p:nvPr/>
          </p:nvSpPr>
          <p:spPr>
            <a:xfrm>
              <a:off x="1361129" y="4641056"/>
              <a:ext cx="11809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J</a:t>
              </a:r>
            </a:p>
          </p:txBody>
        </p:sp>
        <p:sp>
          <p:nvSpPr>
            <p:cNvPr id="49" name="Rectangle 49"/>
            <p:cNvSpPr/>
            <p:nvPr/>
          </p:nvSpPr>
          <p:spPr>
            <a:xfrm>
              <a:off x="1686878" y="4511040"/>
              <a:ext cx="532448" cy="419100"/>
            </a:xfrm>
            <a:prstGeom prst="rect">
              <a:avLst/>
            </a:prstGeom>
            <a:solidFill>
              <a:srgbClr val="FDEEE7"/>
            </a:solidFill>
            <a:ln w="15240">
              <a:solidFill>
                <a:srgbClr val="F26B3A"/>
              </a:solidFill>
            </a:ln>
          </p:spPr>
        </p:sp>
        <p:sp>
          <p:nvSpPr>
            <p:cNvPr id="50" name="TextBox 50"/>
            <p:cNvSpPr txBox="1"/>
            <p:nvPr/>
          </p:nvSpPr>
          <p:spPr>
            <a:xfrm>
              <a:off x="1893576" y="4641056"/>
              <a:ext cx="11809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L</a:t>
              </a:r>
            </a:p>
          </p:txBody>
        </p:sp>
        <p:sp>
          <p:nvSpPr>
            <p:cNvPr id="51" name="Rectangle 51"/>
            <p:cNvSpPr/>
            <p:nvPr/>
          </p:nvSpPr>
          <p:spPr>
            <a:xfrm>
              <a:off x="2218372" y="4511040"/>
              <a:ext cx="532448" cy="419100"/>
            </a:xfrm>
            <a:prstGeom prst="rect">
              <a:avLst/>
            </a:prstGeom>
            <a:solidFill>
              <a:srgbClr val="FDEEE7"/>
            </a:solidFill>
            <a:ln w="15240">
              <a:solidFill>
                <a:srgbClr val="F26B3A"/>
              </a:solidFill>
            </a:ln>
          </p:spPr>
        </p:sp>
        <p:sp>
          <p:nvSpPr>
            <p:cNvPr id="52" name="TextBox 52"/>
            <p:cNvSpPr txBox="1"/>
            <p:nvPr/>
          </p:nvSpPr>
          <p:spPr>
            <a:xfrm>
              <a:off x="2426024" y="4641056"/>
              <a:ext cx="11809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U</a:t>
              </a:r>
            </a:p>
          </p:txBody>
        </p:sp>
      </p:grpSp>
      <p:grpSp>
        <p:nvGrpSpPr>
          <p:cNvPr id="60" name="c1-callout-3"/>
          <p:cNvGrpSpPr/>
          <p:nvPr/>
        </p:nvGrpSpPr>
        <p:grpSpPr>
          <a:xfrm>
            <a:off x="533400" y="5120640"/>
            <a:ext cx="5410200" cy="877252"/>
            <a:chOff x="533400" y="5120640"/>
            <a:chExt cx="5410200" cy="877252"/>
          </a:xfrm>
        </p:grpSpPr>
        <p:sp>
          <p:nvSpPr>
            <p:cNvPr id="54" name="Rectangle 54"/>
            <p:cNvSpPr/>
            <p:nvPr/>
          </p:nvSpPr>
          <p:spPr>
            <a:xfrm>
              <a:off x="533400" y="5120640"/>
              <a:ext cx="5410200" cy="877252"/>
            </a:xfrm>
            <a:prstGeom prst="roundRect">
              <a:avLst>
                <a:gd name="adj" fmla="val 13029"/>
              </a:avLst>
            </a:prstGeom>
            <a:solidFill>
              <a:srgbClr val="FDECEA"/>
            </a:solidFill>
            <a:ln>
              <a:noFill/>
            </a:ln>
          </p:spPr>
        </p:sp>
        <p:grpSp>
          <p:nvGrpSpPr>
            <p:cNvPr id="58" name="Group 58"/>
            <p:cNvGrpSpPr/>
            <p:nvPr/>
          </p:nvGrpSpPr>
          <p:grpSpPr>
            <a:xfrm>
              <a:off x="726129" y="5455086"/>
              <a:ext cx="224134" cy="192560"/>
              <a:chOff x="726129" y="5455086"/>
              <a:chExt cx="224134" cy="192560"/>
            </a:xfrm>
          </p:grpSpPr>
          <p:sp>
            <p:nvSpPr>
              <p:cNvPr id="55" name="Freeform 55"/>
              <p:cNvSpPr/>
              <p:nvPr/>
            </p:nvSpPr>
            <p:spPr>
              <a:xfrm>
                <a:off x="838200" y="5525453"/>
                <a:ext cx="952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44450">
                    <a:moveTo>
                      <a:pt x="0" y="0"/>
                    </a:moveTo>
                    <a:lnTo>
                      <a:pt x="0" y="44450"/>
                    </a:ln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  <p:sp>
            <p:nvSpPr>
              <p:cNvPr id="56" name="Freeform 56"/>
              <p:cNvSpPr/>
              <p:nvPr/>
            </p:nvSpPr>
            <p:spPr>
              <a:xfrm>
                <a:off x="726129" y="5455086"/>
                <a:ext cx="224134" cy="192560"/>
              </a:xfrm>
              <a:custGeom>
                <a:avLst/>
                <a:gdLst/>
                <a:ahLst/>
                <a:cxnLst/>
                <a:rect l="l" t="t" r="r" b="b"/>
                <a:pathLst>
                  <a:path w="224134" h="192560">
                    <a:moveTo>
                      <a:pt x="93880" y="10259"/>
                    </a:moveTo>
                    <a:lnTo>
                      <a:pt x="3802" y="160656"/>
                    </a:lnTo>
                    <a:cubicBezTo>
                      <a:pt x="23" y="167200"/>
                      <a:pt x="0" y="175257"/>
                      <a:pt x="3741" y="181823"/>
                    </a:cubicBezTo>
                    <a:cubicBezTo>
                      <a:pt x="7482" y="188388"/>
                      <a:pt x="14426" y="192476"/>
                      <a:pt x="21982" y="192560"/>
                    </a:cubicBezTo>
                    <a:lnTo>
                      <a:pt x="202160" y="192560"/>
                    </a:lnTo>
                    <a:cubicBezTo>
                      <a:pt x="209713" y="192473"/>
                      <a:pt x="216653" y="188387"/>
                      <a:pt x="220393" y="181826"/>
                    </a:cubicBezTo>
                    <a:cubicBezTo>
                      <a:pt x="224134" y="175264"/>
                      <a:pt x="224114" y="167211"/>
                      <a:pt x="220341" y="160667"/>
                    </a:cubicBezTo>
                    <a:lnTo>
                      <a:pt x="130262" y="10248"/>
                    </a:lnTo>
                    <a:cubicBezTo>
                      <a:pt x="126408" y="3886"/>
                      <a:pt x="119510" y="0"/>
                      <a:pt x="112071" y="0"/>
                    </a:cubicBezTo>
                    <a:cubicBezTo>
                      <a:pt x="104633" y="0"/>
                      <a:pt x="97734" y="3886"/>
                      <a:pt x="93880" y="10248"/>
                    </a:cubicBez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  <p:sp>
            <p:nvSpPr>
              <p:cNvPr id="57" name="Freeform 57"/>
              <p:cNvSpPr/>
              <p:nvPr/>
            </p:nvSpPr>
            <p:spPr>
              <a:xfrm>
                <a:off x="838200" y="5603241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</p:grpSp>
        <p:sp>
          <p:nvSpPr>
            <p:cNvPr id="59" name="TextBox 59"/>
            <p:cNvSpPr txBox="1"/>
            <p:nvPr/>
          </p:nvSpPr>
          <p:spPr>
            <a:xfrm>
              <a:off x="1040130" y="5315902"/>
              <a:ext cx="4396740" cy="56959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75"/>
                </a:lnSpc>
              </a:pPr>
              <a:r>
                <a:rPr lang="zh-CN" sz="1500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抽取时下标必须严格递增。同一位字符不能用两次，</a:t>
              </a:r>
              <a:br/>
              <a:r>
                <a:rPr lang="zh-CN" sz="1500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次序也不能颠倒。</a:t>
              </a:r>
            </a:p>
          </p:txBody>
        </p:sp>
      </p:grpSp>
      <p:grpSp>
        <p:nvGrpSpPr>
          <p:cNvPr id="81" name="c2-table-1"/>
          <p:cNvGrpSpPr/>
          <p:nvPr/>
        </p:nvGrpSpPr>
        <p:grpSpPr>
          <a:xfrm>
            <a:off x="6248400" y="1524000"/>
            <a:ext cx="5410200" cy="1795462"/>
            <a:chOff x="6248400" y="1524000"/>
            <a:chExt cx="5410200" cy="1795462"/>
          </a:xfrm>
        </p:grpSpPr>
        <p:sp>
          <p:nvSpPr>
            <p:cNvPr id="61" name="Rectangle 61"/>
            <p:cNvSpPr/>
            <p:nvPr/>
          </p:nvSpPr>
          <p:spPr>
            <a:xfrm>
              <a:off x="6248400" y="1524000"/>
              <a:ext cx="5410200" cy="448628"/>
            </a:xfrm>
            <a:prstGeom prst="rect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62" name="TextBox 62"/>
            <p:cNvSpPr txBox="1"/>
            <p:nvPr/>
          </p:nvSpPr>
          <p:spPr>
            <a:xfrm>
              <a:off x="6664922" y="1659731"/>
              <a:ext cx="35758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概念</a:t>
              </a:r>
            </a:p>
          </p:txBody>
        </p:sp>
        <p:sp>
          <p:nvSpPr>
            <p:cNvPr id="63" name="TextBox 63"/>
            <p:cNvSpPr txBox="1"/>
            <p:nvPr/>
          </p:nvSpPr>
          <p:spPr>
            <a:xfrm>
              <a:off x="7727137" y="1659731"/>
              <a:ext cx="104683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是否要求连续</a:t>
              </a:r>
            </a:p>
          </p:txBody>
        </p:sp>
        <p:sp>
          <p:nvSpPr>
            <p:cNvPr id="64" name="TextBox 64"/>
            <p:cNvSpPr txBox="1"/>
            <p:nvPr/>
          </p:nvSpPr>
          <p:spPr>
            <a:xfrm>
              <a:off x="9722743" y="1659731"/>
              <a:ext cx="1275200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在 JILINUNIV 中</a:t>
              </a:r>
            </a:p>
          </p:txBody>
        </p:sp>
        <p:sp>
          <p:nvSpPr>
            <p:cNvPr id="65" name="TextBox 65"/>
            <p:cNvSpPr txBox="1"/>
            <p:nvPr/>
          </p:nvSpPr>
          <p:spPr>
            <a:xfrm>
              <a:off x="6356223" y="2108359"/>
              <a:ext cx="35758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子串</a:t>
              </a:r>
            </a:p>
          </p:txBody>
        </p:sp>
        <p:sp>
          <p:nvSpPr>
            <p:cNvPr id="66" name="TextBox 66"/>
            <p:cNvSpPr txBox="1"/>
            <p:nvPr/>
          </p:nvSpPr>
          <p:spPr>
            <a:xfrm>
              <a:off x="7546848" y="2108359"/>
              <a:ext cx="35758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要求</a:t>
              </a:r>
            </a:p>
          </p:txBody>
        </p:sp>
        <p:sp>
          <p:nvSpPr>
            <p:cNvPr id="67" name="TextBox 67"/>
            <p:cNvSpPr txBox="1"/>
            <p:nvPr/>
          </p:nvSpPr>
          <p:spPr>
            <a:xfrm>
              <a:off x="9169908" y="2108359"/>
              <a:ext cx="171138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JIL 是子串，JLU 不是</a:t>
              </a:r>
            </a:p>
          </p:txBody>
        </p:sp>
        <p:sp>
          <p:nvSpPr>
            <p:cNvPr id="68" name="Rectangle 68"/>
            <p:cNvSpPr/>
            <p:nvPr/>
          </p:nvSpPr>
          <p:spPr>
            <a:xfrm>
              <a:off x="6248400" y="2416492"/>
              <a:ext cx="5410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69" name="Rectangle 69"/>
            <p:cNvSpPr/>
            <p:nvPr/>
          </p:nvSpPr>
          <p:spPr>
            <a:xfrm>
              <a:off x="6248400" y="2421255"/>
              <a:ext cx="5410200" cy="448628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70" name="TextBox 70"/>
            <p:cNvSpPr txBox="1"/>
            <p:nvPr/>
          </p:nvSpPr>
          <p:spPr>
            <a:xfrm>
              <a:off x="6356223" y="2556986"/>
              <a:ext cx="52989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子序列</a:t>
              </a:r>
            </a:p>
          </p:txBody>
        </p:sp>
        <p:sp>
          <p:nvSpPr>
            <p:cNvPr id="71" name="TextBox 71"/>
            <p:cNvSpPr txBox="1"/>
            <p:nvPr/>
          </p:nvSpPr>
          <p:spPr>
            <a:xfrm>
              <a:off x="7546848" y="2556986"/>
              <a:ext cx="52989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不要求</a:t>
              </a:r>
            </a:p>
          </p:txBody>
        </p:sp>
        <p:sp>
          <p:nvSpPr>
            <p:cNvPr id="72" name="Rectangle 72"/>
            <p:cNvSpPr/>
            <p:nvPr/>
          </p:nvSpPr>
          <p:spPr>
            <a:xfrm>
              <a:off x="9071610" y="2430780"/>
              <a:ext cx="2577465" cy="429578"/>
            </a:xfrm>
            <a:prstGeom prst="rect">
              <a:avLst/>
            </a:prstGeom>
            <a:solidFill>
              <a:srgbClr val="E3F5F1"/>
            </a:solidFill>
            <a:ln>
              <a:noFill/>
            </a:ln>
          </p:spPr>
        </p:sp>
        <p:sp>
          <p:nvSpPr>
            <p:cNvPr id="73" name="TextBox 73"/>
            <p:cNvSpPr txBox="1"/>
            <p:nvPr/>
          </p:nvSpPr>
          <p:spPr>
            <a:xfrm>
              <a:off x="9169908" y="2556986"/>
              <a:ext cx="176600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JIL 和 JLU 都是子序列</a:t>
              </a:r>
            </a:p>
          </p:txBody>
        </p:sp>
        <p:sp>
          <p:nvSpPr>
            <p:cNvPr id="74" name="Rectangle 74"/>
            <p:cNvSpPr/>
            <p:nvPr/>
          </p:nvSpPr>
          <p:spPr>
            <a:xfrm>
              <a:off x="6248400" y="2866072"/>
              <a:ext cx="5410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75" name="TextBox 75"/>
            <p:cNvSpPr txBox="1"/>
            <p:nvPr/>
          </p:nvSpPr>
          <p:spPr>
            <a:xfrm>
              <a:off x="6356223" y="3005614"/>
              <a:ext cx="35758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空串</a:t>
              </a:r>
            </a:p>
          </p:txBody>
        </p:sp>
        <p:sp>
          <p:nvSpPr>
            <p:cNvPr id="76" name="TextBox 76"/>
            <p:cNvSpPr txBox="1"/>
            <p:nvPr/>
          </p:nvSpPr>
          <p:spPr>
            <a:xfrm>
              <a:off x="7546848" y="3005614"/>
              <a:ext cx="70220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两者都算</a:t>
              </a:r>
            </a:p>
          </p:txBody>
        </p:sp>
        <p:sp>
          <p:nvSpPr>
            <p:cNvPr id="77" name="TextBox 77"/>
            <p:cNvSpPr txBox="1"/>
            <p:nvPr/>
          </p:nvSpPr>
          <p:spPr>
            <a:xfrm>
              <a:off x="9169908" y="3005614"/>
              <a:ext cx="156377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既是子串也是子序列</a:t>
              </a:r>
            </a:p>
          </p:txBody>
        </p:sp>
        <p:sp>
          <p:nvSpPr>
            <p:cNvPr id="78" name="Rectangle 78"/>
            <p:cNvSpPr/>
            <p:nvPr/>
          </p:nvSpPr>
          <p:spPr>
            <a:xfrm>
              <a:off x="6248400" y="1524000"/>
              <a:ext cx="5410200" cy="1795462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79" name="Rectangle 79"/>
            <p:cNvSpPr/>
            <p:nvPr/>
          </p:nvSpPr>
          <p:spPr>
            <a:xfrm>
              <a:off x="7434262" y="1524000"/>
              <a:ext cx="9525" cy="1795462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80" name="Rectangle 80"/>
            <p:cNvSpPr/>
            <p:nvPr/>
          </p:nvSpPr>
          <p:spPr>
            <a:xfrm>
              <a:off x="9057322" y="1524000"/>
              <a:ext cx="9525" cy="1795462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</p:grpSp>
      <p:grpSp>
        <p:nvGrpSpPr>
          <p:cNvPr id="89" name="c2-card-2"/>
          <p:cNvGrpSpPr/>
          <p:nvPr/>
        </p:nvGrpSpPr>
        <p:grpSpPr>
          <a:xfrm>
            <a:off x="6248400" y="3509962"/>
            <a:ext cx="5410200" cy="2487930"/>
            <a:chOff x="6248400" y="3509962"/>
            <a:chExt cx="5410200" cy="2487930"/>
          </a:xfrm>
        </p:grpSpPr>
        <p:sp>
          <p:nvSpPr>
            <p:cNvPr id="82" name="Rectangle 82"/>
            <p:cNvSpPr/>
            <p:nvPr/>
          </p:nvSpPr>
          <p:spPr>
            <a:xfrm>
              <a:off x="6248400" y="3509962"/>
              <a:ext cx="5410200" cy="2487930"/>
            </a:xfrm>
            <a:prstGeom prst="roundRect">
              <a:avLst>
                <a:gd name="adj" fmla="val 5360"/>
              </a:avLst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83" name="Rectangle 83"/>
            <p:cNvSpPr/>
            <p:nvPr/>
          </p:nvSpPr>
          <p:spPr>
            <a:xfrm>
              <a:off x="6457950" y="3719512"/>
              <a:ext cx="494348" cy="257175"/>
            </a:xfrm>
            <a:prstGeom prst="roundRect">
              <a:avLst>
                <a:gd name="adj" fmla="val 50000"/>
              </a:avLst>
            </a:prstGeom>
            <a:solidFill>
              <a:srgbClr val="174A85"/>
            </a:solidFill>
            <a:ln>
              <a:noFill/>
            </a:ln>
          </p:spPr>
        </p:sp>
        <p:sp>
          <p:nvSpPr>
            <p:cNvPr id="84" name="TextBox 84"/>
            <p:cNvSpPr txBox="1"/>
            <p:nvPr/>
          </p:nvSpPr>
          <p:spPr>
            <a:xfrm>
              <a:off x="6548158" y="3755231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关系</a:t>
              </a:r>
            </a:p>
          </p:txBody>
        </p:sp>
        <p:sp>
          <p:nvSpPr>
            <p:cNvPr id="85" name="TextBox 85"/>
            <p:cNvSpPr txBox="1"/>
            <p:nvPr/>
          </p:nvSpPr>
          <p:spPr>
            <a:xfrm>
              <a:off x="7058978" y="3754755"/>
              <a:ext cx="284226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子串一定是子序列，反之不成立</a:t>
              </a:r>
            </a:p>
          </p:txBody>
        </p:sp>
        <p:sp>
          <p:nvSpPr>
            <p:cNvPr id="86" name="TextBox 86"/>
            <p:cNvSpPr txBox="1"/>
            <p:nvPr/>
          </p:nvSpPr>
          <p:spPr>
            <a:xfrm>
              <a:off x="6450330" y="4115752"/>
              <a:ext cx="4692015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长度为 n 的串有 n(n+1)/2 + 1 个子串，却有多达 2ⁿ 个</a:t>
              </a:r>
              <a:br/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子序列，所以不能靠枚举来求最长公共子序列。</a:t>
              </a:r>
            </a:p>
          </p:txBody>
        </p:sp>
        <p:sp>
          <p:nvSpPr>
            <p:cNvPr id="87" name="TextBox 87"/>
            <p:cNvSpPr txBox="1"/>
            <p:nvPr/>
          </p:nvSpPr>
          <p:spPr>
            <a:xfrm>
              <a:off x="6450330" y="4736782"/>
              <a:ext cx="4692015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n = m = 40 时子序列已经超过 10¹² 条，而 O(nm) 的填</a:t>
              </a:r>
              <a:br/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表只要 41×41 = 1681 格。</a:t>
              </a:r>
            </a:p>
          </p:txBody>
        </p:sp>
        <p:sp>
          <p:nvSpPr>
            <p:cNvPr id="88" name="TextBox 88"/>
            <p:cNvSpPr txBox="1"/>
            <p:nvPr/>
          </p:nvSpPr>
          <p:spPr>
            <a:xfrm>
              <a:off x="6451473" y="5353526"/>
              <a:ext cx="4589018" cy="483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845"/>
                </a:lnSpc>
              </a:pPr>
              <a:r>
                <a:rPr lang="zh-CN" sz="128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第 6 讲的模式匹配求的是子串，本专题求的是子序列，两者不要</a:t>
              </a:r>
              <a:br/>
              <a:r>
                <a:rPr lang="zh-CN" sz="128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混。</a:t>
              </a:r>
            </a:p>
          </p:txBody>
        </p:sp>
      </p:grpSp>
      <p:grpSp>
        <p:nvGrpSpPr>
          <p:cNvPr id="92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90" name="TextBox 90"/>
            <p:cNvSpPr txBox="1"/>
            <p:nvPr/>
          </p:nvSpPr>
          <p:spPr>
            <a:xfrm>
              <a:off x="528447" y="6581299"/>
              <a:ext cx="2120748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数据结构 · 专题1 字符串的模糊匹配</a:t>
              </a:r>
            </a:p>
          </p:txBody>
        </p:sp>
        <p:sp>
          <p:nvSpPr>
            <p:cNvPr id="91" name="TextBox 91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20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6891528" cy="909257"/>
            <a:chOff x="520446" y="342900"/>
            <a:chExt cx="6891528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414588" cy="266700"/>
            </a:xfrm>
            <a:prstGeom prst="roundRect">
              <a:avLst>
                <a:gd name="adj" fmla="val 50000"/>
              </a:avLst>
            </a:prstGeom>
            <a:solidFill>
              <a:srgbClr val="E6EFF9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96156" y="407194"/>
              <a:ext cx="228812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5FA8"/>
                  </a:solidFill>
                  <a:latin typeface="+mn-lt"/>
                  <a:ea typeface="+mn-ea"/>
                  <a:cs typeface="+mn-cs"/>
                </a:rPr>
                <a:t>专题1 模糊匹配 · 最长公共子序列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6891528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最长公共子序列：公共子序列里最长的那一个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1F5FA8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14" name="c1-card-1"/>
          <p:cNvGrpSpPr/>
          <p:nvPr/>
        </p:nvGrpSpPr>
        <p:grpSpPr>
          <a:xfrm>
            <a:off x="533400" y="1524000"/>
            <a:ext cx="5193982" cy="1670685"/>
            <a:chOff x="533400" y="1524000"/>
            <a:chExt cx="5193982" cy="1670685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5193982" cy="1670685"/>
            </a:xfrm>
            <a:prstGeom prst="roundRect">
              <a:avLst>
                <a:gd name="adj" fmla="val 7982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8" name="Rectangle 8"/>
            <p:cNvSpPr/>
            <p:nvPr/>
          </p:nvSpPr>
          <p:spPr>
            <a:xfrm>
              <a:off x="542925" y="1657350"/>
              <a:ext cx="47625" cy="1403985"/>
            </a:xfrm>
            <a:prstGeom prst="roundRect">
              <a:avLst>
                <a:gd name="adj" fmla="val 50000"/>
              </a:avLst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9" name="Rectangle 9"/>
            <p:cNvSpPr/>
            <p:nvPr/>
          </p:nvSpPr>
          <p:spPr>
            <a:xfrm>
              <a:off x="781050" y="1733550"/>
              <a:ext cx="494348" cy="257175"/>
            </a:xfrm>
            <a:prstGeom prst="roundRect">
              <a:avLst>
                <a:gd name="adj" fmla="val 50000"/>
              </a:avLst>
            </a:prstGeom>
            <a:solidFill>
              <a:srgbClr val="E6EFF9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871258" y="1769269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5FA8"/>
                  </a:solidFill>
                  <a:latin typeface="+mn-lt"/>
                  <a:ea typeface="+mn-ea"/>
                  <a:cs typeface="+mn-cs"/>
                </a:rPr>
                <a:t>定义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1382078" y="1768792"/>
              <a:ext cx="2202256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最长公共子序列（LCS）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773430" y="2129790"/>
              <a:ext cx="445389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同时是 S 的子序列又是 P 的子序列的串，叫两者的公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共子序列；其中最长的一个就是最长公共子序列。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773430" y="2750820"/>
              <a:ext cx="2854452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LCS 越长，说明两个串越相似。</a:t>
              </a:r>
            </a:p>
          </p:txBody>
        </p:sp>
      </p:grpSp>
      <p:grpSp>
        <p:nvGrpSpPr>
          <p:cNvPr id="22" name="c1-card-2"/>
          <p:cNvGrpSpPr/>
          <p:nvPr/>
        </p:nvGrpSpPr>
        <p:grpSpPr>
          <a:xfrm>
            <a:off x="533400" y="3385185"/>
            <a:ext cx="5193982" cy="2152650"/>
            <a:chOff x="533400" y="3385185"/>
            <a:chExt cx="5193982" cy="2152650"/>
          </a:xfrm>
        </p:grpSpPr>
        <p:sp>
          <p:nvSpPr>
            <p:cNvPr id="15" name="Rectangle 15"/>
            <p:cNvSpPr/>
            <p:nvPr/>
          </p:nvSpPr>
          <p:spPr>
            <a:xfrm>
              <a:off x="533400" y="3385185"/>
              <a:ext cx="5193982" cy="2152650"/>
            </a:xfrm>
            <a:prstGeom prst="roundRect">
              <a:avLst>
                <a:gd name="adj" fmla="val 6195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542925" y="3518535"/>
              <a:ext cx="47625" cy="1885950"/>
            </a:xfrm>
            <a:prstGeom prst="roundRect">
              <a:avLst>
                <a:gd name="adj" fmla="val 50000"/>
              </a:avLst>
            </a:prstGeom>
            <a:solidFill>
              <a:srgbClr val="5B6475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81050" y="3594735"/>
              <a:ext cx="494348" cy="257175"/>
            </a:xfrm>
            <a:prstGeom prst="roundRect">
              <a:avLst>
                <a:gd name="adj" fmla="val 50000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871258" y="3630454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更正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1382078" y="3629978"/>
              <a:ext cx="2378186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英文全称是 Subsequence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773430" y="3990975"/>
              <a:ext cx="4385786" cy="8648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 xml:space="preserve">更正：原课件第 16–23 页把 LCS 展开成 </a:t>
              </a:r>
              <a:r>
                <a:rPr lang="en-US" sz="1500" dirty="0">
                  <a:solidFill>
                    <a:srgbClr val="174A85"/>
                  </a:solidFill>
                  <a:latin typeface="+mn-lt"/>
                  <a:ea typeface="+mn-ea"/>
                  <a:cs typeface="+mn-cs"/>
                </a:rPr>
                <a:t>Longest</a:t>
              </a:r>
              <a:br/>
              <a:r>
                <a:rPr lang="en-US" sz="1500" dirty="0">
                  <a:solidFill>
                    <a:srgbClr val="174A85"/>
                  </a:solidFill>
                  <a:latin typeface="+mn-lt"/>
                  <a:ea typeface="+mn-ea"/>
                  <a:cs typeface="+mn-cs"/>
                </a:rPr>
                <a:t>Common Sequence</a:t>
              </a: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 xml:space="preserve">，规范写法是 </a:t>
              </a:r>
              <a:r>
                <a:rPr lang="en-US" sz="150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Longest Common</a:t>
              </a:r>
              <a:br/>
              <a:r>
                <a:rPr lang="en-US" sz="150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Subsequence</a:t>
              </a: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（最长公共子序列）。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74573" y="4894421"/>
              <a:ext cx="4507738" cy="483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845"/>
                </a:lnSpc>
              </a:pPr>
              <a:r>
                <a:rPr lang="zh-CN" sz="12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源课件第 23 页的函数名 longestCommonSubsequence 用的正</a:t>
              </a:r>
              <a:br/>
              <a:r>
                <a:rPr lang="zh-CN" sz="12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是规范拼法。</a:t>
              </a:r>
            </a:p>
          </p:txBody>
        </p:sp>
      </p:grpSp>
      <p:grpSp>
        <p:nvGrpSpPr>
          <p:cNvPr id="74" name="c2-cells-1"/>
          <p:cNvGrpSpPr/>
          <p:nvPr/>
        </p:nvGrpSpPr>
        <p:grpSpPr>
          <a:xfrm>
            <a:off x="6026086" y="1524000"/>
            <a:ext cx="5632514" cy="1981200"/>
            <a:chOff x="6026086" y="1524000"/>
            <a:chExt cx="5632514" cy="1981200"/>
          </a:xfrm>
        </p:grpSpPr>
        <p:sp>
          <p:nvSpPr>
            <p:cNvPr id="23" name="TextBox 23"/>
            <p:cNvSpPr txBox="1"/>
            <p:nvPr/>
          </p:nvSpPr>
          <p:spPr>
            <a:xfrm>
              <a:off x="6026086" y="1659255"/>
              <a:ext cx="11076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00" b="1" dirty="0">
                  <a:solidFill>
                    <a:srgbClr val="1F5FA8"/>
                  </a:solidFill>
                  <a:latin typeface="+mn-lt"/>
                  <a:ea typeface="+mn-ea"/>
                  <a:cs typeface="+mn-cs"/>
                </a:rPr>
                <a:t>S</a:t>
              </a:r>
            </a:p>
          </p:txBody>
        </p:sp>
        <p:sp>
          <p:nvSpPr>
            <p:cNvPr id="24" name="Rectangle 24"/>
            <p:cNvSpPr/>
            <p:nvPr/>
          </p:nvSpPr>
          <p:spPr>
            <a:xfrm>
              <a:off x="6429375" y="1524000"/>
              <a:ext cx="522922" cy="419100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1F5FA8"/>
              </a:solidFill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6635930" y="1659255"/>
              <a:ext cx="11076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H</a:t>
              </a:r>
            </a:p>
          </p:txBody>
        </p:sp>
        <p:sp>
          <p:nvSpPr>
            <p:cNvPr id="26" name="Rectangle 26"/>
            <p:cNvSpPr/>
            <p:nvPr/>
          </p:nvSpPr>
          <p:spPr>
            <a:xfrm>
              <a:off x="6952298" y="1524000"/>
              <a:ext cx="522922" cy="419100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1F5FA8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7161493" y="1659255"/>
              <a:ext cx="10548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e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7475220" y="1524000"/>
              <a:ext cx="522922" cy="419100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1F5FA8"/>
              </a:solidFill>
            </a:ln>
          </p:spPr>
        </p:sp>
        <p:sp>
          <p:nvSpPr>
            <p:cNvPr id="29" name="TextBox 29"/>
            <p:cNvSpPr txBox="1"/>
            <p:nvPr/>
          </p:nvSpPr>
          <p:spPr>
            <a:xfrm>
              <a:off x="7704666" y="1659255"/>
              <a:ext cx="6307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l</a:t>
              </a:r>
            </a:p>
          </p:txBody>
        </p:sp>
        <p:sp>
          <p:nvSpPr>
            <p:cNvPr id="30" name="Rectangle 30"/>
            <p:cNvSpPr/>
            <p:nvPr/>
          </p:nvSpPr>
          <p:spPr>
            <a:xfrm>
              <a:off x="7998142" y="1524000"/>
              <a:ext cx="522922" cy="419100"/>
            </a:xfrm>
            <a:prstGeom prst="rect">
              <a:avLst/>
            </a:prstGeom>
            <a:solidFill>
              <a:srgbClr val="FDEEE7"/>
            </a:solidFill>
            <a:ln w="15240">
              <a:solidFill>
                <a:srgbClr val="F26B3A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227588" y="1659255"/>
              <a:ext cx="6307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l</a:t>
              </a:r>
            </a:p>
          </p:txBody>
        </p:sp>
        <p:sp>
          <p:nvSpPr>
            <p:cNvPr id="32" name="Rectangle 32"/>
            <p:cNvSpPr/>
            <p:nvPr/>
          </p:nvSpPr>
          <p:spPr>
            <a:xfrm>
              <a:off x="8521065" y="1524000"/>
              <a:ext cx="522922" cy="419100"/>
            </a:xfrm>
            <a:prstGeom prst="rect">
              <a:avLst/>
            </a:prstGeom>
            <a:solidFill>
              <a:srgbClr val="FDEEE7"/>
            </a:solidFill>
            <a:ln w="15240">
              <a:solidFill>
                <a:srgbClr val="F26B3A"/>
              </a:solidFill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729308" y="1659255"/>
              <a:ext cx="10548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o</a:t>
              </a:r>
            </a:p>
          </p:txBody>
        </p:sp>
        <p:sp>
          <p:nvSpPr>
            <p:cNvPr id="34" name="Rectangle 34"/>
            <p:cNvSpPr/>
            <p:nvPr/>
          </p:nvSpPr>
          <p:spPr>
            <a:xfrm>
              <a:off x="9043988" y="1524000"/>
              <a:ext cx="522922" cy="419100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1F5FA8"/>
              </a:solidFill>
            </a:ln>
          </p:spPr>
        </p:sp>
        <p:sp>
          <p:nvSpPr>
            <p:cNvPr id="35" name="TextBox 35"/>
            <p:cNvSpPr txBox="1"/>
            <p:nvPr/>
          </p:nvSpPr>
          <p:spPr>
            <a:xfrm>
              <a:off x="9231668" y="1659255"/>
              <a:ext cx="146609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W</a:t>
              </a:r>
            </a:p>
          </p:txBody>
        </p:sp>
        <p:sp>
          <p:nvSpPr>
            <p:cNvPr id="36" name="Rectangle 36"/>
            <p:cNvSpPr/>
            <p:nvPr/>
          </p:nvSpPr>
          <p:spPr>
            <a:xfrm>
              <a:off x="9566910" y="1524000"/>
              <a:ext cx="522922" cy="419100"/>
            </a:xfrm>
            <a:prstGeom prst="rect">
              <a:avLst/>
            </a:prstGeom>
            <a:solidFill>
              <a:srgbClr val="FDEEE7"/>
            </a:solidFill>
            <a:ln w="15240">
              <a:solidFill>
                <a:srgbClr val="F26B3A"/>
              </a:solidFill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9775153" y="1659255"/>
              <a:ext cx="10548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o</a:t>
              </a:r>
            </a:p>
          </p:txBody>
        </p:sp>
        <p:sp>
          <p:nvSpPr>
            <p:cNvPr id="38" name="Rectangle 38"/>
            <p:cNvSpPr/>
            <p:nvPr/>
          </p:nvSpPr>
          <p:spPr>
            <a:xfrm>
              <a:off x="10089832" y="1524000"/>
              <a:ext cx="522922" cy="419100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1F5FA8"/>
              </a:solidFill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10299028" y="1659255"/>
              <a:ext cx="10548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r</a:t>
              </a:r>
            </a:p>
          </p:txBody>
        </p:sp>
        <p:sp>
          <p:nvSpPr>
            <p:cNvPr id="40" name="Rectangle 40"/>
            <p:cNvSpPr/>
            <p:nvPr/>
          </p:nvSpPr>
          <p:spPr>
            <a:xfrm>
              <a:off x="10612755" y="1524000"/>
              <a:ext cx="522922" cy="419100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1F5FA8"/>
              </a:solidFill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10843153" y="1659255"/>
              <a:ext cx="6307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l</a:t>
              </a:r>
            </a:p>
          </p:txBody>
        </p:sp>
        <p:sp>
          <p:nvSpPr>
            <p:cNvPr id="42" name="Rectangle 42"/>
            <p:cNvSpPr/>
            <p:nvPr/>
          </p:nvSpPr>
          <p:spPr>
            <a:xfrm>
              <a:off x="11135678" y="1524000"/>
              <a:ext cx="522922" cy="419100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1F5FA8"/>
              </a:solidFill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11344873" y="1659255"/>
              <a:ext cx="10548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d</a:t>
              </a:r>
            </a:p>
          </p:txBody>
        </p:sp>
        <p:sp>
          <p:nvSpPr>
            <p:cNvPr id="44" name="TextBox 44"/>
            <p:cNvSpPr txBox="1"/>
            <p:nvPr/>
          </p:nvSpPr>
          <p:spPr>
            <a:xfrm>
              <a:off x="6653232" y="1998345"/>
              <a:ext cx="76162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0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45" name="TextBox 45"/>
            <p:cNvSpPr txBox="1"/>
            <p:nvPr/>
          </p:nvSpPr>
          <p:spPr>
            <a:xfrm>
              <a:off x="7176154" y="1998345"/>
              <a:ext cx="76162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0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46" name="TextBox 46"/>
            <p:cNvSpPr txBox="1"/>
            <p:nvPr/>
          </p:nvSpPr>
          <p:spPr>
            <a:xfrm>
              <a:off x="7698124" y="1998345"/>
              <a:ext cx="76162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0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47" name="TextBox 47"/>
            <p:cNvSpPr txBox="1"/>
            <p:nvPr/>
          </p:nvSpPr>
          <p:spPr>
            <a:xfrm>
              <a:off x="8221047" y="1998345"/>
              <a:ext cx="76162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0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48" name="TextBox 48"/>
            <p:cNvSpPr txBox="1"/>
            <p:nvPr/>
          </p:nvSpPr>
          <p:spPr>
            <a:xfrm>
              <a:off x="8743969" y="1998345"/>
              <a:ext cx="76162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0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5</a:t>
              </a:r>
            </a:p>
          </p:txBody>
        </p:sp>
        <p:sp>
          <p:nvSpPr>
            <p:cNvPr id="49" name="TextBox 49"/>
            <p:cNvSpPr txBox="1"/>
            <p:nvPr/>
          </p:nvSpPr>
          <p:spPr>
            <a:xfrm>
              <a:off x="9266892" y="1998345"/>
              <a:ext cx="76162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0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6</a:t>
              </a:r>
            </a:p>
          </p:txBody>
        </p:sp>
        <p:sp>
          <p:nvSpPr>
            <p:cNvPr id="50" name="TextBox 50"/>
            <p:cNvSpPr txBox="1"/>
            <p:nvPr/>
          </p:nvSpPr>
          <p:spPr>
            <a:xfrm>
              <a:off x="9789814" y="1998345"/>
              <a:ext cx="76162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0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7</a:t>
              </a:r>
            </a:p>
          </p:txBody>
        </p:sp>
        <p:sp>
          <p:nvSpPr>
            <p:cNvPr id="51" name="TextBox 51"/>
            <p:cNvSpPr txBox="1"/>
            <p:nvPr/>
          </p:nvSpPr>
          <p:spPr>
            <a:xfrm>
              <a:off x="10313689" y="1998345"/>
              <a:ext cx="76162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0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8</a:t>
              </a:r>
            </a:p>
          </p:txBody>
        </p:sp>
        <p:sp>
          <p:nvSpPr>
            <p:cNvPr id="52" name="TextBox 52"/>
            <p:cNvSpPr txBox="1"/>
            <p:nvPr/>
          </p:nvSpPr>
          <p:spPr>
            <a:xfrm>
              <a:off x="10836612" y="1998345"/>
              <a:ext cx="76162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0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9</a:t>
              </a:r>
            </a:p>
          </p:txBody>
        </p:sp>
        <p:sp>
          <p:nvSpPr>
            <p:cNvPr id="53" name="TextBox 53"/>
            <p:cNvSpPr txBox="1"/>
            <p:nvPr/>
          </p:nvSpPr>
          <p:spPr>
            <a:xfrm>
              <a:off x="11326216" y="1998345"/>
              <a:ext cx="142799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0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10</a:t>
              </a:r>
            </a:p>
          </p:txBody>
        </p:sp>
        <p:sp>
          <p:nvSpPr>
            <p:cNvPr id="54" name="TextBox 54"/>
            <p:cNvSpPr txBox="1"/>
            <p:nvPr/>
          </p:nvSpPr>
          <p:spPr>
            <a:xfrm>
              <a:off x="6026086" y="2440305"/>
              <a:ext cx="11076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00" b="1" dirty="0">
                  <a:solidFill>
                    <a:srgbClr val="1F5FA8"/>
                  </a:solidFill>
                  <a:latin typeface="+mn-lt"/>
                  <a:ea typeface="+mn-ea"/>
                  <a:cs typeface="+mn-cs"/>
                </a:rPr>
                <a:t>P</a:t>
              </a:r>
            </a:p>
          </p:txBody>
        </p:sp>
        <p:sp>
          <p:nvSpPr>
            <p:cNvPr id="55" name="Rectangle 55"/>
            <p:cNvSpPr/>
            <p:nvPr/>
          </p:nvSpPr>
          <p:spPr>
            <a:xfrm>
              <a:off x="6429375" y="2305050"/>
              <a:ext cx="522922" cy="419100"/>
            </a:xfrm>
            <a:prstGeom prst="rect">
              <a:avLst/>
            </a:prstGeom>
            <a:solidFill>
              <a:srgbClr val="FDEEE7"/>
            </a:solidFill>
            <a:ln w="15240">
              <a:solidFill>
                <a:srgbClr val="F26B3A"/>
              </a:solidFill>
            </a:ln>
          </p:spPr>
        </p:sp>
        <p:sp>
          <p:nvSpPr>
            <p:cNvPr id="56" name="TextBox 56"/>
            <p:cNvSpPr txBox="1"/>
            <p:nvPr/>
          </p:nvSpPr>
          <p:spPr>
            <a:xfrm>
              <a:off x="6659773" y="2440305"/>
              <a:ext cx="6307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l</a:t>
              </a:r>
            </a:p>
          </p:txBody>
        </p:sp>
        <p:sp>
          <p:nvSpPr>
            <p:cNvPr id="57" name="Rectangle 57"/>
            <p:cNvSpPr/>
            <p:nvPr/>
          </p:nvSpPr>
          <p:spPr>
            <a:xfrm>
              <a:off x="6952298" y="2305050"/>
              <a:ext cx="522922" cy="419100"/>
            </a:xfrm>
            <a:prstGeom prst="rect">
              <a:avLst/>
            </a:prstGeom>
            <a:solidFill>
              <a:srgbClr val="FDEEE7"/>
            </a:solidFill>
            <a:ln w="15240">
              <a:solidFill>
                <a:srgbClr val="F26B3A"/>
              </a:solidFill>
            </a:ln>
          </p:spPr>
        </p:sp>
        <p:sp>
          <p:nvSpPr>
            <p:cNvPr id="58" name="TextBox 58"/>
            <p:cNvSpPr txBox="1"/>
            <p:nvPr/>
          </p:nvSpPr>
          <p:spPr>
            <a:xfrm>
              <a:off x="7161493" y="2440305"/>
              <a:ext cx="10548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o</a:t>
              </a:r>
            </a:p>
          </p:txBody>
        </p:sp>
        <p:sp>
          <p:nvSpPr>
            <p:cNvPr id="59" name="Rectangle 59"/>
            <p:cNvSpPr/>
            <p:nvPr/>
          </p:nvSpPr>
          <p:spPr>
            <a:xfrm>
              <a:off x="7475220" y="2305050"/>
              <a:ext cx="522922" cy="419100"/>
            </a:xfrm>
            <a:prstGeom prst="rect">
              <a:avLst/>
            </a:prstGeom>
            <a:solidFill>
              <a:srgbClr val="FDEEE7"/>
            </a:solidFill>
            <a:ln w="15240">
              <a:solidFill>
                <a:srgbClr val="F26B3A"/>
              </a:solidFill>
            </a:ln>
          </p:spPr>
        </p:sp>
        <p:sp>
          <p:nvSpPr>
            <p:cNvPr id="60" name="TextBox 60"/>
            <p:cNvSpPr txBox="1"/>
            <p:nvPr/>
          </p:nvSpPr>
          <p:spPr>
            <a:xfrm>
              <a:off x="7683463" y="2440305"/>
              <a:ext cx="10548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o</a:t>
              </a:r>
            </a:p>
          </p:txBody>
        </p:sp>
        <p:sp>
          <p:nvSpPr>
            <p:cNvPr id="61" name="Rectangle 61"/>
            <p:cNvSpPr/>
            <p:nvPr/>
          </p:nvSpPr>
          <p:spPr>
            <a:xfrm>
              <a:off x="7998142" y="2305050"/>
              <a:ext cx="522922" cy="419100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1F5FA8"/>
              </a:solidFill>
            </a:ln>
          </p:spPr>
        </p:sp>
        <p:sp>
          <p:nvSpPr>
            <p:cNvPr id="62" name="TextBox 62"/>
            <p:cNvSpPr txBox="1"/>
            <p:nvPr/>
          </p:nvSpPr>
          <p:spPr>
            <a:xfrm>
              <a:off x="8206386" y="2440305"/>
              <a:ext cx="10548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p</a:t>
              </a:r>
            </a:p>
          </p:txBody>
        </p:sp>
        <p:sp>
          <p:nvSpPr>
            <p:cNvPr id="63" name="TextBox 63"/>
            <p:cNvSpPr txBox="1"/>
            <p:nvPr/>
          </p:nvSpPr>
          <p:spPr>
            <a:xfrm>
              <a:off x="6653232" y="2779395"/>
              <a:ext cx="76162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0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64" name="TextBox 64"/>
            <p:cNvSpPr txBox="1"/>
            <p:nvPr/>
          </p:nvSpPr>
          <p:spPr>
            <a:xfrm>
              <a:off x="7176154" y="2779395"/>
              <a:ext cx="76162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0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65" name="TextBox 65"/>
            <p:cNvSpPr txBox="1"/>
            <p:nvPr/>
          </p:nvSpPr>
          <p:spPr>
            <a:xfrm>
              <a:off x="7698124" y="2779395"/>
              <a:ext cx="76162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0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66" name="TextBox 66"/>
            <p:cNvSpPr txBox="1"/>
            <p:nvPr/>
          </p:nvSpPr>
          <p:spPr>
            <a:xfrm>
              <a:off x="8221047" y="2779395"/>
              <a:ext cx="76162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0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67" name="TextBox 67"/>
            <p:cNvSpPr txBox="1"/>
            <p:nvPr/>
          </p:nvSpPr>
          <p:spPr>
            <a:xfrm>
              <a:off x="6026086" y="3221355"/>
              <a:ext cx="307909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00" b="1" dirty="0">
                  <a:solidFill>
                    <a:srgbClr val="1F5FA8"/>
                  </a:solidFill>
                  <a:latin typeface="+mn-lt"/>
                  <a:ea typeface="+mn-ea"/>
                  <a:cs typeface="+mn-cs"/>
                </a:rPr>
                <a:t>LCS</a:t>
              </a:r>
            </a:p>
          </p:txBody>
        </p:sp>
        <p:sp>
          <p:nvSpPr>
            <p:cNvPr id="68" name="Rectangle 68"/>
            <p:cNvSpPr/>
            <p:nvPr/>
          </p:nvSpPr>
          <p:spPr>
            <a:xfrm>
              <a:off x="6429375" y="3086100"/>
              <a:ext cx="522922" cy="419100"/>
            </a:xfrm>
            <a:prstGeom prst="rect">
              <a:avLst/>
            </a:prstGeom>
            <a:solidFill>
              <a:srgbClr val="FDEEE7"/>
            </a:solidFill>
            <a:ln w="15240">
              <a:solidFill>
                <a:srgbClr val="F26B3A"/>
              </a:solidFill>
            </a:ln>
          </p:spPr>
        </p:sp>
        <p:sp>
          <p:nvSpPr>
            <p:cNvPr id="69" name="TextBox 69"/>
            <p:cNvSpPr txBox="1"/>
            <p:nvPr/>
          </p:nvSpPr>
          <p:spPr>
            <a:xfrm>
              <a:off x="6659773" y="3221355"/>
              <a:ext cx="6307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l</a:t>
              </a:r>
            </a:p>
          </p:txBody>
        </p:sp>
        <p:sp>
          <p:nvSpPr>
            <p:cNvPr id="70" name="Rectangle 70"/>
            <p:cNvSpPr/>
            <p:nvPr/>
          </p:nvSpPr>
          <p:spPr>
            <a:xfrm>
              <a:off x="6952298" y="3086100"/>
              <a:ext cx="522922" cy="419100"/>
            </a:xfrm>
            <a:prstGeom prst="rect">
              <a:avLst/>
            </a:prstGeom>
            <a:solidFill>
              <a:srgbClr val="FDEEE7"/>
            </a:solidFill>
            <a:ln w="15240">
              <a:solidFill>
                <a:srgbClr val="F26B3A"/>
              </a:solidFill>
            </a:ln>
          </p:spPr>
        </p:sp>
        <p:sp>
          <p:nvSpPr>
            <p:cNvPr id="71" name="TextBox 71"/>
            <p:cNvSpPr txBox="1"/>
            <p:nvPr/>
          </p:nvSpPr>
          <p:spPr>
            <a:xfrm>
              <a:off x="7161493" y="3221355"/>
              <a:ext cx="10548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o</a:t>
              </a:r>
            </a:p>
          </p:txBody>
        </p:sp>
        <p:sp>
          <p:nvSpPr>
            <p:cNvPr id="72" name="Rectangle 72"/>
            <p:cNvSpPr/>
            <p:nvPr/>
          </p:nvSpPr>
          <p:spPr>
            <a:xfrm>
              <a:off x="7475220" y="3086100"/>
              <a:ext cx="522922" cy="419100"/>
            </a:xfrm>
            <a:prstGeom prst="rect">
              <a:avLst/>
            </a:prstGeom>
            <a:solidFill>
              <a:srgbClr val="FDEEE7"/>
            </a:solidFill>
            <a:ln w="15240">
              <a:solidFill>
                <a:srgbClr val="F26B3A"/>
              </a:solidFill>
            </a:ln>
          </p:spPr>
        </p:sp>
        <p:sp>
          <p:nvSpPr>
            <p:cNvPr id="73" name="TextBox 73"/>
            <p:cNvSpPr txBox="1"/>
            <p:nvPr/>
          </p:nvSpPr>
          <p:spPr>
            <a:xfrm>
              <a:off x="7683463" y="3221355"/>
              <a:ext cx="10548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o</a:t>
              </a:r>
            </a:p>
          </p:txBody>
        </p:sp>
      </p:grpSp>
      <p:grpSp>
        <p:nvGrpSpPr>
          <p:cNvPr id="82" name="c2-card-2"/>
          <p:cNvGrpSpPr/>
          <p:nvPr/>
        </p:nvGrpSpPr>
        <p:grpSpPr>
          <a:xfrm>
            <a:off x="6032182" y="3695700"/>
            <a:ext cx="5626418" cy="1842135"/>
            <a:chOff x="6032182" y="3695700"/>
            <a:chExt cx="5626418" cy="1842135"/>
          </a:xfrm>
        </p:grpSpPr>
        <p:sp>
          <p:nvSpPr>
            <p:cNvPr id="75" name="Rectangle 75"/>
            <p:cNvSpPr/>
            <p:nvPr/>
          </p:nvSpPr>
          <p:spPr>
            <a:xfrm>
              <a:off x="6032182" y="3695700"/>
              <a:ext cx="5626418" cy="1842135"/>
            </a:xfrm>
            <a:prstGeom prst="roundRect">
              <a:avLst>
                <a:gd name="adj" fmla="val 7239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76" name="Rectangle 76"/>
            <p:cNvSpPr/>
            <p:nvPr/>
          </p:nvSpPr>
          <p:spPr>
            <a:xfrm>
              <a:off x="6041708" y="3829050"/>
              <a:ext cx="47625" cy="1575435"/>
            </a:xfrm>
            <a:prstGeom prst="roundRect">
              <a:avLst>
                <a:gd name="adj" fmla="val 50000"/>
              </a:avLst>
            </a:prstGeom>
            <a:solidFill>
              <a:srgbClr val="14A38B"/>
            </a:solidFill>
            <a:ln>
              <a:noFill/>
            </a:ln>
          </p:spPr>
        </p:sp>
        <p:sp>
          <p:nvSpPr>
            <p:cNvPr id="77" name="Rectangle 77"/>
            <p:cNvSpPr/>
            <p:nvPr/>
          </p:nvSpPr>
          <p:spPr>
            <a:xfrm>
              <a:off x="6279832" y="3905250"/>
              <a:ext cx="351472" cy="257175"/>
            </a:xfrm>
            <a:prstGeom prst="roundRect">
              <a:avLst>
                <a:gd name="adj" fmla="val 50000"/>
              </a:avLst>
            </a:prstGeom>
            <a:solidFill>
              <a:srgbClr val="E3F5F1"/>
            </a:solidFill>
            <a:ln>
              <a:noFill/>
            </a:ln>
          </p:spPr>
        </p:sp>
        <p:sp>
          <p:nvSpPr>
            <p:cNvPr id="78" name="TextBox 78"/>
            <p:cNvSpPr txBox="1"/>
            <p:nvPr/>
          </p:nvSpPr>
          <p:spPr>
            <a:xfrm>
              <a:off x="6373990" y="3940969"/>
              <a:ext cx="16220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例</a:t>
              </a:r>
            </a:p>
          </p:txBody>
        </p:sp>
        <p:sp>
          <p:nvSpPr>
            <p:cNvPr id="79" name="TextBox 79"/>
            <p:cNvSpPr txBox="1"/>
            <p:nvPr/>
          </p:nvSpPr>
          <p:spPr>
            <a:xfrm>
              <a:off x="6737985" y="3940492"/>
              <a:ext cx="243157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S = HelloWorld，P = loop</a:t>
              </a:r>
            </a:p>
          </p:txBody>
        </p:sp>
        <p:sp>
          <p:nvSpPr>
            <p:cNvPr id="80" name="TextBox 80"/>
            <p:cNvSpPr txBox="1"/>
            <p:nvPr/>
          </p:nvSpPr>
          <p:spPr>
            <a:xfrm>
              <a:off x="6272212" y="4301490"/>
              <a:ext cx="487299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取 S 的第 4、5、7 位得到 loo；取 P 的第 1、2、3 位也得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到 loo，所以 LCS 长度为 3。</a:t>
              </a:r>
            </a:p>
          </p:txBody>
        </p:sp>
        <p:sp>
          <p:nvSpPr>
            <p:cNvPr id="81" name="TextBox 81"/>
            <p:cNvSpPr txBox="1"/>
            <p:nvPr/>
          </p:nvSpPr>
          <p:spPr>
            <a:xfrm>
              <a:off x="6272212" y="4922520"/>
              <a:ext cx="3693033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loop 整体不是 S 的子序列：S 里没有 p。</a:t>
              </a:r>
            </a:p>
          </p:txBody>
        </p:sp>
      </p:grpSp>
      <p:grpSp>
        <p:nvGrpSpPr>
          <p:cNvPr id="88" name="takeaway"/>
          <p:cNvGrpSpPr/>
          <p:nvPr/>
        </p:nvGrpSpPr>
        <p:grpSpPr>
          <a:xfrm>
            <a:off x="533400" y="5829300"/>
            <a:ext cx="11125200" cy="533400"/>
            <a:chOff x="533400" y="5829300"/>
            <a:chExt cx="11125200" cy="533400"/>
          </a:xfrm>
        </p:grpSpPr>
        <p:sp>
          <p:nvSpPr>
            <p:cNvPr id="83" name="Rectangle 83"/>
            <p:cNvSpPr/>
            <p:nvPr/>
          </p:nvSpPr>
          <p:spPr>
            <a:xfrm>
              <a:off x="533400" y="5829300"/>
              <a:ext cx="11125200" cy="533400"/>
            </a:xfrm>
            <a:prstGeom prst="roundRect">
              <a:avLst>
                <a:gd name="adj" fmla="val 21429"/>
              </a:avLst>
            </a:prstGeom>
            <a:solidFill>
              <a:srgbClr val="1F5FA8"/>
            </a:solidFill>
            <a:ln>
              <a:noFill/>
            </a:ln>
          </p:spPr>
        </p:sp>
        <p:grpSp>
          <p:nvGrpSpPr>
            <p:cNvPr id="86" name="Group 86"/>
            <p:cNvGrpSpPr/>
            <p:nvPr/>
          </p:nvGrpSpPr>
          <p:grpSpPr>
            <a:xfrm>
              <a:off x="738188" y="5995990"/>
              <a:ext cx="200023" cy="200023"/>
              <a:chOff x="738188" y="5995990"/>
              <a:chExt cx="200023" cy="200023"/>
            </a:xfrm>
          </p:grpSpPr>
          <p:sp>
            <p:nvSpPr>
              <p:cNvPr id="84" name="Freeform 84"/>
              <p:cNvSpPr/>
              <p:nvPr/>
            </p:nvSpPr>
            <p:spPr>
              <a:xfrm>
                <a:off x="738188" y="5995990"/>
                <a:ext cx="200023" cy="200023"/>
              </a:xfrm>
              <a:custGeom>
                <a:avLst/>
                <a:gdLst/>
                <a:ahLst/>
                <a:cxnLst/>
                <a:rect l="l" t="t" r="r" b="b"/>
                <a:pathLst>
                  <a:path w="200023" h="200023">
                    <a:moveTo>
                      <a:pt x="150630" y="9366"/>
                    </a:moveTo>
                    <a:lnTo>
                      <a:pt x="190658" y="49393"/>
                    </a:lnTo>
                    <a:cubicBezTo>
                      <a:pt x="196654" y="55389"/>
                      <a:pt x="200023" y="63522"/>
                      <a:pt x="200023" y="72002"/>
                    </a:cubicBezTo>
                    <a:cubicBezTo>
                      <a:pt x="200023" y="80482"/>
                      <a:pt x="196654" y="88614"/>
                      <a:pt x="190658" y="94610"/>
                    </a:cubicBezTo>
                    <a:lnTo>
                      <a:pt x="161287" y="123980"/>
                    </a:lnTo>
                    <a:cubicBezTo>
                      <a:pt x="155291" y="129977"/>
                      <a:pt x="147159" y="133346"/>
                      <a:pt x="138679" y="133346"/>
                    </a:cubicBezTo>
                    <a:cubicBezTo>
                      <a:pt x="130199" y="133346"/>
                      <a:pt x="122066" y="129977"/>
                      <a:pt x="116070" y="123980"/>
                    </a:cubicBezTo>
                    <a:lnTo>
                      <a:pt x="112726" y="120636"/>
                    </a:lnTo>
                    <a:lnTo>
                      <a:pt x="39850" y="193511"/>
                    </a:lnTo>
                    <a:cubicBezTo>
                      <a:pt x="36157" y="197203"/>
                      <a:pt x="31283" y="199477"/>
                      <a:pt x="26081" y="199935"/>
                    </a:cubicBezTo>
                    <a:lnTo>
                      <a:pt x="24136" y="200023"/>
                    </a:lnTo>
                    <a:lnTo>
                      <a:pt x="11113" y="200023"/>
                    </a:lnTo>
                    <a:cubicBezTo>
                      <a:pt x="5479" y="200023"/>
                      <a:pt x="737" y="195806"/>
                      <a:pt x="78" y="190211"/>
                    </a:cubicBezTo>
                    <a:lnTo>
                      <a:pt x="0" y="188911"/>
                    </a:lnTo>
                    <a:lnTo>
                      <a:pt x="0" y="175887"/>
                    </a:lnTo>
                    <a:cubicBezTo>
                      <a:pt x="1" y="170669"/>
                      <a:pt x="1838" y="165618"/>
                      <a:pt x="5190" y="161619"/>
                    </a:cubicBezTo>
                    <a:lnTo>
                      <a:pt x="6512" y="160174"/>
                    </a:lnTo>
                    <a:lnTo>
                      <a:pt x="11113" y="155573"/>
                    </a:lnTo>
                    <a:lnTo>
                      <a:pt x="33338" y="155573"/>
                    </a:lnTo>
                    <a:lnTo>
                      <a:pt x="33338" y="133348"/>
                    </a:lnTo>
                    <a:lnTo>
                      <a:pt x="55563" y="133348"/>
                    </a:lnTo>
                    <a:lnTo>
                      <a:pt x="55563" y="111123"/>
                    </a:lnTo>
                    <a:lnTo>
                      <a:pt x="79388" y="87298"/>
                    </a:lnTo>
                    <a:lnTo>
                      <a:pt x="76043" y="83953"/>
                    </a:lnTo>
                    <a:cubicBezTo>
                      <a:pt x="70046" y="77957"/>
                      <a:pt x="66677" y="69825"/>
                      <a:pt x="66677" y="61345"/>
                    </a:cubicBezTo>
                    <a:cubicBezTo>
                      <a:pt x="66677" y="52865"/>
                      <a:pt x="70046" y="44732"/>
                      <a:pt x="76043" y="38736"/>
                    </a:cubicBezTo>
                    <a:lnTo>
                      <a:pt x="105413" y="9366"/>
                    </a:lnTo>
                    <a:cubicBezTo>
                      <a:pt x="111409" y="3369"/>
                      <a:pt x="119542" y="0"/>
                      <a:pt x="128022" y="0"/>
                    </a:cubicBezTo>
                    <a:cubicBezTo>
                      <a:pt x="136502" y="0"/>
                      <a:pt x="144635" y="3369"/>
                      <a:pt x="150630" y="9366"/>
                    </a:cubicBez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  <p:sp>
            <p:nvSpPr>
              <p:cNvPr id="85" name="Freeform 85"/>
              <p:cNvSpPr/>
              <p:nvPr/>
            </p:nvSpPr>
            <p:spPr>
              <a:xfrm>
                <a:off x="871538" y="6062663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</p:grpSp>
        <p:sp>
          <p:nvSpPr>
            <p:cNvPr id="87" name="TextBox 87"/>
            <p:cNvSpPr txBox="1"/>
            <p:nvPr/>
          </p:nvSpPr>
          <p:spPr>
            <a:xfrm>
              <a:off x="1040130" y="5991225"/>
              <a:ext cx="555117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给定 S 和 P，求最长公共子序列的长度，即 LeetCode 1143。</a:t>
              </a:r>
            </a:p>
          </p:txBody>
        </p:sp>
      </p:grpSp>
      <p:grpSp>
        <p:nvGrpSpPr>
          <p:cNvPr id="91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89" name="TextBox 89"/>
            <p:cNvSpPr txBox="1"/>
            <p:nvPr/>
          </p:nvSpPr>
          <p:spPr>
            <a:xfrm>
              <a:off x="528447" y="6581299"/>
              <a:ext cx="2120748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数据结构 · 专题1 字符串的模糊匹配</a:t>
              </a:r>
            </a:p>
          </p:txBody>
        </p:sp>
        <p:sp>
          <p:nvSpPr>
            <p:cNvPr id="90" name="TextBox 90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21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4507749" cy="909257"/>
            <a:chOff x="520446" y="342900"/>
            <a:chExt cx="4507749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414588" cy="266700"/>
            </a:xfrm>
            <a:prstGeom prst="roundRect">
              <a:avLst>
                <a:gd name="adj" fmla="val 50000"/>
              </a:avLst>
            </a:prstGeom>
            <a:solidFill>
              <a:srgbClr val="E6EFF9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96156" y="407194"/>
              <a:ext cx="228812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5FA8"/>
                  </a:solidFill>
                  <a:latin typeface="+mn-lt"/>
                  <a:ea typeface="+mn-ea"/>
                  <a:cs typeface="+mn-cs"/>
                </a:rPr>
                <a:t>专题1 模糊匹配 · 最长公共子序列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4507749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末位相等：LCS 长度直接加 1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1F5FA8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8" name="lead"/>
          <p:cNvGrpSpPr/>
          <p:nvPr/>
        </p:nvGrpSpPr>
        <p:grpSpPr>
          <a:xfrm>
            <a:off x="526161" y="1547336"/>
            <a:ext cx="4992728" cy="278702"/>
            <a:chOff x="526161" y="1547336"/>
            <a:chExt cx="4992728" cy="278702"/>
          </a:xfrm>
        </p:grpSpPr>
        <p:sp>
          <p:nvSpPr>
            <p:cNvPr id="7" name="TextBox 7"/>
            <p:cNvSpPr txBox="1"/>
            <p:nvPr/>
          </p:nvSpPr>
          <p:spPr>
            <a:xfrm>
              <a:off x="526161" y="1547336"/>
              <a:ext cx="4992728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记 LCS(i, j) 为 S₁…Sᵢ 与 P₁…Pⱼ 的最长公共子序列长度。</a:t>
              </a:r>
            </a:p>
          </p:txBody>
        </p:sp>
      </p:grpSp>
      <p:grpSp>
        <p:nvGrpSpPr>
          <p:cNvPr id="27" name="c1-cells-1"/>
          <p:cNvGrpSpPr/>
          <p:nvPr/>
        </p:nvGrpSpPr>
        <p:grpSpPr>
          <a:xfrm>
            <a:off x="527685" y="1941195"/>
            <a:ext cx="5292091" cy="919163"/>
            <a:chOff x="527685" y="1941195"/>
            <a:chExt cx="5292091" cy="919163"/>
          </a:xfrm>
        </p:grpSpPr>
        <p:sp>
          <p:nvSpPr>
            <p:cNvPr id="9" name="TextBox 9"/>
            <p:cNvSpPr txBox="1"/>
            <p:nvPr/>
          </p:nvSpPr>
          <p:spPr>
            <a:xfrm>
              <a:off x="527685" y="2062639"/>
              <a:ext cx="10343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b="1" dirty="0">
                  <a:solidFill>
                    <a:srgbClr val="1F5FA8"/>
                  </a:solidFill>
                  <a:latin typeface="+mn-lt"/>
                  <a:ea typeface="+mn-ea"/>
                  <a:cs typeface="+mn-cs"/>
                </a:rPr>
                <a:t>S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748665" y="1941195"/>
              <a:ext cx="1267778" cy="381000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1F5FA8"/>
              </a:solidFill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1285314" y="2062639"/>
              <a:ext cx="19543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S₁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2016442" y="1941195"/>
              <a:ext cx="1267778" cy="381000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1F5FA8"/>
              </a:solidFill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2601556" y="2062639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…</a:t>
              </a:r>
            </a:p>
          </p:txBody>
        </p:sp>
        <p:sp>
          <p:nvSpPr>
            <p:cNvPr id="14" name="Rectangle 14"/>
            <p:cNvSpPr/>
            <p:nvPr/>
          </p:nvSpPr>
          <p:spPr>
            <a:xfrm>
              <a:off x="3284220" y="1941195"/>
              <a:ext cx="1267778" cy="381000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1F5FA8"/>
              </a:solidFill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3728868" y="2062639"/>
              <a:ext cx="37943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Sᵢ₋₁</a:t>
              </a:r>
            </a:p>
          </p:txBody>
        </p:sp>
        <p:sp>
          <p:nvSpPr>
            <p:cNvPr id="16" name="Rectangle 16"/>
            <p:cNvSpPr/>
            <p:nvPr/>
          </p:nvSpPr>
          <p:spPr>
            <a:xfrm>
              <a:off x="4551998" y="1941195"/>
              <a:ext cx="1267778" cy="381000"/>
            </a:xfrm>
            <a:prstGeom prst="rect">
              <a:avLst/>
            </a:prstGeom>
            <a:solidFill>
              <a:srgbClr val="FDEEE7"/>
            </a:solidFill>
            <a:ln w="15240">
              <a:solidFill>
                <a:srgbClr val="F26B3A"/>
              </a:solidFill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5087694" y="2062639"/>
              <a:ext cx="19543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Sᵢ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527685" y="2599849"/>
              <a:ext cx="10343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b="1" dirty="0">
                  <a:solidFill>
                    <a:srgbClr val="1F5FA8"/>
                  </a:solidFill>
                  <a:latin typeface="+mn-lt"/>
                  <a:ea typeface="+mn-ea"/>
                  <a:cs typeface="+mn-cs"/>
                </a:rPr>
                <a:t>P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748665" y="2479358"/>
              <a:ext cx="1267778" cy="381000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1F5FA8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1285314" y="2599849"/>
              <a:ext cx="19543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P₁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2016442" y="2479358"/>
              <a:ext cx="1267778" cy="381000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1F5FA8"/>
              </a:solidFill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2601556" y="2599849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…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3284220" y="2479358"/>
              <a:ext cx="1267778" cy="381000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1F5FA8"/>
              </a:solidFill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3728868" y="2599849"/>
              <a:ext cx="37943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Pⱼ₋₁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4551998" y="2479358"/>
              <a:ext cx="1267778" cy="381000"/>
            </a:xfrm>
            <a:prstGeom prst="rect">
              <a:avLst/>
            </a:prstGeom>
            <a:solidFill>
              <a:srgbClr val="FDEEE7"/>
            </a:solidFill>
            <a:ln w="15240">
              <a:solidFill>
                <a:srgbClr val="F26B3A"/>
              </a:solidFill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5087694" y="2599849"/>
              <a:ext cx="19543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Pⱼ</a:t>
              </a:r>
            </a:p>
          </p:txBody>
        </p:sp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28" name="formula16"/>
              <p:cNvSpPr txBox="1">
                <a:spLocks noGrp="1"/>
              </p:cNvSpPr>
              <p:nvPr/>
            </p:nvSpPr>
            <p:spPr>
              <a:xfrm>
                <a:off x="533400" y="3035618"/>
                <a:ext cx="5410200" cy="4572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lIns="0" tIns="0" rIns="0" bIns="0" wrap="none" anchor="ctr">
                <a:normAutofit/>
              </a:bodyPr>
              <a:lstStyle/>
              <a:p>
                <a:pPr algn="ctr"/>
                <a14:m>
                  <m:oMathPara xmlns:a="http://schemas.openxmlformats.org/drawingml/2006/main" xmlns:m="http://schemas.openxmlformats.org/officeDocument/2006/math">
                    <m:oMathParaPr>
                      <m:jc m:val="center"/>
                    </m:oMathParaPr>
                    <m:oMath>
                      <m:r>
                        <a:rPr lang="zh-CN" sz="180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LCS</m:t>
                      </m:r>
                      <m:d>
                        <m:dPr>
                          <m:begChr m:val="("/>
                          <m:sepChr m:val=""/>
                          <m:endChr m:val=")"/>
                          <m:grow m:val="on"/>
                          <m:ctrlPr>
                            <a:rPr lang="zh-CN" sz="180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a:rPr lang="zh-CN" sz="180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i</m:t>
                          </m:r>
                          <m:r>
                            <m:rPr>
                              <m:sty m:val="p"/>
                            </m:rPr>
                            <a:rPr lang="zh-CN" sz="180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,</m:t>
                          </m:r>
                          <m:r>
                            <a:rPr lang="zh-CN" sz="180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j</m:t>
                          </m:r>
                        </m:e>
                      </m:d>
                      <m:r>
                        <m:rPr>
                          <m:sty m:val="p"/>
                        </m:rPr>
                        <a:rPr lang="zh-CN" sz="180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r>
                        <a:rPr lang="zh-CN" sz="180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LCS</m:t>
                      </m:r>
                      <m:d>
                        <m:dPr>
                          <m:begChr m:val="("/>
                          <m:sepChr m:val=""/>
                          <m:endChr m:val=")"/>
                          <m:grow m:val="on"/>
                          <m:ctrlPr>
                            <a:rPr lang="zh-CN" sz="180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a:rPr lang="zh-CN" sz="180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i</m:t>
                          </m:r>
                          <m:r>
                            <m:rPr>
                              <m:sty m:val="p"/>
                            </m:rPr>
                            <a:rPr lang="zh-CN" sz="180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−</m:t>
                          </m:r>
                          <m:r>
                            <a:rPr lang="zh-CN" sz="180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1</m:t>
                          </m:r>
                          <m:r>
                            <m:rPr>
                              <m:sty m:val="p"/>
                            </m:rPr>
                            <a:rPr lang="zh-CN" sz="180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,</m:t>
                          </m:r>
                          <m:r>
                            <a:rPr lang="zh-CN" sz="180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 xml:space="preserve"> </m:t>
                          </m:r>
                          <m:r>
                            <a:rPr lang="zh-CN" sz="180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j</m:t>
                          </m:r>
                          <m:r>
                            <m:rPr>
                              <m:sty m:val="p"/>
                            </m:rPr>
                            <a:rPr lang="zh-CN" sz="180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−</m:t>
                          </m:r>
                          <m:r>
                            <a:rPr lang="zh-CN" sz="180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1</m:t>
                          </m:r>
                        </m:e>
                      </m:d>
                      <m:r>
                        <m:rPr>
                          <m:sty m:val="p"/>
                        </m:rPr>
                        <a:rPr lang="zh-CN" sz="180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+</m:t>
                      </m:r>
                      <m:r>
                        <a:rPr lang="zh-CN" sz="180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1</m:t>
                      </m:r>
                      <m:r>
                        <a:rPr lang="zh-CN" sz="180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 xml:space="preserve">  </m:t>
                      </m:r>
                      <m:d>
                        <m:dPr>
                          <m:begChr m:val="("/>
                          <m:sepChr m:val=""/>
                          <m:endChr m:val=")"/>
                          <m:grow m:val="on"/>
                          <m:ctrlPr>
                            <a:rPr lang="zh-CN" sz="180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sSub>
                            <m:e>
                              <m:r>
                                <a:rPr lang="zh-CN" sz="180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S</m:t>
                              </m:r>
                            </m:e>
                            <m:sub>
                              <m:r>
                                <a:rPr lang="zh-CN" sz="180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i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a:rPr lang="zh-CN" sz="180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=</m:t>
                          </m:r>
                          <m:sSub>
                            <m:e>
                              <m:r>
                                <a:rPr lang="zh-CN" sz="180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P</m:t>
                              </m:r>
                            </m:e>
                            <m:sub>
                              <m:r>
                                <a:rPr lang="zh-CN" sz="180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j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</a:p>
            </p:txBody>
          </p:sp>
        </mc:Choice>
      </mc:AlternateContent>
      <p:grpSp>
        <p:nvGrpSpPr>
          <p:cNvPr id="36" name="c1-card-3"/>
          <p:cNvGrpSpPr/>
          <p:nvPr/>
        </p:nvGrpSpPr>
        <p:grpSpPr>
          <a:xfrm>
            <a:off x="533400" y="3668078"/>
            <a:ext cx="5410200" cy="1529715"/>
            <a:chOff x="533400" y="3668078"/>
            <a:chExt cx="5410200" cy="1529715"/>
          </a:xfrm>
        </p:grpSpPr>
        <p:sp>
          <p:nvSpPr>
            <p:cNvPr id="29" name="Rectangle 29"/>
            <p:cNvSpPr/>
            <p:nvPr/>
          </p:nvSpPr>
          <p:spPr>
            <a:xfrm>
              <a:off x="533400" y="3668078"/>
              <a:ext cx="5410200" cy="1529715"/>
            </a:xfrm>
            <a:prstGeom prst="roundRect">
              <a:avLst>
                <a:gd name="adj" fmla="val 8717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542925" y="3801428"/>
              <a:ext cx="47625" cy="1263015"/>
            </a:xfrm>
            <a:prstGeom prst="roundRect">
              <a:avLst>
                <a:gd name="adj" fmla="val 50000"/>
              </a:avLst>
            </a:prstGeom>
            <a:solidFill>
              <a:srgbClr val="14A38B"/>
            </a:solidFill>
            <a:ln>
              <a:noFill/>
            </a:ln>
          </p:spPr>
        </p:sp>
        <p:sp>
          <p:nvSpPr>
            <p:cNvPr id="31" name="Rectangle 31"/>
            <p:cNvSpPr/>
            <p:nvPr/>
          </p:nvSpPr>
          <p:spPr>
            <a:xfrm>
              <a:off x="763905" y="3860482"/>
              <a:ext cx="342900" cy="247650"/>
            </a:xfrm>
            <a:prstGeom prst="roundRect">
              <a:avLst>
                <a:gd name="adj" fmla="val 50000"/>
              </a:avLst>
            </a:prstGeom>
            <a:solidFill>
              <a:srgbClr val="E3F5F1"/>
            </a:solidFill>
            <a:ln>
              <a:noFill/>
            </a:ln>
          </p:spPr>
        </p:sp>
        <p:sp>
          <p:nvSpPr>
            <p:cNvPr id="32" name="TextBox 32"/>
            <p:cNvSpPr txBox="1"/>
            <p:nvPr/>
          </p:nvSpPr>
          <p:spPr>
            <a:xfrm>
              <a:off x="859346" y="3894773"/>
              <a:ext cx="152019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例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1214247" y="3899535"/>
              <a:ext cx="146761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在表格上看这一步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757047" y="4233862"/>
              <a:ext cx="425710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S = ABC、P = BCD 时，i = 2、j = 1 处 S₂ = P₁ = B。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757047" y="4536758"/>
              <a:ext cx="4694301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左上角 LCS[1][0] = 0，所以 LCS[2][1] = 0 + 1 = 1，这是全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表第一个非零格。</a:t>
              </a:r>
            </a:p>
          </p:txBody>
        </p:sp>
      </p:grpSp>
      <p:grpSp>
        <p:nvGrpSpPr>
          <p:cNvPr id="43" name="c1-callout-4"/>
          <p:cNvGrpSpPr/>
          <p:nvPr/>
        </p:nvGrpSpPr>
        <p:grpSpPr>
          <a:xfrm>
            <a:off x="533400" y="5372100"/>
            <a:ext cx="5410200" cy="964882"/>
            <a:chOff x="533400" y="5372100"/>
            <a:chExt cx="5410200" cy="964882"/>
          </a:xfrm>
        </p:grpSpPr>
        <p:sp>
          <p:nvSpPr>
            <p:cNvPr id="37" name="Rectangle 37"/>
            <p:cNvSpPr/>
            <p:nvPr/>
          </p:nvSpPr>
          <p:spPr>
            <a:xfrm>
              <a:off x="533400" y="5372100"/>
              <a:ext cx="5410200" cy="964882"/>
            </a:xfrm>
            <a:prstGeom prst="roundRect">
              <a:avLst>
                <a:gd name="adj" fmla="val 11846"/>
              </a:avLst>
            </a:prstGeom>
            <a:solidFill>
              <a:srgbClr val="F4F6FB"/>
            </a:solidFill>
            <a:ln>
              <a:noFill/>
            </a:ln>
          </p:spPr>
        </p:sp>
        <p:grpSp>
          <p:nvGrpSpPr>
            <p:cNvPr id="41" name="Group 41"/>
            <p:cNvGrpSpPr/>
            <p:nvPr/>
          </p:nvGrpSpPr>
          <p:grpSpPr>
            <a:xfrm>
              <a:off x="738188" y="5755005"/>
              <a:ext cx="200026" cy="200026"/>
              <a:chOff x="738188" y="5755005"/>
              <a:chExt cx="200026" cy="200026"/>
            </a:xfrm>
          </p:grpSpPr>
          <p:sp>
            <p:nvSpPr>
              <p:cNvPr id="38" name="Freeform 38"/>
              <p:cNvSpPr/>
              <p:nvPr/>
            </p:nvSpPr>
            <p:spPr>
              <a:xfrm>
                <a:off x="738188" y="5755005"/>
                <a:ext cx="200026" cy="200026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200026">
                    <a:moveTo>
                      <a:pt x="0" y="100013"/>
                    </a:moveTo>
                    <a:cubicBezTo>
                      <a:pt x="0" y="155248"/>
                      <a:pt x="44777" y="200026"/>
                      <a:pt x="100013" y="200026"/>
                    </a:cubicBezTo>
                    <a:cubicBezTo>
                      <a:pt x="155248" y="200026"/>
                      <a:pt x="200026" y="155248"/>
                      <a:pt x="200026" y="100013"/>
                    </a:cubicBezTo>
                    <a:cubicBezTo>
                      <a:pt x="200026" y="44777"/>
                      <a:pt x="155248" y="0"/>
                      <a:pt x="100013" y="0"/>
                    </a:cubicBezTo>
                    <a:cubicBezTo>
                      <a:pt x="44777" y="0"/>
                      <a:pt x="0" y="44777"/>
                      <a:pt x="0" y="100013"/>
                    </a:cubicBez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39" name="Freeform 39"/>
              <p:cNvSpPr/>
              <p:nvPr/>
            </p:nvSpPr>
            <p:spPr>
              <a:xfrm>
                <a:off x="838200" y="5821680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40" name="Freeform 40"/>
              <p:cNvSpPr/>
              <p:nvPr/>
            </p:nvSpPr>
            <p:spPr>
              <a:xfrm>
                <a:off x="827088" y="5855018"/>
                <a:ext cx="2222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22225" h="44450">
                    <a:moveTo>
                      <a:pt x="0" y="0"/>
                    </a:moveTo>
                    <a:lnTo>
                      <a:pt x="11113" y="0"/>
                    </a:lnTo>
                    <a:lnTo>
                      <a:pt x="11113" y="44450"/>
                    </a:lnTo>
                    <a:lnTo>
                      <a:pt x="22225" y="4445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</p:grpSp>
        <p:sp>
          <p:nvSpPr>
            <p:cNvPr id="42" name="TextBox 42"/>
            <p:cNvSpPr txBox="1"/>
            <p:nvPr/>
          </p:nvSpPr>
          <p:spPr>
            <a:xfrm>
              <a:off x="1040892" y="5635942"/>
              <a:ext cx="4497134" cy="51263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58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编辑距离的“相等”是省下一次操作，LCS 的“相等”是多收一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个字符，方向相反但位置一样。</a:t>
              </a:r>
            </a:p>
          </p:txBody>
        </p:sp>
      </p:grpSp>
      <p:grpSp>
        <p:nvGrpSpPr>
          <p:cNvPr id="51" name="c2-card-1"/>
          <p:cNvGrpSpPr/>
          <p:nvPr/>
        </p:nvGrpSpPr>
        <p:grpSpPr>
          <a:xfrm>
            <a:off x="6248400" y="1941195"/>
            <a:ext cx="5410200" cy="1786890"/>
            <a:chOff x="6248400" y="1941195"/>
            <a:chExt cx="5410200" cy="1786890"/>
          </a:xfrm>
        </p:grpSpPr>
        <p:sp>
          <p:nvSpPr>
            <p:cNvPr id="44" name="Rectangle 44"/>
            <p:cNvSpPr/>
            <p:nvPr/>
          </p:nvSpPr>
          <p:spPr>
            <a:xfrm>
              <a:off x="6248400" y="1941195"/>
              <a:ext cx="5410200" cy="1786890"/>
            </a:xfrm>
            <a:prstGeom prst="roundRect">
              <a:avLst>
                <a:gd name="adj" fmla="val 7463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45" name="Rectangle 45"/>
            <p:cNvSpPr/>
            <p:nvPr/>
          </p:nvSpPr>
          <p:spPr>
            <a:xfrm>
              <a:off x="6257925" y="2074545"/>
              <a:ext cx="47625" cy="1520190"/>
            </a:xfrm>
            <a:prstGeom prst="roundRect">
              <a:avLst>
                <a:gd name="adj" fmla="val 50000"/>
              </a:avLst>
            </a:prstGeom>
            <a:solidFill>
              <a:srgbClr val="F26B3A"/>
            </a:solidFill>
            <a:ln>
              <a:noFill/>
            </a:ln>
          </p:spPr>
        </p:sp>
        <p:sp>
          <p:nvSpPr>
            <p:cNvPr id="46" name="Rectangle 46"/>
            <p:cNvSpPr/>
            <p:nvPr/>
          </p:nvSpPr>
          <p:spPr>
            <a:xfrm>
              <a:off x="6478905" y="2133600"/>
              <a:ext cx="476250" cy="247650"/>
            </a:xfrm>
            <a:prstGeom prst="roundRect">
              <a:avLst>
                <a:gd name="adj" fmla="val 50000"/>
              </a:avLst>
            </a:prstGeom>
            <a:solidFill>
              <a:srgbClr val="FDEEE7"/>
            </a:solidFill>
            <a:ln>
              <a:noFill/>
            </a:ln>
          </p:spPr>
        </p:sp>
        <p:sp>
          <p:nvSpPr>
            <p:cNvPr id="47" name="TextBox 47"/>
            <p:cNvSpPr txBox="1"/>
            <p:nvPr/>
          </p:nvSpPr>
          <p:spPr>
            <a:xfrm>
              <a:off x="6570345" y="2167890"/>
              <a:ext cx="29337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结论</a:t>
              </a:r>
            </a:p>
          </p:txBody>
        </p:sp>
        <p:sp>
          <p:nvSpPr>
            <p:cNvPr id="48" name="TextBox 48"/>
            <p:cNvSpPr txBox="1"/>
            <p:nvPr/>
          </p:nvSpPr>
          <p:spPr>
            <a:xfrm>
              <a:off x="7062597" y="2173605"/>
              <a:ext cx="276946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末位这对相同字符一定可以进 LCS</a:t>
              </a:r>
            </a:p>
          </p:txBody>
        </p:sp>
        <p:sp>
          <p:nvSpPr>
            <p:cNvPr id="49" name="TextBox 49"/>
            <p:cNvSpPr txBox="1"/>
            <p:nvPr/>
          </p:nvSpPr>
          <p:spPr>
            <a:xfrm>
              <a:off x="6472047" y="2507932"/>
              <a:ext cx="4642866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若某条最长公共子序列没有用上这一对末位字符，就可以把它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的最后一个字符换成这一对，长度不变而仍然合法。</a:t>
              </a:r>
            </a:p>
          </p:txBody>
        </p:sp>
        <p:sp>
          <p:nvSpPr>
            <p:cNvPr id="50" name="TextBox 50"/>
            <p:cNvSpPr txBox="1"/>
            <p:nvPr/>
          </p:nvSpPr>
          <p:spPr>
            <a:xfrm>
              <a:off x="6472047" y="3068002"/>
              <a:ext cx="4642866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所以一定存在一条把末位字符算进去的最长公共子序列，剩下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的部分就是 S₁…Sᵢ₋₁ 与 P₁…Pⱼ₋₁ 的 LCS。</a:t>
              </a:r>
            </a:p>
          </p:txBody>
        </p:sp>
      </p:grpSp>
      <p:grpSp>
        <p:nvGrpSpPr>
          <p:cNvPr id="58" name="c2-callout-2"/>
          <p:cNvGrpSpPr/>
          <p:nvPr/>
        </p:nvGrpSpPr>
        <p:grpSpPr>
          <a:xfrm>
            <a:off x="6248400" y="3903345"/>
            <a:ext cx="5410200" cy="729615"/>
            <a:chOff x="6248400" y="3903345"/>
            <a:chExt cx="5410200" cy="729615"/>
          </a:xfrm>
        </p:grpSpPr>
        <p:sp>
          <p:nvSpPr>
            <p:cNvPr id="52" name="Rectangle 52"/>
            <p:cNvSpPr/>
            <p:nvPr/>
          </p:nvSpPr>
          <p:spPr>
            <a:xfrm>
              <a:off x="6248400" y="3903345"/>
              <a:ext cx="5410200" cy="729615"/>
            </a:xfrm>
            <a:prstGeom prst="roundRect">
              <a:avLst>
                <a:gd name="adj" fmla="val 15666"/>
              </a:avLst>
            </a:prstGeom>
            <a:solidFill>
              <a:srgbClr val="FDEEE7"/>
            </a:solidFill>
            <a:ln>
              <a:noFill/>
            </a:ln>
          </p:spPr>
        </p:sp>
        <p:grpSp>
          <p:nvGrpSpPr>
            <p:cNvPr id="56" name="Group 56"/>
            <p:cNvGrpSpPr/>
            <p:nvPr/>
          </p:nvGrpSpPr>
          <p:grpSpPr>
            <a:xfrm>
              <a:off x="6453188" y="4168140"/>
              <a:ext cx="200026" cy="200025"/>
              <a:chOff x="6453188" y="4168140"/>
              <a:chExt cx="200026" cy="200025"/>
            </a:xfrm>
          </p:grpSpPr>
          <p:sp>
            <p:nvSpPr>
              <p:cNvPr id="53" name="Freeform 53"/>
              <p:cNvSpPr/>
              <p:nvPr/>
            </p:nvSpPr>
            <p:spPr>
              <a:xfrm>
                <a:off x="6453188" y="4168140"/>
                <a:ext cx="200026" cy="100013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100013">
                    <a:moveTo>
                      <a:pt x="0" y="100013"/>
                    </a:moveTo>
                    <a:lnTo>
                      <a:pt x="11113" y="100013"/>
                    </a:lnTo>
                    <a:moveTo>
                      <a:pt x="100013" y="0"/>
                    </a:moveTo>
                    <a:lnTo>
                      <a:pt x="100013" y="11113"/>
                    </a:lnTo>
                    <a:moveTo>
                      <a:pt x="188913" y="100013"/>
                    </a:moveTo>
                    <a:lnTo>
                      <a:pt x="200026" y="100013"/>
                    </a:lnTo>
                    <a:moveTo>
                      <a:pt x="28893" y="28893"/>
                    </a:moveTo>
                    <a:lnTo>
                      <a:pt x="36671" y="36671"/>
                    </a:lnTo>
                    <a:moveTo>
                      <a:pt x="171133" y="28893"/>
                    </a:moveTo>
                    <a:lnTo>
                      <a:pt x="163354" y="36671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54" name="Freeform 54"/>
              <p:cNvSpPr/>
              <p:nvPr/>
            </p:nvSpPr>
            <p:spPr>
              <a:xfrm>
                <a:off x="6492926" y="4212590"/>
                <a:ext cx="120548" cy="155575"/>
              </a:xfrm>
              <a:custGeom>
                <a:avLst/>
                <a:gdLst/>
                <a:ahLst/>
                <a:cxnLst/>
                <a:rect l="l" t="t" r="r" b="b"/>
                <a:pathLst>
                  <a:path w="120548" h="155575">
                    <a:moveTo>
                      <a:pt x="26937" y="100013"/>
                    </a:moveTo>
                    <a:cubicBezTo>
                      <a:pt x="7804" y="85663"/>
                      <a:pt x="0" y="60681"/>
                      <a:pt x="7563" y="37992"/>
                    </a:cubicBezTo>
                    <a:cubicBezTo>
                      <a:pt x="15126" y="15304"/>
                      <a:pt x="36358" y="0"/>
                      <a:pt x="60274" y="0"/>
                    </a:cubicBezTo>
                    <a:cubicBezTo>
                      <a:pt x="84190" y="0"/>
                      <a:pt x="105423" y="15304"/>
                      <a:pt x="112986" y="37992"/>
                    </a:cubicBezTo>
                    <a:cubicBezTo>
                      <a:pt x="120548" y="60681"/>
                      <a:pt x="112745" y="85663"/>
                      <a:pt x="93612" y="100013"/>
                    </a:cubicBezTo>
                    <a:cubicBezTo>
                      <a:pt x="84812" y="108723"/>
                      <a:pt x="80686" y="121103"/>
                      <a:pt x="82499" y="133350"/>
                    </a:cubicBezTo>
                    <a:cubicBezTo>
                      <a:pt x="82499" y="145625"/>
                      <a:pt x="72549" y="155575"/>
                      <a:pt x="60274" y="155575"/>
                    </a:cubicBezTo>
                    <a:cubicBezTo>
                      <a:pt x="48000" y="155575"/>
                      <a:pt x="38049" y="145625"/>
                      <a:pt x="38049" y="133350"/>
                    </a:cubicBezTo>
                    <a:cubicBezTo>
                      <a:pt x="39862" y="121103"/>
                      <a:pt x="35736" y="108723"/>
                      <a:pt x="26937" y="100013"/>
                    </a:cubicBez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55" name="Freeform 55"/>
              <p:cNvSpPr/>
              <p:nvPr/>
            </p:nvSpPr>
            <p:spPr>
              <a:xfrm>
                <a:off x="6527642" y="4323716"/>
                <a:ext cx="51118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51118" h="9525">
                    <a:moveTo>
                      <a:pt x="0" y="0"/>
                    </a:moveTo>
                    <a:lnTo>
                      <a:pt x="51118" y="0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</p:grpSp>
        <p:sp>
          <p:nvSpPr>
            <p:cNvPr id="57" name="TextBox 57"/>
            <p:cNvSpPr txBox="1"/>
            <p:nvPr/>
          </p:nvSpPr>
          <p:spPr>
            <a:xfrm>
              <a:off x="6755892" y="4049077"/>
              <a:ext cx="4488561" cy="51263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58"/>
                </a:lnSpc>
              </a:pPr>
              <a:r>
                <a:rPr lang="zh-CN" sz="135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和编辑距离的“相等就抄左上角”对照着记：一个是抄，一个</a:t>
              </a:r>
              <a:br/>
              <a:r>
                <a:rPr lang="zh-CN" sz="135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是抄完再加 1。</a:t>
              </a:r>
            </a:p>
          </p:txBody>
        </p:sp>
      </p:grpSp>
      <p:grpSp>
        <p:nvGrpSpPr>
          <p:cNvPr id="66" name="c2-card-3"/>
          <p:cNvGrpSpPr/>
          <p:nvPr/>
        </p:nvGrpSpPr>
        <p:grpSpPr>
          <a:xfrm>
            <a:off x="6248400" y="4807268"/>
            <a:ext cx="5410200" cy="1529715"/>
            <a:chOff x="6248400" y="4807268"/>
            <a:chExt cx="5410200" cy="1529715"/>
          </a:xfrm>
        </p:grpSpPr>
        <p:sp>
          <p:nvSpPr>
            <p:cNvPr id="59" name="Rectangle 59"/>
            <p:cNvSpPr/>
            <p:nvPr/>
          </p:nvSpPr>
          <p:spPr>
            <a:xfrm>
              <a:off x="6248400" y="4807268"/>
              <a:ext cx="5410200" cy="1529715"/>
            </a:xfrm>
            <a:prstGeom prst="roundRect">
              <a:avLst>
                <a:gd name="adj" fmla="val 8717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60" name="Rectangle 60"/>
            <p:cNvSpPr/>
            <p:nvPr/>
          </p:nvSpPr>
          <p:spPr>
            <a:xfrm>
              <a:off x="6257925" y="4940618"/>
              <a:ext cx="47625" cy="1263015"/>
            </a:xfrm>
            <a:prstGeom prst="roundRect">
              <a:avLst>
                <a:gd name="adj" fmla="val 50000"/>
              </a:avLst>
            </a:prstGeom>
            <a:solidFill>
              <a:srgbClr val="B42318"/>
            </a:solidFill>
            <a:ln>
              <a:noFill/>
            </a:ln>
          </p:spPr>
        </p:sp>
        <p:sp>
          <p:nvSpPr>
            <p:cNvPr id="61" name="Rectangle 61"/>
            <p:cNvSpPr/>
            <p:nvPr/>
          </p:nvSpPr>
          <p:spPr>
            <a:xfrm>
              <a:off x="6478905" y="4999672"/>
              <a:ext cx="476250" cy="247650"/>
            </a:xfrm>
            <a:prstGeom prst="roundRect">
              <a:avLst>
                <a:gd name="adj" fmla="val 50000"/>
              </a:avLst>
            </a:prstGeom>
            <a:solidFill>
              <a:srgbClr val="FDECEA"/>
            </a:solidFill>
            <a:ln>
              <a:noFill/>
            </a:ln>
          </p:spPr>
        </p:sp>
        <p:sp>
          <p:nvSpPr>
            <p:cNvPr id="62" name="TextBox 62"/>
            <p:cNvSpPr txBox="1"/>
            <p:nvPr/>
          </p:nvSpPr>
          <p:spPr>
            <a:xfrm>
              <a:off x="6570345" y="5033962"/>
              <a:ext cx="29337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易错</a:t>
              </a:r>
            </a:p>
          </p:txBody>
        </p:sp>
        <p:sp>
          <p:nvSpPr>
            <p:cNvPr id="63" name="TextBox 63"/>
            <p:cNvSpPr txBox="1"/>
            <p:nvPr/>
          </p:nvSpPr>
          <p:spPr>
            <a:xfrm>
              <a:off x="7062597" y="5039678"/>
              <a:ext cx="92240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这不是贪心</a:t>
              </a:r>
            </a:p>
          </p:txBody>
        </p:sp>
        <p:sp>
          <p:nvSpPr>
            <p:cNvPr id="64" name="TextBox 64"/>
            <p:cNvSpPr txBox="1"/>
            <p:nvPr/>
          </p:nvSpPr>
          <p:spPr>
            <a:xfrm>
              <a:off x="6472047" y="5374005"/>
              <a:ext cx="4728591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看到 Sᵢ = Pⱼ 就把它配上，靠的是上面那条“存在一条最优解包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含这一对”的证明，不是“贪心总没错”。</a:t>
              </a:r>
            </a:p>
          </p:txBody>
        </p:sp>
        <p:sp>
          <p:nvSpPr>
            <p:cNvPr id="65" name="TextBox 65"/>
            <p:cNvSpPr txBox="1"/>
            <p:nvPr/>
          </p:nvSpPr>
          <p:spPr>
            <a:xfrm>
              <a:off x="6472047" y="5934075"/>
              <a:ext cx="492061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末位不等时没有这种保证，必须分两支各算一次再取较大者。</a:t>
              </a:r>
            </a:p>
          </p:txBody>
        </p:sp>
      </p:grpSp>
      <p:grpSp>
        <p:nvGrpSpPr>
          <p:cNvPr id="69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67" name="TextBox 67"/>
            <p:cNvSpPr txBox="1"/>
            <p:nvPr/>
          </p:nvSpPr>
          <p:spPr>
            <a:xfrm>
              <a:off x="528447" y="6581299"/>
              <a:ext cx="2120748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数据结构 · 专题1 字符串的模糊匹配</a:t>
              </a:r>
            </a:p>
          </p:txBody>
        </p:sp>
        <p:sp>
          <p:nvSpPr>
            <p:cNvPr id="68" name="TextBox 68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22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6891528" cy="909257"/>
            <a:chOff x="520446" y="342900"/>
            <a:chExt cx="6891528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414588" cy="266700"/>
            </a:xfrm>
            <a:prstGeom prst="roundRect">
              <a:avLst>
                <a:gd name="adj" fmla="val 50000"/>
              </a:avLst>
            </a:prstGeom>
            <a:solidFill>
              <a:srgbClr val="E6EFF9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96156" y="407194"/>
              <a:ext cx="228812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5FA8"/>
                  </a:solidFill>
                  <a:latin typeface="+mn-lt"/>
                  <a:ea typeface="+mn-ea"/>
                  <a:cs typeface="+mn-cs"/>
                </a:rPr>
                <a:t>专题1 模糊匹配 · 最长公共子序列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6891528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末位不等：丢掉其中一个末位字符，取较大者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1F5FA8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14" name="c1-card-1"/>
          <p:cNvGrpSpPr/>
          <p:nvPr/>
        </p:nvGrpSpPr>
        <p:grpSpPr>
          <a:xfrm>
            <a:off x="533400" y="1524000"/>
            <a:ext cx="5626418" cy="1956435"/>
            <a:chOff x="533400" y="1524000"/>
            <a:chExt cx="5626418" cy="1956435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5626418" cy="1956435"/>
            </a:xfrm>
            <a:prstGeom prst="roundRect">
              <a:avLst>
                <a:gd name="adj" fmla="val 6816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8" name="Rectangle 8"/>
            <p:cNvSpPr/>
            <p:nvPr/>
          </p:nvSpPr>
          <p:spPr>
            <a:xfrm>
              <a:off x="542925" y="1657350"/>
              <a:ext cx="47625" cy="1689735"/>
            </a:xfrm>
            <a:prstGeom prst="roundRect">
              <a:avLst>
                <a:gd name="adj" fmla="val 50000"/>
              </a:avLst>
            </a:prstGeom>
            <a:solidFill>
              <a:srgbClr val="F26B3A"/>
            </a:solidFill>
            <a:ln>
              <a:noFill/>
            </a:ln>
          </p:spPr>
        </p:sp>
        <p:sp>
          <p:nvSpPr>
            <p:cNvPr id="9" name="Rectangle 9"/>
            <p:cNvSpPr/>
            <p:nvPr/>
          </p:nvSpPr>
          <p:spPr>
            <a:xfrm>
              <a:off x="781050" y="1733550"/>
              <a:ext cx="494348" cy="257175"/>
            </a:xfrm>
            <a:prstGeom prst="roundRect">
              <a:avLst>
                <a:gd name="adj" fmla="val 50000"/>
              </a:avLst>
            </a:prstGeom>
            <a:solidFill>
              <a:srgbClr val="FDEEE7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871258" y="1769269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结论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1382078" y="1768792"/>
              <a:ext cx="1034872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若 Sᵢ ≠ Pⱼ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773430" y="2129790"/>
              <a:ext cx="496824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两个末位字符不可能同时出现在同一条公共子序列的末尾，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所以至少有一个用不上。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773430" y="2750820"/>
              <a:ext cx="489204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丢掉 Sᵢ 得到 LCS(i-1, j)，丢掉 Pⱼ 得到 LCS(i, j-1)，答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案取两者中较大的一个。</a:t>
              </a:r>
            </a:p>
          </p:txBody>
        </p:sp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15" name="formula18"/>
              <p:cNvSpPr txBox="1">
                <a:spLocks noGrp="1"/>
              </p:cNvSpPr>
              <p:nvPr/>
            </p:nvSpPr>
            <p:spPr>
              <a:xfrm>
                <a:off x="533400" y="3670935"/>
                <a:ext cx="5626418" cy="381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lIns="0" tIns="0" rIns="0" bIns="0" wrap="none" anchor="ctr">
                <a:normAutofit/>
              </a:bodyPr>
              <a:lstStyle/>
              <a:p>
                <a:pPr algn="ctr"/>
                <a14:m>
                  <m:oMathPara xmlns:a="http://schemas.openxmlformats.org/drawingml/2006/main" xmlns:m="http://schemas.openxmlformats.org/officeDocument/2006/math">
                    <m:oMathParaPr>
                      <m:jc m:val="center"/>
                    </m:oMathParaPr>
                    <m:oMath>
                      <m:r>
                        <a:rPr lang="zh-CN" sz="150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LCS</m:t>
                      </m:r>
                      <m:d>
                        <m:dPr>
                          <m:begChr m:val="("/>
                          <m:sepChr m:val=""/>
                          <m:endChr m:val=")"/>
                          <m:grow m:val="on"/>
                          <m:ctrlPr>
                            <a:rPr lang="zh-CN" sz="150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a:rPr lang="zh-CN" sz="150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i</m:t>
                          </m:r>
                          <m:r>
                            <m:rPr>
                              <m:sty m:val="p"/>
                            </m:rPr>
                            <a:rPr lang="zh-CN" sz="150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,</m:t>
                          </m:r>
                          <m:r>
                            <a:rPr lang="zh-CN" sz="150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j</m:t>
                          </m:r>
                        </m:e>
                      </m:d>
                      <m:r>
                        <m:rPr>
                          <m:sty m:val="p"/>
                        </m:rPr>
                        <a:rPr lang="zh-CN" sz="150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func>
                        <m:funcPr/>
                        <m:fName>
                          <m:r>
                            <m:rPr>
                              <m:sty m:val="p"/>
                            </m:rPr>
                            <a:rPr lang="zh-CN" sz="150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max</m:t>
                          </m:r>
                        </m:fName>
                        <m:e>
                          <m:d>
                            <m:dPr>
                              <m:begChr m:val="{"/>
                              <m:sepChr m:val=""/>
                              <m:endChr m:val="}"/>
                              <m:grow m:val="on"/>
                              <m:ctrlPr>
                                <a:rPr lang="zh-CN" sz="150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dPr>
                            <m:e>
                              <m:r>
                                <a:rPr lang="zh-CN" sz="150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LCS</m:t>
                              </m:r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 m:val="on"/>
                                  <m:ctrlPr>
                                    <a:rPr lang="zh-CN" sz="150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</m:ctrlPr>
                                </m:dPr>
                                <m:e>
                                  <m:r>
                                    <a:rPr lang="zh-CN" sz="150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i</m:t>
                                  </m:r>
                                  <m:r>
                                    <m:rPr>
                                      <m:sty m:val="p"/>
                                    </m:rPr>
                                    <a:rPr lang="zh-CN" sz="150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−</m:t>
                                  </m:r>
                                  <m:r>
                                    <a:rPr lang="zh-CN" sz="150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1</m:t>
                                  </m:r>
                                  <m:r>
                                    <m:rPr>
                                      <m:sty m:val="p"/>
                                    </m:rPr>
                                    <a:rPr lang="zh-CN" sz="150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,</m:t>
                                  </m:r>
                                  <m:r>
                                    <a:rPr lang="zh-CN" sz="150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 xml:space="preserve"> </m:t>
                                  </m:r>
                                  <m:r>
                                    <a:rPr lang="zh-CN" sz="150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j</m:t>
                                  </m:r>
                                </m:e>
                              </m:d>
                              <m:r>
                                <m:rPr>
                                  <m:sty m:val="p"/>
                                </m:rPr>
                                <a:rPr lang="zh-CN" sz="150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,</m:t>
                              </m:r>
                              <m:r>
                                <a:rPr lang="zh-CN" sz="150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 xml:space="preserve"> </m:t>
                              </m:r>
                              <m:r>
                                <a:rPr lang="zh-CN" sz="150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LCS</m:t>
                              </m:r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 m:val="on"/>
                                  <m:ctrlPr>
                                    <a:rPr lang="zh-CN" sz="150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</m:ctrlPr>
                                </m:dPr>
                                <m:e>
                                  <m:r>
                                    <a:rPr lang="zh-CN" sz="150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i</m:t>
                                  </m:r>
                                  <m:r>
                                    <m:rPr>
                                      <m:sty m:val="p"/>
                                    </m:rPr>
                                    <a:rPr lang="zh-CN" sz="150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,</m:t>
                                  </m:r>
                                  <m:r>
                                    <a:rPr lang="zh-CN" sz="150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 xml:space="preserve"> </m:t>
                                  </m:r>
                                  <m:r>
                                    <a:rPr lang="zh-CN" sz="150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j</m:t>
                                  </m:r>
                                  <m:r>
                                    <m:rPr>
                                      <m:sty m:val="p"/>
                                    </m:rPr>
                                    <a:rPr lang="zh-CN" sz="150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−</m:t>
                                  </m:r>
                                  <m:r>
                                    <a:rPr lang="zh-CN" sz="150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1</m:t>
                                  </m:r>
                                </m:e>
                              </m:d>
                            </m:e>
                          </m:d>
                        </m:e>
                      </m:func>
                      <m:r>
                        <a:rPr lang="zh-CN" sz="150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 xml:space="preserve">  </m:t>
                      </m:r>
                      <m:d>
                        <m:dPr>
                          <m:begChr m:val="("/>
                          <m:sepChr m:val=""/>
                          <m:endChr m:val=")"/>
                          <m:grow m:val="on"/>
                          <m:ctrlPr>
                            <a:rPr lang="zh-CN" sz="150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sSub>
                            <m:e>
                              <m:r>
                                <a:rPr lang="zh-CN" sz="150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S</m:t>
                              </m:r>
                            </m:e>
                            <m:sub>
                              <m:r>
                                <a:rPr lang="zh-CN" sz="150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i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a:rPr lang="zh-CN" sz="150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≠</m:t>
                          </m:r>
                          <m:sSub>
                            <m:e>
                              <m:r>
                                <a:rPr lang="zh-CN" sz="150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P</m:t>
                              </m:r>
                            </m:e>
                            <m:sub>
                              <m:r>
                                <a:rPr lang="zh-CN" sz="150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j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</a:p>
            </p:txBody>
          </p:sp>
        </mc:Choice>
      </mc:AlternateContent>
      <p:grpSp>
        <p:nvGrpSpPr>
          <p:cNvPr id="23" name="c1-card-3"/>
          <p:cNvGrpSpPr/>
          <p:nvPr/>
        </p:nvGrpSpPr>
        <p:grpSpPr>
          <a:xfrm>
            <a:off x="533400" y="4242435"/>
            <a:ext cx="5626418" cy="1956435"/>
            <a:chOff x="533400" y="4242435"/>
            <a:chExt cx="5626418" cy="1956435"/>
          </a:xfrm>
        </p:grpSpPr>
        <p:sp>
          <p:nvSpPr>
            <p:cNvPr id="16" name="Rectangle 16"/>
            <p:cNvSpPr/>
            <p:nvPr/>
          </p:nvSpPr>
          <p:spPr>
            <a:xfrm>
              <a:off x="533400" y="4242435"/>
              <a:ext cx="5626418" cy="1956435"/>
            </a:xfrm>
            <a:prstGeom prst="roundRect">
              <a:avLst>
                <a:gd name="adj" fmla="val 6816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17" name="Rectangle 17"/>
            <p:cNvSpPr/>
            <p:nvPr/>
          </p:nvSpPr>
          <p:spPr>
            <a:xfrm>
              <a:off x="542925" y="4375785"/>
              <a:ext cx="47625" cy="1689735"/>
            </a:xfrm>
            <a:prstGeom prst="roundRect">
              <a:avLst>
                <a:gd name="adj" fmla="val 50000"/>
              </a:avLst>
            </a:prstGeom>
            <a:solidFill>
              <a:srgbClr val="14A38B"/>
            </a:solidFill>
            <a:ln>
              <a:noFill/>
            </a:ln>
          </p:spPr>
        </p:sp>
        <p:sp>
          <p:nvSpPr>
            <p:cNvPr id="18" name="Rectangle 18"/>
            <p:cNvSpPr/>
            <p:nvPr/>
          </p:nvSpPr>
          <p:spPr>
            <a:xfrm>
              <a:off x="781050" y="4451985"/>
              <a:ext cx="351472" cy="257175"/>
            </a:xfrm>
            <a:prstGeom prst="roundRect">
              <a:avLst>
                <a:gd name="adj" fmla="val 50000"/>
              </a:avLst>
            </a:prstGeom>
            <a:solidFill>
              <a:srgbClr val="E3F5F1"/>
            </a:solidFill>
            <a:ln>
              <a:noFill/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876160" y="4487704"/>
              <a:ext cx="16220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例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1239202" y="4487228"/>
              <a:ext cx="183261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两边一样大时怎么办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73430" y="4848225"/>
              <a:ext cx="4692015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S = ABC、P = BCD 的 LCS[2][3] 处，B 与 D 不等，左邻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LCS[2][2] = 1，上邻 LCS[1][3] = 0，取 1。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73430" y="5469255"/>
              <a:ext cx="496824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若左右两邻相等，取哪一个都不影响长度，只会影响回溯时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读出的是哪一条 LCS。</a:t>
              </a:r>
            </a:p>
          </p:txBody>
        </p:sp>
      </p:grpSp>
      <p:grpSp>
        <p:nvGrpSpPr>
          <p:cNvPr id="53" name="c2-table-1"/>
          <p:cNvGrpSpPr/>
          <p:nvPr/>
        </p:nvGrpSpPr>
        <p:grpSpPr>
          <a:xfrm>
            <a:off x="6464618" y="1524000"/>
            <a:ext cx="5193982" cy="2919412"/>
            <a:chOff x="6464618" y="1524000"/>
            <a:chExt cx="5193982" cy="2919412"/>
          </a:xfrm>
        </p:grpSpPr>
        <p:sp>
          <p:nvSpPr>
            <p:cNvPr id="24" name="Rectangle 24"/>
            <p:cNvSpPr/>
            <p:nvPr/>
          </p:nvSpPr>
          <p:spPr>
            <a:xfrm>
              <a:off x="6464618" y="1524000"/>
              <a:ext cx="5193982" cy="448628"/>
            </a:xfrm>
            <a:prstGeom prst="rect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6771170" y="1659731"/>
              <a:ext cx="52989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对照项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8062595" y="1659731"/>
              <a:ext cx="1115060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编辑距离 Dist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9850127" y="1659731"/>
              <a:ext cx="1591932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最长公共子序列 LCS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6572441" y="2108359"/>
              <a:ext cx="70220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末位相等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7715441" y="2108359"/>
              <a:ext cx="70220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抄左上角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9740456" y="2108359"/>
              <a:ext cx="84867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左上角加 1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6464618" y="2416492"/>
              <a:ext cx="5193982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2" name="Rectangle 32"/>
            <p:cNvSpPr/>
            <p:nvPr/>
          </p:nvSpPr>
          <p:spPr>
            <a:xfrm>
              <a:off x="6464618" y="2421255"/>
              <a:ext cx="5193982" cy="448628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6572441" y="2556986"/>
              <a:ext cx="70220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末位不等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7715441" y="2556986"/>
              <a:ext cx="175332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min{左上, 左, 上} + 1</a:t>
              </a:r>
            </a:p>
          </p:txBody>
        </p:sp>
        <p:sp>
          <p:nvSpPr>
            <p:cNvPr id="35" name="Rectangle 35"/>
            <p:cNvSpPr/>
            <p:nvPr/>
          </p:nvSpPr>
          <p:spPr>
            <a:xfrm>
              <a:off x="9642158" y="2430780"/>
              <a:ext cx="2006918" cy="429578"/>
            </a:xfrm>
            <a:prstGeom prst="rect">
              <a:avLst/>
            </a:prstGeom>
            <a:solidFill>
              <a:srgbClr val="E6EFF9"/>
            </a:solidFill>
            <a:ln>
              <a:noFill/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9740456" y="2556986"/>
              <a:ext cx="1012373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max{左, 上}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6464618" y="2866072"/>
              <a:ext cx="5193982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6572441" y="3005614"/>
              <a:ext cx="825754" cy="4760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785"/>
                </a:lnSpc>
              </a:pPr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用到左上角</a:t>
              </a:r>
              <a:br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吗</a:t>
              </a: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7715441" y="3118961"/>
              <a:ext cx="18526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用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9740456" y="3118961"/>
              <a:ext cx="1219149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末位不等时不用</a:t>
              </a:r>
            </a:p>
          </p:txBody>
        </p:sp>
        <p:sp>
          <p:nvSpPr>
            <p:cNvPr id="41" name="Rectangle 41"/>
            <p:cNvSpPr/>
            <p:nvPr/>
          </p:nvSpPr>
          <p:spPr>
            <a:xfrm>
              <a:off x="6464618" y="3541395"/>
              <a:ext cx="5193982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2" name="Rectangle 42"/>
            <p:cNvSpPr/>
            <p:nvPr/>
          </p:nvSpPr>
          <p:spPr>
            <a:xfrm>
              <a:off x="6464618" y="3546158"/>
              <a:ext cx="5193982" cy="448628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6572441" y="3680936"/>
              <a:ext cx="70220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最优方向</a:t>
              </a:r>
            </a:p>
          </p:txBody>
        </p:sp>
        <p:sp>
          <p:nvSpPr>
            <p:cNvPr id="44" name="TextBox 44"/>
            <p:cNvSpPr txBox="1"/>
            <p:nvPr/>
          </p:nvSpPr>
          <p:spPr>
            <a:xfrm>
              <a:off x="7715441" y="3680936"/>
              <a:ext cx="52989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求最小</a:t>
              </a:r>
            </a:p>
          </p:txBody>
        </p:sp>
        <p:sp>
          <p:nvSpPr>
            <p:cNvPr id="45" name="TextBox 45"/>
            <p:cNvSpPr txBox="1"/>
            <p:nvPr/>
          </p:nvSpPr>
          <p:spPr>
            <a:xfrm>
              <a:off x="9740456" y="3680936"/>
              <a:ext cx="52989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求最大</a:t>
              </a:r>
            </a:p>
          </p:txBody>
        </p:sp>
        <p:sp>
          <p:nvSpPr>
            <p:cNvPr id="46" name="Rectangle 46"/>
            <p:cNvSpPr/>
            <p:nvPr/>
          </p:nvSpPr>
          <p:spPr>
            <a:xfrm>
              <a:off x="6464618" y="3990022"/>
              <a:ext cx="5193982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7" name="TextBox 47"/>
            <p:cNvSpPr txBox="1"/>
            <p:nvPr/>
          </p:nvSpPr>
          <p:spPr>
            <a:xfrm>
              <a:off x="6572441" y="4130516"/>
              <a:ext cx="874522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相邻格之差</a:t>
              </a:r>
            </a:p>
          </p:txBody>
        </p:sp>
        <p:sp>
          <p:nvSpPr>
            <p:cNvPr id="48" name="TextBox 48"/>
            <p:cNvSpPr txBox="1"/>
            <p:nvPr/>
          </p:nvSpPr>
          <p:spPr>
            <a:xfrm>
              <a:off x="7715441" y="4130516"/>
              <a:ext cx="1589623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差 1 以内，可增可减</a:t>
              </a:r>
            </a:p>
          </p:txBody>
        </p:sp>
        <p:sp>
          <p:nvSpPr>
            <p:cNvPr id="49" name="TextBox 49"/>
            <p:cNvSpPr txBox="1"/>
            <p:nvPr/>
          </p:nvSpPr>
          <p:spPr>
            <a:xfrm>
              <a:off x="9740456" y="4130516"/>
              <a:ext cx="1339769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 或 1，单调不减</a:t>
              </a:r>
            </a:p>
          </p:txBody>
        </p:sp>
        <p:sp>
          <p:nvSpPr>
            <p:cNvPr id="50" name="Rectangle 50"/>
            <p:cNvSpPr/>
            <p:nvPr/>
          </p:nvSpPr>
          <p:spPr>
            <a:xfrm>
              <a:off x="6464618" y="1524000"/>
              <a:ext cx="5193982" cy="2919412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51" name="Rectangle 51"/>
            <p:cNvSpPr/>
            <p:nvPr/>
          </p:nvSpPr>
          <p:spPr>
            <a:xfrm>
              <a:off x="7602855" y="1524000"/>
              <a:ext cx="9525" cy="2919412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52" name="Rectangle 52"/>
            <p:cNvSpPr/>
            <p:nvPr/>
          </p:nvSpPr>
          <p:spPr>
            <a:xfrm>
              <a:off x="9627870" y="1524000"/>
              <a:ext cx="9525" cy="2919412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</p:grpSp>
      <p:grpSp>
        <p:nvGrpSpPr>
          <p:cNvPr id="60" name="c2-callout-2"/>
          <p:cNvGrpSpPr/>
          <p:nvPr/>
        </p:nvGrpSpPr>
        <p:grpSpPr>
          <a:xfrm>
            <a:off x="6464618" y="4633912"/>
            <a:ext cx="5193982" cy="1564958"/>
            <a:chOff x="6464618" y="4633912"/>
            <a:chExt cx="5193982" cy="1564958"/>
          </a:xfrm>
        </p:grpSpPr>
        <p:sp>
          <p:nvSpPr>
            <p:cNvPr id="54" name="Rectangle 54"/>
            <p:cNvSpPr/>
            <p:nvPr/>
          </p:nvSpPr>
          <p:spPr>
            <a:xfrm>
              <a:off x="6464618" y="4633912"/>
              <a:ext cx="5193982" cy="1564958"/>
            </a:xfrm>
            <a:prstGeom prst="roundRect">
              <a:avLst>
                <a:gd name="adj" fmla="val 7304"/>
              </a:avLst>
            </a:prstGeom>
            <a:solidFill>
              <a:srgbClr val="FDECEA"/>
            </a:solidFill>
            <a:ln>
              <a:noFill/>
            </a:ln>
          </p:spPr>
        </p:sp>
        <p:grpSp>
          <p:nvGrpSpPr>
            <p:cNvPr id="58" name="Group 58"/>
            <p:cNvGrpSpPr/>
            <p:nvPr/>
          </p:nvGrpSpPr>
          <p:grpSpPr>
            <a:xfrm>
              <a:off x="6657347" y="5313163"/>
              <a:ext cx="224134" cy="192560"/>
              <a:chOff x="6657347" y="5313163"/>
              <a:chExt cx="224134" cy="192560"/>
            </a:xfrm>
          </p:grpSpPr>
          <p:sp>
            <p:nvSpPr>
              <p:cNvPr id="55" name="Freeform 55"/>
              <p:cNvSpPr/>
              <p:nvPr/>
            </p:nvSpPr>
            <p:spPr>
              <a:xfrm>
                <a:off x="6769418" y="5383530"/>
                <a:ext cx="952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44450">
                    <a:moveTo>
                      <a:pt x="0" y="0"/>
                    </a:moveTo>
                    <a:lnTo>
                      <a:pt x="0" y="44450"/>
                    </a:ln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  <p:sp>
            <p:nvSpPr>
              <p:cNvPr id="56" name="Freeform 56"/>
              <p:cNvSpPr/>
              <p:nvPr/>
            </p:nvSpPr>
            <p:spPr>
              <a:xfrm>
                <a:off x="6657347" y="5313163"/>
                <a:ext cx="224134" cy="192560"/>
              </a:xfrm>
              <a:custGeom>
                <a:avLst/>
                <a:gdLst/>
                <a:ahLst/>
                <a:cxnLst/>
                <a:rect l="l" t="t" r="r" b="b"/>
                <a:pathLst>
                  <a:path w="224134" h="192560">
                    <a:moveTo>
                      <a:pt x="93880" y="10259"/>
                    </a:moveTo>
                    <a:lnTo>
                      <a:pt x="3802" y="160656"/>
                    </a:lnTo>
                    <a:cubicBezTo>
                      <a:pt x="23" y="167200"/>
                      <a:pt x="0" y="175257"/>
                      <a:pt x="3741" y="181823"/>
                    </a:cubicBezTo>
                    <a:cubicBezTo>
                      <a:pt x="7482" y="188388"/>
                      <a:pt x="14426" y="192476"/>
                      <a:pt x="21982" y="192560"/>
                    </a:cubicBezTo>
                    <a:lnTo>
                      <a:pt x="202160" y="192560"/>
                    </a:lnTo>
                    <a:cubicBezTo>
                      <a:pt x="209713" y="192473"/>
                      <a:pt x="216653" y="188387"/>
                      <a:pt x="220393" y="181826"/>
                    </a:cubicBezTo>
                    <a:cubicBezTo>
                      <a:pt x="224134" y="175264"/>
                      <a:pt x="224114" y="167211"/>
                      <a:pt x="220341" y="160667"/>
                    </a:cubicBezTo>
                    <a:lnTo>
                      <a:pt x="130262" y="10248"/>
                    </a:lnTo>
                    <a:cubicBezTo>
                      <a:pt x="126408" y="3886"/>
                      <a:pt x="119510" y="0"/>
                      <a:pt x="112071" y="0"/>
                    </a:cubicBezTo>
                    <a:cubicBezTo>
                      <a:pt x="104633" y="0"/>
                      <a:pt x="97734" y="3886"/>
                      <a:pt x="93880" y="10248"/>
                    </a:cubicBez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  <p:sp>
            <p:nvSpPr>
              <p:cNvPr id="57" name="Freeform 57"/>
              <p:cNvSpPr/>
              <p:nvPr/>
            </p:nvSpPr>
            <p:spPr>
              <a:xfrm>
                <a:off x="6769418" y="5461318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</p:grpSp>
        <p:sp>
          <p:nvSpPr>
            <p:cNvPr id="59" name="TextBox 59"/>
            <p:cNvSpPr txBox="1"/>
            <p:nvPr/>
          </p:nvSpPr>
          <p:spPr>
            <a:xfrm>
              <a:off x="6971348" y="5035868"/>
              <a:ext cx="4149090" cy="8458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75"/>
                </a:lnSpc>
              </a:pPr>
              <a:r>
                <a:rPr lang="zh-CN" sz="1500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末位不等时 LCS 不看左上角。写成 max{左上,</a:t>
              </a:r>
              <a:br/>
              <a:r>
                <a:rPr lang="zh-CN" sz="1500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左, 上} 结果不会错（左上角不会比左、上大），</a:t>
              </a:r>
              <a:br/>
              <a:r>
                <a:rPr lang="zh-CN" sz="1500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只是多比一次，也看不出推导。</a:t>
              </a:r>
            </a:p>
          </p:txBody>
        </p:sp>
      </p:grpSp>
      <p:grpSp>
        <p:nvGrpSpPr>
          <p:cNvPr id="63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61" name="TextBox 61"/>
            <p:cNvSpPr txBox="1"/>
            <p:nvPr/>
          </p:nvSpPr>
          <p:spPr>
            <a:xfrm>
              <a:off x="528447" y="6581299"/>
              <a:ext cx="2120748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数据结构 · 专题1 字符串的模糊匹配</a:t>
              </a:r>
            </a:p>
          </p:txBody>
        </p:sp>
        <p:sp>
          <p:nvSpPr>
            <p:cNvPr id="62" name="TextBox 62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23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3171528" cy="909257"/>
            <a:chOff x="520446" y="342900"/>
            <a:chExt cx="3171528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414588" cy="266700"/>
            </a:xfrm>
            <a:prstGeom prst="roundRect">
              <a:avLst>
                <a:gd name="adj" fmla="val 50000"/>
              </a:avLst>
            </a:prstGeom>
            <a:solidFill>
              <a:srgbClr val="E6EFF9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96156" y="407194"/>
              <a:ext cx="228812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5FA8"/>
                  </a:solidFill>
                  <a:latin typeface="+mn-lt"/>
                  <a:ea typeface="+mn-ea"/>
                  <a:cs typeface="+mn-cs"/>
                </a:rPr>
                <a:t>专题1 模糊匹配 · 最长公共子序列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3171528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LCS 的递推式与边界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1F5FA8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formula20"/>
              <p:cNvSpPr txBox="1">
                <a:spLocks noGrp="1"/>
              </p:cNvSpPr>
              <p:nvPr/>
            </p:nvSpPr>
            <p:spPr>
              <a:xfrm>
                <a:off x="533400" y="1524000"/>
                <a:ext cx="11125200" cy="94107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lIns="0" tIns="0" rIns="0" bIns="0" wrap="none" anchor="ctr">
                <a:normAutofit/>
              </a:bodyPr>
              <a:lstStyle/>
              <a:p>
                <a:pPr algn="ctr"/>
                <a14:m>
                  <m:oMathPara xmlns:a="http://schemas.openxmlformats.org/drawingml/2006/main" xmlns:m="http://schemas.openxmlformats.org/officeDocument/2006/math">
                    <m:oMathParaPr>
                      <m:jc m:val="center"/>
                    </m:oMathParaPr>
                    <m:oMath>
                      <m:r>
                        <a:rPr lang="zh-CN" sz="195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LCS</m:t>
                      </m:r>
                      <m:d>
                        <m:dPr>
                          <m:begChr m:val="["/>
                          <m:sepChr m:val=""/>
                          <m:endChr m:val="]"/>
                          <m:grow m:val="on"/>
                          <m:ctrlPr>
                            <a:rPr lang="zh-CN" sz="19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a:rPr lang="zh-CN" sz="19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i</m:t>
                          </m:r>
                        </m:e>
                      </m:d>
                      <m:d>
                        <m:dPr>
                          <m:begChr m:val="["/>
                          <m:sepChr m:val=""/>
                          <m:endChr m:val="]"/>
                          <m:grow m:val="on"/>
                          <m:ctrlPr>
                            <a:rPr lang="zh-CN" sz="19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a:rPr lang="zh-CN" sz="19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j</m:t>
                          </m:r>
                        </m:e>
                      </m:d>
                      <m:r>
                        <m:rPr>
                          <m:sty m:val="p"/>
                        </m:rPr>
                        <a:rPr lang="zh-CN" sz="195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d>
                        <m:dPr>
                          <m:begChr m:val="{"/>
                          <m:sepChr m:val=""/>
                          <m:endChr m:val=""/>
                          <m:grow m:val="on"/>
                          <m:ctrlPr>
                            <a:rPr lang="zh-CN" sz="19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eqArr>
                            <m:eqArrPr>
                              <m:baseJc m:val="center"/>
                            </m:eqArrPr>
                            <m:e>
                              <m:r>
                                <a:rPr lang="zh-CN" sz="195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&amp;</m:t>
                              </m:r>
                              <m:r>
                                <a:rPr lang="zh-CN" sz="195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LCS</m:t>
                              </m:r>
                              <m:d>
                                <m:dPr>
                                  <m:begChr m:val="["/>
                                  <m:sepChr m:val=""/>
                                  <m:endChr m:val="]"/>
                                  <m:grow m:val="on"/>
                                  <m:ctrlPr>
                                    <a:rPr lang="zh-CN" sz="195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</m:ctrlPr>
                                </m:dPr>
                                <m:e>
                                  <m:r>
                                    <a:rPr lang="zh-CN" sz="195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i</m:t>
                                  </m:r>
                                  <m:r>
                                    <m:rPr>
                                      <m:sty m:val="p"/>
                                    </m:rPr>
                                    <a:rPr lang="zh-CN" sz="195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−</m:t>
                                  </m:r>
                                  <m:r>
                                    <a:rPr lang="zh-CN" sz="195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1</m:t>
                                  </m:r>
                                </m:e>
                              </m:d>
                              <m:d>
                                <m:dPr>
                                  <m:begChr m:val="["/>
                                  <m:sepChr m:val=""/>
                                  <m:endChr m:val="]"/>
                                  <m:grow m:val="on"/>
                                  <m:ctrlPr>
                                    <a:rPr lang="zh-CN" sz="195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</m:ctrlPr>
                                </m:dPr>
                                <m:e>
                                  <m:r>
                                    <a:rPr lang="zh-CN" sz="195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j</m:t>
                                  </m:r>
                                  <m:r>
                                    <m:rPr>
                                      <m:sty m:val="p"/>
                                    </m:rPr>
                                    <a:rPr lang="zh-CN" sz="195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−</m:t>
                                  </m:r>
                                  <m:r>
                                    <a:rPr lang="zh-CN" sz="195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1</m:t>
                                  </m:r>
                                </m:e>
                              </m:d>
                              <m:r>
                                <m:rPr>
                                  <m:sty m:val="p"/>
                                </m:rPr>
                                <a:rPr lang="zh-CN" sz="195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+</m:t>
                              </m:r>
                              <m:r>
                                <a:rPr lang="zh-CN" sz="195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1</m:t>
                              </m:r>
                              <m:r>
                                <m:rPr>
                                  <m:sty m:val="p"/>
                                </m:rPr>
                                <a:rPr lang="zh-CN" sz="195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,</m:t>
                              </m:r>
                              <m:r>
                                <a:rPr lang="zh-CN" sz="195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 xml:space="preserve"> </m:t>
                              </m:r>
                              <m:sSub>
                                <m:e>
                                  <m:r>
                                    <a:rPr lang="zh-CN" sz="195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S</m:t>
                                  </m:r>
                                </m:e>
                                <m:sub>
                                  <m:r>
                                    <a:rPr lang="zh-CN" sz="195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i</m:t>
                                  </m:r>
                                </m:sub>
                              </m:sSub>
                              <m:r>
                                <m:rPr>
                                  <m:sty m:val="p"/>
                                </m:rPr>
                                <a:rPr lang="zh-CN" sz="195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=</m:t>
                              </m:r>
                              <m:sSub>
                                <m:e>
                                  <m:r>
                                    <a:rPr lang="zh-CN" sz="195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P</m:t>
                                  </m:r>
                                </m:e>
                                <m:sub>
                                  <m:r>
                                    <a:rPr lang="zh-CN" sz="195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j</m:t>
                                  </m:r>
                                </m:sub>
                              </m:sSub>
                            </m:e>
                            <m:e>
                              <m:r>
                                <a:rPr lang="zh-CN" sz="195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&amp;</m:t>
                              </m:r>
                              <m:func>
                                <m:funcPr/>
                                <m:fName>
                                  <m:r>
                                    <m:rPr>
                                      <m:sty m:val="p"/>
                                    </m:rPr>
                                    <a:rPr lang="zh-CN" sz="195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max</m:t>
                                  </m:r>
                                </m:fName>
                                <m:e>
                                  <m:d>
                                    <m:dPr>
                                      <m:begChr m:val="{"/>
                                      <m:sepChr m:val=""/>
                                      <m:endChr m:val="}"/>
                                      <m:grow m:val="on"/>
                                      <m:ctrlPr>
                                        <a:rPr lang="zh-CN" sz="1950" dirty="0">
                                          <a:solidFill>
                                            <a:srgbClr val="1F2937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zh-CN" sz="1950" dirty="0">
                                          <a:solidFill>
                                            <a:srgbClr val="1F2937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LCS</m:t>
                                      </m:r>
                                      <m:d>
                                        <m:dPr>
                                          <m:begChr m:val="["/>
                                          <m:sepChr m:val=""/>
                                          <m:endChr m:val="]"/>
                                          <m:grow m:val="on"/>
                                          <m:ctrlPr>
                                            <a:rPr lang="zh-CN" sz="1950" dirty="0">
                                              <a:solidFill>
                                                <a:srgbClr val="1F2937"/>
                                              </a:solidFill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zh-CN" sz="1950" dirty="0">
                                              <a:solidFill>
                                                <a:srgbClr val="1F2937"/>
                                              </a:solidFill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  <m:t>i</m:t>
                                          </m:r>
                                        </m:e>
                                      </m:d>
                                      <m:d>
                                        <m:dPr>
                                          <m:begChr m:val="["/>
                                          <m:sepChr m:val=""/>
                                          <m:endChr m:val="]"/>
                                          <m:grow m:val="on"/>
                                          <m:ctrlPr>
                                            <a:rPr lang="zh-CN" sz="1950" dirty="0">
                                              <a:solidFill>
                                                <a:srgbClr val="1F2937"/>
                                              </a:solidFill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zh-CN" sz="1950" dirty="0">
                                              <a:solidFill>
                                                <a:srgbClr val="1F2937"/>
                                              </a:solidFill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  <m:t>j</m:t>
                                          </m:r>
                                          <m:r>
                                            <m:rPr>
                                              <m:sty m:val="p"/>
                                            </m:rPr>
                                            <a:rPr lang="zh-CN" sz="1950" dirty="0">
                                              <a:solidFill>
                                                <a:srgbClr val="1F2937"/>
                                              </a:solidFill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  <m:t>−</m:t>
                                          </m:r>
                                          <m:r>
                                            <a:rPr lang="zh-CN" sz="1950" dirty="0">
                                              <a:solidFill>
                                                <a:srgbClr val="1F2937"/>
                                              </a:solidFill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  <m:t>1</m:t>
                                          </m:r>
                                        </m:e>
                                      </m:d>
                                      <m:r>
                                        <m:rPr>
                                          <m:sty m:val="p"/>
                                        </m:rPr>
                                        <a:rPr lang="zh-CN" sz="1950" dirty="0">
                                          <a:solidFill>
                                            <a:srgbClr val="1F2937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,</m:t>
                                      </m:r>
                                      <m:r>
                                        <a:rPr lang="zh-CN" sz="1950" dirty="0">
                                          <a:solidFill>
                                            <a:srgbClr val="1F2937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 xml:space="preserve"> </m:t>
                                      </m:r>
                                      <m:r>
                                        <a:rPr lang="zh-CN" sz="1950" dirty="0">
                                          <a:solidFill>
                                            <a:srgbClr val="1F2937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LCS</m:t>
                                      </m:r>
                                      <m:d>
                                        <m:dPr>
                                          <m:begChr m:val="["/>
                                          <m:sepChr m:val=""/>
                                          <m:endChr m:val="]"/>
                                          <m:grow m:val="on"/>
                                          <m:ctrlPr>
                                            <a:rPr lang="zh-CN" sz="1950" dirty="0">
                                              <a:solidFill>
                                                <a:srgbClr val="1F2937"/>
                                              </a:solidFill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zh-CN" sz="1950" dirty="0">
                                              <a:solidFill>
                                                <a:srgbClr val="1F2937"/>
                                              </a:solidFill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  <m:t>i</m:t>
                                          </m:r>
                                          <m:r>
                                            <m:rPr>
                                              <m:sty m:val="p"/>
                                            </m:rPr>
                                            <a:rPr lang="zh-CN" sz="1950" dirty="0">
                                              <a:solidFill>
                                                <a:srgbClr val="1F2937"/>
                                              </a:solidFill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  <m:t>−</m:t>
                                          </m:r>
                                          <m:r>
                                            <a:rPr lang="zh-CN" sz="1950" dirty="0">
                                              <a:solidFill>
                                                <a:srgbClr val="1F2937"/>
                                              </a:solidFill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  <m:t>1</m:t>
                                          </m:r>
                                        </m:e>
                                      </m:d>
                                      <m:d>
                                        <m:dPr>
                                          <m:begChr m:val="["/>
                                          <m:sepChr m:val=""/>
                                          <m:endChr m:val="]"/>
                                          <m:grow m:val="on"/>
                                          <m:ctrlPr>
                                            <a:rPr lang="zh-CN" sz="1950" dirty="0">
                                              <a:solidFill>
                                                <a:srgbClr val="1F2937"/>
                                              </a:solidFill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zh-CN" sz="1950" dirty="0">
                                              <a:solidFill>
                                                <a:srgbClr val="1F2937"/>
                                              </a:solidFill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  <m:t>j</m:t>
                                          </m:r>
                                        </m:e>
                                      </m:d>
                                    </m:e>
                                  </m:d>
                                </m:e>
                              </m:func>
                              <m:r>
                                <m:rPr>
                                  <m:sty m:val="p"/>
                                </m:rPr>
                                <a:rPr lang="zh-CN" sz="195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,</m:t>
                              </m:r>
                              <m:r>
                                <a:rPr lang="zh-CN" sz="195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 xml:space="preserve"> </m:t>
                              </m:r>
                              <m:sSub>
                                <m:e>
                                  <m:r>
                                    <a:rPr lang="zh-CN" sz="195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S</m:t>
                                  </m:r>
                                </m:e>
                                <m:sub>
                                  <m:r>
                                    <a:rPr lang="zh-CN" sz="195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i</m:t>
                                  </m:r>
                                </m:sub>
                              </m:sSub>
                              <m:r>
                                <m:rPr>
                                  <m:sty m:val="p"/>
                                </m:rPr>
                                <a:rPr lang="zh-CN" sz="195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≠</m:t>
                              </m:r>
                              <m:sSub>
                                <m:e>
                                  <m:r>
                                    <a:rPr lang="zh-CN" sz="195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P</m:t>
                                  </m:r>
                                </m:e>
                                <m:sub>
                                  <m:r>
                                    <a:rPr lang="zh-CN" sz="195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j</m:t>
                                  </m:r>
                                </m:sub>
                              </m:sSub>
                            </m:e>
                          </m:eqArr>
                        </m:e>
                      </m:d>
                    </m:oMath>
                  </m:oMathPara>
                </a14:m>
              </a:p>
            </p:txBody>
          </p:sp>
        </mc:Choice>
      </mc:AlternateContent>
      <p:grpSp>
        <p:nvGrpSpPr>
          <p:cNvPr id="38" name="c1-table-2"/>
          <p:cNvGrpSpPr/>
          <p:nvPr/>
        </p:nvGrpSpPr>
        <p:grpSpPr>
          <a:xfrm>
            <a:off x="533400" y="2655570"/>
            <a:ext cx="11125200" cy="2692718"/>
            <a:chOff x="533400" y="2655570"/>
            <a:chExt cx="11125200" cy="2692718"/>
          </a:xfrm>
        </p:grpSpPr>
        <p:sp>
          <p:nvSpPr>
            <p:cNvPr id="8" name="Rectangle 8"/>
            <p:cNvSpPr/>
            <p:nvPr/>
          </p:nvSpPr>
          <p:spPr>
            <a:xfrm>
              <a:off x="533400" y="2655570"/>
              <a:ext cx="11125200" cy="448628"/>
            </a:xfrm>
            <a:prstGeom prst="rect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1690014" y="2791301"/>
              <a:ext cx="35758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项目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4879594" y="2791301"/>
              <a:ext cx="874522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编辑距离表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9265977" y="2791301"/>
              <a:ext cx="558050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LCS 表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641223" y="3239929"/>
              <a:ext cx="70220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状态含义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3311080" y="3239929"/>
              <a:ext cx="275501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S 前 i 个变成 P 前 j 个的最少操作数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7539228" y="3239929"/>
              <a:ext cx="3271957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S 前 i 个与 P 前 j 个的最长公共子序列长度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533400" y="3548062"/>
              <a:ext cx="11125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6" name="Rectangle 16"/>
            <p:cNvSpPr/>
            <p:nvPr/>
          </p:nvSpPr>
          <p:spPr>
            <a:xfrm>
              <a:off x="533400" y="3552825"/>
              <a:ext cx="11125200" cy="448628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641223" y="3688556"/>
              <a:ext cx="565650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第 0 行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3311080" y="3688556"/>
              <a:ext cx="1134862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Dist[0][j] = j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7440930" y="3562350"/>
              <a:ext cx="4208145" cy="429578"/>
            </a:xfrm>
            <a:prstGeom prst="rect">
              <a:avLst/>
            </a:prstGeom>
            <a:solidFill>
              <a:srgbClr val="E3F5F1"/>
            </a:solidFill>
            <a:ln>
              <a:noFill/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539228" y="3688556"/>
              <a:ext cx="116257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LCS[0][j] = 0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533400" y="3997642"/>
              <a:ext cx="11125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641223" y="4137184"/>
              <a:ext cx="565650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第 0 列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3311080" y="4137184"/>
              <a:ext cx="1134862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Dist[i][0] = i</a:t>
              </a:r>
            </a:p>
          </p:txBody>
        </p:sp>
        <p:sp>
          <p:nvSpPr>
            <p:cNvPr id="24" name="Rectangle 24"/>
            <p:cNvSpPr/>
            <p:nvPr/>
          </p:nvSpPr>
          <p:spPr>
            <a:xfrm>
              <a:off x="7440930" y="4011930"/>
              <a:ext cx="4208145" cy="429578"/>
            </a:xfrm>
            <a:prstGeom prst="rect">
              <a:avLst/>
            </a:prstGeom>
            <a:solidFill>
              <a:srgbClr val="E3F5F1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7539228" y="4137184"/>
              <a:ext cx="116257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LCS[i][0] = 0</a:t>
              </a:r>
            </a:p>
          </p:txBody>
        </p:sp>
        <p:sp>
          <p:nvSpPr>
            <p:cNvPr id="26" name="Rectangle 26"/>
            <p:cNvSpPr/>
            <p:nvPr/>
          </p:nvSpPr>
          <p:spPr>
            <a:xfrm>
              <a:off x="533400" y="4446270"/>
              <a:ext cx="11125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7" name="Rectangle 27"/>
            <p:cNvSpPr/>
            <p:nvPr/>
          </p:nvSpPr>
          <p:spPr>
            <a:xfrm>
              <a:off x="533400" y="4451032"/>
              <a:ext cx="11125200" cy="448628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641223" y="4585811"/>
              <a:ext cx="70220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答案位置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3311080" y="4585811"/>
              <a:ext cx="153004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右下角 Dist[n][m]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7539228" y="4585811"/>
              <a:ext cx="150089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右下角 LCS[n][m]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533400" y="4894898"/>
              <a:ext cx="11125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2" name="TextBox 32"/>
            <p:cNvSpPr txBox="1"/>
            <p:nvPr/>
          </p:nvSpPr>
          <p:spPr>
            <a:xfrm>
              <a:off x="641223" y="5035391"/>
              <a:ext cx="70220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回溯读出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3311080" y="5035391"/>
              <a:ext cx="156377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一份具体的编辑方案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7539228" y="5035391"/>
              <a:ext cx="2080717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一条具体的最长公共子序列</a:t>
              </a:r>
            </a:p>
          </p:txBody>
        </p:sp>
        <p:sp>
          <p:nvSpPr>
            <p:cNvPr id="35" name="Rectangle 35"/>
            <p:cNvSpPr/>
            <p:nvPr/>
          </p:nvSpPr>
          <p:spPr>
            <a:xfrm>
              <a:off x="533400" y="2655570"/>
              <a:ext cx="11125200" cy="2692718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36" name="Rectangle 36"/>
            <p:cNvSpPr/>
            <p:nvPr/>
          </p:nvSpPr>
          <p:spPr>
            <a:xfrm>
              <a:off x="3198495" y="2655570"/>
              <a:ext cx="9525" cy="2692718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7" name="Rectangle 37"/>
            <p:cNvSpPr/>
            <p:nvPr/>
          </p:nvSpPr>
          <p:spPr>
            <a:xfrm>
              <a:off x="7426642" y="2655570"/>
              <a:ext cx="9525" cy="2692718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</p:grpSp>
      <p:grpSp>
        <p:nvGrpSpPr>
          <p:cNvPr id="44" name="c1-callout-3"/>
          <p:cNvGrpSpPr/>
          <p:nvPr/>
        </p:nvGrpSpPr>
        <p:grpSpPr>
          <a:xfrm>
            <a:off x="533400" y="5538788"/>
            <a:ext cx="11125200" cy="823912"/>
            <a:chOff x="533400" y="5538788"/>
            <a:chExt cx="11125200" cy="823912"/>
          </a:xfrm>
        </p:grpSpPr>
        <p:sp>
          <p:nvSpPr>
            <p:cNvPr id="39" name="Rectangle 39"/>
            <p:cNvSpPr/>
            <p:nvPr/>
          </p:nvSpPr>
          <p:spPr>
            <a:xfrm>
              <a:off x="533400" y="5538788"/>
              <a:ext cx="11125200" cy="823912"/>
            </a:xfrm>
            <a:prstGeom prst="roundRect">
              <a:avLst>
                <a:gd name="adj" fmla="val 13873"/>
              </a:avLst>
            </a:prstGeom>
            <a:solidFill>
              <a:srgbClr val="1F5FA8"/>
            </a:solidFill>
            <a:ln>
              <a:noFill/>
            </a:ln>
          </p:spPr>
        </p:sp>
        <p:grpSp>
          <p:nvGrpSpPr>
            <p:cNvPr id="42" name="Group 42"/>
            <p:cNvGrpSpPr/>
            <p:nvPr/>
          </p:nvGrpSpPr>
          <p:grpSpPr>
            <a:xfrm>
              <a:off x="738188" y="5851210"/>
              <a:ext cx="200023" cy="200023"/>
              <a:chOff x="738188" y="5851210"/>
              <a:chExt cx="200023" cy="200023"/>
            </a:xfrm>
          </p:grpSpPr>
          <p:sp>
            <p:nvSpPr>
              <p:cNvPr id="40" name="Freeform 40"/>
              <p:cNvSpPr/>
              <p:nvPr/>
            </p:nvSpPr>
            <p:spPr>
              <a:xfrm>
                <a:off x="738188" y="5851210"/>
                <a:ext cx="200023" cy="200023"/>
              </a:xfrm>
              <a:custGeom>
                <a:avLst/>
                <a:gdLst/>
                <a:ahLst/>
                <a:cxnLst/>
                <a:rect l="l" t="t" r="r" b="b"/>
                <a:pathLst>
                  <a:path w="200023" h="200023">
                    <a:moveTo>
                      <a:pt x="150630" y="9366"/>
                    </a:moveTo>
                    <a:lnTo>
                      <a:pt x="190658" y="49393"/>
                    </a:lnTo>
                    <a:cubicBezTo>
                      <a:pt x="196654" y="55389"/>
                      <a:pt x="200023" y="63522"/>
                      <a:pt x="200023" y="72002"/>
                    </a:cubicBezTo>
                    <a:cubicBezTo>
                      <a:pt x="200023" y="80482"/>
                      <a:pt x="196654" y="88614"/>
                      <a:pt x="190658" y="94610"/>
                    </a:cubicBezTo>
                    <a:lnTo>
                      <a:pt x="161287" y="123980"/>
                    </a:lnTo>
                    <a:cubicBezTo>
                      <a:pt x="155291" y="129977"/>
                      <a:pt x="147159" y="133346"/>
                      <a:pt x="138679" y="133346"/>
                    </a:cubicBezTo>
                    <a:cubicBezTo>
                      <a:pt x="130199" y="133346"/>
                      <a:pt x="122066" y="129977"/>
                      <a:pt x="116070" y="123980"/>
                    </a:cubicBezTo>
                    <a:lnTo>
                      <a:pt x="112726" y="120636"/>
                    </a:lnTo>
                    <a:lnTo>
                      <a:pt x="39850" y="193511"/>
                    </a:lnTo>
                    <a:cubicBezTo>
                      <a:pt x="36157" y="197203"/>
                      <a:pt x="31283" y="199477"/>
                      <a:pt x="26081" y="199935"/>
                    </a:cubicBezTo>
                    <a:lnTo>
                      <a:pt x="24136" y="200023"/>
                    </a:lnTo>
                    <a:lnTo>
                      <a:pt x="11113" y="200023"/>
                    </a:lnTo>
                    <a:cubicBezTo>
                      <a:pt x="5479" y="200023"/>
                      <a:pt x="737" y="195806"/>
                      <a:pt x="78" y="190211"/>
                    </a:cubicBezTo>
                    <a:lnTo>
                      <a:pt x="0" y="188911"/>
                    </a:lnTo>
                    <a:lnTo>
                      <a:pt x="0" y="175887"/>
                    </a:lnTo>
                    <a:cubicBezTo>
                      <a:pt x="1" y="170669"/>
                      <a:pt x="1838" y="165618"/>
                      <a:pt x="5190" y="161619"/>
                    </a:cubicBezTo>
                    <a:lnTo>
                      <a:pt x="6512" y="160174"/>
                    </a:lnTo>
                    <a:lnTo>
                      <a:pt x="11113" y="155573"/>
                    </a:lnTo>
                    <a:lnTo>
                      <a:pt x="33338" y="155573"/>
                    </a:lnTo>
                    <a:lnTo>
                      <a:pt x="33338" y="133348"/>
                    </a:lnTo>
                    <a:lnTo>
                      <a:pt x="55563" y="133348"/>
                    </a:lnTo>
                    <a:lnTo>
                      <a:pt x="55563" y="111123"/>
                    </a:lnTo>
                    <a:lnTo>
                      <a:pt x="79388" y="87298"/>
                    </a:lnTo>
                    <a:lnTo>
                      <a:pt x="76043" y="83953"/>
                    </a:lnTo>
                    <a:cubicBezTo>
                      <a:pt x="70046" y="77957"/>
                      <a:pt x="66677" y="69825"/>
                      <a:pt x="66677" y="61345"/>
                    </a:cubicBezTo>
                    <a:cubicBezTo>
                      <a:pt x="66677" y="52865"/>
                      <a:pt x="70046" y="44732"/>
                      <a:pt x="76043" y="38736"/>
                    </a:cubicBezTo>
                    <a:lnTo>
                      <a:pt x="105413" y="9366"/>
                    </a:lnTo>
                    <a:cubicBezTo>
                      <a:pt x="111409" y="3369"/>
                      <a:pt x="119542" y="0"/>
                      <a:pt x="128022" y="0"/>
                    </a:cubicBezTo>
                    <a:cubicBezTo>
                      <a:pt x="136502" y="0"/>
                      <a:pt x="144635" y="3369"/>
                      <a:pt x="150630" y="9366"/>
                    </a:cubicBez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  <p:sp>
            <p:nvSpPr>
              <p:cNvPr id="41" name="Freeform 41"/>
              <p:cNvSpPr/>
              <p:nvPr/>
            </p:nvSpPr>
            <p:spPr>
              <a:xfrm>
                <a:off x="871538" y="5917883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</p:grpSp>
        <p:sp>
          <p:nvSpPr>
            <p:cNvPr id="43" name="TextBox 43"/>
            <p:cNvSpPr txBox="1"/>
            <p:nvPr/>
          </p:nvSpPr>
          <p:spPr>
            <a:xfrm>
              <a:off x="1040130" y="5846445"/>
              <a:ext cx="9241869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LCS 的边界全是 0：空串和任何串都没有公共字符。Dist 的边界是 0、1、2…，代表删光或插满的次数。</a:t>
              </a:r>
            </a:p>
          </p:txBody>
        </p:sp>
      </p:grpSp>
      <p:grpSp>
        <p:nvGrpSpPr>
          <p:cNvPr id="47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45" name="TextBox 45"/>
            <p:cNvSpPr txBox="1"/>
            <p:nvPr/>
          </p:nvSpPr>
          <p:spPr>
            <a:xfrm>
              <a:off x="528447" y="6581299"/>
              <a:ext cx="2120748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数据结构 · 专题1 字符串的模糊匹配</a:t>
              </a:r>
            </a:p>
          </p:txBody>
        </p:sp>
        <p:sp>
          <p:nvSpPr>
            <p:cNvPr id="46" name="TextBox 46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24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6601375" cy="909257"/>
            <a:chOff x="520446" y="342900"/>
            <a:chExt cx="6601375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414588" cy="266700"/>
            </a:xfrm>
            <a:prstGeom prst="roundRect">
              <a:avLst>
                <a:gd name="adj" fmla="val 50000"/>
              </a:avLst>
            </a:prstGeom>
            <a:solidFill>
              <a:srgbClr val="E6EFF9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96156" y="407194"/>
              <a:ext cx="228812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5FA8"/>
                  </a:solidFill>
                  <a:latin typeface="+mn-lt"/>
                  <a:ea typeface="+mn-ea"/>
                  <a:cs typeface="+mn-cs"/>
                </a:rPr>
                <a:t>专题1 模糊匹配 · 最长公共子序列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6601375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例题：S = ABC，P = BCD 的 LCS 长度是 2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1F5FA8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47" name="c1-table-1"/>
          <p:cNvGrpSpPr/>
          <p:nvPr/>
        </p:nvGrpSpPr>
        <p:grpSpPr>
          <a:xfrm>
            <a:off x="528447" y="1524000"/>
            <a:ext cx="4982718" cy="2170461"/>
            <a:chOff x="528447" y="1524000"/>
            <a:chExt cx="4982718" cy="2170461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4977765" cy="381000"/>
            </a:xfrm>
            <a:prstGeom prst="rect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918827" y="1641157"/>
              <a:ext cx="324521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S＼P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1979295" y="1641157"/>
              <a:ext cx="29337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空串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3048118" y="1641157"/>
              <a:ext cx="96919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B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3993951" y="1641157"/>
              <a:ext cx="96919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C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4964548" y="1641157"/>
              <a:ext cx="96919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D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934402" y="2023110"/>
              <a:ext cx="29337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空串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2081774" y="2023110"/>
              <a:ext cx="88411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3052372" y="2023110"/>
              <a:ext cx="88411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3998204" y="2023110"/>
              <a:ext cx="88411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4968802" y="2023110"/>
              <a:ext cx="88411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533400" y="2282190"/>
              <a:ext cx="497776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9" name="Rectangle 19"/>
            <p:cNvSpPr/>
            <p:nvPr/>
          </p:nvSpPr>
          <p:spPr>
            <a:xfrm>
              <a:off x="533400" y="2286952"/>
              <a:ext cx="4977765" cy="381000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1032628" y="2404110"/>
              <a:ext cx="96919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A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2081774" y="2404110"/>
              <a:ext cx="88411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3052372" y="2404110"/>
              <a:ext cx="88411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3998204" y="2404110"/>
              <a:ext cx="88411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4968802" y="2404110"/>
              <a:ext cx="88411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533400" y="2663190"/>
              <a:ext cx="497776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1032628" y="2785110"/>
              <a:ext cx="96919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B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2081774" y="2785110"/>
              <a:ext cx="88411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2633662" y="2677478"/>
              <a:ext cx="926782" cy="361950"/>
            </a:xfrm>
            <a:prstGeom prst="rect">
              <a:avLst/>
            </a:prstGeom>
            <a:solidFill>
              <a:srgbClr val="E6EFF9"/>
            </a:solidFill>
            <a:ln>
              <a:noFill/>
            </a:ln>
          </p:spPr>
        </p:sp>
        <p:sp>
          <p:nvSpPr>
            <p:cNvPr id="29" name="TextBox 29"/>
            <p:cNvSpPr txBox="1"/>
            <p:nvPr/>
          </p:nvSpPr>
          <p:spPr>
            <a:xfrm>
              <a:off x="3052372" y="2785110"/>
              <a:ext cx="88411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3998204" y="2785110"/>
              <a:ext cx="88411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4968802" y="2785110"/>
              <a:ext cx="88411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32" name="Rectangle 32"/>
            <p:cNvSpPr/>
            <p:nvPr/>
          </p:nvSpPr>
          <p:spPr>
            <a:xfrm>
              <a:off x="533400" y="3045142"/>
              <a:ext cx="497776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3" name="Rectangle 33"/>
            <p:cNvSpPr/>
            <p:nvPr/>
          </p:nvSpPr>
          <p:spPr>
            <a:xfrm>
              <a:off x="533400" y="3049905"/>
              <a:ext cx="4977765" cy="381000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1032628" y="3167062"/>
              <a:ext cx="96919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C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2081774" y="3167062"/>
              <a:ext cx="88411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3052372" y="3167062"/>
              <a:ext cx="88411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3579495" y="3059430"/>
              <a:ext cx="926782" cy="361950"/>
            </a:xfrm>
            <a:prstGeom prst="rect">
              <a:avLst/>
            </a:prstGeom>
            <a:solidFill>
              <a:srgbClr val="E6EFF9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3998204" y="3167062"/>
              <a:ext cx="88411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39" name="Rectangle 39"/>
            <p:cNvSpPr/>
            <p:nvPr/>
          </p:nvSpPr>
          <p:spPr>
            <a:xfrm>
              <a:off x="4524375" y="3059430"/>
              <a:ext cx="976312" cy="361950"/>
            </a:xfrm>
            <a:prstGeom prst="rect">
              <a:avLst/>
            </a:prstGeom>
            <a:solidFill>
              <a:srgbClr val="FDEEE7"/>
            </a:solidFill>
            <a:ln>
              <a:noFill/>
            </a:ln>
          </p:spPr>
        </p:sp>
        <p:sp>
          <p:nvSpPr>
            <p:cNvPr id="40" name="TextBox 40"/>
            <p:cNvSpPr txBox="1"/>
            <p:nvPr/>
          </p:nvSpPr>
          <p:spPr>
            <a:xfrm>
              <a:off x="4968802" y="3167062"/>
              <a:ext cx="88411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41" name="Rectangle 41"/>
            <p:cNvSpPr/>
            <p:nvPr/>
          </p:nvSpPr>
          <p:spPr>
            <a:xfrm>
              <a:off x="533400" y="1524000"/>
              <a:ext cx="4977765" cy="1906905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42" name="Rectangle 42"/>
            <p:cNvSpPr/>
            <p:nvPr/>
          </p:nvSpPr>
          <p:spPr>
            <a:xfrm>
              <a:off x="1624012" y="1524000"/>
              <a:ext cx="9525" cy="190690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3" name="Rectangle 43"/>
            <p:cNvSpPr/>
            <p:nvPr/>
          </p:nvSpPr>
          <p:spPr>
            <a:xfrm>
              <a:off x="2619375" y="1524000"/>
              <a:ext cx="9525" cy="190690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4" name="Rectangle 44"/>
            <p:cNvSpPr/>
            <p:nvPr/>
          </p:nvSpPr>
          <p:spPr>
            <a:xfrm>
              <a:off x="3565208" y="1524000"/>
              <a:ext cx="9525" cy="190690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5" name="Rectangle 45"/>
            <p:cNvSpPr/>
            <p:nvPr/>
          </p:nvSpPr>
          <p:spPr>
            <a:xfrm>
              <a:off x="4510088" y="1524000"/>
              <a:ext cx="9525" cy="190690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6" name="TextBox 46"/>
            <p:cNvSpPr txBox="1"/>
            <p:nvPr/>
          </p:nvSpPr>
          <p:spPr>
            <a:xfrm>
              <a:off x="528447" y="3503771"/>
              <a:ext cx="3077223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蓝色格子是两次“字符相等”的地方，右下角 2 是答案</a:t>
              </a:r>
            </a:p>
          </p:txBody>
        </p:sp>
      </p:grpSp>
      <p:grpSp>
        <p:nvGrpSpPr>
          <p:cNvPr id="55" name="c1-card-2"/>
          <p:cNvGrpSpPr/>
          <p:nvPr/>
        </p:nvGrpSpPr>
        <p:grpSpPr>
          <a:xfrm>
            <a:off x="533400" y="3821430"/>
            <a:ext cx="4977765" cy="1736408"/>
            <a:chOff x="533400" y="3821430"/>
            <a:chExt cx="4977765" cy="1736408"/>
          </a:xfrm>
        </p:grpSpPr>
        <p:sp>
          <p:nvSpPr>
            <p:cNvPr id="48" name="Rectangle 48"/>
            <p:cNvSpPr/>
            <p:nvPr/>
          </p:nvSpPr>
          <p:spPr>
            <a:xfrm>
              <a:off x="533400" y="3821430"/>
              <a:ext cx="4977765" cy="1736408"/>
            </a:xfrm>
            <a:prstGeom prst="roundRect">
              <a:avLst>
                <a:gd name="adj" fmla="val 7680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49" name="Rectangle 49"/>
            <p:cNvSpPr/>
            <p:nvPr/>
          </p:nvSpPr>
          <p:spPr>
            <a:xfrm>
              <a:off x="542925" y="3954780"/>
              <a:ext cx="47625" cy="1469708"/>
            </a:xfrm>
            <a:prstGeom prst="roundRect">
              <a:avLst>
                <a:gd name="adj" fmla="val 50000"/>
              </a:avLst>
            </a:prstGeom>
            <a:solidFill>
              <a:srgbClr val="5B6475"/>
            </a:solidFill>
            <a:ln>
              <a:noFill/>
            </a:ln>
          </p:spPr>
        </p:sp>
        <p:sp>
          <p:nvSpPr>
            <p:cNvPr id="50" name="Rectangle 50"/>
            <p:cNvSpPr/>
            <p:nvPr/>
          </p:nvSpPr>
          <p:spPr>
            <a:xfrm>
              <a:off x="752475" y="4002405"/>
              <a:ext cx="458152" cy="238125"/>
            </a:xfrm>
            <a:prstGeom prst="roundRect">
              <a:avLst>
                <a:gd name="adj" fmla="val 50000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51" name="TextBox 51"/>
            <p:cNvSpPr txBox="1"/>
            <p:nvPr/>
          </p:nvSpPr>
          <p:spPr>
            <a:xfrm>
              <a:off x="845147" y="4035266"/>
              <a:ext cx="273761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读表</a:t>
              </a:r>
            </a:p>
          </p:txBody>
        </p:sp>
        <p:sp>
          <p:nvSpPr>
            <p:cNvPr id="52" name="TextBox 52"/>
            <p:cNvSpPr txBox="1"/>
            <p:nvPr/>
          </p:nvSpPr>
          <p:spPr>
            <a:xfrm>
              <a:off x="1318450" y="4041934"/>
              <a:ext cx="1736090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和编辑距离表对照着看</a:t>
              </a:r>
            </a:p>
          </p:txBody>
        </p:sp>
        <p:sp>
          <p:nvSpPr>
            <p:cNvPr id="53" name="TextBox 53"/>
            <p:cNvSpPr txBox="1"/>
            <p:nvPr/>
          </p:nvSpPr>
          <p:spPr>
            <a:xfrm>
              <a:off x="745998" y="4358164"/>
              <a:ext cx="441556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第 0 行和第 0 列整排都是 0，编辑距离表那里是 0 1 2 3。</a:t>
              </a:r>
            </a:p>
          </p:txBody>
        </p:sp>
        <p:sp>
          <p:nvSpPr>
            <p:cNvPr id="54" name="TextBox 54"/>
            <p:cNvSpPr txBox="1"/>
            <p:nvPr/>
          </p:nvSpPr>
          <p:spPr>
            <a:xfrm>
              <a:off x="745998" y="4643914"/>
              <a:ext cx="4402074" cy="49225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12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每一行从左到右、每一列从上到下都不减，所以右下角一定是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全表最大的数。</a:t>
              </a:r>
            </a:p>
          </p:txBody>
        </p:sp>
      </p:grpSp>
      <p:grpSp>
        <p:nvGrpSpPr>
          <p:cNvPr id="77" name="c2-steps-1"/>
          <p:cNvGrpSpPr/>
          <p:nvPr/>
        </p:nvGrpSpPr>
        <p:grpSpPr>
          <a:xfrm>
            <a:off x="5815965" y="1533525"/>
            <a:ext cx="3325730" cy="2702814"/>
            <a:chOff x="5815965" y="1533525"/>
            <a:chExt cx="3325730" cy="2702814"/>
          </a:xfrm>
        </p:grpSpPr>
        <p:sp>
          <p:nvSpPr>
            <p:cNvPr id="56" name="Rectangle 56"/>
            <p:cNvSpPr/>
            <p:nvPr/>
          </p:nvSpPr>
          <p:spPr>
            <a:xfrm>
              <a:off x="5949315" y="1676400"/>
              <a:ext cx="19050" cy="221170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57" name="Ellipse 57"/>
            <p:cNvSpPr/>
            <p:nvPr/>
          </p:nvSpPr>
          <p:spPr>
            <a:xfrm>
              <a:off x="5815965" y="1533525"/>
              <a:ext cx="285750" cy="285750"/>
            </a:xfrm>
            <a:prstGeom prst="ellipse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58" name="TextBox 58"/>
            <p:cNvSpPr txBox="1"/>
            <p:nvPr/>
          </p:nvSpPr>
          <p:spPr>
            <a:xfrm>
              <a:off x="5909589" y="1607344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59" name="Ellipse 59"/>
            <p:cNvSpPr/>
            <p:nvPr/>
          </p:nvSpPr>
          <p:spPr>
            <a:xfrm>
              <a:off x="5815965" y="2086928"/>
              <a:ext cx="285750" cy="285750"/>
            </a:xfrm>
            <a:prstGeom prst="ellipse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60" name="TextBox 60"/>
            <p:cNvSpPr txBox="1"/>
            <p:nvPr/>
          </p:nvSpPr>
          <p:spPr>
            <a:xfrm>
              <a:off x="5909589" y="2160746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61" name="Ellipse 61"/>
            <p:cNvSpPr/>
            <p:nvPr/>
          </p:nvSpPr>
          <p:spPr>
            <a:xfrm>
              <a:off x="5815965" y="2639378"/>
              <a:ext cx="285750" cy="285750"/>
            </a:xfrm>
            <a:prstGeom prst="ellipse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62" name="TextBox 62"/>
            <p:cNvSpPr txBox="1"/>
            <p:nvPr/>
          </p:nvSpPr>
          <p:spPr>
            <a:xfrm>
              <a:off x="5909589" y="2713196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63" name="Ellipse 63"/>
            <p:cNvSpPr/>
            <p:nvPr/>
          </p:nvSpPr>
          <p:spPr>
            <a:xfrm>
              <a:off x="5815965" y="3192780"/>
              <a:ext cx="285750" cy="285750"/>
            </a:xfrm>
            <a:prstGeom prst="ellipse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64" name="TextBox 64"/>
            <p:cNvSpPr txBox="1"/>
            <p:nvPr/>
          </p:nvSpPr>
          <p:spPr>
            <a:xfrm>
              <a:off x="5909589" y="3266599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65" name="Ellipse 65"/>
            <p:cNvSpPr/>
            <p:nvPr/>
          </p:nvSpPr>
          <p:spPr>
            <a:xfrm>
              <a:off x="5815965" y="3745230"/>
              <a:ext cx="285750" cy="285750"/>
            </a:xfrm>
            <a:prstGeom prst="ellipse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66" name="TextBox 66"/>
            <p:cNvSpPr txBox="1"/>
            <p:nvPr/>
          </p:nvSpPr>
          <p:spPr>
            <a:xfrm>
              <a:off x="5909589" y="3819049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5</a:t>
              </a:r>
            </a:p>
          </p:txBody>
        </p:sp>
        <p:sp>
          <p:nvSpPr>
            <p:cNvPr id="67" name="TextBox 67"/>
            <p:cNvSpPr txBox="1"/>
            <p:nvPr/>
          </p:nvSpPr>
          <p:spPr>
            <a:xfrm>
              <a:off x="6228588" y="1564481"/>
              <a:ext cx="144555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第 1 行（S₁ = A）</a:t>
              </a:r>
            </a:p>
          </p:txBody>
        </p:sp>
        <p:sp>
          <p:nvSpPr>
            <p:cNvPr id="68" name="TextBox 68"/>
            <p:cNvSpPr txBox="1"/>
            <p:nvPr/>
          </p:nvSpPr>
          <p:spPr>
            <a:xfrm>
              <a:off x="6229731" y="1818322"/>
              <a:ext cx="2911964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A 与 B、C、D 都不等，取 max{左, 上} 全是 0</a:t>
              </a:r>
            </a:p>
          </p:txBody>
        </p:sp>
        <p:sp>
          <p:nvSpPr>
            <p:cNvPr id="69" name="TextBox 69"/>
            <p:cNvSpPr txBox="1"/>
            <p:nvPr/>
          </p:nvSpPr>
          <p:spPr>
            <a:xfrm>
              <a:off x="6228588" y="2116931"/>
              <a:ext cx="2030844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LCS[2][1]：B 与 B 相等</a:t>
              </a:r>
            </a:p>
          </p:txBody>
        </p:sp>
        <p:sp>
          <p:nvSpPr>
            <p:cNvPr id="70" name="TextBox 70"/>
            <p:cNvSpPr txBox="1"/>
            <p:nvPr/>
          </p:nvSpPr>
          <p:spPr>
            <a:xfrm>
              <a:off x="6229731" y="2371725"/>
              <a:ext cx="2179472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左上角 LCS[1][0] = 0，加 1 得 1</a:t>
              </a:r>
            </a:p>
          </p:txBody>
        </p:sp>
        <p:sp>
          <p:nvSpPr>
            <p:cNvPr id="71" name="TextBox 71"/>
            <p:cNvSpPr txBox="1"/>
            <p:nvPr/>
          </p:nvSpPr>
          <p:spPr>
            <a:xfrm>
              <a:off x="6228588" y="2670334"/>
              <a:ext cx="207785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LCS[2][2]、LCS[2][3]</a:t>
              </a:r>
            </a:p>
          </p:txBody>
        </p:sp>
        <p:sp>
          <p:nvSpPr>
            <p:cNvPr id="72" name="TextBox 72"/>
            <p:cNvSpPr txBox="1"/>
            <p:nvPr/>
          </p:nvSpPr>
          <p:spPr>
            <a:xfrm>
              <a:off x="6229731" y="2925128"/>
              <a:ext cx="2342159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B 与 C、D 不等，取 max{左, 上} = 1</a:t>
              </a:r>
            </a:p>
          </p:txBody>
        </p:sp>
        <p:sp>
          <p:nvSpPr>
            <p:cNvPr id="73" name="TextBox 73"/>
            <p:cNvSpPr txBox="1"/>
            <p:nvPr/>
          </p:nvSpPr>
          <p:spPr>
            <a:xfrm>
              <a:off x="6228588" y="3222784"/>
              <a:ext cx="2030844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LCS[3][2]：C 与 C 相等</a:t>
              </a:r>
            </a:p>
          </p:txBody>
        </p:sp>
        <p:sp>
          <p:nvSpPr>
            <p:cNvPr id="74" name="TextBox 74"/>
            <p:cNvSpPr txBox="1"/>
            <p:nvPr/>
          </p:nvSpPr>
          <p:spPr>
            <a:xfrm>
              <a:off x="6229731" y="3477578"/>
              <a:ext cx="2179472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左上角 LCS[2][1] = 1，加 1 得 2</a:t>
              </a:r>
            </a:p>
          </p:txBody>
        </p:sp>
        <p:sp>
          <p:nvSpPr>
            <p:cNvPr id="75" name="TextBox 75"/>
            <p:cNvSpPr txBox="1"/>
            <p:nvPr/>
          </p:nvSpPr>
          <p:spPr>
            <a:xfrm>
              <a:off x="6228588" y="3776186"/>
              <a:ext cx="2030844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LCS[3][3]：C 与 D 不等</a:t>
              </a:r>
            </a:p>
          </p:txBody>
        </p:sp>
        <p:sp>
          <p:nvSpPr>
            <p:cNvPr id="76" name="TextBox 76"/>
            <p:cNvSpPr txBox="1"/>
            <p:nvPr/>
          </p:nvSpPr>
          <p:spPr>
            <a:xfrm>
              <a:off x="6229731" y="4030980"/>
              <a:ext cx="2592324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0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max{LCS[3][2]=2, LCS[2][3]=1} = 2</a:t>
              </a:r>
            </a:p>
          </p:txBody>
        </p:sp>
      </p:grpSp>
      <p:grpSp>
        <p:nvGrpSpPr>
          <p:cNvPr id="84" name="c2-card-2"/>
          <p:cNvGrpSpPr/>
          <p:nvPr/>
        </p:nvGrpSpPr>
        <p:grpSpPr>
          <a:xfrm>
            <a:off x="5815965" y="4397692"/>
            <a:ext cx="5842635" cy="1160145"/>
            <a:chOff x="5815965" y="4397692"/>
            <a:chExt cx="5842635" cy="1160145"/>
          </a:xfrm>
        </p:grpSpPr>
        <p:sp>
          <p:nvSpPr>
            <p:cNvPr id="78" name="Rectangle 78"/>
            <p:cNvSpPr/>
            <p:nvPr/>
          </p:nvSpPr>
          <p:spPr>
            <a:xfrm>
              <a:off x="5815965" y="4397692"/>
              <a:ext cx="5842635" cy="1160145"/>
            </a:xfrm>
            <a:prstGeom prst="roundRect">
              <a:avLst>
                <a:gd name="adj" fmla="val 11494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79" name="Rectangle 79"/>
            <p:cNvSpPr/>
            <p:nvPr/>
          </p:nvSpPr>
          <p:spPr>
            <a:xfrm>
              <a:off x="5825490" y="4531042"/>
              <a:ext cx="47625" cy="893445"/>
            </a:xfrm>
            <a:prstGeom prst="roundRect">
              <a:avLst>
                <a:gd name="adj" fmla="val 50000"/>
              </a:avLst>
            </a:prstGeom>
            <a:solidFill>
              <a:srgbClr val="B42318"/>
            </a:solidFill>
            <a:ln>
              <a:noFill/>
            </a:ln>
          </p:spPr>
        </p:sp>
        <p:sp>
          <p:nvSpPr>
            <p:cNvPr id="80" name="Rectangle 80"/>
            <p:cNvSpPr/>
            <p:nvPr/>
          </p:nvSpPr>
          <p:spPr>
            <a:xfrm>
              <a:off x="6035040" y="4578668"/>
              <a:ext cx="458152" cy="238125"/>
            </a:xfrm>
            <a:prstGeom prst="roundRect">
              <a:avLst>
                <a:gd name="adj" fmla="val 50000"/>
              </a:avLst>
            </a:prstGeom>
            <a:solidFill>
              <a:srgbClr val="FDECEA"/>
            </a:solidFill>
            <a:ln>
              <a:noFill/>
            </a:ln>
          </p:spPr>
        </p:sp>
        <p:sp>
          <p:nvSpPr>
            <p:cNvPr id="81" name="TextBox 81"/>
            <p:cNvSpPr txBox="1"/>
            <p:nvPr/>
          </p:nvSpPr>
          <p:spPr>
            <a:xfrm>
              <a:off x="6126759" y="4611529"/>
              <a:ext cx="273761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易错</a:t>
              </a:r>
            </a:p>
          </p:txBody>
        </p:sp>
        <p:sp>
          <p:nvSpPr>
            <p:cNvPr id="82" name="TextBox 82"/>
            <p:cNvSpPr txBox="1"/>
            <p:nvPr/>
          </p:nvSpPr>
          <p:spPr>
            <a:xfrm>
              <a:off x="6601016" y="4618196"/>
              <a:ext cx="177184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相等时加 1 的是左上角</a:t>
              </a:r>
            </a:p>
          </p:txBody>
        </p:sp>
        <p:sp>
          <p:nvSpPr>
            <p:cNvPr id="83" name="TextBox 83"/>
            <p:cNvSpPr txBox="1"/>
            <p:nvPr/>
          </p:nvSpPr>
          <p:spPr>
            <a:xfrm>
              <a:off x="6028563" y="4935379"/>
              <a:ext cx="4889754" cy="49225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12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写成 max{左, 上} + 1 会多数：S = AA、P = A 时 LCS[2][1] 被算成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max(0, 1) + 1 = 2，正确值是 LCS[1][0] + 1 = 1。</a:t>
              </a:r>
            </a:p>
          </p:txBody>
        </p:sp>
      </p:grpSp>
      <p:grpSp>
        <p:nvGrpSpPr>
          <p:cNvPr id="90" name="takeaway"/>
          <p:cNvGrpSpPr/>
          <p:nvPr/>
        </p:nvGrpSpPr>
        <p:grpSpPr>
          <a:xfrm>
            <a:off x="533400" y="5895022"/>
            <a:ext cx="11125200" cy="467678"/>
            <a:chOff x="533400" y="5895022"/>
            <a:chExt cx="11125200" cy="467678"/>
          </a:xfrm>
        </p:grpSpPr>
        <p:sp>
          <p:nvSpPr>
            <p:cNvPr id="85" name="Rectangle 85"/>
            <p:cNvSpPr/>
            <p:nvPr/>
          </p:nvSpPr>
          <p:spPr>
            <a:xfrm>
              <a:off x="533400" y="5895022"/>
              <a:ext cx="11125200" cy="467678"/>
            </a:xfrm>
            <a:prstGeom prst="roundRect">
              <a:avLst>
                <a:gd name="adj" fmla="val 24440"/>
              </a:avLst>
            </a:prstGeom>
            <a:solidFill>
              <a:srgbClr val="1F5FA8"/>
            </a:solidFill>
            <a:ln>
              <a:noFill/>
            </a:ln>
          </p:spPr>
        </p:sp>
        <p:grpSp>
          <p:nvGrpSpPr>
            <p:cNvPr id="88" name="Group 88"/>
            <p:cNvGrpSpPr/>
            <p:nvPr/>
          </p:nvGrpSpPr>
          <p:grpSpPr>
            <a:xfrm>
              <a:off x="738188" y="6028375"/>
              <a:ext cx="200023" cy="200023"/>
              <a:chOff x="738188" y="6028375"/>
              <a:chExt cx="200023" cy="200023"/>
            </a:xfrm>
          </p:grpSpPr>
          <p:sp>
            <p:nvSpPr>
              <p:cNvPr id="86" name="Freeform 86"/>
              <p:cNvSpPr/>
              <p:nvPr/>
            </p:nvSpPr>
            <p:spPr>
              <a:xfrm>
                <a:off x="738188" y="6028375"/>
                <a:ext cx="200023" cy="200023"/>
              </a:xfrm>
              <a:custGeom>
                <a:avLst/>
                <a:gdLst/>
                <a:ahLst/>
                <a:cxnLst/>
                <a:rect l="l" t="t" r="r" b="b"/>
                <a:pathLst>
                  <a:path w="200023" h="200023">
                    <a:moveTo>
                      <a:pt x="150630" y="9366"/>
                    </a:moveTo>
                    <a:lnTo>
                      <a:pt x="190658" y="49393"/>
                    </a:lnTo>
                    <a:cubicBezTo>
                      <a:pt x="196654" y="55389"/>
                      <a:pt x="200023" y="63522"/>
                      <a:pt x="200023" y="72002"/>
                    </a:cubicBezTo>
                    <a:cubicBezTo>
                      <a:pt x="200023" y="80482"/>
                      <a:pt x="196654" y="88614"/>
                      <a:pt x="190658" y="94610"/>
                    </a:cubicBezTo>
                    <a:lnTo>
                      <a:pt x="161287" y="123980"/>
                    </a:lnTo>
                    <a:cubicBezTo>
                      <a:pt x="155291" y="129977"/>
                      <a:pt x="147159" y="133346"/>
                      <a:pt x="138679" y="133346"/>
                    </a:cubicBezTo>
                    <a:cubicBezTo>
                      <a:pt x="130199" y="133346"/>
                      <a:pt x="122066" y="129977"/>
                      <a:pt x="116070" y="123980"/>
                    </a:cubicBezTo>
                    <a:lnTo>
                      <a:pt x="112726" y="120636"/>
                    </a:lnTo>
                    <a:lnTo>
                      <a:pt x="39850" y="193511"/>
                    </a:lnTo>
                    <a:cubicBezTo>
                      <a:pt x="36157" y="197203"/>
                      <a:pt x="31283" y="199477"/>
                      <a:pt x="26081" y="199935"/>
                    </a:cubicBezTo>
                    <a:lnTo>
                      <a:pt x="24136" y="200023"/>
                    </a:lnTo>
                    <a:lnTo>
                      <a:pt x="11113" y="200023"/>
                    </a:lnTo>
                    <a:cubicBezTo>
                      <a:pt x="5479" y="200023"/>
                      <a:pt x="737" y="195806"/>
                      <a:pt x="78" y="190211"/>
                    </a:cubicBezTo>
                    <a:lnTo>
                      <a:pt x="0" y="188911"/>
                    </a:lnTo>
                    <a:lnTo>
                      <a:pt x="0" y="175887"/>
                    </a:lnTo>
                    <a:cubicBezTo>
                      <a:pt x="1" y="170669"/>
                      <a:pt x="1838" y="165618"/>
                      <a:pt x="5190" y="161619"/>
                    </a:cubicBezTo>
                    <a:lnTo>
                      <a:pt x="6512" y="160174"/>
                    </a:lnTo>
                    <a:lnTo>
                      <a:pt x="11113" y="155573"/>
                    </a:lnTo>
                    <a:lnTo>
                      <a:pt x="33338" y="155573"/>
                    </a:lnTo>
                    <a:lnTo>
                      <a:pt x="33338" y="133348"/>
                    </a:lnTo>
                    <a:lnTo>
                      <a:pt x="55563" y="133348"/>
                    </a:lnTo>
                    <a:lnTo>
                      <a:pt x="55563" y="111123"/>
                    </a:lnTo>
                    <a:lnTo>
                      <a:pt x="79388" y="87298"/>
                    </a:lnTo>
                    <a:lnTo>
                      <a:pt x="76043" y="83953"/>
                    </a:lnTo>
                    <a:cubicBezTo>
                      <a:pt x="70046" y="77957"/>
                      <a:pt x="66677" y="69825"/>
                      <a:pt x="66677" y="61345"/>
                    </a:cubicBezTo>
                    <a:cubicBezTo>
                      <a:pt x="66677" y="52865"/>
                      <a:pt x="70046" y="44732"/>
                      <a:pt x="76043" y="38736"/>
                    </a:cubicBezTo>
                    <a:lnTo>
                      <a:pt x="105413" y="9366"/>
                    </a:lnTo>
                    <a:cubicBezTo>
                      <a:pt x="111409" y="3369"/>
                      <a:pt x="119542" y="0"/>
                      <a:pt x="128022" y="0"/>
                    </a:cubicBezTo>
                    <a:cubicBezTo>
                      <a:pt x="136502" y="0"/>
                      <a:pt x="144635" y="3369"/>
                      <a:pt x="150630" y="9366"/>
                    </a:cubicBez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  <p:sp>
            <p:nvSpPr>
              <p:cNvPr id="87" name="Freeform 87"/>
              <p:cNvSpPr/>
              <p:nvPr/>
            </p:nvSpPr>
            <p:spPr>
              <a:xfrm>
                <a:off x="871538" y="6095048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</p:grpSp>
        <p:sp>
          <p:nvSpPr>
            <p:cNvPr id="89" name="TextBox 89"/>
            <p:cNvSpPr txBox="1"/>
            <p:nvPr/>
          </p:nvSpPr>
          <p:spPr>
            <a:xfrm>
              <a:off x="1041273" y="6039326"/>
              <a:ext cx="545058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这对串的 LCS 是 BC，长度 2；同一对串的编辑距离也是 2，纯属巧合。</a:t>
              </a:r>
            </a:p>
          </p:txBody>
        </p:sp>
      </p:grpSp>
      <p:grpSp>
        <p:nvGrpSpPr>
          <p:cNvPr id="93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91" name="TextBox 91"/>
            <p:cNvSpPr txBox="1"/>
            <p:nvPr/>
          </p:nvSpPr>
          <p:spPr>
            <a:xfrm>
              <a:off x="528447" y="6581299"/>
              <a:ext cx="2120748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数据结构 · 专题1 字符串的模糊匹配</a:t>
              </a:r>
            </a:p>
          </p:txBody>
        </p:sp>
        <p:sp>
          <p:nvSpPr>
            <p:cNvPr id="92" name="TextBox 92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25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5688749" cy="909257"/>
            <a:chOff x="520446" y="342900"/>
            <a:chExt cx="5688749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414588" cy="266700"/>
            </a:xfrm>
            <a:prstGeom prst="roundRect">
              <a:avLst>
                <a:gd name="adj" fmla="val 50000"/>
              </a:avLst>
            </a:prstGeom>
            <a:solidFill>
              <a:srgbClr val="E6EFF9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96156" y="407194"/>
              <a:ext cx="228812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5FA8"/>
                  </a:solidFill>
                  <a:latin typeface="+mn-lt"/>
                  <a:ea typeface="+mn-ea"/>
                  <a:cs typeface="+mn-cs"/>
                </a:rPr>
                <a:t>专题1 模糊匹配 · 最长公共子序列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5688749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从 LCS 表里倒着读出公共子序列本身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1F5FA8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8" name="lead"/>
          <p:cNvGrpSpPr/>
          <p:nvPr/>
        </p:nvGrpSpPr>
        <p:grpSpPr>
          <a:xfrm>
            <a:off x="526542" y="1545907"/>
            <a:ext cx="4193667" cy="264033"/>
            <a:chOff x="526542" y="1545907"/>
            <a:chExt cx="4193667" cy="264033"/>
          </a:xfrm>
        </p:grpSpPr>
        <p:sp>
          <p:nvSpPr>
            <p:cNvPr id="7" name="TextBox 7"/>
            <p:cNvSpPr txBox="1"/>
            <p:nvPr/>
          </p:nvSpPr>
          <p:spPr>
            <a:xfrm>
              <a:off x="526542" y="1545907"/>
              <a:ext cx="419366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和编辑距离一样，长度在表里，具体的串要靠回溯。</a:t>
              </a:r>
            </a:p>
          </p:txBody>
        </p:sp>
      </p:grpSp>
      <p:grpSp>
        <p:nvGrpSpPr>
          <p:cNvPr id="41" name="c1-table-1"/>
          <p:cNvGrpSpPr/>
          <p:nvPr/>
        </p:nvGrpSpPr>
        <p:grpSpPr>
          <a:xfrm>
            <a:off x="533400" y="1928812"/>
            <a:ext cx="5842635" cy="1906905"/>
            <a:chOff x="533400" y="1928812"/>
            <a:chExt cx="5842635" cy="1906905"/>
          </a:xfrm>
        </p:grpSpPr>
        <p:sp>
          <p:nvSpPr>
            <p:cNvPr id="9" name="Rectangle 9"/>
            <p:cNvSpPr/>
            <p:nvPr/>
          </p:nvSpPr>
          <p:spPr>
            <a:xfrm>
              <a:off x="533400" y="1928812"/>
              <a:ext cx="5842635" cy="381000"/>
            </a:xfrm>
            <a:prstGeom prst="rect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783717" y="2045970"/>
              <a:ext cx="434721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当前格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2081212" y="2045970"/>
              <a:ext cx="29337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比较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3833812" y="2045970"/>
              <a:ext cx="29337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动作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5457634" y="2045970"/>
              <a:ext cx="434721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已收集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628078" y="2426970"/>
              <a:ext cx="500449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[3][3]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1563433" y="2426970"/>
              <a:ext cx="733425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C 与 D 不等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3081718" y="2426970"/>
              <a:ext cx="1261624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左 2 ≥ 上 1，往左走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5068634" y="2426970"/>
              <a:ext cx="152019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空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533400" y="2687002"/>
              <a:ext cx="584263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9" name="Rectangle 19"/>
            <p:cNvSpPr/>
            <p:nvPr/>
          </p:nvSpPr>
          <p:spPr>
            <a:xfrm>
              <a:off x="533400" y="2691765"/>
              <a:ext cx="5842635" cy="381000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628078" y="2808923"/>
              <a:ext cx="500449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[3][2]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1563433" y="2808923"/>
              <a:ext cx="733425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C 与 C 相等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2996565" y="2701290"/>
              <a:ext cx="1967865" cy="361950"/>
            </a:xfrm>
            <a:prstGeom prst="rect">
              <a:avLst/>
            </a:prstGeom>
            <a:solidFill>
              <a:srgbClr val="E3F5F1"/>
            </a:solidFill>
            <a:ln>
              <a:noFill/>
            </a:ln>
          </p:spPr>
        </p:sp>
        <p:sp>
          <p:nvSpPr>
            <p:cNvPr id="23" name="TextBox 23"/>
            <p:cNvSpPr txBox="1"/>
            <p:nvPr/>
          </p:nvSpPr>
          <p:spPr>
            <a:xfrm>
              <a:off x="3081718" y="2808923"/>
              <a:ext cx="1127074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记下 C，往左上走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5068634" y="2808923"/>
              <a:ext cx="92812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0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C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533400" y="3068002"/>
              <a:ext cx="584263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628078" y="3189923"/>
              <a:ext cx="500449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[2][1]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1563433" y="3189923"/>
              <a:ext cx="733425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B 与 B 相等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2996565" y="3082290"/>
              <a:ext cx="1967865" cy="361950"/>
            </a:xfrm>
            <a:prstGeom prst="rect">
              <a:avLst/>
            </a:prstGeom>
            <a:solidFill>
              <a:srgbClr val="E3F5F1"/>
            </a:solidFill>
            <a:ln>
              <a:noFill/>
            </a:ln>
          </p:spPr>
        </p:sp>
        <p:sp>
          <p:nvSpPr>
            <p:cNvPr id="29" name="TextBox 29"/>
            <p:cNvSpPr txBox="1"/>
            <p:nvPr/>
          </p:nvSpPr>
          <p:spPr>
            <a:xfrm>
              <a:off x="3081718" y="3189923"/>
              <a:ext cx="1127074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记下 B，往左上走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5068634" y="3189923"/>
              <a:ext cx="174955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0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BC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533400" y="3449002"/>
              <a:ext cx="584263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2" name="Rectangle 32"/>
            <p:cNvSpPr/>
            <p:nvPr/>
          </p:nvSpPr>
          <p:spPr>
            <a:xfrm>
              <a:off x="533400" y="3453765"/>
              <a:ext cx="5842635" cy="381000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628078" y="3571875"/>
              <a:ext cx="500449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[1][0]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1563433" y="3571875"/>
              <a:ext cx="498329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j 已到 0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3081718" y="3571875"/>
              <a:ext cx="29337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停止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5068634" y="3571875"/>
              <a:ext cx="174955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0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BC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533400" y="1928812"/>
              <a:ext cx="5842635" cy="1906905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38" name="Rectangle 38"/>
            <p:cNvSpPr/>
            <p:nvPr/>
          </p:nvSpPr>
          <p:spPr>
            <a:xfrm>
              <a:off x="1463992" y="1928812"/>
              <a:ext cx="9525" cy="190690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9" name="Rectangle 39"/>
            <p:cNvSpPr/>
            <p:nvPr/>
          </p:nvSpPr>
          <p:spPr>
            <a:xfrm>
              <a:off x="2982278" y="1928812"/>
              <a:ext cx="9525" cy="190690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0" name="Rectangle 40"/>
            <p:cNvSpPr/>
            <p:nvPr/>
          </p:nvSpPr>
          <p:spPr>
            <a:xfrm>
              <a:off x="4969192" y="1928812"/>
              <a:ext cx="9525" cy="190690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</p:grpSp>
      <p:grpSp>
        <p:nvGrpSpPr>
          <p:cNvPr id="48" name="c1-callout-2"/>
          <p:cNvGrpSpPr/>
          <p:nvPr/>
        </p:nvGrpSpPr>
        <p:grpSpPr>
          <a:xfrm>
            <a:off x="533400" y="4000500"/>
            <a:ext cx="5842635" cy="702945"/>
            <a:chOff x="533400" y="4000500"/>
            <a:chExt cx="5842635" cy="702945"/>
          </a:xfrm>
        </p:grpSpPr>
        <p:sp>
          <p:nvSpPr>
            <p:cNvPr id="42" name="Rectangle 42"/>
            <p:cNvSpPr/>
            <p:nvPr/>
          </p:nvSpPr>
          <p:spPr>
            <a:xfrm>
              <a:off x="533400" y="4000500"/>
              <a:ext cx="5842635" cy="702945"/>
            </a:xfrm>
            <a:prstGeom prst="roundRect">
              <a:avLst>
                <a:gd name="adj" fmla="val 16260"/>
              </a:avLst>
            </a:prstGeom>
            <a:solidFill>
              <a:srgbClr val="FDECEA"/>
            </a:solidFill>
            <a:ln>
              <a:noFill/>
            </a:ln>
          </p:spPr>
        </p:sp>
        <p:grpSp>
          <p:nvGrpSpPr>
            <p:cNvPr id="46" name="Group 46"/>
            <p:cNvGrpSpPr/>
            <p:nvPr/>
          </p:nvGrpSpPr>
          <p:grpSpPr>
            <a:xfrm>
              <a:off x="726129" y="4248268"/>
              <a:ext cx="224134" cy="192560"/>
              <a:chOff x="726129" y="4248268"/>
              <a:chExt cx="224134" cy="192560"/>
            </a:xfrm>
          </p:grpSpPr>
          <p:sp>
            <p:nvSpPr>
              <p:cNvPr id="43" name="Freeform 43"/>
              <p:cNvSpPr/>
              <p:nvPr/>
            </p:nvSpPr>
            <p:spPr>
              <a:xfrm>
                <a:off x="838200" y="4318635"/>
                <a:ext cx="952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44450">
                    <a:moveTo>
                      <a:pt x="0" y="0"/>
                    </a:moveTo>
                    <a:lnTo>
                      <a:pt x="0" y="44450"/>
                    </a:ln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  <p:sp>
            <p:nvSpPr>
              <p:cNvPr id="44" name="Freeform 44"/>
              <p:cNvSpPr/>
              <p:nvPr/>
            </p:nvSpPr>
            <p:spPr>
              <a:xfrm>
                <a:off x="726129" y="4248268"/>
                <a:ext cx="224134" cy="192560"/>
              </a:xfrm>
              <a:custGeom>
                <a:avLst/>
                <a:gdLst/>
                <a:ahLst/>
                <a:cxnLst/>
                <a:rect l="l" t="t" r="r" b="b"/>
                <a:pathLst>
                  <a:path w="224134" h="192560">
                    <a:moveTo>
                      <a:pt x="93880" y="10259"/>
                    </a:moveTo>
                    <a:lnTo>
                      <a:pt x="3802" y="160656"/>
                    </a:lnTo>
                    <a:cubicBezTo>
                      <a:pt x="23" y="167200"/>
                      <a:pt x="0" y="175257"/>
                      <a:pt x="3741" y="181823"/>
                    </a:cubicBezTo>
                    <a:cubicBezTo>
                      <a:pt x="7482" y="188388"/>
                      <a:pt x="14426" y="192476"/>
                      <a:pt x="21982" y="192560"/>
                    </a:cubicBezTo>
                    <a:lnTo>
                      <a:pt x="202160" y="192560"/>
                    </a:lnTo>
                    <a:cubicBezTo>
                      <a:pt x="209713" y="192473"/>
                      <a:pt x="216653" y="188387"/>
                      <a:pt x="220393" y="181826"/>
                    </a:cubicBezTo>
                    <a:cubicBezTo>
                      <a:pt x="224134" y="175264"/>
                      <a:pt x="224114" y="167211"/>
                      <a:pt x="220341" y="160667"/>
                    </a:cubicBezTo>
                    <a:lnTo>
                      <a:pt x="130262" y="10248"/>
                    </a:lnTo>
                    <a:cubicBezTo>
                      <a:pt x="126408" y="3886"/>
                      <a:pt x="119510" y="0"/>
                      <a:pt x="112071" y="0"/>
                    </a:cubicBezTo>
                    <a:cubicBezTo>
                      <a:pt x="104633" y="0"/>
                      <a:pt x="97734" y="3886"/>
                      <a:pt x="93880" y="10248"/>
                    </a:cubicBez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  <p:sp>
            <p:nvSpPr>
              <p:cNvPr id="45" name="Freeform 45"/>
              <p:cNvSpPr/>
              <p:nvPr/>
            </p:nvSpPr>
            <p:spPr>
              <a:xfrm>
                <a:off x="838200" y="4396423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</p:grpSp>
        <p:sp>
          <p:nvSpPr>
            <p:cNvPr id="47" name="TextBox 47"/>
            <p:cNvSpPr txBox="1"/>
            <p:nvPr/>
          </p:nvSpPr>
          <p:spPr>
            <a:xfrm>
              <a:off x="1041273" y="4144804"/>
              <a:ext cx="4889754" cy="483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845"/>
                </a:lnSpc>
              </a:pPr>
              <a:r>
                <a:rPr lang="zh-CN" sz="1280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收集到的字符是倒着出来的，最后要整体翻转；相等时必须走左上，</a:t>
              </a:r>
              <a:br/>
              <a:r>
                <a:rPr lang="zh-CN" sz="1280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走左或走上会漏掉这个字符。</a:t>
              </a:r>
            </a:p>
          </p:txBody>
        </p:sp>
      </p:grpSp>
      <p:grpSp>
        <p:nvGrpSpPr>
          <p:cNvPr id="54" name="c1-card-3"/>
          <p:cNvGrpSpPr/>
          <p:nvPr/>
        </p:nvGrpSpPr>
        <p:grpSpPr>
          <a:xfrm>
            <a:off x="533400" y="4868228"/>
            <a:ext cx="5842635" cy="1411605"/>
            <a:chOff x="533400" y="4868228"/>
            <a:chExt cx="5842635" cy="1411605"/>
          </a:xfrm>
        </p:grpSpPr>
        <p:sp>
          <p:nvSpPr>
            <p:cNvPr id="49" name="Rectangle 49"/>
            <p:cNvSpPr/>
            <p:nvPr/>
          </p:nvSpPr>
          <p:spPr>
            <a:xfrm>
              <a:off x="533400" y="4868228"/>
              <a:ext cx="5842635" cy="1411605"/>
            </a:xfrm>
            <a:prstGeom prst="roundRect">
              <a:avLst>
                <a:gd name="adj" fmla="val 9447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50" name="Rectangle 50"/>
            <p:cNvSpPr/>
            <p:nvPr/>
          </p:nvSpPr>
          <p:spPr>
            <a:xfrm>
              <a:off x="542925" y="5001578"/>
              <a:ext cx="47625" cy="1144905"/>
            </a:xfrm>
            <a:prstGeom prst="roundRect">
              <a:avLst>
                <a:gd name="adj" fmla="val 50000"/>
              </a:avLst>
            </a:prstGeom>
            <a:solidFill>
              <a:srgbClr val="14A38B"/>
            </a:solidFill>
            <a:ln>
              <a:noFill/>
            </a:ln>
          </p:spPr>
        </p:sp>
        <p:sp>
          <p:nvSpPr>
            <p:cNvPr id="51" name="TextBox 51"/>
            <p:cNvSpPr txBox="1"/>
            <p:nvPr/>
          </p:nvSpPr>
          <p:spPr>
            <a:xfrm>
              <a:off x="745998" y="5069681"/>
              <a:ext cx="874522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回溯的代价</a:t>
              </a:r>
            </a:p>
          </p:txBody>
        </p:sp>
        <p:sp>
          <p:nvSpPr>
            <p:cNvPr id="52" name="TextBox 52"/>
            <p:cNvSpPr txBox="1"/>
            <p:nvPr/>
          </p:nvSpPr>
          <p:spPr>
            <a:xfrm>
              <a:off x="745998" y="5370671"/>
              <a:ext cx="5166106" cy="49225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12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每走一步 i 或 j 至少减 1，所以回溯最多走 n + m 步，时间 O(n+m)，相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对填表的 O(nm) 可以忽略。</a:t>
              </a:r>
            </a:p>
          </p:txBody>
        </p:sp>
        <p:sp>
          <p:nvSpPr>
            <p:cNvPr id="53" name="TextBox 53"/>
            <p:cNvSpPr txBox="1"/>
            <p:nvPr/>
          </p:nvSpPr>
          <p:spPr>
            <a:xfrm>
              <a:off x="745998" y="5899309"/>
              <a:ext cx="4122633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代价在空间上：必须把整张 (n+1)×(m+1) 的表留着。</a:t>
              </a:r>
            </a:p>
          </p:txBody>
        </p:sp>
      </p:grpSp>
      <p:grpSp>
        <p:nvGrpSpPr>
          <p:cNvPr id="72" name="c2-steps-1"/>
          <p:cNvGrpSpPr/>
          <p:nvPr/>
        </p:nvGrpSpPr>
        <p:grpSpPr>
          <a:xfrm>
            <a:off x="6680835" y="1938338"/>
            <a:ext cx="4722571" cy="2149411"/>
            <a:chOff x="6680835" y="1938338"/>
            <a:chExt cx="4722571" cy="2149411"/>
          </a:xfrm>
        </p:grpSpPr>
        <p:sp>
          <p:nvSpPr>
            <p:cNvPr id="55" name="Rectangle 55"/>
            <p:cNvSpPr/>
            <p:nvPr/>
          </p:nvSpPr>
          <p:spPr>
            <a:xfrm>
              <a:off x="6814185" y="2081212"/>
              <a:ext cx="19050" cy="165925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56" name="Ellipse 56"/>
            <p:cNvSpPr/>
            <p:nvPr/>
          </p:nvSpPr>
          <p:spPr>
            <a:xfrm>
              <a:off x="6680835" y="1938338"/>
              <a:ext cx="285750" cy="285750"/>
            </a:xfrm>
            <a:prstGeom prst="ellipse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57" name="TextBox 57"/>
            <p:cNvSpPr txBox="1"/>
            <p:nvPr/>
          </p:nvSpPr>
          <p:spPr>
            <a:xfrm>
              <a:off x="6774459" y="2012156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58" name="Ellipse 58"/>
            <p:cNvSpPr/>
            <p:nvPr/>
          </p:nvSpPr>
          <p:spPr>
            <a:xfrm>
              <a:off x="6680835" y="2490788"/>
              <a:ext cx="285750" cy="285750"/>
            </a:xfrm>
            <a:prstGeom prst="ellipse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59" name="TextBox 59"/>
            <p:cNvSpPr txBox="1"/>
            <p:nvPr/>
          </p:nvSpPr>
          <p:spPr>
            <a:xfrm>
              <a:off x="6774459" y="2564606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60" name="Ellipse 60"/>
            <p:cNvSpPr/>
            <p:nvPr/>
          </p:nvSpPr>
          <p:spPr>
            <a:xfrm>
              <a:off x="6680835" y="3044190"/>
              <a:ext cx="285750" cy="285750"/>
            </a:xfrm>
            <a:prstGeom prst="ellipse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61" name="TextBox 61"/>
            <p:cNvSpPr txBox="1"/>
            <p:nvPr/>
          </p:nvSpPr>
          <p:spPr>
            <a:xfrm>
              <a:off x="6774459" y="3118009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62" name="Ellipse 62"/>
            <p:cNvSpPr/>
            <p:nvPr/>
          </p:nvSpPr>
          <p:spPr>
            <a:xfrm>
              <a:off x="6680835" y="3597592"/>
              <a:ext cx="285750" cy="285750"/>
            </a:xfrm>
            <a:prstGeom prst="ellipse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63" name="TextBox 63"/>
            <p:cNvSpPr txBox="1"/>
            <p:nvPr/>
          </p:nvSpPr>
          <p:spPr>
            <a:xfrm>
              <a:off x="6774459" y="3671411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64" name="TextBox 64"/>
            <p:cNvSpPr txBox="1"/>
            <p:nvPr/>
          </p:nvSpPr>
          <p:spPr>
            <a:xfrm>
              <a:off x="7093458" y="1968341"/>
              <a:ext cx="104683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从右下角出发</a:t>
              </a:r>
            </a:p>
          </p:txBody>
        </p:sp>
        <p:sp>
          <p:nvSpPr>
            <p:cNvPr id="65" name="TextBox 65"/>
            <p:cNvSpPr txBox="1"/>
            <p:nvPr/>
          </p:nvSpPr>
          <p:spPr>
            <a:xfrm>
              <a:off x="7094601" y="2223135"/>
              <a:ext cx="745693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i = n，j = m</a:t>
              </a:r>
            </a:p>
          </p:txBody>
        </p:sp>
        <p:sp>
          <p:nvSpPr>
            <p:cNvPr id="66" name="TextBox 66"/>
            <p:cNvSpPr txBox="1"/>
            <p:nvPr/>
          </p:nvSpPr>
          <p:spPr>
            <a:xfrm>
              <a:off x="7093458" y="2521744"/>
              <a:ext cx="70220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字符相等</a:t>
              </a:r>
            </a:p>
          </p:txBody>
        </p:sp>
        <p:sp>
          <p:nvSpPr>
            <p:cNvPr id="67" name="TextBox 67"/>
            <p:cNvSpPr txBox="1"/>
            <p:nvPr/>
          </p:nvSpPr>
          <p:spPr>
            <a:xfrm>
              <a:off x="7094601" y="2776538"/>
              <a:ext cx="1897704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把该字符记下，i 和 j 同时减 1</a:t>
              </a:r>
            </a:p>
          </p:txBody>
        </p:sp>
        <p:sp>
          <p:nvSpPr>
            <p:cNvPr id="68" name="TextBox 68"/>
            <p:cNvSpPr txBox="1"/>
            <p:nvPr/>
          </p:nvSpPr>
          <p:spPr>
            <a:xfrm>
              <a:off x="7093458" y="3075146"/>
              <a:ext cx="70220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字符不等</a:t>
              </a:r>
            </a:p>
          </p:txBody>
        </p:sp>
        <p:sp>
          <p:nvSpPr>
            <p:cNvPr id="69" name="TextBox 69"/>
            <p:cNvSpPr txBox="1"/>
            <p:nvPr/>
          </p:nvSpPr>
          <p:spPr>
            <a:xfrm>
              <a:off x="7094601" y="3328988"/>
              <a:ext cx="4308805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比较 LCS[i-1][j] 与 LCS[i][j-1]，往大的那边走；相等时任选一边</a:t>
              </a:r>
            </a:p>
          </p:txBody>
        </p:sp>
        <p:sp>
          <p:nvSpPr>
            <p:cNvPr id="70" name="TextBox 70"/>
            <p:cNvSpPr txBox="1"/>
            <p:nvPr/>
          </p:nvSpPr>
          <p:spPr>
            <a:xfrm>
              <a:off x="7093458" y="3627596"/>
              <a:ext cx="35758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终止</a:t>
              </a:r>
            </a:p>
          </p:txBody>
        </p:sp>
        <p:sp>
          <p:nvSpPr>
            <p:cNvPr id="71" name="TextBox 71"/>
            <p:cNvSpPr txBox="1"/>
            <p:nvPr/>
          </p:nvSpPr>
          <p:spPr>
            <a:xfrm>
              <a:off x="7094601" y="3882390"/>
              <a:ext cx="2964904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i = 0 或 j = 0 时结束，把收集到的字符倒序输出</a:t>
              </a:r>
            </a:p>
          </p:txBody>
        </p:sp>
      </p:grpSp>
      <p:grpSp>
        <p:nvGrpSpPr>
          <p:cNvPr id="80" name="c2-card-2"/>
          <p:cNvGrpSpPr/>
          <p:nvPr/>
        </p:nvGrpSpPr>
        <p:grpSpPr>
          <a:xfrm>
            <a:off x="6680835" y="4249102"/>
            <a:ext cx="4977765" cy="2029778"/>
            <a:chOff x="6680835" y="4249102"/>
            <a:chExt cx="4977765" cy="2029778"/>
          </a:xfrm>
        </p:grpSpPr>
        <p:sp>
          <p:nvSpPr>
            <p:cNvPr id="73" name="Rectangle 73"/>
            <p:cNvSpPr/>
            <p:nvPr/>
          </p:nvSpPr>
          <p:spPr>
            <a:xfrm>
              <a:off x="6680835" y="4249102"/>
              <a:ext cx="4977765" cy="2029778"/>
            </a:xfrm>
            <a:prstGeom prst="roundRect">
              <a:avLst>
                <a:gd name="adj" fmla="val 6570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74" name="Rectangle 74"/>
            <p:cNvSpPr/>
            <p:nvPr/>
          </p:nvSpPr>
          <p:spPr>
            <a:xfrm>
              <a:off x="6690360" y="4382452"/>
              <a:ext cx="47625" cy="1763078"/>
            </a:xfrm>
            <a:prstGeom prst="roundRect">
              <a:avLst>
                <a:gd name="adj" fmla="val 50000"/>
              </a:avLst>
            </a:prstGeom>
            <a:solidFill>
              <a:srgbClr val="5B6475"/>
            </a:solidFill>
            <a:ln>
              <a:noFill/>
            </a:ln>
          </p:spPr>
        </p:sp>
        <p:sp>
          <p:nvSpPr>
            <p:cNvPr id="75" name="Rectangle 75"/>
            <p:cNvSpPr/>
            <p:nvPr/>
          </p:nvSpPr>
          <p:spPr>
            <a:xfrm>
              <a:off x="6899910" y="4430078"/>
              <a:ext cx="458152" cy="238125"/>
            </a:xfrm>
            <a:prstGeom prst="roundRect">
              <a:avLst>
                <a:gd name="adj" fmla="val 50000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76" name="TextBox 76"/>
            <p:cNvSpPr txBox="1"/>
            <p:nvPr/>
          </p:nvSpPr>
          <p:spPr>
            <a:xfrm>
              <a:off x="6992582" y="4462939"/>
              <a:ext cx="273761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说明</a:t>
              </a:r>
            </a:p>
          </p:txBody>
        </p:sp>
        <p:sp>
          <p:nvSpPr>
            <p:cNvPr id="77" name="TextBox 77"/>
            <p:cNvSpPr txBox="1"/>
            <p:nvPr/>
          </p:nvSpPr>
          <p:spPr>
            <a:xfrm>
              <a:off x="7466838" y="4469606"/>
              <a:ext cx="141961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LCS 也可能不唯一</a:t>
              </a:r>
            </a:p>
          </p:txBody>
        </p:sp>
        <p:sp>
          <p:nvSpPr>
            <p:cNvPr id="78" name="TextBox 78"/>
            <p:cNvSpPr txBox="1"/>
            <p:nvPr/>
          </p:nvSpPr>
          <p:spPr>
            <a:xfrm>
              <a:off x="6893433" y="4786789"/>
              <a:ext cx="4402074" cy="49225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12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回溯遇到左右一样大时选哪边都对，得到的是不同的最长公共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子序列，长度相同。</a:t>
              </a:r>
            </a:p>
          </p:txBody>
        </p:sp>
        <p:sp>
          <p:nvSpPr>
            <p:cNvPr id="79" name="TextBox 79"/>
            <p:cNvSpPr txBox="1"/>
            <p:nvPr/>
          </p:nvSpPr>
          <p:spPr>
            <a:xfrm>
              <a:off x="6893433" y="5314474"/>
              <a:ext cx="3808730" cy="49225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12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例：S = xabyckba 与其逆序的 LCS，本讲义程序给出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abyba，源课件第 25 页标的是 abcba，两者都长 5。</a:t>
              </a:r>
            </a:p>
          </p:txBody>
        </p:sp>
      </p:grpSp>
      <p:grpSp>
        <p:nvGrpSpPr>
          <p:cNvPr id="83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81" name="TextBox 81"/>
            <p:cNvSpPr txBox="1"/>
            <p:nvPr/>
          </p:nvSpPr>
          <p:spPr>
            <a:xfrm>
              <a:off x="528447" y="6581299"/>
              <a:ext cx="2120748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数据结构 · 专题1 字符串的模糊匹配</a:t>
              </a:r>
            </a:p>
          </p:txBody>
        </p:sp>
        <p:sp>
          <p:nvSpPr>
            <p:cNvPr id="82" name="TextBox 82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26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2427542" cy="909257"/>
            <a:chOff x="520446" y="342900"/>
            <a:chExt cx="2427542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414588" cy="266700"/>
            </a:xfrm>
            <a:prstGeom prst="roundRect">
              <a:avLst>
                <a:gd name="adj" fmla="val 50000"/>
              </a:avLst>
            </a:prstGeom>
            <a:solidFill>
              <a:srgbClr val="E6EFF9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96156" y="407194"/>
              <a:ext cx="228812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5FA8"/>
                  </a:solidFill>
                  <a:latin typeface="+mn-lt"/>
                  <a:ea typeface="+mn-ea"/>
                  <a:cs typeface="+mn-cs"/>
                </a:rPr>
                <a:t>专题1 模糊匹配 · 最长公共子序列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2236379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LCS 的 C 实现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1F5FA8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11" name="c1-code-1"/>
          <p:cNvGrpSpPr/>
          <p:nvPr/>
        </p:nvGrpSpPr>
        <p:grpSpPr>
          <a:xfrm>
            <a:off x="533400" y="1524000"/>
            <a:ext cx="6276022" cy="3950970"/>
            <a:chOff x="533400" y="1524000"/>
            <a:chExt cx="6276022" cy="3950970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6276022" cy="3950970"/>
            </a:xfrm>
            <a:prstGeom prst="roundRect">
              <a:avLst>
                <a:gd name="adj" fmla="val 2411"/>
              </a:avLst>
            </a:prstGeom>
            <a:solidFill>
              <a:srgbClr val="F6F8FA"/>
            </a:solidFill>
            <a:ln w="11430">
              <a:solidFill>
                <a:srgbClr val="D9DFEA"/>
              </a:solidFill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661797" y="1675924"/>
              <a:ext cx="1867924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8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longestCommonSubsequence</a:t>
              </a:r>
            </a:p>
          </p:txBody>
        </p:sp>
        <p:sp>
          <p:nvSpPr>
            <p:cNvPr id="9" name="Rectangle 9"/>
            <p:cNvSpPr/>
            <p:nvPr/>
          </p:nvSpPr>
          <p:spPr>
            <a:xfrm>
              <a:off x="552450" y="2098358"/>
              <a:ext cx="6237922" cy="202882"/>
            </a:xfrm>
            <a:prstGeom prst="rect">
              <a:avLst/>
            </a:prstGeom>
            <a:solidFill>
              <a:srgbClr val="FDEEE7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661035" y="1937861"/>
              <a:ext cx="4861814" cy="346614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598"/>
                </a:lnSpc>
              </a:pPr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#define N 1010</a:t>
              </a:r>
              <a:br/>
              <a:r>
                <a:rPr lang="en-US" sz="1120" b="1" dirty="0">
                  <a:solidFill>
                    <a:srgbClr val="1F5FA8"/>
                  </a:solidFill>
                  <a:latin typeface="Consolas"/>
                  <a:ea typeface="Consolas"/>
                  <a:cs typeface="Consolas"/>
                </a:rPr>
                <a:t>int</a:t>
              </a:r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LCS[N][N];       </a:t>
              </a:r>
              <a:r>
                <a:rPr lang="zh-CN" sz="1120" dirty="0">
                  <a:solidFill>
                    <a:srgbClr val="0F7A68"/>
                  </a:solidFill>
                  <a:latin typeface="Consolas"/>
                  <a:ea typeface="Microsoft YaHei"/>
                  <a:cs typeface="Consolas"/>
                </a:rPr>
                <a:t>/* 全局：3.89 MB 不能放在栈上 */</a:t>
              </a:r>
              <a:br/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br/>
              <a:r>
                <a:rPr lang="en-US" sz="1120" b="1" dirty="0">
                  <a:solidFill>
                    <a:srgbClr val="1F5FA8"/>
                  </a:solidFill>
                  <a:latin typeface="Consolas"/>
                  <a:ea typeface="Consolas"/>
                  <a:cs typeface="Consolas"/>
                </a:rPr>
                <a:t>int</a:t>
              </a:r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max2(</a:t>
              </a:r>
              <a:r>
                <a:rPr lang="en-US" sz="1120" b="1" dirty="0">
                  <a:solidFill>
                    <a:srgbClr val="1F5FA8"/>
                  </a:solidFill>
                  <a:latin typeface="Consolas"/>
                  <a:ea typeface="Consolas"/>
                  <a:cs typeface="Consolas"/>
                </a:rPr>
                <a:t>int</a:t>
              </a:r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a, </a:t>
              </a:r>
              <a:r>
                <a:rPr lang="en-US" sz="1120" b="1" dirty="0">
                  <a:solidFill>
                    <a:srgbClr val="1F5FA8"/>
                  </a:solidFill>
                  <a:latin typeface="Consolas"/>
                  <a:ea typeface="Consolas"/>
                  <a:cs typeface="Consolas"/>
                </a:rPr>
                <a:t>int</a:t>
              </a:r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b) { </a:t>
              </a:r>
              <a:r>
                <a:rPr lang="en-US" sz="1120" b="1" dirty="0">
                  <a:solidFill>
                    <a:srgbClr val="1F5FA8"/>
                  </a:solidFill>
                  <a:latin typeface="Consolas"/>
                  <a:ea typeface="Consolas"/>
                  <a:cs typeface="Consolas"/>
                </a:rPr>
                <a:t>return</a:t>
              </a:r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a &gt; b ? a : b; }</a:t>
              </a:r>
              <a:br/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br/>
              <a:r>
                <a:rPr lang="en-US" sz="1120" b="1" dirty="0">
                  <a:solidFill>
                    <a:srgbClr val="1F5FA8"/>
                  </a:solidFill>
                  <a:latin typeface="Consolas"/>
                  <a:ea typeface="Consolas"/>
                  <a:cs typeface="Consolas"/>
                </a:rPr>
                <a:t>int</a:t>
              </a:r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longestCommonSubsequence(</a:t>
              </a:r>
              <a:r>
                <a:rPr lang="en-US" sz="1120" b="1" dirty="0">
                  <a:solidFill>
                    <a:srgbClr val="1F5FA8"/>
                  </a:solidFill>
                  <a:latin typeface="Consolas"/>
                  <a:ea typeface="Consolas"/>
                  <a:cs typeface="Consolas"/>
                </a:rPr>
                <a:t>char</a:t>
              </a:r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*s, </a:t>
              </a:r>
              <a:r>
                <a:rPr lang="en-US" sz="1120" b="1" dirty="0">
                  <a:solidFill>
                    <a:srgbClr val="1F5FA8"/>
                  </a:solidFill>
                  <a:latin typeface="Consolas"/>
                  <a:ea typeface="Consolas"/>
                  <a:cs typeface="Consolas"/>
                </a:rPr>
                <a:t>char</a:t>
              </a:r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*p, </a:t>
              </a:r>
              <a:r>
                <a:rPr lang="en-US" sz="1120" b="1" dirty="0">
                  <a:solidFill>
                    <a:srgbClr val="1F5FA8"/>
                  </a:solidFill>
                  <a:latin typeface="Consolas"/>
                  <a:ea typeface="Consolas"/>
                  <a:cs typeface="Consolas"/>
                </a:rPr>
                <a:t>int</a:t>
              </a:r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n, </a:t>
              </a:r>
              <a:r>
                <a:rPr lang="en-US" sz="1120" b="1" dirty="0">
                  <a:solidFill>
                    <a:srgbClr val="1F5FA8"/>
                  </a:solidFill>
                  <a:latin typeface="Consolas"/>
                  <a:ea typeface="Consolas"/>
                  <a:cs typeface="Consolas"/>
                </a:rPr>
                <a:t>int</a:t>
              </a:r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m) {</a:t>
              </a:r>
              <a:br/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</a:t>
              </a:r>
              <a:r>
                <a:rPr lang="en-US" sz="1120" b="1" dirty="0">
                  <a:solidFill>
                    <a:srgbClr val="1F5FA8"/>
                  </a:solidFill>
                  <a:latin typeface="Consolas"/>
                  <a:ea typeface="Consolas"/>
                  <a:cs typeface="Consolas"/>
                </a:rPr>
                <a:t>int</a:t>
              </a:r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i, j;</a:t>
              </a:r>
              <a:br/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</a:t>
              </a:r>
              <a:r>
                <a:rPr lang="en-US" sz="1120" b="1" dirty="0">
                  <a:solidFill>
                    <a:srgbClr val="1F5FA8"/>
                  </a:solidFill>
                  <a:latin typeface="Consolas"/>
                  <a:ea typeface="Consolas"/>
                  <a:cs typeface="Consolas"/>
                </a:rPr>
                <a:t>for</a:t>
              </a:r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(i = 0; i &lt;= n; i++) LCS[i][0] = 0;   </a:t>
              </a:r>
              <a:r>
                <a:rPr lang="zh-CN" sz="1120" dirty="0">
                  <a:solidFill>
                    <a:srgbClr val="0F7A68"/>
                  </a:solidFill>
                  <a:latin typeface="Consolas"/>
                  <a:ea typeface="Microsoft YaHei"/>
                  <a:cs typeface="Consolas"/>
                </a:rPr>
                <a:t>/* 第 0 列 */</a:t>
              </a:r>
              <a:br/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</a:t>
              </a:r>
              <a:r>
                <a:rPr lang="en-US" sz="1120" b="1" dirty="0">
                  <a:solidFill>
                    <a:srgbClr val="1F5FA8"/>
                  </a:solidFill>
                  <a:latin typeface="Consolas"/>
                  <a:ea typeface="Consolas"/>
                  <a:cs typeface="Consolas"/>
                </a:rPr>
                <a:t>for</a:t>
              </a:r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(j = 0; j &lt;= m; j++) LCS[0][j] = 0;   </a:t>
              </a:r>
              <a:r>
                <a:rPr lang="zh-CN" sz="1120" dirty="0">
                  <a:solidFill>
                    <a:srgbClr val="0F7A68"/>
                  </a:solidFill>
                  <a:latin typeface="Consolas"/>
                  <a:ea typeface="Microsoft YaHei"/>
                  <a:cs typeface="Consolas"/>
                </a:rPr>
                <a:t>/* 第 0 行 */</a:t>
              </a:r>
              <a:br/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</a:t>
              </a:r>
              <a:r>
                <a:rPr lang="en-US" sz="1120" b="1" dirty="0">
                  <a:solidFill>
                    <a:srgbClr val="1F5FA8"/>
                  </a:solidFill>
                  <a:latin typeface="Consolas"/>
                  <a:ea typeface="Consolas"/>
                  <a:cs typeface="Consolas"/>
                </a:rPr>
                <a:t>for</a:t>
              </a:r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(i = 1; i &lt;= n; i++)</a:t>
              </a:r>
              <a:br/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1120" b="1" dirty="0">
                  <a:solidFill>
                    <a:srgbClr val="1F5FA8"/>
                  </a:solidFill>
                  <a:latin typeface="Consolas"/>
                  <a:ea typeface="Consolas"/>
                  <a:cs typeface="Consolas"/>
                </a:rPr>
                <a:t>for</a:t>
              </a:r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(j = 1; j &lt;= m; j++)</a:t>
              </a:r>
              <a:br/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</a:t>
              </a:r>
              <a:r>
                <a:rPr lang="en-US" sz="1120" b="1" dirty="0">
                  <a:solidFill>
                    <a:srgbClr val="1F5FA8"/>
                  </a:solidFill>
                  <a:latin typeface="Consolas"/>
                  <a:ea typeface="Consolas"/>
                  <a:cs typeface="Consolas"/>
                </a:rPr>
                <a:t>if</a:t>
              </a:r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(s[i-1] == p[j-1])</a:t>
              </a:r>
              <a:br/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LCS[i][j] = LCS[i-1][j-1] + 1;</a:t>
              </a:r>
              <a:br/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</a:t>
              </a:r>
              <a:r>
                <a:rPr lang="en-US" sz="1120" b="1" dirty="0">
                  <a:solidFill>
                    <a:srgbClr val="1F5FA8"/>
                  </a:solidFill>
                  <a:latin typeface="Consolas"/>
                  <a:ea typeface="Consolas"/>
                  <a:cs typeface="Consolas"/>
                </a:rPr>
                <a:t>else</a:t>
              </a:r>
              <a:br/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LCS[i][j] = max2(LCS[i][j-1], LCS[i-1][j]);</a:t>
              </a:r>
              <a:br/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</a:t>
              </a:r>
              <a:r>
                <a:rPr lang="en-US" sz="1120" b="1" dirty="0">
                  <a:solidFill>
                    <a:srgbClr val="1F5FA8"/>
                  </a:solidFill>
                  <a:latin typeface="Consolas"/>
                  <a:ea typeface="Consolas"/>
                  <a:cs typeface="Consolas"/>
                </a:rPr>
                <a:t>return</a:t>
              </a:r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LCS[n][m];</a:t>
              </a:r>
              <a:br/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}</a:t>
              </a:r>
            </a:p>
          </p:txBody>
        </p:sp>
      </p:grpSp>
      <p:grpSp>
        <p:nvGrpSpPr>
          <p:cNvPr id="20" name="c2-card-1"/>
          <p:cNvGrpSpPr/>
          <p:nvPr/>
        </p:nvGrpSpPr>
        <p:grpSpPr>
          <a:xfrm>
            <a:off x="7114222" y="1524000"/>
            <a:ext cx="4544378" cy="3148965"/>
            <a:chOff x="7114222" y="1524000"/>
            <a:chExt cx="4544378" cy="3148965"/>
          </a:xfrm>
        </p:grpSpPr>
        <p:sp>
          <p:nvSpPr>
            <p:cNvPr id="12" name="Rectangle 12"/>
            <p:cNvSpPr/>
            <p:nvPr/>
          </p:nvSpPr>
          <p:spPr>
            <a:xfrm>
              <a:off x="7114222" y="1524000"/>
              <a:ext cx="4544378" cy="3148965"/>
            </a:xfrm>
            <a:prstGeom prst="roundRect">
              <a:avLst>
                <a:gd name="adj" fmla="val 4235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13" name="Rectangle 13"/>
            <p:cNvSpPr/>
            <p:nvPr/>
          </p:nvSpPr>
          <p:spPr>
            <a:xfrm>
              <a:off x="7123748" y="1657350"/>
              <a:ext cx="47625" cy="2882265"/>
            </a:xfrm>
            <a:prstGeom prst="roundRect">
              <a:avLst>
                <a:gd name="adj" fmla="val 50000"/>
              </a:avLst>
            </a:prstGeom>
            <a:solidFill>
              <a:srgbClr val="5B6475"/>
            </a:solidFill>
            <a:ln>
              <a:noFill/>
            </a:ln>
          </p:spPr>
        </p:sp>
        <p:sp>
          <p:nvSpPr>
            <p:cNvPr id="14" name="Rectangle 14"/>
            <p:cNvSpPr/>
            <p:nvPr/>
          </p:nvSpPr>
          <p:spPr>
            <a:xfrm>
              <a:off x="7361872" y="1733550"/>
              <a:ext cx="494348" cy="257175"/>
            </a:xfrm>
            <a:prstGeom prst="roundRect">
              <a:avLst>
                <a:gd name="adj" fmla="val 50000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7452081" y="1769269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更正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7961948" y="1768792"/>
              <a:ext cx="203454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两处照抄会出事的地方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7354252" y="2129790"/>
              <a:ext cx="3834765" cy="8648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 xml:space="preserve">更正：原课件第 23 页把 </a:t>
              </a:r>
              <a:r>
                <a:rPr lang="en-US" sz="1500" dirty="0">
                  <a:solidFill>
                    <a:srgbClr val="174A85"/>
                  </a:solidFill>
                  <a:latin typeface="+mn-lt"/>
                  <a:ea typeface="+mn-ea"/>
                  <a:cs typeface="+mn-cs"/>
                </a:rPr>
                <a:t>int LCS[N][N]</a:t>
              </a: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（N =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 xml:space="preserve">1010）写在函数体内。这个局部数组占 </a:t>
              </a:r>
              <a:r>
                <a:rPr lang="zh-CN" sz="1500" b="1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3.89</a:t>
              </a:r>
              <a:br/>
              <a:r>
                <a:rPr lang="en-US" sz="1500" b="1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MB</a:t>
              </a: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，超过 MSVC 默认的 1 MB 线程栈。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7354252" y="3036570"/>
              <a:ext cx="3787140" cy="8648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实测：用 1 MB 栈链接后运行立刻收到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0xC00000FD（STACK_OVERFLOW）。改成全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局、static 或 malloc 即可。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7354252" y="3943350"/>
              <a:ext cx="3891915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 xml:space="preserve">更正：同页的 </a:t>
              </a:r>
              <a:r>
                <a:rPr lang="en-US" sz="1500" dirty="0">
                  <a:solidFill>
                    <a:srgbClr val="174A85"/>
                  </a:solidFill>
                  <a:latin typeface="+mn-lt"/>
                  <a:ea typeface="+mn-ea"/>
                  <a:cs typeface="+mn-cs"/>
                </a:rPr>
                <a:t>max</a:t>
              </a: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 xml:space="preserve"> 和第 14 页的 </a:t>
              </a:r>
              <a:r>
                <a:rPr lang="en-US" sz="1500" dirty="0">
                  <a:solidFill>
                    <a:srgbClr val="174A85"/>
                  </a:solidFill>
                  <a:latin typeface="+mn-lt"/>
                  <a:ea typeface="+mn-ea"/>
                  <a:cs typeface="+mn-cs"/>
                </a:rPr>
                <a:t>min</a:t>
              </a: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 xml:space="preserve"> 一样，标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准 C 里没有，需自行定义。</a:t>
              </a:r>
            </a:p>
          </p:txBody>
        </p:sp>
      </p:grpSp>
      <p:grpSp>
        <p:nvGrpSpPr>
          <p:cNvPr id="27" name="c2-callout-2"/>
          <p:cNvGrpSpPr/>
          <p:nvPr/>
        </p:nvGrpSpPr>
        <p:grpSpPr>
          <a:xfrm>
            <a:off x="7114222" y="4863465"/>
            <a:ext cx="4544378" cy="782955"/>
            <a:chOff x="7114222" y="4863465"/>
            <a:chExt cx="4544378" cy="782955"/>
          </a:xfrm>
        </p:grpSpPr>
        <p:sp>
          <p:nvSpPr>
            <p:cNvPr id="21" name="Rectangle 21"/>
            <p:cNvSpPr/>
            <p:nvPr/>
          </p:nvSpPr>
          <p:spPr>
            <a:xfrm>
              <a:off x="7114222" y="4863465"/>
              <a:ext cx="4544378" cy="782955"/>
            </a:xfrm>
            <a:prstGeom prst="roundRect">
              <a:avLst>
                <a:gd name="adj" fmla="val 14599"/>
              </a:avLst>
            </a:prstGeom>
            <a:solidFill>
              <a:srgbClr val="FDEEE7"/>
            </a:solidFill>
            <a:ln>
              <a:noFill/>
            </a:ln>
          </p:spPr>
        </p:sp>
        <p:grpSp>
          <p:nvGrpSpPr>
            <p:cNvPr id="25" name="Group 25"/>
            <p:cNvGrpSpPr/>
            <p:nvPr/>
          </p:nvGrpSpPr>
          <p:grpSpPr>
            <a:xfrm>
              <a:off x="7319010" y="5154930"/>
              <a:ext cx="200026" cy="200025"/>
              <a:chOff x="7319010" y="5154930"/>
              <a:chExt cx="200026" cy="200025"/>
            </a:xfrm>
          </p:grpSpPr>
          <p:sp>
            <p:nvSpPr>
              <p:cNvPr id="22" name="Freeform 22"/>
              <p:cNvSpPr/>
              <p:nvPr/>
            </p:nvSpPr>
            <p:spPr>
              <a:xfrm>
                <a:off x="7319010" y="5154930"/>
                <a:ext cx="200026" cy="100013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100013">
                    <a:moveTo>
                      <a:pt x="0" y="100013"/>
                    </a:moveTo>
                    <a:lnTo>
                      <a:pt x="11113" y="100013"/>
                    </a:lnTo>
                    <a:moveTo>
                      <a:pt x="100013" y="0"/>
                    </a:moveTo>
                    <a:lnTo>
                      <a:pt x="100013" y="11113"/>
                    </a:lnTo>
                    <a:moveTo>
                      <a:pt x="188913" y="100013"/>
                    </a:moveTo>
                    <a:lnTo>
                      <a:pt x="200026" y="100013"/>
                    </a:lnTo>
                    <a:moveTo>
                      <a:pt x="28893" y="28893"/>
                    </a:moveTo>
                    <a:lnTo>
                      <a:pt x="36671" y="36671"/>
                    </a:lnTo>
                    <a:moveTo>
                      <a:pt x="171133" y="28893"/>
                    </a:moveTo>
                    <a:lnTo>
                      <a:pt x="163354" y="36671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23" name="Freeform 23"/>
              <p:cNvSpPr/>
              <p:nvPr/>
            </p:nvSpPr>
            <p:spPr>
              <a:xfrm>
                <a:off x="7358749" y="5199380"/>
                <a:ext cx="120548" cy="155575"/>
              </a:xfrm>
              <a:custGeom>
                <a:avLst/>
                <a:gdLst/>
                <a:ahLst/>
                <a:cxnLst/>
                <a:rect l="l" t="t" r="r" b="b"/>
                <a:pathLst>
                  <a:path w="120548" h="155575">
                    <a:moveTo>
                      <a:pt x="26937" y="100013"/>
                    </a:moveTo>
                    <a:cubicBezTo>
                      <a:pt x="7804" y="85663"/>
                      <a:pt x="0" y="60681"/>
                      <a:pt x="7563" y="37992"/>
                    </a:cubicBezTo>
                    <a:cubicBezTo>
                      <a:pt x="15126" y="15304"/>
                      <a:pt x="36358" y="0"/>
                      <a:pt x="60274" y="0"/>
                    </a:cubicBezTo>
                    <a:cubicBezTo>
                      <a:pt x="84190" y="0"/>
                      <a:pt x="105423" y="15304"/>
                      <a:pt x="112986" y="37992"/>
                    </a:cubicBezTo>
                    <a:cubicBezTo>
                      <a:pt x="120548" y="60681"/>
                      <a:pt x="112745" y="85663"/>
                      <a:pt x="93612" y="100013"/>
                    </a:cubicBezTo>
                    <a:cubicBezTo>
                      <a:pt x="84812" y="108723"/>
                      <a:pt x="80686" y="121103"/>
                      <a:pt x="82499" y="133350"/>
                    </a:cubicBezTo>
                    <a:cubicBezTo>
                      <a:pt x="82499" y="145625"/>
                      <a:pt x="72549" y="155575"/>
                      <a:pt x="60274" y="155575"/>
                    </a:cubicBezTo>
                    <a:cubicBezTo>
                      <a:pt x="48000" y="155575"/>
                      <a:pt x="38049" y="145625"/>
                      <a:pt x="38049" y="133350"/>
                    </a:cubicBezTo>
                    <a:cubicBezTo>
                      <a:pt x="39862" y="121103"/>
                      <a:pt x="35736" y="108723"/>
                      <a:pt x="26937" y="100013"/>
                    </a:cubicBez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24" name="Freeform 24"/>
              <p:cNvSpPr/>
              <p:nvPr/>
            </p:nvSpPr>
            <p:spPr>
              <a:xfrm>
                <a:off x="7393464" y="5310506"/>
                <a:ext cx="51118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51118" h="9525">
                    <a:moveTo>
                      <a:pt x="0" y="0"/>
                    </a:moveTo>
                    <a:lnTo>
                      <a:pt x="51118" y="0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</p:grpSp>
        <p:sp>
          <p:nvSpPr>
            <p:cNvPr id="26" name="TextBox 26"/>
            <p:cNvSpPr txBox="1"/>
            <p:nvPr/>
          </p:nvSpPr>
          <p:spPr>
            <a:xfrm>
              <a:off x="7620952" y="5012055"/>
              <a:ext cx="3529965" cy="56959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75"/>
                </a:lnSpc>
              </a:pPr>
              <a:r>
                <a:rPr lang="zh-CN" sz="150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时间同样是 O(nm)；只求长度时也能用滚</a:t>
              </a:r>
              <a:br/>
              <a:r>
                <a:rPr lang="zh-CN" sz="150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动数组压到 O(min(n, m)) 的空间。</a:t>
              </a:r>
            </a:p>
          </p:txBody>
        </p:sp>
      </p:grpSp>
      <p:grpSp>
        <p:nvGrpSpPr>
          <p:cNvPr id="30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28" name="TextBox 28"/>
            <p:cNvSpPr txBox="1"/>
            <p:nvPr/>
          </p:nvSpPr>
          <p:spPr>
            <a:xfrm>
              <a:off x="528447" y="6581299"/>
              <a:ext cx="2120748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数据结构 · 专题1 字符串的模糊匹配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27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4658906" cy="909257"/>
            <a:chOff x="520446" y="342900"/>
            <a:chExt cx="4658906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414588" cy="266700"/>
            </a:xfrm>
            <a:prstGeom prst="roundRect">
              <a:avLst>
                <a:gd name="adj" fmla="val 50000"/>
              </a:avLst>
            </a:prstGeom>
            <a:solidFill>
              <a:srgbClr val="E6EFF9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96156" y="407194"/>
              <a:ext cx="228812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5FA8"/>
                  </a:solidFill>
                  <a:latin typeface="+mn-lt"/>
                  <a:ea typeface="+mn-ea"/>
                  <a:cs typeface="+mn-cs"/>
                </a:rPr>
                <a:t>专题1 模糊匹配 · 最长公共子序列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4658906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编辑距离与 LCS 可以互相换算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1F5FA8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14" name="c1-card-1"/>
          <p:cNvGrpSpPr/>
          <p:nvPr/>
        </p:nvGrpSpPr>
        <p:grpSpPr>
          <a:xfrm>
            <a:off x="533400" y="1524000"/>
            <a:ext cx="4760595" cy="2242185"/>
            <a:chOff x="533400" y="1524000"/>
            <a:chExt cx="4760595" cy="2242185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4760595" cy="2242185"/>
            </a:xfrm>
            <a:prstGeom prst="roundRect">
              <a:avLst>
                <a:gd name="adj" fmla="val 5947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8" name="Rectangle 8"/>
            <p:cNvSpPr/>
            <p:nvPr/>
          </p:nvSpPr>
          <p:spPr>
            <a:xfrm>
              <a:off x="542925" y="1657350"/>
              <a:ext cx="47625" cy="1975485"/>
            </a:xfrm>
            <a:prstGeom prst="roundRect">
              <a:avLst>
                <a:gd name="adj" fmla="val 50000"/>
              </a:avLst>
            </a:prstGeom>
            <a:solidFill>
              <a:srgbClr val="F26B3A"/>
            </a:solidFill>
            <a:ln>
              <a:noFill/>
            </a:ln>
          </p:spPr>
        </p:sp>
        <p:sp>
          <p:nvSpPr>
            <p:cNvPr id="9" name="Rectangle 9"/>
            <p:cNvSpPr/>
            <p:nvPr/>
          </p:nvSpPr>
          <p:spPr>
            <a:xfrm>
              <a:off x="781050" y="1733550"/>
              <a:ext cx="494348" cy="257175"/>
            </a:xfrm>
            <a:prstGeom prst="roundRect">
              <a:avLst>
                <a:gd name="adj" fmla="val 50000"/>
              </a:avLst>
            </a:prstGeom>
            <a:solidFill>
              <a:srgbClr val="FDEEE7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871258" y="1769269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定理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1382078" y="1768792"/>
              <a:ext cx="183261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只允许插入和删除时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773430" y="2129790"/>
              <a:ext cx="401574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把替换这一种操作去掉，只留插入和删除，最少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 xml:space="preserve">操作数就是 </a:t>
              </a:r>
              <a:r>
                <a:rPr lang="en-US" sz="150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n + m - 2·LCS</a:t>
              </a: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。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773430" y="2750820"/>
              <a:ext cx="3910965" cy="8648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理由：两串共同保留下来的部分必是公共子序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列，S 删 n - k 个、P 删 m - k 个，k 取最大即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LCS。</a:t>
              </a:r>
            </a:p>
          </p:txBody>
        </p:sp>
      </p:grpSp>
      <p:grpSp>
        <p:nvGrpSpPr>
          <p:cNvPr id="21" name="c1-card-2"/>
          <p:cNvGrpSpPr/>
          <p:nvPr/>
        </p:nvGrpSpPr>
        <p:grpSpPr>
          <a:xfrm>
            <a:off x="533400" y="3956685"/>
            <a:ext cx="4760595" cy="1682115"/>
            <a:chOff x="533400" y="3956685"/>
            <a:chExt cx="4760595" cy="1682115"/>
          </a:xfrm>
        </p:grpSpPr>
        <p:sp>
          <p:nvSpPr>
            <p:cNvPr id="15" name="Rectangle 15"/>
            <p:cNvSpPr/>
            <p:nvPr/>
          </p:nvSpPr>
          <p:spPr>
            <a:xfrm>
              <a:off x="533400" y="3956685"/>
              <a:ext cx="4760595" cy="1682115"/>
            </a:xfrm>
            <a:prstGeom prst="roundRect">
              <a:avLst>
                <a:gd name="adj" fmla="val 7928"/>
              </a:avLst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16" name="Rectangle 16"/>
            <p:cNvSpPr/>
            <p:nvPr/>
          </p:nvSpPr>
          <p:spPr>
            <a:xfrm>
              <a:off x="742950" y="4166235"/>
              <a:ext cx="494348" cy="257175"/>
            </a:xfrm>
            <a:prstGeom prst="roundRect">
              <a:avLst>
                <a:gd name="adj" fmla="val 50000"/>
              </a:avLst>
            </a:prstGeom>
            <a:solidFill>
              <a:srgbClr val="174A85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833158" y="4201954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夹逼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343978" y="4201478"/>
              <a:ext cx="183261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允许替换时的上下界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735330" y="4562475"/>
              <a:ext cx="3838015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max(n, m) - LCS ≤ Dist ≤ n + m - 2·LCS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736473" y="4894421"/>
              <a:ext cx="4093210" cy="483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845"/>
                </a:lnSpc>
              </a:pPr>
              <a:r>
                <a:rPr lang="zh-CN" sz="128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30000 组随机串验证无反例。intention 与 execution 的</a:t>
              </a:r>
              <a:br/>
              <a:r>
                <a:rPr lang="zh-CN" sz="128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Dist = 5，两头都没取到。</a:t>
              </a:r>
            </a:p>
          </p:txBody>
        </p:sp>
      </p:grpSp>
      <p:grpSp>
        <p:nvGrpSpPr>
          <p:cNvPr id="82" name="c2-table-1"/>
          <p:cNvGrpSpPr/>
          <p:nvPr/>
        </p:nvGrpSpPr>
        <p:grpSpPr>
          <a:xfrm>
            <a:off x="5598795" y="1524000"/>
            <a:ext cx="6059805" cy="3141346"/>
            <a:chOff x="5598795" y="1524000"/>
            <a:chExt cx="6059805" cy="3141346"/>
          </a:xfrm>
        </p:grpSpPr>
        <p:sp>
          <p:nvSpPr>
            <p:cNvPr id="22" name="Rectangle 22"/>
            <p:cNvSpPr/>
            <p:nvPr/>
          </p:nvSpPr>
          <p:spPr>
            <a:xfrm>
              <a:off x="5598795" y="1524000"/>
              <a:ext cx="6059805" cy="448628"/>
            </a:xfrm>
            <a:prstGeom prst="rect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23" name="TextBox 23"/>
            <p:cNvSpPr txBox="1"/>
            <p:nvPr/>
          </p:nvSpPr>
          <p:spPr>
            <a:xfrm>
              <a:off x="6146489" y="1659731"/>
              <a:ext cx="11809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S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358069" y="1659731"/>
              <a:ext cx="11809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P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8282577" y="1659731"/>
              <a:ext cx="32838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LCS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9116657" y="1659731"/>
              <a:ext cx="35758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下界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10018753" y="1659731"/>
              <a:ext cx="370759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Dist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10908830" y="1659731"/>
              <a:ext cx="52989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只增删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5706618" y="2108359"/>
              <a:ext cx="510510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axbce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6919151" y="2108359"/>
              <a:ext cx="48681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abcfe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8392907" y="2108359"/>
              <a:ext cx="10772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9241584" y="2108359"/>
              <a:ext cx="10772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10150269" y="2108359"/>
              <a:ext cx="10772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11119914" y="2108359"/>
              <a:ext cx="10772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35" name="Rectangle 35"/>
            <p:cNvSpPr/>
            <p:nvPr/>
          </p:nvSpPr>
          <p:spPr>
            <a:xfrm>
              <a:off x="5598795" y="2416492"/>
              <a:ext cx="605980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6" name="Rectangle 36"/>
            <p:cNvSpPr/>
            <p:nvPr/>
          </p:nvSpPr>
          <p:spPr>
            <a:xfrm>
              <a:off x="5598795" y="2421255"/>
              <a:ext cx="6059805" cy="448628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5706618" y="2556986"/>
              <a:ext cx="311487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abc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6919151" y="2556986"/>
              <a:ext cx="29727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cba</a:t>
              </a: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8392907" y="2556986"/>
              <a:ext cx="10772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9241584" y="2556986"/>
              <a:ext cx="10772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10150269" y="2556986"/>
              <a:ext cx="10772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42" name="Rectangle 42"/>
            <p:cNvSpPr/>
            <p:nvPr/>
          </p:nvSpPr>
          <p:spPr>
            <a:xfrm>
              <a:off x="10698480" y="2430780"/>
              <a:ext cx="950595" cy="429578"/>
            </a:xfrm>
            <a:prstGeom prst="rect">
              <a:avLst/>
            </a:prstGeom>
            <a:solidFill>
              <a:srgbClr val="FDECEA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11119914" y="2556986"/>
              <a:ext cx="10772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44" name="Rectangle 44"/>
            <p:cNvSpPr/>
            <p:nvPr/>
          </p:nvSpPr>
          <p:spPr>
            <a:xfrm>
              <a:off x="5598795" y="2866072"/>
              <a:ext cx="605980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5706618" y="3005614"/>
              <a:ext cx="32838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ABC</a:t>
              </a:r>
            </a:p>
          </p:txBody>
        </p:sp>
        <p:sp>
          <p:nvSpPr>
            <p:cNvPr id="46" name="TextBox 46"/>
            <p:cNvSpPr txBox="1"/>
            <p:nvPr/>
          </p:nvSpPr>
          <p:spPr>
            <a:xfrm>
              <a:off x="6919151" y="3005614"/>
              <a:ext cx="31336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BCD</a:t>
              </a:r>
            </a:p>
          </p:txBody>
        </p:sp>
        <p:sp>
          <p:nvSpPr>
            <p:cNvPr id="47" name="TextBox 47"/>
            <p:cNvSpPr txBox="1"/>
            <p:nvPr/>
          </p:nvSpPr>
          <p:spPr>
            <a:xfrm>
              <a:off x="8392907" y="3005614"/>
              <a:ext cx="10772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48" name="TextBox 48"/>
            <p:cNvSpPr txBox="1"/>
            <p:nvPr/>
          </p:nvSpPr>
          <p:spPr>
            <a:xfrm>
              <a:off x="9241584" y="3005614"/>
              <a:ext cx="10772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49" name="TextBox 49"/>
            <p:cNvSpPr txBox="1"/>
            <p:nvPr/>
          </p:nvSpPr>
          <p:spPr>
            <a:xfrm>
              <a:off x="10150269" y="3005614"/>
              <a:ext cx="10772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50" name="TextBox 50"/>
            <p:cNvSpPr txBox="1"/>
            <p:nvPr/>
          </p:nvSpPr>
          <p:spPr>
            <a:xfrm>
              <a:off x="11119914" y="3005614"/>
              <a:ext cx="10772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51" name="Rectangle 51"/>
            <p:cNvSpPr/>
            <p:nvPr/>
          </p:nvSpPr>
          <p:spPr>
            <a:xfrm>
              <a:off x="5598795" y="3314700"/>
              <a:ext cx="605980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52" name="Rectangle 52"/>
            <p:cNvSpPr/>
            <p:nvPr/>
          </p:nvSpPr>
          <p:spPr>
            <a:xfrm>
              <a:off x="5598795" y="3319462"/>
              <a:ext cx="6059805" cy="448628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53" name="TextBox 53"/>
            <p:cNvSpPr txBox="1"/>
            <p:nvPr/>
          </p:nvSpPr>
          <p:spPr>
            <a:xfrm>
              <a:off x="5706618" y="3454241"/>
              <a:ext cx="509997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FOOD</a:t>
              </a:r>
            </a:p>
          </p:txBody>
        </p:sp>
        <p:sp>
          <p:nvSpPr>
            <p:cNvPr id="54" name="TextBox 54"/>
            <p:cNvSpPr txBox="1"/>
            <p:nvPr/>
          </p:nvSpPr>
          <p:spPr>
            <a:xfrm>
              <a:off x="6919151" y="3454241"/>
              <a:ext cx="58646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MONEY</a:t>
              </a:r>
            </a:p>
          </p:txBody>
        </p:sp>
        <p:sp>
          <p:nvSpPr>
            <p:cNvPr id="55" name="TextBox 55"/>
            <p:cNvSpPr txBox="1"/>
            <p:nvPr/>
          </p:nvSpPr>
          <p:spPr>
            <a:xfrm>
              <a:off x="8392907" y="3454241"/>
              <a:ext cx="10772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56" name="TextBox 56"/>
            <p:cNvSpPr txBox="1"/>
            <p:nvPr/>
          </p:nvSpPr>
          <p:spPr>
            <a:xfrm>
              <a:off x="9241584" y="3454241"/>
              <a:ext cx="10772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57" name="TextBox 57"/>
            <p:cNvSpPr txBox="1"/>
            <p:nvPr/>
          </p:nvSpPr>
          <p:spPr>
            <a:xfrm>
              <a:off x="10150269" y="3454241"/>
              <a:ext cx="10772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58" name="Rectangle 58"/>
            <p:cNvSpPr/>
            <p:nvPr/>
          </p:nvSpPr>
          <p:spPr>
            <a:xfrm>
              <a:off x="10698480" y="3328988"/>
              <a:ext cx="950595" cy="429578"/>
            </a:xfrm>
            <a:prstGeom prst="rect">
              <a:avLst/>
            </a:prstGeom>
            <a:solidFill>
              <a:srgbClr val="FDECEA"/>
            </a:solidFill>
            <a:ln>
              <a:noFill/>
            </a:ln>
          </p:spPr>
        </p:sp>
        <p:sp>
          <p:nvSpPr>
            <p:cNvPr id="59" name="TextBox 59"/>
            <p:cNvSpPr txBox="1"/>
            <p:nvPr/>
          </p:nvSpPr>
          <p:spPr>
            <a:xfrm>
              <a:off x="11119914" y="3454241"/>
              <a:ext cx="10772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7</a:t>
              </a:r>
            </a:p>
          </p:txBody>
        </p:sp>
        <p:sp>
          <p:nvSpPr>
            <p:cNvPr id="60" name="Rectangle 60"/>
            <p:cNvSpPr/>
            <p:nvPr/>
          </p:nvSpPr>
          <p:spPr>
            <a:xfrm>
              <a:off x="5598795" y="3763328"/>
              <a:ext cx="605980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61" name="TextBox 61"/>
            <p:cNvSpPr txBox="1"/>
            <p:nvPr/>
          </p:nvSpPr>
          <p:spPr>
            <a:xfrm>
              <a:off x="5706618" y="3903821"/>
              <a:ext cx="56478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kitten</a:t>
              </a:r>
            </a:p>
          </p:txBody>
        </p:sp>
        <p:sp>
          <p:nvSpPr>
            <p:cNvPr id="62" name="TextBox 62"/>
            <p:cNvSpPr txBox="1"/>
            <p:nvPr/>
          </p:nvSpPr>
          <p:spPr>
            <a:xfrm>
              <a:off x="6919151" y="3903821"/>
              <a:ext cx="59020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sitting</a:t>
              </a:r>
            </a:p>
          </p:txBody>
        </p:sp>
        <p:sp>
          <p:nvSpPr>
            <p:cNvPr id="63" name="TextBox 63"/>
            <p:cNvSpPr txBox="1"/>
            <p:nvPr/>
          </p:nvSpPr>
          <p:spPr>
            <a:xfrm>
              <a:off x="8392907" y="3903821"/>
              <a:ext cx="10772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64" name="TextBox 64"/>
            <p:cNvSpPr txBox="1"/>
            <p:nvPr/>
          </p:nvSpPr>
          <p:spPr>
            <a:xfrm>
              <a:off x="9241584" y="3903821"/>
              <a:ext cx="10772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65" name="TextBox 65"/>
            <p:cNvSpPr txBox="1"/>
            <p:nvPr/>
          </p:nvSpPr>
          <p:spPr>
            <a:xfrm>
              <a:off x="10150269" y="3903821"/>
              <a:ext cx="10772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66" name="TextBox 66"/>
            <p:cNvSpPr txBox="1"/>
            <p:nvPr/>
          </p:nvSpPr>
          <p:spPr>
            <a:xfrm>
              <a:off x="11119914" y="3903821"/>
              <a:ext cx="10772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5</a:t>
              </a:r>
            </a:p>
          </p:txBody>
        </p:sp>
        <p:sp>
          <p:nvSpPr>
            <p:cNvPr id="67" name="Rectangle 67"/>
            <p:cNvSpPr/>
            <p:nvPr/>
          </p:nvSpPr>
          <p:spPr>
            <a:xfrm>
              <a:off x="5598795" y="4211955"/>
              <a:ext cx="605980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68" name="Rectangle 68"/>
            <p:cNvSpPr/>
            <p:nvPr/>
          </p:nvSpPr>
          <p:spPr>
            <a:xfrm>
              <a:off x="5598795" y="4216718"/>
              <a:ext cx="6059805" cy="448628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69" name="TextBox 69"/>
            <p:cNvSpPr txBox="1"/>
            <p:nvPr/>
          </p:nvSpPr>
          <p:spPr>
            <a:xfrm>
              <a:off x="5706618" y="4352449"/>
              <a:ext cx="818089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intention</a:t>
              </a:r>
            </a:p>
          </p:txBody>
        </p:sp>
        <p:sp>
          <p:nvSpPr>
            <p:cNvPr id="70" name="TextBox 70"/>
            <p:cNvSpPr txBox="1"/>
            <p:nvPr/>
          </p:nvSpPr>
          <p:spPr>
            <a:xfrm>
              <a:off x="6919151" y="4352449"/>
              <a:ext cx="82282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execution</a:t>
              </a:r>
            </a:p>
          </p:txBody>
        </p:sp>
        <p:sp>
          <p:nvSpPr>
            <p:cNvPr id="71" name="TextBox 71"/>
            <p:cNvSpPr txBox="1"/>
            <p:nvPr/>
          </p:nvSpPr>
          <p:spPr>
            <a:xfrm>
              <a:off x="8392907" y="4352449"/>
              <a:ext cx="10772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5</a:t>
              </a:r>
            </a:p>
          </p:txBody>
        </p:sp>
        <p:sp>
          <p:nvSpPr>
            <p:cNvPr id="72" name="TextBox 72"/>
            <p:cNvSpPr txBox="1"/>
            <p:nvPr/>
          </p:nvSpPr>
          <p:spPr>
            <a:xfrm>
              <a:off x="9241584" y="4352449"/>
              <a:ext cx="10772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73" name="Rectangle 73"/>
            <p:cNvSpPr/>
            <p:nvPr/>
          </p:nvSpPr>
          <p:spPr>
            <a:xfrm>
              <a:off x="9728835" y="4226242"/>
              <a:ext cx="950595" cy="429578"/>
            </a:xfrm>
            <a:prstGeom prst="rect">
              <a:avLst/>
            </a:prstGeom>
            <a:solidFill>
              <a:srgbClr val="E6EFF9"/>
            </a:solidFill>
            <a:ln>
              <a:noFill/>
            </a:ln>
          </p:spPr>
        </p:sp>
        <p:sp>
          <p:nvSpPr>
            <p:cNvPr id="74" name="TextBox 74"/>
            <p:cNvSpPr txBox="1"/>
            <p:nvPr/>
          </p:nvSpPr>
          <p:spPr>
            <a:xfrm>
              <a:off x="10150269" y="4352449"/>
              <a:ext cx="10772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5</a:t>
              </a:r>
            </a:p>
          </p:txBody>
        </p:sp>
        <p:sp>
          <p:nvSpPr>
            <p:cNvPr id="75" name="TextBox 75"/>
            <p:cNvSpPr txBox="1"/>
            <p:nvPr/>
          </p:nvSpPr>
          <p:spPr>
            <a:xfrm>
              <a:off x="11119914" y="4352449"/>
              <a:ext cx="10772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8</a:t>
              </a:r>
            </a:p>
          </p:txBody>
        </p:sp>
        <p:sp>
          <p:nvSpPr>
            <p:cNvPr id="76" name="Rectangle 76"/>
            <p:cNvSpPr/>
            <p:nvPr/>
          </p:nvSpPr>
          <p:spPr>
            <a:xfrm>
              <a:off x="5598795" y="1524000"/>
              <a:ext cx="6059805" cy="3141345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77" name="Rectangle 77"/>
            <p:cNvSpPr/>
            <p:nvPr/>
          </p:nvSpPr>
          <p:spPr>
            <a:xfrm>
              <a:off x="6806565" y="1524000"/>
              <a:ext cx="9525" cy="314134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78" name="Rectangle 78"/>
            <p:cNvSpPr/>
            <p:nvPr/>
          </p:nvSpPr>
          <p:spPr>
            <a:xfrm>
              <a:off x="8018145" y="1524000"/>
              <a:ext cx="9525" cy="314134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79" name="Rectangle 79"/>
            <p:cNvSpPr/>
            <p:nvPr/>
          </p:nvSpPr>
          <p:spPr>
            <a:xfrm>
              <a:off x="8866822" y="1524000"/>
              <a:ext cx="9525" cy="314134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80" name="Rectangle 80"/>
            <p:cNvSpPr/>
            <p:nvPr/>
          </p:nvSpPr>
          <p:spPr>
            <a:xfrm>
              <a:off x="9714548" y="1524000"/>
              <a:ext cx="9525" cy="314134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81" name="Rectangle 81"/>
            <p:cNvSpPr/>
            <p:nvPr/>
          </p:nvSpPr>
          <p:spPr>
            <a:xfrm>
              <a:off x="10684192" y="1524000"/>
              <a:ext cx="9525" cy="314134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</p:grpSp>
      <p:grpSp>
        <p:nvGrpSpPr>
          <p:cNvPr id="89" name="c2-callout-2"/>
          <p:cNvGrpSpPr/>
          <p:nvPr/>
        </p:nvGrpSpPr>
        <p:grpSpPr>
          <a:xfrm>
            <a:off x="5598795" y="4855845"/>
            <a:ext cx="6059805" cy="782955"/>
            <a:chOff x="5598795" y="4855845"/>
            <a:chExt cx="6059805" cy="782955"/>
          </a:xfrm>
        </p:grpSpPr>
        <p:sp>
          <p:nvSpPr>
            <p:cNvPr id="83" name="Rectangle 83"/>
            <p:cNvSpPr/>
            <p:nvPr/>
          </p:nvSpPr>
          <p:spPr>
            <a:xfrm>
              <a:off x="5598795" y="4855845"/>
              <a:ext cx="6059805" cy="782955"/>
            </a:xfrm>
            <a:prstGeom prst="roundRect">
              <a:avLst>
                <a:gd name="adj" fmla="val 14599"/>
              </a:avLst>
            </a:prstGeom>
            <a:solidFill>
              <a:srgbClr val="FDECEA"/>
            </a:solidFill>
            <a:ln>
              <a:noFill/>
            </a:ln>
          </p:spPr>
        </p:sp>
        <p:grpSp>
          <p:nvGrpSpPr>
            <p:cNvPr id="87" name="Group 87"/>
            <p:cNvGrpSpPr/>
            <p:nvPr/>
          </p:nvGrpSpPr>
          <p:grpSpPr>
            <a:xfrm>
              <a:off x="5791524" y="5143618"/>
              <a:ext cx="224134" cy="192560"/>
              <a:chOff x="5791524" y="5143618"/>
              <a:chExt cx="224134" cy="192560"/>
            </a:xfrm>
          </p:grpSpPr>
          <p:sp>
            <p:nvSpPr>
              <p:cNvPr id="84" name="Freeform 84"/>
              <p:cNvSpPr/>
              <p:nvPr/>
            </p:nvSpPr>
            <p:spPr>
              <a:xfrm>
                <a:off x="5903595" y="5213985"/>
                <a:ext cx="952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44450">
                    <a:moveTo>
                      <a:pt x="0" y="0"/>
                    </a:moveTo>
                    <a:lnTo>
                      <a:pt x="0" y="44450"/>
                    </a:ln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  <p:sp>
            <p:nvSpPr>
              <p:cNvPr id="85" name="Freeform 85"/>
              <p:cNvSpPr/>
              <p:nvPr/>
            </p:nvSpPr>
            <p:spPr>
              <a:xfrm>
                <a:off x="5791524" y="5143618"/>
                <a:ext cx="224134" cy="192560"/>
              </a:xfrm>
              <a:custGeom>
                <a:avLst/>
                <a:gdLst/>
                <a:ahLst/>
                <a:cxnLst/>
                <a:rect l="l" t="t" r="r" b="b"/>
                <a:pathLst>
                  <a:path w="224134" h="192560">
                    <a:moveTo>
                      <a:pt x="93880" y="10259"/>
                    </a:moveTo>
                    <a:lnTo>
                      <a:pt x="3802" y="160656"/>
                    </a:lnTo>
                    <a:cubicBezTo>
                      <a:pt x="23" y="167200"/>
                      <a:pt x="0" y="175257"/>
                      <a:pt x="3741" y="181823"/>
                    </a:cubicBezTo>
                    <a:cubicBezTo>
                      <a:pt x="7482" y="188388"/>
                      <a:pt x="14426" y="192476"/>
                      <a:pt x="21982" y="192560"/>
                    </a:cubicBezTo>
                    <a:lnTo>
                      <a:pt x="202160" y="192560"/>
                    </a:lnTo>
                    <a:cubicBezTo>
                      <a:pt x="209713" y="192473"/>
                      <a:pt x="216653" y="188387"/>
                      <a:pt x="220393" y="181826"/>
                    </a:cubicBezTo>
                    <a:cubicBezTo>
                      <a:pt x="224134" y="175264"/>
                      <a:pt x="224114" y="167211"/>
                      <a:pt x="220341" y="160667"/>
                    </a:cubicBezTo>
                    <a:lnTo>
                      <a:pt x="130262" y="10248"/>
                    </a:lnTo>
                    <a:cubicBezTo>
                      <a:pt x="126408" y="3886"/>
                      <a:pt x="119510" y="0"/>
                      <a:pt x="112071" y="0"/>
                    </a:cubicBezTo>
                    <a:cubicBezTo>
                      <a:pt x="104633" y="0"/>
                      <a:pt x="97734" y="3886"/>
                      <a:pt x="93880" y="10248"/>
                    </a:cubicBez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  <p:sp>
            <p:nvSpPr>
              <p:cNvPr id="86" name="Freeform 86"/>
              <p:cNvSpPr/>
              <p:nvPr/>
            </p:nvSpPr>
            <p:spPr>
              <a:xfrm>
                <a:off x="5903595" y="5291773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</p:grpSp>
        <p:sp>
          <p:nvSpPr>
            <p:cNvPr id="88" name="TextBox 88"/>
            <p:cNvSpPr txBox="1"/>
            <p:nvPr/>
          </p:nvSpPr>
          <p:spPr>
            <a:xfrm>
              <a:off x="6105525" y="5004435"/>
              <a:ext cx="5006340" cy="56959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75"/>
                </a:lnSpc>
              </a:pPr>
              <a:r>
                <a:rPr lang="zh-CN" sz="1500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abc 与 cba：允许替换只要 2 步，只增删要 4 步。两个指标</a:t>
              </a:r>
              <a:br/>
              <a:r>
                <a:rPr lang="zh-CN" sz="1500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回答的问题不同，不能互相代替。</a:t>
              </a:r>
            </a:p>
          </p:txBody>
        </p:sp>
      </p:grpSp>
      <p:grpSp>
        <p:nvGrpSpPr>
          <p:cNvPr id="92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90" name="TextBox 90"/>
            <p:cNvSpPr txBox="1"/>
            <p:nvPr/>
          </p:nvSpPr>
          <p:spPr>
            <a:xfrm>
              <a:off x="528447" y="6581299"/>
              <a:ext cx="2120748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数据结构 · 专题1 字符串的模糊匹配</a:t>
              </a:r>
            </a:p>
          </p:txBody>
        </p:sp>
        <p:sp>
          <p:nvSpPr>
            <p:cNvPr id="91" name="TextBox 91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28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-disc"/>
          <p:cNvSpPr/>
          <p:nvPr/>
        </p:nvSpPr>
        <p:spPr>
          <a:xfrm>
            <a:off x="7715250" y="571500"/>
            <a:ext cx="5715000" cy="5715000"/>
          </a:xfrm>
          <a:prstGeom prst="ellipse">
            <a:avLst/>
          </a:prstGeom>
          <a:solidFill>
            <a:srgbClr val="1F5FA8"/>
          </a:solidFill>
          <a:ln>
            <a:noFill/>
          </a:ln>
        </p:spPr>
      </p:sp>
      <p:sp>
        <p:nvSpPr>
          <p:cNvPr id="3" name="section-ring"/>
          <p:cNvSpPr/>
          <p:nvPr/>
        </p:nvSpPr>
        <p:spPr>
          <a:xfrm>
            <a:off x="7334250" y="190500"/>
            <a:ext cx="6477000" cy="6477000"/>
          </a:xfrm>
          <a:prstGeom prst="ellipse">
            <a:avLst/>
          </a:prstGeom>
          <a:noFill/>
          <a:ln w="133350">
            <a:solidFill>
              <a:srgbClr val="E6EFF9"/>
            </a:solidFill>
          </a:ln>
        </p:spPr>
      </p:sp>
      <p:grpSp>
        <p:nvGrpSpPr>
          <p:cNvPr id="5" name="section-num"/>
          <p:cNvGrpSpPr/>
          <p:nvPr/>
        </p:nvGrpSpPr>
        <p:grpSpPr>
          <a:xfrm>
            <a:off x="8954033" y="2705100"/>
            <a:ext cx="1903933" cy="2305050"/>
            <a:chOff x="8954033" y="2705100"/>
            <a:chExt cx="1903933" cy="2305050"/>
          </a:xfrm>
        </p:grpSpPr>
        <p:sp>
          <p:nvSpPr>
            <p:cNvPr id="4" name="TextBox 4"/>
            <p:cNvSpPr txBox="1"/>
            <p:nvPr/>
          </p:nvSpPr>
          <p:spPr>
            <a:xfrm>
              <a:off x="8954033" y="2705100"/>
              <a:ext cx="1903933" cy="23050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04</a:t>
              </a:r>
            </a:p>
          </p:txBody>
        </p:sp>
      </p:grpSp>
      <p:grpSp>
        <p:nvGrpSpPr>
          <p:cNvPr id="16" name="section-title"/>
          <p:cNvGrpSpPr/>
          <p:nvPr/>
        </p:nvGrpSpPr>
        <p:grpSpPr>
          <a:xfrm>
            <a:off x="667512" y="1835468"/>
            <a:ext cx="4024884" cy="2997517"/>
            <a:chOff x="667512" y="1835468"/>
            <a:chExt cx="4024884" cy="2997517"/>
          </a:xfrm>
        </p:grpSpPr>
        <p:sp>
          <p:nvSpPr>
            <p:cNvPr id="6" name="TextBox 6"/>
            <p:cNvSpPr txBox="1"/>
            <p:nvPr/>
          </p:nvSpPr>
          <p:spPr>
            <a:xfrm>
              <a:off x="678942" y="1835468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第四部分</a:t>
              </a:r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667512" y="2240280"/>
              <a:ext cx="2459736" cy="70408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6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三道变形题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685800" y="3041332"/>
              <a:ext cx="762000" cy="47625"/>
            </a:xfrm>
            <a:prstGeom prst="roundRect">
              <a:avLst>
                <a:gd name="adj" fmla="val 50000"/>
              </a:avLst>
            </a:prstGeom>
            <a:solidFill>
              <a:srgbClr val="F26B3A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677418" y="3377565"/>
              <a:ext cx="4014978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换一层包装，内核仍然是最长公共子序列</a:t>
              </a:r>
            </a:p>
          </p:txBody>
        </p:sp>
        <p:sp>
          <p:nvSpPr>
            <p:cNvPr id="10" name="Ellipse 10"/>
            <p:cNvSpPr/>
            <p:nvPr/>
          </p:nvSpPr>
          <p:spPr>
            <a:xfrm>
              <a:off x="723900" y="3888105"/>
              <a:ext cx="76200" cy="76200"/>
            </a:xfrm>
            <a:prstGeom prst="ellipse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906780" y="3830955"/>
              <a:ext cx="243840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最少删几个字符使两串相等</a:t>
              </a:r>
            </a:p>
          </p:txBody>
        </p:sp>
        <p:sp>
          <p:nvSpPr>
            <p:cNvPr id="12" name="Ellipse 12"/>
            <p:cNvSpPr/>
            <p:nvPr/>
          </p:nvSpPr>
          <p:spPr>
            <a:xfrm>
              <a:off x="723900" y="4242435"/>
              <a:ext cx="76200" cy="76200"/>
            </a:xfrm>
            <a:prstGeom prst="ellipse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906780" y="4185285"/>
              <a:ext cx="142875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最长回文子序列</a:t>
              </a:r>
            </a:p>
          </p:txBody>
        </p:sp>
        <p:sp>
          <p:nvSpPr>
            <p:cNvPr id="14" name="Ellipse 14"/>
            <p:cNvSpPr/>
            <p:nvPr/>
          </p:nvSpPr>
          <p:spPr>
            <a:xfrm>
              <a:off x="723900" y="4596765"/>
              <a:ext cx="76200" cy="76200"/>
            </a:xfrm>
            <a:prstGeom prst="ellipse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906780" y="4539615"/>
              <a:ext cx="243840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最少删几个字符使串成回文</a:t>
              </a:r>
            </a:p>
          </p:txBody>
        </p:sp>
      </p:grpSp>
      <p:grpSp>
        <p:nvGrpSpPr>
          <p:cNvPr id="19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17" name="TextBox 17"/>
            <p:cNvSpPr txBox="1"/>
            <p:nvPr/>
          </p:nvSpPr>
          <p:spPr>
            <a:xfrm>
              <a:off x="528447" y="6581299"/>
              <a:ext cx="2120748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数据结构 · 专题1 字符串的模糊匹配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29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6204966" cy="909257"/>
            <a:chOff x="520446" y="342900"/>
            <a:chExt cx="6204966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129790" cy="266700"/>
            </a:xfrm>
            <a:prstGeom prst="roundRect">
              <a:avLst>
                <a:gd name="adj" fmla="val 50000"/>
              </a:avLst>
            </a:prstGeom>
            <a:solidFill>
              <a:srgbClr val="E6EFF9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05008" y="407194"/>
              <a:ext cx="198657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5FA8"/>
                  </a:solidFill>
                  <a:latin typeface="+mn-lt"/>
                  <a:ea typeface="+mn-ea"/>
                  <a:cs typeface="+mn-cs"/>
                </a:rPr>
                <a:t>专题1 模糊匹配 · 三道变形题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6204966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变形一：最少删几个字符能让两个串相等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1F5FA8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8" name="lead"/>
          <p:cNvGrpSpPr/>
          <p:nvPr/>
        </p:nvGrpSpPr>
        <p:grpSpPr>
          <a:xfrm>
            <a:off x="525399" y="1550194"/>
            <a:ext cx="8471463" cy="308039"/>
            <a:chOff x="525399" y="1550194"/>
            <a:chExt cx="8471463" cy="308039"/>
          </a:xfrm>
        </p:grpSpPr>
        <p:sp>
          <p:nvSpPr>
            <p:cNvPr id="7" name="TextBox 7"/>
            <p:cNvSpPr txBox="1"/>
            <p:nvPr/>
          </p:nvSpPr>
          <p:spPr>
            <a:xfrm>
              <a:off x="525399" y="1550194"/>
              <a:ext cx="8471463" cy="30803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给定 S 和 P，长度分别为 n 和 m，求最少删除多少个字符使二者相等（LeetCode 583）。</a:t>
              </a:r>
            </a:p>
          </p:txBody>
        </p:sp>
      </p:grpSp>
      <p:grpSp>
        <p:nvGrpSpPr>
          <p:cNvPr id="26" name="c1-steps-1"/>
          <p:cNvGrpSpPr/>
          <p:nvPr/>
        </p:nvGrpSpPr>
        <p:grpSpPr>
          <a:xfrm>
            <a:off x="533400" y="1977390"/>
            <a:ext cx="5152172" cy="2529173"/>
            <a:chOff x="533400" y="1977390"/>
            <a:chExt cx="5152172" cy="2529173"/>
          </a:xfrm>
        </p:grpSpPr>
        <p:sp>
          <p:nvSpPr>
            <p:cNvPr id="9" name="Rectangle 9"/>
            <p:cNvSpPr/>
            <p:nvPr/>
          </p:nvSpPr>
          <p:spPr>
            <a:xfrm>
              <a:off x="666750" y="2120265"/>
              <a:ext cx="19050" cy="19526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0" name="Ellipse 10"/>
            <p:cNvSpPr/>
            <p:nvPr/>
          </p:nvSpPr>
          <p:spPr>
            <a:xfrm>
              <a:off x="533400" y="1977390"/>
              <a:ext cx="285750" cy="285750"/>
            </a:xfrm>
            <a:prstGeom prst="ellipse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627024" y="2051209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12" name="Ellipse 12"/>
            <p:cNvSpPr/>
            <p:nvPr/>
          </p:nvSpPr>
          <p:spPr>
            <a:xfrm>
              <a:off x="533400" y="2627948"/>
              <a:ext cx="285750" cy="285750"/>
            </a:xfrm>
            <a:prstGeom prst="ellipse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627024" y="2701766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14" name="Ellipse 14"/>
            <p:cNvSpPr/>
            <p:nvPr/>
          </p:nvSpPr>
          <p:spPr>
            <a:xfrm>
              <a:off x="533400" y="3278505"/>
              <a:ext cx="285750" cy="285750"/>
            </a:xfrm>
            <a:prstGeom prst="ellipse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627024" y="3352324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16" name="Ellipse 16"/>
            <p:cNvSpPr/>
            <p:nvPr/>
          </p:nvSpPr>
          <p:spPr>
            <a:xfrm>
              <a:off x="533400" y="3929062"/>
              <a:ext cx="285750" cy="285750"/>
            </a:xfrm>
            <a:prstGeom prst="ellipse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627024" y="4002881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944880" y="2011680"/>
              <a:ext cx="41910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观察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946023" y="2304574"/>
              <a:ext cx="4739549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剩下的串既是 S 的子序列又是 P 的子序列，所以是公共子序列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944880" y="2662238"/>
              <a:ext cx="62103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取最长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946023" y="2955131"/>
              <a:ext cx="466542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要删得最少，剩下的就要最长，于是剩下的是最长公共子序列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944880" y="3312795"/>
              <a:ext cx="41910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计数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946023" y="3606641"/>
              <a:ext cx="384530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设 LCS 长度为 k，则 S 删 n - k 个，P 删 m - k 个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944880" y="3963352"/>
              <a:ext cx="41910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答案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946023" y="4257199"/>
              <a:ext cx="1219149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合计 n + m - 2k</a:t>
              </a:r>
            </a:p>
          </p:txBody>
        </p:sp>
      </p:grpSp>
      <p:grpSp>
        <p:nvGrpSpPr>
          <p:cNvPr id="32" name="c1-callout-2"/>
          <p:cNvGrpSpPr/>
          <p:nvPr/>
        </p:nvGrpSpPr>
        <p:grpSpPr>
          <a:xfrm>
            <a:off x="533400" y="4684395"/>
            <a:ext cx="5410200" cy="1143952"/>
            <a:chOff x="533400" y="4684395"/>
            <a:chExt cx="5410200" cy="1143952"/>
          </a:xfrm>
        </p:grpSpPr>
        <p:sp>
          <p:nvSpPr>
            <p:cNvPr id="27" name="Rectangle 27"/>
            <p:cNvSpPr/>
            <p:nvPr/>
          </p:nvSpPr>
          <p:spPr>
            <a:xfrm>
              <a:off x="533400" y="4684395"/>
              <a:ext cx="5410200" cy="1143952"/>
            </a:xfrm>
            <a:prstGeom prst="roundRect">
              <a:avLst>
                <a:gd name="adj" fmla="val 9992"/>
              </a:avLst>
            </a:prstGeom>
            <a:solidFill>
              <a:srgbClr val="1F5FA8"/>
            </a:solidFill>
            <a:ln>
              <a:noFill/>
            </a:ln>
          </p:spPr>
        </p:sp>
        <p:grpSp>
          <p:nvGrpSpPr>
            <p:cNvPr id="30" name="Group 30"/>
            <p:cNvGrpSpPr/>
            <p:nvPr/>
          </p:nvGrpSpPr>
          <p:grpSpPr>
            <a:xfrm>
              <a:off x="738188" y="5156837"/>
              <a:ext cx="200023" cy="200023"/>
              <a:chOff x="738188" y="5156837"/>
              <a:chExt cx="200023" cy="200023"/>
            </a:xfrm>
          </p:grpSpPr>
          <p:sp>
            <p:nvSpPr>
              <p:cNvPr id="28" name="Freeform 28"/>
              <p:cNvSpPr/>
              <p:nvPr/>
            </p:nvSpPr>
            <p:spPr>
              <a:xfrm>
                <a:off x="738188" y="5156837"/>
                <a:ext cx="200023" cy="200023"/>
              </a:xfrm>
              <a:custGeom>
                <a:avLst/>
                <a:gdLst/>
                <a:ahLst/>
                <a:cxnLst/>
                <a:rect l="l" t="t" r="r" b="b"/>
                <a:pathLst>
                  <a:path w="200023" h="200023">
                    <a:moveTo>
                      <a:pt x="150630" y="9366"/>
                    </a:moveTo>
                    <a:lnTo>
                      <a:pt x="190658" y="49393"/>
                    </a:lnTo>
                    <a:cubicBezTo>
                      <a:pt x="196654" y="55389"/>
                      <a:pt x="200023" y="63522"/>
                      <a:pt x="200023" y="72002"/>
                    </a:cubicBezTo>
                    <a:cubicBezTo>
                      <a:pt x="200023" y="80482"/>
                      <a:pt x="196654" y="88614"/>
                      <a:pt x="190658" y="94610"/>
                    </a:cubicBezTo>
                    <a:lnTo>
                      <a:pt x="161287" y="123980"/>
                    </a:lnTo>
                    <a:cubicBezTo>
                      <a:pt x="155291" y="129977"/>
                      <a:pt x="147159" y="133346"/>
                      <a:pt x="138679" y="133346"/>
                    </a:cubicBezTo>
                    <a:cubicBezTo>
                      <a:pt x="130199" y="133346"/>
                      <a:pt x="122066" y="129977"/>
                      <a:pt x="116070" y="123980"/>
                    </a:cubicBezTo>
                    <a:lnTo>
                      <a:pt x="112726" y="120636"/>
                    </a:lnTo>
                    <a:lnTo>
                      <a:pt x="39850" y="193511"/>
                    </a:lnTo>
                    <a:cubicBezTo>
                      <a:pt x="36157" y="197203"/>
                      <a:pt x="31283" y="199477"/>
                      <a:pt x="26081" y="199935"/>
                    </a:cubicBezTo>
                    <a:lnTo>
                      <a:pt x="24136" y="200023"/>
                    </a:lnTo>
                    <a:lnTo>
                      <a:pt x="11113" y="200023"/>
                    </a:lnTo>
                    <a:cubicBezTo>
                      <a:pt x="5479" y="200023"/>
                      <a:pt x="737" y="195806"/>
                      <a:pt x="78" y="190211"/>
                    </a:cubicBezTo>
                    <a:lnTo>
                      <a:pt x="0" y="188911"/>
                    </a:lnTo>
                    <a:lnTo>
                      <a:pt x="0" y="175887"/>
                    </a:lnTo>
                    <a:cubicBezTo>
                      <a:pt x="1" y="170669"/>
                      <a:pt x="1838" y="165618"/>
                      <a:pt x="5190" y="161619"/>
                    </a:cubicBezTo>
                    <a:lnTo>
                      <a:pt x="6512" y="160174"/>
                    </a:lnTo>
                    <a:lnTo>
                      <a:pt x="11113" y="155573"/>
                    </a:lnTo>
                    <a:lnTo>
                      <a:pt x="33338" y="155573"/>
                    </a:lnTo>
                    <a:lnTo>
                      <a:pt x="33338" y="133348"/>
                    </a:lnTo>
                    <a:lnTo>
                      <a:pt x="55563" y="133348"/>
                    </a:lnTo>
                    <a:lnTo>
                      <a:pt x="55563" y="111123"/>
                    </a:lnTo>
                    <a:lnTo>
                      <a:pt x="79388" y="87298"/>
                    </a:lnTo>
                    <a:lnTo>
                      <a:pt x="76043" y="83953"/>
                    </a:lnTo>
                    <a:cubicBezTo>
                      <a:pt x="70046" y="77957"/>
                      <a:pt x="66677" y="69825"/>
                      <a:pt x="66677" y="61345"/>
                    </a:cubicBezTo>
                    <a:cubicBezTo>
                      <a:pt x="66677" y="52865"/>
                      <a:pt x="70046" y="44732"/>
                      <a:pt x="76043" y="38736"/>
                    </a:cubicBezTo>
                    <a:lnTo>
                      <a:pt x="105413" y="9366"/>
                    </a:lnTo>
                    <a:cubicBezTo>
                      <a:pt x="111409" y="3369"/>
                      <a:pt x="119542" y="0"/>
                      <a:pt x="128022" y="0"/>
                    </a:cubicBezTo>
                    <a:cubicBezTo>
                      <a:pt x="136502" y="0"/>
                      <a:pt x="144635" y="3369"/>
                      <a:pt x="150630" y="9366"/>
                    </a:cubicBez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  <p:sp>
            <p:nvSpPr>
              <p:cNvPr id="29" name="Freeform 29"/>
              <p:cNvSpPr/>
              <p:nvPr/>
            </p:nvSpPr>
            <p:spPr>
              <a:xfrm>
                <a:off x="871538" y="5223510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</p:grpSp>
        <p:sp>
          <p:nvSpPr>
            <p:cNvPr id="31" name="TextBox 31"/>
            <p:cNvSpPr txBox="1"/>
            <p:nvPr/>
          </p:nvSpPr>
          <p:spPr>
            <a:xfrm>
              <a:off x="1040130" y="5013960"/>
              <a:ext cx="4530090" cy="56959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75"/>
                </a:lnSpc>
              </a:pPr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这就是把替换禁掉之后的编辑距离，和第 28 页的公式</a:t>
              </a:r>
              <a:br/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是同一条结论。</a:t>
              </a:r>
            </a:p>
          </p:txBody>
        </p:sp>
      </p:grpSp>
      <p:grpSp>
        <p:nvGrpSpPr>
          <p:cNvPr id="74" name="c2-cells-1"/>
          <p:cNvGrpSpPr/>
          <p:nvPr/>
        </p:nvGrpSpPr>
        <p:grpSpPr>
          <a:xfrm>
            <a:off x="6241923" y="1967865"/>
            <a:ext cx="5031867" cy="2000250"/>
            <a:chOff x="6241923" y="1967865"/>
            <a:chExt cx="5031867" cy="2000250"/>
          </a:xfrm>
        </p:grpSpPr>
        <p:sp>
          <p:nvSpPr>
            <p:cNvPr id="33" name="TextBox 33"/>
            <p:cNvSpPr txBox="1"/>
            <p:nvPr/>
          </p:nvSpPr>
          <p:spPr>
            <a:xfrm>
              <a:off x="6241923" y="2097881"/>
              <a:ext cx="11809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80" b="1" dirty="0">
                  <a:solidFill>
                    <a:srgbClr val="1F5FA8"/>
                  </a:solidFill>
                  <a:latin typeface="+mn-lt"/>
                  <a:ea typeface="+mn-ea"/>
                  <a:cs typeface="+mn-cs"/>
                </a:rPr>
                <a:t>S</a:t>
              </a:r>
            </a:p>
          </p:txBody>
        </p:sp>
        <p:sp>
          <p:nvSpPr>
            <p:cNvPr id="34" name="Rectangle 34"/>
            <p:cNvSpPr/>
            <p:nvPr/>
          </p:nvSpPr>
          <p:spPr>
            <a:xfrm>
              <a:off x="6663690" y="1967865"/>
              <a:ext cx="922020" cy="419100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1F5FA8"/>
              </a:solidFill>
            </a:ln>
          </p:spPr>
        </p:sp>
        <p:sp>
          <p:nvSpPr>
            <p:cNvPr id="35" name="TextBox 35"/>
            <p:cNvSpPr txBox="1"/>
            <p:nvPr/>
          </p:nvSpPr>
          <p:spPr>
            <a:xfrm>
              <a:off x="7068467" y="2097881"/>
              <a:ext cx="11246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a</a:t>
              </a:r>
            </a:p>
          </p:txBody>
        </p:sp>
        <p:sp>
          <p:nvSpPr>
            <p:cNvPr id="36" name="Rectangle 36"/>
            <p:cNvSpPr/>
            <p:nvPr/>
          </p:nvSpPr>
          <p:spPr>
            <a:xfrm>
              <a:off x="7585710" y="1967865"/>
              <a:ext cx="922020" cy="419100"/>
            </a:xfrm>
            <a:prstGeom prst="rect">
              <a:avLst/>
            </a:prstGeom>
            <a:solidFill>
              <a:srgbClr val="FDECEA"/>
            </a:solidFill>
            <a:ln w="15240">
              <a:solidFill>
                <a:srgbClr val="B42318"/>
              </a:solidFill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7990487" y="2097881"/>
              <a:ext cx="11246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80" b="1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x</a:t>
              </a:r>
            </a:p>
          </p:txBody>
        </p:sp>
        <p:sp>
          <p:nvSpPr>
            <p:cNvPr id="38" name="Rectangle 38"/>
            <p:cNvSpPr/>
            <p:nvPr/>
          </p:nvSpPr>
          <p:spPr>
            <a:xfrm>
              <a:off x="8507730" y="1967865"/>
              <a:ext cx="922020" cy="419100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1F5FA8"/>
              </a:solidFill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8912507" y="2097881"/>
              <a:ext cx="11246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b</a:t>
              </a:r>
            </a:p>
          </p:txBody>
        </p:sp>
        <p:sp>
          <p:nvSpPr>
            <p:cNvPr id="40" name="Rectangle 40"/>
            <p:cNvSpPr/>
            <p:nvPr/>
          </p:nvSpPr>
          <p:spPr>
            <a:xfrm>
              <a:off x="9429750" y="1967865"/>
              <a:ext cx="922020" cy="419100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1F5FA8"/>
              </a:solidFill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9834527" y="2097881"/>
              <a:ext cx="11246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c</a:t>
              </a:r>
            </a:p>
          </p:txBody>
        </p:sp>
        <p:sp>
          <p:nvSpPr>
            <p:cNvPr id="42" name="Rectangle 42"/>
            <p:cNvSpPr/>
            <p:nvPr/>
          </p:nvSpPr>
          <p:spPr>
            <a:xfrm>
              <a:off x="10351770" y="1967865"/>
              <a:ext cx="922020" cy="419100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1F5FA8"/>
              </a:solidFill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10756547" y="2097881"/>
              <a:ext cx="11246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e</a:t>
              </a:r>
            </a:p>
          </p:txBody>
        </p:sp>
        <p:sp>
          <p:nvSpPr>
            <p:cNvPr id="44" name="TextBox 44"/>
            <p:cNvSpPr txBox="1"/>
            <p:nvPr/>
          </p:nvSpPr>
          <p:spPr>
            <a:xfrm>
              <a:off x="7083467" y="2443639"/>
              <a:ext cx="8246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45" name="TextBox 45"/>
            <p:cNvSpPr txBox="1"/>
            <p:nvPr/>
          </p:nvSpPr>
          <p:spPr>
            <a:xfrm>
              <a:off x="8005487" y="2443639"/>
              <a:ext cx="8246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46" name="TextBox 46"/>
            <p:cNvSpPr txBox="1"/>
            <p:nvPr/>
          </p:nvSpPr>
          <p:spPr>
            <a:xfrm>
              <a:off x="8927507" y="2443639"/>
              <a:ext cx="8246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47" name="TextBox 47"/>
            <p:cNvSpPr txBox="1"/>
            <p:nvPr/>
          </p:nvSpPr>
          <p:spPr>
            <a:xfrm>
              <a:off x="9849527" y="2443639"/>
              <a:ext cx="8246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48" name="TextBox 48"/>
            <p:cNvSpPr txBox="1"/>
            <p:nvPr/>
          </p:nvSpPr>
          <p:spPr>
            <a:xfrm>
              <a:off x="10771547" y="2443639"/>
              <a:ext cx="8246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5</a:t>
              </a:r>
            </a:p>
          </p:txBody>
        </p:sp>
        <p:sp>
          <p:nvSpPr>
            <p:cNvPr id="49" name="TextBox 49"/>
            <p:cNvSpPr txBox="1"/>
            <p:nvPr/>
          </p:nvSpPr>
          <p:spPr>
            <a:xfrm>
              <a:off x="6241923" y="2888456"/>
              <a:ext cx="11809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80" b="1" dirty="0">
                  <a:solidFill>
                    <a:srgbClr val="1F5FA8"/>
                  </a:solidFill>
                  <a:latin typeface="+mn-lt"/>
                  <a:ea typeface="+mn-ea"/>
                  <a:cs typeface="+mn-cs"/>
                </a:rPr>
                <a:t>P</a:t>
              </a:r>
            </a:p>
          </p:txBody>
        </p:sp>
        <p:sp>
          <p:nvSpPr>
            <p:cNvPr id="50" name="Rectangle 50"/>
            <p:cNvSpPr/>
            <p:nvPr/>
          </p:nvSpPr>
          <p:spPr>
            <a:xfrm>
              <a:off x="6663690" y="2758440"/>
              <a:ext cx="922020" cy="419100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1F5FA8"/>
              </a:solidFill>
            </a:ln>
          </p:spPr>
        </p:sp>
        <p:sp>
          <p:nvSpPr>
            <p:cNvPr id="51" name="TextBox 51"/>
            <p:cNvSpPr txBox="1"/>
            <p:nvPr/>
          </p:nvSpPr>
          <p:spPr>
            <a:xfrm>
              <a:off x="7068467" y="2888456"/>
              <a:ext cx="11246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a</a:t>
              </a:r>
            </a:p>
          </p:txBody>
        </p:sp>
        <p:sp>
          <p:nvSpPr>
            <p:cNvPr id="52" name="Rectangle 52"/>
            <p:cNvSpPr/>
            <p:nvPr/>
          </p:nvSpPr>
          <p:spPr>
            <a:xfrm>
              <a:off x="7585710" y="2758440"/>
              <a:ext cx="922020" cy="419100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1F5FA8"/>
              </a:solidFill>
            </a:ln>
          </p:spPr>
        </p:sp>
        <p:sp>
          <p:nvSpPr>
            <p:cNvPr id="53" name="TextBox 53"/>
            <p:cNvSpPr txBox="1"/>
            <p:nvPr/>
          </p:nvSpPr>
          <p:spPr>
            <a:xfrm>
              <a:off x="7990487" y="2888456"/>
              <a:ext cx="11246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b</a:t>
              </a:r>
            </a:p>
          </p:txBody>
        </p:sp>
        <p:sp>
          <p:nvSpPr>
            <p:cNvPr id="54" name="Rectangle 54"/>
            <p:cNvSpPr/>
            <p:nvPr/>
          </p:nvSpPr>
          <p:spPr>
            <a:xfrm>
              <a:off x="8507730" y="2758440"/>
              <a:ext cx="922020" cy="419100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1F5FA8"/>
              </a:solidFill>
            </a:ln>
          </p:spPr>
        </p:sp>
        <p:sp>
          <p:nvSpPr>
            <p:cNvPr id="55" name="TextBox 55"/>
            <p:cNvSpPr txBox="1"/>
            <p:nvPr/>
          </p:nvSpPr>
          <p:spPr>
            <a:xfrm>
              <a:off x="8912507" y="2888456"/>
              <a:ext cx="11246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c</a:t>
              </a:r>
            </a:p>
          </p:txBody>
        </p:sp>
        <p:sp>
          <p:nvSpPr>
            <p:cNvPr id="56" name="Rectangle 56"/>
            <p:cNvSpPr/>
            <p:nvPr/>
          </p:nvSpPr>
          <p:spPr>
            <a:xfrm>
              <a:off x="9429750" y="2758440"/>
              <a:ext cx="922020" cy="419100"/>
            </a:xfrm>
            <a:prstGeom prst="rect">
              <a:avLst/>
            </a:prstGeom>
            <a:solidFill>
              <a:srgbClr val="FDECEA"/>
            </a:solidFill>
            <a:ln w="15240">
              <a:solidFill>
                <a:srgbClr val="B42318"/>
              </a:solidFill>
            </a:ln>
          </p:spPr>
        </p:sp>
        <p:sp>
          <p:nvSpPr>
            <p:cNvPr id="57" name="TextBox 57"/>
            <p:cNvSpPr txBox="1"/>
            <p:nvPr/>
          </p:nvSpPr>
          <p:spPr>
            <a:xfrm>
              <a:off x="9834527" y="2888456"/>
              <a:ext cx="11246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80" b="1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f</a:t>
              </a:r>
            </a:p>
          </p:txBody>
        </p:sp>
        <p:sp>
          <p:nvSpPr>
            <p:cNvPr id="58" name="Rectangle 58"/>
            <p:cNvSpPr/>
            <p:nvPr/>
          </p:nvSpPr>
          <p:spPr>
            <a:xfrm>
              <a:off x="10351770" y="2758440"/>
              <a:ext cx="922020" cy="419100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1F5FA8"/>
              </a:solidFill>
            </a:ln>
          </p:spPr>
        </p:sp>
        <p:sp>
          <p:nvSpPr>
            <p:cNvPr id="59" name="TextBox 59"/>
            <p:cNvSpPr txBox="1"/>
            <p:nvPr/>
          </p:nvSpPr>
          <p:spPr>
            <a:xfrm>
              <a:off x="10756547" y="2888456"/>
              <a:ext cx="11246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e</a:t>
              </a:r>
            </a:p>
          </p:txBody>
        </p:sp>
        <p:sp>
          <p:nvSpPr>
            <p:cNvPr id="60" name="TextBox 60"/>
            <p:cNvSpPr txBox="1"/>
            <p:nvPr/>
          </p:nvSpPr>
          <p:spPr>
            <a:xfrm>
              <a:off x="7083467" y="3234214"/>
              <a:ext cx="8246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61" name="TextBox 61"/>
            <p:cNvSpPr txBox="1"/>
            <p:nvPr/>
          </p:nvSpPr>
          <p:spPr>
            <a:xfrm>
              <a:off x="8005487" y="3234214"/>
              <a:ext cx="8246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62" name="TextBox 62"/>
            <p:cNvSpPr txBox="1"/>
            <p:nvPr/>
          </p:nvSpPr>
          <p:spPr>
            <a:xfrm>
              <a:off x="8927507" y="3234214"/>
              <a:ext cx="8246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63" name="TextBox 63"/>
            <p:cNvSpPr txBox="1"/>
            <p:nvPr/>
          </p:nvSpPr>
          <p:spPr>
            <a:xfrm>
              <a:off x="9849527" y="3234214"/>
              <a:ext cx="8246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64" name="TextBox 64"/>
            <p:cNvSpPr txBox="1"/>
            <p:nvPr/>
          </p:nvSpPr>
          <p:spPr>
            <a:xfrm>
              <a:off x="10771547" y="3234214"/>
              <a:ext cx="8246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5</a:t>
              </a:r>
            </a:p>
          </p:txBody>
        </p:sp>
        <p:sp>
          <p:nvSpPr>
            <p:cNvPr id="65" name="TextBox 65"/>
            <p:cNvSpPr txBox="1"/>
            <p:nvPr/>
          </p:nvSpPr>
          <p:spPr>
            <a:xfrm>
              <a:off x="6241923" y="3679031"/>
              <a:ext cx="32838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80" b="1" dirty="0">
                  <a:solidFill>
                    <a:srgbClr val="1F5FA8"/>
                  </a:solidFill>
                  <a:latin typeface="+mn-lt"/>
                  <a:ea typeface="+mn-ea"/>
                  <a:cs typeface="+mn-cs"/>
                </a:rPr>
                <a:t>LCS</a:t>
              </a:r>
            </a:p>
          </p:txBody>
        </p:sp>
        <p:sp>
          <p:nvSpPr>
            <p:cNvPr id="66" name="Rectangle 66"/>
            <p:cNvSpPr/>
            <p:nvPr/>
          </p:nvSpPr>
          <p:spPr>
            <a:xfrm>
              <a:off x="6663690" y="3549015"/>
              <a:ext cx="922020" cy="419100"/>
            </a:xfrm>
            <a:prstGeom prst="rect">
              <a:avLst/>
            </a:prstGeom>
            <a:solidFill>
              <a:srgbClr val="FDEEE7"/>
            </a:solidFill>
            <a:ln w="15240">
              <a:solidFill>
                <a:srgbClr val="F26B3A"/>
              </a:solidFill>
            </a:ln>
          </p:spPr>
        </p:sp>
        <p:sp>
          <p:nvSpPr>
            <p:cNvPr id="67" name="TextBox 67"/>
            <p:cNvSpPr txBox="1"/>
            <p:nvPr/>
          </p:nvSpPr>
          <p:spPr>
            <a:xfrm>
              <a:off x="7068467" y="3679031"/>
              <a:ext cx="11246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a</a:t>
              </a:r>
            </a:p>
          </p:txBody>
        </p:sp>
        <p:sp>
          <p:nvSpPr>
            <p:cNvPr id="68" name="Rectangle 68"/>
            <p:cNvSpPr/>
            <p:nvPr/>
          </p:nvSpPr>
          <p:spPr>
            <a:xfrm>
              <a:off x="7585710" y="3549015"/>
              <a:ext cx="922020" cy="419100"/>
            </a:xfrm>
            <a:prstGeom prst="rect">
              <a:avLst/>
            </a:prstGeom>
            <a:solidFill>
              <a:srgbClr val="FDEEE7"/>
            </a:solidFill>
            <a:ln w="15240">
              <a:solidFill>
                <a:srgbClr val="F26B3A"/>
              </a:solidFill>
            </a:ln>
          </p:spPr>
        </p:sp>
        <p:sp>
          <p:nvSpPr>
            <p:cNvPr id="69" name="TextBox 69"/>
            <p:cNvSpPr txBox="1"/>
            <p:nvPr/>
          </p:nvSpPr>
          <p:spPr>
            <a:xfrm>
              <a:off x="7990487" y="3679031"/>
              <a:ext cx="11246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b</a:t>
              </a:r>
            </a:p>
          </p:txBody>
        </p:sp>
        <p:sp>
          <p:nvSpPr>
            <p:cNvPr id="70" name="Rectangle 70"/>
            <p:cNvSpPr/>
            <p:nvPr/>
          </p:nvSpPr>
          <p:spPr>
            <a:xfrm>
              <a:off x="8507730" y="3549015"/>
              <a:ext cx="922020" cy="419100"/>
            </a:xfrm>
            <a:prstGeom prst="rect">
              <a:avLst/>
            </a:prstGeom>
            <a:solidFill>
              <a:srgbClr val="FDEEE7"/>
            </a:solidFill>
            <a:ln w="15240">
              <a:solidFill>
                <a:srgbClr val="F26B3A"/>
              </a:solidFill>
            </a:ln>
          </p:spPr>
        </p:sp>
        <p:sp>
          <p:nvSpPr>
            <p:cNvPr id="71" name="TextBox 71"/>
            <p:cNvSpPr txBox="1"/>
            <p:nvPr/>
          </p:nvSpPr>
          <p:spPr>
            <a:xfrm>
              <a:off x="8912507" y="3679031"/>
              <a:ext cx="11246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c</a:t>
              </a:r>
            </a:p>
          </p:txBody>
        </p:sp>
        <p:sp>
          <p:nvSpPr>
            <p:cNvPr id="72" name="Rectangle 72"/>
            <p:cNvSpPr/>
            <p:nvPr/>
          </p:nvSpPr>
          <p:spPr>
            <a:xfrm>
              <a:off x="9429750" y="3549015"/>
              <a:ext cx="922020" cy="419100"/>
            </a:xfrm>
            <a:prstGeom prst="rect">
              <a:avLst/>
            </a:prstGeom>
            <a:solidFill>
              <a:srgbClr val="FDEEE7"/>
            </a:solidFill>
            <a:ln w="15240">
              <a:solidFill>
                <a:srgbClr val="F26B3A"/>
              </a:solidFill>
            </a:ln>
          </p:spPr>
        </p:sp>
        <p:sp>
          <p:nvSpPr>
            <p:cNvPr id="73" name="TextBox 73"/>
            <p:cNvSpPr txBox="1"/>
            <p:nvPr/>
          </p:nvSpPr>
          <p:spPr>
            <a:xfrm>
              <a:off x="9834527" y="3679031"/>
              <a:ext cx="11246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e</a:t>
              </a:r>
            </a:p>
          </p:txBody>
        </p:sp>
      </p:grpSp>
      <p:grpSp>
        <p:nvGrpSpPr>
          <p:cNvPr id="82" name="c2-card-2"/>
          <p:cNvGrpSpPr/>
          <p:nvPr/>
        </p:nvGrpSpPr>
        <p:grpSpPr>
          <a:xfrm>
            <a:off x="6248400" y="4158615"/>
            <a:ext cx="5410200" cy="1670685"/>
            <a:chOff x="6248400" y="4158615"/>
            <a:chExt cx="5410200" cy="1670685"/>
          </a:xfrm>
        </p:grpSpPr>
        <p:sp>
          <p:nvSpPr>
            <p:cNvPr id="75" name="Rectangle 75"/>
            <p:cNvSpPr/>
            <p:nvPr/>
          </p:nvSpPr>
          <p:spPr>
            <a:xfrm>
              <a:off x="6248400" y="4158615"/>
              <a:ext cx="5410200" cy="1670685"/>
            </a:xfrm>
            <a:prstGeom prst="roundRect">
              <a:avLst>
                <a:gd name="adj" fmla="val 7982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76" name="Rectangle 76"/>
            <p:cNvSpPr/>
            <p:nvPr/>
          </p:nvSpPr>
          <p:spPr>
            <a:xfrm>
              <a:off x="6257925" y="4291965"/>
              <a:ext cx="47625" cy="1403985"/>
            </a:xfrm>
            <a:prstGeom prst="roundRect">
              <a:avLst>
                <a:gd name="adj" fmla="val 50000"/>
              </a:avLst>
            </a:prstGeom>
            <a:solidFill>
              <a:srgbClr val="14A38B"/>
            </a:solidFill>
            <a:ln>
              <a:noFill/>
            </a:ln>
          </p:spPr>
        </p:sp>
        <p:sp>
          <p:nvSpPr>
            <p:cNvPr id="77" name="Rectangle 77"/>
            <p:cNvSpPr/>
            <p:nvPr/>
          </p:nvSpPr>
          <p:spPr>
            <a:xfrm>
              <a:off x="6496050" y="4368165"/>
              <a:ext cx="351472" cy="257175"/>
            </a:xfrm>
            <a:prstGeom prst="roundRect">
              <a:avLst>
                <a:gd name="adj" fmla="val 50000"/>
              </a:avLst>
            </a:prstGeom>
            <a:solidFill>
              <a:srgbClr val="E3F5F1"/>
            </a:solidFill>
            <a:ln>
              <a:noFill/>
            </a:ln>
          </p:spPr>
        </p:sp>
        <p:sp>
          <p:nvSpPr>
            <p:cNvPr id="78" name="TextBox 78"/>
            <p:cNvSpPr txBox="1"/>
            <p:nvPr/>
          </p:nvSpPr>
          <p:spPr>
            <a:xfrm>
              <a:off x="6591160" y="4403884"/>
              <a:ext cx="16220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例</a:t>
              </a:r>
            </a:p>
          </p:txBody>
        </p:sp>
        <p:sp>
          <p:nvSpPr>
            <p:cNvPr id="79" name="TextBox 79"/>
            <p:cNvSpPr txBox="1"/>
            <p:nvPr/>
          </p:nvSpPr>
          <p:spPr>
            <a:xfrm>
              <a:off x="6954202" y="4403408"/>
              <a:ext cx="2122008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S = axbce，P = abcfe</a:t>
              </a:r>
            </a:p>
          </p:txBody>
        </p:sp>
        <p:sp>
          <p:nvSpPr>
            <p:cNvPr id="80" name="TextBox 80"/>
            <p:cNvSpPr txBox="1"/>
            <p:nvPr/>
          </p:nvSpPr>
          <p:spPr>
            <a:xfrm>
              <a:off x="6488430" y="4764405"/>
              <a:ext cx="2372024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LCS = abce，长度 k = 4。</a:t>
              </a:r>
            </a:p>
          </p:txBody>
        </p:sp>
        <p:sp>
          <p:nvSpPr>
            <p:cNvPr id="81" name="TextBox 81"/>
            <p:cNvSpPr txBox="1"/>
            <p:nvPr/>
          </p:nvSpPr>
          <p:spPr>
            <a:xfrm>
              <a:off x="6488430" y="5099685"/>
              <a:ext cx="441579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S 去掉 1 个字符 x，P 去掉 1 个字符 f，合计 5 + 5 -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2×4 = 2 个。</a:t>
              </a:r>
            </a:p>
          </p:txBody>
        </p:sp>
      </p:grpSp>
      <p:grpSp>
        <p:nvGrpSpPr>
          <p:cNvPr id="85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83" name="TextBox 83"/>
            <p:cNvSpPr txBox="1"/>
            <p:nvPr/>
          </p:nvSpPr>
          <p:spPr>
            <a:xfrm>
              <a:off x="528447" y="6581299"/>
              <a:ext cx="2120748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数据结构 · 专题1 字符串的模糊匹配</a:t>
              </a:r>
            </a:p>
          </p:txBody>
        </p:sp>
        <p:sp>
          <p:nvSpPr>
            <p:cNvPr id="84" name="TextBox 84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30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7366033" cy="909257"/>
            <a:chOff x="520446" y="342900"/>
            <a:chExt cx="7366033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129790" cy="266700"/>
            </a:xfrm>
            <a:prstGeom prst="roundRect">
              <a:avLst>
                <a:gd name="adj" fmla="val 50000"/>
              </a:avLst>
            </a:prstGeom>
            <a:solidFill>
              <a:srgbClr val="E6EFF9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05008" y="407194"/>
              <a:ext cx="198657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5FA8"/>
                  </a:solidFill>
                  <a:latin typeface="+mn-lt"/>
                  <a:ea typeface="+mn-ea"/>
                  <a:cs typeface="+mn-cs"/>
                </a:rPr>
                <a:t>专题1 模糊匹配 · 三道变形题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7366033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变形二：最长回文子序列 = S 与其逆序串的 LCS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1F5FA8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8" name="lead"/>
          <p:cNvGrpSpPr/>
          <p:nvPr/>
        </p:nvGrpSpPr>
        <p:grpSpPr>
          <a:xfrm>
            <a:off x="526542" y="1545907"/>
            <a:ext cx="5163774" cy="264033"/>
            <a:chOff x="526542" y="1545907"/>
            <a:chExt cx="5163774" cy="264033"/>
          </a:xfrm>
        </p:grpSpPr>
        <p:sp>
          <p:nvSpPr>
            <p:cNvPr id="7" name="TextBox 7"/>
            <p:cNvSpPr txBox="1"/>
            <p:nvPr/>
          </p:nvSpPr>
          <p:spPr>
            <a:xfrm>
              <a:off x="526542" y="1545907"/>
              <a:ext cx="516377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给定字符串 S，求它的最长回文子序列长度（LeetCode 516）。</a:t>
              </a:r>
            </a:p>
          </p:txBody>
        </p:sp>
      </p:grpSp>
      <p:grpSp>
        <p:nvGrpSpPr>
          <p:cNvPr id="70" name="c1-cells-1"/>
          <p:cNvGrpSpPr/>
          <p:nvPr/>
        </p:nvGrpSpPr>
        <p:grpSpPr>
          <a:xfrm>
            <a:off x="527685" y="1928812"/>
            <a:ext cx="5633085" cy="1769746"/>
            <a:chOff x="527685" y="1928812"/>
            <a:chExt cx="5633085" cy="1769746"/>
          </a:xfrm>
        </p:grpSpPr>
        <p:sp>
          <p:nvSpPr>
            <p:cNvPr id="9" name="TextBox 9"/>
            <p:cNvSpPr txBox="1"/>
            <p:nvPr/>
          </p:nvSpPr>
          <p:spPr>
            <a:xfrm>
              <a:off x="527685" y="2042636"/>
              <a:ext cx="10343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b="1" dirty="0">
                  <a:solidFill>
                    <a:srgbClr val="1F5FA8"/>
                  </a:solidFill>
                  <a:latin typeface="+mn-lt"/>
                  <a:ea typeface="+mn-ea"/>
                  <a:cs typeface="+mn-cs"/>
                </a:rPr>
                <a:t>S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951548" y="1928812"/>
              <a:ext cx="651510" cy="368618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1F5FA8"/>
              </a:solidFill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1227099" y="2042636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x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1602105" y="1928812"/>
              <a:ext cx="651510" cy="368618"/>
            </a:xfrm>
            <a:prstGeom prst="rect">
              <a:avLst/>
            </a:prstGeom>
            <a:solidFill>
              <a:srgbClr val="FDEEE7"/>
            </a:solidFill>
            <a:ln w="15240">
              <a:solidFill>
                <a:srgbClr val="F26B3A"/>
              </a:solidFill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1878609" y="2042636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a</a:t>
              </a:r>
            </a:p>
          </p:txBody>
        </p:sp>
        <p:sp>
          <p:nvSpPr>
            <p:cNvPr id="14" name="Rectangle 14"/>
            <p:cNvSpPr/>
            <p:nvPr/>
          </p:nvSpPr>
          <p:spPr>
            <a:xfrm>
              <a:off x="2253615" y="1928812"/>
              <a:ext cx="651510" cy="368618"/>
            </a:xfrm>
            <a:prstGeom prst="rect">
              <a:avLst/>
            </a:prstGeom>
            <a:solidFill>
              <a:srgbClr val="FDEEE7"/>
            </a:solidFill>
            <a:ln w="15240">
              <a:solidFill>
                <a:srgbClr val="F26B3A"/>
              </a:solidFill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2530119" y="2042636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b</a:t>
              </a:r>
            </a:p>
          </p:txBody>
        </p:sp>
        <p:sp>
          <p:nvSpPr>
            <p:cNvPr id="16" name="Rectangle 16"/>
            <p:cNvSpPr/>
            <p:nvPr/>
          </p:nvSpPr>
          <p:spPr>
            <a:xfrm>
              <a:off x="2904172" y="1928812"/>
              <a:ext cx="651510" cy="368618"/>
            </a:xfrm>
            <a:prstGeom prst="rect">
              <a:avLst/>
            </a:prstGeom>
            <a:solidFill>
              <a:srgbClr val="FDEEE7"/>
            </a:solidFill>
            <a:ln w="15240">
              <a:solidFill>
                <a:srgbClr val="F26B3A"/>
              </a:solidFill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3180676" y="2042636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y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3555682" y="1928812"/>
              <a:ext cx="651510" cy="368618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1F5FA8"/>
              </a:solidFill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3832186" y="2042636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c</a:t>
              </a:r>
            </a:p>
          </p:txBody>
        </p:sp>
        <p:sp>
          <p:nvSpPr>
            <p:cNvPr id="20" name="Rectangle 20"/>
            <p:cNvSpPr/>
            <p:nvPr/>
          </p:nvSpPr>
          <p:spPr>
            <a:xfrm>
              <a:off x="4207192" y="1928812"/>
              <a:ext cx="651510" cy="368618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1F5FA8"/>
              </a:solidFill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4482744" y="2042636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k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4857750" y="1928812"/>
              <a:ext cx="651510" cy="368618"/>
            </a:xfrm>
            <a:prstGeom prst="rect">
              <a:avLst/>
            </a:prstGeom>
            <a:solidFill>
              <a:srgbClr val="FDEEE7"/>
            </a:solidFill>
            <a:ln w="15240">
              <a:solidFill>
                <a:srgbClr val="F26B3A"/>
              </a:solidFill>
            </a:ln>
          </p:spPr>
        </p:sp>
        <p:sp>
          <p:nvSpPr>
            <p:cNvPr id="23" name="TextBox 23"/>
            <p:cNvSpPr txBox="1"/>
            <p:nvPr/>
          </p:nvSpPr>
          <p:spPr>
            <a:xfrm>
              <a:off x="5134254" y="2042636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b</a:t>
              </a:r>
            </a:p>
          </p:txBody>
        </p:sp>
        <p:sp>
          <p:nvSpPr>
            <p:cNvPr id="24" name="Rectangle 24"/>
            <p:cNvSpPr/>
            <p:nvPr/>
          </p:nvSpPr>
          <p:spPr>
            <a:xfrm>
              <a:off x="5509260" y="1928812"/>
              <a:ext cx="651510" cy="368618"/>
            </a:xfrm>
            <a:prstGeom prst="rect">
              <a:avLst/>
            </a:prstGeom>
            <a:solidFill>
              <a:srgbClr val="FDEEE7"/>
            </a:solidFill>
            <a:ln w="15240">
              <a:solidFill>
                <a:srgbClr val="F26B3A"/>
              </a:solidFill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5784811" y="2042636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a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1241231" y="2351246"/>
              <a:ext cx="70239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1892741" y="2351246"/>
              <a:ext cx="70239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2544251" y="2351246"/>
              <a:ext cx="70239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3194808" y="2351246"/>
              <a:ext cx="70239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3846318" y="2351246"/>
              <a:ext cx="70239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5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4496876" y="2351246"/>
              <a:ext cx="70239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6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5148386" y="2351246"/>
              <a:ext cx="70239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7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5798943" y="2351246"/>
              <a:ext cx="70239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8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527685" y="2743676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F5FA8"/>
                  </a:solidFill>
                  <a:latin typeface="+mn-lt"/>
                  <a:ea typeface="+mn-ea"/>
                  <a:cs typeface="+mn-cs"/>
                </a:rPr>
                <a:t>逆序</a:t>
              </a:r>
            </a:p>
          </p:txBody>
        </p:sp>
        <p:sp>
          <p:nvSpPr>
            <p:cNvPr id="35" name="Rectangle 35"/>
            <p:cNvSpPr/>
            <p:nvPr/>
          </p:nvSpPr>
          <p:spPr>
            <a:xfrm>
              <a:off x="951548" y="2628900"/>
              <a:ext cx="651510" cy="368618"/>
            </a:xfrm>
            <a:prstGeom prst="rect">
              <a:avLst/>
            </a:prstGeom>
            <a:solidFill>
              <a:srgbClr val="FDEEE7"/>
            </a:solidFill>
            <a:ln w="15240">
              <a:solidFill>
                <a:srgbClr val="F26B3A"/>
              </a:solidFill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1227099" y="2743676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a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1602105" y="2628900"/>
              <a:ext cx="651510" cy="368618"/>
            </a:xfrm>
            <a:prstGeom prst="rect">
              <a:avLst/>
            </a:prstGeom>
            <a:solidFill>
              <a:srgbClr val="FDEEE7"/>
            </a:solidFill>
            <a:ln w="15240">
              <a:solidFill>
                <a:srgbClr val="F26B3A"/>
              </a:solidFill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1878609" y="2743676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b</a:t>
              </a:r>
            </a:p>
          </p:txBody>
        </p:sp>
        <p:sp>
          <p:nvSpPr>
            <p:cNvPr id="39" name="Rectangle 39"/>
            <p:cNvSpPr/>
            <p:nvPr/>
          </p:nvSpPr>
          <p:spPr>
            <a:xfrm>
              <a:off x="2253615" y="2628900"/>
              <a:ext cx="651510" cy="368618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1F5FA8"/>
              </a:solidFill>
            </a:ln>
          </p:spPr>
        </p:sp>
        <p:sp>
          <p:nvSpPr>
            <p:cNvPr id="40" name="TextBox 40"/>
            <p:cNvSpPr txBox="1"/>
            <p:nvPr/>
          </p:nvSpPr>
          <p:spPr>
            <a:xfrm>
              <a:off x="2530119" y="2743676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k</a:t>
              </a:r>
            </a:p>
          </p:txBody>
        </p:sp>
        <p:sp>
          <p:nvSpPr>
            <p:cNvPr id="41" name="Rectangle 41"/>
            <p:cNvSpPr/>
            <p:nvPr/>
          </p:nvSpPr>
          <p:spPr>
            <a:xfrm>
              <a:off x="2904172" y="2628900"/>
              <a:ext cx="651510" cy="368618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1F5FA8"/>
              </a:solidFill>
            </a:ln>
          </p:spPr>
        </p:sp>
        <p:sp>
          <p:nvSpPr>
            <p:cNvPr id="42" name="TextBox 42"/>
            <p:cNvSpPr txBox="1"/>
            <p:nvPr/>
          </p:nvSpPr>
          <p:spPr>
            <a:xfrm>
              <a:off x="3180676" y="2743676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c</a:t>
              </a:r>
            </a:p>
          </p:txBody>
        </p:sp>
        <p:sp>
          <p:nvSpPr>
            <p:cNvPr id="43" name="Rectangle 43"/>
            <p:cNvSpPr/>
            <p:nvPr/>
          </p:nvSpPr>
          <p:spPr>
            <a:xfrm>
              <a:off x="3555682" y="2628900"/>
              <a:ext cx="651510" cy="368618"/>
            </a:xfrm>
            <a:prstGeom prst="rect">
              <a:avLst/>
            </a:prstGeom>
            <a:solidFill>
              <a:srgbClr val="FDEEE7"/>
            </a:solidFill>
            <a:ln w="15240">
              <a:solidFill>
                <a:srgbClr val="F26B3A"/>
              </a:solidFill>
            </a:ln>
          </p:spPr>
        </p:sp>
        <p:sp>
          <p:nvSpPr>
            <p:cNvPr id="44" name="TextBox 44"/>
            <p:cNvSpPr txBox="1"/>
            <p:nvPr/>
          </p:nvSpPr>
          <p:spPr>
            <a:xfrm>
              <a:off x="3832186" y="2743676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y</a:t>
              </a:r>
            </a:p>
          </p:txBody>
        </p:sp>
        <p:sp>
          <p:nvSpPr>
            <p:cNvPr id="45" name="Rectangle 45"/>
            <p:cNvSpPr/>
            <p:nvPr/>
          </p:nvSpPr>
          <p:spPr>
            <a:xfrm>
              <a:off x="4207192" y="2628900"/>
              <a:ext cx="651510" cy="368618"/>
            </a:xfrm>
            <a:prstGeom prst="rect">
              <a:avLst/>
            </a:prstGeom>
            <a:solidFill>
              <a:srgbClr val="FDEEE7"/>
            </a:solidFill>
            <a:ln w="15240">
              <a:solidFill>
                <a:srgbClr val="F26B3A"/>
              </a:solidFill>
            </a:ln>
          </p:spPr>
        </p:sp>
        <p:sp>
          <p:nvSpPr>
            <p:cNvPr id="46" name="TextBox 46"/>
            <p:cNvSpPr txBox="1"/>
            <p:nvPr/>
          </p:nvSpPr>
          <p:spPr>
            <a:xfrm>
              <a:off x="4482744" y="2743676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b</a:t>
              </a:r>
            </a:p>
          </p:txBody>
        </p:sp>
        <p:sp>
          <p:nvSpPr>
            <p:cNvPr id="47" name="Rectangle 47"/>
            <p:cNvSpPr/>
            <p:nvPr/>
          </p:nvSpPr>
          <p:spPr>
            <a:xfrm>
              <a:off x="4857750" y="2628900"/>
              <a:ext cx="651510" cy="368618"/>
            </a:xfrm>
            <a:prstGeom prst="rect">
              <a:avLst/>
            </a:prstGeom>
            <a:solidFill>
              <a:srgbClr val="FDEEE7"/>
            </a:solidFill>
            <a:ln w="15240">
              <a:solidFill>
                <a:srgbClr val="F26B3A"/>
              </a:solidFill>
            </a:ln>
          </p:spPr>
        </p:sp>
        <p:sp>
          <p:nvSpPr>
            <p:cNvPr id="48" name="TextBox 48"/>
            <p:cNvSpPr txBox="1"/>
            <p:nvPr/>
          </p:nvSpPr>
          <p:spPr>
            <a:xfrm>
              <a:off x="5134254" y="2743676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a</a:t>
              </a:r>
            </a:p>
          </p:txBody>
        </p:sp>
        <p:sp>
          <p:nvSpPr>
            <p:cNvPr id="49" name="Rectangle 49"/>
            <p:cNvSpPr/>
            <p:nvPr/>
          </p:nvSpPr>
          <p:spPr>
            <a:xfrm>
              <a:off x="5509260" y="2628900"/>
              <a:ext cx="651510" cy="368618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1F5FA8"/>
              </a:solidFill>
            </a:ln>
          </p:spPr>
        </p:sp>
        <p:sp>
          <p:nvSpPr>
            <p:cNvPr id="50" name="TextBox 50"/>
            <p:cNvSpPr txBox="1"/>
            <p:nvPr/>
          </p:nvSpPr>
          <p:spPr>
            <a:xfrm>
              <a:off x="5784811" y="2743676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x</a:t>
              </a:r>
            </a:p>
          </p:txBody>
        </p:sp>
        <p:sp>
          <p:nvSpPr>
            <p:cNvPr id="51" name="TextBox 51"/>
            <p:cNvSpPr txBox="1"/>
            <p:nvPr/>
          </p:nvSpPr>
          <p:spPr>
            <a:xfrm>
              <a:off x="1241231" y="3052286"/>
              <a:ext cx="70239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52" name="TextBox 52"/>
            <p:cNvSpPr txBox="1"/>
            <p:nvPr/>
          </p:nvSpPr>
          <p:spPr>
            <a:xfrm>
              <a:off x="1892741" y="3052286"/>
              <a:ext cx="70239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53" name="TextBox 53"/>
            <p:cNvSpPr txBox="1"/>
            <p:nvPr/>
          </p:nvSpPr>
          <p:spPr>
            <a:xfrm>
              <a:off x="2544251" y="3052286"/>
              <a:ext cx="70239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54" name="TextBox 54"/>
            <p:cNvSpPr txBox="1"/>
            <p:nvPr/>
          </p:nvSpPr>
          <p:spPr>
            <a:xfrm>
              <a:off x="3194808" y="3052286"/>
              <a:ext cx="70239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55" name="TextBox 55"/>
            <p:cNvSpPr txBox="1"/>
            <p:nvPr/>
          </p:nvSpPr>
          <p:spPr>
            <a:xfrm>
              <a:off x="3846318" y="3052286"/>
              <a:ext cx="70239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5</a:t>
              </a:r>
            </a:p>
          </p:txBody>
        </p:sp>
        <p:sp>
          <p:nvSpPr>
            <p:cNvPr id="56" name="TextBox 56"/>
            <p:cNvSpPr txBox="1"/>
            <p:nvPr/>
          </p:nvSpPr>
          <p:spPr>
            <a:xfrm>
              <a:off x="4496876" y="3052286"/>
              <a:ext cx="70239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6</a:t>
              </a:r>
            </a:p>
          </p:txBody>
        </p:sp>
        <p:sp>
          <p:nvSpPr>
            <p:cNvPr id="57" name="TextBox 57"/>
            <p:cNvSpPr txBox="1"/>
            <p:nvPr/>
          </p:nvSpPr>
          <p:spPr>
            <a:xfrm>
              <a:off x="5148386" y="3052286"/>
              <a:ext cx="70239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7</a:t>
              </a:r>
            </a:p>
          </p:txBody>
        </p:sp>
        <p:sp>
          <p:nvSpPr>
            <p:cNvPr id="58" name="TextBox 58"/>
            <p:cNvSpPr txBox="1"/>
            <p:nvPr/>
          </p:nvSpPr>
          <p:spPr>
            <a:xfrm>
              <a:off x="5798943" y="3052286"/>
              <a:ext cx="70239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8</a:t>
              </a:r>
            </a:p>
          </p:txBody>
        </p:sp>
        <p:sp>
          <p:nvSpPr>
            <p:cNvPr id="59" name="TextBox 59"/>
            <p:cNvSpPr txBox="1"/>
            <p:nvPr/>
          </p:nvSpPr>
          <p:spPr>
            <a:xfrm>
              <a:off x="527685" y="3444716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F5FA8"/>
                  </a:solidFill>
                  <a:latin typeface="+mn-lt"/>
                  <a:ea typeface="+mn-ea"/>
                  <a:cs typeface="+mn-cs"/>
                </a:rPr>
                <a:t>回文</a:t>
              </a:r>
            </a:p>
          </p:txBody>
        </p:sp>
        <p:sp>
          <p:nvSpPr>
            <p:cNvPr id="60" name="Rectangle 60"/>
            <p:cNvSpPr/>
            <p:nvPr/>
          </p:nvSpPr>
          <p:spPr>
            <a:xfrm>
              <a:off x="951548" y="3329940"/>
              <a:ext cx="651510" cy="368618"/>
            </a:xfrm>
            <a:prstGeom prst="rect">
              <a:avLst/>
            </a:prstGeom>
            <a:solidFill>
              <a:srgbClr val="FDEEE7"/>
            </a:solidFill>
            <a:ln w="15240">
              <a:solidFill>
                <a:srgbClr val="F26B3A"/>
              </a:solidFill>
            </a:ln>
          </p:spPr>
        </p:sp>
        <p:sp>
          <p:nvSpPr>
            <p:cNvPr id="61" name="TextBox 61"/>
            <p:cNvSpPr txBox="1"/>
            <p:nvPr/>
          </p:nvSpPr>
          <p:spPr>
            <a:xfrm>
              <a:off x="1227099" y="3444716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a</a:t>
              </a:r>
            </a:p>
          </p:txBody>
        </p:sp>
        <p:sp>
          <p:nvSpPr>
            <p:cNvPr id="62" name="Rectangle 62"/>
            <p:cNvSpPr/>
            <p:nvPr/>
          </p:nvSpPr>
          <p:spPr>
            <a:xfrm>
              <a:off x="1602105" y="3329940"/>
              <a:ext cx="651510" cy="368618"/>
            </a:xfrm>
            <a:prstGeom prst="rect">
              <a:avLst/>
            </a:prstGeom>
            <a:solidFill>
              <a:srgbClr val="FDEEE7"/>
            </a:solidFill>
            <a:ln w="15240">
              <a:solidFill>
                <a:srgbClr val="F26B3A"/>
              </a:solidFill>
            </a:ln>
          </p:spPr>
        </p:sp>
        <p:sp>
          <p:nvSpPr>
            <p:cNvPr id="63" name="TextBox 63"/>
            <p:cNvSpPr txBox="1"/>
            <p:nvPr/>
          </p:nvSpPr>
          <p:spPr>
            <a:xfrm>
              <a:off x="1878609" y="3444716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b</a:t>
              </a:r>
            </a:p>
          </p:txBody>
        </p:sp>
        <p:sp>
          <p:nvSpPr>
            <p:cNvPr id="64" name="Rectangle 64"/>
            <p:cNvSpPr/>
            <p:nvPr/>
          </p:nvSpPr>
          <p:spPr>
            <a:xfrm>
              <a:off x="2253615" y="3329940"/>
              <a:ext cx="651510" cy="368618"/>
            </a:xfrm>
            <a:prstGeom prst="rect">
              <a:avLst/>
            </a:prstGeom>
            <a:solidFill>
              <a:srgbClr val="FDEEE7"/>
            </a:solidFill>
            <a:ln w="15240">
              <a:solidFill>
                <a:srgbClr val="F26B3A"/>
              </a:solidFill>
            </a:ln>
          </p:spPr>
        </p:sp>
        <p:sp>
          <p:nvSpPr>
            <p:cNvPr id="65" name="TextBox 65"/>
            <p:cNvSpPr txBox="1"/>
            <p:nvPr/>
          </p:nvSpPr>
          <p:spPr>
            <a:xfrm>
              <a:off x="2530119" y="3444716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y</a:t>
              </a:r>
            </a:p>
          </p:txBody>
        </p:sp>
        <p:sp>
          <p:nvSpPr>
            <p:cNvPr id="66" name="Rectangle 66"/>
            <p:cNvSpPr/>
            <p:nvPr/>
          </p:nvSpPr>
          <p:spPr>
            <a:xfrm>
              <a:off x="2904172" y="3329940"/>
              <a:ext cx="651510" cy="368618"/>
            </a:xfrm>
            <a:prstGeom prst="rect">
              <a:avLst/>
            </a:prstGeom>
            <a:solidFill>
              <a:srgbClr val="FDEEE7"/>
            </a:solidFill>
            <a:ln w="15240">
              <a:solidFill>
                <a:srgbClr val="F26B3A"/>
              </a:solidFill>
            </a:ln>
          </p:spPr>
        </p:sp>
        <p:sp>
          <p:nvSpPr>
            <p:cNvPr id="67" name="TextBox 67"/>
            <p:cNvSpPr txBox="1"/>
            <p:nvPr/>
          </p:nvSpPr>
          <p:spPr>
            <a:xfrm>
              <a:off x="3180676" y="3444716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b</a:t>
              </a:r>
            </a:p>
          </p:txBody>
        </p:sp>
        <p:sp>
          <p:nvSpPr>
            <p:cNvPr id="68" name="Rectangle 68"/>
            <p:cNvSpPr/>
            <p:nvPr/>
          </p:nvSpPr>
          <p:spPr>
            <a:xfrm>
              <a:off x="3555682" y="3329940"/>
              <a:ext cx="651510" cy="368618"/>
            </a:xfrm>
            <a:prstGeom prst="rect">
              <a:avLst/>
            </a:prstGeom>
            <a:solidFill>
              <a:srgbClr val="FDEEE7"/>
            </a:solidFill>
            <a:ln w="15240">
              <a:solidFill>
                <a:srgbClr val="F26B3A"/>
              </a:solidFill>
            </a:ln>
          </p:spPr>
        </p:sp>
        <p:sp>
          <p:nvSpPr>
            <p:cNvPr id="69" name="TextBox 69"/>
            <p:cNvSpPr txBox="1"/>
            <p:nvPr/>
          </p:nvSpPr>
          <p:spPr>
            <a:xfrm>
              <a:off x="3832186" y="3444716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a</a:t>
              </a:r>
            </a:p>
          </p:txBody>
        </p:sp>
      </p:grpSp>
      <p:grpSp>
        <p:nvGrpSpPr>
          <p:cNvPr id="78" name="c1-card-2"/>
          <p:cNvGrpSpPr/>
          <p:nvPr/>
        </p:nvGrpSpPr>
        <p:grpSpPr>
          <a:xfrm>
            <a:off x="533400" y="3869055"/>
            <a:ext cx="5626418" cy="1760220"/>
            <a:chOff x="533400" y="3869055"/>
            <a:chExt cx="5626418" cy="1760220"/>
          </a:xfrm>
        </p:grpSpPr>
        <p:sp>
          <p:nvSpPr>
            <p:cNvPr id="71" name="Rectangle 71"/>
            <p:cNvSpPr/>
            <p:nvPr/>
          </p:nvSpPr>
          <p:spPr>
            <a:xfrm>
              <a:off x="533400" y="3869055"/>
              <a:ext cx="5626418" cy="1760220"/>
            </a:xfrm>
            <a:prstGeom prst="roundRect">
              <a:avLst>
                <a:gd name="adj" fmla="val 7576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72" name="Rectangle 72"/>
            <p:cNvSpPr/>
            <p:nvPr/>
          </p:nvSpPr>
          <p:spPr>
            <a:xfrm>
              <a:off x="542925" y="4002405"/>
              <a:ext cx="47625" cy="1493520"/>
            </a:xfrm>
            <a:prstGeom prst="roundRect">
              <a:avLst>
                <a:gd name="adj" fmla="val 50000"/>
              </a:avLst>
            </a:prstGeom>
            <a:solidFill>
              <a:srgbClr val="F26B3A"/>
            </a:solidFill>
            <a:ln>
              <a:noFill/>
            </a:ln>
          </p:spPr>
        </p:sp>
        <p:sp>
          <p:nvSpPr>
            <p:cNvPr id="73" name="Rectangle 73"/>
            <p:cNvSpPr/>
            <p:nvPr/>
          </p:nvSpPr>
          <p:spPr>
            <a:xfrm>
              <a:off x="758190" y="4055745"/>
              <a:ext cx="458152" cy="238125"/>
            </a:xfrm>
            <a:prstGeom prst="roundRect">
              <a:avLst>
                <a:gd name="adj" fmla="val 50000"/>
              </a:avLst>
            </a:prstGeom>
            <a:solidFill>
              <a:srgbClr val="FDEEE7"/>
            </a:solidFill>
            <a:ln>
              <a:noFill/>
            </a:ln>
          </p:spPr>
        </p:sp>
        <p:sp>
          <p:nvSpPr>
            <p:cNvPr id="74" name="TextBox 74"/>
            <p:cNvSpPr txBox="1"/>
            <p:nvPr/>
          </p:nvSpPr>
          <p:spPr>
            <a:xfrm>
              <a:off x="850862" y="4088606"/>
              <a:ext cx="273761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结论</a:t>
              </a:r>
            </a:p>
          </p:txBody>
        </p:sp>
        <p:sp>
          <p:nvSpPr>
            <p:cNvPr id="75" name="TextBox 75"/>
            <p:cNvSpPr txBox="1"/>
            <p:nvPr/>
          </p:nvSpPr>
          <p:spPr>
            <a:xfrm>
              <a:off x="1323784" y="4090035"/>
              <a:ext cx="164934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为什么这样做是对的</a:t>
              </a:r>
            </a:p>
          </p:txBody>
        </p:sp>
        <p:sp>
          <p:nvSpPr>
            <p:cNvPr id="76" name="TextBox 76"/>
            <p:cNvSpPr txBox="1"/>
            <p:nvPr/>
          </p:nvSpPr>
          <p:spPr>
            <a:xfrm>
              <a:off x="751332" y="4416742"/>
              <a:ext cx="4882896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回文子序列正读倒读一样，所以它既是 S 的子序列，也是 S⁻¹ 的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子序列。</a:t>
              </a:r>
            </a:p>
          </p:txBody>
        </p:sp>
        <p:sp>
          <p:nvSpPr>
            <p:cNvPr id="77" name="TextBox 77"/>
            <p:cNvSpPr txBox="1"/>
            <p:nvPr/>
          </p:nvSpPr>
          <p:spPr>
            <a:xfrm>
              <a:off x="751332" y="4973955"/>
              <a:ext cx="5002911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反方向也成立：LCS(S, S⁻¹) 有多长，就能找到同样长的回文子序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列。</a:t>
              </a:r>
            </a:p>
          </p:txBody>
        </p:sp>
      </p:grpSp>
      <p:grpSp>
        <p:nvGrpSpPr>
          <p:cNvPr id="92" name="c2-steps-1"/>
          <p:cNvGrpSpPr/>
          <p:nvPr/>
        </p:nvGrpSpPr>
        <p:grpSpPr>
          <a:xfrm>
            <a:off x="6464618" y="1938338"/>
            <a:ext cx="3779544" cy="1685449"/>
            <a:chOff x="6464618" y="1938338"/>
            <a:chExt cx="3779544" cy="1685449"/>
          </a:xfrm>
        </p:grpSpPr>
        <p:sp>
          <p:nvSpPr>
            <p:cNvPr id="79" name="Rectangle 79"/>
            <p:cNvSpPr/>
            <p:nvPr/>
          </p:nvSpPr>
          <p:spPr>
            <a:xfrm>
              <a:off x="6597968" y="2081212"/>
              <a:ext cx="19050" cy="116586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80" name="Ellipse 80"/>
            <p:cNvSpPr/>
            <p:nvPr/>
          </p:nvSpPr>
          <p:spPr>
            <a:xfrm>
              <a:off x="6464618" y="1938338"/>
              <a:ext cx="285750" cy="285750"/>
            </a:xfrm>
            <a:prstGeom prst="ellipse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81" name="TextBox 81"/>
            <p:cNvSpPr txBox="1"/>
            <p:nvPr/>
          </p:nvSpPr>
          <p:spPr>
            <a:xfrm>
              <a:off x="6558241" y="2012156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82" name="Ellipse 82"/>
            <p:cNvSpPr/>
            <p:nvPr/>
          </p:nvSpPr>
          <p:spPr>
            <a:xfrm>
              <a:off x="6464618" y="2521268"/>
              <a:ext cx="285750" cy="285750"/>
            </a:xfrm>
            <a:prstGeom prst="ellipse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83" name="TextBox 83"/>
            <p:cNvSpPr txBox="1"/>
            <p:nvPr/>
          </p:nvSpPr>
          <p:spPr>
            <a:xfrm>
              <a:off x="6558241" y="2595086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84" name="Ellipse 84"/>
            <p:cNvSpPr/>
            <p:nvPr/>
          </p:nvSpPr>
          <p:spPr>
            <a:xfrm>
              <a:off x="6464618" y="3104198"/>
              <a:ext cx="285750" cy="285750"/>
            </a:xfrm>
            <a:prstGeom prst="ellipse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85" name="TextBox 85"/>
            <p:cNvSpPr txBox="1"/>
            <p:nvPr/>
          </p:nvSpPr>
          <p:spPr>
            <a:xfrm>
              <a:off x="6558241" y="3178016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86" name="TextBox 86"/>
            <p:cNvSpPr txBox="1"/>
            <p:nvPr/>
          </p:nvSpPr>
          <p:spPr>
            <a:xfrm>
              <a:off x="6876860" y="1969770"/>
              <a:ext cx="92240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造出逆序串</a:t>
              </a:r>
            </a:p>
          </p:txBody>
        </p:sp>
        <p:sp>
          <p:nvSpPr>
            <p:cNvPr id="87" name="TextBox 87"/>
            <p:cNvSpPr txBox="1"/>
            <p:nvPr/>
          </p:nvSpPr>
          <p:spPr>
            <a:xfrm>
              <a:off x="6878002" y="2237899"/>
              <a:ext cx="252718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S = xabyckba，逆序 S⁻¹ = abkcybax</a:t>
              </a:r>
            </a:p>
          </p:txBody>
        </p:sp>
        <p:sp>
          <p:nvSpPr>
            <p:cNvPr id="88" name="TextBox 88"/>
            <p:cNvSpPr txBox="1"/>
            <p:nvPr/>
          </p:nvSpPr>
          <p:spPr>
            <a:xfrm>
              <a:off x="6876860" y="2552700"/>
              <a:ext cx="58862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求 LCS</a:t>
              </a:r>
            </a:p>
          </p:txBody>
        </p:sp>
        <p:sp>
          <p:nvSpPr>
            <p:cNvPr id="89" name="TextBox 89"/>
            <p:cNvSpPr txBox="1"/>
            <p:nvPr/>
          </p:nvSpPr>
          <p:spPr>
            <a:xfrm>
              <a:off x="6878002" y="2820829"/>
              <a:ext cx="234886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对 S 与 S⁻¹ 跑一遍 LCS，长度为 5</a:t>
              </a:r>
            </a:p>
          </p:txBody>
        </p:sp>
        <p:sp>
          <p:nvSpPr>
            <p:cNvPr id="90" name="TextBox 90"/>
            <p:cNvSpPr txBox="1"/>
            <p:nvPr/>
          </p:nvSpPr>
          <p:spPr>
            <a:xfrm>
              <a:off x="6876860" y="3135630"/>
              <a:ext cx="55892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读答案</a:t>
              </a:r>
            </a:p>
          </p:txBody>
        </p:sp>
        <p:sp>
          <p:nvSpPr>
            <p:cNvPr id="91" name="TextBox 91"/>
            <p:cNvSpPr txBox="1"/>
            <p:nvPr/>
          </p:nvSpPr>
          <p:spPr>
            <a:xfrm>
              <a:off x="6878002" y="3403759"/>
              <a:ext cx="336616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最长回文子序列长度就是 5，例如 abyba 或 abcba</a:t>
              </a:r>
            </a:p>
          </p:txBody>
        </p:sp>
      </p:grpSp>
      <p:grpSp>
        <p:nvGrpSpPr>
          <p:cNvPr id="101" name="c2-card-2"/>
          <p:cNvGrpSpPr/>
          <p:nvPr/>
        </p:nvGrpSpPr>
        <p:grpSpPr>
          <a:xfrm>
            <a:off x="6464618" y="3787140"/>
            <a:ext cx="5193982" cy="1841182"/>
            <a:chOff x="6464618" y="3787140"/>
            <a:chExt cx="5193982" cy="1841182"/>
          </a:xfrm>
        </p:grpSpPr>
        <p:sp>
          <p:nvSpPr>
            <p:cNvPr id="93" name="Rectangle 93"/>
            <p:cNvSpPr/>
            <p:nvPr/>
          </p:nvSpPr>
          <p:spPr>
            <a:xfrm>
              <a:off x="6464618" y="3787140"/>
              <a:ext cx="5193982" cy="1841182"/>
            </a:xfrm>
            <a:prstGeom prst="roundRect">
              <a:avLst>
                <a:gd name="adj" fmla="val 7243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94" name="Rectangle 94"/>
            <p:cNvSpPr/>
            <p:nvPr/>
          </p:nvSpPr>
          <p:spPr>
            <a:xfrm>
              <a:off x="6474142" y="3920490"/>
              <a:ext cx="47625" cy="1574482"/>
            </a:xfrm>
            <a:prstGeom prst="roundRect">
              <a:avLst>
                <a:gd name="adj" fmla="val 50000"/>
              </a:avLst>
            </a:prstGeom>
            <a:solidFill>
              <a:srgbClr val="5B6475"/>
            </a:solidFill>
            <a:ln>
              <a:noFill/>
            </a:ln>
          </p:spPr>
        </p:sp>
        <p:sp>
          <p:nvSpPr>
            <p:cNvPr id="95" name="Rectangle 95"/>
            <p:cNvSpPr/>
            <p:nvPr/>
          </p:nvSpPr>
          <p:spPr>
            <a:xfrm>
              <a:off x="6689408" y="3973830"/>
              <a:ext cx="458152" cy="238125"/>
            </a:xfrm>
            <a:prstGeom prst="roundRect">
              <a:avLst>
                <a:gd name="adj" fmla="val 50000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96" name="TextBox 96"/>
            <p:cNvSpPr txBox="1"/>
            <p:nvPr/>
          </p:nvSpPr>
          <p:spPr>
            <a:xfrm>
              <a:off x="6782079" y="4006691"/>
              <a:ext cx="273761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验证</a:t>
              </a:r>
            </a:p>
          </p:txBody>
        </p:sp>
        <p:sp>
          <p:nvSpPr>
            <p:cNvPr id="97" name="TextBox 97"/>
            <p:cNvSpPr txBox="1"/>
            <p:nvPr/>
          </p:nvSpPr>
          <p:spPr>
            <a:xfrm>
              <a:off x="7255954" y="4009072"/>
              <a:ext cx="128587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暴力枚举核对过</a:t>
              </a:r>
            </a:p>
          </p:txBody>
        </p:sp>
        <p:sp>
          <p:nvSpPr>
            <p:cNvPr id="98" name="TextBox 98"/>
            <p:cNvSpPr txBox="1"/>
            <p:nvPr/>
          </p:nvSpPr>
          <p:spPr>
            <a:xfrm>
              <a:off x="6682549" y="4334828"/>
              <a:ext cx="4557141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本讲义枚举了 xabyckba 全部 2⁸ = 256 条子序列，最长的回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文确实是 5 个字符，与 LCS 的结果一致。</a:t>
              </a:r>
            </a:p>
          </p:txBody>
        </p:sp>
        <p:sp>
          <p:nvSpPr>
            <p:cNvPr id="99" name="TextBox 99"/>
            <p:cNvSpPr txBox="1"/>
            <p:nvPr/>
          </p:nvSpPr>
          <p:spPr>
            <a:xfrm>
              <a:off x="6683692" y="4888706"/>
              <a:ext cx="381094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源课件第 25 页高亮的 abcba 也是 5 个字符，同样正确。</a:t>
              </a:r>
            </a:p>
          </p:txBody>
        </p:sp>
        <p:sp>
          <p:nvSpPr>
            <p:cNvPr id="100" name="TextBox 100"/>
            <p:cNvSpPr txBox="1"/>
            <p:nvPr/>
          </p:nvSpPr>
          <p:spPr>
            <a:xfrm>
              <a:off x="6683692" y="5149691"/>
              <a:ext cx="484296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相等的只是长度：S = abcab 时 acb 也是最长公共子序列，却不是回文。</a:t>
              </a:r>
            </a:p>
          </p:txBody>
        </p:sp>
      </p:grpSp>
      <p:grpSp>
        <p:nvGrpSpPr>
          <p:cNvPr id="108" name="takeaway"/>
          <p:cNvGrpSpPr/>
          <p:nvPr/>
        </p:nvGrpSpPr>
        <p:grpSpPr>
          <a:xfrm>
            <a:off x="533400" y="5881688"/>
            <a:ext cx="11125200" cy="481012"/>
            <a:chOff x="533400" y="5881688"/>
            <a:chExt cx="11125200" cy="481012"/>
          </a:xfrm>
        </p:grpSpPr>
        <p:sp>
          <p:nvSpPr>
            <p:cNvPr id="102" name="Rectangle 102"/>
            <p:cNvSpPr/>
            <p:nvPr/>
          </p:nvSpPr>
          <p:spPr>
            <a:xfrm>
              <a:off x="533400" y="5881688"/>
              <a:ext cx="11125200" cy="481012"/>
            </a:xfrm>
            <a:prstGeom prst="roundRect">
              <a:avLst>
                <a:gd name="adj" fmla="val 23762"/>
              </a:avLst>
            </a:prstGeom>
            <a:solidFill>
              <a:srgbClr val="FDECEA"/>
            </a:solidFill>
            <a:ln>
              <a:noFill/>
            </a:ln>
          </p:spPr>
        </p:sp>
        <p:grpSp>
          <p:nvGrpSpPr>
            <p:cNvPr id="106" name="Group 106"/>
            <p:cNvGrpSpPr/>
            <p:nvPr/>
          </p:nvGrpSpPr>
          <p:grpSpPr>
            <a:xfrm>
              <a:off x="726129" y="6018966"/>
              <a:ext cx="224134" cy="192560"/>
              <a:chOff x="726129" y="6018966"/>
              <a:chExt cx="224134" cy="192560"/>
            </a:xfrm>
          </p:grpSpPr>
          <p:sp>
            <p:nvSpPr>
              <p:cNvPr id="103" name="Freeform 103"/>
              <p:cNvSpPr/>
              <p:nvPr/>
            </p:nvSpPr>
            <p:spPr>
              <a:xfrm>
                <a:off x="838200" y="6089333"/>
                <a:ext cx="952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44450">
                    <a:moveTo>
                      <a:pt x="0" y="0"/>
                    </a:moveTo>
                    <a:lnTo>
                      <a:pt x="0" y="44450"/>
                    </a:ln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  <p:sp>
            <p:nvSpPr>
              <p:cNvPr id="104" name="Freeform 104"/>
              <p:cNvSpPr/>
              <p:nvPr/>
            </p:nvSpPr>
            <p:spPr>
              <a:xfrm>
                <a:off x="726129" y="6018966"/>
                <a:ext cx="224134" cy="192560"/>
              </a:xfrm>
              <a:custGeom>
                <a:avLst/>
                <a:gdLst/>
                <a:ahLst/>
                <a:cxnLst/>
                <a:rect l="l" t="t" r="r" b="b"/>
                <a:pathLst>
                  <a:path w="224134" h="192560">
                    <a:moveTo>
                      <a:pt x="93880" y="10259"/>
                    </a:moveTo>
                    <a:lnTo>
                      <a:pt x="3802" y="160656"/>
                    </a:lnTo>
                    <a:cubicBezTo>
                      <a:pt x="23" y="167200"/>
                      <a:pt x="0" y="175257"/>
                      <a:pt x="3741" y="181823"/>
                    </a:cubicBezTo>
                    <a:cubicBezTo>
                      <a:pt x="7482" y="188388"/>
                      <a:pt x="14426" y="192476"/>
                      <a:pt x="21982" y="192560"/>
                    </a:cubicBezTo>
                    <a:lnTo>
                      <a:pt x="202160" y="192560"/>
                    </a:lnTo>
                    <a:cubicBezTo>
                      <a:pt x="209713" y="192473"/>
                      <a:pt x="216653" y="188387"/>
                      <a:pt x="220393" y="181826"/>
                    </a:cubicBezTo>
                    <a:cubicBezTo>
                      <a:pt x="224134" y="175264"/>
                      <a:pt x="224114" y="167211"/>
                      <a:pt x="220341" y="160667"/>
                    </a:cubicBezTo>
                    <a:lnTo>
                      <a:pt x="130262" y="10248"/>
                    </a:lnTo>
                    <a:cubicBezTo>
                      <a:pt x="126408" y="3886"/>
                      <a:pt x="119510" y="0"/>
                      <a:pt x="112071" y="0"/>
                    </a:cubicBezTo>
                    <a:cubicBezTo>
                      <a:pt x="104633" y="0"/>
                      <a:pt x="97734" y="3886"/>
                      <a:pt x="93880" y="10248"/>
                    </a:cubicBez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  <p:sp>
            <p:nvSpPr>
              <p:cNvPr id="105" name="Freeform 105"/>
              <p:cNvSpPr/>
              <p:nvPr/>
            </p:nvSpPr>
            <p:spPr>
              <a:xfrm>
                <a:off x="838200" y="6167121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</p:grpSp>
        <p:sp>
          <p:nvSpPr>
            <p:cNvPr id="107" name="TextBox 107"/>
            <p:cNvSpPr txBox="1"/>
            <p:nvPr/>
          </p:nvSpPr>
          <p:spPr>
            <a:xfrm>
              <a:off x="1040892" y="6028373"/>
              <a:ext cx="1012326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这一招只对回文子序列成立。求最长回文子串不能这么做：abacdfgdcaba 的最长回文子串只有 aba，而逆序 LCS 会给出 11。</a:t>
              </a:r>
            </a:p>
          </p:txBody>
        </p:sp>
      </p:grpSp>
      <p:grpSp>
        <p:nvGrpSpPr>
          <p:cNvPr id="111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109" name="TextBox 109"/>
            <p:cNvSpPr txBox="1"/>
            <p:nvPr/>
          </p:nvSpPr>
          <p:spPr>
            <a:xfrm>
              <a:off x="528447" y="6581299"/>
              <a:ext cx="2120748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数据结构 · 专题1 字符串的模糊匹配</a:t>
              </a:r>
            </a:p>
          </p:txBody>
        </p:sp>
        <p:sp>
          <p:nvSpPr>
            <p:cNvPr id="110" name="TextBox 110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31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6299660" cy="909257"/>
            <a:chOff x="520446" y="342900"/>
            <a:chExt cx="6299660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129790" cy="266700"/>
            </a:xfrm>
            <a:prstGeom prst="roundRect">
              <a:avLst>
                <a:gd name="adj" fmla="val 50000"/>
              </a:avLst>
            </a:prstGeom>
            <a:solidFill>
              <a:srgbClr val="E6EFF9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05008" y="407194"/>
              <a:ext cx="198657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5FA8"/>
                  </a:solidFill>
                  <a:latin typeface="+mn-lt"/>
                  <a:ea typeface="+mn-ea"/>
                  <a:cs typeface="+mn-cs"/>
                </a:rPr>
                <a:t>专题1 模糊匹配 · 三道变形题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6299660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变形三：最少删几个字符能让 S 变成回文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1F5FA8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20" name="c1-steps-1"/>
          <p:cNvGrpSpPr/>
          <p:nvPr/>
        </p:nvGrpSpPr>
        <p:grpSpPr>
          <a:xfrm>
            <a:off x="533400" y="1533525"/>
            <a:ext cx="4388790" cy="1878615"/>
            <a:chOff x="533400" y="1533525"/>
            <a:chExt cx="4388790" cy="1878615"/>
          </a:xfrm>
        </p:grpSpPr>
        <p:sp>
          <p:nvSpPr>
            <p:cNvPr id="7" name="Rectangle 7"/>
            <p:cNvSpPr/>
            <p:nvPr/>
          </p:nvSpPr>
          <p:spPr>
            <a:xfrm>
              <a:off x="666750" y="1676400"/>
              <a:ext cx="19050" cy="130111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8" name="Ellipse 8"/>
            <p:cNvSpPr/>
            <p:nvPr/>
          </p:nvSpPr>
          <p:spPr>
            <a:xfrm>
              <a:off x="533400" y="1533525"/>
              <a:ext cx="285750" cy="285750"/>
            </a:xfrm>
            <a:prstGeom prst="ellipse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627024" y="1607344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10" name="Ellipse 10"/>
            <p:cNvSpPr/>
            <p:nvPr/>
          </p:nvSpPr>
          <p:spPr>
            <a:xfrm>
              <a:off x="533400" y="2184082"/>
              <a:ext cx="285750" cy="285750"/>
            </a:xfrm>
            <a:prstGeom prst="ellipse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627024" y="2257901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12" name="Ellipse 12"/>
            <p:cNvSpPr/>
            <p:nvPr/>
          </p:nvSpPr>
          <p:spPr>
            <a:xfrm>
              <a:off x="533400" y="2834640"/>
              <a:ext cx="285750" cy="285750"/>
            </a:xfrm>
            <a:prstGeom prst="ellipse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627024" y="2908459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944880" y="1567815"/>
              <a:ext cx="41910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转换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946023" y="1861661"/>
              <a:ext cx="3976167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删剩下的部分必须是回文，要删得最少就要留得最多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944880" y="2218372"/>
              <a:ext cx="62103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求最长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946023" y="2512219"/>
              <a:ext cx="3786297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留下的最长回文子序列长度记为 L，用变形二求出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944880" y="2868930"/>
              <a:ext cx="41910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答案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946023" y="3162776"/>
              <a:ext cx="1724142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最少删除 n - L 个字符</a:t>
              </a:r>
            </a:p>
          </p:txBody>
        </p:sp>
      </p:grpSp>
      <p:grpSp>
        <p:nvGrpSpPr>
          <p:cNvPr id="57" name="c1-cells-2"/>
          <p:cNvGrpSpPr/>
          <p:nvPr/>
        </p:nvGrpSpPr>
        <p:grpSpPr>
          <a:xfrm>
            <a:off x="526923" y="3590925"/>
            <a:ext cx="5199507" cy="1209675"/>
            <a:chOff x="526923" y="3590925"/>
            <a:chExt cx="5199507" cy="1209675"/>
          </a:xfrm>
        </p:grpSpPr>
        <p:sp>
          <p:nvSpPr>
            <p:cNvPr id="21" name="TextBox 21"/>
            <p:cNvSpPr txBox="1"/>
            <p:nvPr/>
          </p:nvSpPr>
          <p:spPr>
            <a:xfrm>
              <a:off x="526923" y="3720941"/>
              <a:ext cx="11809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80" b="1" dirty="0">
                  <a:solidFill>
                    <a:srgbClr val="1F5FA8"/>
                  </a:solidFill>
                  <a:latin typeface="+mn-lt"/>
                  <a:ea typeface="+mn-ea"/>
                  <a:cs typeface="+mn-cs"/>
                </a:rPr>
                <a:t>S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991552" y="3590925"/>
              <a:ext cx="591502" cy="419100"/>
            </a:xfrm>
            <a:prstGeom prst="rect">
              <a:avLst/>
            </a:prstGeom>
            <a:solidFill>
              <a:srgbClr val="FDECEA"/>
            </a:solidFill>
            <a:ln w="15240">
              <a:solidFill>
                <a:srgbClr val="B42318"/>
              </a:solidFill>
            </a:ln>
          </p:spPr>
        </p:sp>
        <p:sp>
          <p:nvSpPr>
            <p:cNvPr id="23" name="TextBox 23"/>
            <p:cNvSpPr txBox="1"/>
            <p:nvPr/>
          </p:nvSpPr>
          <p:spPr>
            <a:xfrm>
              <a:off x="1231547" y="3720941"/>
              <a:ext cx="11246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80" b="1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x</a:t>
              </a:r>
            </a:p>
          </p:txBody>
        </p:sp>
        <p:sp>
          <p:nvSpPr>
            <p:cNvPr id="24" name="Rectangle 24"/>
            <p:cNvSpPr/>
            <p:nvPr/>
          </p:nvSpPr>
          <p:spPr>
            <a:xfrm>
              <a:off x="1584008" y="3590925"/>
              <a:ext cx="591502" cy="419100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1F5FA8"/>
              </a:solidFill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1823050" y="3720941"/>
              <a:ext cx="11246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a</a:t>
              </a:r>
            </a:p>
          </p:txBody>
        </p:sp>
        <p:sp>
          <p:nvSpPr>
            <p:cNvPr id="26" name="Rectangle 26"/>
            <p:cNvSpPr/>
            <p:nvPr/>
          </p:nvSpPr>
          <p:spPr>
            <a:xfrm>
              <a:off x="2175510" y="3590925"/>
              <a:ext cx="591502" cy="419100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1F5FA8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2415505" y="3720941"/>
              <a:ext cx="11246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b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2767965" y="3590925"/>
              <a:ext cx="591502" cy="419100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1F5FA8"/>
              </a:solidFill>
            </a:ln>
          </p:spPr>
        </p:sp>
        <p:sp>
          <p:nvSpPr>
            <p:cNvPr id="29" name="TextBox 29"/>
            <p:cNvSpPr txBox="1"/>
            <p:nvPr/>
          </p:nvSpPr>
          <p:spPr>
            <a:xfrm>
              <a:off x="3007007" y="3720941"/>
              <a:ext cx="11246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y</a:t>
              </a:r>
            </a:p>
          </p:txBody>
        </p:sp>
        <p:sp>
          <p:nvSpPr>
            <p:cNvPr id="30" name="Rectangle 30"/>
            <p:cNvSpPr/>
            <p:nvPr/>
          </p:nvSpPr>
          <p:spPr>
            <a:xfrm>
              <a:off x="3359468" y="3590925"/>
              <a:ext cx="591502" cy="419100"/>
            </a:xfrm>
            <a:prstGeom prst="rect">
              <a:avLst/>
            </a:prstGeom>
            <a:solidFill>
              <a:srgbClr val="FDECEA"/>
            </a:solidFill>
            <a:ln w="15240">
              <a:solidFill>
                <a:srgbClr val="B42318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3599462" y="3720941"/>
              <a:ext cx="11246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80" b="1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c</a:t>
              </a:r>
            </a:p>
          </p:txBody>
        </p:sp>
        <p:sp>
          <p:nvSpPr>
            <p:cNvPr id="32" name="Rectangle 32"/>
            <p:cNvSpPr/>
            <p:nvPr/>
          </p:nvSpPr>
          <p:spPr>
            <a:xfrm>
              <a:off x="3950970" y="3590925"/>
              <a:ext cx="591502" cy="419100"/>
            </a:xfrm>
            <a:prstGeom prst="rect">
              <a:avLst/>
            </a:prstGeom>
            <a:solidFill>
              <a:srgbClr val="FDECEA"/>
            </a:solidFill>
            <a:ln w="15240">
              <a:solidFill>
                <a:srgbClr val="B42318"/>
              </a:solidFill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4190965" y="3720941"/>
              <a:ext cx="11246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80" b="1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k</a:t>
              </a:r>
            </a:p>
          </p:txBody>
        </p:sp>
        <p:sp>
          <p:nvSpPr>
            <p:cNvPr id="34" name="Rectangle 34"/>
            <p:cNvSpPr/>
            <p:nvPr/>
          </p:nvSpPr>
          <p:spPr>
            <a:xfrm>
              <a:off x="4543425" y="3590925"/>
              <a:ext cx="591502" cy="419100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1F5FA8"/>
              </a:solidFill>
            </a:ln>
          </p:spPr>
        </p:sp>
        <p:sp>
          <p:nvSpPr>
            <p:cNvPr id="35" name="TextBox 35"/>
            <p:cNvSpPr txBox="1"/>
            <p:nvPr/>
          </p:nvSpPr>
          <p:spPr>
            <a:xfrm>
              <a:off x="4783420" y="3720941"/>
              <a:ext cx="11246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b</a:t>
              </a:r>
            </a:p>
          </p:txBody>
        </p:sp>
        <p:sp>
          <p:nvSpPr>
            <p:cNvPr id="36" name="Rectangle 36"/>
            <p:cNvSpPr/>
            <p:nvPr/>
          </p:nvSpPr>
          <p:spPr>
            <a:xfrm>
              <a:off x="5134928" y="3590925"/>
              <a:ext cx="591502" cy="419100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1F5FA8"/>
              </a:solidFill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5374922" y="3720941"/>
              <a:ext cx="11246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a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1246547" y="4066699"/>
              <a:ext cx="8246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1838049" y="4066699"/>
              <a:ext cx="8246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2430504" y="4066699"/>
              <a:ext cx="8246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3022007" y="4066699"/>
              <a:ext cx="8246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3614462" y="4066699"/>
              <a:ext cx="8246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5</a:t>
              </a:r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4205964" y="4066699"/>
              <a:ext cx="8246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6</a:t>
              </a:r>
            </a:p>
          </p:txBody>
        </p:sp>
        <p:sp>
          <p:nvSpPr>
            <p:cNvPr id="44" name="TextBox 44"/>
            <p:cNvSpPr txBox="1"/>
            <p:nvPr/>
          </p:nvSpPr>
          <p:spPr>
            <a:xfrm>
              <a:off x="4798419" y="4066699"/>
              <a:ext cx="8246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7</a:t>
              </a:r>
            </a:p>
          </p:txBody>
        </p:sp>
        <p:sp>
          <p:nvSpPr>
            <p:cNvPr id="45" name="TextBox 45"/>
            <p:cNvSpPr txBox="1"/>
            <p:nvPr/>
          </p:nvSpPr>
          <p:spPr>
            <a:xfrm>
              <a:off x="5389922" y="4066699"/>
              <a:ext cx="8246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8</a:t>
              </a:r>
            </a:p>
          </p:txBody>
        </p:sp>
        <p:sp>
          <p:nvSpPr>
            <p:cNvPr id="46" name="TextBox 46"/>
            <p:cNvSpPr txBox="1"/>
            <p:nvPr/>
          </p:nvSpPr>
          <p:spPr>
            <a:xfrm>
              <a:off x="526923" y="4511516"/>
              <a:ext cx="35758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5FA8"/>
                  </a:solidFill>
                  <a:latin typeface="+mn-lt"/>
                  <a:ea typeface="+mn-ea"/>
                  <a:cs typeface="+mn-cs"/>
                </a:rPr>
                <a:t>删后</a:t>
              </a:r>
            </a:p>
          </p:txBody>
        </p:sp>
        <p:sp>
          <p:nvSpPr>
            <p:cNvPr id="47" name="Rectangle 47"/>
            <p:cNvSpPr/>
            <p:nvPr/>
          </p:nvSpPr>
          <p:spPr>
            <a:xfrm>
              <a:off x="991552" y="4381500"/>
              <a:ext cx="591502" cy="419100"/>
            </a:xfrm>
            <a:prstGeom prst="rect">
              <a:avLst/>
            </a:prstGeom>
            <a:solidFill>
              <a:srgbClr val="FDEEE7"/>
            </a:solidFill>
            <a:ln w="15240">
              <a:solidFill>
                <a:srgbClr val="F26B3A"/>
              </a:solidFill>
            </a:ln>
          </p:spPr>
        </p:sp>
        <p:sp>
          <p:nvSpPr>
            <p:cNvPr id="48" name="TextBox 48"/>
            <p:cNvSpPr txBox="1"/>
            <p:nvPr/>
          </p:nvSpPr>
          <p:spPr>
            <a:xfrm>
              <a:off x="1231547" y="4511516"/>
              <a:ext cx="11246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a</a:t>
              </a:r>
            </a:p>
          </p:txBody>
        </p:sp>
        <p:sp>
          <p:nvSpPr>
            <p:cNvPr id="49" name="Rectangle 49"/>
            <p:cNvSpPr/>
            <p:nvPr/>
          </p:nvSpPr>
          <p:spPr>
            <a:xfrm>
              <a:off x="1584008" y="4381500"/>
              <a:ext cx="591502" cy="419100"/>
            </a:xfrm>
            <a:prstGeom prst="rect">
              <a:avLst/>
            </a:prstGeom>
            <a:solidFill>
              <a:srgbClr val="FDEEE7"/>
            </a:solidFill>
            <a:ln w="15240">
              <a:solidFill>
                <a:srgbClr val="F26B3A"/>
              </a:solidFill>
            </a:ln>
          </p:spPr>
        </p:sp>
        <p:sp>
          <p:nvSpPr>
            <p:cNvPr id="50" name="TextBox 50"/>
            <p:cNvSpPr txBox="1"/>
            <p:nvPr/>
          </p:nvSpPr>
          <p:spPr>
            <a:xfrm>
              <a:off x="1823050" y="4511516"/>
              <a:ext cx="11246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b</a:t>
              </a:r>
            </a:p>
          </p:txBody>
        </p:sp>
        <p:sp>
          <p:nvSpPr>
            <p:cNvPr id="51" name="Rectangle 51"/>
            <p:cNvSpPr/>
            <p:nvPr/>
          </p:nvSpPr>
          <p:spPr>
            <a:xfrm>
              <a:off x="2175510" y="4381500"/>
              <a:ext cx="591502" cy="419100"/>
            </a:xfrm>
            <a:prstGeom prst="rect">
              <a:avLst/>
            </a:prstGeom>
            <a:solidFill>
              <a:srgbClr val="FDEEE7"/>
            </a:solidFill>
            <a:ln w="15240">
              <a:solidFill>
                <a:srgbClr val="F26B3A"/>
              </a:solidFill>
            </a:ln>
          </p:spPr>
        </p:sp>
        <p:sp>
          <p:nvSpPr>
            <p:cNvPr id="52" name="TextBox 52"/>
            <p:cNvSpPr txBox="1"/>
            <p:nvPr/>
          </p:nvSpPr>
          <p:spPr>
            <a:xfrm>
              <a:off x="2415505" y="4511516"/>
              <a:ext cx="11246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y</a:t>
              </a:r>
            </a:p>
          </p:txBody>
        </p:sp>
        <p:sp>
          <p:nvSpPr>
            <p:cNvPr id="53" name="Rectangle 53"/>
            <p:cNvSpPr/>
            <p:nvPr/>
          </p:nvSpPr>
          <p:spPr>
            <a:xfrm>
              <a:off x="2767965" y="4381500"/>
              <a:ext cx="591502" cy="419100"/>
            </a:xfrm>
            <a:prstGeom prst="rect">
              <a:avLst/>
            </a:prstGeom>
            <a:solidFill>
              <a:srgbClr val="FDEEE7"/>
            </a:solidFill>
            <a:ln w="15240">
              <a:solidFill>
                <a:srgbClr val="F26B3A"/>
              </a:solidFill>
            </a:ln>
          </p:spPr>
        </p:sp>
        <p:sp>
          <p:nvSpPr>
            <p:cNvPr id="54" name="TextBox 54"/>
            <p:cNvSpPr txBox="1"/>
            <p:nvPr/>
          </p:nvSpPr>
          <p:spPr>
            <a:xfrm>
              <a:off x="3007007" y="4511516"/>
              <a:ext cx="11246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b</a:t>
              </a:r>
            </a:p>
          </p:txBody>
        </p:sp>
        <p:sp>
          <p:nvSpPr>
            <p:cNvPr id="55" name="Rectangle 55"/>
            <p:cNvSpPr/>
            <p:nvPr/>
          </p:nvSpPr>
          <p:spPr>
            <a:xfrm>
              <a:off x="3359468" y="4381500"/>
              <a:ext cx="591502" cy="419100"/>
            </a:xfrm>
            <a:prstGeom prst="rect">
              <a:avLst/>
            </a:prstGeom>
            <a:solidFill>
              <a:srgbClr val="FDEEE7"/>
            </a:solidFill>
            <a:ln w="15240">
              <a:solidFill>
                <a:srgbClr val="F26B3A"/>
              </a:solidFill>
            </a:ln>
          </p:spPr>
        </p:sp>
        <p:sp>
          <p:nvSpPr>
            <p:cNvPr id="56" name="TextBox 56"/>
            <p:cNvSpPr txBox="1"/>
            <p:nvPr/>
          </p:nvSpPr>
          <p:spPr>
            <a:xfrm>
              <a:off x="3599462" y="4511516"/>
              <a:ext cx="11246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a</a:t>
              </a:r>
            </a:p>
          </p:txBody>
        </p:sp>
      </p:grpSp>
      <p:grpSp>
        <p:nvGrpSpPr>
          <p:cNvPr id="64" name="c1-callout-3"/>
          <p:cNvGrpSpPr/>
          <p:nvPr/>
        </p:nvGrpSpPr>
        <p:grpSpPr>
          <a:xfrm>
            <a:off x="533400" y="4991100"/>
            <a:ext cx="5193982" cy="931545"/>
            <a:chOff x="533400" y="4991100"/>
            <a:chExt cx="5193982" cy="931545"/>
          </a:xfrm>
        </p:grpSpPr>
        <p:sp>
          <p:nvSpPr>
            <p:cNvPr id="58" name="Rectangle 58"/>
            <p:cNvSpPr/>
            <p:nvPr/>
          </p:nvSpPr>
          <p:spPr>
            <a:xfrm>
              <a:off x="533400" y="4991100"/>
              <a:ext cx="5193982" cy="931545"/>
            </a:xfrm>
            <a:prstGeom prst="roundRect">
              <a:avLst>
                <a:gd name="adj" fmla="val 12270"/>
              </a:avLst>
            </a:prstGeom>
            <a:solidFill>
              <a:srgbClr val="FDECEA"/>
            </a:solidFill>
            <a:ln>
              <a:noFill/>
            </a:ln>
          </p:spPr>
        </p:sp>
        <p:grpSp>
          <p:nvGrpSpPr>
            <p:cNvPr id="62" name="Group 62"/>
            <p:cNvGrpSpPr/>
            <p:nvPr/>
          </p:nvGrpSpPr>
          <p:grpSpPr>
            <a:xfrm>
              <a:off x="726129" y="5353168"/>
              <a:ext cx="224134" cy="192560"/>
              <a:chOff x="726129" y="5353168"/>
              <a:chExt cx="224134" cy="192560"/>
            </a:xfrm>
          </p:grpSpPr>
          <p:sp>
            <p:nvSpPr>
              <p:cNvPr id="59" name="Freeform 59"/>
              <p:cNvSpPr/>
              <p:nvPr/>
            </p:nvSpPr>
            <p:spPr>
              <a:xfrm>
                <a:off x="838200" y="5423535"/>
                <a:ext cx="952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44450">
                    <a:moveTo>
                      <a:pt x="0" y="0"/>
                    </a:moveTo>
                    <a:lnTo>
                      <a:pt x="0" y="44450"/>
                    </a:ln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  <p:sp>
            <p:nvSpPr>
              <p:cNvPr id="60" name="Freeform 60"/>
              <p:cNvSpPr/>
              <p:nvPr/>
            </p:nvSpPr>
            <p:spPr>
              <a:xfrm>
                <a:off x="726129" y="5353168"/>
                <a:ext cx="224134" cy="192560"/>
              </a:xfrm>
              <a:custGeom>
                <a:avLst/>
                <a:gdLst/>
                <a:ahLst/>
                <a:cxnLst/>
                <a:rect l="l" t="t" r="r" b="b"/>
                <a:pathLst>
                  <a:path w="224134" h="192560">
                    <a:moveTo>
                      <a:pt x="93880" y="10259"/>
                    </a:moveTo>
                    <a:lnTo>
                      <a:pt x="3802" y="160656"/>
                    </a:lnTo>
                    <a:cubicBezTo>
                      <a:pt x="23" y="167200"/>
                      <a:pt x="0" y="175257"/>
                      <a:pt x="3741" y="181823"/>
                    </a:cubicBezTo>
                    <a:cubicBezTo>
                      <a:pt x="7482" y="188388"/>
                      <a:pt x="14426" y="192476"/>
                      <a:pt x="21982" y="192560"/>
                    </a:cubicBezTo>
                    <a:lnTo>
                      <a:pt x="202160" y="192560"/>
                    </a:lnTo>
                    <a:cubicBezTo>
                      <a:pt x="209713" y="192473"/>
                      <a:pt x="216653" y="188387"/>
                      <a:pt x="220393" y="181826"/>
                    </a:cubicBezTo>
                    <a:cubicBezTo>
                      <a:pt x="224134" y="175264"/>
                      <a:pt x="224114" y="167211"/>
                      <a:pt x="220341" y="160667"/>
                    </a:cubicBezTo>
                    <a:lnTo>
                      <a:pt x="130262" y="10248"/>
                    </a:lnTo>
                    <a:cubicBezTo>
                      <a:pt x="126408" y="3886"/>
                      <a:pt x="119510" y="0"/>
                      <a:pt x="112071" y="0"/>
                    </a:cubicBezTo>
                    <a:cubicBezTo>
                      <a:pt x="104633" y="0"/>
                      <a:pt x="97734" y="3886"/>
                      <a:pt x="93880" y="10248"/>
                    </a:cubicBez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  <p:sp>
            <p:nvSpPr>
              <p:cNvPr id="61" name="Freeform 61"/>
              <p:cNvSpPr/>
              <p:nvPr/>
            </p:nvSpPr>
            <p:spPr>
              <a:xfrm>
                <a:off x="838200" y="5501323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</p:grpSp>
        <p:sp>
          <p:nvSpPr>
            <p:cNvPr id="63" name="TextBox 63"/>
            <p:cNvSpPr txBox="1"/>
            <p:nvPr/>
          </p:nvSpPr>
          <p:spPr>
            <a:xfrm>
              <a:off x="1040130" y="5213985"/>
              <a:ext cx="4311015" cy="56959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75"/>
                </a:lnSpc>
              </a:pPr>
              <a:r>
                <a:rPr lang="zh-CN" sz="1500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删除的是字符不是位置对，所以答案是 n - L，不要</a:t>
              </a:r>
              <a:br/>
              <a:r>
                <a:rPr lang="zh-CN" sz="1500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写成 (n - L)/2。</a:t>
              </a:r>
            </a:p>
          </p:txBody>
        </p:sp>
      </p:grpSp>
      <p:grpSp>
        <p:nvGrpSpPr>
          <p:cNvPr id="73" name="c2-card-1"/>
          <p:cNvGrpSpPr/>
          <p:nvPr/>
        </p:nvGrpSpPr>
        <p:grpSpPr>
          <a:xfrm>
            <a:off x="6032182" y="1524000"/>
            <a:ext cx="5626418" cy="1720215"/>
            <a:chOff x="6032182" y="1524000"/>
            <a:chExt cx="5626418" cy="1720215"/>
          </a:xfrm>
        </p:grpSpPr>
        <p:sp>
          <p:nvSpPr>
            <p:cNvPr id="65" name="Rectangle 65"/>
            <p:cNvSpPr/>
            <p:nvPr/>
          </p:nvSpPr>
          <p:spPr>
            <a:xfrm>
              <a:off x="6032182" y="1524000"/>
              <a:ext cx="5626418" cy="1720215"/>
            </a:xfrm>
            <a:prstGeom prst="roundRect">
              <a:avLst>
                <a:gd name="adj" fmla="val 7752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66" name="Rectangle 66"/>
            <p:cNvSpPr/>
            <p:nvPr/>
          </p:nvSpPr>
          <p:spPr>
            <a:xfrm>
              <a:off x="6041708" y="1657350"/>
              <a:ext cx="47625" cy="1453515"/>
            </a:xfrm>
            <a:prstGeom prst="roundRect">
              <a:avLst>
                <a:gd name="adj" fmla="val 50000"/>
              </a:avLst>
            </a:prstGeom>
            <a:solidFill>
              <a:srgbClr val="14A38B"/>
            </a:solidFill>
            <a:ln>
              <a:noFill/>
            </a:ln>
          </p:spPr>
        </p:sp>
        <p:sp>
          <p:nvSpPr>
            <p:cNvPr id="67" name="Rectangle 67"/>
            <p:cNvSpPr/>
            <p:nvPr/>
          </p:nvSpPr>
          <p:spPr>
            <a:xfrm>
              <a:off x="6279832" y="1733550"/>
              <a:ext cx="351472" cy="257175"/>
            </a:xfrm>
            <a:prstGeom prst="roundRect">
              <a:avLst>
                <a:gd name="adj" fmla="val 50000"/>
              </a:avLst>
            </a:prstGeom>
            <a:solidFill>
              <a:srgbClr val="E3F5F1"/>
            </a:solidFill>
            <a:ln>
              <a:noFill/>
            </a:ln>
          </p:spPr>
        </p:sp>
        <p:sp>
          <p:nvSpPr>
            <p:cNvPr id="68" name="TextBox 68"/>
            <p:cNvSpPr txBox="1"/>
            <p:nvPr/>
          </p:nvSpPr>
          <p:spPr>
            <a:xfrm>
              <a:off x="6373990" y="1769269"/>
              <a:ext cx="16220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例</a:t>
              </a:r>
            </a:p>
          </p:txBody>
        </p:sp>
        <p:sp>
          <p:nvSpPr>
            <p:cNvPr id="69" name="TextBox 69"/>
            <p:cNvSpPr txBox="1"/>
            <p:nvPr/>
          </p:nvSpPr>
          <p:spPr>
            <a:xfrm>
              <a:off x="6737985" y="1768792"/>
              <a:ext cx="1995726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S = xabyckba，n = 8</a:t>
              </a:r>
            </a:p>
          </p:txBody>
        </p:sp>
        <p:sp>
          <p:nvSpPr>
            <p:cNvPr id="70" name="TextBox 70"/>
            <p:cNvSpPr txBox="1"/>
            <p:nvPr/>
          </p:nvSpPr>
          <p:spPr>
            <a:xfrm>
              <a:off x="6272212" y="2129790"/>
              <a:ext cx="3537776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最长回文子序列长度 L = 5（abyba）。</a:t>
              </a:r>
            </a:p>
          </p:txBody>
        </p:sp>
        <p:sp>
          <p:nvSpPr>
            <p:cNvPr id="71" name="TextBox 71"/>
            <p:cNvSpPr txBox="1"/>
            <p:nvPr/>
          </p:nvSpPr>
          <p:spPr>
            <a:xfrm>
              <a:off x="6272212" y="2465070"/>
              <a:ext cx="4154805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最少删 8 - 5 = 3 个字符，删掉的是 x、c、k。</a:t>
              </a:r>
            </a:p>
          </p:txBody>
        </p:sp>
        <p:sp>
          <p:nvSpPr>
            <p:cNvPr id="72" name="TextBox 72"/>
            <p:cNvSpPr txBox="1"/>
            <p:nvPr/>
          </p:nvSpPr>
          <p:spPr>
            <a:xfrm>
              <a:off x="6272212" y="2800350"/>
              <a:ext cx="448799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若改留 abcba，删掉的是 x、y、k，同样是 3 个。</a:t>
              </a:r>
            </a:p>
          </p:txBody>
        </p:sp>
      </p:grpSp>
      <p:grpSp>
        <p:nvGrpSpPr>
          <p:cNvPr id="81" name="c2-card-2"/>
          <p:cNvGrpSpPr/>
          <p:nvPr/>
        </p:nvGrpSpPr>
        <p:grpSpPr>
          <a:xfrm>
            <a:off x="6032182" y="3434715"/>
            <a:ext cx="5626418" cy="2487930"/>
            <a:chOff x="6032182" y="3434715"/>
            <a:chExt cx="5626418" cy="2487930"/>
          </a:xfrm>
        </p:grpSpPr>
        <p:sp>
          <p:nvSpPr>
            <p:cNvPr id="74" name="Rectangle 74"/>
            <p:cNvSpPr/>
            <p:nvPr/>
          </p:nvSpPr>
          <p:spPr>
            <a:xfrm>
              <a:off x="6032182" y="3434715"/>
              <a:ext cx="5626418" cy="2487930"/>
            </a:xfrm>
            <a:prstGeom prst="roundRect">
              <a:avLst>
                <a:gd name="adj" fmla="val 5360"/>
              </a:avLst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75" name="Rectangle 75"/>
            <p:cNvSpPr/>
            <p:nvPr/>
          </p:nvSpPr>
          <p:spPr>
            <a:xfrm>
              <a:off x="6241732" y="3644265"/>
              <a:ext cx="494348" cy="257175"/>
            </a:xfrm>
            <a:prstGeom prst="roundRect">
              <a:avLst>
                <a:gd name="adj" fmla="val 50000"/>
              </a:avLst>
            </a:prstGeom>
            <a:solidFill>
              <a:srgbClr val="174A85"/>
            </a:solidFill>
            <a:ln>
              <a:noFill/>
            </a:ln>
          </p:spPr>
        </p:sp>
        <p:sp>
          <p:nvSpPr>
            <p:cNvPr id="76" name="TextBox 76"/>
            <p:cNvSpPr txBox="1"/>
            <p:nvPr/>
          </p:nvSpPr>
          <p:spPr>
            <a:xfrm>
              <a:off x="6331941" y="3679984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套路</a:t>
              </a:r>
            </a:p>
          </p:txBody>
        </p:sp>
        <p:sp>
          <p:nvSpPr>
            <p:cNvPr id="77" name="TextBox 77"/>
            <p:cNvSpPr txBox="1"/>
            <p:nvPr/>
          </p:nvSpPr>
          <p:spPr>
            <a:xfrm>
              <a:off x="6841808" y="3679508"/>
              <a:ext cx="203454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三道变形题的共同做法</a:t>
              </a:r>
            </a:p>
          </p:txBody>
        </p:sp>
        <p:sp>
          <p:nvSpPr>
            <p:cNvPr id="78" name="TextBox 78"/>
            <p:cNvSpPr txBox="1"/>
            <p:nvPr/>
          </p:nvSpPr>
          <p:spPr>
            <a:xfrm>
              <a:off x="6234112" y="4040505"/>
              <a:ext cx="498729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先找出“删完之后剩下的东西必须满足什么”，再把它翻译成</a:t>
              </a:r>
              <a:br/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某两个串的公共子序列。</a:t>
              </a:r>
            </a:p>
          </p:txBody>
        </p:sp>
        <p:sp>
          <p:nvSpPr>
            <p:cNvPr id="79" name="TextBox 79"/>
            <p:cNvSpPr txBox="1"/>
            <p:nvPr/>
          </p:nvSpPr>
          <p:spPr>
            <a:xfrm>
              <a:off x="6234112" y="4661535"/>
              <a:ext cx="4958715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一旦翻译成功，剩下的全部工作就是跑一遍 LCS，然后做一</a:t>
              </a:r>
              <a:br/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次减法。</a:t>
              </a:r>
            </a:p>
          </p:txBody>
        </p:sp>
        <p:sp>
          <p:nvSpPr>
            <p:cNvPr id="80" name="TextBox 80"/>
            <p:cNvSpPr txBox="1"/>
            <p:nvPr/>
          </p:nvSpPr>
          <p:spPr>
            <a:xfrm>
              <a:off x="6235256" y="5279231"/>
              <a:ext cx="4889754" cy="483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845"/>
                </a:lnSpc>
              </a:pPr>
              <a:r>
                <a:rPr lang="zh-CN" sz="128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判断题目能不能这样转化，关键看它是否只允许删除、不允许调换次</a:t>
              </a:r>
              <a:br/>
              <a:r>
                <a:rPr lang="zh-CN" sz="128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序。</a:t>
              </a:r>
            </a:p>
          </p:txBody>
        </p:sp>
      </p:grpSp>
      <p:grpSp>
        <p:nvGrpSpPr>
          <p:cNvPr id="84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82" name="TextBox 82"/>
            <p:cNvSpPr txBox="1"/>
            <p:nvPr/>
          </p:nvSpPr>
          <p:spPr>
            <a:xfrm>
              <a:off x="528447" y="6581299"/>
              <a:ext cx="2120748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数据结构 · 专题1 字符串的模糊匹配</a:t>
              </a:r>
            </a:p>
          </p:txBody>
        </p:sp>
        <p:sp>
          <p:nvSpPr>
            <p:cNvPr id="83" name="TextBox 83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32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2142744" cy="909257"/>
            <a:chOff x="520446" y="342900"/>
            <a:chExt cx="2142744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129790" cy="266700"/>
            </a:xfrm>
            <a:prstGeom prst="roundRect">
              <a:avLst>
                <a:gd name="adj" fmla="val 50000"/>
              </a:avLst>
            </a:prstGeom>
            <a:solidFill>
              <a:srgbClr val="E6EFF9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05008" y="407194"/>
              <a:ext cx="198657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5FA8"/>
                  </a:solidFill>
                  <a:latin typeface="+mn-lt"/>
                  <a:ea typeface="+mn-ea"/>
                  <a:cs typeface="+mn-cs"/>
                </a:rPr>
                <a:t>专题1 模糊匹配 · 三道变形题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2085594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变形题速查表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1F5FA8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52" name="c1-table-1"/>
          <p:cNvGrpSpPr/>
          <p:nvPr/>
        </p:nvGrpSpPr>
        <p:grpSpPr>
          <a:xfrm>
            <a:off x="533400" y="1524000"/>
            <a:ext cx="11125200" cy="2434590"/>
            <a:chOff x="533400" y="1524000"/>
            <a:chExt cx="11125200" cy="2434590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11125200" cy="405765"/>
            </a:xfrm>
            <a:prstGeom prst="rect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1822806" y="1648301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题目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4159288" y="1648301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输入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6269609" y="1648301"/>
              <a:ext cx="7653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转化成什么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8828024" y="1648301"/>
              <a:ext cx="7653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答案表达式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10759021" y="1648301"/>
              <a:ext cx="4637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复杂度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633412" y="2054066"/>
              <a:ext cx="159390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编辑距离 LeetCode 72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3526155" y="2054066"/>
              <a:ext cx="43302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S 和 P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5306378" y="2054066"/>
              <a:ext cx="100444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直接填 Dist 表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8198167" y="2054066"/>
              <a:ext cx="84090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Dist[n][m]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10423208" y="2054066"/>
              <a:ext cx="49533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O(nm)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533400" y="2330768"/>
              <a:ext cx="11125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9" name="Rectangle 19"/>
            <p:cNvSpPr/>
            <p:nvPr/>
          </p:nvSpPr>
          <p:spPr>
            <a:xfrm>
              <a:off x="533400" y="2335530"/>
              <a:ext cx="11125200" cy="405765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633412" y="2459831"/>
              <a:ext cx="222283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最长公共子序列 LeetCode 1143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3526155" y="2459831"/>
              <a:ext cx="43302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S 和 P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5306378" y="2459831"/>
              <a:ext cx="97297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直接填 LCS 表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8198167" y="2459831"/>
              <a:ext cx="81428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LCS[n][m]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10423208" y="2459831"/>
              <a:ext cx="49533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O(nm)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533400" y="2736532"/>
              <a:ext cx="11125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633412" y="2865596"/>
              <a:ext cx="243608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最少删除使两串相等 LeetCode 583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3526155" y="2865596"/>
              <a:ext cx="43302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S 和 P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5306378" y="2865596"/>
              <a:ext cx="76018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LCS(S, P)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8107680" y="2750820"/>
              <a:ext cx="2205990" cy="386715"/>
            </a:xfrm>
            <a:prstGeom prst="rect">
              <a:avLst/>
            </a:prstGeom>
            <a:solidFill>
              <a:srgbClr val="E3F5F1"/>
            </a:solidFill>
            <a:ln>
              <a:noFill/>
            </a:ln>
          </p:spPr>
        </p:sp>
        <p:sp>
          <p:nvSpPr>
            <p:cNvPr id="30" name="TextBox 30"/>
            <p:cNvSpPr txBox="1"/>
            <p:nvPr/>
          </p:nvSpPr>
          <p:spPr>
            <a:xfrm>
              <a:off x="8198167" y="2865596"/>
              <a:ext cx="72007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n + m - 2k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10423208" y="2865596"/>
              <a:ext cx="49533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O(nm)</a:t>
              </a:r>
            </a:p>
          </p:txBody>
        </p:sp>
        <p:sp>
          <p:nvSpPr>
            <p:cNvPr id="32" name="Rectangle 32"/>
            <p:cNvSpPr/>
            <p:nvPr/>
          </p:nvSpPr>
          <p:spPr>
            <a:xfrm>
              <a:off x="533400" y="3142298"/>
              <a:ext cx="11125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3" name="Rectangle 33"/>
            <p:cNvSpPr/>
            <p:nvPr/>
          </p:nvSpPr>
          <p:spPr>
            <a:xfrm>
              <a:off x="533400" y="3147060"/>
              <a:ext cx="11125200" cy="405765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633412" y="3271361"/>
              <a:ext cx="213453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最长回文子序列 LeetCode 516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3526155" y="3271361"/>
              <a:ext cx="44839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单个 S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5306378" y="3271361"/>
              <a:ext cx="93542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LCS(S, S⁻¹)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8107680" y="3156585"/>
              <a:ext cx="2205990" cy="386715"/>
            </a:xfrm>
            <a:prstGeom prst="rect">
              <a:avLst/>
            </a:prstGeom>
            <a:solidFill>
              <a:srgbClr val="E3F5F1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8198167" y="3271361"/>
              <a:ext cx="78311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LCS[n][n]</a:t>
              </a: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10423208" y="3271361"/>
              <a:ext cx="46880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O(n²)</a:t>
              </a:r>
            </a:p>
          </p:txBody>
        </p:sp>
        <p:sp>
          <p:nvSpPr>
            <p:cNvPr id="40" name="Rectangle 40"/>
            <p:cNvSpPr/>
            <p:nvPr/>
          </p:nvSpPr>
          <p:spPr>
            <a:xfrm>
              <a:off x="533400" y="3548062"/>
              <a:ext cx="11125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633412" y="3677126"/>
              <a:ext cx="140999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最少删除使 S 成回文</a:t>
              </a:r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3526155" y="3677126"/>
              <a:ext cx="44839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单个 S</a:t>
              </a:r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5306378" y="3677126"/>
              <a:ext cx="93542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LCS(S, S⁻¹)</a:t>
              </a:r>
            </a:p>
          </p:txBody>
        </p:sp>
        <p:sp>
          <p:nvSpPr>
            <p:cNvPr id="44" name="Rectangle 44"/>
            <p:cNvSpPr/>
            <p:nvPr/>
          </p:nvSpPr>
          <p:spPr>
            <a:xfrm>
              <a:off x="8107680" y="3562350"/>
              <a:ext cx="2205990" cy="386715"/>
            </a:xfrm>
            <a:prstGeom prst="rect">
              <a:avLst/>
            </a:prstGeom>
            <a:solidFill>
              <a:srgbClr val="E3F5F1"/>
            </a:solidFill>
            <a:ln>
              <a:noFill/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8198167" y="3677126"/>
              <a:ext cx="104245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n - LCS[n][n]</a:t>
              </a:r>
            </a:p>
          </p:txBody>
        </p:sp>
        <p:sp>
          <p:nvSpPr>
            <p:cNvPr id="46" name="TextBox 46"/>
            <p:cNvSpPr txBox="1"/>
            <p:nvPr/>
          </p:nvSpPr>
          <p:spPr>
            <a:xfrm>
              <a:off x="10423208" y="3677126"/>
              <a:ext cx="46880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O(n²)</a:t>
              </a:r>
            </a:p>
          </p:txBody>
        </p:sp>
        <p:sp>
          <p:nvSpPr>
            <p:cNvPr id="47" name="Rectangle 47"/>
            <p:cNvSpPr/>
            <p:nvPr/>
          </p:nvSpPr>
          <p:spPr>
            <a:xfrm>
              <a:off x="533400" y="1524000"/>
              <a:ext cx="11125200" cy="2434590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48" name="Rectangle 48"/>
            <p:cNvSpPr/>
            <p:nvPr/>
          </p:nvSpPr>
          <p:spPr>
            <a:xfrm>
              <a:off x="3421380" y="1524000"/>
              <a:ext cx="9525" cy="243459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9" name="Rectangle 49"/>
            <p:cNvSpPr/>
            <p:nvPr/>
          </p:nvSpPr>
          <p:spPr>
            <a:xfrm>
              <a:off x="5201602" y="1524000"/>
              <a:ext cx="9525" cy="243459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50" name="Rectangle 50"/>
            <p:cNvSpPr/>
            <p:nvPr/>
          </p:nvSpPr>
          <p:spPr>
            <a:xfrm>
              <a:off x="8093392" y="1524000"/>
              <a:ext cx="9525" cy="243459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51" name="Rectangle 51"/>
            <p:cNvSpPr/>
            <p:nvPr/>
          </p:nvSpPr>
          <p:spPr>
            <a:xfrm>
              <a:off x="10318432" y="1524000"/>
              <a:ext cx="9525" cy="243459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</p:grpSp>
      <p:grpSp>
        <p:nvGrpSpPr>
          <p:cNvPr id="73" name="c1-compare-2"/>
          <p:cNvGrpSpPr/>
          <p:nvPr/>
        </p:nvGrpSpPr>
        <p:grpSpPr>
          <a:xfrm>
            <a:off x="533400" y="4133850"/>
            <a:ext cx="11125200" cy="1543050"/>
            <a:chOff x="533400" y="4133850"/>
            <a:chExt cx="11125200" cy="1543050"/>
          </a:xfrm>
        </p:grpSpPr>
        <p:sp>
          <p:nvSpPr>
            <p:cNvPr id="53" name="Rectangle 53"/>
            <p:cNvSpPr/>
            <p:nvPr/>
          </p:nvSpPr>
          <p:spPr>
            <a:xfrm>
              <a:off x="533400" y="4133850"/>
              <a:ext cx="5353050" cy="1543050"/>
            </a:xfrm>
            <a:prstGeom prst="roundRect">
              <a:avLst>
                <a:gd name="adj" fmla="val 8642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54" name="Rectangle 54"/>
            <p:cNvSpPr/>
            <p:nvPr/>
          </p:nvSpPr>
          <p:spPr>
            <a:xfrm>
              <a:off x="542925" y="4267200"/>
              <a:ext cx="47625" cy="1276350"/>
            </a:xfrm>
            <a:prstGeom prst="roundRect">
              <a:avLst>
                <a:gd name="adj" fmla="val 50000"/>
              </a:avLst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55" name="TextBox 55"/>
            <p:cNvSpPr txBox="1"/>
            <p:nvPr/>
          </p:nvSpPr>
          <p:spPr>
            <a:xfrm>
              <a:off x="757047" y="4348162"/>
              <a:ext cx="164934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什么时候用编辑距离</a:t>
              </a:r>
            </a:p>
          </p:txBody>
        </p:sp>
        <p:sp>
          <p:nvSpPr>
            <p:cNvPr id="56" name="Ellipse 56"/>
            <p:cNvSpPr/>
            <p:nvPr/>
          </p:nvSpPr>
          <p:spPr>
            <a:xfrm>
              <a:off x="772478" y="4724400"/>
              <a:ext cx="59055" cy="59055"/>
            </a:xfrm>
            <a:prstGeom prst="ellipse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57" name="TextBox 57"/>
            <p:cNvSpPr txBox="1"/>
            <p:nvPr/>
          </p:nvSpPr>
          <p:spPr>
            <a:xfrm>
              <a:off x="928497" y="4668202"/>
              <a:ext cx="146761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要知道改动的代价</a:t>
              </a:r>
            </a:p>
          </p:txBody>
        </p:sp>
        <p:sp>
          <p:nvSpPr>
            <p:cNvPr id="58" name="Ellipse 58"/>
            <p:cNvSpPr/>
            <p:nvPr/>
          </p:nvSpPr>
          <p:spPr>
            <a:xfrm>
              <a:off x="772478" y="5027295"/>
              <a:ext cx="59055" cy="59055"/>
            </a:xfrm>
            <a:prstGeom prst="ellipse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59" name="TextBox 59"/>
            <p:cNvSpPr txBox="1"/>
            <p:nvPr/>
          </p:nvSpPr>
          <p:spPr>
            <a:xfrm>
              <a:off x="928497" y="4971098"/>
              <a:ext cx="164934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插入删除替换都允许</a:t>
              </a:r>
            </a:p>
          </p:txBody>
        </p:sp>
        <p:sp>
          <p:nvSpPr>
            <p:cNvPr id="60" name="Ellipse 60"/>
            <p:cNvSpPr/>
            <p:nvPr/>
          </p:nvSpPr>
          <p:spPr>
            <a:xfrm>
              <a:off x="772478" y="5329238"/>
              <a:ext cx="59055" cy="59055"/>
            </a:xfrm>
            <a:prstGeom prst="ellipse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61" name="TextBox 61"/>
            <p:cNvSpPr txBox="1"/>
            <p:nvPr/>
          </p:nvSpPr>
          <p:spPr>
            <a:xfrm>
              <a:off x="928497" y="5273040"/>
              <a:ext cx="166032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拼写纠错、DNA 比对</a:t>
              </a:r>
            </a:p>
          </p:txBody>
        </p:sp>
        <p:sp>
          <p:nvSpPr>
            <p:cNvPr id="62" name="Rectangle 62"/>
            <p:cNvSpPr/>
            <p:nvPr/>
          </p:nvSpPr>
          <p:spPr>
            <a:xfrm>
              <a:off x="6305550" y="4133850"/>
              <a:ext cx="5353050" cy="1543050"/>
            </a:xfrm>
            <a:prstGeom prst="roundRect">
              <a:avLst>
                <a:gd name="adj" fmla="val 8642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63" name="Rectangle 63"/>
            <p:cNvSpPr/>
            <p:nvPr/>
          </p:nvSpPr>
          <p:spPr>
            <a:xfrm>
              <a:off x="6315075" y="4267200"/>
              <a:ext cx="47625" cy="1276350"/>
            </a:xfrm>
            <a:prstGeom prst="roundRect">
              <a:avLst>
                <a:gd name="adj" fmla="val 50000"/>
              </a:avLst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64" name="TextBox 64"/>
            <p:cNvSpPr txBox="1"/>
            <p:nvPr/>
          </p:nvSpPr>
          <p:spPr>
            <a:xfrm>
              <a:off x="6529197" y="4348162"/>
              <a:ext cx="131557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什么时候用 LCS</a:t>
              </a:r>
            </a:p>
          </p:txBody>
        </p:sp>
        <p:sp>
          <p:nvSpPr>
            <p:cNvPr id="65" name="Ellipse 65"/>
            <p:cNvSpPr/>
            <p:nvPr/>
          </p:nvSpPr>
          <p:spPr>
            <a:xfrm>
              <a:off x="6544628" y="4724400"/>
              <a:ext cx="59055" cy="59055"/>
            </a:xfrm>
            <a:prstGeom prst="ellipse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66" name="TextBox 66"/>
            <p:cNvSpPr txBox="1"/>
            <p:nvPr/>
          </p:nvSpPr>
          <p:spPr>
            <a:xfrm>
              <a:off x="6700647" y="4668202"/>
              <a:ext cx="183108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要知道共同保留了什么</a:t>
              </a:r>
            </a:p>
          </p:txBody>
        </p:sp>
        <p:sp>
          <p:nvSpPr>
            <p:cNvPr id="67" name="Ellipse 67"/>
            <p:cNvSpPr/>
            <p:nvPr/>
          </p:nvSpPr>
          <p:spPr>
            <a:xfrm>
              <a:off x="6544628" y="5027295"/>
              <a:ext cx="59055" cy="59055"/>
            </a:xfrm>
            <a:prstGeom prst="ellipse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68" name="TextBox 68"/>
            <p:cNvSpPr txBox="1"/>
            <p:nvPr/>
          </p:nvSpPr>
          <p:spPr>
            <a:xfrm>
              <a:off x="6700647" y="4971098"/>
              <a:ext cx="183108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只关心次序不关心位置</a:t>
              </a:r>
            </a:p>
          </p:txBody>
        </p:sp>
        <p:sp>
          <p:nvSpPr>
            <p:cNvPr id="69" name="Ellipse 69"/>
            <p:cNvSpPr/>
            <p:nvPr/>
          </p:nvSpPr>
          <p:spPr>
            <a:xfrm>
              <a:off x="6544628" y="5329238"/>
              <a:ext cx="59055" cy="59055"/>
            </a:xfrm>
            <a:prstGeom prst="ellipse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70" name="TextBox 70"/>
            <p:cNvSpPr txBox="1"/>
            <p:nvPr/>
          </p:nvSpPr>
          <p:spPr>
            <a:xfrm>
              <a:off x="6700647" y="5273040"/>
              <a:ext cx="133130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查重、diff 工具</a:t>
              </a:r>
            </a:p>
          </p:txBody>
        </p:sp>
        <p:sp>
          <p:nvSpPr>
            <p:cNvPr id="71" name="Ellipse 71"/>
            <p:cNvSpPr/>
            <p:nvPr/>
          </p:nvSpPr>
          <p:spPr>
            <a:xfrm>
              <a:off x="5934075" y="4743450"/>
              <a:ext cx="323850" cy="323850"/>
            </a:xfrm>
            <a:prstGeom prst="ellipse">
              <a:avLst/>
            </a:prstGeom>
            <a:solidFill>
              <a:srgbClr val="F26B3A"/>
            </a:solidFill>
            <a:ln>
              <a:noFill/>
            </a:ln>
          </p:spPr>
        </p:sp>
        <p:sp>
          <p:nvSpPr>
            <p:cNvPr id="72" name="TextBox 72"/>
            <p:cNvSpPr txBox="1"/>
            <p:nvPr/>
          </p:nvSpPr>
          <p:spPr>
            <a:xfrm>
              <a:off x="6010546" y="4843939"/>
              <a:ext cx="170907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9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VS</a:t>
              </a:r>
            </a:p>
          </p:txBody>
        </p:sp>
      </p:grpSp>
      <p:grpSp>
        <p:nvGrpSpPr>
          <p:cNvPr id="79" name="c1-callout-3"/>
          <p:cNvGrpSpPr/>
          <p:nvPr/>
        </p:nvGrpSpPr>
        <p:grpSpPr>
          <a:xfrm>
            <a:off x="533400" y="5851208"/>
            <a:ext cx="11125200" cy="511492"/>
            <a:chOff x="533400" y="5851208"/>
            <a:chExt cx="11125200" cy="511492"/>
          </a:xfrm>
        </p:grpSpPr>
        <p:sp>
          <p:nvSpPr>
            <p:cNvPr id="74" name="Rectangle 74"/>
            <p:cNvSpPr/>
            <p:nvPr/>
          </p:nvSpPr>
          <p:spPr>
            <a:xfrm>
              <a:off x="533400" y="5851208"/>
              <a:ext cx="11125200" cy="511492"/>
            </a:xfrm>
            <a:prstGeom prst="roundRect">
              <a:avLst>
                <a:gd name="adj" fmla="val 22346"/>
              </a:avLst>
            </a:prstGeom>
            <a:solidFill>
              <a:srgbClr val="1F5FA8"/>
            </a:solidFill>
            <a:ln>
              <a:noFill/>
            </a:ln>
          </p:spPr>
        </p:sp>
        <p:grpSp>
          <p:nvGrpSpPr>
            <p:cNvPr id="77" name="Group 77"/>
            <p:cNvGrpSpPr/>
            <p:nvPr/>
          </p:nvGrpSpPr>
          <p:grpSpPr>
            <a:xfrm>
              <a:off x="738188" y="6007420"/>
              <a:ext cx="200023" cy="200023"/>
              <a:chOff x="738188" y="6007420"/>
              <a:chExt cx="200023" cy="200023"/>
            </a:xfrm>
          </p:grpSpPr>
          <p:sp>
            <p:nvSpPr>
              <p:cNvPr id="75" name="Freeform 75"/>
              <p:cNvSpPr/>
              <p:nvPr/>
            </p:nvSpPr>
            <p:spPr>
              <a:xfrm>
                <a:off x="738188" y="6007420"/>
                <a:ext cx="200023" cy="200023"/>
              </a:xfrm>
              <a:custGeom>
                <a:avLst/>
                <a:gdLst/>
                <a:ahLst/>
                <a:cxnLst/>
                <a:rect l="l" t="t" r="r" b="b"/>
                <a:pathLst>
                  <a:path w="200023" h="200023">
                    <a:moveTo>
                      <a:pt x="150630" y="9366"/>
                    </a:moveTo>
                    <a:lnTo>
                      <a:pt x="190658" y="49393"/>
                    </a:lnTo>
                    <a:cubicBezTo>
                      <a:pt x="196654" y="55389"/>
                      <a:pt x="200023" y="63522"/>
                      <a:pt x="200023" y="72002"/>
                    </a:cubicBezTo>
                    <a:cubicBezTo>
                      <a:pt x="200023" y="80482"/>
                      <a:pt x="196654" y="88614"/>
                      <a:pt x="190658" y="94610"/>
                    </a:cubicBezTo>
                    <a:lnTo>
                      <a:pt x="161287" y="123980"/>
                    </a:lnTo>
                    <a:cubicBezTo>
                      <a:pt x="155291" y="129977"/>
                      <a:pt x="147159" y="133346"/>
                      <a:pt x="138679" y="133346"/>
                    </a:cubicBezTo>
                    <a:cubicBezTo>
                      <a:pt x="130199" y="133346"/>
                      <a:pt x="122066" y="129977"/>
                      <a:pt x="116070" y="123980"/>
                    </a:cubicBezTo>
                    <a:lnTo>
                      <a:pt x="112726" y="120636"/>
                    </a:lnTo>
                    <a:lnTo>
                      <a:pt x="39850" y="193511"/>
                    </a:lnTo>
                    <a:cubicBezTo>
                      <a:pt x="36157" y="197203"/>
                      <a:pt x="31283" y="199477"/>
                      <a:pt x="26081" y="199935"/>
                    </a:cubicBezTo>
                    <a:lnTo>
                      <a:pt x="24136" y="200023"/>
                    </a:lnTo>
                    <a:lnTo>
                      <a:pt x="11113" y="200023"/>
                    </a:lnTo>
                    <a:cubicBezTo>
                      <a:pt x="5479" y="200023"/>
                      <a:pt x="737" y="195806"/>
                      <a:pt x="78" y="190211"/>
                    </a:cubicBezTo>
                    <a:lnTo>
                      <a:pt x="0" y="188911"/>
                    </a:lnTo>
                    <a:lnTo>
                      <a:pt x="0" y="175887"/>
                    </a:lnTo>
                    <a:cubicBezTo>
                      <a:pt x="1" y="170669"/>
                      <a:pt x="1838" y="165618"/>
                      <a:pt x="5190" y="161619"/>
                    </a:cubicBezTo>
                    <a:lnTo>
                      <a:pt x="6512" y="160174"/>
                    </a:lnTo>
                    <a:lnTo>
                      <a:pt x="11113" y="155573"/>
                    </a:lnTo>
                    <a:lnTo>
                      <a:pt x="33338" y="155573"/>
                    </a:lnTo>
                    <a:lnTo>
                      <a:pt x="33338" y="133348"/>
                    </a:lnTo>
                    <a:lnTo>
                      <a:pt x="55563" y="133348"/>
                    </a:lnTo>
                    <a:lnTo>
                      <a:pt x="55563" y="111123"/>
                    </a:lnTo>
                    <a:lnTo>
                      <a:pt x="79388" y="87298"/>
                    </a:lnTo>
                    <a:lnTo>
                      <a:pt x="76043" y="83953"/>
                    </a:lnTo>
                    <a:cubicBezTo>
                      <a:pt x="70046" y="77957"/>
                      <a:pt x="66677" y="69825"/>
                      <a:pt x="66677" y="61345"/>
                    </a:cubicBezTo>
                    <a:cubicBezTo>
                      <a:pt x="66677" y="52865"/>
                      <a:pt x="70046" y="44732"/>
                      <a:pt x="76043" y="38736"/>
                    </a:cubicBezTo>
                    <a:lnTo>
                      <a:pt x="105413" y="9366"/>
                    </a:lnTo>
                    <a:cubicBezTo>
                      <a:pt x="111409" y="3369"/>
                      <a:pt x="119542" y="0"/>
                      <a:pt x="128022" y="0"/>
                    </a:cubicBezTo>
                    <a:cubicBezTo>
                      <a:pt x="136502" y="0"/>
                      <a:pt x="144635" y="3369"/>
                      <a:pt x="150630" y="9366"/>
                    </a:cubicBez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  <p:sp>
            <p:nvSpPr>
              <p:cNvPr id="76" name="Freeform 76"/>
              <p:cNvSpPr/>
              <p:nvPr/>
            </p:nvSpPr>
            <p:spPr>
              <a:xfrm>
                <a:off x="871538" y="6074093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</p:grpSp>
        <p:sp>
          <p:nvSpPr>
            <p:cNvPr id="78" name="TextBox 78"/>
            <p:cNvSpPr txBox="1"/>
            <p:nvPr/>
          </p:nvSpPr>
          <p:spPr>
            <a:xfrm>
              <a:off x="1040892" y="6013133"/>
              <a:ext cx="659259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两张表的填法几乎一样，区别只在字符相等时加不加 1、不等时取 min 还是 max。</a:t>
              </a:r>
            </a:p>
          </p:txBody>
        </p:sp>
      </p:grpSp>
      <p:grpSp>
        <p:nvGrpSpPr>
          <p:cNvPr id="82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80" name="TextBox 80"/>
            <p:cNvSpPr txBox="1"/>
            <p:nvPr/>
          </p:nvSpPr>
          <p:spPr>
            <a:xfrm>
              <a:off x="528447" y="6581299"/>
              <a:ext cx="2120748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数据结构 · 专题1 字符串的模糊匹配</a:t>
              </a:r>
            </a:p>
          </p:txBody>
        </p:sp>
        <p:sp>
          <p:nvSpPr>
            <p:cNvPr id="81" name="TextBox 81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33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1259776" cy="909257"/>
            <a:chOff x="520446" y="342900"/>
            <a:chExt cx="1259776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1246822" cy="266700"/>
            </a:xfrm>
            <a:prstGeom prst="roundRect">
              <a:avLst>
                <a:gd name="adj" fmla="val 50000"/>
              </a:avLst>
            </a:prstGeom>
            <a:solidFill>
              <a:srgbClr val="E6EFF9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31966" y="407194"/>
              <a:ext cx="105064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5FA8"/>
                  </a:solidFill>
                  <a:latin typeface="+mn-lt"/>
                  <a:ea typeface="+mn-ea"/>
                  <a:cs typeface="+mn-cs"/>
                </a:rPr>
                <a:t>专题1 模糊匹配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1055751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自测题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1F5FA8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8" name="lead"/>
          <p:cNvGrpSpPr/>
          <p:nvPr/>
        </p:nvGrpSpPr>
        <p:grpSpPr>
          <a:xfrm>
            <a:off x="526542" y="1545907"/>
            <a:ext cx="2739771" cy="264033"/>
            <a:chOff x="526542" y="1545907"/>
            <a:chExt cx="2739771" cy="264033"/>
          </a:xfrm>
        </p:grpSpPr>
        <p:sp>
          <p:nvSpPr>
            <p:cNvPr id="7" name="TextBox 7"/>
            <p:cNvSpPr txBox="1"/>
            <p:nvPr/>
          </p:nvSpPr>
          <p:spPr>
            <a:xfrm>
              <a:off x="526542" y="1545907"/>
              <a:ext cx="273977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先把答案写在纸上，再对照解答。</a:t>
              </a:r>
            </a:p>
          </p:txBody>
        </p:sp>
      </p:grpSp>
      <p:grpSp>
        <p:nvGrpSpPr>
          <p:cNvPr id="14" name="c1-card-1"/>
          <p:cNvGrpSpPr/>
          <p:nvPr/>
        </p:nvGrpSpPr>
        <p:grpSpPr>
          <a:xfrm>
            <a:off x="533400" y="1928812"/>
            <a:ext cx="3505200" cy="2257425"/>
            <a:chOff x="533400" y="1928812"/>
            <a:chExt cx="3505200" cy="2257425"/>
          </a:xfrm>
        </p:grpSpPr>
        <p:sp>
          <p:nvSpPr>
            <p:cNvPr id="9" name="Rectangle 9"/>
            <p:cNvSpPr/>
            <p:nvPr/>
          </p:nvSpPr>
          <p:spPr>
            <a:xfrm>
              <a:off x="533400" y="1928812"/>
              <a:ext cx="3505200" cy="2257425"/>
            </a:xfrm>
            <a:prstGeom prst="roundRect">
              <a:avLst>
                <a:gd name="adj" fmla="val 5907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10" name="Rectangle 10"/>
            <p:cNvSpPr/>
            <p:nvPr/>
          </p:nvSpPr>
          <p:spPr>
            <a:xfrm>
              <a:off x="720090" y="2115502"/>
              <a:ext cx="379095" cy="238125"/>
            </a:xfrm>
            <a:prstGeom prst="roundRect">
              <a:avLst>
                <a:gd name="adj" fmla="val 50000"/>
              </a:avLst>
            </a:prstGeom>
            <a:solidFill>
              <a:srgbClr val="E6EFF9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809547" y="2148364"/>
              <a:ext cx="200180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980" b="1" dirty="0">
                  <a:solidFill>
                    <a:srgbClr val="1F5FA8"/>
                  </a:solidFill>
                  <a:latin typeface="+mn-lt"/>
                  <a:ea typeface="+mn-ea"/>
                  <a:cs typeface="+mn-cs"/>
                </a:rPr>
                <a:t>Q1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713232" y="2459355"/>
              <a:ext cx="2999946" cy="77838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Dist(S, P) = 0 说明什么？长度为 n</a:t>
              </a:r>
              <a:br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和 m 的两个串，编辑距离最大可能是多</a:t>
              </a:r>
              <a:br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少？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713232" y="3273742"/>
              <a:ext cx="2774061" cy="77838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答：</a:t>
              </a: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说明两串完全相同。最大是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max(n, m)：先把较短的那个补到等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长，再逐位替换。</a:t>
              </a:r>
            </a:p>
          </p:txBody>
        </p:sp>
      </p:grpSp>
      <p:grpSp>
        <p:nvGrpSpPr>
          <p:cNvPr id="20" name="c1-card-2"/>
          <p:cNvGrpSpPr/>
          <p:nvPr/>
        </p:nvGrpSpPr>
        <p:grpSpPr>
          <a:xfrm>
            <a:off x="533400" y="4355782"/>
            <a:ext cx="3505200" cy="2000250"/>
            <a:chOff x="533400" y="4355782"/>
            <a:chExt cx="3505200" cy="2000250"/>
          </a:xfrm>
        </p:grpSpPr>
        <p:sp>
          <p:nvSpPr>
            <p:cNvPr id="15" name="Rectangle 15"/>
            <p:cNvSpPr/>
            <p:nvPr/>
          </p:nvSpPr>
          <p:spPr>
            <a:xfrm>
              <a:off x="533400" y="4355782"/>
              <a:ext cx="3505200" cy="2000250"/>
            </a:xfrm>
            <a:prstGeom prst="roundRect">
              <a:avLst>
                <a:gd name="adj" fmla="val 6667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16" name="Rectangle 16"/>
            <p:cNvSpPr/>
            <p:nvPr/>
          </p:nvSpPr>
          <p:spPr>
            <a:xfrm>
              <a:off x="720090" y="4542472"/>
              <a:ext cx="379095" cy="238125"/>
            </a:xfrm>
            <a:prstGeom prst="roundRect">
              <a:avLst>
                <a:gd name="adj" fmla="val 50000"/>
              </a:avLst>
            </a:prstGeom>
            <a:solidFill>
              <a:srgbClr val="E6EFF9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809547" y="4575334"/>
              <a:ext cx="200180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980" b="1" dirty="0">
                  <a:solidFill>
                    <a:srgbClr val="1F5FA8"/>
                  </a:solidFill>
                  <a:latin typeface="+mn-lt"/>
                  <a:ea typeface="+mn-ea"/>
                  <a:cs typeface="+mn-cs"/>
                </a:rPr>
                <a:t>Q4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713232" y="4887278"/>
              <a:ext cx="2548604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子序列和子串有什么区别？loo 是</a:t>
              </a:r>
              <a:br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HelloWorld 的子串吗？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713232" y="5444490"/>
              <a:ext cx="2928366" cy="77838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答：</a:t>
              </a: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子串要求连续，子序列只要求相对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次序不变。loo 不是子串（中间隔着一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个 W）。</a:t>
              </a:r>
            </a:p>
          </p:txBody>
        </p:sp>
      </p:grpSp>
      <p:grpSp>
        <p:nvGrpSpPr>
          <p:cNvPr id="26" name="c2-card-1"/>
          <p:cNvGrpSpPr/>
          <p:nvPr/>
        </p:nvGrpSpPr>
        <p:grpSpPr>
          <a:xfrm>
            <a:off x="4343400" y="1928812"/>
            <a:ext cx="3505200" cy="1485900"/>
            <a:chOff x="4343400" y="1928812"/>
            <a:chExt cx="3505200" cy="1485900"/>
          </a:xfrm>
        </p:grpSpPr>
        <p:sp>
          <p:nvSpPr>
            <p:cNvPr id="21" name="Rectangle 21"/>
            <p:cNvSpPr/>
            <p:nvPr/>
          </p:nvSpPr>
          <p:spPr>
            <a:xfrm>
              <a:off x="4343400" y="1928812"/>
              <a:ext cx="3505200" cy="1485900"/>
            </a:xfrm>
            <a:prstGeom prst="roundRect">
              <a:avLst>
                <a:gd name="adj" fmla="val 8974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22" name="Rectangle 22"/>
            <p:cNvSpPr/>
            <p:nvPr/>
          </p:nvSpPr>
          <p:spPr>
            <a:xfrm>
              <a:off x="4530090" y="2115502"/>
              <a:ext cx="379095" cy="238125"/>
            </a:xfrm>
            <a:prstGeom prst="roundRect">
              <a:avLst>
                <a:gd name="adj" fmla="val 50000"/>
              </a:avLst>
            </a:prstGeom>
            <a:solidFill>
              <a:srgbClr val="E6EFF9"/>
            </a:solidFill>
            <a:ln>
              <a:noFill/>
            </a:ln>
          </p:spPr>
        </p:sp>
        <p:sp>
          <p:nvSpPr>
            <p:cNvPr id="23" name="TextBox 23"/>
            <p:cNvSpPr txBox="1"/>
            <p:nvPr/>
          </p:nvSpPr>
          <p:spPr>
            <a:xfrm>
              <a:off x="4619547" y="2148364"/>
              <a:ext cx="200180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980" b="1" dirty="0">
                  <a:solidFill>
                    <a:srgbClr val="1F5FA8"/>
                  </a:solidFill>
                  <a:latin typeface="+mn-lt"/>
                  <a:ea typeface="+mn-ea"/>
                  <a:cs typeface="+mn-cs"/>
                </a:rPr>
                <a:t>Q2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4523232" y="2459355"/>
              <a:ext cx="258839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手算 Dist(kitten, sitting)。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4523232" y="2759392"/>
              <a:ext cx="2834068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答：</a:t>
              </a: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3。k→s、e→i，末尾插入 g。也可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用界检查：|6-7|=1 ≤ 3 ≤ 7。</a:t>
              </a:r>
            </a:p>
          </p:txBody>
        </p:sp>
      </p:grpSp>
      <p:grpSp>
        <p:nvGrpSpPr>
          <p:cNvPr id="32" name="c2-card-2"/>
          <p:cNvGrpSpPr/>
          <p:nvPr/>
        </p:nvGrpSpPr>
        <p:grpSpPr>
          <a:xfrm>
            <a:off x="4343400" y="3584258"/>
            <a:ext cx="3505200" cy="2771775"/>
            <a:chOff x="4343400" y="3584258"/>
            <a:chExt cx="3505200" cy="2771775"/>
          </a:xfrm>
        </p:grpSpPr>
        <p:sp>
          <p:nvSpPr>
            <p:cNvPr id="27" name="Rectangle 27"/>
            <p:cNvSpPr/>
            <p:nvPr/>
          </p:nvSpPr>
          <p:spPr>
            <a:xfrm>
              <a:off x="4343400" y="3584258"/>
              <a:ext cx="3505200" cy="2771775"/>
            </a:xfrm>
            <a:prstGeom prst="roundRect">
              <a:avLst>
                <a:gd name="adj" fmla="val 4811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28" name="Rectangle 28"/>
            <p:cNvSpPr/>
            <p:nvPr/>
          </p:nvSpPr>
          <p:spPr>
            <a:xfrm>
              <a:off x="4530090" y="3770948"/>
              <a:ext cx="379095" cy="238125"/>
            </a:xfrm>
            <a:prstGeom prst="roundRect">
              <a:avLst>
                <a:gd name="adj" fmla="val 50000"/>
              </a:avLst>
            </a:prstGeom>
            <a:solidFill>
              <a:srgbClr val="E6EFF9"/>
            </a:solidFill>
            <a:ln>
              <a:noFill/>
            </a:ln>
          </p:spPr>
        </p:sp>
        <p:sp>
          <p:nvSpPr>
            <p:cNvPr id="29" name="TextBox 29"/>
            <p:cNvSpPr txBox="1"/>
            <p:nvPr/>
          </p:nvSpPr>
          <p:spPr>
            <a:xfrm>
              <a:off x="4619547" y="3803809"/>
              <a:ext cx="200180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980" b="1" dirty="0">
                  <a:solidFill>
                    <a:srgbClr val="1F5FA8"/>
                  </a:solidFill>
                  <a:latin typeface="+mn-lt"/>
                  <a:ea typeface="+mn-ea"/>
                  <a:cs typeface="+mn-cs"/>
                </a:rPr>
                <a:t>Q5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4523232" y="4115752"/>
              <a:ext cx="2899648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两个串长度都是 5，LCS 长度是 3。最</a:t>
              </a:r>
              <a:br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少删几个字符能让两串相等？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4523232" y="4672965"/>
              <a:ext cx="2842641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答：</a:t>
              </a: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(5-3) + (5-3) = 4 个。等价于 n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+ m - 2k = 5 + 5 - 6 = 4。</a:t>
              </a:r>
            </a:p>
          </p:txBody>
        </p:sp>
      </p:grpSp>
      <p:grpSp>
        <p:nvGrpSpPr>
          <p:cNvPr id="38" name="c3-card-1"/>
          <p:cNvGrpSpPr/>
          <p:nvPr/>
        </p:nvGrpSpPr>
        <p:grpSpPr>
          <a:xfrm>
            <a:off x="8153400" y="1928812"/>
            <a:ext cx="3505200" cy="2000250"/>
            <a:chOff x="8153400" y="1928812"/>
            <a:chExt cx="3505200" cy="2000250"/>
          </a:xfrm>
        </p:grpSpPr>
        <p:sp>
          <p:nvSpPr>
            <p:cNvPr id="33" name="Rectangle 33"/>
            <p:cNvSpPr/>
            <p:nvPr/>
          </p:nvSpPr>
          <p:spPr>
            <a:xfrm>
              <a:off x="8153400" y="1928812"/>
              <a:ext cx="3505200" cy="2000250"/>
            </a:xfrm>
            <a:prstGeom prst="roundRect">
              <a:avLst>
                <a:gd name="adj" fmla="val 6667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34" name="Rectangle 34"/>
            <p:cNvSpPr/>
            <p:nvPr/>
          </p:nvSpPr>
          <p:spPr>
            <a:xfrm>
              <a:off x="8340090" y="2115502"/>
              <a:ext cx="379095" cy="238125"/>
            </a:xfrm>
            <a:prstGeom prst="roundRect">
              <a:avLst>
                <a:gd name="adj" fmla="val 50000"/>
              </a:avLst>
            </a:prstGeom>
            <a:solidFill>
              <a:srgbClr val="E6EFF9"/>
            </a:solidFill>
            <a:ln>
              <a:noFill/>
            </a:ln>
          </p:spPr>
        </p:sp>
        <p:sp>
          <p:nvSpPr>
            <p:cNvPr id="35" name="TextBox 35"/>
            <p:cNvSpPr txBox="1"/>
            <p:nvPr/>
          </p:nvSpPr>
          <p:spPr>
            <a:xfrm>
              <a:off x="8429547" y="2148364"/>
              <a:ext cx="200180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980" b="1" dirty="0">
                  <a:solidFill>
                    <a:srgbClr val="1F5FA8"/>
                  </a:solidFill>
                  <a:latin typeface="+mn-lt"/>
                  <a:ea typeface="+mn-ea"/>
                  <a:cs typeface="+mn-cs"/>
                </a:rPr>
                <a:t>Q3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8333232" y="2459355"/>
              <a:ext cx="2782205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编辑距离表的第 0 行为什么填 0, 1,</a:t>
              </a:r>
              <a:br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2, …, m？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8333232" y="3016568"/>
              <a:ext cx="2988374" cy="77838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答：</a:t>
              </a: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Dist[0][j] 是空串变成 P 的前 j 个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字符的代价，只能一次插一个，所以等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于 j。</a:t>
              </a:r>
            </a:p>
          </p:txBody>
        </p:sp>
      </p:grpSp>
      <p:grpSp>
        <p:nvGrpSpPr>
          <p:cNvPr id="44" name="c3-card-2"/>
          <p:cNvGrpSpPr/>
          <p:nvPr/>
        </p:nvGrpSpPr>
        <p:grpSpPr>
          <a:xfrm>
            <a:off x="8153400" y="4098608"/>
            <a:ext cx="3505200" cy="2257425"/>
            <a:chOff x="8153400" y="4098608"/>
            <a:chExt cx="3505200" cy="2257425"/>
          </a:xfrm>
        </p:grpSpPr>
        <p:sp>
          <p:nvSpPr>
            <p:cNvPr id="39" name="Rectangle 39"/>
            <p:cNvSpPr/>
            <p:nvPr/>
          </p:nvSpPr>
          <p:spPr>
            <a:xfrm>
              <a:off x="8153400" y="4098608"/>
              <a:ext cx="3505200" cy="2257425"/>
            </a:xfrm>
            <a:prstGeom prst="roundRect">
              <a:avLst>
                <a:gd name="adj" fmla="val 5907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40" name="Rectangle 40"/>
            <p:cNvSpPr/>
            <p:nvPr/>
          </p:nvSpPr>
          <p:spPr>
            <a:xfrm>
              <a:off x="8340090" y="4285298"/>
              <a:ext cx="379095" cy="238125"/>
            </a:xfrm>
            <a:prstGeom prst="roundRect">
              <a:avLst>
                <a:gd name="adj" fmla="val 50000"/>
              </a:avLst>
            </a:prstGeom>
            <a:solidFill>
              <a:srgbClr val="E6EFF9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8429547" y="4318159"/>
              <a:ext cx="200180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980" b="1" dirty="0">
                  <a:solidFill>
                    <a:srgbClr val="1F5FA8"/>
                  </a:solidFill>
                  <a:latin typeface="+mn-lt"/>
                  <a:ea typeface="+mn-ea"/>
                  <a:cs typeface="+mn-cs"/>
                </a:rPr>
                <a:t>Q6</a:t>
              </a:r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8333232" y="4630102"/>
              <a:ext cx="2941653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为什么 int LCS[1010][1010] 不能写</a:t>
              </a:r>
              <a:br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在函数体里？</a:t>
              </a:r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8333232" y="5187315"/>
              <a:ext cx="2808351" cy="77838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答：</a:t>
              </a: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它占 1010×1010×4 ≈ 3.89 MB，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超过默认 1 MB 线程栈，运行即栈溢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出。改成全局、static 或 malloc。</a:t>
              </a:r>
            </a:p>
          </p:txBody>
        </p:sp>
      </p:grpSp>
      <p:grpSp>
        <p:nvGrpSpPr>
          <p:cNvPr id="47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45" name="TextBox 45"/>
            <p:cNvSpPr txBox="1"/>
            <p:nvPr/>
          </p:nvSpPr>
          <p:spPr>
            <a:xfrm>
              <a:off x="528447" y="6581299"/>
              <a:ext cx="2120748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数据结构 · 专题1 字符串的模糊匹配</a:t>
              </a:r>
            </a:p>
          </p:txBody>
        </p:sp>
        <p:sp>
          <p:nvSpPr>
            <p:cNvPr id="46" name="TextBox 46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34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1742313" cy="909257"/>
            <a:chOff x="520446" y="342900"/>
            <a:chExt cx="1742313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1246822" cy="266700"/>
            </a:xfrm>
            <a:prstGeom prst="roundRect">
              <a:avLst>
                <a:gd name="adj" fmla="val 50000"/>
              </a:avLst>
            </a:prstGeom>
            <a:solidFill>
              <a:srgbClr val="E6EFF9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31966" y="407194"/>
              <a:ext cx="105064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5FA8"/>
                  </a:solidFill>
                  <a:latin typeface="+mn-lt"/>
                  <a:ea typeface="+mn-ea"/>
                  <a:cs typeface="+mn-cs"/>
                </a:rPr>
                <a:t>专题1 模糊匹配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1742313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本专题小结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1F5FA8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25" name="c1-table-1"/>
          <p:cNvGrpSpPr/>
          <p:nvPr/>
        </p:nvGrpSpPr>
        <p:grpSpPr>
          <a:xfrm>
            <a:off x="533400" y="1524000"/>
            <a:ext cx="5842635" cy="1906905"/>
            <a:chOff x="533400" y="1524000"/>
            <a:chExt cx="5842635" cy="1906905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5842635" cy="381000"/>
            </a:xfrm>
            <a:prstGeom prst="rect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1263015" y="1641157"/>
              <a:ext cx="29337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概念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4184332" y="1641157"/>
              <a:ext cx="29337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要点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628078" y="2023110"/>
              <a:ext cx="576072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模糊匹配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2380678" y="2023110"/>
              <a:ext cx="2554986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不求逐字符相等，用数值衡量两串有多像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533400" y="2282190"/>
              <a:ext cx="584263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3" name="Rectangle 13"/>
            <p:cNvSpPr/>
            <p:nvPr/>
          </p:nvSpPr>
          <p:spPr>
            <a:xfrm>
              <a:off x="533400" y="2286952"/>
              <a:ext cx="5842635" cy="381000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628078" y="2404110"/>
              <a:ext cx="576072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编辑距离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2380678" y="2404110"/>
              <a:ext cx="2929566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增删替各记 1 次取最少；边界填 0..m 与 0..n</a:t>
              </a:r>
            </a:p>
          </p:txBody>
        </p:sp>
        <p:sp>
          <p:nvSpPr>
            <p:cNvPr id="16" name="Rectangle 16"/>
            <p:cNvSpPr/>
            <p:nvPr/>
          </p:nvSpPr>
          <p:spPr>
            <a:xfrm>
              <a:off x="533400" y="2663190"/>
              <a:ext cx="584263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628078" y="2785110"/>
              <a:ext cx="26942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LCS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2380678" y="2785110"/>
              <a:ext cx="280941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相等加 1，不等取 max{左, 上}；边界全填 0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533400" y="3045142"/>
              <a:ext cx="584263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0" name="Rectangle 20"/>
            <p:cNvSpPr/>
            <p:nvPr/>
          </p:nvSpPr>
          <p:spPr>
            <a:xfrm>
              <a:off x="533400" y="3049905"/>
              <a:ext cx="5842635" cy="381000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628078" y="3167062"/>
              <a:ext cx="434721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复杂度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2380678" y="3167062"/>
              <a:ext cx="192104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都是 O(nm)；空间可压成一行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533400" y="1524000"/>
              <a:ext cx="5842635" cy="1906905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24" name="Rectangle 24"/>
            <p:cNvSpPr/>
            <p:nvPr/>
          </p:nvSpPr>
          <p:spPr>
            <a:xfrm>
              <a:off x="2281238" y="1524000"/>
              <a:ext cx="9525" cy="190690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</p:grpSp>
      <p:grpSp>
        <p:nvGrpSpPr>
          <p:cNvPr id="33" name="c1-card-2"/>
          <p:cNvGrpSpPr/>
          <p:nvPr/>
        </p:nvGrpSpPr>
        <p:grpSpPr>
          <a:xfrm>
            <a:off x="533400" y="3595688"/>
            <a:ext cx="5842635" cy="1930718"/>
            <a:chOff x="533400" y="3595688"/>
            <a:chExt cx="5842635" cy="1930718"/>
          </a:xfrm>
        </p:grpSpPr>
        <p:sp>
          <p:nvSpPr>
            <p:cNvPr id="26" name="Rectangle 26"/>
            <p:cNvSpPr/>
            <p:nvPr/>
          </p:nvSpPr>
          <p:spPr>
            <a:xfrm>
              <a:off x="533400" y="3595688"/>
              <a:ext cx="5842635" cy="1930718"/>
            </a:xfrm>
            <a:prstGeom prst="roundRect">
              <a:avLst>
                <a:gd name="adj" fmla="val 6907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27" name="Rectangle 27"/>
            <p:cNvSpPr/>
            <p:nvPr/>
          </p:nvSpPr>
          <p:spPr>
            <a:xfrm>
              <a:off x="542925" y="3729038"/>
              <a:ext cx="47625" cy="1664018"/>
            </a:xfrm>
            <a:prstGeom prst="roundRect">
              <a:avLst>
                <a:gd name="adj" fmla="val 50000"/>
              </a:avLst>
            </a:prstGeom>
            <a:solidFill>
              <a:srgbClr val="5B6475"/>
            </a:solidFill>
            <a:ln>
              <a:noFill/>
            </a:ln>
          </p:spPr>
        </p:sp>
        <p:sp>
          <p:nvSpPr>
            <p:cNvPr id="28" name="Rectangle 28"/>
            <p:cNvSpPr/>
            <p:nvPr/>
          </p:nvSpPr>
          <p:spPr>
            <a:xfrm>
              <a:off x="752475" y="3776662"/>
              <a:ext cx="831532" cy="238125"/>
            </a:xfrm>
            <a:prstGeom prst="roundRect">
              <a:avLst>
                <a:gd name="adj" fmla="val 50000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29" name="TextBox 29"/>
            <p:cNvSpPr txBox="1"/>
            <p:nvPr/>
          </p:nvSpPr>
          <p:spPr>
            <a:xfrm>
              <a:off x="833946" y="3809524"/>
              <a:ext cx="669544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更正与补充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1691830" y="3816191"/>
              <a:ext cx="225303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本讲义对源课件的更正与补充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745998" y="4133374"/>
              <a:ext cx="5149850" cy="7351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12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 xml:space="preserve">更正 3 处：三参数 </a:t>
              </a:r>
              <a:r>
                <a:rPr lang="en-US" sz="1280" dirty="0">
                  <a:solidFill>
                    <a:srgbClr val="174A85"/>
                  </a:solidFill>
                  <a:latin typeface="+mn-lt"/>
                  <a:ea typeface="+mn-ea"/>
                  <a:cs typeface="+mn-cs"/>
                </a:rPr>
                <a:t>min</a:t>
              </a: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、</a:t>
              </a:r>
              <a:r>
                <a:rPr lang="en-US" sz="1280" dirty="0">
                  <a:solidFill>
                    <a:srgbClr val="174A85"/>
                  </a:solidFill>
                  <a:latin typeface="+mn-lt"/>
                  <a:ea typeface="+mn-ea"/>
                  <a:cs typeface="+mn-cs"/>
                </a:rPr>
                <a:t>max</a:t>
              </a: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 xml:space="preserve"> 标准 C 里没有；</a:t>
              </a:r>
              <a:r>
                <a:rPr lang="en-US" sz="1280" dirty="0">
                  <a:solidFill>
                    <a:srgbClr val="174A85"/>
                  </a:solidFill>
                  <a:latin typeface="+mn-lt"/>
                  <a:ea typeface="+mn-ea"/>
                  <a:cs typeface="+mn-cs"/>
                </a:rPr>
                <a:t>int LCS[1010][1010]</a:t>
              </a: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 xml:space="preserve"> 放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函数内占 3.89 MB，1 MB 栈实测溢出；LCS 应为 Longest Common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Subsequence。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745998" y="4903946"/>
              <a:ext cx="5214874" cy="49225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12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补充：回溯还原方案、滚动数组、距离的性质、两者的换算、变形题速查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表。</a:t>
              </a:r>
            </a:p>
          </p:txBody>
        </p:sp>
      </p:grpSp>
      <p:grpSp>
        <p:nvGrpSpPr>
          <p:cNvPr id="49" name="c2-bullets-1"/>
          <p:cNvGrpSpPr/>
          <p:nvPr/>
        </p:nvGrpSpPr>
        <p:grpSpPr>
          <a:xfrm>
            <a:off x="6681788" y="1533525"/>
            <a:ext cx="4704334" cy="1918620"/>
            <a:chOff x="6681788" y="1533525"/>
            <a:chExt cx="4704334" cy="1918620"/>
          </a:xfrm>
        </p:grpSpPr>
        <p:sp>
          <p:nvSpPr>
            <p:cNvPr id="34" name="Ellipse 34"/>
            <p:cNvSpPr/>
            <p:nvPr/>
          </p:nvSpPr>
          <p:spPr>
            <a:xfrm>
              <a:off x="6681788" y="1533525"/>
              <a:ext cx="180975" cy="180975"/>
            </a:xfrm>
            <a:prstGeom prst="ellipse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35" name="TextBox 35"/>
            <p:cNvSpPr txBox="1"/>
            <p:nvPr/>
          </p:nvSpPr>
          <p:spPr>
            <a:xfrm>
              <a:off x="6733694" y="1569148"/>
              <a:ext cx="77161" cy="17049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7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6951536" y="1545431"/>
              <a:ext cx="4426458" cy="49225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12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认出问题问的是位置还是相似度，前者用第 6 讲，后者用本专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题</a:t>
              </a:r>
            </a:p>
          </p:txBody>
        </p:sp>
        <p:sp>
          <p:nvSpPr>
            <p:cNvPr id="37" name="Ellipse 37"/>
            <p:cNvSpPr/>
            <p:nvPr/>
          </p:nvSpPr>
          <p:spPr>
            <a:xfrm>
              <a:off x="6681788" y="2069782"/>
              <a:ext cx="180975" cy="180975"/>
            </a:xfrm>
            <a:prstGeom prst="ellipse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6733694" y="2105406"/>
              <a:ext cx="77161" cy="17049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7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6951536" y="2080736"/>
              <a:ext cx="4434586" cy="49225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12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写出状态定义，再分“末位相等”和“末位不等”两种情形推递推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式</a:t>
              </a:r>
            </a:p>
          </p:txBody>
        </p:sp>
        <p:sp>
          <p:nvSpPr>
            <p:cNvPr id="40" name="Ellipse 40"/>
            <p:cNvSpPr/>
            <p:nvPr/>
          </p:nvSpPr>
          <p:spPr>
            <a:xfrm>
              <a:off x="6681788" y="2606040"/>
              <a:ext cx="180975" cy="180975"/>
            </a:xfrm>
            <a:prstGeom prst="ellipse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6733694" y="2641663"/>
              <a:ext cx="77161" cy="17049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7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6951536" y="2616994"/>
              <a:ext cx="3510920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单独写清第 0 行第 0 列，再从左上往右下填表</a:t>
              </a:r>
            </a:p>
          </p:txBody>
        </p:sp>
        <p:sp>
          <p:nvSpPr>
            <p:cNvPr id="43" name="Ellipse 43"/>
            <p:cNvSpPr/>
            <p:nvPr/>
          </p:nvSpPr>
          <p:spPr>
            <a:xfrm>
              <a:off x="6681788" y="2898458"/>
              <a:ext cx="180975" cy="180975"/>
            </a:xfrm>
            <a:prstGeom prst="ellipse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44" name="TextBox 44"/>
            <p:cNvSpPr txBox="1"/>
            <p:nvPr/>
          </p:nvSpPr>
          <p:spPr>
            <a:xfrm>
              <a:off x="6733694" y="2934081"/>
              <a:ext cx="77161" cy="17049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7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45" name="TextBox 45"/>
            <p:cNvSpPr txBox="1"/>
            <p:nvPr/>
          </p:nvSpPr>
          <p:spPr>
            <a:xfrm>
              <a:off x="6951536" y="2910364"/>
              <a:ext cx="2425344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右下角读长度，倒着回溯读方案</a:t>
              </a:r>
            </a:p>
          </p:txBody>
        </p:sp>
        <p:sp>
          <p:nvSpPr>
            <p:cNvPr id="46" name="Ellipse 46"/>
            <p:cNvSpPr/>
            <p:nvPr/>
          </p:nvSpPr>
          <p:spPr>
            <a:xfrm>
              <a:off x="6681788" y="3191828"/>
              <a:ext cx="180975" cy="180975"/>
            </a:xfrm>
            <a:prstGeom prst="ellipse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47" name="TextBox 47"/>
            <p:cNvSpPr txBox="1"/>
            <p:nvPr/>
          </p:nvSpPr>
          <p:spPr>
            <a:xfrm>
              <a:off x="6733694" y="3227451"/>
              <a:ext cx="77161" cy="17049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7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5</a:t>
              </a:r>
            </a:p>
          </p:txBody>
        </p:sp>
        <p:sp>
          <p:nvSpPr>
            <p:cNvPr id="48" name="TextBox 48"/>
            <p:cNvSpPr txBox="1"/>
            <p:nvPr/>
          </p:nvSpPr>
          <p:spPr>
            <a:xfrm>
              <a:off x="6951536" y="3202781"/>
              <a:ext cx="345922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变形题先翻译成公共子序列，再做一次加减法</a:t>
              </a:r>
            </a:p>
          </p:txBody>
        </p:sp>
      </p:grpSp>
      <p:grpSp>
        <p:nvGrpSpPr>
          <p:cNvPr id="56" name="c2-card-2"/>
          <p:cNvGrpSpPr/>
          <p:nvPr/>
        </p:nvGrpSpPr>
        <p:grpSpPr>
          <a:xfrm>
            <a:off x="6680835" y="3567112"/>
            <a:ext cx="4977765" cy="1959292"/>
            <a:chOff x="6680835" y="3567112"/>
            <a:chExt cx="4977765" cy="1959292"/>
          </a:xfrm>
        </p:grpSpPr>
        <p:sp>
          <p:nvSpPr>
            <p:cNvPr id="50" name="Rectangle 50"/>
            <p:cNvSpPr/>
            <p:nvPr/>
          </p:nvSpPr>
          <p:spPr>
            <a:xfrm>
              <a:off x="6680835" y="3567112"/>
              <a:ext cx="4977765" cy="1959292"/>
            </a:xfrm>
            <a:prstGeom prst="roundRect">
              <a:avLst>
                <a:gd name="adj" fmla="val 6806"/>
              </a:avLst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51" name="Rectangle 51"/>
            <p:cNvSpPr/>
            <p:nvPr/>
          </p:nvSpPr>
          <p:spPr>
            <a:xfrm>
              <a:off x="6861810" y="3748088"/>
              <a:ext cx="707708" cy="238125"/>
            </a:xfrm>
            <a:prstGeom prst="roundRect">
              <a:avLst>
                <a:gd name="adj" fmla="val 50000"/>
              </a:avLst>
            </a:prstGeom>
            <a:solidFill>
              <a:srgbClr val="174A85"/>
            </a:solidFill>
            <a:ln>
              <a:noFill/>
            </a:ln>
          </p:spPr>
        </p:sp>
        <p:sp>
          <p:nvSpPr>
            <p:cNvPr id="52" name="TextBox 52"/>
            <p:cNvSpPr txBox="1"/>
            <p:nvPr/>
          </p:nvSpPr>
          <p:spPr>
            <a:xfrm>
              <a:off x="6947332" y="3780949"/>
              <a:ext cx="53761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复习方法</a:t>
              </a:r>
            </a:p>
          </p:txBody>
        </p:sp>
        <p:sp>
          <p:nvSpPr>
            <p:cNvPr id="53" name="TextBox 53"/>
            <p:cNvSpPr txBox="1"/>
            <p:nvPr/>
          </p:nvSpPr>
          <p:spPr>
            <a:xfrm>
              <a:off x="7677341" y="3787616"/>
              <a:ext cx="1219149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两张表一起默写</a:t>
              </a:r>
            </a:p>
          </p:txBody>
        </p:sp>
        <p:sp>
          <p:nvSpPr>
            <p:cNvPr id="54" name="TextBox 54"/>
            <p:cNvSpPr txBox="1"/>
            <p:nvPr/>
          </p:nvSpPr>
          <p:spPr>
            <a:xfrm>
              <a:off x="6855333" y="4104799"/>
              <a:ext cx="4418330" cy="49225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12"/>
                </a:lnSpc>
              </a:pPr>
              <a:r>
                <a:rPr lang="zh-CN" sz="128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拿 S = ABC、P = BCD 这一对串，把 Dist 表和 LCS 表并排默写</a:t>
              </a:r>
              <a:br/>
              <a:r>
                <a:rPr lang="zh-CN" sz="128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一遍，答案分别是 2 和 2。</a:t>
              </a:r>
            </a:p>
          </p:txBody>
        </p:sp>
        <p:sp>
          <p:nvSpPr>
            <p:cNvPr id="55" name="TextBox 55"/>
            <p:cNvSpPr txBox="1"/>
            <p:nvPr/>
          </p:nvSpPr>
          <p:spPr>
            <a:xfrm>
              <a:off x="6855333" y="4632484"/>
              <a:ext cx="4312666" cy="49225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12"/>
                </a:lnSpc>
              </a:pPr>
              <a:r>
                <a:rPr lang="zh-CN" sz="128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再把两段 C 代码默写出来，重点是 s[i-1] 与 p[j-1] 的下标</a:t>
              </a:r>
              <a:br/>
              <a:r>
                <a:rPr lang="zh-CN" sz="128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错位和两条初始化循环。</a:t>
              </a:r>
            </a:p>
          </p:txBody>
        </p:sp>
      </p:grpSp>
      <p:grpSp>
        <p:nvGrpSpPr>
          <p:cNvPr id="62" name="takeaway"/>
          <p:cNvGrpSpPr/>
          <p:nvPr/>
        </p:nvGrpSpPr>
        <p:grpSpPr>
          <a:xfrm>
            <a:off x="533400" y="5895022"/>
            <a:ext cx="11125200" cy="467678"/>
            <a:chOff x="533400" y="5895022"/>
            <a:chExt cx="11125200" cy="467678"/>
          </a:xfrm>
        </p:grpSpPr>
        <p:sp>
          <p:nvSpPr>
            <p:cNvPr id="57" name="Rectangle 57"/>
            <p:cNvSpPr/>
            <p:nvPr/>
          </p:nvSpPr>
          <p:spPr>
            <a:xfrm>
              <a:off x="533400" y="5895022"/>
              <a:ext cx="11125200" cy="467678"/>
            </a:xfrm>
            <a:prstGeom prst="roundRect">
              <a:avLst>
                <a:gd name="adj" fmla="val 24440"/>
              </a:avLst>
            </a:prstGeom>
            <a:solidFill>
              <a:srgbClr val="1F5FA8"/>
            </a:solidFill>
            <a:ln>
              <a:noFill/>
            </a:ln>
          </p:spPr>
        </p:sp>
        <p:grpSp>
          <p:nvGrpSpPr>
            <p:cNvPr id="60" name="Group 60"/>
            <p:cNvGrpSpPr/>
            <p:nvPr/>
          </p:nvGrpSpPr>
          <p:grpSpPr>
            <a:xfrm>
              <a:off x="738188" y="6028375"/>
              <a:ext cx="200023" cy="200023"/>
              <a:chOff x="738188" y="6028375"/>
              <a:chExt cx="200023" cy="200023"/>
            </a:xfrm>
          </p:grpSpPr>
          <p:sp>
            <p:nvSpPr>
              <p:cNvPr id="58" name="Freeform 58"/>
              <p:cNvSpPr/>
              <p:nvPr/>
            </p:nvSpPr>
            <p:spPr>
              <a:xfrm>
                <a:off x="738188" y="6028375"/>
                <a:ext cx="200023" cy="200023"/>
              </a:xfrm>
              <a:custGeom>
                <a:avLst/>
                <a:gdLst/>
                <a:ahLst/>
                <a:cxnLst/>
                <a:rect l="l" t="t" r="r" b="b"/>
                <a:pathLst>
                  <a:path w="200023" h="200023">
                    <a:moveTo>
                      <a:pt x="150630" y="9366"/>
                    </a:moveTo>
                    <a:lnTo>
                      <a:pt x="190658" y="49393"/>
                    </a:lnTo>
                    <a:cubicBezTo>
                      <a:pt x="196654" y="55389"/>
                      <a:pt x="200023" y="63522"/>
                      <a:pt x="200023" y="72002"/>
                    </a:cubicBezTo>
                    <a:cubicBezTo>
                      <a:pt x="200023" y="80482"/>
                      <a:pt x="196654" y="88614"/>
                      <a:pt x="190658" y="94610"/>
                    </a:cubicBezTo>
                    <a:lnTo>
                      <a:pt x="161287" y="123980"/>
                    </a:lnTo>
                    <a:cubicBezTo>
                      <a:pt x="155291" y="129977"/>
                      <a:pt x="147159" y="133346"/>
                      <a:pt x="138679" y="133346"/>
                    </a:cubicBezTo>
                    <a:cubicBezTo>
                      <a:pt x="130199" y="133346"/>
                      <a:pt x="122066" y="129977"/>
                      <a:pt x="116070" y="123980"/>
                    </a:cubicBezTo>
                    <a:lnTo>
                      <a:pt x="112726" y="120636"/>
                    </a:lnTo>
                    <a:lnTo>
                      <a:pt x="39850" y="193511"/>
                    </a:lnTo>
                    <a:cubicBezTo>
                      <a:pt x="36157" y="197203"/>
                      <a:pt x="31283" y="199477"/>
                      <a:pt x="26081" y="199935"/>
                    </a:cubicBezTo>
                    <a:lnTo>
                      <a:pt x="24136" y="200023"/>
                    </a:lnTo>
                    <a:lnTo>
                      <a:pt x="11113" y="200023"/>
                    </a:lnTo>
                    <a:cubicBezTo>
                      <a:pt x="5479" y="200023"/>
                      <a:pt x="737" y="195806"/>
                      <a:pt x="78" y="190211"/>
                    </a:cubicBezTo>
                    <a:lnTo>
                      <a:pt x="0" y="188911"/>
                    </a:lnTo>
                    <a:lnTo>
                      <a:pt x="0" y="175887"/>
                    </a:lnTo>
                    <a:cubicBezTo>
                      <a:pt x="1" y="170669"/>
                      <a:pt x="1838" y="165618"/>
                      <a:pt x="5190" y="161619"/>
                    </a:cubicBezTo>
                    <a:lnTo>
                      <a:pt x="6512" y="160174"/>
                    </a:lnTo>
                    <a:lnTo>
                      <a:pt x="11113" y="155573"/>
                    </a:lnTo>
                    <a:lnTo>
                      <a:pt x="33338" y="155573"/>
                    </a:lnTo>
                    <a:lnTo>
                      <a:pt x="33338" y="133348"/>
                    </a:lnTo>
                    <a:lnTo>
                      <a:pt x="55563" y="133348"/>
                    </a:lnTo>
                    <a:lnTo>
                      <a:pt x="55563" y="111123"/>
                    </a:lnTo>
                    <a:lnTo>
                      <a:pt x="79388" y="87298"/>
                    </a:lnTo>
                    <a:lnTo>
                      <a:pt x="76043" y="83953"/>
                    </a:lnTo>
                    <a:cubicBezTo>
                      <a:pt x="70046" y="77957"/>
                      <a:pt x="66677" y="69825"/>
                      <a:pt x="66677" y="61345"/>
                    </a:cubicBezTo>
                    <a:cubicBezTo>
                      <a:pt x="66677" y="52865"/>
                      <a:pt x="70046" y="44732"/>
                      <a:pt x="76043" y="38736"/>
                    </a:cubicBezTo>
                    <a:lnTo>
                      <a:pt x="105413" y="9366"/>
                    </a:lnTo>
                    <a:cubicBezTo>
                      <a:pt x="111409" y="3369"/>
                      <a:pt x="119542" y="0"/>
                      <a:pt x="128022" y="0"/>
                    </a:cubicBezTo>
                    <a:cubicBezTo>
                      <a:pt x="136502" y="0"/>
                      <a:pt x="144635" y="3369"/>
                      <a:pt x="150630" y="9366"/>
                    </a:cubicBez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  <p:sp>
            <p:nvSpPr>
              <p:cNvPr id="59" name="Freeform 59"/>
              <p:cNvSpPr/>
              <p:nvPr/>
            </p:nvSpPr>
            <p:spPr>
              <a:xfrm>
                <a:off x="871538" y="6095048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</p:grpSp>
        <p:sp>
          <p:nvSpPr>
            <p:cNvPr id="61" name="TextBox 61"/>
            <p:cNvSpPr txBox="1"/>
            <p:nvPr/>
          </p:nvSpPr>
          <p:spPr>
            <a:xfrm>
              <a:off x="1041273" y="6039326"/>
              <a:ext cx="9625484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逐格看左、上邻居填表，和第 5 讲的网格路径是同一类动态规划；第 15 讲 Floyd 用 path 矩阵还原路径，也是先填表再回溯。</a:t>
              </a:r>
            </a:p>
          </p:txBody>
        </p:sp>
      </p:grpSp>
      <p:grpSp>
        <p:nvGrpSpPr>
          <p:cNvPr id="65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63" name="TextBox 63"/>
            <p:cNvSpPr txBox="1"/>
            <p:nvPr/>
          </p:nvSpPr>
          <p:spPr>
            <a:xfrm>
              <a:off x="528447" y="6581299"/>
              <a:ext cx="2120748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数据结构 · 专题1 字符串的模糊匹配</a:t>
              </a:r>
            </a:p>
          </p:txBody>
        </p:sp>
        <p:sp>
          <p:nvSpPr>
            <p:cNvPr id="64" name="TextBox 64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35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theme/theme1.xml><?xml version="1.0" encoding="utf-8"?>
<a:theme xmlns:a="http://schemas.openxmlformats.org/drawingml/2006/main" name="ds_t01">
  <a:themeElements>
    <a:clrScheme name="ds_t01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ds_t01">
      <a:majorFont>
        <a:latin typeface="Microsoft YaHei"/>
        <a:ea typeface="Microsoft YaHei"/>
        <a:cs typeface="Microsoft YaHei"/>
        <a:font script="Jpan" typeface="Microsoft YaHei"/>
        <a:font script="Hang" typeface="Microsoft YaHei"/>
        <a:font script="Hans" typeface="Microsoft YaHei"/>
        <a:font script="Hant" typeface="Microsoft YaHei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Microsoft YaHei"/>
        <a:ea typeface="Microsoft YaHei"/>
        <a:cs typeface="Microsoft YaHei"/>
        <a:font script="Jpan" typeface="Microsoft YaHei"/>
        <a:font script="Hang" typeface="Microsoft YaHei"/>
        <a:font script="Hans" typeface="Microsoft YaHei"/>
        <a:font script="Hant" typeface="Microsoft YaHei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ds_t01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Office PowerPoint</Application>
  <PresentationFormat>On-screen Show (16:9)</PresentationFormat>
  <Paragraphs>0</Paragraphs>
  <Slides>35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/>
  <dc:language>zh-CN</dc:language>
  <cp:lastModifiedBy/>
  <cp:revision>1</cp:revision>
  <dcterms:created xsi:type="dcterms:W3CDTF">2026-09-23T06:43:44Z</dcterms:created>
  <dcterms:modified xsi:type="dcterms:W3CDTF">2026-09-23T06:43:44Z</dcterms:modified>
  <cp:category/>
  <cp:contentStatus/>
</cp:coreProperties>
</file>