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t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t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035fdecbec1127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e100bf8c3498676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119e9adc93ddb84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专题1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字符串的模糊匹配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用编辑距离和最长公共子序列度量两个串有多像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模糊匹配要解决什么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编辑距离的递推与填表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最长公共子序列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三道变形面试题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25870" cy="205359"/>
            <a:chOff x="680466" y="6192202"/>
            <a:chExt cx="442587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25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自学复习版｜据吉林大学《数据结构》Tutorial 1 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本专题学习路线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模糊匹配的位置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3472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6 讲求“出现在哪里”，本专题求“有多像”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441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三种编辑操作、递推式、二维表填法、C 代码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填表与回溯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15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手算 Dist 表并还原出一份具体的编辑方案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子序列的定义、递推式、与编辑距离的关系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三道变形题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698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LeetCode 583 / 516 以及删成回文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说出编辑距离的三种编辑操作，并给出一对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串的一组最优编辑方案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358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给定两个短串，手算出完整的 Dist 表和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 表并读出答案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解释两张表的第 0 行、第 0 列为什么那样填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68808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写出编辑距离与 LCS 的 C 代码，并说明时间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和空间复杂度的前提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30911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把“最少删几个字符”“最长回文子序列”这类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问题归约到 LCS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从精确匹配到模糊匹配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允许串之间有差异，再把差异的大小量化出来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精确匹配只回答有没有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模糊匹配回答有多像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基因比对 / 查重 / 拼写纠错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68102" cy="909257"/>
            <a:chOff x="520446" y="342900"/>
            <a:chExt cx="5968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从精确匹配到模糊匹配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68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模糊匹配：把“相等”放宽成“足够相似”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04905" cy="308039"/>
            <a:chOff x="525399" y="1550194"/>
            <a:chExt cx="740490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049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6 讲的朴素匹配和 KMP 都要求子串逐字符相等，现实里的串很少这么听话。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67865"/>
            <a:ext cx="4977765" cy="1956435"/>
            <a:chOff x="533400" y="1967865"/>
            <a:chExt cx="4977765" cy="19564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97776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模糊匹配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263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降低精确匹配的要求：目标串 S 与模式串 P 之间只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要有一定程度的相似，就认为匹配成功。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19468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配套需要一个能比较大小的相似度指标，用来衡量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两个串之间的相似程度。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114800"/>
            <a:ext cx="4977765" cy="782955"/>
            <a:chOff x="533400" y="4114800"/>
            <a:chExt cx="4977765" cy="782955"/>
          </a:xfrm>
        </p:grpSpPr>
        <p:sp>
          <p:nvSpPr>
            <p:cNvPr id="17" name="Rectangle 17"/>
            <p:cNvSpPr/>
            <p:nvPr/>
          </p:nvSpPr>
          <p:spPr>
            <a:xfrm>
              <a:off x="533400" y="411480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406265"/>
              <a:ext cx="200026" cy="200025"/>
              <a:chOff x="738188" y="4406265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4062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44507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45618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26339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本专题给出两个指标：编辑距离越小越像，最长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公共子序列越长越像。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815965" y="1967865"/>
            <a:ext cx="5842635" cy="2692718"/>
            <a:chOff x="5815965" y="1967865"/>
            <a:chExt cx="5842635" cy="2692718"/>
          </a:xfrm>
        </p:grpSpPr>
        <p:sp>
          <p:nvSpPr>
            <p:cNvPr id="24" name="Rectangle 24"/>
            <p:cNvSpPr/>
            <p:nvPr/>
          </p:nvSpPr>
          <p:spPr>
            <a:xfrm>
              <a:off x="5815965" y="1967865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93003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40312" y="2102644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精确匹配（第 6 讲）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37522" y="21026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模糊匹配（本专题）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23788" y="25512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8711" y="2551271"/>
              <a:ext cx="19279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在 S 中首次出现的位置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88043" y="2551271"/>
              <a:ext cx="123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与 P 有多相似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8603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15965" y="286512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23788" y="3000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8711" y="30008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逐字符全部相等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88043" y="30008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相似度达到阈值即可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33089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3788" y="34494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8711" y="344947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下标或 -1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88043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一个数值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37576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376237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3788" y="38981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典型算法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08711" y="3898106"/>
              <a:ext cx="1211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朴素匹配、KMP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88043" y="38981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编辑距离、最长公共子序列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42071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23788" y="43467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08711" y="4346734"/>
              <a:ext cx="662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389745" y="4221480"/>
              <a:ext cx="2259330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88043" y="4346734"/>
              <a:ext cx="56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O(nm)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1967865"/>
              <a:ext cx="584263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9612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375458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两类问题的输入都是两个串，区别在于输出的是位置还是距离。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1613" cy="909257"/>
            <a:chOff x="520446" y="342900"/>
            <a:chExt cx="55716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从精确匹配到模糊匹配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16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三类真实场景都在问“这两段有多像”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1712595"/>
            <a:chOff x="533400" y="1524000"/>
            <a:chExt cx="5842635" cy="17125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6978" y="1641157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要比较的两个串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36986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相似度的用途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基因序列比对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13954" y="2023110"/>
              <a:ext cx="1194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 DNA 碱基序列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50436" y="2023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判断物种或个体间的亲缘关系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 / 代码查重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13954" y="2404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两份文档或两段源码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50436" y="24041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给出重复率并定位抄袭片段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7845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搜索框拼写纠错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13954" y="287845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用户输入与词典里的词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0436" y="2785110"/>
              <a:ext cx="181756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距离最小的词就是“您是不是要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找”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14512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50995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3401378"/>
            <a:ext cx="5842635" cy="2806065"/>
            <a:chOff x="533400" y="3401378"/>
            <a:chExt cx="5842635" cy="2806065"/>
          </a:xfrm>
        </p:grpSpPr>
        <p:sp>
          <p:nvSpPr>
            <p:cNvPr id="27" name="Rectangle 27"/>
            <p:cNvSpPr/>
            <p:nvPr/>
          </p:nvSpPr>
          <p:spPr>
            <a:xfrm>
              <a:off x="533400" y="3401378"/>
              <a:ext cx="5842635" cy="2806065"/>
            </a:xfrm>
            <a:prstGeom prst="roundRect">
              <a:avLst>
                <a:gd name="adj" fmla="val 4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534728"/>
              <a:ext cx="47625" cy="25393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35823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5147" y="3615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18450" y="362188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黑猩猩与人类基因组的比对结果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3938111"/>
              <a:ext cx="5239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Tomkins 在 Answers Research Journal 4 (2011) 上把 40000 条黑猩猩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DNA 序列与人类基因组比对，全基因组的相似度报为 86%–89%。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7141" y="4462462"/>
              <a:ext cx="5435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这类结论正是靠大规模序列比对算出来的，编辑距离与 LCS 是其中最基础的两把尺子。</a:t>
              </a:r>
            </a:p>
          </p:txBody>
        </p:sp>
      </p:grpSp>
      <p:grpSp>
        <p:nvGrpSpPr>
          <p:cNvPr id="42" name="c2-bullets-1"/>
          <p:cNvGrpSpPr/>
          <p:nvPr/>
        </p:nvGrpSpPr>
        <p:grpSpPr>
          <a:xfrm>
            <a:off x="6674358" y="1545431"/>
            <a:ext cx="4044762" cy="1136142"/>
            <a:chOff x="6674358" y="1545431"/>
            <a:chExt cx="4044762" cy="1136142"/>
          </a:xfrm>
        </p:grpSpPr>
        <p:sp>
          <p:nvSpPr>
            <p:cNvPr id="35" name="TextBox 35"/>
            <p:cNvSpPr txBox="1"/>
            <p:nvPr/>
          </p:nvSpPr>
          <p:spPr>
            <a:xfrm>
              <a:off x="6674358" y="154543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为什么这些场景不能用精确匹配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680835" y="1877378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04863" y="1846421"/>
              <a:ext cx="38142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DNA 测序本身带错误，碱基会有替换、缺失和插入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680835" y="2169795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04863" y="213979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抄袭者会改词序、换变量名、插入无关语句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680835" y="2463165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04863" y="243220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用户打字漏字母、多敲一个键、字母顺序敲反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680835" y="2796540"/>
            <a:ext cx="4977765" cy="702945"/>
            <a:chOff x="6680835" y="2796540"/>
            <a:chExt cx="4977765" cy="702945"/>
          </a:xfrm>
        </p:grpSpPr>
        <p:sp>
          <p:nvSpPr>
            <p:cNvPr id="43" name="Rectangle 43"/>
            <p:cNvSpPr/>
            <p:nvPr/>
          </p:nvSpPr>
          <p:spPr>
            <a:xfrm>
              <a:off x="6680835" y="2796540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885623" y="3048000"/>
              <a:ext cx="200026" cy="200026"/>
              <a:chOff x="6885623" y="304800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885623" y="30480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85635" y="3114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974523" y="31480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188708" y="2940844"/>
              <a:ext cx="4093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这三种“出错方式”恰好对应替换、删除、插入三种编辑操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作。</a:t>
              </a:r>
            </a:p>
          </p:txBody>
        </p:sp>
      </p:grpSp>
      <p:grpSp>
        <p:nvGrpSpPr>
          <p:cNvPr id="63" name="c2-card-3"/>
          <p:cNvGrpSpPr/>
          <p:nvPr/>
        </p:nvGrpSpPr>
        <p:grpSpPr>
          <a:xfrm>
            <a:off x="6680835" y="3664268"/>
            <a:ext cx="4977765" cy="2543175"/>
            <a:chOff x="6680835" y="3664268"/>
            <a:chExt cx="4977765" cy="2543175"/>
          </a:xfrm>
        </p:grpSpPr>
        <p:sp>
          <p:nvSpPr>
            <p:cNvPr id="50" name="Rectangle 50"/>
            <p:cNvSpPr/>
            <p:nvPr/>
          </p:nvSpPr>
          <p:spPr>
            <a:xfrm>
              <a:off x="6680835" y="3664268"/>
              <a:ext cx="4977765" cy="2543175"/>
            </a:xfrm>
            <a:prstGeom prst="roundRect">
              <a:avLst>
                <a:gd name="adj" fmla="val 52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0360" y="3797618"/>
              <a:ext cx="47625" cy="22764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99910" y="384524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6633" y="387810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42061" y="3884771"/>
              <a:ext cx="21074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搜索框里的“您是不是要找”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93433" y="4201001"/>
              <a:ext cx="43126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用户输入 compueter，与词典里几个候选词的编辑距离分别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是：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09435" y="478155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64883" y="4728686"/>
              <a:ext cx="30504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computer 距离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（删掉多敲的一个 e）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909435" y="506634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64883" y="5014436"/>
              <a:ext cx="4277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compute 距离 2，computers 距离 2，compiler 距离 3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909435" y="53511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64883" y="5299234"/>
              <a:ext cx="1253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compare 距离 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93433" y="5584031"/>
              <a:ext cx="42720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搜索引擎按距离从小到大排，距离最小的 computer 被提示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出来。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字符串的编辑距离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把一个串改成另一个串，最少要改几次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三种编辑操作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只看最后一个字符的递推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76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二维表填法与 C 代码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37634" cy="909257"/>
            <a:chOff x="520446" y="342900"/>
            <a:chExt cx="67376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376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编辑距离：把 S 改成 P 所需的最少编辑次数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2222182"/>
            <a:chOff x="533400" y="1524000"/>
            <a:chExt cx="5626418" cy="22221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22182"/>
            </a:xfrm>
            <a:prstGeom prst="roundRect">
              <a:avLst>
                <a:gd name="adj" fmla="val 60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554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3031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字符串编辑距离（Edit Distance）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9377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将一个字符串转化成另一个字符串，所需要的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最少编辑操作次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498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9033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编辑距离越小，两个串越相似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680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007519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两个完全相同的串，编辑距离为 0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33851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3325654"/>
              <a:ext cx="20088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 Levenshtein 距离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33400" y="3926205"/>
            <a:ext cx="5626418" cy="1697355"/>
            <a:chOff x="533400" y="3926205"/>
            <a:chExt cx="5626418" cy="1697355"/>
          </a:xfrm>
        </p:grpSpPr>
        <p:sp>
          <p:nvSpPr>
            <p:cNvPr id="20" name="Rectangle 20"/>
            <p:cNvSpPr/>
            <p:nvPr/>
          </p:nvSpPr>
          <p:spPr>
            <a:xfrm>
              <a:off x="533400" y="3926205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60526" y="40547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编辑操作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04235" y="40547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60658" y="40547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889" y="447960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替换一个字符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8509" y="4479608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 → cut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99266" y="447960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7701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774882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490347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插入一个字符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48509" y="490347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 → cart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99266" y="49034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1949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889" y="53282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删除一个字符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48509" y="53282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cart → cat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99266" y="53282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926205"/>
              <a:ext cx="5626418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441258" y="392620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692015" y="392620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image-1"/>
          <p:cNvGrpSpPr/>
          <p:nvPr/>
        </p:nvGrpSpPr>
        <p:grpSpPr>
          <a:xfrm>
            <a:off x="7569518" y="1524000"/>
            <a:ext cx="2984182" cy="2537079"/>
            <a:chOff x="7569518" y="1524000"/>
            <a:chExt cx="2984182" cy="2537079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6" t="0" r="5" b="0"/>
            <a:stretch>
              <a:fillRect/>
            </a:stretch>
          </p:blipFill>
          <p:spPr>
            <a:xfrm>
              <a:off x="7569518" y="1524000"/>
              <a:ext cx="2984182" cy="2238375"/>
            </a:xfrm>
            <a:prstGeom prst="roundRect">
              <a:avLst>
                <a:gd name="adj" fmla="val 5957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7572566" y="385572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三种编辑操作：取走一格、塞进一格、换掉一格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464618" y="4219575"/>
            <a:ext cx="5193982" cy="1404938"/>
            <a:chOff x="6464618" y="4219575"/>
            <a:chExt cx="5193982" cy="1404938"/>
          </a:xfrm>
        </p:grpSpPr>
        <p:sp>
          <p:nvSpPr>
            <p:cNvPr id="43" name="Rectangle 43"/>
            <p:cNvSpPr/>
            <p:nvPr/>
          </p:nvSpPr>
          <p:spPr>
            <a:xfrm>
              <a:off x="6464618" y="4219575"/>
              <a:ext cx="5193982" cy="1404938"/>
            </a:xfrm>
            <a:prstGeom prst="roundRect">
              <a:avLst>
                <a:gd name="adj" fmla="val 813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57347" y="4817863"/>
              <a:ext cx="224134" cy="192560"/>
              <a:chOff x="6657347" y="4817863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769418" y="48882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57347" y="48178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69418" y="49660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1729" y="4690586"/>
              <a:ext cx="428853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三种操作的代价都记为 1。若把替换的代价改成 2，得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到的就是另一种距离，结论不通用。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0" name="Rectangle 5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11704"/>
              <a:ext cx="60676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S[1..n] 和 P[1..m]，求 S 与 P 的编辑距离，即 LeetCode 72。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32742" cy="909257"/>
            <a:chOff x="520446" y="342900"/>
            <a:chExt cx="50327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327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例：FOOD 改成 MONEY 要 4 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cells-1"/>
          <p:cNvGrpSpPr/>
          <p:nvPr/>
        </p:nvGrpSpPr>
        <p:grpSpPr>
          <a:xfrm>
            <a:off x="526923" y="1524000"/>
            <a:ext cx="5169027" cy="2981325"/>
            <a:chOff x="526923" y="1524000"/>
            <a:chExt cx="5169027" cy="2981325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654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85850" y="152400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87811" y="1654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007870" y="152400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90714" y="1654016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929890" y="152400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12734" y="1654016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51910" y="152400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53871" y="1654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05627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7647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49667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1687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923" y="2444591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85850" y="2314575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68694" y="244459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07870" y="231457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90714" y="244459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929890" y="231457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12734" y="244459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51910" y="231457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53871" y="244459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923" y="3035141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85850" y="29051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68694" y="303514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007870" y="29051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90714" y="303514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929890" y="2905125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331851" y="30351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51910" y="29051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53871" y="30351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6923" y="3625691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第3步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85850" y="349567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468694" y="362569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007870" y="349567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90714" y="362569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929890" y="349567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31851" y="362569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51910" y="3495675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253871" y="362569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773930" y="349567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75891" y="362569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6923" y="42162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85850" y="40862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468694" y="421624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007870" y="40862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390714" y="421624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929890" y="40862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331851" y="42162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851910" y="40862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53871" y="42162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773930" y="4086225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175891" y="42162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</p:grpSp>
      <p:grpSp>
        <p:nvGrpSpPr>
          <p:cNvPr id="66" name="c1-callout-2"/>
          <p:cNvGrpSpPr/>
          <p:nvPr/>
        </p:nvGrpSpPr>
        <p:grpSpPr>
          <a:xfrm>
            <a:off x="533400" y="4695825"/>
            <a:ext cx="5951220" cy="1502092"/>
            <a:chOff x="533400" y="4695825"/>
            <a:chExt cx="5951220" cy="1502092"/>
          </a:xfrm>
        </p:grpSpPr>
        <p:sp>
          <p:nvSpPr>
            <p:cNvPr id="61" name="Rectangle 61"/>
            <p:cNvSpPr/>
            <p:nvPr/>
          </p:nvSpPr>
          <p:spPr>
            <a:xfrm>
              <a:off x="533400" y="4695825"/>
              <a:ext cx="5951220" cy="1502092"/>
            </a:xfrm>
            <a:prstGeom prst="roundRect">
              <a:avLst>
                <a:gd name="adj" fmla="val 760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5346383"/>
              <a:ext cx="200026" cy="200026"/>
              <a:chOff x="738188" y="5346383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3463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04863" y="54241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130" y="5203508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每一步都只动一个字符，相邻两行之间的编辑距离恰好是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1，四步合起来是 4。</a:t>
              </a:r>
            </a:p>
          </p:txBody>
        </p:sp>
      </p:grpSp>
      <p:grpSp>
        <p:nvGrpSpPr>
          <p:cNvPr id="84" name="c2-steps-1"/>
          <p:cNvGrpSpPr/>
          <p:nvPr/>
        </p:nvGrpSpPr>
        <p:grpSpPr>
          <a:xfrm>
            <a:off x="6789420" y="1533525"/>
            <a:ext cx="2173062" cy="2529173"/>
            <a:chOff x="6789420" y="1533525"/>
            <a:chExt cx="2173062" cy="2529173"/>
          </a:xfrm>
        </p:grpSpPr>
        <p:sp>
          <p:nvSpPr>
            <p:cNvPr id="67" name="Rectangle 67"/>
            <p:cNvSpPr/>
            <p:nvPr/>
          </p:nvSpPr>
          <p:spPr>
            <a:xfrm>
              <a:off x="692277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78942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8304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78942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8304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78942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8304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200900" y="1567815"/>
              <a:ext cx="17615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位 F 替换为 M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202043" y="1861661"/>
              <a:ext cx="1205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FOOD → MOOD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200900" y="2218372"/>
              <a:ext cx="17615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位 O 替换为 N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02043" y="2512219"/>
              <a:ext cx="1205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MOOD → MOND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200900" y="2868930"/>
              <a:ext cx="1257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位插入 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202043" y="3162776"/>
              <a:ext cx="1269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MOND → MONED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200900" y="3520440"/>
              <a:ext cx="1716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位 D 替换为 Y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202043" y="3813334"/>
              <a:ext cx="13693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MONED → MONEY</a:t>
              </a:r>
            </a:p>
          </p:txBody>
        </p:sp>
      </p:grpSp>
      <p:grpSp>
        <p:nvGrpSpPr>
          <p:cNvPr id="92" name="c2-card-2"/>
          <p:cNvGrpSpPr/>
          <p:nvPr/>
        </p:nvGrpSpPr>
        <p:grpSpPr>
          <a:xfrm>
            <a:off x="6789420" y="4241482"/>
            <a:ext cx="4869180" cy="1956435"/>
            <a:chOff x="6789420" y="4241482"/>
            <a:chExt cx="4869180" cy="1956435"/>
          </a:xfrm>
        </p:grpSpPr>
        <p:sp>
          <p:nvSpPr>
            <p:cNvPr id="85" name="Rectangle 85"/>
            <p:cNvSpPr/>
            <p:nvPr/>
          </p:nvSpPr>
          <p:spPr>
            <a:xfrm>
              <a:off x="6789420" y="4241482"/>
              <a:ext cx="486918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798945" y="4374832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037070" y="44510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127278" y="44867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638098" y="4486275"/>
              <a:ext cx="3690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是“最少次数”，不是“某种改法的次数”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029450" y="4847272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随便改也能把 FOOD 变成 MONEY，比如全删再全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插要 9 步。编辑距离取的是所有改法里的最小值。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029450" y="5468302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本讲义用程序枚举了这对串的完整 Dist 表，最小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值确实是 4。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拆解的入口：只盯住两个串的最后一个字符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718336" cy="308039"/>
            <a:chOff x="525399" y="1550194"/>
            <a:chExt cx="771833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7183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 Dist(n, m) 为 S[1..n] 与 P[1..m] 的编辑距离，先看末尾字符相等的情形。</a:t>
              </a:r>
            </a:p>
          </p:txBody>
        </p:sp>
      </p:grpSp>
      <p:grpSp>
        <p:nvGrpSpPr>
          <p:cNvPr id="31" name="c1-cells-1"/>
          <p:cNvGrpSpPr/>
          <p:nvPr/>
        </p:nvGrpSpPr>
        <p:grpSpPr>
          <a:xfrm>
            <a:off x="526923" y="1967865"/>
            <a:ext cx="5416677" cy="1009650"/>
            <a:chOff x="526923" y="1967865"/>
            <a:chExt cx="5416677" cy="1009650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0978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1048" y="1967865"/>
              <a:ext cx="1036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67587" y="209788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97368" y="1967865"/>
              <a:ext cx="1036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03907" y="209788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33688" y="1967865"/>
              <a:ext cx="1036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95615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70008" y="1967865"/>
              <a:ext cx="1036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72355" y="2097881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Sₙ₋₁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07280" y="1967865"/>
              <a:ext cx="10363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13819" y="209788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923" y="26884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1048" y="2558415"/>
              <a:ext cx="1036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67587" y="26884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97368" y="2558415"/>
              <a:ext cx="1036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03907" y="26884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833688" y="2558415"/>
              <a:ext cx="1036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95615" y="2688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70008" y="2558415"/>
              <a:ext cx="1036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72355" y="2688431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Pₘ₋₁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907280" y="2558415"/>
              <a:ext cx="10363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13819" y="26884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Pₘ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3168015"/>
            <a:ext cx="5410200" cy="2015490"/>
            <a:chOff x="533400" y="3168015"/>
            <a:chExt cx="5410200" cy="2015490"/>
          </a:xfrm>
        </p:grpSpPr>
        <p:sp>
          <p:nvSpPr>
            <p:cNvPr id="32" name="Rectangle 32"/>
            <p:cNvSpPr/>
            <p:nvPr/>
          </p:nvSpPr>
          <p:spPr>
            <a:xfrm>
              <a:off x="533400" y="3168015"/>
              <a:ext cx="5410200" cy="2015490"/>
            </a:xfrm>
            <a:prstGeom prst="roundRect">
              <a:avLst>
                <a:gd name="adj" fmla="val 6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301365"/>
              <a:ext cx="47625" cy="17487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050" y="33775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7308" y="34132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情形一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24000" y="3412808"/>
              <a:ext cx="1034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Sₙ = Pₘ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3430" y="377380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末尾这一对字符已经对上了，谁也不用动，问题缩小成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S[1..n-1] 变换为 P[1..m-1]。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3430" y="4394835"/>
              <a:ext cx="2817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Dist(n, m) = Dist(n-1, m-1)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967865"/>
            <a:ext cx="5410200" cy="2242185"/>
            <a:chOff x="6248400" y="1967865"/>
            <a:chExt cx="5410200" cy="2242185"/>
          </a:xfrm>
        </p:grpSpPr>
        <p:sp>
          <p:nvSpPr>
            <p:cNvPr id="40" name="Rectangle 40"/>
            <p:cNvSpPr/>
            <p:nvPr/>
          </p:nvSpPr>
          <p:spPr>
            <a:xfrm>
              <a:off x="6248400" y="1967865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579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481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58978" y="221265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为什么允许只看最后一个字符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50330" y="2573655"/>
              <a:ext cx="4806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任何一份最优编辑方案，作用在 S 末位字符上的动作只有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四种可能：保留、替换、把它删掉、或者在它后面插入 P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的末位字符。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50330" y="348043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四种可能各自把原问题缩成一个更短串的同类问题，于是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可以递推。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248400" y="4400550"/>
            <a:ext cx="5410200" cy="782955"/>
            <a:chOff x="6248400" y="4400550"/>
            <a:chExt cx="5410200" cy="782955"/>
          </a:xfrm>
        </p:grpSpPr>
        <p:sp>
          <p:nvSpPr>
            <p:cNvPr id="47" name="Rectangle 47"/>
            <p:cNvSpPr/>
            <p:nvPr/>
          </p:nvSpPr>
          <p:spPr>
            <a:xfrm>
              <a:off x="6248400" y="440055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453188" y="4692015"/>
              <a:ext cx="200026" cy="200025"/>
              <a:chOff x="6453188" y="4692015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453188" y="46920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492926" y="47364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27642" y="48475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55130" y="4549140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这正是动态规划的套路：先找到“最后一步怎么走”，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再把剩下的部分交给同一个函数。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末位不等时有三种改法，取代价最小的一种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1956435"/>
            <a:chOff x="533400" y="1524000"/>
            <a:chExt cx="4760595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34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Sₙ ≠ Pₘ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末位这一对字符对不上，必须花掉一次编辑操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作，剩下的部分仍然是同类子问题。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三种方案各自付出 1 次操作，结果取三者的最小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670935"/>
            <a:ext cx="4760595" cy="1528762"/>
            <a:chOff x="533400" y="3670935"/>
            <a:chExt cx="4760595" cy="1528762"/>
          </a:xfrm>
        </p:grpSpPr>
        <p:sp>
          <p:nvSpPr>
            <p:cNvPr id="15" name="Rectangle 15"/>
            <p:cNvSpPr/>
            <p:nvPr/>
          </p:nvSpPr>
          <p:spPr>
            <a:xfrm>
              <a:off x="533400" y="3670935"/>
              <a:ext cx="4760595" cy="1528762"/>
            </a:xfrm>
            <a:prstGeom prst="roundRect">
              <a:avLst>
                <a:gd name="adj" fmla="val 747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6129" y="4331136"/>
              <a:ext cx="224134" cy="192560"/>
              <a:chOff x="726129" y="4331136"/>
              <a:chExt cx="224134" cy="1925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8200" y="44015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26129" y="43311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4792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191952"/>
              <a:ext cx="3739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三种方案是并列的候选，不存在“哪种一定更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好”，必须三个都算出来再比。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5598795" y="1524000"/>
            <a:ext cx="6059805" cy="2475548"/>
            <a:chOff x="5598795" y="1524000"/>
            <a:chExt cx="6059805" cy="2475548"/>
          </a:xfrm>
        </p:grpSpPr>
        <p:sp>
          <p:nvSpPr>
            <p:cNvPr id="22" name="Rectangle 22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838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2602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先做什么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13965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再做一次操作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740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06618" y="22217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4328" y="2108359"/>
              <a:ext cx="1354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S[1..n-1] 变换为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P[1..m-1]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6520" y="2108359"/>
              <a:ext cx="11183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S[n] 替换为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P[m]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54843" y="2108359"/>
              <a:ext cx="7769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Dist(n-1,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m-1)+1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98795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598795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6618" y="28970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4328" y="2783681"/>
              <a:ext cx="11752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S[1..n] 变换为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P[1..m-1]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36520" y="2897029"/>
              <a:ext cx="1352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在末尾插入 P[m]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54843" y="2783681"/>
              <a:ext cx="5981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Dist(n,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m-1)+1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98795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06618" y="35723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34328" y="3459004"/>
              <a:ext cx="1354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S[1..n-1] 变换为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P[1..m]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36520" y="3572351"/>
              <a:ext cx="800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 S[n]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54843" y="3459004"/>
              <a:ext cx="7769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Dist(n-1,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m)+1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1524000"/>
              <a:ext cx="6059805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321742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623935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442258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ells-2"/>
          <p:cNvGrpSpPr/>
          <p:nvPr/>
        </p:nvGrpSpPr>
        <p:grpSpPr>
          <a:xfrm>
            <a:off x="5592699" y="4190048"/>
            <a:ext cx="6065901" cy="1009650"/>
            <a:chOff x="5592699" y="4190048"/>
            <a:chExt cx="6065901" cy="1009650"/>
          </a:xfrm>
        </p:grpSpPr>
        <p:sp>
          <p:nvSpPr>
            <p:cNvPr id="47" name="TextBox 47"/>
            <p:cNvSpPr txBox="1"/>
            <p:nvPr/>
          </p:nvSpPr>
          <p:spPr>
            <a:xfrm>
              <a:off x="5592699" y="432435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方案2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125528" y="4190048"/>
              <a:ext cx="11068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74262" y="43243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232332" y="4190048"/>
              <a:ext cx="11068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32993" y="43243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338185" y="4190048"/>
              <a:ext cx="11068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88347" y="432435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Sₙ₋₁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444990" y="4190048"/>
              <a:ext cx="11068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893724" y="43243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551795" y="4190048"/>
              <a:ext cx="110680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919757" y="4324350"/>
              <a:ext cx="370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＋Pₘ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92699" y="491490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方案3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125528" y="4780598"/>
              <a:ext cx="11068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74262" y="491490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232332" y="4780598"/>
              <a:ext cx="11068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32993" y="49149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338185" y="4780598"/>
              <a:ext cx="11068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88347" y="491490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Sₙ₋₁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444990" y="4780598"/>
              <a:ext cx="110680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830752" y="49149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删去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551795" y="4780598"/>
              <a:ext cx="110680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7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9" name="Rectangle 6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130" y="599122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记忆口诀按下标走：对角线是替换，左邻是插入，上邻是删除。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两种情形合成一条递推式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"/>
              <p:cNvSpPr txBox="1">
                <a:spLocks noGrp="1"/>
              </p:cNvSpPr>
              <p:nvPr/>
            </p:nvSpPr>
            <p:spPr>
              <a:xfrm>
                <a:off x="533400" y="1524000"/>
                <a:ext cx="11125200" cy="941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Dist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Dist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Dist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Dist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Dist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7" name="c1-table-2"/>
          <p:cNvGrpSpPr/>
          <p:nvPr/>
        </p:nvGrpSpPr>
        <p:grpSpPr>
          <a:xfrm>
            <a:off x="533400" y="2655570"/>
            <a:ext cx="11125200" cy="1795462"/>
            <a:chOff x="533400" y="2655570"/>
            <a:chExt cx="11125200" cy="1795462"/>
          </a:xfrm>
        </p:grpSpPr>
        <p:sp>
          <p:nvSpPr>
            <p:cNvPr id="8" name="Rectangle 8"/>
            <p:cNvSpPr/>
            <p:nvPr/>
          </p:nvSpPr>
          <p:spPr>
            <a:xfrm>
              <a:off x="533400" y="265557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06258" y="27913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边界情形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92169" y="27913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30807" y="27913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3239929"/>
              <a:ext cx="9644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Dist(0, m)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89148" y="3239929"/>
              <a:ext cx="142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68418" y="3239929"/>
              <a:ext cx="4306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空串变成 P 的前 m 个字符，只能一个一个插入，插 m 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55282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688556"/>
              <a:ext cx="927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Dist(n, 0)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89148" y="368855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68418" y="3688556"/>
              <a:ext cx="3665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的前 n 个字符全部删光才能变成空串，删 n 次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9976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137184"/>
              <a:ext cx="930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Dist(0, 0)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89148" y="41371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68418" y="413718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空串变空串，不用动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65557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976562" y="265557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755832" y="265557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llout-3"/>
          <p:cNvGrpSpPr/>
          <p:nvPr/>
        </p:nvGrpSpPr>
        <p:grpSpPr>
          <a:xfrm>
            <a:off x="533400" y="4641532"/>
            <a:ext cx="11125200" cy="533400"/>
            <a:chOff x="533400" y="4641532"/>
            <a:chExt cx="11125200" cy="533400"/>
          </a:xfrm>
        </p:grpSpPr>
        <p:sp>
          <p:nvSpPr>
            <p:cNvPr id="28" name="Rectangle 28"/>
            <p:cNvSpPr/>
            <p:nvPr/>
          </p:nvSpPr>
          <p:spPr>
            <a:xfrm>
              <a:off x="533400" y="4641532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4804528"/>
              <a:ext cx="224134" cy="192560"/>
              <a:chOff x="726129" y="4804528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48748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48045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49526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4803458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递推式本身不含终止条件，两条边界必须单独写出来，否则递归会一直往负下标走。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99105" cy="909257"/>
            <a:chOff x="520446" y="342900"/>
            <a:chExt cx="76991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991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换成二维数组：Dist[i][j] 记住每一对前缀的答案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1933575"/>
            <a:chOff x="533400" y="1524000"/>
            <a:chExt cx="5842635" cy="19335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6111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Dist[i][j] 的含义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738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的前 i 个字符 S₁…Sᵢ 与 P 的前 j 个字符 P₁…Pⱼ 之间的编辑距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711291"/>
              <a:ext cx="4353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从 0 到 n，j 从 0 到 m，一共 (n+1)(m+1) 个格子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908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31331"/>
              <a:ext cx="32267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整串的答案就落在右下角 Dist[n][m]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9"/>
              <p:cNvSpPr txBox="1">
                <a:spLocks noGrp="1"/>
              </p:cNvSpPr>
              <p:nvPr/>
            </p:nvSpPr>
            <p:spPr>
              <a:xfrm>
                <a:off x="533400" y="3642360"/>
                <a:ext cx="5842635" cy="506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Dist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Dist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Dist</m:t>
                                      </m:r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</m:t>
                                      </m:r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Dist</m:t>
                                      </m:r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</m:t>
                                      </m:r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Dist</m:t>
                                      </m:r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5" name="c1-card-3"/>
          <p:cNvGrpSpPr/>
          <p:nvPr/>
        </p:nvGrpSpPr>
        <p:grpSpPr>
          <a:xfrm>
            <a:off x="533400" y="4334828"/>
            <a:ext cx="5842635" cy="1884998"/>
            <a:chOff x="533400" y="4334828"/>
            <a:chExt cx="5842635" cy="1884998"/>
          </a:xfrm>
        </p:grpSpPr>
        <p:sp>
          <p:nvSpPr>
            <p:cNvPr id="19" name="Rectangle 19"/>
            <p:cNvSpPr/>
            <p:nvPr/>
          </p:nvSpPr>
          <p:spPr>
            <a:xfrm>
              <a:off x="533400" y="4334828"/>
              <a:ext cx="5842635" cy="1884998"/>
            </a:xfrm>
            <a:prstGeom prst="roundRect">
              <a:avLst>
                <a:gd name="adj" fmla="val 70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7235" y="4538662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1840" y="45743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为什么值得存下来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92084" y="457819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递归会把同一个子问题算很多遍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996" y="4930616"/>
              <a:ext cx="51541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照递推式直接写递归，Dist(n, m) 会一路岔成三支，同一对下标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被重复求解，规模指数级增长。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9996" y="5522119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把每对 (i, j) 的答案存进数组只算一次，总工作量降到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(n+1)(m+1) 格，这一步就是动态规划。</a:t>
              </a:r>
            </a:p>
          </p:txBody>
        </p:sp>
      </p:grpSp>
      <p:grpSp>
        <p:nvGrpSpPr>
          <p:cNvPr id="47" name="c2-graph-1"/>
          <p:cNvGrpSpPr/>
          <p:nvPr/>
        </p:nvGrpSpPr>
        <p:grpSpPr>
          <a:xfrm>
            <a:off x="7415212" y="1930718"/>
            <a:ext cx="3558540" cy="2380774"/>
            <a:chOff x="7415212" y="1930718"/>
            <a:chExt cx="3558540" cy="2380774"/>
          </a:xfrm>
        </p:grpSpPr>
        <p:sp>
          <p:nvSpPr>
            <p:cNvPr id="26" name="Freeform 26"/>
            <p:cNvSpPr/>
            <p:nvPr/>
          </p:nvSpPr>
          <p:spPr>
            <a:xfrm>
              <a:off x="8355330" y="2337435"/>
              <a:ext cx="1598295" cy="984885"/>
            </a:xfrm>
            <a:custGeom>
              <a:avLst/>
              <a:gdLst/>
              <a:ahLst/>
              <a:cxnLst/>
              <a:rect l="l" t="t" r="r" b="b"/>
              <a:pathLst>
                <a:path w="1598295" h="984885">
                  <a:moveTo>
                    <a:pt x="0" y="0"/>
                  </a:moveTo>
                  <a:lnTo>
                    <a:pt x="1598295" y="9848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928860" y="328136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90488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0364152" y="2337435"/>
              <a:ext cx="9525" cy="939165"/>
            </a:xfrm>
            <a:custGeom>
              <a:avLst/>
              <a:gdLst/>
              <a:ahLst/>
              <a:cxnLst/>
              <a:rect l="l" t="t" r="r" b="b"/>
              <a:pathLst>
                <a:path w="9525" h="939165">
                  <a:moveTo>
                    <a:pt x="0" y="0"/>
                  </a:moveTo>
                  <a:lnTo>
                    <a:pt x="0" y="939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316528" y="3276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635365" y="3574732"/>
              <a:ext cx="1023938" cy="9525"/>
            </a:xfrm>
            <a:custGeom>
              <a:avLst/>
              <a:gdLst/>
              <a:ahLst/>
              <a:cxnLst/>
              <a:rect l="l" t="t" r="r" b="b"/>
              <a:pathLst>
                <a:path w="1023938" h="9525">
                  <a:moveTo>
                    <a:pt x="0" y="0"/>
                  </a:moveTo>
                  <a:lnTo>
                    <a:pt x="10239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659302" y="35271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5212" y="1930718"/>
              <a:ext cx="1219200" cy="406718"/>
            </a:xfrm>
            <a:prstGeom prst="roundRect">
              <a:avLst>
                <a:gd name="adj" fmla="val 2341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754552" y="1930718"/>
              <a:ext cx="1219200" cy="406718"/>
            </a:xfrm>
            <a:prstGeom prst="roundRect">
              <a:avLst>
                <a:gd name="adj" fmla="val 2341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415212" y="3371850"/>
              <a:ext cx="1219200" cy="406718"/>
            </a:xfrm>
            <a:prstGeom prst="roundRect">
              <a:avLst>
                <a:gd name="adj" fmla="val 2341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754552" y="3371850"/>
              <a:ext cx="1219200" cy="406718"/>
            </a:xfrm>
            <a:prstGeom prst="roundRect">
              <a:avLst>
                <a:gd name="adj" fmla="val 2341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63769" y="2063591"/>
              <a:ext cx="1122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Dist[i-1][j-1]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1003" y="2063591"/>
              <a:ext cx="9462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Dist[i-1][j]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1663" y="3504724"/>
              <a:ext cx="9462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Dist[i][j-1]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78897" y="3504724"/>
              <a:ext cx="770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Dist[i][j]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042082" y="276891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68562" y="280035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替换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211752" y="276891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38232" y="280035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042082" y="348900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68562" y="352139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82420" y="409146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每个格子只依赖左、上、左上三个邻居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680835" y="4481512"/>
            <a:ext cx="4977765" cy="1738312"/>
            <a:chOff x="6680835" y="4481512"/>
            <a:chExt cx="4977765" cy="1738312"/>
          </a:xfrm>
        </p:grpSpPr>
        <p:sp>
          <p:nvSpPr>
            <p:cNvPr id="48" name="Rectangle 48"/>
            <p:cNvSpPr/>
            <p:nvPr/>
          </p:nvSpPr>
          <p:spPr>
            <a:xfrm>
              <a:off x="6680835" y="4481512"/>
              <a:ext cx="4977765" cy="1738312"/>
            </a:xfrm>
            <a:prstGeom prst="roundRect">
              <a:avLst>
                <a:gd name="adj" fmla="val 657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885623" y="5250180"/>
              <a:ext cx="200026" cy="200025"/>
              <a:chOff x="6885623" y="5250180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885623" y="52501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25361" y="52946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60077" y="54057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187946" y="5119211"/>
              <a:ext cx="39999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n、m 换成 i、j 之后，递归定义就变成了可以逐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格填写的表格。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07114" cy="909257"/>
            <a:chOff x="520446" y="342900"/>
            <a:chExt cx="84071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071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填表顺序：先铺好第 0 行和第 0 列，再从左上填到右下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1456690" y="1524000"/>
            <a:ext cx="3780790" cy="2562702"/>
            <a:chOff x="1456690" y="1524000"/>
            <a:chExt cx="3780790" cy="256270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6" r="0" b="5"/>
            <a:stretch>
              <a:fillRect/>
            </a:stretch>
          </p:blipFill>
          <p:spPr>
            <a:xfrm>
              <a:off x="1847850" y="1524000"/>
              <a:ext cx="2997518" cy="2247900"/>
            </a:xfrm>
            <a:prstGeom prst="roundRect">
              <a:avLst>
                <a:gd name="adj" fmla="val 5932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456690" y="3866674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首行首列先填满，中间每一格只看它的左、上、左上三颗</a:t>
              </a:r>
            </a:p>
          </p:txBody>
        </p:sp>
      </p:grpSp>
      <p:grpSp>
        <p:nvGrpSpPr>
          <p:cNvPr id="15" name="c1-callout-2"/>
          <p:cNvGrpSpPr/>
          <p:nvPr/>
        </p:nvGrpSpPr>
        <p:grpSpPr>
          <a:xfrm>
            <a:off x="533400" y="4251960"/>
            <a:ext cx="5626418" cy="1660208"/>
            <a:chOff x="533400" y="4251960"/>
            <a:chExt cx="5626418" cy="1660208"/>
          </a:xfrm>
        </p:grpSpPr>
        <p:sp>
          <p:nvSpPr>
            <p:cNvPr id="10" name="Rectangle 10"/>
            <p:cNvSpPr/>
            <p:nvPr/>
          </p:nvSpPr>
          <p:spPr>
            <a:xfrm>
              <a:off x="533400" y="4251960"/>
              <a:ext cx="5626418" cy="1660208"/>
            </a:xfrm>
            <a:prstGeom prst="roundRect">
              <a:avLst>
                <a:gd name="adj" fmla="val 68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38188" y="4981577"/>
              <a:ext cx="200023" cy="200023"/>
              <a:chOff x="738188" y="4981577"/>
              <a:chExt cx="200023" cy="20002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38188" y="49815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1538" y="5048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40130" y="4838700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只要保证填 Dist[i][j] 时三个邻居都已经有值，行优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先、列优先都对。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6464618" y="1533525"/>
            <a:ext cx="4324335" cy="2529173"/>
            <a:chOff x="6464618" y="1533525"/>
            <a:chExt cx="4324335" cy="2529173"/>
          </a:xfrm>
        </p:grpSpPr>
        <p:sp>
          <p:nvSpPr>
            <p:cNvPr id="16" name="Rectangle 16"/>
            <p:cNvSpPr/>
            <p:nvPr/>
          </p:nvSpPr>
          <p:spPr>
            <a:xfrm>
              <a:off x="6597968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464618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6098" y="1567815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初始化第 0 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77241" y="1861661"/>
              <a:ext cx="3739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Dist[i][0] = i，含义是把 S 的前 i 个字符全删掉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6098" y="2218372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初始化第 0 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77241" y="2512219"/>
              <a:ext cx="3911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Dist[0][j] = j，含义是从空串插入 P 的前 j 个字符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098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逐行推进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241" y="3162776"/>
              <a:ext cx="2373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从 1 到 n，每行内 j 从 1 到 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098" y="35204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读答案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7241" y="3813334"/>
              <a:ext cx="3133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右下角 Dist[n][m] 就是整串的编辑距离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464618" y="4241482"/>
            <a:ext cx="5193982" cy="1670685"/>
            <a:chOff x="6464618" y="4241482"/>
            <a:chExt cx="5193982" cy="1670685"/>
          </a:xfrm>
        </p:grpSpPr>
        <p:sp>
          <p:nvSpPr>
            <p:cNvPr id="34" name="Rectangle 34"/>
            <p:cNvSpPr/>
            <p:nvPr/>
          </p:nvSpPr>
          <p:spPr>
            <a:xfrm>
              <a:off x="6464618" y="4241482"/>
              <a:ext cx="5193982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4374832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12268" y="44510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3428" y="44867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3295" y="4486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下标差一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4648" y="4847272"/>
              <a:ext cx="4406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表的下标 i、j 从 1 数起，而 C 数组 s、p 的下标从 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数起，所以比较的是 s[i-1] 与 p[j-1]。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04648" y="5468302"/>
              <a:ext cx="3387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表要开成 (n+1)×(m+1)，不是 n×m。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31029" cy="909257"/>
            <a:chOff x="520446" y="342900"/>
            <a:chExt cx="64310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310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例题：S = ABC，P = BCD 的编辑距离是 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27685" y="1524000"/>
            <a:ext cx="4983480" cy="2539842"/>
            <a:chOff x="527685" y="1524000"/>
            <a:chExt cx="4983480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310" y="1659731"/>
              <a:ext cx="395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S＼P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71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37529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83361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3959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2297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7211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271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854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5914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2039" y="255698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7211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633662" y="2430780"/>
              <a:ext cx="926782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4271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8854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5914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2039" y="300561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7211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33662" y="2880360"/>
              <a:ext cx="926782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4271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8854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914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2039" y="34542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7211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4271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579495" y="3328988"/>
              <a:ext cx="926782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98854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24375" y="3328988"/>
              <a:ext cx="97631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95914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497776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62401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61937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56520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51008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" y="3843814"/>
              <a:ext cx="3501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蓝色格子是右侧四步逐格算出来的，右下角 2 是答案</a:t>
              </a:r>
            </a:p>
          </p:txBody>
        </p:sp>
      </p:grpSp>
      <p:grpSp>
        <p:nvGrpSpPr>
          <p:cNvPr id="55" name="c1-callout-2"/>
          <p:cNvGrpSpPr/>
          <p:nvPr/>
        </p:nvGrpSpPr>
        <p:grpSpPr>
          <a:xfrm>
            <a:off x="533400" y="4210050"/>
            <a:ext cx="4977765" cy="1399222"/>
            <a:chOff x="533400" y="4210050"/>
            <a:chExt cx="4977765" cy="1399222"/>
          </a:xfrm>
        </p:grpSpPr>
        <p:sp>
          <p:nvSpPr>
            <p:cNvPr id="49" name="Rectangle 49"/>
            <p:cNvSpPr/>
            <p:nvPr/>
          </p:nvSpPr>
          <p:spPr>
            <a:xfrm>
              <a:off x="533400" y="4210050"/>
              <a:ext cx="4977765" cy="1399222"/>
            </a:xfrm>
            <a:prstGeom prst="roundRect">
              <a:avLst>
                <a:gd name="adj" fmla="val 816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4809173"/>
              <a:ext cx="200026" cy="200026"/>
              <a:chOff x="738188" y="4809173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48091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48758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49091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4666298"/>
              <a:ext cx="3958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行 0 1 2 3 与第 0 列 0 1 2 3 是初始化写上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去的，其余 9 个格子按递推式算。</a:t>
              </a:r>
            </a:p>
          </p:txBody>
        </p:sp>
      </p:grpSp>
      <p:grpSp>
        <p:nvGrpSpPr>
          <p:cNvPr id="73" name="c2-steps-1"/>
          <p:cNvGrpSpPr/>
          <p:nvPr/>
        </p:nvGrpSpPr>
        <p:grpSpPr>
          <a:xfrm>
            <a:off x="5815965" y="1533525"/>
            <a:ext cx="5104574" cy="2529173"/>
            <a:chOff x="5815965" y="1533525"/>
            <a:chExt cx="5104574" cy="2529173"/>
          </a:xfrm>
        </p:grpSpPr>
        <p:sp>
          <p:nvSpPr>
            <p:cNvPr id="56" name="Rectangle 56"/>
            <p:cNvSpPr/>
            <p:nvPr/>
          </p:nvSpPr>
          <p:spPr>
            <a:xfrm>
              <a:off x="594931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815965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0958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27445" y="1567815"/>
              <a:ext cx="2399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Dist[1][1]：A 与 B 不等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28588" y="1861661"/>
              <a:ext cx="4691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min(Dist[0][0]=0, Dist[1][0]=1, Dist[0][1]=1) = 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27445" y="2218372"/>
              <a:ext cx="2399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Dist[2][1]：B 与 B 相等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28588" y="2512219"/>
              <a:ext cx="2313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直接抄左上角 Dist[1][0] = 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27445" y="2868930"/>
              <a:ext cx="2399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Dist[3][2]：C 与 C 相等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28588" y="3162776"/>
              <a:ext cx="2313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直接抄左上角 Dist[2][1] = 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27445" y="3520440"/>
              <a:ext cx="2399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Dist[3][3]：C 与 D 不等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28588" y="3813334"/>
              <a:ext cx="4691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min(Dist[2][2]=2, Dist[3][2]=1, Dist[2][3]=3) = 2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5815965" y="4241482"/>
            <a:ext cx="5842635" cy="1367790"/>
            <a:chOff x="5815965" y="4241482"/>
            <a:chExt cx="5842635" cy="1367790"/>
          </a:xfrm>
        </p:grpSpPr>
        <p:sp>
          <p:nvSpPr>
            <p:cNvPr id="74" name="Rectangle 74"/>
            <p:cNvSpPr/>
            <p:nvPr/>
          </p:nvSpPr>
          <p:spPr>
            <a:xfrm>
              <a:off x="5815965" y="4241482"/>
              <a:ext cx="5842635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5825490" y="4374832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055995" y="44757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答案核对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55995" y="4830128"/>
              <a:ext cx="4494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Dist(ABC, BCD) = 2，对应“删去 A、末尾补 D”。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055995" y="5165408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界检查：|3-3| = 0 ≤ 2 ≤ max(3,3) = 3，通过。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0" name="Rectangle 8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130" y="5991225"/>
              <a:ext cx="68202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字符相等时一律照抄左上角，连 +1 都不做，这是全表唯一不花代价的一步。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沿着表格倒着走，还原出一份具体的编辑方案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90907" cy="308039"/>
            <a:chOff x="525399" y="1550194"/>
            <a:chExt cx="669090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9090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Dist 表只给出次数，想知道“到底怎么改”，要从右下角回溯到左上角。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33400" y="1967865"/>
            <a:ext cx="6059805" cy="2244090"/>
            <a:chOff x="533400" y="1967865"/>
            <a:chExt cx="6059805" cy="224409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3275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43786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45550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从哪个格子来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2956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对应操作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[3][3]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0868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77618" y="2551271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[3][2] 的 1，+1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76916" y="2551271"/>
              <a:ext cx="1438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在末尾插入 P₃ = 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[3][2]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10868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77618" y="3000851"/>
              <a:ext cx="15340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[2][1] 的 1，C = 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178618" y="2874645"/>
              <a:ext cx="240506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6916" y="3000851"/>
              <a:ext cx="1373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 C，不花代价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089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449479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[2][1]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0868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77618" y="3449479"/>
              <a:ext cx="15340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[1][0] 的 1，B = 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78618" y="3323272"/>
              <a:ext cx="240506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76916" y="3449479"/>
              <a:ext cx="1373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 B，不花代价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576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76237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898106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[1][0]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10868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77618" y="3898106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[0][0] 的 0，+1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76916" y="3898106"/>
              <a:ext cx="9219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 S₁ = 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967865"/>
              <a:ext cx="605980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49828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16503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16433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1-cells-2"/>
          <p:cNvGrpSpPr/>
          <p:nvPr/>
        </p:nvGrpSpPr>
        <p:grpSpPr>
          <a:xfrm>
            <a:off x="526923" y="4402455"/>
            <a:ext cx="3162109" cy="1600200"/>
            <a:chOff x="526923" y="4402455"/>
            <a:chExt cx="3162109" cy="1600200"/>
          </a:xfrm>
        </p:grpSpPr>
        <p:sp>
          <p:nvSpPr>
            <p:cNvPr id="42" name="TextBox 42"/>
            <p:cNvSpPr txBox="1"/>
            <p:nvPr/>
          </p:nvSpPr>
          <p:spPr>
            <a:xfrm>
              <a:off x="526923" y="45324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22972" y="4402455"/>
              <a:ext cx="92202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324934" y="45324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844992" y="440245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246954" y="45324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767012" y="440245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68974" y="45324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6923" y="5123021"/>
              <a:ext cx="290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删A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22972" y="499300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24934" y="512302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844992" y="499300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246954" y="512302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6923" y="57135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22972" y="558355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324934" y="57135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844992" y="558355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246954" y="57135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767012" y="5583555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168974" y="571357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76" name="c2-card-1"/>
          <p:cNvGrpSpPr/>
          <p:nvPr/>
        </p:nvGrpSpPr>
        <p:grpSpPr>
          <a:xfrm>
            <a:off x="6898005" y="1967865"/>
            <a:ext cx="4760595" cy="2873692"/>
            <a:chOff x="6898005" y="1967865"/>
            <a:chExt cx="4760595" cy="2873692"/>
          </a:xfrm>
        </p:grpSpPr>
        <p:sp>
          <p:nvSpPr>
            <p:cNvPr id="62" name="Rectangle 62"/>
            <p:cNvSpPr/>
            <p:nvPr/>
          </p:nvSpPr>
          <p:spPr>
            <a:xfrm>
              <a:off x="6898005" y="1967865"/>
              <a:ext cx="4760595" cy="2873692"/>
            </a:xfrm>
            <a:prstGeom prst="roundRect">
              <a:avLst>
                <a:gd name="adj" fmla="val 464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07555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88911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回溯规则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92428" y="221265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每一步问同一个问题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107555" y="256032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69404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08545" y="2573655"/>
              <a:ext cx="3844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 Sᵢ = Pⱼ 且 Dist[i][j] = Dist[i-1][j-1]，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走对角线，操作是“保留”。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107555" y="318135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69404" y="32236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08545" y="3194685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否则看 Dist[i][j] 等于哪个邻居加 1：左上是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替换，左邻是插入，上邻是删除。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107555" y="380238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169404" y="38446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08545" y="3815715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走到 i = 0 或 j = 0 时，剩下的整行或整列只能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是纯插入或纯删除。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101078" y="443245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三个邻居同时满足时任选一个，最优方案通常不唯一。</a:t>
              </a:r>
            </a:p>
          </p:txBody>
        </p:sp>
      </p:grpSp>
      <p:grpSp>
        <p:nvGrpSpPr>
          <p:cNvPr id="83" name="c2-callout-2"/>
          <p:cNvGrpSpPr/>
          <p:nvPr/>
        </p:nvGrpSpPr>
        <p:grpSpPr>
          <a:xfrm>
            <a:off x="6898005" y="5032058"/>
            <a:ext cx="4760595" cy="1059180"/>
            <a:chOff x="6898005" y="5032058"/>
            <a:chExt cx="4760595" cy="1059180"/>
          </a:xfrm>
        </p:grpSpPr>
        <p:sp>
          <p:nvSpPr>
            <p:cNvPr id="77" name="Rectangle 77"/>
            <p:cNvSpPr/>
            <p:nvPr/>
          </p:nvSpPr>
          <p:spPr>
            <a:xfrm>
              <a:off x="6898005" y="5032058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102793" y="5461635"/>
              <a:ext cx="200026" cy="200026"/>
              <a:chOff x="7102793" y="5461635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102793" y="54616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202805" y="55283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191693" y="55616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7404735" y="5180648"/>
              <a:ext cx="3672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本讲义的 ds_t01_verify.c 实现了这段回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溯，FOOD → MONEY 输出的方案与源课件第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页给的一致。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866850" cy="909257"/>
            <a:chOff x="520446" y="342900"/>
            <a:chExt cx="28668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8668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编辑距离的 C 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4559618"/>
            <a:chOff x="533400" y="1524000"/>
            <a:chExt cx="6276022" cy="4559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559618"/>
            </a:xfrm>
            <a:prstGeom prst="roundRect">
              <a:avLst>
                <a:gd name="adj" fmla="val 2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62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EditDistance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5141595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4861814" cy="4074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N 110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D[N][N];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全局，避免大数组压栈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min3(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a &lt; b ? a : b;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&lt; c ? t : c;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EditDistance(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j;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&lt;= n; i++) D[i][0] = i;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0 列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&lt;= m; j++) D[0][j] = j;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0 行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&lt;= m; j++)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(s[i-1] == p[j-1])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D[i][j] = D[i-1][j-1];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D[i][j] = 1 + min3(D[i-1][j-1], D[i][j-1], D[i-1][j]);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D[n][m];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7114222" y="1524000"/>
            <a:ext cx="4544378" cy="3345180"/>
            <a:chOff x="7114222" y="1524000"/>
            <a:chExt cx="4544378" cy="3345180"/>
          </a:xfrm>
        </p:grpSpPr>
        <p:sp>
          <p:nvSpPr>
            <p:cNvPr id="12" name="Rectangle 12"/>
            <p:cNvSpPr/>
            <p:nvPr/>
          </p:nvSpPr>
          <p:spPr>
            <a:xfrm>
              <a:off x="7114222" y="1524000"/>
              <a:ext cx="4544378" cy="3345180"/>
            </a:xfrm>
            <a:prstGeom prst="roundRect">
              <a:avLst>
                <a:gd name="adj" fmla="val 3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23748" y="1657350"/>
              <a:ext cx="47625" cy="30784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61948" y="1768792"/>
              <a:ext cx="2500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 min 需要自己定义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4252" y="2129790"/>
              <a:ext cx="38919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更正：原课件第 14 页直接写</a:t>
              </a:r>
              <a:br/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1+min(D[i-1][j-1],D[i][j-1],D[i-1][j])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但标准 C 里没有 min 函数，更没有三参数版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4252" y="3322320"/>
              <a:ext cx="3577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 zig cc -std=c11 编译原代码报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call to</a:t>
              </a:r>
              <a:br/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undeclared function 'min'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。本页补上了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min3 的定义。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5396" y="4225766"/>
              <a:ext cx="3247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C++ 的 std::min 也只接受两个参数，要写成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min({a,b,c}) 或嵌套两层。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7114222" y="5059680"/>
            <a:ext cx="4544378" cy="1059180"/>
            <a:chOff x="7114222" y="5059680"/>
            <a:chExt cx="4544378" cy="1059180"/>
          </a:xfrm>
        </p:grpSpPr>
        <p:sp>
          <p:nvSpPr>
            <p:cNvPr id="21" name="Rectangle 21"/>
            <p:cNvSpPr/>
            <p:nvPr/>
          </p:nvSpPr>
          <p:spPr>
            <a:xfrm>
              <a:off x="7114222" y="505968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19010" y="5489258"/>
              <a:ext cx="200026" cy="200025"/>
              <a:chOff x="7319010" y="5489258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19010" y="54892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358749" y="55337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393464" y="56448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620952" y="520827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两重循环里的 s[i-1]、p[j-1] 是唯一和下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标约定打交道的地方，读代码时先把它对准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表格的第 i 行第 j 列。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12278" cy="909257"/>
            <a:chOff x="520446" y="342900"/>
            <a:chExt cx="54122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122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 O(nm)，空间可以压到一行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544378" cy="2577465"/>
            <a:chOff x="533400" y="1524000"/>
            <a:chExt cx="4544378" cy="2577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时间与空间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80761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O(nm)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：一共 (n+1)(m+1) 个格子，每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格做常数次比较和取最小。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3168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朴素空间 O(nm)：n = m = 1000 时要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1002001 个 int，约 3.8 MB。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3371850"/>
              <a:ext cx="388905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滚动数组把空间降到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O(min(n, m))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：只留一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行，1001 个 int 约 4 KB。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291965"/>
            <a:ext cx="4544378" cy="1750695"/>
            <a:chOff x="533400" y="4291965"/>
            <a:chExt cx="4544378" cy="1750695"/>
          </a:xfrm>
        </p:grpSpPr>
        <p:sp>
          <p:nvSpPr>
            <p:cNvPr id="16" name="Rectangle 16"/>
            <p:cNvSpPr/>
            <p:nvPr/>
          </p:nvSpPr>
          <p:spPr>
            <a:xfrm>
              <a:off x="533400" y="4291965"/>
              <a:ext cx="4544378" cy="1750695"/>
            </a:xfrm>
            <a:prstGeom prst="roundRect">
              <a:avLst>
                <a:gd name="adj" fmla="val 65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26129" y="5063608"/>
              <a:ext cx="224134" cy="192560"/>
              <a:chOff x="726129" y="5063608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51339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26129" y="50636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2117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786312"/>
              <a:ext cx="3663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O(nm) 的前提是单次字符比较为 O(1)。比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较的若是长单词或整行文本，要把比较代价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单独计入。</a:t>
              </a:r>
            </a:p>
          </p:txBody>
        </p:sp>
      </p:grpSp>
      <p:grpSp>
        <p:nvGrpSpPr>
          <p:cNvPr id="26" name="c2-code-1"/>
          <p:cNvGrpSpPr/>
          <p:nvPr/>
        </p:nvGrpSpPr>
        <p:grpSpPr>
          <a:xfrm>
            <a:off x="5382578" y="1524000"/>
            <a:ext cx="6276022" cy="3545205"/>
            <a:chOff x="5382578" y="1524000"/>
            <a:chExt cx="6276022" cy="3545205"/>
          </a:xfrm>
        </p:grpSpPr>
        <p:sp>
          <p:nvSpPr>
            <p:cNvPr id="23" name="Rectangle 23"/>
            <p:cNvSpPr/>
            <p:nvPr/>
          </p:nvSpPr>
          <p:spPr>
            <a:xfrm>
              <a:off x="5382578" y="1524000"/>
              <a:ext cx="6276022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10974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滚动数组版（只保留一行）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10212" y="1937861"/>
              <a:ext cx="4470654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EditDistanceRolling(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cur[N], i, j, prev, up;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&lt;= m; j++) cur[j] = j;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prev = cur[0];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prev 存 D[i-1][j-1]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cur[0] = i;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&lt;= m; j++)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up = cur[j];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覆盖前先存 D[i-1][j]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(s[i-1] == p[j-1]) cur[j] = prev;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cur[j] = 1 + min3(prev, cur[j-1], up);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prev = up;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cur[m];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callout-2"/>
          <p:cNvGrpSpPr/>
          <p:nvPr/>
        </p:nvGrpSpPr>
        <p:grpSpPr>
          <a:xfrm>
            <a:off x="5382578" y="5259705"/>
            <a:ext cx="6276022" cy="782955"/>
            <a:chOff x="5382578" y="5259705"/>
            <a:chExt cx="6276022" cy="782955"/>
          </a:xfrm>
        </p:grpSpPr>
        <p:sp>
          <p:nvSpPr>
            <p:cNvPr id="27" name="Rectangle 27"/>
            <p:cNvSpPr/>
            <p:nvPr/>
          </p:nvSpPr>
          <p:spPr>
            <a:xfrm>
              <a:off x="5382578" y="5259705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587365" y="5551170"/>
              <a:ext cx="200026" cy="200026"/>
              <a:chOff x="5587365" y="5551170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5587365" y="55511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687378" y="56178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676265" y="56511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889308" y="5408295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压成一行之后表就没了，回溯不出具体的编辑方案。要方案就得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留整张表。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字符串的编辑距离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编辑距离的五条性质，用来自查算得对不对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842635" cy="3826192"/>
            <a:chOff x="533400" y="1524000"/>
            <a:chExt cx="5842635" cy="3826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84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254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628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非负且可判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9940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Dist(S, P) = 0 当且仅当 S 与 P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完全相同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14100" y="2221706"/>
              <a:ext cx="1404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Dist(AB, AB) = 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9940" y="2897029"/>
              <a:ext cx="1988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Dist(S, P) = Dist(P, S)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14100" y="278368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插入与删除互为逆操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723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9940" y="3572351"/>
              <a:ext cx="10826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 ≥ |n - m|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14100" y="3459004"/>
              <a:ext cx="9314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Dist(FOOD,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MONEY) ≥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476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9940" y="4247674"/>
              <a:ext cx="1434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 ≤ max(n, m)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14100" y="4134326"/>
              <a:ext cx="1516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Dist(FOOD,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MONEY) ≤ 5，实际 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701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92394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三角不等式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09940" y="4810601"/>
              <a:ext cx="18661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Dist(S,T) ≤ Dist(S,P) +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Dist(P,T)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4100" y="492394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编辑距离是一个度量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842635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97355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01515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2"/>
          <p:cNvGrpSpPr/>
          <p:nvPr/>
        </p:nvGrpSpPr>
        <p:grpSpPr>
          <a:xfrm>
            <a:off x="533400" y="5540692"/>
            <a:ext cx="5842635" cy="782955"/>
            <a:chOff x="533400" y="5540692"/>
            <a:chExt cx="5842635" cy="782955"/>
          </a:xfrm>
        </p:grpSpPr>
        <p:sp>
          <p:nvSpPr>
            <p:cNvPr id="36" name="Rectangle 36"/>
            <p:cNvSpPr/>
            <p:nvPr/>
          </p:nvSpPr>
          <p:spPr>
            <a:xfrm>
              <a:off x="533400" y="554069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832158"/>
              <a:ext cx="200026" cy="200026"/>
              <a:chOff x="738188" y="583215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8321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04863" y="590994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689282"/>
              <a:ext cx="4939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本讲义用 30000 组随机串验证了前四条、5000 组三元组验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证了三角不等式，无一例外。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680835" y="1524000"/>
            <a:ext cx="4977765" cy="2863215"/>
            <a:chOff x="6680835" y="1524000"/>
            <a:chExt cx="4977765" cy="2863215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2863215"/>
            </a:xfrm>
            <a:prstGeom prst="roundRect">
              <a:avLst>
                <a:gd name="adj" fmla="val 4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1657350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9512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三个常见的想当然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34200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92315" y="2129790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以为长度差就是编辑距离。长度相同的 ABC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BCD 距离是 2，不是 0。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934200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92315" y="2750820"/>
              <a:ext cx="3910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以为最优方案唯一。ABC → BCD 既可以“删 A 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D”，也可以“A→B、B→C、C→D”，后者要 3 步，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只有前者最优。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934200" y="37204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92315" y="3657600"/>
              <a:ext cx="4101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把表开成 n×m。少了第 0 行第 0 列，边界就无从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填起。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680835" y="4577715"/>
            <a:ext cx="4977765" cy="1745932"/>
            <a:chOff x="6680835" y="4577715"/>
            <a:chExt cx="4977765" cy="1745932"/>
          </a:xfrm>
        </p:grpSpPr>
        <p:sp>
          <p:nvSpPr>
            <p:cNvPr id="54" name="Rectangle 54"/>
            <p:cNvSpPr/>
            <p:nvPr/>
          </p:nvSpPr>
          <p:spPr>
            <a:xfrm>
              <a:off x="6680835" y="4577715"/>
              <a:ext cx="4977765" cy="1745932"/>
            </a:xfrm>
            <a:prstGeom prst="roundRect">
              <a:avLst>
                <a:gd name="adj" fmla="val 654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885623" y="5351145"/>
              <a:ext cx="200026" cy="200025"/>
              <a:chOff x="6885623" y="535114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885623" y="53511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925361" y="53955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960077" y="55067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187565" y="5208270"/>
              <a:ext cx="3653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手算完先用 |n-m| ≤ Dist ≤ max(n,m) 卡一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遍，越界说明表填错了。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35588" cy="2997517"/>
            <a:chOff x="667512" y="1835468"/>
            <a:chExt cx="493558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25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换一把尺子：两个串共有的最长“抽取序列”有多长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子序列与子串的区别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44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 的递推式与填表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与编辑距离的换算关系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子序列只要求次序不变，不要求连续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005965"/>
            <a:chOff x="533400" y="1524000"/>
            <a:chExt cx="5410200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3142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子序列（Subsequence）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01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由字符串中若干字符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按原相对次序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构成的序列，中间允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许跳过任意多个字符。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3329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JLU 是 JILINUNIV 的子序列（取第 1、3、6 位）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354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JUL 不是，因为 U 在原串里排在 L 后面</a:t>
              </a:r>
            </a:p>
          </p:txBody>
        </p:sp>
      </p:grpSp>
      <p:grpSp>
        <p:nvGrpSpPr>
          <p:cNvPr id="53" name="c1-cells-2"/>
          <p:cNvGrpSpPr/>
          <p:nvPr/>
        </p:nvGrpSpPr>
        <p:grpSpPr>
          <a:xfrm>
            <a:off x="526923" y="3720465"/>
            <a:ext cx="5416677" cy="1209675"/>
            <a:chOff x="526923" y="3720465"/>
            <a:chExt cx="5416677" cy="1209675"/>
          </a:xfrm>
        </p:grpSpPr>
        <p:sp>
          <p:nvSpPr>
            <p:cNvPr id="18" name="TextBox 18"/>
            <p:cNvSpPr txBox="1"/>
            <p:nvPr/>
          </p:nvSpPr>
          <p:spPr>
            <a:xfrm>
              <a:off x="526923" y="38504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54430" y="3720465"/>
              <a:ext cx="53244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61129" y="38504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686878" y="3720465"/>
              <a:ext cx="53244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17472" y="3850481"/>
              <a:ext cx="70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218372" y="3720465"/>
              <a:ext cx="53244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26024" y="38504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750820" y="3720465"/>
              <a:ext cx="53244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81415" y="3850481"/>
              <a:ext cx="70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283268" y="3720465"/>
              <a:ext cx="53244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89966" y="38504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14762" y="3720465"/>
              <a:ext cx="53244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22414" y="38504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347210" y="3720465"/>
              <a:ext cx="53244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53909" y="38504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879658" y="3720465"/>
              <a:ext cx="53244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10252" y="3850481"/>
              <a:ext cx="70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411152" y="3720465"/>
              <a:ext cx="53244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18804" y="38504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78944" y="41962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11392" y="41962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43839" y="41962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75334" y="41962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07782" y="41962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40229" y="41962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71724" y="41962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04172" y="41962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6619" y="41962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6923" y="46410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子序列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54430" y="4511040"/>
              <a:ext cx="53244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361129" y="464105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686878" y="4511040"/>
              <a:ext cx="53244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893576" y="464105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218372" y="4511040"/>
              <a:ext cx="53244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426024" y="464105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</p:grpSp>
      <p:grpSp>
        <p:nvGrpSpPr>
          <p:cNvPr id="60" name="c1-callout-3"/>
          <p:cNvGrpSpPr/>
          <p:nvPr/>
        </p:nvGrpSpPr>
        <p:grpSpPr>
          <a:xfrm>
            <a:off x="533400" y="5120640"/>
            <a:ext cx="5410200" cy="877252"/>
            <a:chOff x="533400" y="5120640"/>
            <a:chExt cx="5410200" cy="877252"/>
          </a:xfrm>
        </p:grpSpPr>
        <p:sp>
          <p:nvSpPr>
            <p:cNvPr id="54" name="Rectangle 54"/>
            <p:cNvSpPr/>
            <p:nvPr/>
          </p:nvSpPr>
          <p:spPr>
            <a:xfrm>
              <a:off x="533400" y="5120640"/>
              <a:ext cx="5410200" cy="877252"/>
            </a:xfrm>
            <a:prstGeom prst="roundRect">
              <a:avLst>
                <a:gd name="adj" fmla="val 130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5455086"/>
              <a:ext cx="224134" cy="192560"/>
              <a:chOff x="726129" y="5455086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55254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54550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56032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31590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抽取时下标必须严格递增。同一位字符不能用两次，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次序也不能颠倒。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6248400" y="1524000"/>
            <a:ext cx="5410200" cy="1795462"/>
            <a:chOff x="6248400" y="1524000"/>
            <a:chExt cx="5410200" cy="1795462"/>
          </a:xfrm>
        </p:grpSpPr>
        <p:sp>
          <p:nvSpPr>
            <p:cNvPr id="61" name="Rectangle 61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649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2713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是否要求连续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22743" y="1659731"/>
              <a:ext cx="12752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JILINUNIV 中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56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子串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46848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69908" y="2108359"/>
              <a:ext cx="1711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JIL 是子串，JLU 不是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56223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子序列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46848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不要求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071610" y="2430780"/>
              <a:ext cx="257746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69908" y="2556986"/>
              <a:ext cx="1766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JIL 和 JLU 都是子序列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56223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空串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46848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两者都算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69908" y="3005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既是子串也是子序列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43426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05732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9" name="c2-card-2"/>
          <p:cNvGrpSpPr/>
          <p:nvPr/>
        </p:nvGrpSpPr>
        <p:grpSpPr>
          <a:xfrm>
            <a:off x="6248400" y="3509962"/>
            <a:ext cx="5410200" cy="2487930"/>
            <a:chOff x="6248400" y="3509962"/>
            <a:chExt cx="5410200" cy="2487930"/>
          </a:xfrm>
        </p:grpSpPr>
        <p:sp>
          <p:nvSpPr>
            <p:cNvPr id="82" name="Rectangle 82"/>
            <p:cNvSpPr/>
            <p:nvPr/>
          </p:nvSpPr>
          <p:spPr>
            <a:xfrm>
              <a:off x="6248400" y="3509962"/>
              <a:ext cx="5410200" cy="2487930"/>
            </a:xfrm>
            <a:prstGeom prst="roundRect">
              <a:avLst>
                <a:gd name="adj" fmla="val 536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57950" y="37195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48158" y="37552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058978" y="37547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子串一定是子序列，反之不成立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50330" y="4115752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长度为 n 的串有 n(n+1)/2 + 1 个子串，却有多达 2ⁿ 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子序列，所以不能靠枚举来求最长公共子序列。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50330" y="4736782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40 时子序列已经超过 10¹² 条，而 O(nm) 的填表只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 1600 格。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51473" y="5353526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6 讲的模式匹配求的是子串，本专题求的是子序列，两者不要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混。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最长公共子序列：公共子序列里最长的那一个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670685"/>
            <a:chOff x="533400" y="1524000"/>
            <a:chExt cx="5193982" cy="1670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202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最长公共子序列（LCS）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同时是 S 的子序列又是 P 的子序列的串，叫两者的公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共子序列；其中最长的一个就是最长公共子序列。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2854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 越长，说明两个串越相似。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85185"/>
            <a:ext cx="5193982" cy="2152650"/>
            <a:chOff x="533400" y="3385185"/>
            <a:chExt cx="5193982" cy="2152650"/>
          </a:xfrm>
        </p:grpSpPr>
        <p:sp>
          <p:nvSpPr>
            <p:cNvPr id="15" name="Rectangle 15"/>
            <p:cNvSpPr/>
            <p:nvPr/>
          </p:nvSpPr>
          <p:spPr>
            <a:xfrm>
              <a:off x="533400" y="3385185"/>
              <a:ext cx="5193982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18535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5947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6304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3629978"/>
              <a:ext cx="2378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英文全称是 Subsequence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3990975"/>
              <a:ext cx="4385786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更正：原课件第 16–23 页把 LCS 展开成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Longest</a:t>
              </a:r>
              <a:br/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Common Sequence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，规范写法是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Longest Common</a:t>
              </a:r>
              <a:br/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Subsequence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（最长公共子序列）。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4894421"/>
              <a:ext cx="4507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23 页的函数名 longestCommonSubsequence 用的正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是规范拼法。</a:t>
              </a:r>
            </a:p>
          </p:txBody>
        </p:sp>
      </p:grpSp>
      <p:grpSp>
        <p:nvGrpSpPr>
          <p:cNvPr id="74" name="c2-cells-1"/>
          <p:cNvGrpSpPr/>
          <p:nvPr/>
        </p:nvGrpSpPr>
        <p:grpSpPr>
          <a:xfrm>
            <a:off x="6026086" y="1524000"/>
            <a:ext cx="5632514" cy="1981200"/>
            <a:chOff x="6026086" y="1524000"/>
            <a:chExt cx="5632514" cy="1981200"/>
          </a:xfrm>
        </p:grpSpPr>
        <p:sp>
          <p:nvSpPr>
            <p:cNvPr id="23" name="TextBox 23"/>
            <p:cNvSpPr txBox="1"/>
            <p:nvPr/>
          </p:nvSpPr>
          <p:spPr>
            <a:xfrm>
              <a:off x="6026086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29375" y="1524000"/>
              <a:ext cx="5229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35930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952298" y="1524000"/>
              <a:ext cx="5229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6149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475220" y="1524000"/>
              <a:ext cx="5229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04666" y="165925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998142" y="1524000"/>
              <a:ext cx="5229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27588" y="165925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521065" y="1524000"/>
              <a:ext cx="5229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2930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043988" y="1524000"/>
              <a:ext cx="5229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31668" y="165925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566910" y="1524000"/>
              <a:ext cx="5229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7515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089832" y="1524000"/>
              <a:ext cx="5229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9902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612755" y="1524000"/>
              <a:ext cx="5229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843153" y="165925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135678" y="1524000"/>
              <a:ext cx="5229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34487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3232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76154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98124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21047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43969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66892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89814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13689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836612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326216" y="19983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26086" y="24403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29375" y="2305050"/>
              <a:ext cx="5229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9773" y="244030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952298" y="2305050"/>
              <a:ext cx="5229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61493" y="24403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475220" y="2305050"/>
              <a:ext cx="5229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83463" y="24403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998142" y="2305050"/>
              <a:ext cx="5229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06386" y="24403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53232" y="2779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76154" y="2779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98124" y="2779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21047" y="2779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26086" y="322135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LCS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29375" y="3086100"/>
              <a:ext cx="5229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59773" y="322135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952298" y="3086100"/>
              <a:ext cx="5229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61493" y="32213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475220" y="3086100"/>
              <a:ext cx="5229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683463" y="32213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</p:grpSp>
      <p:grpSp>
        <p:nvGrpSpPr>
          <p:cNvPr id="82" name="c2-card-2"/>
          <p:cNvGrpSpPr/>
          <p:nvPr/>
        </p:nvGrpSpPr>
        <p:grpSpPr>
          <a:xfrm>
            <a:off x="6032182" y="3695700"/>
            <a:ext cx="5626418" cy="1842135"/>
            <a:chOff x="6032182" y="3695700"/>
            <a:chExt cx="5626418" cy="1842135"/>
          </a:xfrm>
        </p:grpSpPr>
        <p:sp>
          <p:nvSpPr>
            <p:cNvPr id="75" name="Rectangle 75"/>
            <p:cNvSpPr/>
            <p:nvPr/>
          </p:nvSpPr>
          <p:spPr>
            <a:xfrm>
              <a:off x="6032182" y="3695700"/>
              <a:ext cx="5626418" cy="1842135"/>
            </a:xfrm>
            <a:prstGeom prst="roundRect">
              <a:avLst>
                <a:gd name="adj" fmla="val 7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041708" y="3829050"/>
              <a:ext cx="47625" cy="15754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79832" y="39052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73990" y="39409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737985" y="3940492"/>
              <a:ext cx="2431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HelloWorld，P = loop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272212" y="4301490"/>
              <a:ext cx="4872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S 的第 4、5、7 位得到 loo；取 P 的第 1、2、3 位也得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loo，所以 LCS 长度为 3。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272212" y="4922520"/>
              <a:ext cx="3693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 整体不是 S 的子序列：S 里没有 p。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3" name="Rectangle 8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0130" y="5991225"/>
              <a:ext cx="5551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给定 S 和 P，求最长公共子序列的长度，即 LeetCode 1143。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07749" cy="909257"/>
            <a:chOff x="520446" y="342900"/>
            <a:chExt cx="4507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07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末位相等：LCS 长度直接加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992728" cy="278702"/>
            <a:chOff x="526161" y="1547336"/>
            <a:chExt cx="499272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9927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 LCS(i, j) 为 S₁…Sᵢ 与 P₁…Pⱼ 的最长公共子序列长度。</a:t>
              </a:r>
            </a:p>
          </p:txBody>
        </p:sp>
      </p:grpSp>
      <p:grpSp>
        <p:nvGrpSpPr>
          <p:cNvPr id="27" name="c1-cells-1"/>
          <p:cNvGrpSpPr/>
          <p:nvPr/>
        </p:nvGrpSpPr>
        <p:grpSpPr>
          <a:xfrm>
            <a:off x="527685" y="1941195"/>
            <a:ext cx="5292091" cy="919163"/>
            <a:chOff x="527685" y="1941195"/>
            <a:chExt cx="5292091" cy="919163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626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8665" y="1941195"/>
              <a:ext cx="126777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85314" y="206263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16442" y="1941195"/>
              <a:ext cx="126777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01556" y="2062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84220" y="1941195"/>
              <a:ext cx="126777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28868" y="2062639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Sᵢ₋₁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51998" y="1941195"/>
              <a:ext cx="126777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87694" y="206263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685" y="259984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8665" y="2479358"/>
              <a:ext cx="126777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85314" y="259984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16442" y="2479358"/>
              <a:ext cx="126777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01556" y="25998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84220" y="2479358"/>
              <a:ext cx="126777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28868" y="2599849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Pⱼ₋₁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51998" y="2479358"/>
              <a:ext cx="126777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87694" y="259984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Pⱼ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16"/>
              <p:cNvSpPr txBox="1">
                <a:spLocks noGrp="1"/>
              </p:cNvSpPr>
              <p:nvPr/>
            </p:nvSpPr>
            <p:spPr>
              <a:xfrm>
                <a:off x="533400" y="3035618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LCS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LCS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6" name="c1-card-3"/>
          <p:cNvGrpSpPr/>
          <p:nvPr/>
        </p:nvGrpSpPr>
        <p:grpSpPr>
          <a:xfrm>
            <a:off x="533400" y="3668078"/>
            <a:ext cx="5410200" cy="1529715"/>
            <a:chOff x="533400" y="3668078"/>
            <a:chExt cx="5410200" cy="1529715"/>
          </a:xfrm>
        </p:grpSpPr>
        <p:sp>
          <p:nvSpPr>
            <p:cNvPr id="29" name="Rectangle 29"/>
            <p:cNvSpPr/>
            <p:nvPr/>
          </p:nvSpPr>
          <p:spPr>
            <a:xfrm>
              <a:off x="533400" y="3668078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801428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386048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9346" y="389477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14247" y="389953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在表格上看这一步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7047" y="4233862"/>
              <a:ext cx="42571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ABC、P = BCD 时，i = 2、j = 1 处 S₂ = P₁ = B。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047" y="4536758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左上角 LCS[1][0] = 0，所以 LCS[2][1] = 0 + 1 = 1，这是全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表第一个非零格。</a:t>
              </a:r>
            </a:p>
          </p:txBody>
        </p:sp>
      </p:grpSp>
      <p:grpSp>
        <p:nvGrpSpPr>
          <p:cNvPr id="43" name="c1-callout-4"/>
          <p:cNvGrpSpPr/>
          <p:nvPr/>
        </p:nvGrpSpPr>
        <p:grpSpPr>
          <a:xfrm>
            <a:off x="533400" y="5372100"/>
            <a:ext cx="5410200" cy="964882"/>
            <a:chOff x="533400" y="5372100"/>
            <a:chExt cx="5410200" cy="964882"/>
          </a:xfrm>
        </p:grpSpPr>
        <p:sp>
          <p:nvSpPr>
            <p:cNvPr id="37" name="Rectangle 37"/>
            <p:cNvSpPr/>
            <p:nvPr/>
          </p:nvSpPr>
          <p:spPr>
            <a:xfrm>
              <a:off x="533400" y="5372100"/>
              <a:ext cx="5410200" cy="964882"/>
            </a:xfrm>
            <a:prstGeom prst="roundRect">
              <a:avLst>
                <a:gd name="adj" fmla="val 1184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755005"/>
              <a:ext cx="200026" cy="200026"/>
              <a:chOff x="738188" y="575500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7550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8216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8550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5635942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编辑距离的“相等”是省下一次操作，LCS 的“相等”是多收一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个字符，方向相反但位置一样。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248400" y="1941195"/>
            <a:ext cx="5410200" cy="1786890"/>
            <a:chOff x="6248400" y="1941195"/>
            <a:chExt cx="5410200" cy="1786890"/>
          </a:xfrm>
        </p:grpSpPr>
        <p:sp>
          <p:nvSpPr>
            <p:cNvPr id="44" name="Rectangle 44"/>
            <p:cNvSpPr/>
            <p:nvPr/>
          </p:nvSpPr>
          <p:spPr>
            <a:xfrm>
              <a:off x="6248400" y="1941195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207454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8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0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62597" y="2173605"/>
              <a:ext cx="2769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末位这对相同字符一定可以进 LCS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2047" y="250793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若某条最长公共子序列没有用上这一对末位字符，就可以把它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的最后一个字符换成这一对，长度不变而仍然合法。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2047" y="306800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所以一定存在一条把末位字符算进去的最长公共子序列，剩下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的部分就是 S₁…Sᵢ₋₁ 与 P₁…Pⱼ₋₁ 的 LCS。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248400" y="3903345"/>
            <a:ext cx="5410200" cy="729615"/>
            <a:chOff x="6248400" y="3903345"/>
            <a:chExt cx="5410200" cy="729615"/>
          </a:xfrm>
        </p:grpSpPr>
        <p:sp>
          <p:nvSpPr>
            <p:cNvPr id="52" name="Rectangle 52"/>
            <p:cNvSpPr/>
            <p:nvPr/>
          </p:nvSpPr>
          <p:spPr>
            <a:xfrm>
              <a:off x="6248400" y="390334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4168140"/>
              <a:ext cx="200026" cy="200025"/>
              <a:chOff x="6453188" y="4168140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41681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492926" y="42125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27642" y="43237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892" y="4049077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和编辑距离的“相等就抄左上角”对照着记：一个是抄，一个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是抄完再加 1。</a:t>
              </a:r>
            </a:p>
          </p:txBody>
        </p:sp>
      </p:grpSp>
      <p:grpSp>
        <p:nvGrpSpPr>
          <p:cNvPr id="66" name="c2-card-3"/>
          <p:cNvGrpSpPr/>
          <p:nvPr/>
        </p:nvGrpSpPr>
        <p:grpSpPr>
          <a:xfrm>
            <a:off x="6248400" y="4807268"/>
            <a:ext cx="5410200" cy="1529715"/>
            <a:chOff x="6248400" y="4807268"/>
            <a:chExt cx="5410200" cy="1529715"/>
          </a:xfrm>
        </p:grpSpPr>
        <p:sp>
          <p:nvSpPr>
            <p:cNvPr id="59" name="Rectangle 59"/>
            <p:cNvSpPr/>
            <p:nvPr/>
          </p:nvSpPr>
          <p:spPr>
            <a:xfrm>
              <a:off x="6248400" y="4807268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57925" y="4940618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8905" y="49996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70345" y="50339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62597" y="503967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这不是贪心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72047" y="5374005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 Sᵢ = Pⱼ 就把它配上，靠的是上面那条“存在一条最优解包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含这一对”的证明，不是“贪心总没错”。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72047" y="593407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末位不等时没有这种保证，必须分两支各算一次再取较大者。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末位不等：丢掉其中一个末位字符，取较大者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956435"/>
            <a:chOff x="533400" y="1524000"/>
            <a:chExt cx="5626418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34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Sᵢ ≠ Pⱼ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两个末位字符不可能同时出现在同一条公共子序列的末尾，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所以至少有一个用不上。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892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 Sᵢ 得到 LCS(i-1, j)，丢掉 Pⱼ 得到 LCS(i, j-1)，答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案取两者中较大的一个。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18"/>
              <p:cNvSpPr txBox="1">
                <a:spLocks noGrp="1"/>
              </p:cNvSpPr>
              <p:nvPr/>
            </p:nvSpPr>
            <p:spPr>
              <a:xfrm>
                <a:off x="533400" y="3670935"/>
                <a:ext cx="5626418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LCS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LCS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LCS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rd-3"/>
          <p:cNvGrpSpPr/>
          <p:nvPr/>
        </p:nvGrpSpPr>
        <p:grpSpPr>
          <a:xfrm>
            <a:off x="533400" y="4242435"/>
            <a:ext cx="5626418" cy="1956435"/>
            <a:chOff x="533400" y="4242435"/>
            <a:chExt cx="5626418" cy="1956435"/>
          </a:xfrm>
        </p:grpSpPr>
        <p:sp>
          <p:nvSpPr>
            <p:cNvPr id="16" name="Rectangle 16"/>
            <p:cNvSpPr/>
            <p:nvPr/>
          </p:nvSpPr>
          <p:spPr>
            <a:xfrm>
              <a:off x="533400" y="4242435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37578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45198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6160" y="448770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9202" y="448722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两边一样大时怎么办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848225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ABC、P = BCD 的 LCS[2][3] 处，B 与 D 不等，左邻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LCS[2][2] = 1，上邻 LCS[1][3] = 0，取 1。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546925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若左右两邻相等，取哪一个都不影响长度，只会影响回溯时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读出的是哪一条 LCS。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464618" y="1524000"/>
            <a:ext cx="5193982" cy="2470786"/>
            <a:chOff x="6464618" y="1524000"/>
            <a:chExt cx="5193982" cy="2470786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117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62595" y="1659731"/>
              <a:ext cx="11150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编辑距离 Dist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50127" y="1659731"/>
              <a:ext cx="1591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最长公共子序列 LCS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72441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末位相等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15441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抄左上角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40456" y="2108359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左上角加 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72441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末位不等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15441" y="2556986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min{左上, 左, 上} + 1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642158" y="2430780"/>
              <a:ext cx="2006918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740456" y="2556986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max{左, 上}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2441" y="3005614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用到左上角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15441" y="31189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40456" y="311896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末位不等时不用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5413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354615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72441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最优方向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15441" y="36809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40456" y="36809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求最大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02855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627870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llout-2"/>
          <p:cNvGrpSpPr/>
          <p:nvPr/>
        </p:nvGrpSpPr>
        <p:grpSpPr>
          <a:xfrm>
            <a:off x="6464618" y="4185285"/>
            <a:ext cx="5193982" cy="2013585"/>
            <a:chOff x="6464618" y="4185285"/>
            <a:chExt cx="5193982" cy="2013585"/>
          </a:xfrm>
        </p:grpSpPr>
        <p:sp>
          <p:nvSpPr>
            <p:cNvPr id="50" name="Rectangle 50"/>
            <p:cNvSpPr/>
            <p:nvPr/>
          </p:nvSpPr>
          <p:spPr>
            <a:xfrm>
              <a:off x="6464618" y="4185285"/>
              <a:ext cx="5193982" cy="2013585"/>
            </a:xfrm>
            <a:prstGeom prst="roundRect">
              <a:avLst>
                <a:gd name="adj" fmla="val 567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57347" y="5088373"/>
              <a:ext cx="224134" cy="192560"/>
              <a:chOff x="6657347" y="5088373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769418" y="51587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657347" y="50883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69418" y="52365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1348" y="4811078"/>
              <a:ext cx="4149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末位不等时 LCS 不看左上角。写成 max{左上,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左, 上} 虽然答案碰巧也对，但多算一次且掩盖了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推导。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71528" cy="909257"/>
            <a:chOff x="520446" y="342900"/>
            <a:chExt cx="317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7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 的递推式与边界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0"/>
              <p:cNvSpPr txBox="1">
                <a:spLocks noGrp="1"/>
              </p:cNvSpPr>
              <p:nvPr/>
            </p:nvSpPr>
            <p:spPr>
              <a:xfrm>
                <a:off x="533400" y="1524000"/>
                <a:ext cx="11125200" cy="941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LCS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LCS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LCS</m:t>
                                      </m:r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LCS</m:t>
                                      </m:r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sepChr m:val=""/>
                                          <m:endChr m:val="]"/>
                                          <m:grow m:val="on"/>
                                          <m:ctrl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4" name="c1-table-2"/>
          <p:cNvGrpSpPr/>
          <p:nvPr/>
        </p:nvGrpSpPr>
        <p:grpSpPr>
          <a:xfrm>
            <a:off x="533400" y="2655570"/>
            <a:ext cx="11125200" cy="2244090"/>
            <a:chOff x="533400" y="2655570"/>
            <a:chExt cx="11125200" cy="2244090"/>
          </a:xfrm>
        </p:grpSpPr>
        <p:sp>
          <p:nvSpPr>
            <p:cNvPr id="8" name="Rectangle 8"/>
            <p:cNvSpPr/>
            <p:nvPr/>
          </p:nvSpPr>
          <p:spPr>
            <a:xfrm>
              <a:off x="533400" y="265557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90014" y="27913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79594" y="279130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编辑距离表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5977" y="2791301"/>
              <a:ext cx="558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LCS 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32399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状态含义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11080" y="3239929"/>
              <a:ext cx="2755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前 i 个变成 P 前 j 个的最少操作数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39228" y="3239929"/>
              <a:ext cx="3271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前 i 个与 P 前 j 个的最长公共子序列长度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55282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688556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11080" y="3688556"/>
              <a:ext cx="1134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Dist[0][j] = j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40930" y="3562350"/>
              <a:ext cx="420814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9228" y="3688556"/>
              <a:ext cx="1162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LCS[0][j] = 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976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13718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11080" y="4137184"/>
              <a:ext cx="1134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Dist[i][0] = i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440930" y="4011930"/>
              <a:ext cx="420814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39228" y="4137184"/>
              <a:ext cx="1162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LCS[i][0] = 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4462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45103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5858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答案位置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11080" y="4585811"/>
              <a:ext cx="153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右下角 Dist[n][m]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39228" y="4585811"/>
              <a:ext cx="1500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右下角 LCS[n][m]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655570"/>
              <a:ext cx="1112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198495" y="265557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426642" y="265557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3"/>
          <p:cNvGrpSpPr/>
          <p:nvPr/>
        </p:nvGrpSpPr>
        <p:grpSpPr>
          <a:xfrm>
            <a:off x="533400" y="5090160"/>
            <a:ext cx="11125200" cy="1272540"/>
            <a:chOff x="533400" y="5090160"/>
            <a:chExt cx="11125200" cy="1272540"/>
          </a:xfrm>
        </p:grpSpPr>
        <p:sp>
          <p:nvSpPr>
            <p:cNvPr id="35" name="Rectangle 35"/>
            <p:cNvSpPr/>
            <p:nvPr/>
          </p:nvSpPr>
          <p:spPr>
            <a:xfrm>
              <a:off x="533400" y="5090160"/>
              <a:ext cx="11125200" cy="1272540"/>
            </a:xfrm>
            <a:prstGeom prst="roundRect">
              <a:avLst>
                <a:gd name="adj" fmla="val 898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626420"/>
              <a:ext cx="200023" cy="200023"/>
              <a:chOff x="738188" y="562642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6264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56930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621655"/>
              <a:ext cx="75869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LCS 的边界全是 0：空串和任何串都没有公共字符。这一点和 Dist 的边界正好相反。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1375" cy="909257"/>
            <a:chOff x="520446" y="342900"/>
            <a:chExt cx="66013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13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例题：S = ABC，P = BCD 的 LCS 长度是 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table-1"/>
          <p:cNvGrpSpPr/>
          <p:nvPr/>
        </p:nvGrpSpPr>
        <p:grpSpPr>
          <a:xfrm>
            <a:off x="527685" y="1524000"/>
            <a:ext cx="4983480" cy="2539842"/>
            <a:chOff x="527685" y="1524000"/>
            <a:chExt cx="4983480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310" y="1659731"/>
              <a:ext cx="395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S＼P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71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37529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83361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3959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2297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7211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271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854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5914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2039" y="255698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7211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271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8854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5914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22039" y="300561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7211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633662" y="2880360"/>
              <a:ext cx="926782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4271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8854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5914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2039" y="34542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7211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4271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79495" y="3328988"/>
              <a:ext cx="926782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98854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24375" y="3328988"/>
              <a:ext cx="97631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5914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497776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2401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61937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56520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51008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3843814"/>
              <a:ext cx="3516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蓝色格子是两次“字符相等”的地方，右下角 2 是答案</a:t>
              </a:r>
            </a:p>
          </p:txBody>
        </p:sp>
      </p:grpSp>
      <p:grpSp>
        <p:nvGrpSpPr>
          <p:cNvPr id="54" name="c1-callout-2"/>
          <p:cNvGrpSpPr/>
          <p:nvPr/>
        </p:nvGrpSpPr>
        <p:grpSpPr>
          <a:xfrm>
            <a:off x="533400" y="4210050"/>
            <a:ext cx="4977765" cy="782955"/>
            <a:chOff x="533400" y="4210050"/>
            <a:chExt cx="4977765" cy="782955"/>
          </a:xfrm>
        </p:grpSpPr>
        <p:sp>
          <p:nvSpPr>
            <p:cNvPr id="48" name="Rectangle 48"/>
            <p:cNvSpPr/>
            <p:nvPr/>
          </p:nvSpPr>
          <p:spPr>
            <a:xfrm>
              <a:off x="533400" y="421005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4501515"/>
              <a:ext cx="200026" cy="200026"/>
              <a:chOff x="738188" y="450151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45015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45681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46015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435864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行和第 0 列整排都是 0，与编辑距离表的 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 形成对照。</a:t>
              </a:r>
            </a:p>
          </p:txBody>
        </p:sp>
      </p:grpSp>
      <p:grpSp>
        <p:nvGrpSpPr>
          <p:cNvPr id="76" name="c2-steps-1"/>
          <p:cNvGrpSpPr/>
          <p:nvPr/>
        </p:nvGrpSpPr>
        <p:grpSpPr>
          <a:xfrm>
            <a:off x="5815965" y="1533525"/>
            <a:ext cx="3962395" cy="3179730"/>
            <a:chOff x="5815965" y="1533525"/>
            <a:chExt cx="3962395" cy="3179730"/>
          </a:xfrm>
        </p:grpSpPr>
        <p:sp>
          <p:nvSpPr>
            <p:cNvPr id="55" name="Rectangle 55"/>
            <p:cNvSpPr/>
            <p:nvPr/>
          </p:nvSpPr>
          <p:spPr>
            <a:xfrm>
              <a:off x="5949315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815965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0958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815965" y="41367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09589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27445" y="1567815"/>
              <a:ext cx="1694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行（S₁ = A）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28588" y="1861661"/>
              <a:ext cx="3549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B、C、D 都不等，取 max{左, 上} 全是 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27445" y="2218372"/>
              <a:ext cx="2379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LCS[2][1]：B 与 B 相等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28588" y="2512219"/>
              <a:ext cx="2656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左上角 LCS[1][0] = 0，加 1 得 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27445" y="2868930"/>
              <a:ext cx="2435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LCS[2][2]、LCS[2][3]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28588" y="3162776"/>
              <a:ext cx="2855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与 C、D 不等，取 max{左, 上} = 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27445" y="3520440"/>
              <a:ext cx="2379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LCS[3][2]：C 与 C 相等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28588" y="3813334"/>
              <a:ext cx="2656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左上角 LCS[2][1] = 1，加 1 得 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27445" y="4170998"/>
              <a:ext cx="2379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LCS[3][3]：C 与 D 不等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28588" y="4463891"/>
              <a:ext cx="31601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max{LCS[3][2]=2, LCS[2][3]=1} = 2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130" y="5991225"/>
              <a:ext cx="6387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这对串的 LCS 是 BC，长度 2；同一对串的编辑距离也是 2，纯属巧合。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88749" cy="909257"/>
            <a:chOff x="520446" y="342900"/>
            <a:chExt cx="5688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88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LCS 表里倒着读出公共子序列本身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193667" cy="264033"/>
            <a:chOff x="526542" y="1545907"/>
            <a:chExt cx="41936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和编辑距离一样，长度在表里，具体的串要靠回溯。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33400" y="1928812"/>
            <a:ext cx="5842635" cy="1906905"/>
            <a:chOff x="533400" y="1928812"/>
            <a:chExt cx="5842635" cy="1906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3717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121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3381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57634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已收集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[3][3]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3433" y="2426970"/>
              <a:ext cx="733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与 D 不等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81718" y="2426970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2 ≥ 上 1，往左走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68634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08923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[3][2]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63433" y="2808923"/>
              <a:ext cx="733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与 C 相等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996565" y="2701290"/>
              <a:ext cx="196786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81718" y="2808923"/>
              <a:ext cx="1127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 C，往左上走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68634" y="2808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189923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[2][1]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3433" y="3189923"/>
              <a:ext cx="733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与 B 相等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996565" y="3082290"/>
              <a:ext cx="196786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81718" y="3189923"/>
              <a:ext cx="1127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 B，往左上走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68634" y="318992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49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53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571875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[1][0]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63433" y="3571875"/>
              <a:ext cx="498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已到 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81718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68634" y="357187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928812"/>
              <a:ext cx="584263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46399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982278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6919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llout-2"/>
          <p:cNvGrpSpPr/>
          <p:nvPr/>
        </p:nvGrpSpPr>
        <p:grpSpPr>
          <a:xfrm>
            <a:off x="533400" y="4000500"/>
            <a:ext cx="5842635" cy="702945"/>
            <a:chOff x="533400" y="4000500"/>
            <a:chExt cx="5842635" cy="702945"/>
          </a:xfrm>
        </p:grpSpPr>
        <p:sp>
          <p:nvSpPr>
            <p:cNvPr id="42" name="Rectangle 42"/>
            <p:cNvSpPr/>
            <p:nvPr/>
          </p:nvSpPr>
          <p:spPr>
            <a:xfrm>
              <a:off x="533400" y="4000500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4248268"/>
              <a:ext cx="224134" cy="192560"/>
              <a:chOff x="726129" y="4248268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43186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42482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43964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4144804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收集到的字符是倒着出来的，最后要整体翻转；相等时必须走左上，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走左或走上会漏掉这个字符。</a:t>
              </a:r>
            </a:p>
          </p:txBody>
        </p:sp>
      </p:grpSp>
      <p:grpSp>
        <p:nvGrpSpPr>
          <p:cNvPr id="54" name="c1-card-3"/>
          <p:cNvGrpSpPr/>
          <p:nvPr/>
        </p:nvGrpSpPr>
        <p:grpSpPr>
          <a:xfrm>
            <a:off x="533400" y="4868228"/>
            <a:ext cx="5842635" cy="1411605"/>
            <a:chOff x="533400" y="4868228"/>
            <a:chExt cx="5842635" cy="1411605"/>
          </a:xfrm>
        </p:grpSpPr>
        <p:sp>
          <p:nvSpPr>
            <p:cNvPr id="49" name="Rectangle 49"/>
            <p:cNvSpPr/>
            <p:nvPr/>
          </p:nvSpPr>
          <p:spPr>
            <a:xfrm>
              <a:off x="533400" y="4868228"/>
              <a:ext cx="5842635" cy="1411605"/>
            </a:xfrm>
            <a:prstGeom prst="roundRect">
              <a:avLst>
                <a:gd name="adj" fmla="val 9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2925" y="5001578"/>
              <a:ext cx="47625" cy="1144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5998" y="5069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回溯的代价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5998" y="5370671"/>
              <a:ext cx="5166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每走一步 i 或 j 至少减 1，所以回溯最多走 n + m 步，时间 O(n+m)，相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对填表的 O(nm) 可以忽略。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5998" y="5899309"/>
              <a:ext cx="4122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代价在空间上：必须把整张 (n+1)×(m+1) 的表留着。</a:t>
              </a:r>
            </a:p>
          </p:txBody>
        </p:sp>
      </p:grpSp>
      <p:grpSp>
        <p:nvGrpSpPr>
          <p:cNvPr id="72" name="c2-steps-1"/>
          <p:cNvGrpSpPr/>
          <p:nvPr/>
        </p:nvGrpSpPr>
        <p:grpSpPr>
          <a:xfrm>
            <a:off x="6680835" y="1938338"/>
            <a:ext cx="4722571" cy="2149411"/>
            <a:chOff x="6680835" y="1938338"/>
            <a:chExt cx="4722571" cy="2149411"/>
          </a:xfrm>
        </p:grpSpPr>
        <p:sp>
          <p:nvSpPr>
            <p:cNvPr id="55" name="Rectangle 55"/>
            <p:cNvSpPr/>
            <p:nvPr/>
          </p:nvSpPr>
          <p:spPr>
            <a:xfrm>
              <a:off x="6814185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680835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74459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80835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4459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680835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74459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680835" y="35975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74459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93458" y="196834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从右下角出发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94601" y="2223135"/>
              <a:ext cx="7456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n，j = 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93458" y="25217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字符相等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94601" y="2776538"/>
              <a:ext cx="1897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把该字符记下，i 和 j 同时减 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93458" y="30751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字符不等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94601" y="3328988"/>
              <a:ext cx="4308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 LCS[i-1][j] 与 LCS[i][j-1]，往大的那边走；相等时任选一边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93458" y="36275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94601" y="3882390"/>
              <a:ext cx="2964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0 或 j = 0 时结束，把收集到的字符倒序输出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680835" y="4249102"/>
            <a:ext cx="4977765" cy="2029778"/>
            <a:chOff x="6680835" y="4249102"/>
            <a:chExt cx="4977765" cy="2029778"/>
          </a:xfrm>
        </p:grpSpPr>
        <p:sp>
          <p:nvSpPr>
            <p:cNvPr id="73" name="Rectangle 73"/>
            <p:cNvSpPr/>
            <p:nvPr/>
          </p:nvSpPr>
          <p:spPr>
            <a:xfrm>
              <a:off x="6680835" y="4249102"/>
              <a:ext cx="4977765" cy="2029778"/>
            </a:xfrm>
            <a:prstGeom prst="roundRect">
              <a:avLst>
                <a:gd name="adj" fmla="val 65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90360" y="4382452"/>
              <a:ext cx="47625" cy="17630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899910" y="44300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92582" y="44629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66838" y="4469606"/>
              <a:ext cx="1419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 也可能不唯一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893433" y="478678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回溯遇到左右一样大时选哪边都对，得到的是不同的最长公共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子序列，长度相同。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893433" y="5314474"/>
              <a:ext cx="38087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例：S = xabyckba 与其逆序的 LCS，本讲义程序给出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abyba，源课件第 25 页标的是 abcba，两者都长 5。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7542" cy="909257"/>
            <a:chOff x="520446" y="342900"/>
            <a:chExt cx="24275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2363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 的 C 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3950970"/>
            <a:chOff x="533400" y="1524000"/>
            <a:chExt cx="6276022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67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longestCommonSubsequence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98358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4861814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N 1010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LCS[N][N];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全局：3.89 MB 不能放在栈上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max2(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 {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&gt; b ? a : b;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longestCommonSubsequence(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j;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&lt;= n; i++) LCS[i][0] = 0;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0 列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&lt;= m; j++) LCS[0][j] = 0;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0 行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n; i++)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1; j &lt;= m; j++)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(s[i-1] == p[j-1])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LCS[i][j] = LCS[i-1][j-1] + 1;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LCS[i][j] = max2(LCS[i][j-1], LCS[i-1][j]);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LCS[n][m];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7114222" y="1524000"/>
            <a:ext cx="4544378" cy="3148965"/>
            <a:chOff x="7114222" y="1524000"/>
            <a:chExt cx="4544378" cy="3148965"/>
          </a:xfrm>
        </p:grpSpPr>
        <p:sp>
          <p:nvSpPr>
            <p:cNvPr id="12" name="Rectangle 12"/>
            <p:cNvSpPr/>
            <p:nvPr/>
          </p:nvSpPr>
          <p:spPr>
            <a:xfrm>
              <a:off x="7114222" y="1524000"/>
              <a:ext cx="4544378" cy="3148965"/>
            </a:xfrm>
            <a:prstGeom prst="roundRect">
              <a:avLst>
                <a:gd name="adj" fmla="val 4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23748" y="1657350"/>
              <a:ext cx="47625" cy="28822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61948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两处照抄会出事的地方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4252" y="2129790"/>
              <a:ext cx="3834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更正：原课件第 23 页把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int LCS[N][N]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（N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1010）写在函数体内。这个局部数组占 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3.89</a:t>
              </a:r>
              <a:br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MB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，超过 MSVC 默认的 1 MB 线程栈。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4252" y="3036570"/>
              <a:ext cx="3787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实测：用 1 MB 栈链接后运行立刻收到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0xC00000FD（STACK_OVERFLOW）。改成全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局、static 或 malloc 即可。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4252" y="3943350"/>
              <a:ext cx="3891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更正：同页的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max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和第 14 页的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min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一样，标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 C 里没有，需自行定义。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7114222" y="4863465"/>
            <a:ext cx="4544378" cy="782955"/>
            <a:chOff x="7114222" y="4863465"/>
            <a:chExt cx="4544378" cy="782955"/>
          </a:xfrm>
        </p:grpSpPr>
        <p:sp>
          <p:nvSpPr>
            <p:cNvPr id="21" name="Rectangle 21"/>
            <p:cNvSpPr/>
            <p:nvPr/>
          </p:nvSpPr>
          <p:spPr>
            <a:xfrm>
              <a:off x="7114222" y="4863465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19010" y="5154930"/>
              <a:ext cx="200026" cy="200025"/>
              <a:chOff x="7319010" y="5154930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19010" y="51549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358749" y="51993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393464" y="53105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620952" y="5012055"/>
              <a:ext cx="3529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时间同样是 O(nm)；只求长度时也能用滚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动数组压到 O(min(n, m)) 的空间。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58906" cy="909257"/>
            <a:chOff x="520446" y="342900"/>
            <a:chExt cx="4658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58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编辑距离与 LCS 可以互相换算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2242185"/>
            <a:chOff x="533400" y="1524000"/>
            <a:chExt cx="4760595" cy="22421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只允许插入和删除时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把替换这一种操作去掉，只留插入和删除，最少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操作数就是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 + m - 2·LCS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3910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理由：两串共同保留下来的部分必是公共子序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列，S 删 n - k 个、P 删 m - k 个，k 取最大即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956685"/>
            <a:ext cx="4760595" cy="1345882"/>
            <a:chOff x="533400" y="3956685"/>
            <a:chExt cx="4760595" cy="1345882"/>
          </a:xfrm>
        </p:grpSpPr>
        <p:sp>
          <p:nvSpPr>
            <p:cNvPr id="15" name="Rectangle 15"/>
            <p:cNvSpPr/>
            <p:nvPr/>
          </p:nvSpPr>
          <p:spPr>
            <a:xfrm>
              <a:off x="533400" y="3956685"/>
              <a:ext cx="4760595" cy="1345882"/>
            </a:xfrm>
            <a:prstGeom prst="roundRect">
              <a:avLst>
                <a:gd name="adj" fmla="val 990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41662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158" y="42019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夹逼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3978" y="420147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允许替换时的上下界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4562475"/>
              <a:ext cx="3838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max(n, m) - LCS ≤ Dist ≤ n + m - 2·LCS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6473" y="4894421"/>
              <a:ext cx="2261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30000 组随机串验证无反例。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5598795" y="1524000"/>
            <a:ext cx="6059805" cy="2692718"/>
            <a:chOff x="5598795" y="1524000"/>
            <a:chExt cx="6059805" cy="2692718"/>
          </a:xfrm>
        </p:grpSpPr>
        <p:sp>
          <p:nvSpPr>
            <p:cNvPr id="22" name="Rectangle 22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46489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8069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82577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LCS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166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18753" y="1659731"/>
              <a:ext cx="370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0883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只增删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06618" y="210835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axbce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19151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abcfe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9290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4158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5026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1991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6618" y="255698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19151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cba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9290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4158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5026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698480" y="2430780"/>
              <a:ext cx="9505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1991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6618" y="3005614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19151" y="3005614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9290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4158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5026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1991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598795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06618" y="3454241"/>
              <a:ext cx="509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FOOD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19151" y="3454241"/>
              <a:ext cx="586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MONEY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9290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4158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5026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698480" y="3328988"/>
              <a:ext cx="9505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11991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598795" y="3763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706618" y="3903821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kitten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19151" y="390382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sitting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9290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41584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50269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119914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598795" y="1524000"/>
              <a:ext cx="605980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0656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01814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86682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71454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68419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c2-callout-2"/>
          <p:cNvGrpSpPr/>
          <p:nvPr/>
        </p:nvGrpSpPr>
        <p:grpSpPr>
          <a:xfrm>
            <a:off x="5598795" y="4407218"/>
            <a:ext cx="6059805" cy="895350"/>
            <a:chOff x="5598795" y="4407218"/>
            <a:chExt cx="6059805" cy="895350"/>
          </a:xfrm>
        </p:grpSpPr>
        <p:sp>
          <p:nvSpPr>
            <p:cNvPr id="74" name="Rectangle 74"/>
            <p:cNvSpPr/>
            <p:nvPr/>
          </p:nvSpPr>
          <p:spPr>
            <a:xfrm>
              <a:off x="5598795" y="4407218"/>
              <a:ext cx="6059805" cy="895350"/>
            </a:xfrm>
            <a:prstGeom prst="roundRect">
              <a:avLst>
                <a:gd name="adj" fmla="val 127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5791524" y="4751188"/>
              <a:ext cx="224134" cy="192560"/>
              <a:chOff x="5791524" y="4751188"/>
              <a:chExt cx="224134" cy="1925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5903595" y="4821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791524" y="4751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903595" y="4899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105525" y="4612005"/>
              <a:ext cx="5006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abc 与 cba：允许替换只要 2 步，只增删要 4 步。两个指标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回答的问题不同，不能互相代替。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三道变形题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换一层包装，内核仍然是最长公共子序列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最少删几个字符使两串相等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最长回文子序列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最少删几个字符使串成回文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三道变形题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变形一：最少删几个字符能让两个串相等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471463" cy="308039"/>
            <a:chOff x="525399" y="1550194"/>
            <a:chExt cx="847146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4714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 S 和 P，长度分别为 n 和 m，求最少删除多少个字符使二者相等（LeetCode 583）。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5152172" cy="2529173"/>
            <a:chOff x="533400" y="1977390"/>
            <a:chExt cx="5152172" cy="2529173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90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4739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剩下的串既是 S 的子序列又是 P 的子序列，所以是公共子序列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要删得最少，剩下的就要最长，于是剩下的是最长公共子序列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38453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LCS 长度为 k，则 S 删 n - k 个，P 删 m - k 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633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5719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 n + m - 2k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684395"/>
            <a:ext cx="5410200" cy="1143952"/>
            <a:chOff x="533400" y="4684395"/>
            <a:chExt cx="5410200" cy="1143952"/>
          </a:xfrm>
        </p:grpSpPr>
        <p:sp>
          <p:nvSpPr>
            <p:cNvPr id="27" name="Rectangle 27"/>
            <p:cNvSpPr/>
            <p:nvPr/>
          </p:nvSpPr>
          <p:spPr>
            <a:xfrm>
              <a:off x="533400" y="4684395"/>
              <a:ext cx="5410200" cy="1143952"/>
            </a:xfrm>
            <a:prstGeom prst="roundRect">
              <a:avLst>
                <a:gd name="adj" fmla="val 99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156837"/>
              <a:ext cx="200023" cy="200023"/>
              <a:chOff x="738188" y="5156837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1568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2235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013960"/>
              <a:ext cx="4530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这就是把替换禁掉之后的编辑距离，和第 28 页的公式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是同一条结论。</a:t>
              </a:r>
            </a:p>
          </p:txBody>
        </p:sp>
      </p:grpSp>
      <p:grpSp>
        <p:nvGrpSpPr>
          <p:cNvPr id="74" name="c2-cells-1"/>
          <p:cNvGrpSpPr/>
          <p:nvPr/>
        </p:nvGrpSpPr>
        <p:grpSpPr>
          <a:xfrm>
            <a:off x="6241923" y="1967865"/>
            <a:ext cx="5031867" cy="2000250"/>
            <a:chOff x="6241923" y="1967865"/>
            <a:chExt cx="5031867" cy="2000250"/>
          </a:xfrm>
        </p:grpSpPr>
        <p:sp>
          <p:nvSpPr>
            <p:cNvPr id="33" name="TextBox 33"/>
            <p:cNvSpPr txBox="1"/>
            <p:nvPr/>
          </p:nvSpPr>
          <p:spPr>
            <a:xfrm>
              <a:off x="6241923" y="20978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63690" y="196786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68467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585710" y="1967865"/>
              <a:ext cx="92202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90487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07730" y="196786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12507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429750" y="196786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34527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351770" y="196786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756547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3467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05487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27507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49527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771547" y="24436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41923" y="288845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63690" y="275844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68467" y="28884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585710" y="275844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990487" y="28884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507730" y="275844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12507" y="28884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429750" y="2758440"/>
              <a:ext cx="92202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834527" y="28884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351770" y="275844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756547" y="28884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83467" y="323421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05487" y="323421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27507" y="323421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49527" y="323421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771547" y="323421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41923" y="36790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LCS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663690" y="3549015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68467" y="36790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585710" y="3549015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990487" y="36790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507730" y="3549015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12507" y="36790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429750" y="3549015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834527" y="36790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82" name="c2-card-2"/>
          <p:cNvGrpSpPr/>
          <p:nvPr/>
        </p:nvGrpSpPr>
        <p:grpSpPr>
          <a:xfrm>
            <a:off x="6248400" y="4158615"/>
            <a:ext cx="5410200" cy="1670685"/>
            <a:chOff x="6248400" y="4158615"/>
            <a:chExt cx="5410200" cy="1670685"/>
          </a:xfrm>
        </p:grpSpPr>
        <p:sp>
          <p:nvSpPr>
            <p:cNvPr id="75" name="Rectangle 75"/>
            <p:cNvSpPr/>
            <p:nvPr/>
          </p:nvSpPr>
          <p:spPr>
            <a:xfrm>
              <a:off x="6248400" y="4158615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57925" y="4291965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96050" y="436816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91160" y="44038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54202" y="4403408"/>
              <a:ext cx="2122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axbce，P = abcfe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88430" y="4764405"/>
              <a:ext cx="2372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 = abce，长度 k = 4。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88430" y="5099685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去掉 1 个字符 x，P 去掉 1 个字符 f，合计 5 + 5 -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2×4 = 2 个。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66033" cy="909257"/>
            <a:chOff x="520446" y="342900"/>
            <a:chExt cx="73660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三道变形题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660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变形二：最长回文子序列 = S 与其逆序串的 LCS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63774" cy="264033"/>
            <a:chOff x="526542" y="1545907"/>
            <a:chExt cx="516377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63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给定字符串 S，求它的最长回文子序列长度（LeetCode 516）。</a:t>
              </a:r>
            </a:p>
          </p:txBody>
        </p:sp>
      </p:grpSp>
      <p:grpSp>
        <p:nvGrpSpPr>
          <p:cNvPr id="70" name="c1-cells-1"/>
          <p:cNvGrpSpPr/>
          <p:nvPr/>
        </p:nvGrpSpPr>
        <p:grpSpPr>
          <a:xfrm>
            <a:off x="527685" y="1928812"/>
            <a:ext cx="5633085" cy="1769746"/>
            <a:chOff x="527685" y="1928812"/>
            <a:chExt cx="5633085" cy="1769746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4263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1548" y="1928812"/>
              <a:ext cx="65151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27099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02105" y="1928812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78609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53615" y="1928812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30119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904172" y="1928812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8067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55682" y="1928812"/>
              <a:ext cx="65151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3218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07192" y="1928812"/>
              <a:ext cx="65151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82744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857750" y="1928812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34254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09260" y="1928812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84811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4123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9274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4425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9480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4631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96876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8386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9894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685" y="27436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逆序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1548" y="262890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27099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602105" y="262890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878609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253615" y="2628900"/>
              <a:ext cx="65151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30119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904172" y="2628900"/>
              <a:ext cx="65151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80676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55682" y="262890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832186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207192" y="262890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82744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857750" y="262890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34254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09260" y="2628900"/>
              <a:ext cx="65151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84811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41231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892741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44251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194808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846318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96876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148386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798943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7685" y="34447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回文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1548" y="332994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227099" y="3444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602105" y="332994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878609" y="3444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253615" y="332994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530119" y="3444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904172" y="332994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180676" y="3444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555682" y="3329940"/>
              <a:ext cx="65151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832186" y="3444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78" name="c1-card-2"/>
          <p:cNvGrpSpPr/>
          <p:nvPr/>
        </p:nvGrpSpPr>
        <p:grpSpPr>
          <a:xfrm>
            <a:off x="533400" y="3869055"/>
            <a:ext cx="5626418" cy="1760220"/>
            <a:chOff x="533400" y="3869055"/>
            <a:chExt cx="5626418" cy="1760220"/>
          </a:xfrm>
        </p:grpSpPr>
        <p:sp>
          <p:nvSpPr>
            <p:cNvPr id="71" name="Rectangle 71"/>
            <p:cNvSpPr/>
            <p:nvPr/>
          </p:nvSpPr>
          <p:spPr>
            <a:xfrm>
              <a:off x="533400" y="3869055"/>
              <a:ext cx="5626418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542925" y="4002405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58190" y="40557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862" y="40886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23784" y="40900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为什么这样做是对的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1332" y="441674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的回文子序列正着读和倒着读一样，所以它既是 S 的子序列，也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是逆序串 S⁻¹ 的子序列。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1332" y="4973955"/>
              <a:ext cx="48571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反过来，S 与 S⁻¹ 的任何一条公共子序列都能对应到 S 的一条回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文子序列，两者长度相同。</a:t>
              </a:r>
            </a:p>
          </p:txBody>
        </p:sp>
      </p:grpSp>
      <p:grpSp>
        <p:nvGrpSpPr>
          <p:cNvPr id="92" name="c2-steps-1"/>
          <p:cNvGrpSpPr/>
          <p:nvPr/>
        </p:nvGrpSpPr>
        <p:grpSpPr>
          <a:xfrm>
            <a:off x="6464618" y="1938338"/>
            <a:ext cx="3779544" cy="1685449"/>
            <a:chOff x="6464618" y="1938338"/>
            <a:chExt cx="3779544" cy="1685449"/>
          </a:xfrm>
        </p:grpSpPr>
        <p:sp>
          <p:nvSpPr>
            <p:cNvPr id="79" name="Rectangle 79"/>
            <p:cNvSpPr/>
            <p:nvPr/>
          </p:nvSpPr>
          <p:spPr>
            <a:xfrm>
              <a:off x="6597968" y="2081212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6464618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5824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464618" y="25212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58241" y="2595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464618" y="31041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558241" y="3178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876860" y="196977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造出逆序串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878002" y="2237899"/>
              <a:ext cx="2527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xabyckba，逆序 S⁻¹ = abkcybax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76860" y="2552700"/>
              <a:ext cx="58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LCS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78002" y="2820829"/>
              <a:ext cx="23488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S 与 S⁻¹ 跑一遍 LCS，长度为 5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876860" y="31356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读答案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878002" y="3403759"/>
              <a:ext cx="3366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最长回文子序列长度就是 5，例如 abyba 或 abcba</a:t>
              </a:r>
            </a:p>
          </p:txBody>
        </p:sp>
      </p:grpSp>
      <p:grpSp>
        <p:nvGrpSpPr>
          <p:cNvPr id="100" name="c2-card-2"/>
          <p:cNvGrpSpPr/>
          <p:nvPr/>
        </p:nvGrpSpPr>
        <p:grpSpPr>
          <a:xfrm>
            <a:off x="6464618" y="3787140"/>
            <a:ext cx="5193982" cy="1841182"/>
            <a:chOff x="6464618" y="3787140"/>
            <a:chExt cx="5193982" cy="1841182"/>
          </a:xfrm>
        </p:grpSpPr>
        <p:sp>
          <p:nvSpPr>
            <p:cNvPr id="93" name="Rectangle 93"/>
            <p:cNvSpPr/>
            <p:nvPr/>
          </p:nvSpPr>
          <p:spPr>
            <a:xfrm>
              <a:off x="6464618" y="3787140"/>
              <a:ext cx="5193982" cy="1841182"/>
            </a:xfrm>
            <a:prstGeom prst="roundRect">
              <a:avLst>
                <a:gd name="adj" fmla="val 72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6474142" y="3920490"/>
              <a:ext cx="47625" cy="15744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6689408" y="39738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782079" y="40066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255954" y="400907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暴力枚举核对过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682549" y="4334828"/>
              <a:ext cx="45571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本讲义枚举了 xabyckba 全部 2⁸ = 256 条子序列，最长的回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文确实是 5 个字符，与 LCS 的结果一致。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683692" y="4888706"/>
              <a:ext cx="3810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25 页高亮的 abcba 也是 5 个字符，同样正确。</a:t>
              </a:r>
            </a:p>
          </p:txBody>
        </p:sp>
      </p:grpSp>
      <p:grpSp>
        <p:nvGrpSpPr>
          <p:cNvPr id="10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01" name="Rectangle 10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1040892" y="6028373"/>
              <a:ext cx="10123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这一招只对回文子序列成立。求最长回文子串不能这么做：abacdfgdcaba 的最长回文子串只有 aba，而逆序 LCS 会给出 11。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99660" cy="909257"/>
            <a:chOff x="520446" y="342900"/>
            <a:chExt cx="6299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三道变形题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99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变形三：最少删几个字符能让 S 变成回文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388790" cy="1878615"/>
            <a:chOff x="533400" y="1533525"/>
            <a:chExt cx="4388790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删剩下的部分必须是回文，要删得最少就要留得最多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3786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留下的最长回文子序列长度记为 L，用变形二求出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1724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最少删除 n - L 个字符</a:t>
              </a:r>
            </a:p>
          </p:txBody>
        </p:sp>
      </p:grpSp>
      <p:grpSp>
        <p:nvGrpSpPr>
          <p:cNvPr id="57" name="c1-cells-2"/>
          <p:cNvGrpSpPr/>
          <p:nvPr/>
        </p:nvGrpSpPr>
        <p:grpSpPr>
          <a:xfrm>
            <a:off x="526923" y="3590925"/>
            <a:ext cx="5199507" cy="1209675"/>
            <a:chOff x="526923" y="3590925"/>
            <a:chExt cx="5199507" cy="1209675"/>
          </a:xfrm>
        </p:grpSpPr>
        <p:sp>
          <p:nvSpPr>
            <p:cNvPr id="21" name="TextBox 21"/>
            <p:cNvSpPr txBox="1"/>
            <p:nvPr/>
          </p:nvSpPr>
          <p:spPr>
            <a:xfrm>
              <a:off x="526923" y="37209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91552" y="3590925"/>
              <a:ext cx="59150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31547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584008" y="3590925"/>
              <a:ext cx="5915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823050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175510" y="3590925"/>
              <a:ext cx="5915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15505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767965" y="3590925"/>
              <a:ext cx="5915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07007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359468" y="3590925"/>
              <a:ext cx="59150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9462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950970" y="3590925"/>
              <a:ext cx="59150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190965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543425" y="3590925"/>
              <a:ext cx="5915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83420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34928" y="3590925"/>
              <a:ext cx="5915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74922" y="3720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46547" y="4066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38049" y="4066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30504" y="4066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22007" y="4066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14462" y="4066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05964" y="4066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98419" y="4066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89922" y="4066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6923" y="4511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删后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91552" y="4381500"/>
              <a:ext cx="5915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31547" y="45115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584008" y="4381500"/>
              <a:ext cx="5915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823050" y="45115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175510" y="4381500"/>
              <a:ext cx="5915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415505" y="45115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767965" y="4381500"/>
              <a:ext cx="5915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007007" y="45115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359468" y="4381500"/>
              <a:ext cx="5915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599462" y="45115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64" name="c1-callout-3"/>
          <p:cNvGrpSpPr/>
          <p:nvPr/>
        </p:nvGrpSpPr>
        <p:grpSpPr>
          <a:xfrm>
            <a:off x="533400" y="4991100"/>
            <a:ext cx="5193982" cy="931545"/>
            <a:chOff x="533400" y="4991100"/>
            <a:chExt cx="5193982" cy="931545"/>
          </a:xfrm>
        </p:grpSpPr>
        <p:sp>
          <p:nvSpPr>
            <p:cNvPr id="58" name="Rectangle 58"/>
            <p:cNvSpPr/>
            <p:nvPr/>
          </p:nvSpPr>
          <p:spPr>
            <a:xfrm>
              <a:off x="533400" y="4991100"/>
              <a:ext cx="5193982" cy="931545"/>
            </a:xfrm>
            <a:prstGeom prst="roundRect">
              <a:avLst>
                <a:gd name="adj" fmla="val 1227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26129" y="5353168"/>
              <a:ext cx="224134" cy="192560"/>
              <a:chOff x="726129" y="5353168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8200" y="54235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26129" y="53531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55013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213985"/>
              <a:ext cx="4311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删除的是字符不是位置对，所以答案是 n - L，不要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写成 (n - L)/2。</a:t>
              </a:r>
            </a:p>
          </p:txBody>
        </p:sp>
      </p:grpSp>
      <p:grpSp>
        <p:nvGrpSpPr>
          <p:cNvPr id="73" name="c2-card-1"/>
          <p:cNvGrpSpPr/>
          <p:nvPr/>
        </p:nvGrpSpPr>
        <p:grpSpPr>
          <a:xfrm>
            <a:off x="6032182" y="1524000"/>
            <a:ext cx="5626418" cy="1720215"/>
            <a:chOff x="6032182" y="1524000"/>
            <a:chExt cx="5626418" cy="1720215"/>
          </a:xfrm>
        </p:grpSpPr>
        <p:sp>
          <p:nvSpPr>
            <p:cNvPr id="65" name="Rectangle 65"/>
            <p:cNvSpPr/>
            <p:nvPr/>
          </p:nvSpPr>
          <p:spPr>
            <a:xfrm>
              <a:off x="6032182" y="1524000"/>
              <a:ext cx="5626418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41708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79832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7399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37985" y="1768792"/>
              <a:ext cx="1995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xabyckba，n = 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72212" y="2129790"/>
              <a:ext cx="3537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最长回文子序列长度 L = 5（abyba）。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72212" y="2465070"/>
              <a:ext cx="41548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最少删 8 - 5 = 3 个字符，删掉的是 x、c、k。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72212" y="2800350"/>
              <a:ext cx="4487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若改留 abcba，删掉的是 x、y、k，同样是 3 个。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032182" y="3434715"/>
            <a:ext cx="5626418" cy="2487930"/>
            <a:chOff x="6032182" y="3434715"/>
            <a:chExt cx="5626418" cy="2487930"/>
          </a:xfrm>
        </p:grpSpPr>
        <p:sp>
          <p:nvSpPr>
            <p:cNvPr id="74" name="Rectangle 74"/>
            <p:cNvSpPr/>
            <p:nvPr/>
          </p:nvSpPr>
          <p:spPr>
            <a:xfrm>
              <a:off x="6032182" y="3434715"/>
              <a:ext cx="5626418" cy="2487930"/>
            </a:xfrm>
            <a:prstGeom prst="roundRect">
              <a:avLst>
                <a:gd name="adj" fmla="val 536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1732" y="36442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31941" y="36799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套路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41808" y="367950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三道变形题的共同做法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34112" y="4040505"/>
              <a:ext cx="4987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先找出“删完之后剩下的东西必须满足什么”，再把它翻译成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某两个串的公共子序列。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34112" y="4661535"/>
              <a:ext cx="4958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一旦翻译成功，剩下的全部工作就是跑一遍 LCS，然后做一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次减法。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235256" y="5279231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判断题目能不能这样转化，关键看它是否只允许删除、不允许调换次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142744" cy="909257"/>
            <a:chOff x="520446" y="342900"/>
            <a:chExt cx="21427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 · 三道变形题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变形题速查表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33400" y="1524000"/>
            <a:ext cx="11125200" cy="2434590"/>
            <a:chOff x="533400" y="1524000"/>
            <a:chExt cx="11125200" cy="2434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228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592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69609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转化成什么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2802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答案表达式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5902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054066"/>
              <a:ext cx="1593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 LeetCode 72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26155" y="2054066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和 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06378" y="2054066"/>
              <a:ext cx="1004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直接填 Dist 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98167" y="2054066"/>
              <a:ext cx="840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Dist[n][m]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3208" y="2054066"/>
              <a:ext cx="495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O(nm)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459831"/>
              <a:ext cx="2222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 LeetCode 1143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26155" y="2459831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和 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06378" y="2459831"/>
              <a:ext cx="972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直接填 LCS 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98167" y="2459831"/>
              <a:ext cx="814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LCS[n][m]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23208" y="2459831"/>
              <a:ext cx="495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O(nm)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2865596"/>
              <a:ext cx="2436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最少删除使两串相等 LeetCode 583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26155" y="2865596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和 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06378" y="2865596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LCS(S, P)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07680" y="2750820"/>
              <a:ext cx="220599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98167" y="286559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+ m - 2k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23208" y="2865596"/>
              <a:ext cx="495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O(nm)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3271361"/>
              <a:ext cx="2134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最长回文子序列 LeetCode 516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26155" y="3271361"/>
              <a:ext cx="44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 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06378" y="3271361"/>
              <a:ext cx="93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LCS(S, S⁻¹)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07680" y="3156585"/>
              <a:ext cx="220599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98167" y="3271361"/>
              <a:ext cx="783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LCS[n][n]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23208" y="327136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412" y="3677126"/>
              <a:ext cx="1409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最少删除使 S 成回文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26155" y="3677126"/>
              <a:ext cx="44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 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06378" y="3677126"/>
              <a:ext cx="93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LCS(S, S⁻¹)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07680" y="3562350"/>
              <a:ext cx="220599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98167" y="3677126"/>
              <a:ext cx="1042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- LCS[n][n]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23208" y="367712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524000"/>
              <a:ext cx="11125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42138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0160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9339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31843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1-compare-2"/>
          <p:cNvGrpSpPr/>
          <p:nvPr/>
        </p:nvGrpSpPr>
        <p:grpSpPr>
          <a:xfrm>
            <a:off x="533400" y="4133850"/>
            <a:ext cx="11125200" cy="1543050"/>
            <a:chOff x="533400" y="4133850"/>
            <a:chExt cx="11125200" cy="1543050"/>
          </a:xfrm>
        </p:grpSpPr>
        <p:sp>
          <p:nvSpPr>
            <p:cNvPr id="53" name="Rectangle 53"/>
            <p:cNvSpPr/>
            <p:nvPr/>
          </p:nvSpPr>
          <p:spPr>
            <a:xfrm>
              <a:off x="533400" y="4133850"/>
              <a:ext cx="5353050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2925" y="4267200"/>
              <a:ext cx="47625" cy="12763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7047" y="434816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什么时候用编辑距离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72478" y="47244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28497" y="466820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要知道改动的代价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72478" y="50272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8497" y="497109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插入删除替换都允许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72478" y="53292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8497" y="5273040"/>
              <a:ext cx="1660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拼写纠错、DNA 比对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305550" y="4133850"/>
              <a:ext cx="5353050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315075" y="4267200"/>
              <a:ext cx="47625" cy="12763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29197" y="4348162"/>
              <a:ext cx="1315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什么时候用 LCS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544628" y="47244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00647" y="466820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要知道共同保留了什么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544628" y="50272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00647" y="497109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只关心次序不关心位置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544628" y="53292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00647" y="5273040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查重、diff 工具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5934075" y="47434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010546" y="48439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9" name="c1-callout-3"/>
          <p:cNvGrpSpPr/>
          <p:nvPr/>
        </p:nvGrpSpPr>
        <p:grpSpPr>
          <a:xfrm>
            <a:off x="533400" y="5851208"/>
            <a:ext cx="11125200" cy="511492"/>
            <a:chOff x="533400" y="5851208"/>
            <a:chExt cx="11125200" cy="511492"/>
          </a:xfrm>
        </p:grpSpPr>
        <p:sp>
          <p:nvSpPr>
            <p:cNvPr id="74" name="Rectangle 74"/>
            <p:cNvSpPr/>
            <p:nvPr/>
          </p:nvSpPr>
          <p:spPr>
            <a:xfrm>
              <a:off x="533400" y="5851208"/>
              <a:ext cx="11125200" cy="511492"/>
            </a:xfrm>
            <a:prstGeom prst="roundRect">
              <a:avLst>
                <a:gd name="adj" fmla="val 2234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07420"/>
              <a:ext cx="200023" cy="200023"/>
              <a:chOff x="738188" y="6007420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074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1538" y="60740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6013133"/>
              <a:ext cx="6592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两张表的填法几乎一样，区别只在字符相等时加不加 1、不等时取 min 还是 max。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259776" cy="909257"/>
            <a:chOff x="520446" y="342900"/>
            <a:chExt cx="1259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739771" cy="264033"/>
            <a:chOff x="526542" y="1545907"/>
            <a:chExt cx="273977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先把答案写在纸上，再对照解答。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257425"/>
            <a:chOff x="533400" y="1928812"/>
            <a:chExt cx="3505200" cy="22574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999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Dist(S, P) = 0 说明什么？长度为 n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m 的两个串，编辑距离最大可能是多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273742"/>
              <a:ext cx="27740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说明两串完全相同。最大是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max(n, m)：先把较短的那个补到等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长，再逐位替换。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355782"/>
            <a:ext cx="3505200" cy="2000250"/>
            <a:chOff x="533400" y="4355782"/>
            <a:chExt cx="3505200" cy="2000250"/>
          </a:xfrm>
        </p:grpSpPr>
        <p:sp>
          <p:nvSpPr>
            <p:cNvPr id="15" name="Rectangle 15"/>
            <p:cNvSpPr/>
            <p:nvPr/>
          </p:nvSpPr>
          <p:spPr>
            <a:xfrm>
              <a:off x="53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887278"/>
              <a:ext cx="25486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子序列和子串有什么区别？loo 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HelloWorld 的子串吗？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44449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子串要求连续，子序列只要求相对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次序不变。loo 不是子串（中间隔着一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W）。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485900"/>
            <a:chOff x="4343400" y="1928812"/>
            <a:chExt cx="3505200" cy="148590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588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Dist(kitten, sitting)。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2759392"/>
              <a:ext cx="28340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3。k→s、e→i，末尾插入 g。也可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用界检查：|6-7|=1 ≤ 3 ≤ 7。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3584258"/>
            <a:ext cx="3505200" cy="2771775"/>
            <a:chOff x="4343400" y="3584258"/>
            <a:chExt cx="3505200" cy="2771775"/>
          </a:xfrm>
        </p:grpSpPr>
        <p:sp>
          <p:nvSpPr>
            <p:cNvPr id="27" name="Rectangle 27"/>
            <p:cNvSpPr/>
            <p:nvPr/>
          </p:nvSpPr>
          <p:spPr>
            <a:xfrm>
              <a:off x="4343400" y="3584258"/>
              <a:ext cx="3505200" cy="2771775"/>
            </a:xfrm>
            <a:prstGeom prst="roundRect">
              <a:avLst>
                <a:gd name="adj" fmla="val 481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377094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380380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115752"/>
              <a:ext cx="28996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两个串长度都是 5，LCS 长度是 3。最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少删几个字符能让两串相等？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4672965"/>
              <a:ext cx="28426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(5-3) + (5-3) = 4 个。等价于 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 - 2k = 5 + 5 - 6 = 4。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000250"/>
            <a:chOff x="8153400" y="1928812"/>
            <a:chExt cx="35052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78220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编辑距离表的第 0 行为什么填 0, 1,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…, m？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9883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Dist[0][j] 是空串变成 P 的前 j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字符的代价，只能一次插一个，所以等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j。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98608"/>
            <a:ext cx="3505200" cy="2257425"/>
            <a:chOff x="8153400" y="4098608"/>
            <a:chExt cx="3505200" cy="22574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630102"/>
              <a:ext cx="294165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int LCS[1010][1010] 不能写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在函数体里？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187315"/>
              <a:ext cx="28083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它占 1010×1010×4 ≈ 3.89 MB，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超过默认 1 MB 线程栈，运行即栈溢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出。改成全局、static 或 malloc。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专题1 模糊匹配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本专题小结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842635" cy="1906905"/>
            <a:chOff x="533400" y="1524000"/>
            <a:chExt cx="5842635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30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8433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模糊匹配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80678" y="202311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不求逐字符相等，用数值衡量两串有多像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编辑距离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80678" y="2404110"/>
              <a:ext cx="2929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增删替各记 1 次取最少；边界填 0..m 与 0..n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80678" y="2785110"/>
              <a:ext cx="2809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相等加 1，不等取 max{左, 上}；边界全填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80678" y="3167062"/>
              <a:ext cx="1921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 O(nm)；空间可压成一行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8123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3595688"/>
            <a:ext cx="5842635" cy="1930718"/>
            <a:chOff x="533400" y="3595688"/>
            <a:chExt cx="5842635" cy="1930718"/>
          </a:xfrm>
        </p:grpSpPr>
        <p:sp>
          <p:nvSpPr>
            <p:cNvPr id="26" name="Rectangle 26"/>
            <p:cNvSpPr/>
            <p:nvPr/>
          </p:nvSpPr>
          <p:spPr>
            <a:xfrm>
              <a:off x="533400" y="3595688"/>
              <a:ext cx="5842635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729038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377666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3946" y="38095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91830" y="381619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133374"/>
              <a:ext cx="51498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 3 处：三参数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min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max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标准 C 里没有；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int LCS[1010][1010]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函数内占 3.89 MB，1 MB 栈实测溢出；LCS 应为 Longest Common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Subsequence。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4903946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补充：回溯还原方案、滚动数组、距离的性质、两者的换算、变形题速查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表。</a:t>
              </a:r>
            </a:p>
          </p:txBody>
        </p:sp>
      </p:grpSp>
      <p:grpSp>
        <p:nvGrpSpPr>
          <p:cNvPr id="49" name="c2-bullets-1"/>
          <p:cNvGrpSpPr/>
          <p:nvPr/>
        </p:nvGrpSpPr>
        <p:grpSpPr>
          <a:xfrm>
            <a:off x="6681788" y="1533525"/>
            <a:ext cx="4704334" cy="1918620"/>
            <a:chOff x="6681788" y="1533525"/>
            <a:chExt cx="4704334" cy="1918620"/>
          </a:xfrm>
        </p:grpSpPr>
        <p:sp>
          <p:nvSpPr>
            <p:cNvPr id="34" name="Ellipse 34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51536" y="1545431"/>
              <a:ext cx="44264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认出问题问的是位置还是相似度，前者用第 6 讲，后者用本专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81788" y="20697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33694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51536" y="2080736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写出状态定义，再分“末位相等”和“末位不等”两种情形推递推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81788" y="26060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3694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1536" y="2616994"/>
              <a:ext cx="35109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单独写清第 0 行第 0 列，再从左上往右下填表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289845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29103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右下角读长度，倒着回溯读方案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319182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32274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32027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变形题先翻译成公共子序列，再做一次加减法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3567112"/>
            <a:ext cx="4977765" cy="1959292"/>
            <a:chOff x="6680835" y="3567112"/>
            <a:chExt cx="4977765" cy="1959292"/>
          </a:xfrm>
        </p:grpSpPr>
        <p:sp>
          <p:nvSpPr>
            <p:cNvPr id="50" name="Rectangle 50"/>
            <p:cNvSpPr/>
            <p:nvPr/>
          </p:nvSpPr>
          <p:spPr>
            <a:xfrm>
              <a:off x="6680835" y="3567112"/>
              <a:ext cx="4977765" cy="1959292"/>
            </a:xfrm>
            <a:prstGeom prst="roundRect">
              <a:avLst>
                <a:gd name="adj" fmla="val 680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61810" y="37480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47332" y="3780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77341" y="37876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两张表一起默写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55333" y="4104799"/>
              <a:ext cx="4418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 S = ABC、P = BCD 这一对串，把 Dist 表和 LCS 表并排默写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一遍，答案分别是 2 和 2。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55333" y="4632484"/>
              <a:ext cx="43126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再把两段 C 代码默写出来，重点是 s[i-1] 与 p[j-1] 的下标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错位和两条初始化循环。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80599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本专题的两张表是后续动态规划题目的底板，第 20 讲的归并与比较排序下界会再次用到同样的分解思路。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专题1 字符串的模糊匹配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t01">
  <a:themeElements>
    <a:clrScheme name="ds_t0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t0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t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2026-09-20T02:40:42Z</dcterms:created>
  <dcterms:modified xsi:type="dcterms:W3CDTF">2026-09-20T02:40:42Z</dcterms:modified>
  <cp:category/>
  <cp:contentStatus/>
</cp:coreProperties>
</file>