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Default Extension="png" ContentType="image/png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</p:sldIdLst>
  <p:sldSz cx="12192000" cy="6858000" type="screen16x9"/>
  <p:notesSz cx="6858000" cy="9144000"/>
  <p:defaultTextStyle>
    <a:defPPr>
      <a:defRPr lang="zh-CN"/>
    </a:defPPr>
    <a:lvl1pPr marL="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7.xml><?xml version="1.0" encoding="utf-8"?>
<p:sldLayout xmlns:a="http://schemas.openxmlformats.org/drawingml/2006/main" xmlns:p="http://schemas.openxmlformats.org/presentationml/2006/main" type="blank" preserve="1">
  <p:cSld name="ds_l16 —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zh-CN" smtClean="0"/>
              <a:t>1/27/13</a:t>
            </a:fld>
            <a:endParaRPr lang="zh-C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zh-CN" smtClean="0"/>
              <a:t>‹#›</a:t>
            </a:fld>
            <a:endParaRPr lang="zh-CN"/>
          </a:p>
        </p:txBody>
      </p:sp>
    </p:spTree>
  </p:cSld>
  <p:clrMapOvr>
    <a:masterClrMapping/>
  </p:clrMapOvr>
</p:sldLayout>
</file>

<file path=ppt/slideMasters/_rels/slideMaster1.xml.rels><?xml version='1.0' encoding='UTF-8' standalone='yes'?>
<Relationships xmlns="http://schemas.openxmlformats.org/package/2006/relationships"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 name="ds_l16 — 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lang="zh-CN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zh-CN" smtClean="0"/>
              <a:t>1/27/13</a:t>
            </a:fld>
            <a:endParaRPr lang="zh-C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lang="zh-CN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lang="zh-CN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zh-CN" smtClean="0"/>
              <a:t>‹#›</a:t>
            </a:fld>
            <a:endParaRPr 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5" r:id="rId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 lang="zh-CN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 lang="zh-CN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 lang="zh-CN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 lang="zh-CN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 lang="zh-CN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 lang="zh-CN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 lang="zh-CN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 lang="zh-CN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 lang="zh-CN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 lang="zh-CN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image" Target="../media/image_402028278cda2708.png"/>
</Relationships>
</file>

<file path=ppt/slides/_rels/slide2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3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4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5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6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image" Target="../media/image_97c354359548f40d.png"/>
</Relationships>
</file>

<file path=ppt/slides/_rels/slide7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8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9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0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1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2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3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4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5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6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7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8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9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0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1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2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3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4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5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6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7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8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9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image" Target="../media/image_82ddeea36458c144.png"/>
</Relationships>
</file>

<file path=ppt/slides/_rels/slide30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31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32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33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34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35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36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37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38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cover-her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cover-scrim"/>
          <p:cNvSpPr/>
          <p:nvPr/>
        </p:nvSpPr>
        <p:spPr>
          <a:xfrm>
            <a:off x="0" y="0"/>
            <a:ext cx="7620000" cy="6858000"/>
          </a:xfrm>
          <a:prstGeom prst="rect">
            <a:avLst/>
          </a:prstGeom>
          <a:gradFill>
            <a:gsLst>
              <a:gs pos="0">
                <a:srgbClr val="FFFFFF">
                  <a:alpha val="97000"/>
                </a:srgbClr>
              </a:gs>
              <a:gs pos="58000">
                <a:srgbClr val="FFFFFF">
                  <a:alpha val="85000"/>
                </a:srgbClr>
              </a:gs>
              <a:gs pos="100000">
                <a:srgbClr val="FFFFFF">
                  <a:alpha val="0"/>
                </a:srgbClr>
              </a:gs>
            </a:gsLst>
            <a:lin ang="0" scaled="1"/>
          </a:gradFill>
          <a:ln>
            <a:noFill/>
          </a:ln>
        </p:spPr>
      </p:sp>
      <p:grpSp>
        <p:nvGrpSpPr>
          <p:cNvPr id="17" name="cover-title"/>
          <p:cNvGrpSpPr/>
          <p:nvPr/>
        </p:nvGrpSpPr>
        <p:grpSpPr>
          <a:xfrm>
            <a:off x="666750" y="1619250"/>
            <a:ext cx="5126736" cy="3437763"/>
            <a:chOff x="666750" y="1619250"/>
            <a:chExt cx="5126736" cy="3437763"/>
          </a:xfrm>
        </p:grpSpPr>
        <p:sp>
          <p:nvSpPr>
            <p:cNvPr id="4" name="Rectangle 4"/>
            <p:cNvSpPr/>
            <p:nvPr/>
          </p:nvSpPr>
          <p:spPr>
            <a:xfrm>
              <a:off x="685800" y="1619250"/>
              <a:ext cx="1617345" cy="34290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812921" y="1718310"/>
              <a:ext cx="136310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数据结构 · 第16讲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666750" y="2407920"/>
              <a:ext cx="5126736" cy="8191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4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最小支撑树及图应用</a:t>
              </a:r>
            </a:p>
          </p:txBody>
        </p:sp>
        <p:sp>
          <p:nvSpPr>
            <p:cNvPr id="7" name="Rectangle 7"/>
            <p:cNvSpPr/>
            <p:nvPr/>
          </p:nvSpPr>
          <p:spPr>
            <a:xfrm>
              <a:off x="685800" y="3147060"/>
              <a:ext cx="990600" cy="5715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F5FA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676656" y="3467100"/>
              <a:ext cx="462229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用最少的边、最小的代价把所有顶点连起来</a:t>
              </a:r>
            </a:p>
          </p:txBody>
        </p:sp>
        <p:sp>
          <p:nvSpPr>
            <p:cNvPr id="9" name="Ellipse 9"/>
            <p:cNvSpPr/>
            <p:nvPr/>
          </p:nvSpPr>
          <p:spPr>
            <a:xfrm>
              <a:off x="709612" y="3976688"/>
              <a:ext cx="66675" cy="66675"/>
            </a:xfrm>
            <a:prstGeom prst="ellipse">
              <a:avLst/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69442" y="3921442"/>
              <a:ext cx="110413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最小跨边定理</a:t>
              </a:r>
            </a:p>
          </p:txBody>
        </p:sp>
        <p:sp>
          <p:nvSpPr>
            <p:cNvPr id="11" name="Ellipse 11"/>
            <p:cNvSpPr/>
            <p:nvPr/>
          </p:nvSpPr>
          <p:spPr>
            <a:xfrm>
              <a:off x="709612" y="4267200"/>
              <a:ext cx="66675" cy="66675"/>
            </a:xfrm>
            <a:prstGeom prst="ellipse">
              <a:avLst/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869442" y="4211955"/>
              <a:ext cx="119222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Prim 逐点扩张</a:t>
              </a:r>
            </a:p>
          </p:txBody>
        </p:sp>
        <p:sp>
          <p:nvSpPr>
            <p:cNvPr id="13" name="Ellipse 13"/>
            <p:cNvSpPr/>
            <p:nvPr/>
          </p:nvSpPr>
          <p:spPr>
            <a:xfrm>
              <a:off x="709612" y="4557712"/>
              <a:ext cx="66675" cy="66675"/>
            </a:xfrm>
            <a:prstGeom prst="ellipse">
              <a:avLst/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869442" y="4502468"/>
              <a:ext cx="145517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Kruskal 逐边加入</a:t>
              </a:r>
            </a:p>
          </p:txBody>
        </p:sp>
        <p:sp>
          <p:nvSpPr>
            <p:cNvPr id="15" name="Ellipse 15"/>
            <p:cNvSpPr/>
            <p:nvPr/>
          </p:nvSpPr>
          <p:spPr>
            <a:xfrm>
              <a:off x="709612" y="4848225"/>
              <a:ext cx="66675" cy="66675"/>
            </a:xfrm>
            <a:prstGeom prst="ellipse">
              <a:avLst/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869442" y="4792980"/>
              <a:ext cx="146761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强连通分量与缩点</a:t>
              </a:r>
            </a:p>
          </p:txBody>
        </p:sp>
      </p:grpSp>
      <p:grpSp>
        <p:nvGrpSpPr>
          <p:cNvPr id="19" name="cover-credit"/>
          <p:cNvGrpSpPr/>
          <p:nvPr/>
        </p:nvGrpSpPr>
        <p:grpSpPr>
          <a:xfrm>
            <a:off x="680466" y="6192202"/>
            <a:ext cx="4229995" cy="205359"/>
            <a:chOff x="680466" y="6192202"/>
            <a:chExt cx="4229995" cy="205359"/>
          </a:xfrm>
        </p:grpSpPr>
        <p:sp>
          <p:nvSpPr>
            <p:cNvPr id="18" name="TextBox 18"/>
            <p:cNvSpPr txBox="1"/>
            <p:nvPr/>
          </p:nvSpPr>
          <p:spPr>
            <a:xfrm>
              <a:off x="680466" y="6192202"/>
              <a:ext cx="422999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重制讲义 · 自学复习版｜据吉林大学《数据结构》第 16 讲课件整理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2085594" cy="909257"/>
            <a:chOff x="520446" y="342900"/>
            <a:chExt cx="2085594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1471612" cy="26670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24485" y="407194"/>
              <a:ext cx="128848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第16讲 最小支撑树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2085594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本讲学习路线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F5FA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30" name="c1-agenda-1"/>
          <p:cNvGrpSpPr/>
          <p:nvPr/>
        </p:nvGrpSpPr>
        <p:grpSpPr>
          <a:xfrm>
            <a:off x="521970" y="1515428"/>
            <a:ext cx="6287453" cy="4461795"/>
            <a:chOff x="521970" y="1515428"/>
            <a:chExt cx="6287453" cy="4461795"/>
          </a:xfrm>
        </p:grpSpPr>
        <p:sp>
          <p:nvSpPr>
            <p:cNvPr id="7" name="TextBox 7"/>
            <p:cNvSpPr txBox="1"/>
            <p:nvPr/>
          </p:nvSpPr>
          <p:spPr>
            <a:xfrm>
              <a:off x="521970" y="1515428"/>
              <a:ext cx="372704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01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1065086" y="1551622"/>
              <a:ext cx="201587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支撑树与最小支撑树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1066990" y="1868329"/>
              <a:ext cx="399339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n 个顶点 n−1 条边的连通子图，边权和最小的那一棵</a:t>
              </a:r>
            </a:p>
          </p:txBody>
        </p:sp>
        <p:sp>
          <p:nvSpPr>
            <p:cNvPr id="10" name="Rectangle 10"/>
            <p:cNvSpPr/>
            <p:nvPr/>
          </p:nvSpPr>
          <p:spPr>
            <a:xfrm>
              <a:off x="1073468" y="2181225"/>
              <a:ext cx="573595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521970" y="2286952"/>
              <a:ext cx="372704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02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1065086" y="2323148"/>
              <a:ext cx="1349502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最小跨边定理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066990" y="2639854"/>
              <a:ext cx="328691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两个算法共同的正确性依据，用反证法证明</a:t>
              </a:r>
            </a:p>
          </p:txBody>
        </p:sp>
        <p:sp>
          <p:nvSpPr>
            <p:cNvPr id="14" name="Rectangle 14"/>
            <p:cNvSpPr/>
            <p:nvPr/>
          </p:nvSpPr>
          <p:spPr>
            <a:xfrm>
              <a:off x="1073468" y="2953702"/>
              <a:ext cx="573595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521970" y="3058478"/>
              <a:ext cx="372704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03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1065086" y="3094673"/>
              <a:ext cx="1040507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Prim 算法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1066990" y="3412331"/>
              <a:ext cx="465466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从一个点长出去，靠 Lowcost 和 pre 两个数组记住最小跨边</a:t>
              </a:r>
            </a:p>
          </p:txBody>
        </p:sp>
        <p:sp>
          <p:nvSpPr>
            <p:cNvPr id="18" name="Rectangle 18"/>
            <p:cNvSpPr/>
            <p:nvPr/>
          </p:nvSpPr>
          <p:spPr>
            <a:xfrm>
              <a:off x="1073468" y="3725228"/>
              <a:ext cx="573595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521970" y="3830955"/>
              <a:ext cx="372704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04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1065086" y="3867150"/>
              <a:ext cx="1377959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Kruskal 算法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1066990" y="4183856"/>
              <a:ext cx="345922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边排序后逐条试加，用并查集判断会不会成环</a:t>
              </a:r>
            </a:p>
          </p:txBody>
        </p:sp>
        <p:sp>
          <p:nvSpPr>
            <p:cNvPr id="22" name="Rectangle 22"/>
            <p:cNvSpPr/>
            <p:nvPr/>
          </p:nvSpPr>
          <p:spPr>
            <a:xfrm>
              <a:off x="1073468" y="4497705"/>
              <a:ext cx="573595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521970" y="4602480"/>
              <a:ext cx="372704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05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1065086" y="4638675"/>
              <a:ext cx="1127379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强连通分量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1066990" y="4955381"/>
              <a:ext cx="363154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可及矩阵法求分量编号，缩点后得到有向无环图</a:t>
              </a:r>
            </a:p>
          </p:txBody>
        </p:sp>
        <p:sp>
          <p:nvSpPr>
            <p:cNvPr id="26" name="Rectangle 26"/>
            <p:cNvSpPr/>
            <p:nvPr/>
          </p:nvSpPr>
          <p:spPr>
            <a:xfrm>
              <a:off x="1073468" y="5269230"/>
              <a:ext cx="573595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521970" y="5374958"/>
              <a:ext cx="372704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06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1065086" y="5411152"/>
              <a:ext cx="1349502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图的其他应用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1066990" y="5727859"/>
              <a:ext cx="371119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PageRank、拼音输入法、神经网络与贝叶斯网络</a:t>
              </a:r>
            </a:p>
          </p:txBody>
        </p:sp>
      </p:grpSp>
      <p:grpSp>
        <p:nvGrpSpPr>
          <p:cNvPr id="45" name="c2-card-1"/>
          <p:cNvGrpSpPr/>
          <p:nvPr/>
        </p:nvGrpSpPr>
        <p:grpSpPr>
          <a:xfrm>
            <a:off x="7114222" y="1524000"/>
            <a:ext cx="4544378" cy="4402455"/>
            <a:chOff x="7114222" y="1524000"/>
            <a:chExt cx="4544378" cy="4402455"/>
          </a:xfrm>
        </p:grpSpPr>
        <p:sp>
          <p:nvSpPr>
            <p:cNvPr id="31" name="Rectangle 31"/>
            <p:cNvSpPr/>
            <p:nvPr/>
          </p:nvSpPr>
          <p:spPr>
            <a:xfrm>
              <a:off x="7114222" y="1524000"/>
              <a:ext cx="4544378" cy="4402455"/>
            </a:xfrm>
            <a:prstGeom prst="roundRect">
              <a:avLst>
                <a:gd name="adj" fmla="val 3029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32" name="Rectangle 32"/>
            <p:cNvSpPr/>
            <p:nvPr/>
          </p:nvSpPr>
          <p:spPr>
            <a:xfrm>
              <a:off x="7123748" y="1657350"/>
              <a:ext cx="47625" cy="4135755"/>
            </a:xfrm>
            <a:prstGeom prst="roundRect">
              <a:avLst>
                <a:gd name="adj" fmla="val 50000"/>
              </a:avLst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33" name="Rectangle 33"/>
            <p:cNvSpPr/>
            <p:nvPr/>
          </p:nvSpPr>
          <p:spPr>
            <a:xfrm>
              <a:off x="7361872" y="1733550"/>
              <a:ext cx="778192" cy="257175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7443229" y="1769269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学习目标</a:t>
              </a:r>
            </a:p>
          </p:txBody>
        </p:sp>
        <p:sp>
          <p:nvSpPr>
            <p:cNvPr id="35" name="Ellipse 35"/>
            <p:cNvSpPr/>
            <p:nvPr/>
          </p:nvSpPr>
          <p:spPr>
            <a:xfrm>
              <a:off x="7367588" y="2173605"/>
              <a:ext cx="64770" cy="6477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7525702" y="2110740"/>
              <a:ext cx="36347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说出支撑树、最小支撑树、跨集合边、最小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跨边这四个概念的定义</a:t>
              </a:r>
            </a:p>
          </p:txBody>
        </p:sp>
        <p:sp>
          <p:nvSpPr>
            <p:cNvPr id="37" name="Ellipse 37"/>
            <p:cNvSpPr/>
            <p:nvPr/>
          </p:nvSpPr>
          <p:spPr>
            <a:xfrm>
              <a:off x="7367588" y="2794635"/>
              <a:ext cx="64770" cy="6477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7525702" y="2731770"/>
              <a:ext cx="33680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手工执行 Prim 算法，写出每一轮的 S、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Lowcost 和 pre</a:t>
              </a:r>
            </a:p>
          </p:txBody>
        </p:sp>
        <p:sp>
          <p:nvSpPr>
            <p:cNvPr id="39" name="Ellipse 39"/>
            <p:cNvSpPr/>
            <p:nvPr/>
          </p:nvSpPr>
          <p:spPr>
            <a:xfrm>
              <a:off x="7367588" y="3415665"/>
              <a:ext cx="64770" cy="6477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7525702" y="3352800"/>
              <a:ext cx="36728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手工执行 Kruskal 算法，写出每条边的取舍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理由</a:t>
              </a:r>
            </a:p>
          </p:txBody>
        </p:sp>
        <p:sp>
          <p:nvSpPr>
            <p:cNvPr id="41" name="Ellipse 41"/>
            <p:cNvSpPr/>
            <p:nvPr/>
          </p:nvSpPr>
          <p:spPr>
            <a:xfrm>
              <a:off x="7367588" y="4036695"/>
              <a:ext cx="64770" cy="6477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7525702" y="3973830"/>
              <a:ext cx="3758565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给定图的规模判断该用 Prim 还是 Kruskal，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并说清复杂度成立的前提</a:t>
              </a:r>
            </a:p>
          </p:txBody>
        </p:sp>
        <p:sp>
          <p:nvSpPr>
            <p:cNvPr id="43" name="Ellipse 43"/>
            <p:cNvSpPr/>
            <p:nvPr/>
          </p:nvSpPr>
          <p:spPr>
            <a:xfrm>
              <a:off x="7367588" y="4657725"/>
              <a:ext cx="64770" cy="6477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7525702" y="4594860"/>
              <a:ext cx="36347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给定有向图划分出全部强连通分量，并画出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缩点后的有向无环图</a:t>
              </a:r>
            </a:p>
          </p:txBody>
        </p:sp>
      </p:grpSp>
      <p:grpSp>
        <p:nvGrpSpPr>
          <p:cNvPr id="48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46" name="TextBox 46"/>
            <p:cNvSpPr txBox="1"/>
            <p:nvPr/>
          </p:nvSpPr>
          <p:spPr>
            <a:xfrm>
              <a:off x="528447" y="6581299"/>
              <a:ext cx="232523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数据结构 · 第16讲 最小支撑树及图应用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11581087" y="6581299"/>
              <a:ext cx="8246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-disc"/>
          <p:cNvSpPr/>
          <p:nvPr/>
        </p:nvSpPr>
        <p:spPr>
          <a:xfrm>
            <a:off x="7715250" y="571500"/>
            <a:ext cx="5715000" cy="5715000"/>
          </a:xfrm>
          <a:prstGeom prst="ellipse">
            <a:avLst/>
          </a:prstGeom>
          <a:solidFill>
            <a:srgbClr val="1F5FA8"/>
          </a:solidFill>
          <a:ln>
            <a:noFill/>
          </a:ln>
        </p:spPr>
      </p:sp>
      <p:sp>
        <p:nvSpPr>
          <p:cNvPr id="3" name="section-ring"/>
          <p:cNvSpPr/>
          <p:nvPr/>
        </p:nvSpPr>
        <p:spPr>
          <a:xfrm>
            <a:off x="7334250" y="190500"/>
            <a:ext cx="6477000" cy="6477000"/>
          </a:xfrm>
          <a:prstGeom prst="ellipse">
            <a:avLst/>
          </a:prstGeom>
          <a:noFill/>
          <a:ln w="133350">
            <a:solidFill>
              <a:srgbClr val="E6EFF9"/>
            </a:solidFill>
          </a:ln>
        </p:spPr>
      </p:sp>
      <p:grpSp>
        <p:nvGrpSpPr>
          <p:cNvPr id="5" name="section-num"/>
          <p:cNvGrpSpPr/>
          <p:nvPr/>
        </p:nvGrpSpPr>
        <p:grpSpPr>
          <a:xfrm>
            <a:off x="8954033" y="2705100"/>
            <a:ext cx="1903933" cy="2305050"/>
            <a:chOff x="8954033" y="2705100"/>
            <a:chExt cx="1903933" cy="2305050"/>
          </a:xfrm>
        </p:grpSpPr>
        <p:sp>
          <p:nvSpPr>
            <p:cNvPr id="4" name="TextBox 4"/>
            <p:cNvSpPr txBox="1"/>
            <p:nvPr/>
          </p:nvSpPr>
          <p:spPr>
            <a:xfrm>
              <a:off x="8954033" y="2705100"/>
              <a:ext cx="1903933" cy="23050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01</a:t>
              </a:r>
            </a:p>
          </p:txBody>
        </p:sp>
      </p:grpSp>
      <p:grpSp>
        <p:nvGrpSpPr>
          <p:cNvPr id="18" name="section-title"/>
          <p:cNvGrpSpPr/>
          <p:nvPr/>
        </p:nvGrpSpPr>
        <p:grpSpPr>
          <a:xfrm>
            <a:off x="667512" y="1835468"/>
            <a:ext cx="6745891" cy="3923347"/>
            <a:chOff x="667512" y="1835468"/>
            <a:chExt cx="6745891" cy="3923347"/>
          </a:xfrm>
        </p:grpSpPr>
        <p:sp>
          <p:nvSpPr>
            <p:cNvPr id="6" name="TextBox 6"/>
            <p:cNvSpPr txBox="1"/>
            <p:nvPr/>
          </p:nvSpPr>
          <p:spPr>
            <a:xfrm>
              <a:off x="678942" y="1835468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第一部分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667512" y="2240280"/>
              <a:ext cx="6437376" cy="12755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4500"/>
                </a:lnSpc>
              </a:pPr>
              <a:r>
                <a:rPr lang="zh-CN" sz="36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最小支撑树：把所有点连起来的</a:t>
              </a:r>
              <a:br/>
              <a:r>
                <a:rPr lang="zh-CN" sz="36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最省方案</a:t>
              </a:r>
            </a:p>
          </p:txBody>
        </p:sp>
        <p:sp>
          <p:nvSpPr>
            <p:cNvPr id="8" name="Rectangle 8"/>
            <p:cNvSpPr/>
            <p:nvPr/>
          </p:nvSpPr>
          <p:spPr>
            <a:xfrm>
              <a:off x="685800" y="3612832"/>
              <a:ext cx="762000" cy="47625"/>
            </a:xfrm>
            <a:prstGeom prst="roundRect">
              <a:avLst>
                <a:gd name="adj" fmla="val 50000"/>
              </a:avLst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677418" y="3949065"/>
              <a:ext cx="6735985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连通所需的边最少就是 n−1 条，在所有这样的方案里挑边权和最小的</a:t>
              </a:r>
            </a:p>
          </p:txBody>
        </p:sp>
        <p:sp>
          <p:nvSpPr>
            <p:cNvPr id="10" name="Ellipse 10"/>
            <p:cNvSpPr/>
            <p:nvPr/>
          </p:nvSpPr>
          <p:spPr>
            <a:xfrm>
              <a:off x="723900" y="4459605"/>
              <a:ext cx="76200" cy="7620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906780" y="4402455"/>
              <a:ext cx="122682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支撑树的定义</a:t>
              </a:r>
            </a:p>
          </p:txBody>
        </p:sp>
        <p:sp>
          <p:nvSpPr>
            <p:cNvPr id="12" name="Ellipse 12"/>
            <p:cNvSpPr/>
            <p:nvPr/>
          </p:nvSpPr>
          <p:spPr>
            <a:xfrm>
              <a:off x="723900" y="4813935"/>
              <a:ext cx="76200" cy="7620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906780" y="4756785"/>
              <a:ext cx="102489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最小支撑树</a:t>
              </a:r>
            </a:p>
          </p:txBody>
        </p:sp>
        <p:sp>
          <p:nvSpPr>
            <p:cNvPr id="14" name="Ellipse 14"/>
            <p:cNvSpPr/>
            <p:nvPr/>
          </p:nvSpPr>
          <p:spPr>
            <a:xfrm>
              <a:off x="723900" y="5168265"/>
              <a:ext cx="76200" cy="7620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906780" y="5111115"/>
              <a:ext cx="183261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跨集合边与最小跨边</a:t>
              </a:r>
            </a:p>
          </p:txBody>
        </p:sp>
        <p:sp>
          <p:nvSpPr>
            <p:cNvPr id="16" name="Ellipse 16"/>
            <p:cNvSpPr/>
            <p:nvPr/>
          </p:nvSpPr>
          <p:spPr>
            <a:xfrm>
              <a:off x="723900" y="5522595"/>
              <a:ext cx="76200" cy="7620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906780" y="5465445"/>
              <a:ext cx="203454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最小跨边定理及其证明</a:t>
              </a:r>
            </a:p>
          </p:txBody>
        </p:sp>
      </p:grpSp>
      <p:grpSp>
        <p:nvGrpSpPr>
          <p:cNvPr id="21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19" name="TextBox 19"/>
            <p:cNvSpPr txBox="1"/>
            <p:nvPr/>
          </p:nvSpPr>
          <p:spPr>
            <a:xfrm>
              <a:off x="528447" y="6581299"/>
              <a:ext cx="232523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数据结构 · 第16讲 最小支撑树及图应用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11581087" y="6581299"/>
              <a:ext cx="8246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6184369" cy="909257"/>
            <a:chOff x="520446" y="342900"/>
            <a:chExt cx="6184369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4203382" cy="26670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43323" y="407194"/>
              <a:ext cx="418448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第16讲 最小支撑树 · 最小支撑树：把所有点连起来的最省方案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6184369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支撑树：n 个顶点、n−1 条边的连通子图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F5FA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8" name="lead"/>
          <p:cNvGrpSpPr/>
          <p:nvPr/>
        </p:nvGrpSpPr>
        <p:grpSpPr>
          <a:xfrm>
            <a:off x="526542" y="1545907"/>
            <a:ext cx="3103245" cy="264033"/>
            <a:chOff x="526542" y="1545907"/>
            <a:chExt cx="3103245" cy="264033"/>
          </a:xfrm>
        </p:grpSpPr>
        <p:sp>
          <p:nvSpPr>
            <p:cNvPr id="7" name="TextBox 7"/>
            <p:cNvSpPr txBox="1"/>
            <p:nvPr/>
          </p:nvSpPr>
          <p:spPr>
            <a:xfrm>
              <a:off x="526542" y="1545907"/>
              <a:ext cx="310324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本讲的图一律是无向、带权、连通的。</a:t>
              </a:r>
            </a:p>
          </p:txBody>
        </p:sp>
      </p:grpSp>
      <p:grpSp>
        <p:nvGrpSpPr>
          <p:cNvPr id="16" name="c1-card-1"/>
          <p:cNvGrpSpPr/>
          <p:nvPr/>
        </p:nvGrpSpPr>
        <p:grpSpPr>
          <a:xfrm>
            <a:off x="533400" y="1928812"/>
            <a:ext cx="4977765" cy="2017395"/>
            <a:chOff x="533400" y="1928812"/>
            <a:chExt cx="4977765" cy="2017395"/>
          </a:xfrm>
        </p:grpSpPr>
        <p:sp>
          <p:nvSpPr>
            <p:cNvPr id="9" name="Rectangle 9"/>
            <p:cNvSpPr/>
            <p:nvPr/>
          </p:nvSpPr>
          <p:spPr>
            <a:xfrm>
              <a:off x="533400" y="1928812"/>
              <a:ext cx="4977765" cy="2017395"/>
            </a:xfrm>
            <a:prstGeom prst="roundRect">
              <a:avLst>
                <a:gd name="adj" fmla="val 6610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10" name="Rectangle 10"/>
            <p:cNvSpPr/>
            <p:nvPr/>
          </p:nvSpPr>
          <p:spPr>
            <a:xfrm>
              <a:off x="542925" y="2062162"/>
              <a:ext cx="47625" cy="1750695"/>
            </a:xfrm>
            <a:prstGeom prst="roundRect">
              <a:avLst>
                <a:gd name="adj" fmla="val 50000"/>
              </a:avLst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1" name="Rectangle 11"/>
            <p:cNvSpPr/>
            <p:nvPr/>
          </p:nvSpPr>
          <p:spPr>
            <a:xfrm>
              <a:off x="758190" y="2115502"/>
              <a:ext cx="458152" cy="238125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850862" y="2148364"/>
              <a:ext cx="27376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定义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323784" y="2150745"/>
              <a:ext cx="164934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支撑树与最小支撑树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751332" y="2476500"/>
              <a:ext cx="4351401" cy="7783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给定含 n 个顶点的无向带权连通图 G，由 G 中全部 n 个顶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点和其中 n−1 条边构成的连通子图，称为 G 的一棵 </a:t>
              </a:r>
              <a:r>
                <a:rPr lang="zh-CN" sz="135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支撑</a:t>
              </a:r>
              <a:br/>
              <a:r>
                <a:rPr lang="zh-CN" sz="135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树</a:t>
              </a: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（spanning tree，亦称生成树）。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751332" y="3290888"/>
              <a:ext cx="3519868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边权之和最小的支撑树，称为 G 的 </a:t>
              </a:r>
              <a:r>
                <a:rPr lang="zh-CN" sz="135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最小支撑树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（Minimum Spanning Tree，MST）。</a:t>
              </a:r>
            </a:p>
          </p:txBody>
        </p:sp>
      </p:grpSp>
      <p:grpSp>
        <p:nvGrpSpPr>
          <p:cNvPr id="23" name="c1-card-2"/>
          <p:cNvGrpSpPr/>
          <p:nvPr/>
        </p:nvGrpSpPr>
        <p:grpSpPr>
          <a:xfrm>
            <a:off x="533400" y="4115752"/>
            <a:ext cx="4977765" cy="1528762"/>
            <a:chOff x="533400" y="4115752"/>
            <a:chExt cx="4977765" cy="1528762"/>
          </a:xfrm>
        </p:grpSpPr>
        <p:sp>
          <p:nvSpPr>
            <p:cNvPr id="17" name="Rectangle 17"/>
            <p:cNvSpPr/>
            <p:nvPr/>
          </p:nvSpPr>
          <p:spPr>
            <a:xfrm>
              <a:off x="533400" y="4115752"/>
              <a:ext cx="4977765" cy="1528762"/>
            </a:xfrm>
            <a:prstGeom prst="roundRect">
              <a:avLst>
                <a:gd name="adj" fmla="val 8723"/>
              </a:avLst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8" name="Rectangle 18"/>
            <p:cNvSpPr/>
            <p:nvPr/>
          </p:nvSpPr>
          <p:spPr>
            <a:xfrm>
              <a:off x="720090" y="4302442"/>
              <a:ext cx="831532" cy="238125"/>
            </a:xfrm>
            <a:prstGeom prst="roundRect">
              <a:avLst>
                <a:gd name="adj" fmla="val 50000"/>
              </a:avLst>
            </a:prstGeom>
            <a:solidFill>
              <a:srgbClr val="174A85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801560" y="4335304"/>
              <a:ext cx="66954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三句话等价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713232" y="4646295"/>
              <a:ext cx="223365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支撑树包含 G 的全部顶点。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713232" y="4946333"/>
              <a:ext cx="333041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使子图连通所需的边最少，恰好 n−1 条。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713232" y="5247323"/>
              <a:ext cx="457531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n 个点用 n−1 条边连通必然无环，再加一条边就出现环。</a:t>
              </a:r>
            </a:p>
          </p:txBody>
        </p:sp>
      </p:grpSp>
      <p:grpSp>
        <p:nvGrpSpPr>
          <p:cNvPr id="60" name="c2-graph-1"/>
          <p:cNvGrpSpPr/>
          <p:nvPr/>
        </p:nvGrpSpPr>
        <p:grpSpPr>
          <a:xfrm>
            <a:off x="6101715" y="2024062"/>
            <a:ext cx="4919663" cy="2519363"/>
            <a:chOff x="6101715" y="2024062"/>
            <a:chExt cx="4919663" cy="2519363"/>
          </a:xfrm>
        </p:grpSpPr>
        <p:sp>
          <p:nvSpPr>
            <p:cNvPr id="24" name="Freeform 24"/>
            <p:cNvSpPr/>
            <p:nvPr/>
          </p:nvSpPr>
          <p:spPr>
            <a:xfrm>
              <a:off x="6439852" y="2313622"/>
              <a:ext cx="1088707" cy="751522"/>
            </a:xfrm>
            <a:custGeom>
              <a:avLst/>
              <a:gdLst/>
              <a:ahLst/>
              <a:cxnLst/>
              <a:rect l="l" t="t" r="r" b="b"/>
              <a:pathLst>
                <a:path w="1088707" h="751522">
                  <a:moveTo>
                    <a:pt x="0" y="751522"/>
                  </a:moveTo>
                  <a:lnTo>
                    <a:pt x="1088707" y="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25" name="Freeform 25"/>
            <p:cNvSpPr/>
            <p:nvPr/>
          </p:nvSpPr>
          <p:spPr>
            <a:xfrm>
              <a:off x="6473190" y="3173730"/>
              <a:ext cx="2073592" cy="9525"/>
            </a:xfrm>
            <a:custGeom>
              <a:avLst/>
              <a:gdLst/>
              <a:ahLst/>
              <a:cxnLst/>
              <a:rect l="l" t="t" r="r" b="b"/>
              <a:pathLst>
                <a:path w="2073592" h="9525">
                  <a:moveTo>
                    <a:pt x="0" y="0"/>
                  </a:moveTo>
                  <a:lnTo>
                    <a:pt x="2073592" y="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26" name="Freeform 26"/>
            <p:cNvSpPr/>
            <p:nvPr/>
          </p:nvSpPr>
          <p:spPr>
            <a:xfrm>
              <a:off x="6430328" y="3293745"/>
              <a:ext cx="1165860" cy="948690"/>
            </a:xfrm>
            <a:custGeom>
              <a:avLst/>
              <a:gdLst/>
              <a:ahLst/>
              <a:cxnLst/>
              <a:rect l="l" t="t" r="r" b="b"/>
              <a:pathLst>
                <a:path w="1165860" h="948690">
                  <a:moveTo>
                    <a:pt x="0" y="0"/>
                  </a:moveTo>
                  <a:lnTo>
                    <a:pt x="1165860" y="94869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27" name="Freeform 27"/>
            <p:cNvSpPr/>
            <p:nvPr/>
          </p:nvSpPr>
          <p:spPr>
            <a:xfrm>
              <a:off x="7825740" y="2334578"/>
              <a:ext cx="771525" cy="709613"/>
            </a:xfrm>
            <a:custGeom>
              <a:avLst/>
              <a:gdLst/>
              <a:ahLst/>
              <a:cxnLst/>
              <a:rect l="l" t="t" r="r" b="b"/>
              <a:pathLst>
                <a:path w="771525" h="709613">
                  <a:moveTo>
                    <a:pt x="0" y="0"/>
                  </a:moveTo>
                  <a:lnTo>
                    <a:pt x="771525" y="709613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28" name="Freeform 28"/>
            <p:cNvSpPr/>
            <p:nvPr/>
          </p:nvSpPr>
          <p:spPr>
            <a:xfrm>
              <a:off x="7876222" y="2205038"/>
              <a:ext cx="2540317" cy="9525"/>
            </a:xfrm>
            <a:custGeom>
              <a:avLst/>
              <a:gdLst/>
              <a:ahLst/>
              <a:cxnLst/>
              <a:rect l="l" t="t" r="r" b="b"/>
              <a:pathLst>
                <a:path w="2540317" h="9525">
                  <a:moveTo>
                    <a:pt x="0" y="0"/>
                  </a:moveTo>
                  <a:lnTo>
                    <a:pt x="2540317" y="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29" name="Freeform 29"/>
            <p:cNvSpPr/>
            <p:nvPr/>
          </p:nvSpPr>
          <p:spPr>
            <a:xfrm>
              <a:off x="7865745" y="3319462"/>
              <a:ext cx="749618" cy="897255"/>
            </a:xfrm>
            <a:custGeom>
              <a:avLst/>
              <a:gdLst/>
              <a:ahLst/>
              <a:cxnLst/>
              <a:rect l="l" t="t" r="r" b="b"/>
              <a:pathLst>
                <a:path w="749618" h="897255">
                  <a:moveTo>
                    <a:pt x="749618" y="0"/>
                  </a:moveTo>
                  <a:lnTo>
                    <a:pt x="0" y="897255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30" name="Freeform 30"/>
            <p:cNvSpPr/>
            <p:nvPr/>
          </p:nvSpPr>
          <p:spPr>
            <a:xfrm>
              <a:off x="7933372" y="4154805"/>
              <a:ext cx="2717483" cy="194310"/>
            </a:xfrm>
            <a:custGeom>
              <a:avLst/>
              <a:gdLst/>
              <a:ahLst/>
              <a:cxnLst/>
              <a:rect l="l" t="t" r="r" b="b"/>
              <a:pathLst>
                <a:path w="2717483" h="194310">
                  <a:moveTo>
                    <a:pt x="0" y="194310"/>
                  </a:moveTo>
                  <a:lnTo>
                    <a:pt x="2717483" y="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31" name="Freeform 31"/>
            <p:cNvSpPr/>
            <p:nvPr/>
          </p:nvSpPr>
          <p:spPr>
            <a:xfrm>
              <a:off x="10629900" y="2394585"/>
              <a:ext cx="187643" cy="1557337"/>
            </a:xfrm>
            <a:custGeom>
              <a:avLst/>
              <a:gdLst/>
              <a:ahLst/>
              <a:cxnLst/>
              <a:rect l="l" t="t" r="r" b="b"/>
              <a:pathLst>
                <a:path w="187643" h="1557337">
                  <a:moveTo>
                    <a:pt x="0" y="0"/>
                  </a:moveTo>
                  <a:lnTo>
                    <a:pt x="187643" y="1557337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32" name="Ellipse 32"/>
            <p:cNvSpPr/>
            <p:nvPr/>
          </p:nvSpPr>
          <p:spPr>
            <a:xfrm>
              <a:off x="6101715" y="2992755"/>
              <a:ext cx="361950" cy="36195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33" name="Ellipse 33"/>
            <p:cNvSpPr/>
            <p:nvPr/>
          </p:nvSpPr>
          <p:spPr>
            <a:xfrm>
              <a:off x="7504748" y="2024062"/>
              <a:ext cx="361950" cy="36195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34" name="Ellipse 34"/>
            <p:cNvSpPr/>
            <p:nvPr/>
          </p:nvSpPr>
          <p:spPr>
            <a:xfrm>
              <a:off x="8556308" y="2992755"/>
              <a:ext cx="361950" cy="36195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35" name="Ellipse 35"/>
            <p:cNvSpPr/>
            <p:nvPr/>
          </p:nvSpPr>
          <p:spPr>
            <a:xfrm>
              <a:off x="7562850" y="4181475"/>
              <a:ext cx="361950" cy="36195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36" name="Ellipse 36"/>
            <p:cNvSpPr/>
            <p:nvPr/>
          </p:nvSpPr>
          <p:spPr>
            <a:xfrm>
              <a:off x="10426065" y="2024062"/>
              <a:ext cx="361950" cy="36195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37" name="Ellipse 37"/>
            <p:cNvSpPr/>
            <p:nvPr/>
          </p:nvSpPr>
          <p:spPr>
            <a:xfrm>
              <a:off x="10659428" y="3960495"/>
              <a:ext cx="361950" cy="36195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6237487" y="3112294"/>
              <a:ext cx="9040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7640519" y="2144554"/>
              <a:ext cx="9040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B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8692079" y="3112294"/>
              <a:ext cx="9040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7698622" y="4301966"/>
              <a:ext cx="9040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D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10561837" y="2144554"/>
              <a:ext cx="9040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E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10795199" y="4080986"/>
              <a:ext cx="9040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F</a:t>
              </a:r>
            </a:p>
          </p:txBody>
        </p:sp>
        <p:sp>
          <p:nvSpPr>
            <p:cNvPr id="44" name="Rectangle 44"/>
            <p:cNvSpPr/>
            <p:nvPr/>
          </p:nvSpPr>
          <p:spPr>
            <a:xfrm>
              <a:off x="6917055" y="2610802"/>
              <a:ext cx="133350" cy="146685"/>
            </a:xfrm>
            <a:prstGeom prst="roundRect">
              <a:avLst>
                <a:gd name="adj" fmla="val 28571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6948611" y="2639854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46" name="Rectangle 46"/>
            <p:cNvSpPr/>
            <p:nvPr/>
          </p:nvSpPr>
          <p:spPr>
            <a:xfrm>
              <a:off x="7443788" y="3094672"/>
              <a:ext cx="133350" cy="146685"/>
            </a:xfrm>
            <a:prstGeom prst="roundRect">
              <a:avLst>
                <a:gd name="adj" fmla="val 28571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47" name="TextBox 47"/>
            <p:cNvSpPr txBox="1"/>
            <p:nvPr/>
          </p:nvSpPr>
          <p:spPr>
            <a:xfrm>
              <a:off x="7475343" y="3123724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48" name="Rectangle 48"/>
            <p:cNvSpPr/>
            <p:nvPr/>
          </p:nvSpPr>
          <p:spPr>
            <a:xfrm>
              <a:off x="6946582" y="3689032"/>
              <a:ext cx="133350" cy="146685"/>
            </a:xfrm>
            <a:prstGeom prst="roundRect">
              <a:avLst>
                <a:gd name="adj" fmla="val 28571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49" name="TextBox 49"/>
            <p:cNvSpPr txBox="1"/>
            <p:nvPr/>
          </p:nvSpPr>
          <p:spPr>
            <a:xfrm>
              <a:off x="6978138" y="3719036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8</a:t>
              </a:r>
            </a:p>
          </p:txBody>
        </p:sp>
        <p:sp>
          <p:nvSpPr>
            <p:cNvPr id="50" name="Rectangle 50"/>
            <p:cNvSpPr/>
            <p:nvPr/>
          </p:nvSpPr>
          <p:spPr>
            <a:xfrm>
              <a:off x="8144828" y="2610802"/>
              <a:ext cx="133350" cy="146685"/>
            </a:xfrm>
            <a:prstGeom prst="roundRect">
              <a:avLst>
                <a:gd name="adj" fmla="val 28571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51" name="TextBox 51"/>
            <p:cNvSpPr txBox="1"/>
            <p:nvPr/>
          </p:nvSpPr>
          <p:spPr>
            <a:xfrm>
              <a:off x="8176383" y="2639854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52" name="Rectangle 52"/>
            <p:cNvSpPr/>
            <p:nvPr/>
          </p:nvSpPr>
          <p:spPr>
            <a:xfrm>
              <a:off x="9079230" y="2126932"/>
              <a:ext cx="133350" cy="146685"/>
            </a:xfrm>
            <a:prstGeom prst="roundRect">
              <a:avLst>
                <a:gd name="adj" fmla="val 28571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53" name="TextBox 53"/>
            <p:cNvSpPr txBox="1"/>
            <p:nvPr/>
          </p:nvSpPr>
          <p:spPr>
            <a:xfrm>
              <a:off x="9110786" y="2155984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54" name="Rectangle 54"/>
            <p:cNvSpPr/>
            <p:nvPr/>
          </p:nvSpPr>
          <p:spPr>
            <a:xfrm>
              <a:off x="8144828" y="3689032"/>
              <a:ext cx="190500" cy="146685"/>
            </a:xfrm>
            <a:prstGeom prst="roundRect">
              <a:avLst>
                <a:gd name="adj" fmla="val 25974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55" name="TextBox 55"/>
            <p:cNvSpPr txBox="1"/>
            <p:nvPr/>
          </p:nvSpPr>
          <p:spPr>
            <a:xfrm>
              <a:off x="8174601" y="3719036"/>
              <a:ext cx="130952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10</a:t>
              </a:r>
            </a:p>
          </p:txBody>
        </p:sp>
        <p:sp>
          <p:nvSpPr>
            <p:cNvPr id="56" name="Rectangle 56"/>
            <p:cNvSpPr/>
            <p:nvPr/>
          </p:nvSpPr>
          <p:spPr>
            <a:xfrm>
              <a:off x="9225915" y="4173855"/>
              <a:ext cx="133350" cy="146685"/>
            </a:xfrm>
            <a:prstGeom prst="roundRect">
              <a:avLst>
                <a:gd name="adj" fmla="val 28571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57" name="TextBox 57"/>
            <p:cNvSpPr txBox="1"/>
            <p:nvPr/>
          </p:nvSpPr>
          <p:spPr>
            <a:xfrm>
              <a:off x="9257471" y="4202906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6</a:t>
              </a:r>
            </a:p>
          </p:txBody>
        </p:sp>
        <p:sp>
          <p:nvSpPr>
            <p:cNvPr id="58" name="Rectangle 58"/>
            <p:cNvSpPr/>
            <p:nvPr/>
          </p:nvSpPr>
          <p:spPr>
            <a:xfrm>
              <a:off x="10627995" y="3094672"/>
              <a:ext cx="190500" cy="146685"/>
            </a:xfrm>
            <a:prstGeom prst="roundRect">
              <a:avLst>
                <a:gd name="adj" fmla="val 25974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59" name="TextBox 59"/>
            <p:cNvSpPr txBox="1"/>
            <p:nvPr/>
          </p:nvSpPr>
          <p:spPr>
            <a:xfrm>
              <a:off x="10657769" y="3123724"/>
              <a:ext cx="130952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12</a:t>
              </a:r>
            </a:p>
          </p:txBody>
        </p:sp>
      </p:grpSp>
      <p:grpSp>
        <p:nvGrpSpPr>
          <p:cNvPr id="67" name="c2-callout-2"/>
          <p:cNvGrpSpPr/>
          <p:nvPr/>
        </p:nvGrpSpPr>
        <p:grpSpPr>
          <a:xfrm>
            <a:off x="5815965" y="4864418"/>
            <a:ext cx="5842635" cy="780098"/>
            <a:chOff x="5815965" y="4864418"/>
            <a:chExt cx="5842635" cy="780098"/>
          </a:xfrm>
        </p:grpSpPr>
        <p:sp>
          <p:nvSpPr>
            <p:cNvPr id="61" name="Rectangle 61"/>
            <p:cNvSpPr/>
            <p:nvPr/>
          </p:nvSpPr>
          <p:spPr>
            <a:xfrm>
              <a:off x="5815965" y="4864418"/>
              <a:ext cx="5842635" cy="780098"/>
            </a:xfrm>
            <a:prstGeom prst="roundRect">
              <a:avLst>
                <a:gd name="adj" fmla="val 14652"/>
              </a:avLst>
            </a:prstGeom>
            <a:solidFill>
              <a:srgbClr val="F4F6FB"/>
            </a:solidFill>
            <a:ln>
              <a:noFill/>
            </a:ln>
          </p:spPr>
        </p:sp>
        <p:grpSp>
          <p:nvGrpSpPr>
            <p:cNvPr id="65" name="Group 65"/>
            <p:cNvGrpSpPr/>
            <p:nvPr/>
          </p:nvGrpSpPr>
          <p:grpSpPr>
            <a:xfrm>
              <a:off x="6020753" y="5154930"/>
              <a:ext cx="200026" cy="200026"/>
              <a:chOff x="6020753" y="5154930"/>
              <a:chExt cx="200026" cy="200026"/>
            </a:xfrm>
          </p:grpSpPr>
          <p:sp>
            <p:nvSpPr>
              <p:cNvPr id="62" name="Freeform 62"/>
              <p:cNvSpPr/>
              <p:nvPr/>
            </p:nvSpPr>
            <p:spPr>
              <a:xfrm>
                <a:off x="6020753" y="5154930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63" name="Freeform 63"/>
              <p:cNvSpPr/>
              <p:nvPr/>
            </p:nvSpPr>
            <p:spPr>
              <a:xfrm>
                <a:off x="6120765" y="5221605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64" name="Freeform 64"/>
              <p:cNvSpPr/>
              <p:nvPr/>
            </p:nvSpPr>
            <p:spPr>
              <a:xfrm>
                <a:off x="6109653" y="5254943"/>
                <a:ext cx="222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22225" h="44450">
                    <a:moveTo>
                      <a:pt x="0" y="0"/>
                    </a:moveTo>
                    <a:lnTo>
                      <a:pt x="11113" y="0"/>
                    </a:lnTo>
                    <a:lnTo>
                      <a:pt x="11113" y="44450"/>
                    </a:lnTo>
                    <a:lnTo>
                      <a:pt x="22225" y="4445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</p:grpSp>
        <p:sp>
          <p:nvSpPr>
            <p:cNvPr id="66" name="TextBox 66"/>
            <p:cNvSpPr txBox="1"/>
            <p:nvPr/>
          </p:nvSpPr>
          <p:spPr>
            <a:xfrm>
              <a:off x="6323457" y="5035868"/>
              <a:ext cx="4908614" cy="51263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58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无向带权连通图 G，6 个顶点 8 条边。它一共有 32 棵支撑树，下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一页取其中三棵作对照。</a:t>
              </a:r>
            </a:p>
          </p:txBody>
        </p:sp>
      </p:grpSp>
      <p:grpSp>
        <p:nvGrpSpPr>
          <p:cNvPr id="73" name="takeaway"/>
          <p:cNvGrpSpPr/>
          <p:nvPr/>
        </p:nvGrpSpPr>
        <p:grpSpPr>
          <a:xfrm>
            <a:off x="533400" y="5881688"/>
            <a:ext cx="11125200" cy="481012"/>
            <a:chOff x="533400" y="5881688"/>
            <a:chExt cx="11125200" cy="481012"/>
          </a:xfrm>
        </p:grpSpPr>
        <p:sp>
          <p:nvSpPr>
            <p:cNvPr id="68" name="Rectangle 68"/>
            <p:cNvSpPr/>
            <p:nvPr/>
          </p:nvSpPr>
          <p:spPr>
            <a:xfrm>
              <a:off x="533400" y="5881688"/>
              <a:ext cx="11125200" cy="481012"/>
            </a:xfrm>
            <a:prstGeom prst="roundRect">
              <a:avLst>
                <a:gd name="adj" fmla="val 23762"/>
              </a:avLst>
            </a:prstGeom>
            <a:solidFill>
              <a:srgbClr val="1F5FA8"/>
            </a:solidFill>
            <a:ln>
              <a:noFill/>
            </a:ln>
          </p:spPr>
        </p:sp>
        <p:grpSp>
          <p:nvGrpSpPr>
            <p:cNvPr id="71" name="Group 71"/>
            <p:cNvGrpSpPr/>
            <p:nvPr/>
          </p:nvGrpSpPr>
          <p:grpSpPr>
            <a:xfrm>
              <a:off x="738188" y="6022660"/>
              <a:ext cx="200023" cy="200023"/>
              <a:chOff x="738188" y="6022660"/>
              <a:chExt cx="200023" cy="200023"/>
            </a:xfrm>
          </p:grpSpPr>
          <p:sp>
            <p:nvSpPr>
              <p:cNvPr id="69" name="Freeform 69"/>
              <p:cNvSpPr/>
              <p:nvPr/>
            </p:nvSpPr>
            <p:spPr>
              <a:xfrm>
                <a:off x="738188" y="6022660"/>
                <a:ext cx="200023" cy="200023"/>
              </a:xfrm>
              <a:custGeom>
                <a:avLst/>
                <a:gdLst/>
                <a:ahLst/>
                <a:cxnLst/>
                <a:rect l="l" t="t" r="r" b="b"/>
                <a:pathLst>
                  <a:path w="200023" h="200023">
                    <a:moveTo>
                      <a:pt x="150630" y="9366"/>
                    </a:moveTo>
                    <a:lnTo>
                      <a:pt x="190658" y="49393"/>
                    </a:lnTo>
                    <a:cubicBezTo>
                      <a:pt x="196654" y="55389"/>
                      <a:pt x="200023" y="63522"/>
                      <a:pt x="200023" y="72002"/>
                    </a:cubicBezTo>
                    <a:cubicBezTo>
                      <a:pt x="200023" y="80482"/>
                      <a:pt x="196654" y="88614"/>
                      <a:pt x="190658" y="94610"/>
                    </a:cubicBezTo>
                    <a:lnTo>
                      <a:pt x="161287" y="123980"/>
                    </a:lnTo>
                    <a:cubicBezTo>
                      <a:pt x="155291" y="129977"/>
                      <a:pt x="147159" y="133346"/>
                      <a:pt x="138679" y="133346"/>
                    </a:cubicBezTo>
                    <a:cubicBezTo>
                      <a:pt x="130199" y="133346"/>
                      <a:pt x="122066" y="129977"/>
                      <a:pt x="116070" y="123980"/>
                    </a:cubicBezTo>
                    <a:lnTo>
                      <a:pt x="112726" y="120636"/>
                    </a:lnTo>
                    <a:lnTo>
                      <a:pt x="39850" y="193511"/>
                    </a:lnTo>
                    <a:cubicBezTo>
                      <a:pt x="36157" y="197203"/>
                      <a:pt x="31283" y="199477"/>
                      <a:pt x="26081" y="199935"/>
                    </a:cubicBezTo>
                    <a:lnTo>
                      <a:pt x="24136" y="200023"/>
                    </a:lnTo>
                    <a:lnTo>
                      <a:pt x="11113" y="200023"/>
                    </a:lnTo>
                    <a:cubicBezTo>
                      <a:pt x="5479" y="200023"/>
                      <a:pt x="737" y="195806"/>
                      <a:pt x="78" y="190211"/>
                    </a:cubicBezTo>
                    <a:lnTo>
                      <a:pt x="0" y="188911"/>
                    </a:lnTo>
                    <a:lnTo>
                      <a:pt x="0" y="175887"/>
                    </a:lnTo>
                    <a:cubicBezTo>
                      <a:pt x="1" y="170669"/>
                      <a:pt x="1838" y="165618"/>
                      <a:pt x="5190" y="161619"/>
                    </a:cubicBezTo>
                    <a:lnTo>
                      <a:pt x="6512" y="160174"/>
                    </a:lnTo>
                    <a:lnTo>
                      <a:pt x="11113" y="155573"/>
                    </a:lnTo>
                    <a:lnTo>
                      <a:pt x="33338" y="155573"/>
                    </a:lnTo>
                    <a:lnTo>
                      <a:pt x="33338" y="133348"/>
                    </a:lnTo>
                    <a:lnTo>
                      <a:pt x="55563" y="133348"/>
                    </a:lnTo>
                    <a:lnTo>
                      <a:pt x="55563" y="111123"/>
                    </a:lnTo>
                    <a:lnTo>
                      <a:pt x="79388" y="87298"/>
                    </a:lnTo>
                    <a:lnTo>
                      <a:pt x="76043" y="83953"/>
                    </a:lnTo>
                    <a:cubicBezTo>
                      <a:pt x="70046" y="77957"/>
                      <a:pt x="66677" y="69825"/>
                      <a:pt x="66677" y="61345"/>
                    </a:cubicBezTo>
                    <a:cubicBezTo>
                      <a:pt x="66677" y="52865"/>
                      <a:pt x="70046" y="44732"/>
                      <a:pt x="76043" y="38736"/>
                    </a:cubicBezTo>
                    <a:lnTo>
                      <a:pt x="105413" y="9366"/>
                    </a:lnTo>
                    <a:cubicBezTo>
                      <a:pt x="111409" y="3369"/>
                      <a:pt x="119542" y="0"/>
                      <a:pt x="128022" y="0"/>
                    </a:cubicBezTo>
                    <a:cubicBezTo>
                      <a:pt x="136502" y="0"/>
                      <a:pt x="144635" y="3369"/>
                      <a:pt x="150630" y="9366"/>
                    </a:cubicBez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70" name="Freeform 70"/>
              <p:cNvSpPr/>
              <p:nvPr/>
            </p:nvSpPr>
            <p:spPr>
              <a:xfrm>
                <a:off x="871538" y="6089333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</p:grpSp>
        <p:sp>
          <p:nvSpPr>
            <p:cNvPr id="72" name="TextBox 72"/>
            <p:cNvSpPr txBox="1"/>
            <p:nvPr/>
          </p:nvSpPr>
          <p:spPr>
            <a:xfrm>
              <a:off x="1040892" y="6028373"/>
              <a:ext cx="818279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判断一个子图是不是支撑树，看三件事：点全、边数等于 n−1、连通。三者满足两条就能推出第三条。</a:t>
              </a:r>
            </a:p>
          </p:txBody>
        </p:sp>
      </p:grpSp>
      <p:grpSp>
        <p:nvGrpSpPr>
          <p:cNvPr id="76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74" name="TextBox 74"/>
            <p:cNvSpPr txBox="1"/>
            <p:nvPr/>
          </p:nvSpPr>
          <p:spPr>
            <a:xfrm>
              <a:off x="528447" y="6581299"/>
              <a:ext cx="232523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数据结构 · 第16讲 最小支撑树及图应用</a:t>
              </a:r>
            </a:p>
          </p:txBody>
        </p:sp>
        <p:sp>
          <p:nvSpPr>
            <p:cNvPr id="75" name="TextBox 75"/>
            <p:cNvSpPr txBox="1"/>
            <p:nvPr/>
          </p:nvSpPr>
          <p:spPr>
            <a:xfrm>
              <a:off x="11581087" y="6581299"/>
              <a:ext cx="8246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7504285" cy="909257"/>
            <a:chOff x="520446" y="342900"/>
            <a:chExt cx="7504285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4203382" cy="26670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43323" y="407194"/>
              <a:ext cx="418448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第16讲 最小支撑树 · 最小支撑树：把所有点连起来的最省方案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7504285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同一张图的 32 棵支撑树，边权和最小的只有一棵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F5FA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8" name="lead"/>
          <p:cNvGrpSpPr/>
          <p:nvPr/>
        </p:nvGrpSpPr>
        <p:grpSpPr>
          <a:xfrm>
            <a:off x="525399" y="1550194"/>
            <a:ext cx="6981914" cy="308039"/>
            <a:chOff x="525399" y="1550194"/>
            <a:chExt cx="6981914" cy="308039"/>
          </a:xfrm>
        </p:grpSpPr>
        <p:sp>
          <p:nvSpPr>
            <p:cNvPr id="7" name="TextBox 7"/>
            <p:cNvSpPr txBox="1"/>
            <p:nvPr/>
          </p:nvSpPr>
          <p:spPr>
            <a:xfrm>
              <a:off x="525399" y="1550194"/>
              <a:ext cx="6981914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顶点集合完全一样，差别只在选了哪 5 条边。边权和分别是 37、26、23。</a:t>
              </a:r>
            </a:p>
          </p:txBody>
        </p:sp>
      </p:grpSp>
      <p:grpSp>
        <p:nvGrpSpPr>
          <p:cNvPr id="36" name="c1-graph-1"/>
          <p:cNvGrpSpPr/>
          <p:nvPr/>
        </p:nvGrpSpPr>
        <p:grpSpPr>
          <a:xfrm>
            <a:off x="670560" y="2082165"/>
            <a:ext cx="3020378" cy="2291715"/>
            <a:chOff x="670560" y="2082165"/>
            <a:chExt cx="3020378" cy="2291715"/>
          </a:xfrm>
        </p:grpSpPr>
        <p:sp>
          <p:nvSpPr>
            <p:cNvPr id="9" name="Freeform 9"/>
            <p:cNvSpPr/>
            <p:nvPr/>
          </p:nvSpPr>
          <p:spPr>
            <a:xfrm>
              <a:off x="922020" y="2331720"/>
              <a:ext cx="694372" cy="685800"/>
            </a:xfrm>
            <a:custGeom>
              <a:avLst/>
              <a:gdLst/>
              <a:ahLst/>
              <a:cxnLst/>
              <a:rect l="l" t="t" r="r" b="b"/>
              <a:pathLst>
                <a:path w="694372" h="685800">
                  <a:moveTo>
                    <a:pt x="0" y="685800"/>
                  </a:moveTo>
                  <a:lnTo>
                    <a:pt x="694372" y="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10" name="Freeform 10"/>
            <p:cNvSpPr/>
            <p:nvPr/>
          </p:nvSpPr>
          <p:spPr>
            <a:xfrm>
              <a:off x="1812608" y="2349818"/>
              <a:ext cx="456247" cy="650558"/>
            </a:xfrm>
            <a:custGeom>
              <a:avLst/>
              <a:gdLst/>
              <a:ahLst/>
              <a:cxnLst/>
              <a:rect l="l" t="t" r="r" b="b"/>
              <a:pathLst>
                <a:path w="456247" h="650558">
                  <a:moveTo>
                    <a:pt x="0" y="0"/>
                  </a:moveTo>
                  <a:lnTo>
                    <a:pt x="456247" y="650558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11" name="Freeform 11"/>
            <p:cNvSpPr/>
            <p:nvPr/>
          </p:nvSpPr>
          <p:spPr>
            <a:xfrm>
              <a:off x="1736408" y="3253740"/>
              <a:ext cx="538162" cy="847725"/>
            </a:xfrm>
            <a:custGeom>
              <a:avLst/>
              <a:gdLst/>
              <a:ahLst/>
              <a:cxnLst/>
              <a:rect l="l" t="t" r="r" b="b"/>
              <a:pathLst>
                <a:path w="538162" h="847725">
                  <a:moveTo>
                    <a:pt x="538162" y="0"/>
                  </a:moveTo>
                  <a:lnTo>
                    <a:pt x="0" y="847725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12" name="Freeform 12"/>
            <p:cNvSpPr/>
            <p:nvPr/>
          </p:nvSpPr>
          <p:spPr>
            <a:xfrm>
              <a:off x="1806892" y="4041458"/>
              <a:ext cx="1589723" cy="172402"/>
            </a:xfrm>
            <a:custGeom>
              <a:avLst/>
              <a:gdLst/>
              <a:ahLst/>
              <a:cxnLst/>
              <a:rect l="l" t="t" r="r" b="b"/>
              <a:pathLst>
                <a:path w="1589723" h="172402">
                  <a:moveTo>
                    <a:pt x="0" y="172402"/>
                  </a:moveTo>
                  <a:lnTo>
                    <a:pt x="1589723" y="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13" name="Freeform 13"/>
            <p:cNvSpPr/>
            <p:nvPr/>
          </p:nvSpPr>
          <p:spPr>
            <a:xfrm>
              <a:off x="3483292" y="2376488"/>
              <a:ext cx="59055" cy="1496378"/>
            </a:xfrm>
            <a:custGeom>
              <a:avLst/>
              <a:gdLst/>
              <a:ahLst/>
              <a:cxnLst/>
              <a:rect l="l" t="t" r="r" b="b"/>
              <a:pathLst>
                <a:path w="59055" h="1496378">
                  <a:moveTo>
                    <a:pt x="0" y="0"/>
                  </a:moveTo>
                  <a:lnTo>
                    <a:pt x="59055" y="1496378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14" name="Ellipse 14"/>
            <p:cNvSpPr/>
            <p:nvPr/>
          </p:nvSpPr>
          <p:spPr>
            <a:xfrm>
              <a:off x="670560" y="2982278"/>
              <a:ext cx="285750" cy="28575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15" name="Ellipse 15"/>
            <p:cNvSpPr/>
            <p:nvPr/>
          </p:nvSpPr>
          <p:spPr>
            <a:xfrm>
              <a:off x="1582102" y="2082165"/>
              <a:ext cx="285750" cy="28575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16" name="Ellipse 16"/>
            <p:cNvSpPr/>
            <p:nvPr/>
          </p:nvSpPr>
          <p:spPr>
            <a:xfrm>
              <a:off x="2213610" y="2982278"/>
              <a:ext cx="285750" cy="28575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17" name="Ellipse 17"/>
            <p:cNvSpPr/>
            <p:nvPr/>
          </p:nvSpPr>
          <p:spPr>
            <a:xfrm>
              <a:off x="1512570" y="4088130"/>
              <a:ext cx="285750" cy="28575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18" name="Ellipse 18"/>
            <p:cNvSpPr/>
            <p:nvPr/>
          </p:nvSpPr>
          <p:spPr>
            <a:xfrm>
              <a:off x="3334702" y="2082165"/>
              <a:ext cx="285750" cy="28575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19" name="Ellipse 19"/>
            <p:cNvSpPr/>
            <p:nvPr/>
          </p:nvSpPr>
          <p:spPr>
            <a:xfrm>
              <a:off x="3405188" y="3882390"/>
              <a:ext cx="285750" cy="28575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768232" y="3063716"/>
              <a:ext cx="9040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1679774" y="2163604"/>
              <a:ext cx="9040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B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2311282" y="3063716"/>
              <a:ext cx="9040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1610242" y="4169569"/>
              <a:ext cx="9040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D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3432374" y="2163604"/>
              <a:ext cx="9040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E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3502859" y="3963829"/>
              <a:ext cx="9040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F</a:t>
              </a:r>
            </a:p>
          </p:txBody>
        </p:sp>
        <p:sp>
          <p:nvSpPr>
            <p:cNvPr id="26" name="Rectangle 26"/>
            <p:cNvSpPr/>
            <p:nvPr/>
          </p:nvSpPr>
          <p:spPr>
            <a:xfrm>
              <a:off x="1203008" y="2596515"/>
              <a:ext cx="133350" cy="146685"/>
            </a:xfrm>
            <a:prstGeom prst="roundRect">
              <a:avLst>
                <a:gd name="adj" fmla="val 28571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1234563" y="2625566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28" name="Rectangle 28"/>
            <p:cNvSpPr/>
            <p:nvPr/>
          </p:nvSpPr>
          <p:spPr>
            <a:xfrm>
              <a:off x="1973580" y="2596515"/>
              <a:ext cx="133350" cy="146685"/>
            </a:xfrm>
            <a:prstGeom prst="roundRect">
              <a:avLst>
                <a:gd name="adj" fmla="val 28571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2005136" y="2625566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30" name="Rectangle 30"/>
            <p:cNvSpPr/>
            <p:nvPr/>
          </p:nvSpPr>
          <p:spPr>
            <a:xfrm>
              <a:off x="1909762" y="3599498"/>
              <a:ext cx="190500" cy="146685"/>
            </a:xfrm>
            <a:prstGeom prst="roundRect">
              <a:avLst>
                <a:gd name="adj" fmla="val 25974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1940489" y="3628549"/>
              <a:ext cx="130952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10</a:t>
              </a:r>
            </a:p>
          </p:txBody>
        </p:sp>
        <p:sp>
          <p:nvSpPr>
            <p:cNvPr id="32" name="Rectangle 32"/>
            <p:cNvSpPr/>
            <p:nvPr/>
          </p:nvSpPr>
          <p:spPr>
            <a:xfrm>
              <a:off x="2534602" y="4049078"/>
              <a:ext cx="133350" cy="146685"/>
            </a:xfrm>
            <a:prstGeom prst="roundRect">
              <a:avLst>
                <a:gd name="adj" fmla="val 28571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2566158" y="4078129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6</a:t>
              </a:r>
            </a:p>
          </p:txBody>
        </p:sp>
        <p:sp>
          <p:nvSpPr>
            <p:cNvPr id="34" name="Rectangle 34"/>
            <p:cNvSpPr/>
            <p:nvPr/>
          </p:nvSpPr>
          <p:spPr>
            <a:xfrm>
              <a:off x="3417570" y="3046095"/>
              <a:ext cx="190500" cy="146685"/>
            </a:xfrm>
            <a:prstGeom prst="roundRect">
              <a:avLst>
                <a:gd name="adj" fmla="val 25974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3447344" y="3075146"/>
              <a:ext cx="130952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12</a:t>
              </a:r>
            </a:p>
          </p:txBody>
        </p:sp>
      </p:grpSp>
      <p:grpSp>
        <p:nvGrpSpPr>
          <p:cNvPr id="38" name="c1-text-2"/>
          <p:cNvGrpSpPr/>
          <p:nvPr/>
        </p:nvGrpSpPr>
        <p:grpSpPr>
          <a:xfrm>
            <a:off x="1469649" y="4750594"/>
            <a:ext cx="1632702" cy="249364"/>
            <a:chOff x="1469649" y="4750594"/>
            <a:chExt cx="1632702" cy="249364"/>
          </a:xfrm>
        </p:grpSpPr>
        <p:sp>
          <p:nvSpPr>
            <p:cNvPr id="37" name="TextBox 37"/>
            <p:cNvSpPr txBox="1"/>
            <p:nvPr/>
          </p:nvSpPr>
          <p:spPr>
            <a:xfrm>
              <a:off x="1469649" y="4750594"/>
              <a:ext cx="163270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支撑树甲　边权和 37</a:t>
              </a:r>
            </a:p>
          </p:txBody>
        </p:sp>
      </p:grpSp>
      <p:grpSp>
        <p:nvGrpSpPr>
          <p:cNvPr id="66" name="c2-graph-1"/>
          <p:cNvGrpSpPr/>
          <p:nvPr/>
        </p:nvGrpSpPr>
        <p:grpSpPr>
          <a:xfrm>
            <a:off x="4480560" y="2082165"/>
            <a:ext cx="3020378" cy="2291715"/>
            <a:chOff x="4480560" y="2082165"/>
            <a:chExt cx="3020378" cy="2291715"/>
          </a:xfrm>
        </p:grpSpPr>
        <p:sp>
          <p:nvSpPr>
            <p:cNvPr id="39" name="Freeform 39"/>
            <p:cNvSpPr/>
            <p:nvPr/>
          </p:nvSpPr>
          <p:spPr>
            <a:xfrm>
              <a:off x="4775835" y="3125152"/>
              <a:ext cx="1238250" cy="9525"/>
            </a:xfrm>
            <a:custGeom>
              <a:avLst/>
              <a:gdLst/>
              <a:ahLst/>
              <a:cxnLst/>
              <a:rect l="l" t="t" r="r" b="b"/>
              <a:pathLst>
                <a:path w="1238250" h="9525">
                  <a:moveTo>
                    <a:pt x="0" y="0"/>
                  </a:moveTo>
                  <a:lnTo>
                    <a:pt x="1238250" y="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40" name="Freeform 40"/>
            <p:cNvSpPr/>
            <p:nvPr/>
          </p:nvSpPr>
          <p:spPr>
            <a:xfrm>
              <a:off x="5622608" y="2349818"/>
              <a:ext cx="456248" cy="650558"/>
            </a:xfrm>
            <a:custGeom>
              <a:avLst/>
              <a:gdLst/>
              <a:ahLst/>
              <a:cxnLst/>
              <a:rect l="l" t="t" r="r" b="b"/>
              <a:pathLst>
                <a:path w="456248" h="650558">
                  <a:moveTo>
                    <a:pt x="0" y="0"/>
                  </a:moveTo>
                  <a:lnTo>
                    <a:pt x="456248" y="650558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41" name="Freeform 41"/>
            <p:cNvSpPr/>
            <p:nvPr/>
          </p:nvSpPr>
          <p:spPr>
            <a:xfrm>
              <a:off x="5687378" y="2225040"/>
              <a:ext cx="1447800" cy="9525"/>
            </a:xfrm>
            <a:custGeom>
              <a:avLst/>
              <a:gdLst/>
              <a:ahLst/>
              <a:cxnLst/>
              <a:rect l="l" t="t" r="r" b="b"/>
              <a:pathLst>
                <a:path w="1447800" h="9525">
                  <a:moveTo>
                    <a:pt x="0" y="0"/>
                  </a:moveTo>
                  <a:lnTo>
                    <a:pt x="1447800" y="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42" name="Freeform 42"/>
            <p:cNvSpPr/>
            <p:nvPr/>
          </p:nvSpPr>
          <p:spPr>
            <a:xfrm>
              <a:off x="5546408" y="3253740"/>
              <a:ext cx="538162" cy="847725"/>
            </a:xfrm>
            <a:custGeom>
              <a:avLst/>
              <a:gdLst/>
              <a:ahLst/>
              <a:cxnLst/>
              <a:rect l="l" t="t" r="r" b="b"/>
              <a:pathLst>
                <a:path w="538162" h="847725">
                  <a:moveTo>
                    <a:pt x="538162" y="0"/>
                  </a:moveTo>
                  <a:lnTo>
                    <a:pt x="0" y="847725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43" name="Freeform 43"/>
            <p:cNvSpPr/>
            <p:nvPr/>
          </p:nvSpPr>
          <p:spPr>
            <a:xfrm>
              <a:off x="5616892" y="4041458"/>
              <a:ext cx="1589722" cy="172402"/>
            </a:xfrm>
            <a:custGeom>
              <a:avLst/>
              <a:gdLst/>
              <a:ahLst/>
              <a:cxnLst/>
              <a:rect l="l" t="t" r="r" b="b"/>
              <a:pathLst>
                <a:path w="1589722" h="172402">
                  <a:moveTo>
                    <a:pt x="0" y="172402"/>
                  </a:moveTo>
                  <a:lnTo>
                    <a:pt x="1589722" y="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44" name="Ellipse 44"/>
            <p:cNvSpPr/>
            <p:nvPr/>
          </p:nvSpPr>
          <p:spPr>
            <a:xfrm>
              <a:off x="4480560" y="2982278"/>
              <a:ext cx="285750" cy="28575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45" name="Ellipse 45"/>
            <p:cNvSpPr/>
            <p:nvPr/>
          </p:nvSpPr>
          <p:spPr>
            <a:xfrm>
              <a:off x="5392102" y="2082165"/>
              <a:ext cx="285750" cy="28575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46" name="Ellipse 46"/>
            <p:cNvSpPr/>
            <p:nvPr/>
          </p:nvSpPr>
          <p:spPr>
            <a:xfrm>
              <a:off x="6023610" y="2982278"/>
              <a:ext cx="285750" cy="28575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47" name="Ellipse 47"/>
            <p:cNvSpPr/>
            <p:nvPr/>
          </p:nvSpPr>
          <p:spPr>
            <a:xfrm>
              <a:off x="5322570" y="4088130"/>
              <a:ext cx="285750" cy="28575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48" name="Ellipse 48"/>
            <p:cNvSpPr/>
            <p:nvPr/>
          </p:nvSpPr>
          <p:spPr>
            <a:xfrm>
              <a:off x="7144702" y="2082165"/>
              <a:ext cx="285750" cy="28575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49" name="Ellipse 49"/>
            <p:cNvSpPr/>
            <p:nvPr/>
          </p:nvSpPr>
          <p:spPr>
            <a:xfrm>
              <a:off x="7215188" y="3882390"/>
              <a:ext cx="285750" cy="28575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50" name="TextBox 50"/>
            <p:cNvSpPr txBox="1"/>
            <p:nvPr/>
          </p:nvSpPr>
          <p:spPr>
            <a:xfrm>
              <a:off x="4578232" y="3063716"/>
              <a:ext cx="9040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5489774" y="2163604"/>
              <a:ext cx="9040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B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6121282" y="3063716"/>
              <a:ext cx="9040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5420242" y="4169569"/>
              <a:ext cx="9040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D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7242374" y="2163604"/>
              <a:ext cx="9040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E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7312859" y="3963829"/>
              <a:ext cx="9040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F</a:t>
              </a:r>
            </a:p>
          </p:txBody>
        </p:sp>
        <p:sp>
          <p:nvSpPr>
            <p:cNvPr id="56" name="Rectangle 56"/>
            <p:cNvSpPr/>
            <p:nvPr/>
          </p:nvSpPr>
          <p:spPr>
            <a:xfrm>
              <a:off x="5328285" y="3046095"/>
              <a:ext cx="133350" cy="146685"/>
            </a:xfrm>
            <a:prstGeom prst="roundRect">
              <a:avLst>
                <a:gd name="adj" fmla="val 28571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57" name="TextBox 57"/>
            <p:cNvSpPr txBox="1"/>
            <p:nvPr/>
          </p:nvSpPr>
          <p:spPr>
            <a:xfrm>
              <a:off x="5359841" y="3075146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58" name="Rectangle 58"/>
            <p:cNvSpPr/>
            <p:nvPr/>
          </p:nvSpPr>
          <p:spPr>
            <a:xfrm>
              <a:off x="5783580" y="2596515"/>
              <a:ext cx="133350" cy="146685"/>
            </a:xfrm>
            <a:prstGeom prst="roundRect">
              <a:avLst>
                <a:gd name="adj" fmla="val 28571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59" name="TextBox 59"/>
            <p:cNvSpPr txBox="1"/>
            <p:nvPr/>
          </p:nvSpPr>
          <p:spPr>
            <a:xfrm>
              <a:off x="5815136" y="2625566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60" name="Rectangle 60"/>
            <p:cNvSpPr/>
            <p:nvPr/>
          </p:nvSpPr>
          <p:spPr>
            <a:xfrm>
              <a:off x="6344602" y="2145982"/>
              <a:ext cx="133350" cy="146685"/>
            </a:xfrm>
            <a:prstGeom prst="roundRect">
              <a:avLst>
                <a:gd name="adj" fmla="val 28571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61" name="TextBox 61"/>
            <p:cNvSpPr txBox="1"/>
            <p:nvPr/>
          </p:nvSpPr>
          <p:spPr>
            <a:xfrm>
              <a:off x="6376158" y="2175034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62" name="Rectangle 62"/>
            <p:cNvSpPr/>
            <p:nvPr/>
          </p:nvSpPr>
          <p:spPr>
            <a:xfrm>
              <a:off x="5719762" y="3599498"/>
              <a:ext cx="190500" cy="146685"/>
            </a:xfrm>
            <a:prstGeom prst="roundRect">
              <a:avLst>
                <a:gd name="adj" fmla="val 25974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63" name="TextBox 63"/>
            <p:cNvSpPr txBox="1"/>
            <p:nvPr/>
          </p:nvSpPr>
          <p:spPr>
            <a:xfrm>
              <a:off x="5750489" y="3628549"/>
              <a:ext cx="130952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10</a:t>
              </a:r>
            </a:p>
          </p:txBody>
        </p:sp>
        <p:sp>
          <p:nvSpPr>
            <p:cNvPr id="64" name="Rectangle 64"/>
            <p:cNvSpPr/>
            <p:nvPr/>
          </p:nvSpPr>
          <p:spPr>
            <a:xfrm>
              <a:off x="6344602" y="4049078"/>
              <a:ext cx="133350" cy="146685"/>
            </a:xfrm>
            <a:prstGeom prst="roundRect">
              <a:avLst>
                <a:gd name="adj" fmla="val 28571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65" name="TextBox 65"/>
            <p:cNvSpPr txBox="1"/>
            <p:nvPr/>
          </p:nvSpPr>
          <p:spPr>
            <a:xfrm>
              <a:off x="6376158" y="4078129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6</a:t>
              </a:r>
            </a:p>
          </p:txBody>
        </p:sp>
      </p:grpSp>
      <p:grpSp>
        <p:nvGrpSpPr>
          <p:cNvPr id="68" name="c2-text-2"/>
          <p:cNvGrpSpPr/>
          <p:nvPr/>
        </p:nvGrpSpPr>
        <p:grpSpPr>
          <a:xfrm>
            <a:off x="5279649" y="4750594"/>
            <a:ext cx="1632702" cy="249364"/>
            <a:chOff x="5279649" y="4750594"/>
            <a:chExt cx="1632702" cy="249364"/>
          </a:xfrm>
        </p:grpSpPr>
        <p:sp>
          <p:nvSpPr>
            <p:cNvPr id="67" name="TextBox 67"/>
            <p:cNvSpPr txBox="1"/>
            <p:nvPr/>
          </p:nvSpPr>
          <p:spPr>
            <a:xfrm>
              <a:off x="5279649" y="4750594"/>
              <a:ext cx="163270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支撑树乙　边权和 26</a:t>
              </a:r>
            </a:p>
          </p:txBody>
        </p:sp>
      </p:grpSp>
      <p:grpSp>
        <p:nvGrpSpPr>
          <p:cNvPr id="96" name="c3-graph-1"/>
          <p:cNvGrpSpPr/>
          <p:nvPr/>
        </p:nvGrpSpPr>
        <p:grpSpPr>
          <a:xfrm>
            <a:off x="8290560" y="2082165"/>
            <a:ext cx="3020378" cy="2291715"/>
            <a:chOff x="8290560" y="2082165"/>
            <a:chExt cx="3020378" cy="2291715"/>
          </a:xfrm>
        </p:grpSpPr>
        <p:sp>
          <p:nvSpPr>
            <p:cNvPr id="69" name="Freeform 69"/>
            <p:cNvSpPr/>
            <p:nvPr/>
          </p:nvSpPr>
          <p:spPr>
            <a:xfrm>
              <a:off x="8542020" y="2331720"/>
              <a:ext cx="694373" cy="685800"/>
            </a:xfrm>
            <a:custGeom>
              <a:avLst/>
              <a:gdLst/>
              <a:ahLst/>
              <a:cxnLst/>
              <a:rect l="l" t="t" r="r" b="b"/>
              <a:pathLst>
                <a:path w="694373" h="685800">
                  <a:moveTo>
                    <a:pt x="0" y="685800"/>
                  </a:moveTo>
                  <a:lnTo>
                    <a:pt x="694373" y="0"/>
                  </a:lnTo>
                </a:path>
              </a:pathLst>
            </a:custGeom>
            <a:noFill/>
            <a:ln w="17145">
              <a:solidFill>
                <a:srgbClr val="1F5FA8"/>
              </a:solidFill>
            </a:ln>
          </p:spPr>
        </p:sp>
        <p:sp>
          <p:nvSpPr>
            <p:cNvPr id="70" name="Freeform 70"/>
            <p:cNvSpPr/>
            <p:nvPr/>
          </p:nvSpPr>
          <p:spPr>
            <a:xfrm>
              <a:off x="8585835" y="3125152"/>
              <a:ext cx="1238250" cy="9525"/>
            </a:xfrm>
            <a:custGeom>
              <a:avLst/>
              <a:gdLst/>
              <a:ahLst/>
              <a:cxnLst/>
              <a:rect l="l" t="t" r="r" b="b"/>
              <a:pathLst>
                <a:path w="1238250" h="9525">
                  <a:moveTo>
                    <a:pt x="0" y="0"/>
                  </a:moveTo>
                  <a:lnTo>
                    <a:pt x="1238250" y="0"/>
                  </a:lnTo>
                </a:path>
              </a:pathLst>
            </a:custGeom>
            <a:noFill/>
            <a:ln w="17145">
              <a:solidFill>
                <a:srgbClr val="1F5FA8"/>
              </a:solidFill>
            </a:ln>
          </p:spPr>
        </p:sp>
        <p:sp>
          <p:nvSpPr>
            <p:cNvPr id="71" name="Freeform 71"/>
            <p:cNvSpPr/>
            <p:nvPr/>
          </p:nvSpPr>
          <p:spPr>
            <a:xfrm>
              <a:off x="8525828" y="3246120"/>
              <a:ext cx="657225" cy="862965"/>
            </a:xfrm>
            <a:custGeom>
              <a:avLst/>
              <a:gdLst/>
              <a:ahLst/>
              <a:cxnLst/>
              <a:rect l="l" t="t" r="r" b="b"/>
              <a:pathLst>
                <a:path w="657225" h="862965">
                  <a:moveTo>
                    <a:pt x="0" y="0"/>
                  </a:moveTo>
                  <a:lnTo>
                    <a:pt x="657225" y="862965"/>
                  </a:lnTo>
                </a:path>
              </a:pathLst>
            </a:custGeom>
            <a:noFill/>
            <a:ln w="17145">
              <a:solidFill>
                <a:srgbClr val="1F5FA8"/>
              </a:solidFill>
            </a:ln>
          </p:spPr>
        </p:sp>
        <p:sp>
          <p:nvSpPr>
            <p:cNvPr id="72" name="Freeform 72"/>
            <p:cNvSpPr/>
            <p:nvPr/>
          </p:nvSpPr>
          <p:spPr>
            <a:xfrm>
              <a:off x="9497378" y="2225040"/>
              <a:ext cx="1447800" cy="9525"/>
            </a:xfrm>
            <a:custGeom>
              <a:avLst/>
              <a:gdLst/>
              <a:ahLst/>
              <a:cxnLst/>
              <a:rect l="l" t="t" r="r" b="b"/>
              <a:pathLst>
                <a:path w="1447800" h="9525">
                  <a:moveTo>
                    <a:pt x="0" y="0"/>
                  </a:moveTo>
                  <a:lnTo>
                    <a:pt x="1447800" y="0"/>
                  </a:lnTo>
                </a:path>
              </a:pathLst>
            </a:custGeom>
            <a:noFill/>
            <a:ln w="17145">
              <a:solidFill>
                <a:srgbClr val="1F5FA8"/>
              </a:solidFill>
            </a:ln>
          </p:spPr>
        </p:sp>
        <p:sp>
          <p:nvSpPr>
            <p:cNvPr id="73" name="Freeform 73"/>
            <p:cNvSpPr/>
            <p:nvPr/>
          </p:nvSpPr>
          <p:spPr>
            <a:xfrm>
              <a:off x="9426892" y="4041458"/>
              <a:ext cx="1589722" cy="172402"/>
            </a:xfrm>
            <a:custGeom>
              <a:avLst/>
              <a:gdLst/>
              <a:ahLst/>
              <a:cxnLst/>
              <a:rect l="l" t="t" r="r" b="b"/>
              <a:pathLst>
                <a:path w="1589722" h="172402">
                  <a:moveTo>
                    <a:pt x="0" y="172402"/>
                  </a:moveTo>
                  <a:lnTo>
                    <a:pt x="1589722" y="0"/>
                  </a:lnTo>
                </a:path>
              </a:pathLst>
            </a:custGeom>
            <a:noFill/>
            <a:ln w="17145">
              <a:solidFill>
                <a:srgbClr val="1F5FA8"/>
              </a:solidFill>
            </a:ln>
          </p:spPr>
        </p:sp>
        <p:sp>
          <p:nvSpPr>
            <p:cNvPr id="74" name="Ellipse 74"/>
            <p:cNvSpPr/>
            <p:nvPr/>
          </p:nvSpPr>
          <p:spPr>
            <a:xfrm>
              <a:off x="8290560" y="2982278"/>
              <a:ext cx="285750" cy="285750"/>
            </a:xfrm>
            <a:prstGeom prst="ellipse">
              <a:avLst/>
            </a:prstGeom>
            <a:solidFill>
              <a:srgbClr val="FDEEE7"/>
            </a:solidFill>
            <a:ln w="17145">
              <a:solidFill>
                <a:srgbClr val="F26B3A"/>
              </a:solidFill>
            </a:ln>
          </p:spPr>
        </p:sp>
        <p:sp>
          <p:nvSpPr>
            <p:cNvPr id="75" name="Ellipse 75"/>
            <p:cNvSpPr/>
            <p:nvPr/>
          </p:nvSpPr>
          <p:spPr>
            <a:xfrm>
              <a:off x="9202102" y="2082165"/>
              <a:ext cx="285750" cy="285750"/>
            </a:xfrm>
            <a:prstGeom prst="ellipse">
              <a:avLst/>
            </a:prstGeom>
            <a:solidFill>
              <a:srgbClr val="FDEEE7"/>
            </a:solidFill>
            <a:ln w="17145">
              <a:solidFill>
                <a:srgbClr val="F26B3A"/>
              </a:solidFill>
            </a:ln>
          </p:spPr>
        </p:sp>
        <p:sp>
          <p:nvSpPr>
            <p:cNvPr id="76" name="Ellipse 76"/>
            <p:cNvSpPr/>
            <p:nvPr/>
          </p:nvSpPr>
          <p:spPr>
            <a:xfrm>
              <a:off x="9833610" y="2982278"/>
              <a:ext cx="285750" cy="285750"/>
            </a:xfrm>
            <a:prstGeom prst="ellipse">
              <a:avLst/>
            </a:prstGeom>
            <a:solidFill>
              <a:srgbClr val="FDEEE7"/>
            </a:solidFill>
            <a:ln w="17145">
              <a:solidFill>
                <a:srgbClr val="F26B3A"/>
              </a:solidFill>
            </a:ln>
          </p:spPr>
        </p:sp>
        <p:sp>
          <p:nvSpPr>
            <p:cNvPr id="77" name="Ellipse 77"/>
            <p:cNvSpPr/>
            <p:nvPr/>
          </p:nvSpPr>
          <p:spPr>
            <a:xfrm>
              <a:off x="9132570" y="4088130"/>
              <a:ext cx="285750" cy="285750"/>
            </a:xfrm>
            <a:prstGeom prst="ellipse">
              <a:avLst/>
            </a:prstGeom>
            <a:solidFill>
              <a:srgbClr val="FDEEE7"/>
            </a:solidFill>
            <a:ln w="17145">
              <a:solidFill>
                <a:srgbClr val="F26B3A"/>
              </a:solidFill>
            </a:ln>
          </p:spPr>
        </p:sp>
        <p:sp>
          <p:nvSpPr>
            <p:cNvPr id="78" name="Ellipse 78"/>
            <p:cNvSpPr/>
            <p:nvPr/>
          </p:nvSpPr>
          <p:spPr>
            <a:xfrm>
              <a:off x="10954702" y="2082165"/>
              <a:ext cx="285750" cy="285750"/>
            </a:xfrm>
            <a:prstGeom prst="ellipse">
              <a:avLst/>
            </a:prstGeom>
            <a:solidFill>
              <a:srgbClr val="FDEEE7"/>
            </a:solidFill>
            <a:ln w="17145">
              <a:solidFill>
                <a:srgbClr val="F26B3A"/>
              </a:solidFill>
            </a:ln>
          </p:spPr>
        </p:sp>
        <p:sp>
          <p:nvSpPr>
            <p:cNvPr id="79" name="Ellipse 79"/>
            <p:cNvSpPr/>
            <p:nvPr/>
          </p:nvSpPr>
          <p:spPr>
            <a:xfrm>
              <a:off x="11025188" y="3882390"/>
              <a:ext cx="285750" cy="285750"/>
            </a:xfrm>
            <a:prstGeom prst="ellipse">
              <a:avLst/>
            </a:prstGeom>
            <a:solidFill>
              <a:srgbClr val="FDEEE7"/>
            </a:solidFill>
            <a:ln w="17145">
              <a:solidFill>
                <a:srgbClr val="F26B3A"/>
              </a:solidFill>
            </a:ln>
          </p:spPr>
        </p:sp>
        <p:sp>
          <p:nvSpPr>
            <p:cNvPr id="80" name="TextBox 80"/>
            <p:cNvSpPr txBox="1"/>
            <p:nvPr/>
          </p:nvSpPr>
          <p:spPr>
            <a:xfrm>
              <a:off x="8388232" y="3063716"/>
              <a:ext cx="9040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</a:t>
              </a:r>
            </a:p>
          </p:txBody>
        </p:sp>
        <p:sp>
          <p:nvSpPr>
            <p:cNvPr id="81" name="TextBox 81"/>
            <p:cNvSpPr txBox="1"/>
            <p:nvPr/>
          </p:nvSpPr>
          <p:spPr>
            <a:xfrm>
              <a:off x="9299774" y="2163604"/>
              <a:ext cx="9040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B</a:t>
              </a:r>
            </a:p>
          </p:txBody>
        </p:sp>
        <p:sp>
          <p:nvSpPr>
            <p:cNvPr id="82" name="TextBox 82"/>
            <p:cNvSpPr txBox="1"/>
            <p:nvPr/>
          </p:nvSpPr>
          <p:spPr>
            <a:xfrm>
              <a:off x="9931282" y="3063716"/>
              <a:ext cx="9040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</a:t>
              </a:r>
            </a:p>
          </p:txBody>
        </p:sp>
        <p:sp>
          <p:nvSpPr>
            <p:cNvPr id="83" name="TextBox 83"/>
            <p:cNvSpPr txBox="1"/>
            <p:nvPr/>
          </p:nvSpPr>
          <p:spPr>
            <a:xfrm>
              <a:off x="9230242" y="4169569"/>
              <a:ext cx="9040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D</a:t>
              </a:r>
            </a:p>
          </p:txBody>
        </p:sp>
        <p:sp>
          <p:nvSpPr>
            <p:cNvPr id="84" name="TextBox 84"/>
            <p:cNvSpPr txBox="1"/>
            <p:nvPr/>
          </p:nvSpPr>
          <p:spPr>
            <a:xfrm>
              <a:off x="11052374" y="2163604"/>
              <a:ext cx="9040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E</a:t>
              </a:r>
            </a:p>
          </p:txBody>
        </p:sp>
        <p:sp>
          <p:nvSpPr>
            <p:cNvPr id="85" name="TextBox 85"/>
            <p:cNvSpPr txBox="1"/>
            <p:nvPr/>
          </p:nvSpPr>
          <p:spPr>
            <a:xfrm>
              <a:off x="11122859" y="3963829"/>
              <a:ext cx="9040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F</a:t>
              </a:r>
            </a:p>
          </p:txBody>
        </p:sp>
        <p:sp>
          <p:nvSpPr>
            <p:cNvPr id="86" name="Rectangle 86"/>
            <p:cNvSpPr/>
            <p:nvPr/>
          </p:nvSpPr>
          <p:spPr>
            <a:xfrm>
              <a:off x="8823008" y="2596515"/>
              <a:ext cx="133350" cy="146685"/>
            </a:xfrm>
            <a:prstGeom prst="roundRect">
              <a:avLst>
                <a:gd name="adj" fmla="val 28571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87" name="TextBox 87"/>
            <p:cNvSpPr txBox="1"/>
            <p:nvPr/>
          </p:nvSpPr>
          <p:spPr>
            <a:xfrm>
              <a:off x="8854563" y="2625566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88" name="Rectangle 88"/>
            <p:cNvSpPr/>
            <p:nvPr/>
          </p:nvSpPr>
          <p:spPr>
            <a:xfrm>
              <a:off x="9138285" y="3046095"/>
              <a:ext cx="133350" cy="146685"/>
            </a:xfrm>
            <a:prstGeom prst="roundRect">
              <a:avLst>
                <a:gd name="adj" fmla="val 28571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89" name="TextBox 89"/>
            <p:cNvSpPr txBox="1"/>
            <p:nvPr/>
          </p:nvSpPr>
          <p:spPr>
            <a:xfrm>
              <a:off x="9169841" y="3075146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90" name="Rectangle 90"/>
            <p:cNvSpPr/>
            <p:nvPr/>
          </p:nvSpPr>
          <p:spPr>
            <a:xfrm>
              <a:off x="8787765" y="3599498"/>
              <a:ext cx="133350" cy="146685"/>
            </a:xfrm>
            <a:prstGeom prst="roundRect">
              <a:avLst>
                <a:gd name="adj" fmla="val 28571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91" name="TextBox 91"/>
            <p:cNvSpPr txBox="1"/>
            <p:nvPr/>
          </p:nvSpPr>
          <p:spPr>
            <a:xfrm>
              <a:off x="8819321" y="3628549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8</a:t>
              </a:r>
            </a:p>
          </p:txBody>
        </p:sp>
        <p:sp>
          <p:nvSpPr>
            <p:cNvPr id="92" name="Rectangle 92"/>
            <p:cNvSpPr/>
            <p:nvPr/>
          </p:nvSpPr>
          <p:spPr>
            <a:xfrm>
              <a:off x="10154602" y="2145982"/>
              <a:ext cx="133350" cy="146685"/>
            </a:xfrm>
            <a:prstGeom prst="roundRect">
              <a:avLst>
                <a:gd name="adj" fmla="val 28571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93" name="TextBox 93"/>
            <p:cNvSpPr txBox="1"/>
            <p:nvPr/>
          </p:nvSpPr>
          <p:spPr>
            <a:xfrm>
              <a:off x="10186158" y="2175034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94" name="Rectangle 94"/>
            <p:cNvSpPr/>
            <p:nvPr/>
          </p:nvSpPr>
          <p:spPr>
            <a:xfrm>
              <a:off x="10154602" y="4049078"/>
              <a:ext cx="133350" cy="146685"/>
            </a:xfrm>
            <a:prstGeom prst="roundRect">
              <a:avLst>
                <a:gd name="adj" fmla="val 28571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95" name="TextBox 95"/>
            <p:cNvSpPr txBox="1"/>
            <p:nvPr/>
          </p:nvSpPr>
          <p:spPr>
            <a:xfrm>
              <a:off x="10186158" y="4078129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6</a:t>
              </a:r>
            </a:p>
          </p:txBody>
        </p:sp>
      </p:grpSp>
      <p:grpSp>
        <p:nvGrpSpPr>
          <p:cNvPr id="98" name="c3-text-2"/>
          <p:cNvGrpSpPr/>
          <p:nvPr/>
        </p:nvGrpSpPr>
        <p:grpSpPr>
          <a:xfrm>
            <a:off x="9003492" y="4750594"/>
            <a:ext cx="1805015" cy="249364"/>
            <a:chOff x="9003492" y="4750594"/>
            <a:chExt cx="1805015" cy="249364"/>
          </a:xfrm>
        </p:grpSpPr>
        <p:sp>
          <p:nvSpPr>
            <p:cNvPr id="97" name="TextBox 97"/>
            <p:cNvSpPr txBox="1"/>
            <p:nvPr/>
          </p:nvSpPr>
          <p:spPr>
            <a:xfrm>
              <a:off x="9003492" y="4750594"/>
              <a:ext cx="180501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最小支撑树　边权和 23</a:t>
              </a:r>
            </a:p>
          </p:txBody>
        </p:sp>
      </p:grpSp>
      <p:grpSp>
        <p:nvGrpSpPr>
          <p:cNvPr id="105" name="takeaway"/>
          <p:cNvGrpSpPr/>
          <p:nvPr/>
        </p:nvGrpSpPr>
        <p:grpSpPr>
          <a:xfrm>
            <a:off x="533400" y="5579745"/>
            <a:ext cx="11125200" cy="782955"/>
            <a:chOff x="533400" y="5579745"/>
            <a:chExt cx="11125200" cy="782955"/>
          </a:xfrm>
        </p:grpSpPr>
        <p:sp>
          <p:nvSpPr>
            <p:cNvPr id="99" name="Rectangle 99"/>
            <p:cNvSpPr/>
            <p:nvPr/>
          </p:nvSpPr>
          <p:spPr>
            <a:xfrm>
              <a:off x="533400" y="5579745"/>
              <a:ext cx="11125200" cy="782955"/>
            </a:xfrm>
            <a:prstGeom prst="roundRect">
              <a:avLst>
                <a:gd name="adj" fmla="val 14599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103" name="Group 103"/>
            <p:cNvGrpSpPr/>
            <p:nvPr/>
          </p:nvGrpSpPr>
          <p:grpSpPr>
            <a:xfrm>
              <a:off x="738188" y="5871210"/>
              <a:ext cx="200026" cy="200025"/>
              <a:chOff x="738188" y="5871210"/>
              <a:chExt cx="200026" cy="200025"/>
            </a:xfrm>
          </p:grpSpPr>
          <p:sp>
            <p:nvSpPr>
              <p:cNvPr id="100" name="Freeform 100"/>
              <p:cNvSpPr/>
              <p:nvPr/>
            </p:nvSpPr>
            <p:spPr>
              <a:xfrm>
                <a:off x="738188" y="5871210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101" name="Freeform 101"/>
              <p:cNvSpPr/>
              <p:nvPr/>
            </p:nvSpPr>
            <p:spPr>
              <a:xfrm>
                <a:off x="777926" y="5915660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102" name="Freeform 102"/>
              <p:cNvSpPr/>
              <p:nvPr/>
            </p:nvSpPr>
            <p:spPr>
              <a:xfrm>
                <a:off x="812642" y="6026786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104" name="TextBox 104"/>
            <p:cNvSpPr txBox="1"/>
            <p:nvPr/>
          </p:nvSpPr>
          <p:spPr>
            <a:xfrm>
              <a:off x="1040130" y="5728335"/>
              <a:ext cx="9702165" cy="5695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75"/>
                </a:lnSpc>
              </a:pPr>
              <a:r>
                <a:rPr lang="zh-CN" sz="150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这张图的 8 条边权值互不相同，所以最小支撑树只有一棵。权值出现并列时最小支撑树可能不止一棵，第 24 页有例</a:t>
              </a:r>
              <a:br/>
              <a:r>
                <a:rPr lang="zh-CN" sz="150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子。</a:t>
              </a:r>
            </a:p>
          </p:txBody>
        </p:sp>
      </p:grpSp>
      <p:grpSp>
        <p:nvGrpSpPr>
          <p:cNvPr id="108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106" name="TextBox 106"/>
            <p:cNvSpPr txBox="1"/>
            <p:nvPr/>
          </p:nvSpPr>
          <p:spPr>
            <a:xfrm>
              <a:off x="528447" y="6581299"/>
              <a:ext cx="232523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数据结构 · 第16讲 最小支撑树及图应用</a:t>
              </a:r>
            </a:p>
          </p:txBody>
        </p:sp>
        <p:sp>
          <p:nvSpPr>
            <p:cNvPr id="107" name="TextBox 107"/>
            <p:cNvSpPr txBox="1"/>
            <p:nvPr/>
          </p:nvSpPr>
          <p:spPr>
            <a:xfrm>
              <a:off x="11581087" y="6581299"/>
              <a:ext cx="8246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7306040" cy="909257"/>
            <a:chOff x="520446" y="342900"/>
            <a:chExt cx="7306040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4203382" cy="26670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43323" y="407194"/>
              <a:ext cx="418448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第16讲 最小支撑树 · 最小支撑树：把所有点连起来的最省方案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7306040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网络设计：在 n 个地点间建造价最低的连通网络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F5FA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21" name="c1-kv-1"/>
          <p:cNvGrpSpPr/>
          <p:nvPr/>
        </p:nvGrpSpPr>
        <p:grpSpPr>
          <a:xfrm>
            <a:off x="526161" y="1547336"/>
            <a:ext cx="5633657" cy="1965580"/>
            <a:chOff x="526161" y="1547336"/>
            <a:chExt cx="5633657" cy="1965580"/>
          </a:xfrm>
        </p:grpSpPr>
        <p:sp>
          <p:nvSpPr>
            <p:cNvPr id="7" name="TextBox 7"/>
            <p:cNvSpPr txBox="1"/>
            <p:nvPr/>
          </p:nvSpPr>
          <p:spPr>
            <a:xfrm>
              <a:off x="526161" y="1547336"/>
              <a:ext cx="396799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顶点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1712976" y="1547336"/>
              <a:ext cx="1734922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需要接入网络的地点</a:t>
              </a:r>
            </a:p>
          </p:txBody>
        </p:sp>
        <p:sp>
          <p:nvSpPr>
            <p:cNvPr id="9" name="Rectangle 9"/>
            <p:cNvSpPr/>
            <p:nvPr/>
          </p:nvSpPr>
          <p:spPr>
            <a:xfrm>
              <a:off x="533400" y="1853565"/>
              <a:ext cx="562641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526161" y="1969294"/>
              <a:ext cx="205638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边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712976" y="1969294"/>
              <a:ext cx="2308403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两地之间可以修的一条线路</a:t>
              </a:r>
            </a:p>
          </p:txBody>
        </p:sp>
        <p:sp>
          <p:nvSpPr>
            <p:cNvPr id="12" name="Rectangle 12"/>
            <p:cNvSpPr/>
            <p:nvPr/>
          </p:nvSpPr>
          <p:spPr>
            <a:xfrm>
              <a:off x="533400" y="2274570"/>
              <a:ext cx="562641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526161" y="2391251"/>
              <a:ext cx="779120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边的权值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1712976" y="2391251"/>
              <a:ext cx="1734922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修这条线路要花的钱</a:t>
              </a:r>
            </a:p>
          </p:txBody>
        </p:sp>
        <p:sp>
          <p:nvSpPr>
            <p:cNvPr id="15" name="Rectangle 15"/>
            <p:cNvSpPr/>
            <p:nvPr/>
          </p:nvSpPr>
          <p:spPr>
            <a:xfrm>
              <a:off x="533400" y="2696528"/>
              <a:ext cx="562641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526161" y="2812256"/>
              <a:ext cx="587959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支撑树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1712976" y="2812256"/>
              <a:ext cx="2308403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让所有地点连通的一套方案</a:t>
              </a:r>
            </a:p>
          </p:txBody>
        </p:sp>
        <p:sp>
          <p:nvSpPr>
            <p:cNvPr id="18" name="Rectangle 18"/>
            <p:cNvSpPr/>
            <p:nvPr/>
          </p:nvSpPr>
          <p:spPr>
            <a:xfrm>
              <a:off x="533400" y="3118485"/>
              <a:ext cx="562641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526161" y="3234214"/>
              <a:ext cx="970280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最小支撑树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1712976" y="3234214"/>
              <a:ext cx="2117242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总造价最低的那一套方案</a:t>
              </a:r>
            </a:p>
          </p:txBody>
        </p:sp>
      </p:grpSp>
      <p:grpSp>
        <p:nvGrpSpPr>
          <p:cNvPr id="29" name="c1-card-2"/>
          <p:cNvGrpSpPr/>
          <p:nvPr/>
        </p:nvGrpSpPr>
        <p:grpSpPr>
          <a:xfrm>
            <a:off x="533400" y="3642360"/>
            <a:ext cx="5626418" cy="1884998"/>
            <a:chOff x="533400" y="3642360"/>
            <a:chExt cx="5626418" cy="1884998"/>
          </a:xfrm>
        </p:grpSpPr>
        <p:sp>
          <p:nvSpPr>
            <p:cNvPr id="22" name="Rectangle 22"/>
            <p:cNvSpPr/>
            <p:nvPr/>
          </p:nvSpPr>
          <p:spPr>
            <a:xfrm>
              <a:off x="533400" y="3642360"/>
              <a:ext cx="5626418" cy="1884998"/>
            </a:xfrm>
            <a:prstGeom prst="roundRect">
              <a:avLst>
                <a:gd name="adj" fmla="val 7074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23" name="Rectangle 23"/>
            <p:cNvSpPr/>
            <p:nvPr/>
          </p:nvSpPr>
          <p:spPr>
            <a:xfrm>
              <a:off x="542925" y="3775710"/>
              <a:ext cx="47625" cy="1618298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24" name="Rectangle 24"/>
            <p:cNvSpPr/>
            <p:nvPr/>
          </p:nvSpPr>
          <p:spPr>
            <a:xfrm>
              <a:off x="775335" y="3846195"/>
              <a:ext cx="351472" cy="257175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870445" y="3881914"/>
              <a:ext cx="16220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例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1233869" y="3885724"/>
              <a:ext cx="2117242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为什么答案一定是一棵树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768096" y="4237196"/>
              <a:ext cx="4883658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只要方案里出现环，就可以删掉环上任意一条边，所有地点仍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然连通，总造价反而更低。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768096" y="4828699"/>
              <a:ext cx="4856607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所以最省的方案里必定没有环，n 个点连通且无环，边数就固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定是 n−1 条。</a:t>
              </a:r>
            </a:p>
          </p:txBody>
        </p:sp>
      </p:grpSp>
      <p:grpSp>
        <p:nvGrpSpPr>
          <p:cNvPr id="32" name="c2-image-1"/>
          <p:cNvGrpSpPr/>
          <p:nvPr/>
        </p:nvGrpSpPr>
        <p:grpSpPr>
          <a:xfrm>
            <a:off x="7521892" y="1524000"/>
            <a:ext cx="3079432" cy="2624614"/>
            <a:chOff x="7521892" y="1524000"/>
            <a:chExt cx="3079432" cy="2624614"/>
          </a:xfrm>
        </p:grpSpPr>
        <p:pic>
          <p:nvPicPr>
            <p:cNvPr id="30" name="Image 30"/>
            <p:cNvPicPr>
              <a:picLocks noChangeAspect="1"/>
            </p:cNvPicPr>
            <p:nvPr/>
          </p:nvPicPr>
          <p:blipFill>
            <a:blip r:embed="rId2"/>
            <a:srcRect l="5" t="0" r="5" b="0"/>
            <a:stretch>
              <a:fillRect/>
            </a:stretch>
          </p:blipFill>
          <p:spPr>
            <a:xfrm>
              <a:off x="7521892" y="1524000"/>
              <a:ext cx="3079432" cy="2309812"/>
            </a:xfrm>
            <a:prstGeom prst="roundRect">
              <a:avLst>
                <a:gd name="adj" fmla="val 5773"/>
              </a:avLst>
            </a:prstGeom>
          </p:spPr>
        </p:pic>
        <p:sp>
          <p:nvSpPr>
            <p:cNvPr id="31" name="TextBox 31"/>
            <p:cNvSpPr txBox="1"/>
            <p:nvPr/>
          </p:nvSpPr>
          <p:spPr>
            <a:xfrm>
              <a:off x="7624013" y="3928586"/>
              <a:ext cx="287614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只拉红色的五条细线，六户人家就全部接通</a:t>
              </a:r>
            </a:p>
          </p:txBody>
        </p:sp>
      </p:grpSp>
      <p:grpSp>
        <p:nvGrpSpPr>
          <p:cNvPr id="39" name="c2-callout-2"/>
          <p:cNvGrpSpPr/>
          <p:nvPr/>
        </p:nvGrpSpPr>
        <p:grpSpPr>
          <a:xfrm>
            <a:off x="6464618" y="4309110"/>
            <a:ext cx="5193982" cy="1218248"/>
            <a:chOff x="6464618" y="4309110"/>
            <a:chExt cx="5193982" cy="1218248"/>
          </a:xfrm>
        </p:grpSpPr>
        <p:sp>
          <p:nvSpPr>
            <p:cNvPr id="33" name="Rectangle 33"/>
            <p:cNvSpPr/>
            <p:nvPr/>
          </p:nvSpPr>
          <p:spPr>
            <a:xfrm>
              <a:off x="6464618" y="4309110"/>
              <a:ext cx="5193982" cy="1218248"/>
            </a:xfrm>
            <a:prstGeom prst="roundRect">
              <a:avLst>
                <a:gd name="adj" fmla="val 9382"/>
              </a:avLst>
            </a:prstGeom>
            <a:solidFill>
              <a:srgbClr val="F4F6FB"/>
            </a:solidFill>
            <a:ln>
              <a:noFill/>
            </a:ln>
          </p:spPr>
        </p:sp>
        <p:grpSp>
          <p:nvGrpSpPr>
            <p:cNvPr id="37" name="Group 37"/>
            <p:cNvGrpSpPr/>
            <p:nvPr/>
          </p:nvGrpSpPr>
          <p:grpSpPr>
            <a:xfrm>
              <a:off x="6669405" y="4817745"/>
              <a:ext cx="200026" cy="200026"/>
              <a:chOff x="6669405" y="4817745"/>
              <a:chExt cx="200026" cy="200026"/>
            </a:xfrm>
          </p:grpSpPr>
          <p:sp>
            <p:nvSpPr>
              <p:cNvPr id="34" name="Freeform 34"/>
              <p:cNvSpPr/>
              <p:nvPr/>
            </p:nvSpPr>
            <p:spPr>
              <a:xfrm>
                <a:off x="6669405" y="4817745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35" name="Freeform 35"/>
              <p:cNvSpPr/>
              <p:nvPr/>
            </p:nvSpPr>
            <p:spPr>
              <a:xfrm>
                <a:off x="6769418" y="4884420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36" name="Freeform 36"/>
              <p:cNvSpPr/>
              <p:nvPr/>
            </p:nvSpPr>
            <p:spPr>
              <a:xfrm>
                <a:off x="6758305" y="4917758"/>
                <a:ext cx="222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22225" h="44450">
                    <a:moveTo>
                      <a:pt x="0" y="0"/>
                    </a:moveTo>
                    <a:lnTo>
                      <a:pt x="11113" y="0"/>
                    </a:lnTo>
                    <a:lnTo>
                      <a:pt x="11113" y="44450"/>
                    </a:lnTo>
                    <a:lnTo>
                      <a:pt x="22225" y="4445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</p:grpSp>
        <p:sp>
          <p:nvSpPr>
            <p:cNvPr id="38" name="TextBox 38"/>
            <p:cNvSpPr txBox="1"/>
            <p:nvPr/>
          </p:nvSpPr>
          <p:spPr>
            <a:xfrm>
              <a:off x="6971729" y="4686776"/>
              <a:ext cx="4162298" cy="5415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70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交通网、通信网、电网、管道网的选线，以及后面要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讲的聚类和图像分割，都是这个模型的直接应用。</a:t>
              </a:r>
            </a:p>
          </p:txBody>
        </p:sp>
      </p:grpSp>
      <p:grpSp>
        <p:nvGrpSpPr>
          <p:cNvPr id="45" name="takeaway"/>
          <p:cNvGrpSpPr/>
          <p:nvPr/>
        </p:nvGrpSpPr>
        <p:grpSpPr>
          <a:xfrm>
            <a:off x="533400" y="5844540"/>
            <a:ext cx="11125200" cy="518160"/>
            <a:chOff x="533400" y="5844540"/>
            <a:chExt cx="11125200" cy="518160"/>
          </a:xfrm>
        </p:grpSpPr>
        <p:sp>
          <p:nvSpPr>
            <p:cNvPr id="40" name="Rectangle 40"/>
            <p:cNvSpPr/>
            <p:nvPr/>
          </p:nvSpPr>
          <p:spPr>
            <a:xfrm>
              <a:off x="533400" y="5844540"/>
              <a:ext cx="11125200" cy="518160"/>
            </a:xfrm>
            <a:prstGeom prst="roundRect">
              <a:avLst>
                <a:gd name="adj" fmla="val 22059"/>
              </a:avLst>
            </a:prstGeom>
            <a:solidFill>
              <a:srgbClr val="1F5FA8"/>
            </a:solidFill>
            <a:ln>
              <a:noFill/>
            </a:ln>
          </p:spPr>
        </p:sp>
        <p:grpSp>
          <p:nvGrpSpPr>
            <p:cNvPr id="43" name="Group 43"/>
            <p:cNvGrpSpPr/>
            <p:nvPr/>
          </p:nvGrpSpPr>
          <p:grpSpPr>
            <a:xfrm>
              <a:off x="738188" y="6003610"/>
              <a:ext cx="200023" cy="200023"/>
              <a:chOff x="738188" y="6003610"/>
              <a:chExt cx="200023" cy="200023"/>
            </a:xfrm>
          </p:grpSpPr>
          <p:sp>
            <p:nvSpPr>
              <p:cNvPr id="41" name="Freeform 41"/>
              <p:cNvSpPr/>
              <p:nvPr/>
            </p:nvSpPr>
            <p:spPr>
              <a:xfrm>
                <a:off x="738188" y="6003610"/>
                <a:ext cx="200023" cy="200023"/>
              </a:xfrm>
              <a:custGeom>
                <a:avLst/>
                <a:gdLst/>
                <a:ahLst/>
                <a:cxnLst/>
                <a:rect l="l" t="t" r="r" b="b"/>
                <a:pathLst>
                  <a:path w="200023" h="200023">
                    <a:moveTo>
                      <a:pt x="150630" y="9366"/>
                    </a:moveTo>
                    <a:lnTo>
                      <a:pt x="190658" y="49393"/>
                    </a:lnTo>
                    <a:cubicBezTo>
                      <a:pt x="196654" y="55389"/>
                      <a:pt x="200023" y="63522"/>
                      <a:pt x="200023" y="72002"/>
                    </a:cubicBezTo>
                    <a:cubicBezTo>
                      <a:pt x="200023" y="80482"/>
                      <a:pt x="196654" y="88614"/>
                      <a:pt x="190658" y="94610"/>
                    </a:cubicBezTo>
                    <a:lnTo>
                      <a:pt x="161287" y="123980"/>
                    </a:lnTo>
                    <a:cubicBezTo>
                      <a:pt x="155291" y="129977"/>
                      <a:pt x="147159" y="133346"/>
                      <a:pt x="138679" y="133346"/>
                    </a:cubicBezTo>
                    <a:cubicBezTo>
                      <a:pt x="130199" y="133346"/>
                      <a:pt x="122066" y="129977"/>
                      <a:pt x="116070" y="123980"/>
                    </a:cubicBezTo>
                    <a:lnTo>
                      <a:pt x="112726" y="120636"/>
                    </a:lnTo>
                    <a:lnTo>
                      <a:pt x="39850" y="193511"/>
                    </a:lnTo>
                    <a:cubicBezTo>
                      <a:pt x="36157" y="197203"/>
                      <a:pt x="31283" y="199477"/>
                      <a:pt x="26081" y="199935"/>
                    </a:cubicBezTo>
                    <a:lnTo>
                      <a:pt x="24136" y="200023"/>
                    </a:lnTo>
                    <a:lnTo>
                      <a:pt x="11113" y="200023"/>
                    </a:lnTo>
                    <a:cubicBezTo>
                      <a:pt x="5479" y="200023"/>
                      <a:pt x="737" y="195806"/>
                      <a:pt x="78" y="190211"/>
                    </a:cubicBezTo>
                    <a:lnTo>
                      <a:pt x="0" y="188911"/>
                    </a:lnTo>
                    <a:lnTo>
                      <a:pt x="0" y="175887"/>
                    </a:lnTo>
                    <a:cubicBezTo>
                      <a:pt x="1" y="170669"/>
                      <a:pt x="1838" y="165618"/>
                      <a:pt x="5190" y="161619"/>
                    </a:cubicBezTo>
                    <a:lnTo>
                      <a:pt x="6512" y="160174"/>
                    </a:lnTo>
                    <a:lnTo>
                      <a:pt x="11113" y="155573"/>
                    </a:lnTo>
                    <a:lnTo>
                      <a:pt x="33338" y="155573"/>
                    </a:lnTo>
                    <a:lnTo>
                      <a:pt x="33338" y="133348"/>
                    </a:lnTo>
                    <a:lnTo>
                      <a:pt x="55563" y="133348"/>
                    </a:lnTo>
                    <a:lnTo>
                      <a:pt x="55563" y="111123"/>
                    </a:lnTo>
                    <a:lnTo>
                      <a:pt x="79388" y="87298"/>
                    </a:lnTo>
                    <a:lnTo>
                      <a:pt x="76043" y="83953"/>
                    </a:lnTo>
                    <a:cubicBezTo>
                      <a:pt x="70046" y="77957"/>
                      <a:pt x="66677" y="69825"/>
                      <a:pt x="66677" y="61345"/>
                    </a:cubicBezTo>
                    <a:cubicBezTo>
                      <a:pt x="66677" y="52865"/>
                      <a:pt x="70046" y="44732"/>
                      <a:pt x="76043" y="38736"/>
                    </a:cubicBezTo>
                    <a:lnTo>
                      <a:pt x="105413" y="9366"/>
                    </a:lnTo>
                    <a:cubicBezTo>
                      <a:pt x="111409" y="3369"/>
                      <a:pt x="119542" y="0"/>
                      <a:pt x="128022" y="0"/>
                    </a:cubicBezTo>
                    <a:cubicBezTo>
                      <a:pt x="136502" y="0"/>
                      <a:pt x="144635" y="3369"/>
                      <a:pt x="150630" y="9366"/>
                    </a:cubicBez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42" name="Freeform 42"/>
              <p:cNvSpPr/>
              <p:nvPr/>
            </p:nvSpPr>
            <p:spPr>
              <a:xfrm>
                <a:off x="871538" y="6070283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</p:grpSp>
        <p:sp>
          <p:nvSpPr>
            <p:cNvPr id="44" name="TextBox 44"/>
            <p:cNvSpPr txBox="1"/>
            <p:nvPr/>
          </p:nvSpPr>
          <p:spPr>
            <a:xfrm>
              <a:off x="1040511" y="6004084"/>
              <a:ext cx="7087413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权值只要求是可比较的实数，不必是钱；换成延迟、距离、误码率，模型完全一样。</a:t>
              </a:r>
            </a:p>
          </p:txBody>
        </p:sp>
      </p:grpSp>
      <p:grpSp>
        <p:nvGrpSpPr>
          <p:cNvPr id="48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46" name="TextBox 46"/>
            <p:cNvSpPr txBox="1"/>
            <p:nvPr/>
          </p:nvSpPr>
          <p:spPr>
            <a:xfrm>
              <a:off x="528447" y="6581299"/>
              <a:ext cx="232523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数据结构 · 第16讲 最小支撑树及图应用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11581087" y="6581299"/>
              <a:ext cx="8246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6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5175123" cy="909257"/>
            <a:chOff x="520446" y="342900"/>
            <a:chExt cx="5175123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4203382" cy="26670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43323" y="407194"/>
              <a:ext cx="418448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第16讲 最小支撑树 · 最小支撑树：把所有点连起来的最省方案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5175123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最小跨边一定在某棵最小支撑树里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F5FA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4" name="c1-card-1"/>
          <p:cNvGrpSpPr/>
          <p:nvPr/>
        </p:nvGrpSpPr>
        <p:grpSpPr>
          <a:xfrm>
            <a:off x="533400" y="1524000"/>
            <a:ext cx="5410200" cy="1613535"/>
            <a:chOff x="533400" y="1524000"/>
            <a:chExt cx="5410200" cy="1613535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410200" cy="1613535"/>
            </a:xfrm>
            <a:prstGeom prst="roundRect">
              <a:avLst>
                <a:gd name="adj" fmla="val 8264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542925" y="1657350"/>
              <a:ext cx="47625" cy="1346835"/>
            </a:xfrm>
            <a:prstGeom prst="roundRect">
              <a:avLst>
                <a:gd name="adj" fmla="val 50000"/>
              </a:avLst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775335" y="1727835"/>
              <a:ext cx="494348" cy="257175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65543" y="1763554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定义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376744" y="1767364"/>
              <a:ext cx="779120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跨集合边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768096" y="2119789"/>
              <a:ext cx="4658233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设 G =（V, E）连通，S 是 V 的一个非空真子集。若边（u,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v）满足 u ∈ S 且 v ∈ V−S，则称（u, v）为 </a:t>
              </a:r>
              <a:r>
                <a:rPr lang="zh-CN" sz="142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跨集合边</a:t>
              </a: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。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768096" y="2711291"/>
              <a:ext cx="4277355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全部跨集合边中权值最小的那条，称为 </a:t>
              </a:r>
              <a:r>
                <a:rPr lang="zh-CN" sz="142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最小跨边</a:t>
              </a: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。</a:t>
              </a:r>
            </a:p>
          </p:txBody>
        </p:sp>
      </p:grpSp>
      <p:grpSp>
        <p:nvGrpSpPr>
          <p:cNvPr id="22" name="c1-card-2"/>
          <p:cNvGrpSpPr/>
          <p:nvPr/>
        </p:nvGrpSpPr>
        <p:grpSpPr>
          <a:xfrm>
            <a:off x="533400" y="3322320"/>
            <a:ext cx="5410200" cy="2066925"/>
            <a:chOff x="533400" y="3322320"/>
            <a:chExt cx="5410200" cy="2066925"/>
          </a:xfrm>
        </p:grpSpPr>
        <p:sp>
          <p:nvSpPr>
            <p:cNvPr id="15" name="Rectangle 15"/>
            <p:cNvSpPr/>
            <p:nvPr/>
          </p:nvSpPr>
          <p:spPr>
            <a:xfrm>
              <a:off x="533400" y="3322320"/>
              <a:ext cx="5410200" cy="2066925"/>
            </a:xfrm>
            <a:prstGeom prst="roundRect">
              <a:avLst>
                <a:gd name="adj" fmla="val 6452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16" name="Rectangle 16"/>
            <p:cNvSpPr/>
            <p:nvPr/>
          </p:nvSpPr>
          <p:spPr>
            <a:xfrm>
              <a:off x="542925" y="3455670"/>
              <a:ext cx="47625" cy="1800225"/>
            </a:xfrm>
            <a:prstGeom prst="roundRect">
              <a:avLst>
                <a:gd name="adj" fmla="val 50000"/>
              </a:avLst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17" name="Rectangle 17"/>
            <p:cNvSpPr/>
            <p:nvPr/>
          </p:nvSpPr>
          <p:spPr>
            <a:xfrm>
              <a:off x="775335" y="3526155"/>
              <a:ext cx="494348" cy="257175"/>
            </a:xfrm>
            <a:prstGeom prst="roundRect">
              <a:avLst>
                <a:gd name="adj" fmla="val 50000"/>
              </a:avLst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865543" y="3561874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定理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1376744" y="3566636"/>
              <a:ext cx="1161440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最小跨边定理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768096" y="3918109"/>
              <a:ext cx="4649216" cy="82162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若边（u, v）满足 weight(u, v) = min{ weight(u₀, v₀)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｜ u₀ ∈ S, v₀ ∈ V−S }，则必存在 G 的一棵最小支撑树 T，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T 包含边（u, v）。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769239" y="4777740"/>
              <a:ext cx="4706112" cy="45567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40"/>
                </a:lnSpc>
              </a:pPr>
              <a:r>
                <a:rPr lang="zh-CN" sz="12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无论 S 怎么取，这条结论都成立。Prim 与 Kruskal 就是靠它保证每一</a:t>
              </a:r>
              <a:br/>
              <a:r>
                <a:rPr lang="zh-CN" sz="12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步选的边不会选错。</a:t>
              </a:r>
            </a:p>
          </p:txBody>
        </p:sp>
      </p:grpSp>
      <p:grpSp>
        <p:nvGrpSpPr>
          <p:cNvPr id="50" name="c2-graph-1"/>
          <p:cNvGrpSpPr/>
          <p:nvPr/>
        </p:nvGrpSpPr>
        <p:grpSpPr>
          <a:xfrm>
            <a:off x="6604635" y="1562100"/>
            <a:ext cx="4697730" cy="3680460"/>
            <a:chOff x="6604635" y="1562100"/>
            <a:chExt cx="4697730" cy="3680460"/>
          </a:xfrm>
        </p:grpSpPr>
        <p:sp>
          <p:nvSpPr>
            <p:cNvPr id="23" name="Freeform 23"/>
            <p:cNvSpPr/>
            <p:nvPr/>
          </p:nvSpPr>
          <p:spPr>
            <a:xfrm>
              <a:off x="8953500" y="1716405"/>
              <a:ext cx="9525" cy="3526155"/>
            </a:xfrm>
            <a:custGeom>
              <a:avLst/>
              <a:gdLst/>
              <a:ahLst/>
              <a:cxnLst/>
              <a:rect l="l" t="t" r="r" b="b"/>
              <a:pathLst>
                <a:path w="9525" h="3526155">
                  <a:moveTo>
                    <a:pt x="0" y="0"/>
                  </a:moveTo>
                  <a:lnTo>
                    <a:pt x="0" y="3526155"/>
                  </a:lnTo>
                </a:path>
              </a:pathLst>
            </a:custGeom>
            <a:noFill/>
            <a:ln w="17145">
              <a:solidFill>
                <a:srgbClr val="5B6475"/>
              </a:solidFill>
              <a:custDash>
                <a:ds d="333333" sp="222222"/>
              </a:custDash>
            </a:ln>
          </p:spPr>
        </p:sp>
        <p:sp>
          <p:nvSpPr>
            <p:cNvPr id="24" name="Freeform 24"/>
            <p:cNvSpPr/>
            <p:nvPr/>
          </p:nvSpPr>
          <p:spPr>
            <a:xfrm>
              <a:off x="6865620" y="2345055"/>
              <a:ext cx="929640" cy="469583"/>
            </a:xfrm>
            <a:custGeom>
              <a:avLst/>
              <a:gdLst/>
              <a:ahLst/>
              <a:cxnLst/>
              <a:rect l="l" t="t" r="r" b="b"/>
              <a:pathLst>
                <a:path w="929640" h="469583">
                  <a:moveTo>
                    <a:pt x="0" y="0"/>
                  </a:moveTo>
                  <a:lnTo>
                    <a:pt x="929640" y="469583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25" name="Freeform 25"/>
            <p:cNvSpPr/>
            <p:nvPr/>
          </p:nvSpPr>
          <p:spPr>
            <a:xfrm>
              <a:off x="6687502" y="2391728"/>
              <a:ext cx="95250" cy="1315402"/>
            </a:xfrm>
            <a:custGeom>
              <a:avLst/>
              <a:gdLst/>
              <a:ahLst/>
              <a:cxnLst/>
              <a:rect l="l" t="t" r="r" b="b"/>
              <a:pathLst>
                <a:path w="95250" h="1315402">
                  <a:moveTo>
                    <a:pt x="95250" y="0"/>
                  </a:moveTo>
                  <a:lnTo>
                    <a:pt x="0" y="1315402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26" name="Freeform 26"/>
            <p:cNvSpPr/>
            <p:nvPr/>
          </p:nvSpPr>
          <p:spPr>
            <a:xfrm>
              <a:off x="6748462" y="3845242"/>
              <a:ext cx="973455" cy="767715"/>
            </a:xfrm>
            <a:custGeom>
              <a:avLst/>
              <a:gdLst/>
              <a:ahLst/>
              <a:cxnLst/>
              <a:rect l="l" t="t" r="r" b="b"/>
              <a:pathLst>
                <a:path w="973455" h="767715">
                  <a:moveTo>
                    <a:pt x="0" y="0"/>
                  </a:moveTo>
                  <a:lnTo>
                    <a:pt x="973455" y="767715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27" name="Freeform 27"/>
            <p:cNvSpPr/>
            <p:nvPr/>
          </p:nvSpPr>
          <p:spPr>
            <a:xfrm>
              <a:off x="7871460" y="2939415"/>
              <a:ext cx="9525" cy="1601152"/>
            </a:xfrm>
            <a:custGeom>
              <a:avLst/>
              <a:gdLst/>
              <a:ahLst/>
              <a:cxnLst/>
              <a:rect l="l" t="t" r="r" b="b"/>
              <a:pathLst>
                <a:path w="9525" h="1601152">
                  <a:moveTo>
                    <a:pt x="0" y="0"/>
                  </a:moveTo>
                  <a:lnTo>
                    <a:pt x="0" y="1601152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28" name="Freeform 28"/>
            <p:cNvSpPr/>
            <p:nvPr/>
          </p:nvSpPr>
          <p:spPr>
            <a:xfrm>
              <a:off x="10111740" y="2345055"/>
              <a:ext cx="929640" cy="469583"/>
            </a:xfrm>
            <a:custGeom>
              <a:avLst/>
              <a:gdLst/>
              <a:ahLst/>
              <a:cxnLst/>
              <a:rect l="l" t="t" r="r" b="b"/>
              <a:pathLst>
                <a:path w="929640" h="469583">
                  <a:moveTo>
                    <a:pt x="929640" y="0"/>
                  </a:moveTo>
                  <a:lnTo>
                    <a:pt x="0" y="469583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29" name="Freeform 29"/>
            <p:cNvSpPr/>
            <p:nvPr/>
          </p:nvSpPr>
          <p:spPr>
            <a:xfrm>
              <a:off x="11124248" y="2391728"/>
              <a:ext cx="95250" cy="1315402"/>
            </a:xfrm>
            <a:custGeom>
              <a:avLst/>
              <a:gdLst/>
              <a:ahLst/>
              <a:cxnLst/>
              <a:rect l="l" t="t" r="r" b="b"/>
              <a:pathLst>
                <a:path w="95250" h="1315402">
                  <a:moveTo>
                    <a:pt x="0" y="0"/>
                  </a:moveTo>
                  <a:lnTo>
                    <a:pt x="95250" y="1315402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30" name="Freeform 30"/>
            <p:cNvSpPr/>
            <p:nvPr/>
          </p:nvSpPr>
          <p:spPr>
            <a:xfrm>
              <a:off x="10185082" y="3845242"/>
              <a:ext cx="973455" cy="767715"/>
            </a:xfrm>
            <a:custGeom>
              <a:avLst/>
              <a:gdLst/>
              <a:ahLst/>
              <a:cxnLst/>
              <a:rect l="l" t="t" r="r" b="b"/>
              <a:pathLst>
                <a:path w="973455" h="767715">
                  <a:moveTo>
                    <a:pt x="973455" y="0"/>
                  </a:moveTo>
                  <a:lnTo>
                    <a:pt x="0" y="767715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31" name="Freeform 31"/>
            <p:cNvSpPr/>
            <p:nvPr/>
          </p:nvSpPr>
          <p:spPr>
            <a:xfrm>
              <a:off x="10035540" y="2939415"/>
              <a:ext cx="9525" cy="1601152"/>
            </a:xfrm>
            <a:custGeom>
              <a:avLst/>
              <a:gdLst/>
              <a:ahLst/>
              <a:cxnLst/>
              <a:rect l="l" t="t" r="r" b="b"/>
              <a:pathLst>
                <a:path w="9525" h="1601152">
                  <a:moveTo>
                    <a:pt x="0" y="0"/>
                  </a:moveTo>
                  <a:lnTo>
                    <a:pt x="0" y="1601152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32" name="Freeform 32"/>
            <p:cNvSpPr/>
            <p:nvPr/>
          </p:nvSpPr>
          <p:spPr>
            <a:xfrm>
              <a:off x="8061960" y="4731068"/>
              <a:ext cx="1783080" cy="9525"/>
            </a:xfrm>
            <a:custGeom>
              <a:avLst/>
              <a:gdLst/>
              <a:ahLst/>
              <a:cxnLst/>
              <a:rect l="l" t="t" r="r" b="b"/>
              <a:pathLst>
                <a:path w="1783080" h="9525">
                  <a:moveTo>
                    <a:pt x="0" y="0"/>
                  </a:moveTo>
                  <a:lnTo>
                    <a:pt x="1783080" y="0"/>
                  </a:lnTo>
                </a:path>
              </a:pathLst>
            </a:custGeom>
            <a:noFill/>
            <a:ln w="17145">
              <a:solidFill>
                <a:srgbClr val="1F5FA8"/>
              </a:solidFill>
            </a:ln>
          </p:spPr>
        </p:sp>
        <p:sp>
          <p:nvSpPr>
            <p:cNvPr id="33" name="Freeform 33"/>
            <p:cNvSpPr/>
            <p:nvPr/>
          </p:nvSpPr>
          <p:spPr>
            <a:xfrm>
              <a:off x="7957185" y="2853690"/>
              <a:ext cx="1992630" cy="9525"/>
            </a:xfrm>
            <a:custGeom>
              <a:avLst/>
              <a:gdLst/>
              <a:ahLst/>
              <a:cxnLst/>
              <a:rect l="l" t="t" r="r" b="b"/>
              <a:pathLst>
                <a:path w="1992630" h="9525">
                  <a:moveTo>
                    <a:pt x="0" y="0"/>
                  </a:moveTo>
                  <a:lnTo>
                    <a:pt x="1992630" y="0"/>
                  </a:lnTo>
                </a:path>
              </a:pathLst>
            </a:custGeom>
            <a:noFill/>
            <a:ln w="17145">
              <a:solidFill>
                <a:srgbClr val="1F2937"/>
              </a:solidFill>
              <a:custDash>
                <a:ds d="333333" sp="222222"/>
              </a:custDash>
            </a:ln>
          </p:spPr>
        </p:sp>
        <p:sp>
          <p:nvSpPr>
            <p:cNvPr id="34" name="Ellipse 34"/>
            <p:cNvSpPr/>
            <p:nvPr/>
          </p:nvSpPr>
          <p:spPr>
            <a:xfrm>
              <a:off x="6713220" y="2229802"/>
              <a:ext cx="152400" cy="15240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35" name="Ellipse 35"/>
            <p:cNvSpPr/>
            <p:nvPr/>
          </p:nvSpPr>
          <p:spPr>
            <a:xfrm>
              <a:off x="7795260" y="2777490"/>
              <a:ext cx="152400" cy="15240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36" name="Ellipse 36"/>
            <p:cNvSpPr/>
            <p:nvPr/>
          </p:nvSpPr>
          <p:spPr>
            <a:xfrm>
              <a:off x="6604635" y="3716655"/>
              <a:ext cx="152400" cy="15240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37" name="Ellipse 37"/>
            <p:cNvSpPr/>
            <p:nvPr/>
          </p:nvSpPr>
          <p:spPr>
            <a:xfrm>
              <a:off x="7690485" y="4550092"/>
              <a:ext cx="361950" cy="361950"/>
            </a:xfrm>
            <a:prstGeom prst="ellipse">
              <a:avLst/>
            </a:prstGeom>
            <a:solidFill>
              <a:srgbClr val="FDEEE7"/>
            </a:solidFill>
            <a:ln w="17145">
              <a:solidFill>
                <a:srgbClr val="F26B3A"/>
              </a:solidFill>
            </a:ln>
          </p:spPr>
        </p:sp>
        <p:sp>
          <p:nvSpPr>
            <p:cNvPr id="38" name="Ellipse 38"/>
            <p:cNvSpPr/>
            <p:nvPr/>
          </p:nvSpPr>
          <p:spPr>
            <a:xfrm>
              <a:off x="11041380" y="2229802"/>
              <a:ext cx="152400" cy="15240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39" name="Ellipse 39"/>
            <p:cNvSpPr/>
            <p:nvPr/>
          </p:nvSpPr>
          <p:spPr>
            <a:xfrm>
              <a:off x="9959340" y="2777490"/>
              <a:ext cx="152400" cy="15240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40" name="Ellipse 40"/>
            <p:cNvSpPr/>
            <p:nvPr/>
          </p:nvSpPr>
          <p:spPr>
            <a:xfrm>
              <a:off x="11149965" y="3716655"/>
              <a:ext cx="152400" cy="15240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41" name="Ellipse 41"/>
            <p:cNvSpPr/>
            <p:nvPr/>
          </p:nvSpPr>
          <p:spPr>
            <a:xfrm>
              <a:off x="9854565" y="4550092"/>
              <a:ext cx="361950" cy="361950"/>
            </a:xfrm>
            <a:prstGeom prst="ellipse">
              <a:avLst/>
            </a:prstGeom>
            <a:solidFill>
              <a:srgbClr val="FDEEE7"/>
            </a:solidFill>
            <a:ln w="17145">
              <a:solidFill>
                <a:srgbClr val="F26B3A"/>
              </a:solidFill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7822209" y="4661059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u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9986289" y="4661059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v</a:t>
              </a:r>
            </a:p>
          </p:txBody>
        </p:sp>
        <p:sp>
          <p:nvSpPr>
            <p:cNvPr id="44" name="Rectangle 44"/>
            <p:cNvSpPr/>
            <p:nvPr/>
          </p:nvSpPr>
          <p:spPr>
            <a:xfrm>
              <a:off x="8686800" y="4645342"/>
              <a:ext cx="533400" cy="160020"/>
            </a:xfrm>
            <a:prstGeom prst="roundRect">
              <a:avLst>
                <a:gd name="adj" fmla="val 23810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8706422" y="4677728"/>
              <a:ext cx="494157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最小跨边</a:t>
              </a:r>
            </a:p>
          </p:txBody>
        </p:sp>
        <p:sp>
          <p:nvSpPr>
            <p:cNvPr id="46" name="Rectangle 46"/>
            <p:cNvSpPr/>
            <p:nvPr/>
          </p:nvSpPr>
          <p:spPr>
            <a:xfrm>
              <a:off x="8686800" y="2767965"/>
              <a:ext cx="533400" cy="160020"/>
            </a:xfrm>
            <a:prstGeom prst="roundRect">
              <a:avLst>
                <a:gd name="adj" fmla="val 23810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47" name="TextBox 47"/>
            <p:cNvSpPr txBox="1"/>
            <p:nvPr/>
          </p:nvSpPr>
          <p:spPr>
            <a:xfrm>
              <a:off x="8706422" y="2800350"/>
              <a:ext cx="494157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其他跨边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7477430" y="1562100"/>
              <a:ext cx="13845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50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S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10059314" y="1562100"/>
              <a:ext cx="38488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50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V−S</a:t>
              </a:r>
            </a:p>
          </p:txBody>
        </p:sp>
      </p:grpSp>
      <p:grpSp>
        <p:nvGrpSpPr>
          <p:cNvPr id="57" name="takeaway"/>
          <p:cNvGrpSpPr/>
          <p:nvPr/>
        </p:nvGrpSpPr>
        <p:grpSpPr>
          <a:xfrm>
            <a:off x="533400" y="5606415"/>
            <a:ext cx="11125200" cy="756285"/>
            <a:chOff x="533400" y="5606415"/>
            <a:chExt cx="11125200" cy="756285"/>
          </a:xfrm>
        </p:grpSpPr>
        <p:sp>
          <p:nvSpPr>
            <p:cNvPr id="51" name="Rectangle 51"/>
            <p:cNvSpPr/>
            <p:nvPr/>
          </p:nvSpPr>
          <p:spPr>
            <a:xfrm>
              <a:off x="533400" y="5606415"/>
              <a:ext cx="11125200" cy="756285"/>
            </a:xfrm>
            <a:prstGeom prst="roundRect">
              <a:avLst>
                <a:gd name="adj" fmla="val 15113"/>
              </a:avLst>
            </a:prstGeom>
            <a:solidFill>
              <a:srgbClr val="FDECEA"/>
            </a:solidFill>
            <a:ln>
              <a:noFill/>
            </a:ln>
          </p:spPr>
        </p:sp>
        <p:grpSp>
          <p:nvGrpSpPr>
            <p:cNvPr id="55" name="Group 55"/>
            <p:cNvGrpSpPr/>
            <p:nvPr/>
          </p:nvGrpSpPr>
          <p:grpSpPr>
            <a:xfrm>
              <a:off x="726129" y="5880853"/>
              <a:ext cx="224134" cy="192560"/>
              <a:chOff x="726129" y="5880853"/>
              <a:chExt cx="224134" cy="192560"/>
            </a:xfrm>
          </p:grpSpPr>
          <p:sp>
            <p:nvSpPr>
              <p:cNvPr id="52" name="Freeform 52"/>
              <p:cNvSpPr/>
              <p:nvPr/>
            </p:nvSpPr>
            <p:spPr>
              <a:xfrm>
                <a:off x="838200" y="5951220"/>
                <a:ext cx="95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44450">
                    <a:moveTo>
                      <a:pt x="0" y="0"/>
                    </a:moveTo>
                    <a:lnTo>
                      <a:pt x="0" y="4445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53" name="Freeform 53"/>
              <p:cNvSpPr/>
              <p:nvPr/>
            </p:nvSpPr>
            <p:spPr>
              <a:xfrm>
                <a:off x="726129" y="5880853"/>
                <a:ext cx="224134" cy="192560"/>
              </a:xfrm>
              <a:custGeom>
                <a:avLst/>
                <a:gdLst/>
                <a:ahLst/>
                <a:cxnLst/>
                <a:rect l="l" t="t" r="r" b="b"/>
                <a:pathLst>
                  <a:path w="224134" h="192560">
                    <a:moveTo>
                      <a:pt x="93880" y="10259"/>
                    </a:moveTo>
                    <a:lnTo>
                      <a:pt x="3802" y="160656"/>
                    </a:lnTo>
                    <a:cubicBezTo>
                      <a:pt x="23" y="167200"/>
                      <a:pt x="0" y="175257"/>
                      <a:pt x="3741" y="181823"/>
                    </a:cubicBezTo>
                    <a:cubicBezTo>
                      <a:pt x="7482" y="188388"/>
                      <a:pt x="14426" y="192476"/>
                      <a:pt x="21982" y="192560"/>
                    </a:cubicBezTo>
                    <a:lnTo>
                      <a:pt x="202160" y="192560"/>
                    </a:lnTo>
                    <a:cubicBezTo>
                      <a:pt x="209713" y="192473"/>
                      <a:pt x="216653" y="188387"/>
                      <a:pt x="220393" y="181826"/>
                    </a:cubicBezTo>
                    <a:cubicBezTo>
                      <a:pt x="224134" y="175264"/>
                      <a:pt x="224114" y="167211"/>
                      <a:pt x="220341" y="160667"/>
                    </a:cubicBezTo>
                    <a:lnTo>
                      <a:pt x="130262" y="10248"/>
                    </a:lnTo>
                    <a:cubicBezTo>
                      <a:pt x="126408" y="3886"/>
                      <a:pt x="119510" y="0"/>
                      <a:pt x="112071" y="0"/>
                    </a:cubicBezTo>
                    <a:cubicBezTo>
                      <a:pt x="104633" y="0"/>
                      <a:pt x="97734" y="3886"/>
                      <a:pt x="93880" y="10248"/>
                    </a:cubicBez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54" name="Freeform 54"/>
              <p:cNvSpPr/>
              <p:nvPr/>
            </p:nvSpPr>
            <p:spPr>
              <a:xfrm>
                <a:off x="838200" y="6029008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</p:grpSp>
        <p:sp>
          <p:nvSpPr>
            <p:cNvPr id="56" name="TextBox 56"/>
            <p:cNvSpPr txBox="1"/>
            <p:nvPr/>
          </p:nvSpPr>
          <p:spPr>
            <a:xfrm>
              <a:off x="1040511" y="5753576"/>
              <a:ext cx="9969246" cy="5415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70"/>
                </a:lnSpc>
              </a:pPr>
              <a:r>
                <a:rPr lang="zh-CN" sz="142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定理说的是“存在一棵最小支撑树包含它”，不是“每棵最小支撑树都包含它”。有并列最小跨边时，另一棵最小支撑树可能改用</a:t>
              </a:r>
              <a:br/>
              <a:r>
                <a:rPr lang="zh-CN" sz="142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另一条。</a:t>
              </a:r>
            </a:p>
          </p:txBody>
        </p:sp>
      </p:grpSp>
      <p:grpSp>
        <p:nvGrpSpPr>
          <p:cNvPr id="60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58" name="TextBox 58"/>
            <p:cNvSpPr txBox="1"/>
            <p:nvPr/>
          </p:nvSpPr>
          <p:spPr>
            <a:xfrm>
              <a:off x="528447" y="6581299"/>
              <a:ext cx="232523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数据结构 · 第16讲 最小支撑树及图应用</a:t>
              </a:r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11581087" y="6581299"/>
              <a:ext cx="8246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7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7578090" cy="909257"/>
            <a:chOff x="520446" y="342900"/>
            <a:chExt cx="7578090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4203382" cy="26670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43323" y="407194"/>
              <a:ext cx="418448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第16讲 最小支撑树 · 最小支撑树：把所有点连起来的最省方案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7578090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最小跨边定理的证明：反证法，换一条边把树改小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F5FA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24" name="c1-steps-1"/>
          <p:cNvGrpSpPr/>
          <p:nvPr/>
        </p:nvGrpSpPr>
        <p:grpSpPr>
          <a:xfrm>
            <a:off x="533400" y="1533525"/>
            <a:ext cx="5559679" cy="3109436"/>
            <a:chOff x="533400" y="1533525"/>
            <a:chExt cx="5559679" cy="3109436"/>
          </a:xfrm>
        </p:grpSpPr>
        <p:sp>
          <p:nvSpPr>
            <p:cNvPr id="7" name="Rectangle 7"/>
            <p:cNvSpPr/>
            <p:nvPr/>
          </p:nvSpPr>
          <p:spPr>
            <a:xfrm>
              <a:off x="666750" y="1676400"/>
              <a:ext cx="19050" cy="217551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8" name="Ellipse 8"/>
            <p:cNvSpPr/>
            <p:nvPr/>
          </p:nvSpPr>
          <p:spPr>
            <a:xfrm>
              <a:off x="533400" y="1533525"/>
              <a:ext cx="285750" cy="28575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627024" y="160734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10" name="Ellipse 10"/>
            <p:cNvSpPr/>
            <p:nvPr/>
          </p:nvSpPr>
          <p:spPr>
            <a:xfrm>
              <a:off x="533400" y="2120265"/>
              <a:ext cx="285750" cy="28575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627024" y="219408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12" name="Ellipse 12"/>
            <p:cNvSpPr/>
            <p:nvPr/>
          </p:nvSpPr>
          <p:spPr>
            <a:xfrm>
              <a:off x="533400" y="2914650"/>
              <a:ext cx="285750" cy="28575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627024" y="2988469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14" name="Ellipse 14"/>
            <p:cNvSpPr/>
            <p:nvPr/>
          </p:nvSpPr>
          <p:spPr>
            <a:xfrm>
              <a:off x="533400" y="3709035"/>
              <a:ext cx="285750" cy="28575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627024" y="378285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945642" y="1564957"/>
              <a:ext cx="37719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反设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946785" y="1833086"/>
              <a:ext cx="335335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假定某棵最小支撑树 T 不包含最小跨边（u, v）。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945642" y="2152650"/>
              <a:ext cx="110413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找到一条跨边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946785" y="2419826"/>
              <a:ext cx="5039614" cy="42767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35"/>
                </a:lnSpc>
              </a:pPr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T 连通，u 与 v 之间在 T 中有唯一路径。u ∈ S 而 v ∈ V−S，这条路径必定从 S 穿</a:t>
              </a:r>
              <a:br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到 V−S，于是路径上至少有一条跨集合边（s, t）。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945642" y="2946082"/>
              <a:ext cx="37719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换边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946785" y="3214211"/>
              <a:ext cx="5117846" cy="42767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35"/>
                </a:lnSpc>
              </a:pPr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在 T 中删去（s, t）再加入（u, v）。删边把 T 断成两块，u 与 s 在一块、v 与 t</a:t>
              </a:r>
              <a:br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在另一块，加入（u, v）恰好把它们重新接上，T′ 仍是支撑树。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945642" y="3740468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导出矛盾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946785" y="4007644"/>
              <a:ext cx="5146294" cy="63531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35"/>
                </a:lnSpc>
              </a:pPr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（u, v）是最小跨边而（s, t）也是跨边，故 weight(u, v) ≤ weight(s, t)，</a:t>
              </a:r>
              <a:br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T′ 的边权和不大于 T。若取严格小于则直接与 T 最小矛盾；相等时 T′ 也是最小支</a:t>
              </a:r>
              <a:br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撑树且含（u, v）。</a:t>
              </a:r>
            </a:p>
          </p:txBody>
        </p:sp>
      </p:grpSp>
      <p:grpSp>
        <p:nvGrpSpPr>
          <p:cNvPr id="31" name="c1-callout-2"/>
          <p:cNvGrpSpPr/>
          <p:nvPr/>
        </p:nvGrpSpPr>
        <p:grpSpPr>
          <a:xfrm>
            <a:off x="533400" y="4811078"/>
            <a:ext cx="5842635" cy="729615"/>
            <a:chOff x="533400" y="4811078"/>
            <a:chExt cx="5842635" cy="729615"/>
          </a:xfrm>
        </p:grpSpPr>
        <p:sp>
          <p:nvSpPr>
            <p:cNvPr id="25" name="Rectangle 25"/>
            <p:cNvSpPr/>
            <p:nvPr/>
          </p:nvSpPr>
          <p:spPr>
            <a:xfrm>
              <a:off x="533400" y="4811078"/>
              <a:ext cx="5842635" cy="729615"/>
            </a:xfrm>
            <a:prstGeom prst="roundRect">
              <a:avLst>
                <a:gd name="adj" fmla="val 15666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29" name="Group 29"/>
            <p:cNvGrpSpPr/>
            <p:nvPr/>
          </p:nvGrpSpPr>
          <p:grpSpPr>
            <a:xfrm>
              <a:off x="738188" y="5075873"/>
              <a:ext cx="200026" cy="200025"/>
              <a:chOff x="738188" y="5075873"/>
              <a:chExt cx="200026" cy="200025"/>
            </a:xfrm>
          </p:grpSpPr>
          <p:sp>
            <p:nvSpPr>
              <p:cNvPr id="26" name="Freeform 26"/>
              <p:cNvSpPr/>
              <p:nvPr/>
            </p:nvSpPr>
            <p:spPr>
              <a:xfrm>
                <a:off x="738188" y="5075873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27" name="Freeform 27"/>
              <p:cNvSpPr/>
              <p:nvPr/>
            </p:nvSpPr>
            <p:spPr>
              <a:xfrm>
                <a:off x="777926" y="5120323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28" name="Freeform 28"/>
              <p:cNvSpPr/>
              <p:nvPr/>
            </p:nvSpPr>
            <p:spPr>
              <a:xfrm>
                <a:off x="812642" y="5231448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30" name="TextBox 30"/>
            <p:cNvSpPr txBox="1"/>
            <p:nvPr/>
          </p:nvSpPr>
          <p:spPr>
            <a:xfrm>
              <a:off x="1040892" y="4957762"/>
              <a:ext cx="4951476" cy="51263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58"/>
                </a:lnSpc>
              </a:pPr>
              <a:r>
                <a:rPr lang="zh-CN" sz="135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三个动作是“找路径、找跨边、换边”。第 26 页的增量最小支撑树</a:t>
              </a:r>
              <a:br/>
              <a:r>
                <a:rPr lang="zh-CN" sz="135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用的是同一套论证。</a:t>
              </a:r>
            </a:p>
          </p:txBody>
        </p:sp>
      </p:grpSp>
      <p:grpSp>
        <p:nvGrpSpPr>
          <p:cNvPr id="54" name="c2-graph-1"/>
          <p:cNvGrpSpPr/>
          <p:nvPr/>
        </p:nvGrpSpPr>
        <p:grpSpPr>
          <a:xfrm>
            <a:off x="7637145" y="1550670"/>
            <a:ext cx="3165157" cy="1760220"/>
            <a:chOff x="7637145" y="1550670"/>
            <a:chExt cx="3165157" cy="1760220"/>
          </a:xfrm>
        </p:grpSpPr>
        <p:sp>
          <p:nvSpPr>
            <p:cNvPr id="32" name="Freeform 32"/>
            <p:cNvSpPr/>
            <p:nvPr/>
          </p:nvSpPr>
          <p:spPr>
            <a:xfrm>
              <a:off x="7876222" y="2172652"/>
              <a:ext cx="9525" cy="804863"/>
            </a:xfrm>
            <a:custGeom>
              <a:avLst/>
              <a:gdLst/>
              <a:ahLst/>
              <a:cxnLst/>
              <a:rect l="l" t="t" r="r" b="b"/>
              <a:pathLst>
                <a:path w="9525" h="804863">
                  <a:moveTo>
                    <a:pt x="0" y="0"/>
                  </a:moveTo>
                  <a:lnTo>
                    <a:pt x="0" y="804863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33" name="Freeform 33"/>
            <p:cNvSpPr/>
            <p:nvPr/>
          </p:nvSpPr>
          <p:spPr>
            <a:xfrm>
              <a:off x="10563225" y="2172652"/>
              <a:ext cx="9525" cy="804863"/>
            </a:xfrm>
            <a:custGeom>
              <a:avLst/>
              <a:gdLst/>
              <a:ahLst/>
              <a:cxnLst/>
              <a:rect l="l" t="t" r="r" b="b"/>
              <a:pathLst>
                <a:path w="9525" h="804863">
                  <a:moveTo>
                    <a:pt x="0" y="0"/>
                  </a:moveTo>
                  <a:lnTo>
                    <a:pt x="0" y="804863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34" name="Freeform 34"/>
            <p:cNvSpPr/>
            <p:nvPr/>
          </p:nvSpPr>
          <p:spPr>
            <a:xfrm>
              <a:off x="8047672" y="2001202"/>
              <a:ext cx="2344102" cy="9525"/>
            </a:xfrm>
            <a:custGeom>
              <a:avLst/>
              <a:gdLst/>
              <a:ahLst/>
              <a:cxnLst/>
              <a:rect l="l" t="t" r="r" b="b"/>
              <a:pathLst>
                <a:path w="2344102" h="9525">
                  <a:moveTo>
                    <a:pt x="0" y="0"/>
                  </a:moveTo>
                  <a:lnTo>
                    <a:pt x="2344102" y="0"/>
                  </a:lnTo>
                </a:path>
              </a:pathLst>
            </a:custGeom>
            <a:noFill/>
            <a:ln w="17145">
              <a:solidFill>
                <a:srgbClr val="B42318"/>
              </a:solidFill>
            </a:ln>
          </p:spPr>
        </p:sp>
        <p:sp>
          <p:nvSpPr>
            <p:cNvPr id="35" name="Freeform 35"/>
            <p:cNvSpPr/>
            <p:nvPr/>
          </p:nvSpPr>
          <p:spPr>
            <a:xfrm>
              <a:off x="8047672" y="3148965"/>
              <a:ext cx="2344102" cy="9525"/>
            </a:xfrm>
            <a:custGeom>
              <a:avLst/>
              <a:gdLst/>
              <a:ahLst/>
              <a:cxnLst/>
              <a:rect l="l" t="t" r="r" b="b"/>
              <a:pathLst>
                <a:path w="2344102" h="9525">
                  <a:moveTo>
                    <a:pt x="0" y="0"/>
                  </a:moveTo>
                  <a:lnTo>
                    <a:pt x="2344102" y="0"/>
                  </a:lnTo>
                </a:path>
              </a:pathLst>
            </a:custGeom>
            <a:noFill/>
            <a:ln w="17145">
              <a:solidFill>
                <a:srgbClr val="14A38B"/>
              </a:solidFill>
            </a:ln>
          </p:spPr>
        </p:sp>
        <p:sp>
          <p:nvSpPr>
            <p:cNvPr id="36" name="Ellipse 36"/>
            <p:cNvSpPr/>
            <p:nvPr/>
          </p:nvSpPr>
          <p:spPr>
            <a:xfrm>
              <a:off x="7714298" y="1839278"/>
              <a:ext cx="323850" cy="32385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37" name="Ellipse 37"/>
            <p:cNvSpPr/>
            <p:nvPr/>
          </p:nvSpPr>
          <p:spPr>
            <a:xfrm>
              <a:off x="7714298" y="2987040"/>
              <a:ext cx="323850" cy="323850"/>
            </a:xfrm>
            <a:prstGeom prst="ellipse">
              <a:avLst/>
            </a:prstGeom>
            <a:solidFill>
              <a:srgbClr val="FDEEE7"/>
            </a:solidFill>
            <a:ln w="17145">
              <a:solidFill>
                <a:srgbClr val="F26B3A"/>
              </a:solidFill>
            </a:ln>
          </p:spPr>
        </p:sp>
        <p:sp>
          <p:nvSpPr>
            <p:cNvPr id="38" name="Ellipse 38"/>
            <p:cNvSpPr/>
            <p:nvPr/>
          </p:nvSpPr>
          <p:spPr>
            <a:xfrm>
              <a:off x="10401300" y="1839278"/>
              <a:ext cx="323850" cy="32385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39" name="Ellipse 39"/>
            <p:cNvSpPr/>
            <p:nvPr/>
          </p:nvSpPr>
          <p:spPr>
            <a:xfrm>
              <a:off x="10401300" y="2987040"/>
              <a:ext cx="323850" cy="323850"/>
            </a:xfrm>
            <a:prstGeom prst="ellipse">
              <a:avLst/>
            </a:prstGeom>
            <a:solidFill>
              <a:srgbClr val="FDEEE7"/>
            </a:solidFill>
            <a:ln w="17145">
              <a:solidFill>
                <a:srgbClr val="F26B3A"/>
              </a:solidFill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7833175" y="1939766"/>
              <a:ext cx="8609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s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7833175" y="3088481"/>
              <a:ext cx="8609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u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10520178" y="1939766"/>
              <a:ext cx="8609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t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10520178" y="3088481"/>
              <a:ext cx="8609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v</a:t>
              </a:r>
            </a:p>
          </p:txBody>
        </p:sp>
        <p:sp>
          <p:nvSpPr>
            <p:cNvPr id="44" name="Rectangle 44"/>
            <p:cNvSpPr/>
            <p:nvPr/>
          </p:nvSpPr>
          <p:spPr>
            <a:xfrm>
              <a:off x="7637145" y="2496502"/>
              <a:ext cx="477202" cy="146685"/>
            </a:xfrm>
            <a:prstGeom prst="roundRect">
              <a:avLst>
                <a:gd name="adj" fmla="val 25974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7656307" y="2525554"/>
              <a:ext cx="439831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T 中路径</a:t>
              </a:r>
            </a:p>
          </p:txBody>
        </p:sp>
        <p:sp>
          <p:nvSpPr>
            <p:cNvPr id="46" name="Rectangle 46"/>
            <p:cNvSpPr/>
            <p:nvPr/>
          </p:nvSpPr>
          <p:spPr>
            <a:xfrm>
              <a:off x="10325100" y="2496502"/>
              <a:ext cx="477202" cy="146685"/>
            </a:xfrm>
            <a:prstGeom prst="roundRect">
              <a:avLst>
                <a:gd name="adj" fmla="val 25974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47" name="TextBox 47"/>
            <p:cNvSpPr txBox="1"/>
            <p:nvPr/>
          </p:nvSpPr>
          <p:spPr>
            <a:xfrm>
              <a:off x="10343309" y="2525554"/>
              <a:ext cx="439831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T 中路径</a:t>
              </a:r>
            </a:p>
          </p:txBody>
        </p:sp>
        <p:sp>
          <p:nvSpPr>
            <p:cNvPr id="48" name="Rectangle 48"/>
            <p:cNvSpPr/>
            <p:nvPr/>
          </p:nvSpPr>
          <p:spPr>
            <a:xfrm>
              <a:off x="9077325" y="1922145"/>
              <a:ext cx="284798" cy="146685"/>
            </a:xfrm>
            <a:prstGeom prst="roundRect">
              <a:avLst>
                <a:gd name="adj" fmla="val 25974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49" name="TextBox 49"/>
            <p:cNvSpPr txBox="1"/>
            <p:nvPr/>
          </p:nvSpPr>
          <p:spPr>
            <a:xfrm>
              <a:off x="9104097" y="1951196"/>
              <a:ext cx="230302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删去</a:t>
              </a:r>
            </a:p>
          </p:txBody>
        </p:sp>
        <p:sp>
          <p:nvSpPr>
            <p:cNvPr id="50" name="Rectangle 50"/>
            <p:cNvSpPr/>
            <p:nvPr/>
          </p:nvSpPr>
          <p:spPr>
            <a:xfrm>
              <a:off x="9077325" y="3070860"/>
              <a:ext cx="284798" cy="146685"/>
            </a:xfrm>
            <a:prstGeom prst="roundRect">
              <a:avLst>
                <a:gd name="adj" fmla="val 25974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51" name="TextBox 51"/>
            <p:cNvSpPr txBox="1"/>
            <p:nvPr/>
          </p:nvSpPr>
          <p:spPr>
            <a:xfrm>
              <a:off x="9104097" y="3099911"/>
              <a:ext cx="230302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加入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7827763" y="1550670"/>
              <a:ext cx="9691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S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10428515" y="1550670"/>
              <a:ext cx="26942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V−S</a:t>
              </a:r>
            </a:p>
          </p:txBody>
        </p:sp>
      </p:grpSp>
      <p:grpSp>
        <p:nvGrpSpPr>
          <p:cNvPr id="59" name="c2-card-2"/>
          <p:cNvGrpSpPr/>
          <p:nvPr/>
        </p:nvGrpSpPr>
        <p:grpSpPr>
          <a:xfrm>
            <a:off x="6680835" y="3866198"/>
            <a:ext cx="4977765" cy="1674495"/>
            <a:chOff x="6680835" y="3866198"/>
            <a:chExt cx="4977765" cy="1674495"/>
          </a:xfrm>
        </p:grpSpPr>
        <p:sp>
          <p:nvSpPr>
            <p:cNvPr id="55" name="Rectangle 55"/>
            <p:cNvSpPr/>
            <p:nvPr/>
          </p:nvSpPr>
          <p:spPr>
            <a:xfrm>
              <a:off x="6680835" y="3866198"/>
              <a:ext cx="4977765" cy="1674495"/>
            </a:xfrm>
            <a:prstGeom prst="roundRect">
              <a:avLst>
                <a:gd name="adj" fmla="val 7964"/>
              </a:avLst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56" name="Rectangle 56"/>
            <p:cNvSpPr/>
            <p:nvPr/>
          </p:nvSpPr>
          <p:spPr>
            <a:xfrm>
              <a:off x="6873240" y="4058602"/>
              <a:ext cx="1276350" cy="247650"/>
            </a:xfrm>
            <a:prstGeom prst="roundRect">
              <a:avLst>
                <a:gd name="adj" fmla="val 50000"/>
              </a:avLst>
            </a:prstGeom>
            <a:solidFill>
              <a:srgbClr val="174A85"/>
            </a:solidFill>
            <a:ln>
              <a:noFill/>
            </a:ln>
          </p:spPr>
        </p:sp>
        <p:sp>
          <p:nvSpPr>
            <p:cNvPr id="57" name="TextBox 57"/>
            <p:cNvSpPr txBox="1"/>
            <p:nvPr/>
          </p:nvSpPr>
          <p:spPr>
            <a:xfrm>
              <a:off x="6940677" y="4092893"/>
              <a:ext cx="114147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这一步为什么关键</a:t>
              </a: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6866382" y="4414838"/>
              <a:ext cx="4317111" cy="7783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证明给出的是一条“换边不变差”的操作。后面两个算法每</a:t>
              </a:r>
              <a:br/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一步都只挑当前的最小跨边，按这条定理，挑出来的边总</a:t>
              </a:r>
              <a:br/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能被某棵最小支撑树容纳，因此贪心不会走错。</a:t>
              </a:r>
            </a:p>
          </p:txBody>
        </p:sp>
      </p:grpSp>
      <p:grpSp>
        <p:nvGrpSpPr>
          <p:cNvPr id="66" name="takeaway"/>
          <p:cNvGrpSpPr/>
          <p:nvPr/>
        </p:nvGrpSpPr>
        <p:grpSpPr>
          <a:xfrm>
            <a:off x="533400" y="5874068"/>
            <a:ext cx="11125200" cy="488632"/>
            <a:chOff x="533400" y="5874068"/>
            <a:chExt cx="11125200" cy="488632"/>
          </a:xfrm>
        </p:grpSpPr>
        <p:sp>
          <p:nvSpPr>
            <p:cNvPr id="60" name="Rectangle 60"/>
            <p:cNvSpPr/>
            <p:nvPr/>
          </p:nvSpPr>
          <p:spPr>
            <a:xfrm>
              <a:off x="533400" y="5874068"/>
              <a:ext cx="11125200" cy="488632"/>
            </a:xfrm>
            <a:prstGeom prst="roundRect">
              <a:avLst>
                <a:gd name="adj" fmla="val 23392"/>
              </a:avLst>
            </a:prstGeom>
            <a:solidFill>
              <a:srgbClr val="F4F6FB"/>
            </a:solidFill>
            <a:ln>
              <a:noFill/>
            </a:ln>
          </p:spPr>
        </p:sp>
        <p:grpSp>
          <p:nvGrpSpPr>
            <p:cNvPr id="64" name="Group 64"/>
            <p:cNvGrpSpPr/>
            <p:nvPr/>
          </p:nvGrpSpPr>
          <p:grpSpPr>
            <a:xfrm>
              <a:off x="738188" y="6017895"/>
              <a:ext cx="200026" cy="200026"/>
              <a:chOff x="738188" y="6017895"/>
              <a:chExt cx="200026" cy="200026"/>
            </a:xfrm>
          </p:grpSpPr>
          <p:sp>
            <p:nvSpPr>
              <p:cNvPr id="61" name="Freeform 61"/>
              <p:cNvSpPr/>
              <p:nvPr/>
            </p:nvSpPr>
            <p:spPr>
              <a:xfrm>
                <a:off x="738188" y="6017895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62" name="Freeform 62"/>
              <p:cNvSpPr/>
              <p:nvPr/>
            </p:nvSpPr>
            <p:spPr>
              <a:xfrm>
                <a:off x="838200" y="6084570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63" name="Freeform 63"/>
              <p:cNvSpPr/>
              <p:nvPr/>
            </p:nvSpPr>
            <p:spPr>
              <a:xfrm>
                <a:off x="827088" y="6117908"/>
                <a:ext cx="222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22225" h="44450">
                    <a:moveTo>
                      <a:pt x="0" y="0"/>
                    </a:moveTo>
                    <a:lnTo>
                      <a:pt x="11113" y="0"/>
                    </a:lnTo>
                    <a:lnTo>
                      <a:pt x="11113" y="44450"/>
                    </a:lnTo>
                    <a:lnTo>
                      <a:pt x="22225" y="4445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</p:grpSp>
        <p:sp>
          <p:nvSpPr>
            <p:cNvPr id="65" name="TextBox 65"/>
            <p:cNvSpPr txBox="1"/>
            <p:nvPr/>
          </p:nvSpPr>
          <p:spPr>
            <a:xfrm>
              <a:off x="1040892" y="6023610"/>
              <a:ext cx="1039089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更正：源课件第 10 页写“由于 w(u,v) &lt; w(s,t)”。最小跨边只保证 ≤，取等号时结论仍成立，写成严格小于会漏掉并列的情形。</a:t>
              </a:r>
            </a:p>
          </p:txBody>
        </p:sp>
      </p:grpSp>
      <p:grpSp>
        <p:nvGrpSpPr>
          <p:cNvPr id="69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67" name="TextBox 67"/>
            <p:cNvSpPr txBox="1"/>
            <p:nvPr/>
          </p:nvSpPr>
          <p:spPr>
            <a:xfrm>
              <a:off x="528447" y="6581299"/>
              <a:ext cx="232523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数据结构 · 第16讲 最小支撑树及图应用</a:t>
              </a:r>
            </a:p>
          </p:txBody>
        </p:sp>
        <p:sp>
          <p:nvSpPr>
            <p:cNvPr id="68" name="TextBox 68"/>
            <p:cNvSpPr txBox="1"/>
            <p:nvPr/>
          </p:nvSpPr>
          <p:spPr>
            <a:xfrm>
              <a:off x="11581087" y="6581299"/>
              <a:ext cx="8246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8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-disc"/>
          <p:cNvSpPr/>
          <p:nvPr/>
        </p:nvSpPr>
        <p:spPr>
          <a:xfrm>
            <a:off x="7715250" y="571500"/>
            <a:ext cx="5715000" cy="5715000"/>
          </a:xfrm>
          <a:prstGeom prst="ellipse">
            <a:avLst/>
          </a:prstGeom>
          <a:solidFill>
            <a:srgbClr val="1F5FA8"/>
          </a:solidFill>
          <a:ln>
            <a:noFill/>
          </a:ln>
        </p:spPr>
      </p:sp>
      <p:sp>
        <p:nvSpPr>
          <p:cNvPr id="3" name="section-ring"/>
          <p:cNvSpPr/>
          <p:nvPr/>
        </p:nvSpPr>
        <p:spPr>
          <a:xfrm>
            <a:off x="7334250" y="190500"/>
            <a:ext cx="6477000" cy="6477000"/>
          </a:xfrm>
          <a:prstGeom prst="ellipse">
            <a:avLst/>
          </a:prstGeom>
          <a:noFill/>
          <a:ln w="133350">
            <a:solidFill>
              <a:srgbClr val="E6EFF9"/>
            </a:solidFill>
          </a:ln>
        </p:spPr>
      </p:sp>
      <p:grpSp>
        <p:nvGrpSpPr>
          <p:cNvPr id="5" name="section-num"/>
          <p:cNvGrpSpPr/>
          <p:nvPr/>
        </p:nvGrpSpPr>
        <p:grpSpPr>
          <a:xfrm>
            <a:off x="8954033" y="2705100"/>
            <a:ext cx="1903933" cy="2305050"/>
            <a:chOff x="8954033" y="2705100"/>
            <a:chExt cx="1903933" cy="2305050"/>
          </a:xfrm>
        </p:grpSpPr>
        <p:sp>
          <p:nvSpPr>
            <p:cNvPr id="4" name="TextBox 4"/>
            <p:cNvSpPr txBox="1"/>
            <p:nvPr/>
          </p:nvSpPr>
          <p:spPr>
            <a:xfrm>
              <a:off x="8954033" y="2705100"/>
              <a:ext cx="1903933" cy="23050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02</a:t>
              </a:r>
            </a:p>
          </p:txBody>
        </p:sp>
      </p:grpSp>
      <p:grpSp>
        <p:nvGrpSpPr>
          <p:cNvPr id="18" name="section-title"/>
          <p:cNvGrpSpPr/>
          <p:nvPr/>
        </p:nvGrpSpPr>
        <p:grpSpPr>
          <a:xfrm>
            <a:off x="667512" y="1835468"/>
            <a:ext cx="6516014" cy="3351847"/>
            <a:chOff x="667512" y="1835468"/>
            <a:chExt cx="6516014" cy="3351847"/>
          </a:xfrm>
        </p:grpSpPr>
        <p:sp>
          <p:nvSpPr>
            <p:cNvPr id="6" name="TextBox 6"/>
            <p:cNvSpPr txBox="1"/>
            <p:nvPr/>
          </p:nvSpPr>
          <p:spPr>
            <a:xfrm>
              <a:off x="678942" y="1835468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第二部分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667512" y="2240280"/>
              <a:ext cx="6147254" cy="7040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6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Prim 算法：从一个点长出去</a:t>
              </a:r>
            </a:p>
          </p:txBody>
        </p:sp>
        <p:sp>
          <p:nvSpPr>
            <p:cNvPr id="8" name="Rectangle 8"/>
            <p:cNvSpPr/>
            <p:nvPr/>
          </p:nvSpPr>
          <p:spPr>
            <a:xfrm>
              <a:off x="685800" y="3041332"/>
              <a:ext cx="762000" cy="47625"/>
            </a:xfrm>
            <a:prstGeom prst="roundRect">
              <a:avLst>
                <a:gd name="adj" fmla="val 50000"/>
              </a:avLst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677418" y="3377565"/>
              <a:ext cx="6506108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集合 S 从一个顶点开始，每次把最小跨边连着的那个新顶点拉进来</a:t>
              </a:r>
            </a:p>
          </p:txBody>
        </p:sp>
        <p:sp>
          <p:nvSpPr>
            <p:cNvPr id="10" name="Ellipse 10"/>
            <p:cNvSpPr/>
            <p:nvPr/>
          </p:nvSpPr>
          <p:spPr>
            <a:xfrm>
              <a:off x="723900" y="3888105"/>
              <a:ext cx="76200" cy="7620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906780" y="3830955"/>
              <a:ext cx="8229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算法三步</a:t>
              </a:r>
            </a:p>
          </p:txBody>
        </p:sp>
        <p:sp>
          <p:nvSpPr>
            <p:cNvPr id="12" name="Ellipse 12"/>
            <p:cNvSpPr/>
            <p:nvPr/>
          </p:nvSpPr>
          <p:spPr>
            <a:xfrm>
              <a:off x="723900" y="4242435"/>
              <a:ext cx="76200" cy="7620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906780" y="4185285"/>
              <a:ext cx="2364731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Lowcost 与 pre 两个数组</a:t>
              </a:r>
            </a:p>
          </p:txBody>
        </p:sp>
        <p:sp>
          <p:nvSpPr>
            <p:cNvPr id="14" name="Ellipse 14"/>
            <p:cNvSpPr/>
            <p:nvPr/>
          </p:nvSpPr>
          <p:spPr>
            <a:xfrm>
              <a:off x="723900" y="4596765"/>
              <a:ext cx="76200" cy="7620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906780" y="4539615"/>
              <a:ext cx="129587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O(n²) 的实现</a:t>
              </a:r>
            </a:p>
          </p:txBody>
        </p:sp>
        <p:sp>
          <p:nvSpPr>
            <p:cNvPr id="16" name="Ellipse 16"/>
            <p:cNvSpPr/>
            <p:nvPr/>
          </p:nvSpPr>
          <p:spPr>
            <a:xfrm>
              <a:off x="723900" y="4951095"/>
              <a:ext cx="76200" cy="7620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906780" y="4893945"/>
              <a:ext cx="173807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与 Dijkstra 的异同</a:t>
              </a:r>
            </a:p>
          </p:txBody>
        </p:sp>
      </p:grpSp>
      <p:grpSp>
        <p:nvGrpSpPr>
          <p:cNvPr id="21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19" name="TextBox 19"/>
            <p:cNvSpPr txBox="1"/>
            <p:nvPr/>
          </p:nvSpPr>
          <p:spPr>
            <a:xfrm>
              <a:off x="528447" y="6581299"/>
              <a:ext cx="232523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数据结构 · 第16讲 最小支撑树及图应用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11581087" y="6581299"/>
              <a:ext cx="8246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9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7026901" cy="909257"/>
            <a:chOff x="520446" y="342900"/>
            <a:chExt cx="7026901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3431858" cy="26670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61740" y="407194"/>
              <a:ext cx="337422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第16讲 最小支撑树 · Prim 算法：从一个点长出去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7026901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Prim：S 每次扩大一个顶点，扩到 S = V 为止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F5FA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8" name="lead"/>
          <p:cNvGrpSpPr/>
          <p:nvPr/>
        </p:nvGrpSpPr>
        <p:grpSpPr>
          <a:xfrm>
            <a:off x="525399" y="1550194"/>
            <a:ext cx="5941090" cy="308039"/>
            <a:chOff x="525399" y="1550194"/>
            <a:chExt cx="5941090" cy="308039"/>
          </a:xfrm>
        </p:grpSpPr>
        <p:sp>
          <p:nvSpPr>
            <p:cNvPr id="7" name="TextBox 7"/>
            <p:cNvSpPr txBox="1"/>
            <p:nvPr/>
          </p:nvSpPr>
          <p:spPr>
            <a:xfrm>
              <a:off x="525399" y="1550194"/>
              <a:ext cx="5941090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设 G（V, E）为连通图，S 是已经进入最小支撑树的顶点集合。</a:t>
              </a:r>
            </a:p>
          </p:txBody>
        </p:sp>
      </p:grpSp>
      <p:grpSp>
        <p:nvGrpSpPr>
          <p:cNvPr id="22" name="c1-steps-1"/>
          <p:cNvGrpSpPr/>
          <p:nvPr/>
        </p:nvGrpSpPr>
        <p:grpSpPr>
          <a:xfrm>
            <a:off x="533400" y="1977390"/>
            <a:ext cx="5570601" cy="2348198"/>
            <a:chOff x="533400" y="1977390"/>
            <a:chExt cx="5570601" cy="2348198"/>
          </a:xfrm>
        </p:grpSpPr>
        <p:sp>
          <p:nvSpPr>
            <p:cNvPr id="9" name="Rectangle 9"/>
            <p:cNvSpPr/>
            <p:nvPr/>
          </p:nvSpPr>
          <p:spPr>
            <a:xfrm>
              <a:off x="666750" y="2120265"/>
              <a:ext cx="19050" cy="1770698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0" name="Ellipse 10"/>
            <p:cNvSpPr/>
            <p:nvPr/>
          </p:nvSpPr>
          <p:spPr>
            <a:xfrm>
              <a:off x="533400" y="1977390"/>
              <a:ext cx="285750" cy="28575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627024" y="2051209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12" name="Ellipse 12"/>
            <p:cNvSpPr/>
            <p:nvPr/>
          </p:nvSpPr>
          <p:spPr>
            <a:xfrm>
              <a:off x="533400" y="2862262"/>
              <a:ext cx="285750" cy="28575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627024" y="2936081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14" name="Ellipse 14"/>
            <p:cNvSpPr/>
            <p:nvPr/>
          </p:nvSpPr>
          <p:spPr>
            <a:xfrm>
              <a:off x="533400" y="3748088"/>
              <a:ext cx="285750" cy="28575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627024" y="3821906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944880" y="2011680"/>
              <a:ext cx="4191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起步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946023" y="2304574"/>
              <a:ext cx="5157978" cy="483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45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任选一点 u 作起点放入 S，即令 S = {u}。此时最小支撑树里只有一个顶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点、零条边。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944880" y="2896552"/>
              <a:ext cx="4191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扩张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946023" y="3190399"/>
              <a:ext cx="5109210" cy="483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45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在端点分别属于 S 和 V−S 的边里找权值最小的一条（u, v），把这条边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收进最小支撑树，并把 v 放入 S。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944880" y="3782378"/>
              <a:ext cx="4191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重复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946023" y="4076224"/>
              <a:ext cx="504353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反复执行扩张，直到 S = V。共执行 n−1 次，恰好收进 n−1 条边。</a:t>
              </a:r>
            </a:p>
          </p:txBody>
        </p:sp>
      </p:grpSp>
      <p:grpSp>
        <p:nvGrpSpPr>
          <p:cNvPr id="28" name="c1-callout-2"/>
          <p:cNvGrpSpPr/>
          <p:nvPr/>
        </p:nvGrpSpPr>
        <p:grpSpPr>
          <a:xfrm>
            <a:off x="533400" y="4503420"/>
            <a:ext cx="5842635" cy="1136332"/>
            <a:chOff x="533400" y="4503420"/>
            <a:chExt cx="5842635" cy="1136332"/>
          </a:xfrm>
        </p:grpSpPr>
        <p:sp>
          <p:nvSpPr>
            <p:cNvPr id="23" name="Rectangle 23"/>
            <p:cNvSpPr/>
            <p:nvPr/>
          </p:nvSpPr>
          <p:spPr>
            <a:xfrm>
              <a:off x="533400" y="4503420"/>
              <a:ext cx="5842635" cy="1136332"/>
            </a:xfrm>
            <a:prstGeom prst="roundRect">
              <a:avLst>
                <a:gd name="adj" fmla="val 10059"/>
              </a:avLst>
            </a:prstGeom>
            <a:solidFill>
              <a:srgbClr val="1F5FA8"/>
            </a:solidFill>
            <a:ln>
              <a:noFill/>
            </a:ln>
          </p:spPr>
        </p:sp>
        <p:grpSp>
          <p:nvGrpSpPr>
            <p:cNvPr id="26" name="Group 26"/>
            <p:cNvGrpSpPr/>
            <p:nvPr/>
          </p:nvGrpSpPr>
          <p:grpSpPr>
            <a:xfrm>
              <a:off x="738188" y="4972052"/>
              <a:ext cx="200023" cy="200023"/>
              <a:chOff x="738188" y="4972052"/>
              <a:chExt cx="200023" cy="200023"/>
            </a:xfrm>
          </p:grpSpPr>
          <p:sp>
            <p:nvSpPr>
              <p:cNvPr id="24" name="Freeform 24"/>
              <p:cNvSpPr/>
              <p:nvPr/>
            </p:nvSpPr>
            <p:spPr>
              <a:xfrm>
                <a:off x="738188" y="4972052"/>
                <a:ext cx="200023" cy="200023"/>
              </a:xfrm>
              <a:custGeom>
                <a:avLst/>
                <a:gdLst/>
                <a:ahLst/>
                <a:cxnLst/>
                <a:rect l="l" t="t" r="r" b="b"/>
                <a:pathLst>
                  <a:path w="200023" h="200023">
                    <a:moveTo>
                      <a:pt x="150630" y="9366"/>
                    </a:moveTo>
                    <a:lnTo>
                      <a:pt x="190658" y="49393"/>
                    </a:lnTo>
                    <a:cubicBezTo>
                      <a:pt x="196654" y="55389"/>
                      <a:pt x="200023" y="63522"/>
                      <a:pt x="200023" y="72002"/>
                    </a:cubicBezTo>
                    <a:cubicBezTo>
                      <a:pt x="200023" y="80482"/>
                      <a:pt x="196654" y="88614"/>
                      <a:pt x="190658" y="94610"/>
                    </a:cubicBezTo>
                    <a:lnTo>
                      <a:pt x="161287" y="123980"/>
                    </a:lnTo>
                    <a:cubicBezTo>
                      <a:pt x="155291" y="129977"/>
                      <a:pt x="147159" y="133346"/>
                      <a:pt x="138679" y="133346"/>
                    </a:cubicBezTo>
                    <a:cubicBezTo>
                      <a:pt x="130199" y="133346"/>
                      <a:pt x="122066" y="129977"/>
                      <a:pt x="116070" y="123980"/>
                    </a:cubicBezTo>
                    <a:lnTo>
                      <a:pt x="112726" y="120636"/>
                    </a:lnTo>
                    <a:lnTo>
                      <a:pt x="39850" y="193511"/>
                    </a:lnTo>
                    <a:cubicBezTo>
                      <a:pt x="36157" y="197203"/>
                      <a:pt x="31283" y="199477"/>
                      <a:pt x="26081" y="199935"/>
                    </a:cubicBezTo>
                    <a:lnTo>
                      <a:pt x="24136" y="200023"/>
                    </a:lnTo>
                    <a:lnTo>
                      <a:pt x="11113" y="200023"/>
                    </a:lnTo>
                    <a:cubicBezTo>
                      <a:pt x="5479" y="200023"/>
                      <a:pt x="737" y="195806"/>
                      <a:pt x="78" y="190211"/>
                    </a:cubicBezTo>
                    <a:lnTo>
                      <a:pt x="0" y="188911"/>
                    </a:lnTo>
                    <a:lnTo>
                      <a:pt x="0" y="175887"/>
                    </a:lnTo>
                    <a:cubicBezTo>
                      <a:pt x="1" y="170669"/>
                      <a:pt x="1838" y="165618"/>
                      <a:pt x="5190" y="161619"/>
                    </a:cubicBezTo>
                    <a:lnTo>
                      <a:pt x="6512" y="160174"/>
                    </a:lnTo>
                    <a:lnTo>
                      <a:pt x="11113" y="155573"/>
                    </a:lnTo>
                    <a:lnTo>
                      <a:pt x="33338" y="155573"/>
                    </a:lnTo>
                    <a:lnTo>
                      <a:pt x="33338" y="133348"/>
                    </a:lnTo>
                    <a:lnTo>
                      <a:pt x="55563" y="133348"/>
                    </a:lnTo>
                    <a:lnTo>
                      <a:pt x="55563" y="111123"/>
                    </a:lnTo>
                    <a:lnTo>
                      <a:pt x="79388" y="87298"/>
                    </a:lnTo>
                    <a:lnTo>
                      <a:pt x="76043" y="83953"/>
                    </a:lnTo>
                    <a:cubicBezTo>
                      <a:pt x="70046" y="77957"/>
                      <a:pt x="66677" y="69825"/>
                      <a:pt x="66677" y="61345"/>
                    </a:cubicBezTo>
                    <a:cubicBezTo>
                      <a:pt x="66677" y="52865"/>
                      <a:pt x="70046" y="44732"/>
                      <a:pt x="76043" y="38736"/>
                    </a:cubicBezTo>
                    <a:lnTo>
                      <a:pt x="105413" y="9366"/>
                    </a:lnTo>
                    <a:cubicBezTo>
                      <a:pt x="111409" y="3369"/>
                      <a:pt x="119542" y="0"/>
                      <a:pt x="128022" y="0"/>
                    </a:cubicBezTo>
                    <a:cubicBezTo>
                      <a:pt x="136502" y="0"/>
                      <a:pt x="144635" y="3369"/>
                      <a:pt x="150630" y="9366"/>
                    </a:cubicBez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25" name="Freeform 25"/>
              <p:cNvSpPr/>
              <p:nvPr/>
            </p:nvSpPr>
            <p:spPr>
              <a:xfrm>
                <a:off x="871538" y="5038725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</p:grpSp>
        <p:sp>
          <p:nvSpPr>
            <p:cNvPr id="27" name="TextBox 27"/>
            <p:cNvSpPr txBox="1"/>
            <p:nvPr/>
          </p:nvSpPr>
          <p:spPr>
            <a:xfrm>
              <a:off x="1040130" y="4829175"/>
              <a:ext cx="4853940" cy="5695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75"/>
                </a:lnSpc>
              </a:pPr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每一步收的都是当前 S 与 V−S 之间的最小跨边，由最小跨</a:t>
              </a:r>
              <a:br/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边定理，这条边一定在某棵最小支撑树里。</a:t>
              </a:r>
            </a:p>
          </p:txBody>
        </p:sp>
      </p:grpSp>
      <p:grpSp>
        <p:nvGrpSpPr>
          <p:cNvPr id="40" name="c2-kv-1"/>
          <p:cNvGrpSpPr/>
          <p:nvPr/>
        </p:nvGrpSpPr>
        <p:grpSpPr>
          <a:xfrm>
            <a:off x="6673215" y="1992630"/>
            <a:ext cx="4985385" cy="1895475"/>
            <a:chOff x="6673215" y="1992630"/>
            <a:chExt cx="4985385" cy="1895475"/>
          </a:xfrm>
        </p:grpSpPr>
        <p:sp>
          <p:nvSpPr>
            <p:cNvPr id="29" name="TextBox 29"/>
            <p:cNvSpPr txBox="1"/>
            <p:nvPr/>
          </p:nvSpPr>
          <p:spPr>
            <a:xfrm>
              <a:off x="6673215" y="1992630"/>
              <a:ext cx="155512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Vojtěch Jarník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8421052" y="1992630"/>
              <a:ext cx="314515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1930 年最早提出，布拉格大学教授</a:t>
              </a:r>
            </a:p>
          </p:txBody>
        </p:sp>
        <p:sp>
          <p:nvSpPr>
            <p:cNvPr id="31" name="Rectangle 31"/>
            <p:cNvSpPr/>
            <p:nvPr/>
          </p:nvSpPr>
          <p:spPr>
            <a:xfrm>
              <a:off x="6680835" y="2312670"/>
              <a:ext cx="497776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6673215" y="2432685"/>
              <a:ext cx="124819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Robert Prim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8421052" y="2432685"/>
              <a:ext cx="2967990" cy="57531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2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1957 年独立提出，贝尔实验室数学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研究中心主任</a:t>
              </a:r>
            </a:p>
          </p:txBody>
        </p:sp>
        <p:sp>
          <p:nvSpPr>
            <p:cNvPr id="34" name="Rectangle 34"/>
            <p:cNvSpPr/>
            <p:nvPr/>
          </p:nvSpPr>
          <p:spPr>
            <a:xfrm>
              <a:off x="6680835" y="3034665"/>
              <a:ext cx="497776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6673215" y="3154680"/>
              <a:ext cx="8229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算法类型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8421052" y="3154680"/>
              <a:ext cx="264033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贪心算法，每步只看当前最优</a:t>
              </a:r>
            </a:p>
          </p:txBody>
        </p:sp>
        <p:sp>
          <p:nvSpPr>
            <p:cNvPr id="37" name="Rectangle 37"/>
            <p:cNvSpPr/>
            <p:nvPr/>
          </p:nvSpPr>
          <p:spPr>
            <a:xfrm>
              <a:off x="6680835" y="3474720"/>
              <a:ext cx="497776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6673215" y="3594735"/>
              <a:ext cx="4191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起点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8421052" y="3594735"/>
              <a:ext cx="304419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任选一点都行，结果的边权和相同</a:t>
              </a:r>
            </a:p>
          </p:txBody>
        </p:sp>
      </p:grpSp>
      <p:grpSp>
        <p:nvGrpSpPr>
          <p:cNvPr id="47" name="c2-card-2"/>
          <p:cNvGrpSpPr/>
          <p:nvPr/>
        </p:nvGrpSpPr>
        <p:grpSpPr>
          <a:xfrm>
            <a:off x="6680835" y="4019550"/>
            <a:ext cx="4977765" cy="1621155"/>
            <a:chOff x="6680835" y="4019550"/>
            <a:chExt cx="4977765" cy="1621155"/>
          </a:xfrm>
        </p:grpSpPr>
        <p:sp>
          <p:nvSpPr>
            <p:cNvPr id="41" name="Rectangle 41"/>
            <p:cNvSpPr/>
            <p:nvPr/>
          </p:nvSpPr>
          <p:spPr>
            <a:xfrm>
              <a:off x="6680835" y="4019550"/>
              <a:ext cx="4977765" cy="1621155"/>
            </a:xfrm>
            <a:prstGeom prst="roundRect">
              <a:avLst>
                <a:gd name="adj" fmla="val 8226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42" name="Rectangle 42"/>
            <p:cNvSpPr/>
            <p:nvPr/>
          </p:nvSpPr>
          <p:spPr>
            <a:xfrm>
              <a:off x="6690360" y="4152900"/>
              <a:ext cx="47625" cy="1354455"/>
            </a:xfrm>
            <a:prstGeom prst="roundRect">
              <a:avLst>
                <a:gd name="adj" fmla="val 50000"/>
              </a:avLst>
            </a:prstGeom>
            <a:solidFill>
              <a:srgbClr val="B42318"/>
            </a:solidFill>
            <a:ln>
              <a:noFill/>
            </a:ln>
          </p:spPr>
        </p:sp>
        <p:sp>
          <p:nvSpPr>
            <p:cNvPr id="43" name="Rectangle 43"/>
            <p:cNvSpPr/>
            <p:nvPr/>
          </p:nvSpPr>
          <p:spPr>
            <a:xfrm>
              <a:off x="6928485" y="4229100"/>
              <a:ext cx="494348" cy="257175"/>
            </a:xfrm>
            <a:prstGeom prst="roundRect">
              <a:avLst>
                <a:gd name="adj" fmla="val 50000"/>
              </a:avLst>
            </a:prstGeom>
            <a:solidFill>
              <a:srgbClr val="FDECEA"/>
            </a:solidFill>
            <a:ln>
              <a:noFill/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7019646" y="4264819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易错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7529512" y="4264342"/>
              <a:ext cx="29200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起点不同，MST 可能长得不一样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6920865" y="4625340"/>
              <a:ext cx="4206240" cy="8648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换个起点得到的边权和一定相同，但具体挑中哪几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条边可能不同。只有当全部边权互不相同时，最小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支撑树才唯一，与起点无关。</a:t>
              </a:r>
            </a:p>
          </p:txBody>
        </p:sp>
      </p:grpSp>
      <p:grpSp>
        <p:nvGrpSpPr>
          <p:cNvPr id="54" name="takeaway"/>
          <p:cNvGrpSpPr/>
          <p:nvPr/>
        </p:nvGrpSpPr>
        <p:grpSpPr>
          <a:xfrm>
            <a:off x="533400" y="5829300"/>
            <a:ext cx="11125200" cy="533400"/>
            <a:chOff x="533400" y="5829300"/>
            <a:chExt cx="11125200" cy="533400"/>
          </a:xfrm>
        </p:grpSpPr>
        <p:sp>
          <p:nvSpPr>
            <p:cNvPr id="48" name="Rectangle 48"/>
            <p:cNvSpPr/>
            <p:nvPr/>
          </p:nvSpPr>
          <p:spPr>
            <a:xfrm>
              <a:off x="533400" y="5829300"/>
              <a:ext cx="11125200" cy="533400"/>
            </a:xfrm>
            <a:prstGeom prst="roundRect">
              <a:avLst>
                <a:gd name="adj" fmla="val 21429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52" name="Group 52"/>
            <p:cNvGrpSpPr/>
            <p:nvPr/>
          </p:nvGrpSpPr>
          <p:grpSpPr>
            <a:xfrm>
              <a:off x="738188" y="5995988"/>
              <a:ext cx="200026" cy="200025"/>
              <a:chOff x="738188" y="5995988"/>
              <a:chExt cx="200026" cy="200025"/>
            </a:xfrm>
          </p:grpSpPr>
          <p:sp>
            <p:nvSpPr>
              <p:cNvPr id="49" name="Freeform 49"/>
              <p:cNvSpPr/>
              <p:nvPr/>
            </p:nvSpPr>
            <p:spPr>
              <a:xfrm>
                <a:off x="738188" y="5995988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50" name="Freeform 50"/>
              <p:cNvSpPr/>
              <p:nvPr/>
            </p:nvSpPr>
            <p:spPr>
              <a:xfrm>
                <a:off x="777926" y="6040438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51" name="Freeform 51"/>
              <p:cNvSpPr/>
              <p:nvPr/>
            </p:nvSpPr>
            <p:spPr>
              <a:xfrm>
                <a:off x="812642" y="6151563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53" name="TextBox 53"/>
            <p:cNvSpPr txBox="1"/>
            <p:nvPr/>
          </p:nvSpPr>
          <p:spPr>
            <a:xfrm>
              <a:off x="1040130" y="5991225"/>
              <a:ext cx="8357997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把 S 想成一块正在扩大的“已联网区域”，每次都挑一条最便宜的线把区外最近的一户拉进来。</a:t>
              </a:r>
            </a:p>
          </p:txBody>
        </p:sp>
      </p:grpSp>
      <p:grpSp>
        <p:nvGrpSpPr>
          <p:cNvPr id="57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55" name="TextBox 55"/>
            <p:cNvSpPr txBox="1"/>
            <p:nvPr/>
          </p:nvSpPr>
          <p:spPr>
            <a:xfrm>
              <a:off x="528447" y="6581299"/>
              <a:ext cx="232523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数据结构 · 第16讲 最小支撑树及图应用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10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4967062" cy="909257"/>
            <a:chOff x="520446" y="342900"/>
            <a:chExt cx="4967062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3431858" cy="26670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61740" y="407194"/>
              <a:ext cx="337422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第16讲 最小支撑树 · Prim 算法：从一个点长出去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4967062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例1：从顶点 1 出发跑一遍 Prim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F5FA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8" name="lead"/>
          <p:cNvGrpSpPr/>
          <p:nvPr/>
        </p:nvGrpSpPr>
        <p:grpSpPr>
          <a:xfrm>
            <a:off x="526542" y="1545907"/>
            <a:ext cx="6763874" cy="264033"/>
            <a:chOff x="526542" y="1545907"/>
            <a:chExt cx="6763874" cy="264033"/>
          </a:xfrm>
        </p:grpSpPr>
        <p:sp>
          <p:nvSpPr>
            <p:cNvPr id="7" name="TextBox 7"/>
            <p:cNvSpPr txBox="1"/>
            <p:nvPr/>
          </p:nvSpPr>
          <p:spPr>
            <a:xfrm>
              <a:off x="526542" y="1545907"/>
              <a:ext cx="676387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6 个顶点 10 条边。每一轮在 S 与 V−S 之间找最小跨边，把它和新顶点一起收进来。</a:t>
              </a:r>
            </a:p>
          </p:txBody>
        </p:sp>
      </p:grpSp>
      <p:grpSp>
        <p:nvGrpSpPr>
          <p:cNvPr id="51" name="c1-graph-1"/>
          <p:cNvGrpSpPr/>
          <p:nvPr/>
        </p:nvGrpSpPr>
        <p:grpSpPr>
          <a:xfrm>
            <a:off x="881062" y="2037398"/>
            <a:ext cx="4498658" cy="3210877"/>
            <a:chOff x="881062" y="2037398"/>
            <a:chExt cx="4498658" cy="3210877"/>
          </a:xfrm>
        </p:grpSpPr>
        <p:sp>
          <p:nvSpPr>
            <p:cNvPr id="9" name="Freeform 9"/>
            <p:cNvSpPr/>
            <p:nvPr/>
          </p:nvSpPr>
          <p:spPr>
            <a:xfrm>
              <a:off x="1209675" y="2298382"/>
              <a:ext cx="1764030" cy="1009650"/>
            </a:xfrm>
            <a:custGeom>
              <a:avLst/>
              <a:gdLst/>
              <a:ahLst/>
              <a:cxnLst/>
              <a:rect l="l" t="t" r="r" b="b"/>
              <a:pathLst>
                <a:path w="1764030" h="1009650">
                  <a:moveTo>
                    <a:pt x="1764030" y="0"/>
                  </a:moveTo>
                  <a:lnTo>
                    <a:pt x="0" y="100965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10" name="Freeform 10"/>
            <p:cNvSpPr/>
            <p:nvPr/>
          </p:nvSpPr>
          <p:spPr>
            <a:xfrm>
              <a:off x="3129915" y="2389822"/>
              <a:ext cx="9525" cy="1106805"/>
            </a:xfrm>
            <a:custGeom>
              <a:avLst/>
              <a:gdLst/>
              <a:ahLst/>
              <a:cxnLst/>
              <a:rect l="l" t="t" r="r" b="b"/>
              <a:pathLst>
                <a:path w="9525" h="1106805">
                  <a:moveTo>
                    <a:pt x="0" y="0"/>
                  </a:moveTo>
                  <a:lnTo>
                    <a:pt x="0" y="1106805"/>
                  </a:lnTo>
                </a:path>
              </a:pathLst>
            </a:custGeom>
            <a:noFill/>
            <a:ln w="17145">
              <a:solidFill>
                <a:srgbClr val="1F5FA8"/>
              </a:solidFill>
            </a:ln>
          </p:spPr>
        </p:sp>
        <p:sp>
          <p:nvSpPr>
            <p:cNvPr id="11" name="Freeform 11"/>
            <p:cNvSpPr/>
            <p:nvPr/>
          </p:nvSpPr>
          <p:spPr>
            <a:xfrm>
              <a:off x="3287078" y="2298382"/>
              <a:ext cx="1764030" cy="1009650"/>
            </a:xfrm>
            <a:custGeom>
              <a:avLst/>
              <a:gdLst/>
              <a:ahLst/>
              <a:cxnLst/>
              <a:rect l="l" t="t" r="r" b="b"/>
              <a:pathLst>
                <a:path w="1764030" h="1009650">
                  <a:moveTo>
                    <a:pt x="0" y="0"/>
                  </a:moveTo>
                  <a:lnTo>
                    <a:pt x="1764030" y="100965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12" name="Freeform 12"/>
            <p:cNvSpPr/>
            <p:nvPr/>
          </p:nvSpPr>
          <p:spPr>
            <a:xfrm>
              <a:off x="1232535" y="3421380"/>
              <a:ext cx="1718310" cy="231458"/>
            </a:xfrm>
            <a:custGeom>
              <a:avLst/>
              <a:gdLst/>
              <a:ahLst/>
              <a:cxnLst/>
              <a:rect l="l" t="t" r="r" b="b"/>
              <a:pathLst>
                <a:path w="1718310" h="231458">
                  <a:moveTo>
                    <a:pt x="0" y="0"/>
                  </a:moveTo>
                  <a:lnTo>
                    <a:pt x="1718310" y="231458"/>
                  </a:lnTo>
                </a:path>
              </a:pathLst>
            </a:custGeom>
            <a:noFill/>
            <a:ln w="17145">
              <a:solidFill>
                <a:srgbClr val="1F5FA8"/>
              </a:solidFill>
            </a:ln>
          </p:spPr>
        </p:sp>
        <p:sp>
          <p:nvSpPr>
            <p:cNvPr id="13" name="Freeform 13"/>
            <p:cNvSpPr/>
            <p:nvPr/>
          </p:nvSpPr>
          <p:spPr>
            <a:xfrm>
              <a:off x="1115378" y="3567112"/>
              <a:ext cx="497205" cy="1339215"/>
            </a:xfrm>
            <a:custGeom>
              <a:avLst/>
              <a:gdLst/>
              <a:ahLst/>
              <a:cxnLst/>
              <a:rect l="l" t="t" r="r" b="b"/>
              <a:pathLst>
                <a:path w="497205" h="1339215">
                  <a:moveTo>
                    <a:pt x="0" y="0"/>
                  </a:moveTo>
                  <a:lnTo>
                    <a:pt x="497205" y="1339215"/>
                  </a:lnTo>
                </a:path>
              </a:pathLst>
            </a:custGeom>
            <a:noFill/>
            <a:ln w="17145">
              <a:solidFill>
                <a:srgbClr val="1F5FA8"/>
              </a:solidFill>
            </a:ln>
          </p:spPr>
        </p:sp>
        <p:sp>
          <p:nvSpPr>
            <p:cNvPr id="14" name="Freeform 14"/>
            <p:cNvSpPr/>
            <p:nvPr/>
          </p:nvSpPr>
          <p:spPr>
            <a:xfrm>
              <a:off x="3309938" y="3421380"/>
              <a:ext cx="1718310" cy="231458"/>
            </a:xfrm>
            <a:custGeom>
              <a:avLst/>
              <a:gdLst/>
              <a:ahLst/>
              <a:cxnLst/>
              <a:rect l="l" t="t" r="r" b="b"/>
              <a:pathLst>
                <a:path w="1718310" h="231458">
                  <a:moveTo>
                    <a:pt x="0" y="231458"/>
                  </a:moveTo>
                  <a:lnTo>
                    <a:pt x="1718310" y="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15" name="Freeform 15"/>
            <p:cNvSpPr/>
            <p:nvPr/>
          </p:nvSpPr>
          <p:spPr>
            <a:xfrm>
              <a:off x="1806892" y="3803332"/>
              <a:ext cx="1192530" cy="1147762"/>
            </a:xfrm>
            <a:custGeom>
              <a:avLst/>
              <a:gdLst/>
              <a:ahLst/>
              <a:cxnLst/>
              <a:rect l="l" t="t" r="r" b="b"/>
              <a:pathLst>
                <a:path w="1192530" h="1147762">
                  <a:moveTo>
                    <a:pt x="1192530" y="0"/>
                  </a:moveTo>
                  <a:lnTo>
                    <a:pt x="0" y="1147762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16" name="Freeform 16"/>
            <p:cNvSpPr/>
            <p:nvPr/>
          </p:nvSpPr>
          <p:spPr>
            <a:xfrm>
              <a:off x="3255645" y="3808095"/>
              <a:ext cx="1099185" cy="1138237"/>
            </a:xfrm>
            <a:custGeom>
              <a:avLst/>
              <a:gdLst/>
              <a:ahLst/>
              <a:cxnLst/>
              <a:rect l="l" t="t" r="r" b="b"/>
              <a:pathLst>
                <a:path w="1099185" h="1138237">
                  <a:moveTo>
                    <a:pt x="0" y="0"/>
                  </a:moveTo>
                  <a:lnTo>
                    <a:pt x="1099185" y="1138237"/>
                  </a:lnTo>
                </a:path>
              </a:pathLst>
            </a:custGeom>
            <a:noFill/>
            <a:ln w="17145">
              <a:solidFill>
                <a:srgbClr val="1F5FA8"/>
              </a:solidFill>
            </a:ln>
          </p:spPr>
        </p:sp>
        <p:sp>
          <p:nvSpPr>
            <p:cNvPr id="17" name="Freeform 17"/>
            <p:cNvSpPr/>
            <p:nvPr/>
          </p:nvSpPr>
          <p:spPr>
            <a:xfrm>
              <a:off x="4552950" y="3563302"/>
              <a:ext cx="582930" cy="1346835"/>
            </a:xfrm>
            <a:custGeom>
              <a:avLst/>
              <a:gdLst/>
              <a:ahLst/>
              <a:cxnLst/>
              <a:rect l="l" t="t" r="r" b="b"/>
              <a:pathLst>
                <a:path w="582930" h="1346835">
                  <a:moveTo>
                    <a:pt x="582930" y="0"/>
                  </a:moveTo>
                  <a:lnTo>
                    <a:pt x="0" y="1346835"/>
                  </a:lnTo>
                </a:path>
              </a:pathLst>
            </a:custGeom>
            <a:noFill/>
            <a:ln w="17145">
              <a:solidFill>
                <a:srgbClr val="1F5FA8"/>
              </a:solidFill>
            </a:ln>
          </p:spPr>
        </p:sp>
        <p:sp>
          <p:nvSpPr>
            <p:cNvPr id="18" name="Freeform 18"/>
            <p:cNvSpPr/>
            <p:nvPr/>
          </p:nvSpPr>
          <p:spPr>
            <a:xfrm>
              <a:off x="1857375" y="5076825"/>
              <a:ext cx="2442210" cy="9525"/>
            </a:xfrm>
            <a:custGeom>
              <a:avLst/>
              <a:gdLst/>
              <a:ahLst/>
              <a:cxnLst/>
              <a:rect l="l" t="t" r="r" b="b"/>
              <a:pathLst>
                <a:path w="2442210" h="9525">
                  <a:moveTo>
                    <a:pt x="0" y="0"/>
                  </a:moveTo>
                  <a:lnTo>
                    <a:pt x="2442210" y="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19" name="Ellipse 19"/>
            <p:cNvSpPr/>
            <p:nvPr/>
          </p:nvSpPr>
          <p:spPr>
            <a:xfrm>
              <a:off x="2958465" y="2037398"/>
              <a:ext cx="342900" cy="342900"/>
            </a:xfrm>
            <a:prstGeom prst="ellipse">
              <a:avLst/>
            </a:prstGeom>
            <a:solidFill>
              <a:srgbClr val="FDEEE7"/>
            </a:solidFill>
            <a:ln w="17145">
              <a:solidFill>
                <a:srgbClr val="F26B3A"/>
              </a:solidFill>
            </a:ln>
          </p:spPr>
        </p:sp>
        <p:sp>
          <p:nvSpPr>
            <p:cNvPr id="20" name="Ellipse 20"/>
            <p:cNvSpPr/>
            <p:nvPr/>
          </p:nvSpPr>
          <p:spPr>
            <a:xfrm>
              <a:off x="881062" y="3226118"/>
              <a:ext cx="342900" cy="342900"/>
            </a:xfrm>
            <a:prstGeom prst="ellipse">
              <a:avLst/>
            </a:prstGeom>
            <a:solidFill>
              <a:srgbClr val="FDEEE7"/>
            </a:solidFill>
            <a:ln w="17145">
              <a:solidFill>
                <a:srgbClr val="F26B3A"/>
              </a:solidFill>
            </a:ln>
          </p:spPr>
        </p:sp>
        <p:sp>
          <p:nvSpPr>
            <p:cNvPr id="21" name="Ellipse 21"/>
            <p:cNvSpPr/>
            <p:nvPr/>
          </p:nvSpPr>
          <p:spPr>
            <a:xfrm>
              <a:off x="2958465" y="3506152"/>
              <a:ext cx="342900" cy="342900"/>
            </a:xfrm>
            <a:prstGeom prst="ellipse">
              <a:avLst/>
            </a:prstGeom>
            <a:solidFill>
              <a:srgbClr val="FDEEE7"/>
            </a:solidFill>
            <a:ln w="17145">
              <a:solidFill>
                <a:srgbClr val="F26B3A"/>
              </a:solidFill>
            </a:ln>
          </p:spPr>
        </p:sp>
        <p:sp>
          <p:nvSpPr>
            <p:cNvPr id="22" name="Ellipse 22"/>
            <p:cNvSpPr/>
            <p:nvPr/>
          </p:nvSpPr>
          <p:spPr>
            <a:xfrm>
              <a:off x="5036820" y="3226118"/>
              <a:ext cx="342900" cy="342900"/>
            </a:xfrm>
            <a:prstGeom prst="ellipse">
              <a:avLst/>
            </a:prstGeom>
            <a:solidFill>
              <a:srgbClr val="FDEEE7"/>
            </a:solidFill>
            <a:ln w="17145">
              <a:solidFill>
                <a:srgbClr val="F26B3A"/>
              </a:solidFill>
            </a:ln>
          </p:spPr>
        </p:sp>
        <p:sp>
          <p:nvSpPr>
            <p:cNvPr id="23" name="Ellipse 23"/>
            <p:cNvSpPr/>
            <p:nvPr/>
          </p:nvSpPr>
          <p:spPr>
            <a:xfrm>
              <a:off x="1504950" y="4905375"/>
              <a:ext cx="342900" cy="342900"/>
            </a:xfrm>
            <a:prstGeom prst="ellipse">
              <a:avLst/>
            </a:prstGeom>
            <a:solidFill>
              <a:srgbClr val="FDEEE7"/>
            </a:solidFill>
            <a:ln w="17145">
              <a:solidFill>
                <a:srgbClr val="F26B3A"/>
              </a:solidFill>
            </a:ln>
          </p:spPr>
        </p:sp>
        <p:sp>
          <p:nvSpPr>
            <p:cNvPr id="24" name="Ellipse 24"/>
            <p:cNvSpPr/>
            <p:nvPr/>
          </p:nvSpPr>
          <p:spPr>
            <a:xfrm>
              <a:off x="4309110" y="4905375"/>
              <a:ext cx="342900" cy="342900"/>
            </a:xfrm>
            <a:prstGeom prst="ellipse">
              <a:avLst/>
            </a:prstGeom>
            <a:solidFill>
              <a:srgbClr val="FDEEE7"/>
            </a:solidFill>
            <a:ln w="17145">
              <a:solidFill>
                <a:srgbClr val="F26B3A"/>
              </a:solidFill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3086868" y="2147411"/>
              <a:ext cx="8609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1009465" y="3337084"/>
              <a:ext cx="8609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3086868" y="3617119"/>
              <a:ext cx="8609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5165223" y="3337084"/>
              <a:ext cx="8609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1633353" y="5015389"/>
              <a:ext cx="8609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4437513" y="5015389"/>
              <a:ext cx="8609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6</a:t>
              </a:r>
            </a:p>
          </p:txBody>
        </p:sp>
        <p:sp>
          <p:nvSpPr>
            <p:cNvPr id="31" name="Rectangle 31"/>
            <p:cNvSpPr/>
            <p:nvPr/>
          </p:nvSpPr>
          <p:spPr>
            <a:xfrm>
              <a:off x="2025015" y="2724150"/>
              <a:ext cx="133350" cy="146685"/>
            </a:xfrm>
            <a:prstGeom prst="roundRect">
              <a:avLst>
                <a:gd name="adj" fmla="val 28571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2056571" y="2754154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6</a:t>
              </a:r>
            </a:p>
          </p:txBody>
        </p:sp>
        <p:sp>
          <p:nvSpPr>
            <p:cNvPr id="33" name="Rectangle 33"/>
            <p:cNvSpPr/>
            <p:nvPr/>
          </p:nvSpPr>
          <p:spPr>
            <a:xfrm>
              <a:off x="3063240" y="2864168"/>
              <a:ext cx="133350" cy="146685"/>
            </a:xfrm>
            <a:prstGeom prst="roundRect">
              <a:avLst>
                <a:gd name="adj" fmla="val 28571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3094796" y="2893219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35" name="Rectangle 35"/>
            <p:cNvSpPr/>
            <p:nvPr/>
          </p:nvSpPr>
          <p:spPr>
            <a:xfrm>
              <a:off x="4102418" y="2724150"/>
              <a:ext cx="133350" cy="146685"/>
            </a:xfrm>
            <a:prstGeom prst="roundRect">
              <a:avLst>
                <a:gd name="adj" fmla="val 28571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4133973" y="2754154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37" name="Rectangle 37"/>
            <p:cNvSpPr/>
            <p:nvPr/>
          </p:nvSpPr>
          <p:spPr>
            <a:xfrm>
              <a:off x="2025015" y="3458528"/>
              <a:ext cx="133350" cy="146685"/>
            </a:xfrm>
            <a:prstGeom prst="roundRect">
              <a:avLst>
                <a:gd name="adj" fmla="val 28571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2056571" y="3488531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39" name="Rectangle 39"/>
            <p:cNvSpPr/>
            <p:nvPr/>
          </p:nvSpPr>
          <p:spPr>
            <a:xfrm>
              <a:off x="1297305" y="4158615"/>
              <a:ext cx="133350" cy="146685"/>
            </a:xfrm>
            <a:prstGeom prst="roundRect">
              <a:avLst>
                <a:gd name="adj" fmla="val 28571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1328861" y="4187666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41" name="Rectangle 41"/>
            <p:cNvSpPr/>
            <p:nvPr/>
          </p:nvSpPr>
          <p:spPr>
            <a:xfrm>
              <a:off x="4102418" y="3458528"/>
              <a:ext cx="133350" cy="146685"/>
            </a:xfrm>
            <a:prstGeom prst="roundRect">
              <a:avLst>
                <a:gd name="adj" fmla="val 28571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4133973" y="3488531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7</a:t>
              </a:r>
            </a:p>
          </p:txBody>
        </p:sp>
        <p:sp>
          <p:nvSpPr>
            <p:cNvPr id="43" name="Rectangle 43"/>
            <p:cNvSpPr/>
            <p:nvPr/>
          </p:nvSpPr>
          <p:spPr>
            <a:xfrm>
              <a:off x="2336482" y="4298632"/>
              <a:ext cx="133350" cy="146685"/>
            </a:xfrm>
            <a:prstGeom prst="roundRect">
              <a:avLst>
                <a:gd name="adj" fmla="val 28571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2368038" y="4327684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45" name="Rectangle 45"/>
            <p:cNvSpPr/>
            <p:nvPr/>
          </p:nvSpPr>
          <p:spPr>
            <a:xfrm>
              <a:off x="3738562" y="4298632"/>
              <a:ext cx="133350" cy="146685"/>
            </a:xfrm>
            <a:prstGeom prst="roundRect">
              <a:avLst>
                <a:gd name="adj" fmla="val 28571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3770118" y="4327684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47" name="Rectangle 47"/>
            <p:cNvSpPr/>
            <p:nvPr/>
          </p:nvSpPr>
          <p:spPr>
            <a:xfrm>
              <a:off x="4777740" y="4158615"/>
              <a:ext cx="133350" cy="146685"/>
            </a:xfrm>
            <a:prstGeom prst="roundRect">
              <a:avLst>
                <a:gd name="adj" fmla="val 28571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48" name="TextBox 48"/>
            <p:cNvSpPr txBox="1"/>
            <p:nvPr/>
          </p:nvSpPr>
          <p:spPr>
            <a:xfrm>
              <a:off x="4809296" y="4187666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49" name="Rectangle 49"/>
            <p:cNvSpPr/>
            <p:nvPr/>
          </p:nvSpPr>
          <p:spPr>
            <a:xfrm>
              <a:off x="3011805" y="4997768"/>
              <a:ext cx="133350" cy="146685"/>
            </a:xfrm>
            <a:prstGeom prst="roundRect">
              <a:avLst>
                <a:gd name="adj" fmla="val 28571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50" name="TextBox 50"/>
            <p:cNvSpPr txBox="1"/>
            <p:nvPr/>
          </p:nvSpPr>
          <p:spPr>
            <a:xfrm>
              <a:off x="3043361" y="5026819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6</a:t>
              </a:r>
            </a:p>
          </p:txBody>
        </p:sp>
      </p:grpSp>
      <p:grpSp>
        <p:nvGrpSpPr>
          <p:cNvPr id="93" name="c2-table-1"/>
          <p:cNvGrpSpPr/>
          <p:nvPr/>
        </p:nvGrpSpPr>
        <p:grpSpPr>
          <a:xfrm>
            <a:off x="6032182" y="1928812"/>
            <a:ext cx="5626418" cy="2669858"/>
            <a:chOff x="6032182" y="1928812"/>
            <a:chExt cx="5626418" cy="2669858"/>
          </a:xfrm>
        </p:grpSpPr>
        <p:sp>
          <p:nvSpPr>
            <p:cNvPr id="52" name="Rectangle 52"/>
            <p:cNvSpPr/>
            <p:nvPr/>
          </p:nvSpPr>
          <p:spPr>
            <a:xfrm>
              <a:off x="6032182" y="1928812"/>
              <a:ext cx="5626418" cy="381000"/>
            </a:xfrm>
            <a:prstGeom prst="rect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53" name="TextBox 53"/>
            <p:cNvSpPr txBox="1"/>
            <p:nvPr/>
          </p:nvSpPr>
          <p:spPr>
            <a:xfrm>
              <a:off x="6222683" y="2045970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轮次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7619074" y="2045970"/>
              <a:ext cx="42666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集合 S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9400794" y="2045970"/>
              <a:ext cx="5760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最小跨边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10892790" y="2045970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边权</a:t>
              </a: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6222683" y="2426970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起步</a:t>
              </a: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6802184" y="2426970"/>
              <a:ext cx="884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9644624" y="2426970"/>
              <a:ext cx="884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—</a:t>
              </a:r>
            </a:p>
          </p:txBody>
        </p:sp>
        <p:sp>
          <p:nvSpPr>
            <p:cNvPr id="60" name="TextBox 60"/>
            <p:cNvSpPr txBox="1"/>
            <p:nvPr/>
          </p:nvSpPr>
          <p:spPr>
            <a:xfrm>
              <a:off x="10995269" y="2426970"/>
              <a:ext cx="884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61" name="Rectangle 61"/>
            <p:cNvSpPr/>
            <p:nvPr/>
          </p:nvSpPr>
          <p:spPr>
            <a:xfrm>
              <a:off x="6032182" y="2687002"/>
              <a:ext cx="562641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62" name="Rectangle 62"/>
            <p:cNvSpPr/>
            <p:nvPr/>
          </p:nvSpPr>
          <p:spPr>
            <a:xfrm>
              <a:off x="6032182" y="2691765"/>
              <a:ext cx="5626418" cy="38100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63" name="TextBox 63"/>
            <p:cNvSpPr txBox="1"/>
            <p:nvPr/>
          </p:nvSpPr>
          <p:spPr>
            <a:xfrm>
              <a:off x="6323218" y="2808923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64" name="TextBox 64"/>
            <p:cNvSpPr txBox="1"/>
            <p:nvPr/>
          </p:nvSpPr>
          <p:spPr>
            <a:xfrm>
              <a:off x="6802184" y="2808923"/>
              <a:ext cx="30750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1、3</a:t>
              </a:r>
            </a:p>
          </p:txBody>
        </p:sp>
        <p:sp>
          <p:nvSpPr>
            <p:cNvPr id="65" name="TextBox 65"/>
            <p:cNvSpPr txBox="1"/>
            <p:nvPr/>
          </p:nvSpPr>
          <p:spPr>
            <a:xfrm>
              <a:off x="9566881" y="2808923"/>
              <a:ext cx="24389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1—3</a:t>
              </a:r>
            </a:p>
          </p:txBody>
        </p:sp>
        <p:sp>
          <p:nvSpPr>
            <p:cNvPr id="66" name="TextBox 66"/>
            <p:cNvSpPr txBox="1"/>
            <p:nvPr/>
          </p:nvSpPr>
          <p:spPr>
            <a:xfrm>
              <a:off x="10995269" y="2808923"/>
              <a:ext cx="884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67" name="Rectangle 67"/>
            <p:cNvSpPr/>
            <p:nvPr/>
          </p:nvSpPr>
          <p:spPr>
            <a:xfrm>
              <a:off x="6032182" y="3068002"/>
              <a:ext cx="562641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68" name="TextBox 68"/>
            <p:cNvSpPr txBox="1"/>
            <p:nvPr/>
          </p:nvSpPr>
          <p:spPr>
            <a:xfrm>
              <a:off x="6323218" y="3189923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69" name="TextBox 69"/>
            <p:cNvSpPr txBox="1"/>
            <p:nvPr/>
          </p:nvSpPr>
          <p:spPr>
            <a:xfrm>
              <a:off x="6802184" y="3189923"/>
              <a:ext cx="52659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1、3、6</a:t>
              </a:r>
            </a:p>
          </p:txBody>
        </p:sp>
        <p:sp>
          <p:nvSpPr>
            <p:cNvPr id="70" name="TextBox 70"/>
            <p:cNvSpPr txBox="1"/>
            <p:nvPr/>
          </p:nvSpPr>
          <p:spPr>
            <a:xfrm>
              <a:off x="9566881" y="3189923"/>
              <a:ext cx="24389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3—6</a:t>
              </a:r>
            </a:p>
          </p:txBody>
        </p:sp>
        <p:sp>
          <p:nvSpPr>
            <p:cNvPr id="71" name="TextBox 71"/>
            <p:cNvSpPr txBox="1"/>
            <p:nvPr/>
          </p:nvSpPr>
          <p:spPr>
            <a:xfrm>
              <a:off x="10995269" y="3189923"/>
              <a:ext cx="884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72" name="Rectangle 72"/>
            <p:cNvSpPr/>
            <p:nvPr/>
          </p:nvSpPr>
          <p:spPr>
            <a:xfrm>
              <a:off x="6032182" y="3449002"/>
              <a:ext cx="562641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73" name="Rectangle 73"/>
            <p:cNvSpPr/>
            <p:nvPr/>
          </p:nvSpPr>
          <p:spPr>
            <a:xfrm>
              <a:off x="6032182" y="3453765"/>
              <a:ext cx="5626418" cy="38100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74" name="TextBox 74"/>
            <p:cNvSpPr txBox="1"/>
            <p:nvPr/>
          </p:nvSpPr>
          <p:spPr>
            <a:xfrm>
              <a:off x="6323218" y="3571875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75" name="TextBox 75"/>
            <p:cNvSpPr txBox="1"/>
            <p:nvPr/>
          </p:nvSpPr>
          <p:spPr>
            <a:xfrm>
              <a:off x="6802184" y="3571875"/>
              <a:ext cx="74569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1、3、6、4</a:t>
              </a:r>
            </a:p>
          </p:txBody>
        </p:sp>
        <p:sp>
          <p:nvSpPr>
            <p:cNvPr id="76" name="TextBox 76"/>
            <p:cNvSpPr txBox="1"/>
            <p:nvPr/>
          </p:nvSpPr>
          <p:spPr>
            <a:xfrm>
              <a:off x="9566881" y="3571875"/>
              <a:ext cx="24389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6—4</a:t>
              </a:r>
            </a:p>
          </p:txBody>
        </p:sp>
        <p:sp>
          <p:nvSpPr>
            <p:cNvPr id="77" name="TextBox 77"/>
            <p:cNvSpPr txBox="1"/>
            <p:nvPr/>
          </p:nvSpPr>
          <p:spPr>
            <a:xfrm>
              <a:off x="10995269" y="3571875"/>
              <a:ext cx="884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78" name="Rectangle 78"/>
            <p:cNvSpPr/>
            <p:nvPr/>
          </p:nvSpPr>
          <p:spPr>
            <a:xfrm>
              <a:off x="6032182" y="3830955"/>
              <a:ext cx="562641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79" name="TextBox 79"/>
            <p:cNvSpPr txBox="1"/>
            <p:nvPr/>
          </p:nvSpPr>
          <p:spPr>
            <a:xfrm>
              <a:off x="6323218" y="3952875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80" name="TextBox 80"/>
            <p:cNvSpPr txBox="1"/>
            <p:nvPr/>
          </p:nvSpPr>
          <p:spPr>
            <a:xfrm>
              <a:off x="6802184" y="3952875"/>
              <a:ext cx="96478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1、3、6、4、2</a:t>
              </a:r>
            </a:p>
          </p:txBody>
        </p:sp>
        <p:sp>
          <p:nvSpPr>
            <p:cNvPr id="81" name="TextBox 81"/>
            <p:cNvSpPr txBox="1"/>
            <p:nvPr/>
          </p:nvSpPr>
          <p:spPr>
            <a:xfrm>
              <a:off x="9566881" y="3952875"/>
              <a:ext cx="24389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3—2</a:t>
              </a:r>
            </a:p>
          </p:txBody>
        </p:sp>
        <p:sp>
          <p:nvSpPr>
            <p:cNvPr id="82" name="TextBox 82"/>
            <p:cNvSpPr txBox="1"/>
            <p:nvPr/>
          </p:nvSpPr>
          <p:spPr>
            <a:xfrm>
              <a:off x="10995269" y="3952875"/>
              <a:ext cx="884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83" name="Rectangle 83"/>
            <p:cNvSpPr/>
            <p:nvPr/>
          </p:nvSpPr>
          <p:spPr>
            <a:xfrm>
              <a:off x="6032182" y="4211955"/>
              <a:ext cx="562641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84" name="Rectangle 84"/>
            <p:cNvSpPr/>
            <p:nvPr/>
          </p:nvSpPr>
          <p:spPr>
            <a:xfrm>
              <a:off x="6032182" y="4216718"/>
              <a:ext cx="5626418" cy="38100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85" name="TextBox 85"/>
            <p:cNvSpPr txBox="1"/>
            <p:nvPr/>
          </p:nvSpPr>
          <p:spPr>
            <a:xfrm>
              <a:off x="6323218" y="4333875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86" name="TextBox 86"/>
            <p:cNvSpPr txBox="1"/>
            <p:nvPr/>
          </p:nvSpPr>
          <p:spPr>
            <a:xfrm>
              <a:off x="6802184" y="4333875"/>
              <a:ext cx="118388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1、3、6、4、2、5</a:t>
              </a:r>
            </a:p>
          </p:txBody>
        </p:sp>
        <p:sp>
          <p:nvSpPr>
            <p:cNvPr id="87" name="TextBox 87"/>
            <p:cNvSpPr txBox="1"/>
            <p:nvPr/>
          </p:nvSpPr>
          <p:spPr>
            <a:xfrm>
              <a:off x="9566881" y="4333875"/>
              <a:ext cx="24389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2—5</a:t>
              </a:r>
            </a:p>
          </p:txBody>
        </p:sp>
        <p:sp>
          <p:nvSpPr>
            <p:cNvPr id="88" name="TextBox 88"/>
            <p:cNvSpPr txBox="1"/>
            <p:nvPr/>
          </p:nvSpPr>
          <p:spPr>
            <a:xfrm>
              <a:off x="10995269" y="4333875"/>
              <a:ext cx="884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89" name="Rectangle 89"/>
            <p:cNvSpPr/>
            <p:nvPr/>
          </p:nvSpPr>
          <p:spPr>
            <a:xfrm>
              <a:off x="6032182" y="1928812"/>
              <a:ext cx="5626418" cy="2669858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90" name="Rectangle 90"/>
            <p:cNvSpPr/>
            <p:nvPr/>
          </p:nvSpPr>
          <p:spPr>
            <a:xfrm>
              <a:off x="6702742" y="1928812"/>
              <a:ext cx="9525" cy="2669858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91" name="Rectangle 91"/>
            <p:cNvSpPr/>
            <p:nvPr/>
          </p:nvSpPr>
          <p:spPr>
            <a:xfrm>
              <a:off x="8953500" y="1928812"/>
              <a:ext cx="9525" cy="2669858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92" name="Rectangle 92"/>
            <p:cNvSpPr/>
            <p:nvPr/>
          </p:nvSpPr>
          <p:spPr>
            <a:xfrm>
              <a:off x="10415588" y="1928812"/>
              <a:ext cx="9525" cy="2669858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97" name="c2-card-2"/>
          <p:cNvGrpSpPr/>
          <p:nvPr/>
        </p:nvGrpSpPr>
        <p:grpSpPr>
          <a:xfrm>
            <a:off x="6032182" y="4763452"/>
            <a:ext cx="5626418" cy="824865"/>
            <a:chOff x="6032182" y="4763452"/>
            <a:chExt cx="5626418" cy="824865"/>
          </a:xfrm>
        </p:grpSpPr>
        <p:sp>
          <p:nvSpPr>
            <p:cNvPr id="94" name="Rectangle 94"/>
            <p:cNvSpPr/>
            <p:nvPr/>
          </p:nvSpPr>
          <p:spPr>
            <a:xfrm>
              <a:off x="6032182" y="4763452"/>
              <a:ext cx="5626418" cy="824865"/>
            </a:xfrm>
            <a:prstGeom prst="roundRect">
              <a:avLst>
                <a:gd name="adj" fmla="val 16166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95" name="Rectangle 95"/>
            <p:cNvSpPr/>
            <p:nvPr/>
          </p:nvSpPr>
          <p:spPr>
            <a:xfrm>
              <a:off x="6041708" y="4896802"/>
              <a:ext cx="47625" cy="558165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96" name="TextBox 96"/>
            <p:cNvSpPr txBox="1"/>
            <p:nvPr/>
          </p:nvSpPr>
          <p:spPr>
            <a:xfrm>
              <a:off x="6244780" y="4964906"/>
              <a:ext cx="4971034" cy="4922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最小支撑树的边是 1—3、3—6、6—4、3—2、2—5，边权和 1 + 4 + 2 + 5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+ 3 = </a:t>
              </a:r>
              <a:r>
                <a:rPr lang="zh-CN" sz="128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15</a:t>
              </a: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。</a:t>
              </a:r>
            </a:p>
          </p:txBody>
        </p:sp>
      </p:grpSp>
      <p:grpSp>
        <p:nvGrpSpPr>
          <p:cNvPr id="104" name="takeaway"/>
          <p:cNvGrpSpPr/>
          <p:nvPr/>
        </p:nvGrpSpPr>
        <p:grpSpPr>
          <a:xfrm>
            <a:off x="533400" y="5895022"/>
            <a:ext cx="11125200" cy="467678"/>
            <a:chOff x="533400" y="5895022"/>
            <a:chExt cx="11125200" cy="467678"/>
          </a:xfrm>
        </p:grpSpPr>
        <p:sp>
          <p:nvSpPr>
            <p:cNvPr id="98" name="Rectangle 98"/>
            <p:cNvSpPr/>
            <p:nvPr/>
          </p:nvSpPr>
          <p:spPr>
            <a:xfrm>
              <a:off x="533400" y="5895022"/>
              <a:ext cx="11125200" cy="467678"/>
            </a:xfrm>
            <a:prstGeom prst="roundRect">
              <a:avLst>
                <a:gd name="adj" fmla="val 24440"/>
              </a:avLst>
            </a:prstGeom>
            <a:solidFill>
              <a:srgbClr val="FDECEA"/>
            </a:solidFill>
            <a:ln>
              <a:noFill/>
            </a:ln>
          </p:spPr>
        </p:sp>
        <p:grpSp>
          <p:nvGrpSpPr>
            <p:cNvPr id="102" name="Group 102"/>
            <p:cNvGrpSpPr/>
            <p:nvPr/>
          </p:nvGrpSpPr>
          <p:grpSpPr>
            <a:xfrm>
              <a:off x="726129" y="6024681"/>
              <a:ext cx="224134" cy="192560"/>
              <a:chOff x="726129" y="6024681"/>
              <a:chExt cx="224134" cy="192560"/>
            </a:xfrm>
          </p:grpSpPr>
          <p:sp>
            <p:nvSpPr>
              <p:cNvPr id="99" name="Freeform 99"/>
              <p:cNvSpPr/>
              <p:nvPr/>
            </p:nvSpPr>
            <p:spPr>
              <a:xfrm>
                <a:off x="838200" y="6095048"/>
                <a:ext cx="95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44450">
                    <a:moveTo>
                      <a:pt x="0" y="0"/>
                    </a:moveTo>
                    <a:lnTo>
                      <a:pt x="0" y="4445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100" name="Freeform 100"/>
              <p:cNvSpPr/>
              <p:nvPr/>
            </p:nvSpPr>
            <p:spPr>
              <a:xfrm>
                <a:off x="726129" y="6024681"/>
                <a:ext cx="224134" cy="192560"/>
              </a:xfrm>
              <a:custGeom>
                <a:avLst/>
                <a:gdLst/>
                <a:ahLst/>
                <a:cxnLst/>
                <a:rect l="l" t="t" r="r" b="b"/>
                <a:pathLst>
                  <a:path w="224134" h="192560">
                    <a:moveTo>
                      <a:pt x="93880" y="10259"/>
                    </a:moveTo>
                    <a:lnTo>
                      <a:pt x="3802" y="160656"/>
                    </a:lnTo>
                    <a:cubicBezTo>
                      <a:pt x="23" y="167200"/>
                      <a:pt x="0" y="175257"/>
                      <a:pt x="3741" y="181823"/>
                    </a:cubicBezTo>
                    <a:cubicBezTo>
                      <a:pt x="7482" y="188388"/>
                      <a:pt x="14426" y="192476"/>
                      <a:pt x="21982" y="192560"/>
                    </a:cubicBezTo>
                    <a:lnTo>
                      <a:pt x="202160" y="192560"/>
                    </a:lnTo>
                    <a:cubicBezTo>
                      <a:pt x="209713" y="192473"/>
                      <a:pt x="216653" y="188387"/>
                      <a:pt x="220393" y="181826"/>
                    </a:cubicBezTo>
                    <a:cubicBezTo>
                      <a:pt x="224134" y="175264"/>
                      <a:pt x="224114" y="167211"/>
                      <a:pt x="220341" y="160667"/>
                    </a:cubicBezTo>
                    <a:lnTo>
                      <a:pt x="130262" y="10248"/>
                    </a:lnTo>
                    <a:cubicBezTo>
                      <a:pt x="126408" y="3886"/>
                      <a:pt x="119510" y="0"/>
                      <a:pt x="112071" y="0"/>
                    </a:cubicBezTo>
                    <a:cubicBezTo>
                      <a:pt x="104633" y="0"/>
                      <a:pt x="97734" y="3886"/>
                      <a:pt x="93880" y="10248"/>
                    </a:cubicBez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101" name="Freeform 101"/>
              <p:cNvSpPr/>
              <p:nvPr/>
            </p:nvSpPr>
            <p:spPr>
              <a:xfrm>
                <a:off x="838200" y="6172836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</p:grpSp>
        <p:sp>
          <p:nvSpPr>
            <p:cNvPr id="103" name="TextBox 103"/>
            <p:cNvSpPr txBox="1"/>
            <p:nvPr/>
          </p:nvSpPr>
          <p:spPr>
            <a:xfrm>
              <a:off x="1041273" y="6039326"/>
              <a:ext cx="891847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第 3 轮 S = {1, 3, 6} 时，跨边 3—2 与 3—5 权值都是 5，而 6—4 只有 2，所以先收 6—4。不要按顶点编号顺序挑边。</a:t>
              </a:r>
            </a:p>
          </p:txBody>
        </p:sp>
      </p:grpSp>
      <p:grpSp>
        <p:nvGrpSpPr>
          <p:cNvPr id="107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105" name="TextBox 105"/>
            <p:cNvSpPr txBox="1"/>
            <p:nvPr/>
          </p:nvSpPr>
          <p:spPr>
            <a:xfrm>
              <a:off x="528447" y="6581299"/>
              <a:ext cx="232523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数据结构 · 第16讲 最小支撑树及图应用</a:t>
              </a:r>
            </a:p>
          </p:txBody>
        </p:sp>
        <p:sp>
          <p:nvSpPr>
            <p:cNvPr id="106" name="TextBox 106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11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7551308" cy="909257"/>
            <a:chOff x="520446" y="342900"/>
            <a:chExt cx="7551308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3431858" cy="26670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61740" y="407194"/>
              <a:ext cx="337422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第16讲 最小支撑树 · Prim 算法：从一个点长出去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7551308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找最小跨边不必每轮重扫：把它记在 Lowcost 里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F5FA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2" name="c1-card-1"/>
          <p:cNvGrpSpPr/>
          <p:nvPr/>
        </p:nvGrpSpPr>
        <p:grpSpPr>
          <a:xfrm>
            <a:off x="533400" y="1524000"/>
            <a:ext cx="5626418" cy="1209675"/>
            <a:chOff x="533400" y="1524000"/>
            <a:chExt cx="5626418" cy="1209675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626418" cy="1209675"/>
            </a:xfrm>
            <a:prstGeom prst="roundRect">
              <a:avLst>
                <a:gd name="adj" fmla="val 11024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542925" y="1657350"/>
              <a:ext cx="47625" cy="942975"/>
            </a:xfrm>
            <a:prstGeom prst="roundRect">
              <a:avLst>
                <a:gd name="adj" fmla="val 50000"/>
              </a:avLst>
            </a:prstGeom>
            <a:solidFill>
              <a:srgbClr val="B42318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763905" y="1716405"/>
              <a:ext cx="1143000" cy="247650"/>
            </a:xfrm>
            <a:prstGeom prst="roundRect">
              <a:avLst>
                <a:gd name="adj" fmla="val 50000"/>
              </a:avLst>
            </a:prstGeom>
            <a:solidFill>
              <a:srgbClr val="FDECEA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35342" y="1750695"/>
              <a:ext cx="100012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朴素做法的问题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757047" y="2072640"/>
              <a:ext cx="4985766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每一轮都把所有跨集合边扫一遍，找权值最小的那条。S 只增加了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一个顶点，可绝大多数边的情况根本没变，这些比较是重复劳动。</a:t>
              </a:r>
            </a:p>
          </p:txBody>
        </p:sp>
      </p:grpSp>
      <p:grpSp>
        <p:nvGrpSpPr>
          <p:cNvPr id="22" name="c1-card-2"/>
          <p:cNvGrpSpPr/>
          <p:nvPr/>
        </p:nvGrpSpPr>
        <p:grpSpPr>
          <a:xfrm>
            <a:off x="533400" y="2908935"/>
            <a:ext cx="5626418" cy="2303145"/>
            <a:chOff x="533400" y="2908935"/>
            <a:chExt cx="5626418" cy="2303145"/>
          </a:xfrm>
        </p:grpSpPr>
        <p:sp>
          <p:nvSpPr>
            <p:cNvPr id="13" name="Rectangle 13"/>
            <p:cNvSpPr/>
            <p:nvPr/>
          </p:nvSpPr>
          <p:spPr>
            <a:xfrm>
              <a:off x="533400" y="2908935"/>
              <a:ext cx="5626418" cy="2303145"/>
            </a:xfrm>
            <a:prstGeom prst="roundRect">
              <a:avLst>
                <a:gd name="adj" fmla="val 5790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14" name="Rectangle 14"/>
            <p:cNvSpPr/>
            <p:nvPr/>
          </p:nvSpPr>
          <p:spPr>
            <a:xfrm>
              <a:off x="542925" y="3042285"/>
              <a:ext cx="47625" cy="2036445"/>
            </a:xfrm>
            <a:prstGeom prst="roundRect">
              <a:avLst>
                <a:gd name="adj" fmla="val 50000"/>
              </a:avLst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5" name="Rectangle 15"/>
            <p:cNvSpPr/>
            <p:nvPr/>
          </p:nvSpPr>
          <p:spPr>
            <a:xfrm>
              <a:off x="763905" y="3101340"/>
              <a:ext cx="476250" cy="24765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855345" y="3135630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改进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1347597" y="3140392"/>
              <a:ext cx="164934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每个顶点只记一条边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757047" y="3474720"/>
              <a:ext cx="4840034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en-US" sz="1350" dirty="0">
                  <a:solidFill>
                    <a:srgbClr val="174A85"/>
                  </a:solidFill>
                  <a:latin typeface="+mn-lt"/>
                  <a:ea typeface="+mn-ea"/>
                  <a:cs typeface="+mn-cs"/>
                </a:rPr>
                <a:t>Lowcost[v]</a:t>
              </a: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：顶点 v 到集合 S 的最小跨边的权值，也就是 v 到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S 的最短距离。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757047" y="4034790"/>
              <a:ext cx="356033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dirty="0">
                  <a:solidFill>
                    <a:srgbClr val="174A85"/>
                  </a:solidFill>
                  <a:latin typeface="+mn-lt"/>
                  <a:ea typeface="+mn-ea"/>
                  <a:cs typeface="+mn-cs"/>
                </a:rPr>
                <a:t>pre[v]</a:t>
              </a: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：这条最小跨边在 S 中的那个端点。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757047" y="4336732"/>
              <a:ext cx="285378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dirty="0">
                  <a:solidFill>
                    <a:srgbClr val="174A85"/>
                  </a:solidFill>
                  <a:latin typeface="+mn-lt"/>
                  <a:ea typeface="+mn-ea"/>
                  <a:cs typeface="+mn-cs"/>
                </a:rPr>
                <a:t>S[v]</a:t>
              </a: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：顶点 v 是否已在集合 S 中。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758190" y="4636294"/>
              <a:ext cx="4954270" cy="42767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35"/>
                </a:lnSpc>
              </a:pPr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于是整个图的最小跨边权值就是 min{ Lowcost[i] ｜ i ∈ V−S }，一次线性扫描</a:t>
              </a:r>
              <a:br/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即可。</a:t>
              </a:r>
            </a:p>
          </p:txBody>
        </p:sp>
      </p:grpSp>
      <p:grpSp>
        <p:nvGrpSpPr>
          <p:cNvPr id="40" name="c2-graph-1"/>
          <p:cNvGrpSpPr/>
          <p:nvPr/>
        </p:nvGrpSpPr>
        <p:grpSpPr>
          <a:xfrm>
            <a:off x="6917055" y="1706880"/>
            <a:ext cx="4185285" cy="1906524"/>
            <a:chOff x="6917055" y="1706880"/>
            <a:chExt cx="4185285" cy="1906524"/>
          </a:xfrm>
        </p:grpSpPr>
        <p:sp>
          <p:nvSpPr>
            <p:cNvPr id="23" name="Freeform 23"/>
            <p:cNvSpPr/>
            <p:nvPr/>
          </p:nvSpPr>
          <p:spPr>
            <a:xfrm>
              <a:off x="7799070" y="2460308"/>
              <a:ext cx="2620328" cy="9525"/>
            </a:xfrm>
            <a:custGeom>
              <a:avLst/>
              <a:gdLst/>
              <a:ahLst/>
              <a:cxnLst/>
              <a:rect l="l" t="t" r="r" b="b"/>
              <a:pathLst>
                <a:path w="2620328" h="9525">
                  <a:moveTo>
                    <a:pt x="0" y="0"/>
                  </a:moveTo>
                  <a:lnTo>
                    <a:pt x="2620328" y="0"/>
                  </a:lnTo>
                </a:path>
              </a:pathLst>
            </a:custGeom>
            <a:noFill/>
            <a:ln w="17145">
              <a:solidFill>
                <a:srgbClr val="1F5FA8"/>
              </a:solidFill>
            </a:ln>
          </p:spPr>
        </p:sp>
        <p:sp>
          <p:nvSpPr>
            <p:cNvPr id="24" name="Freeform 24"/>
            <p:cNvSpPr/>
            <p:nvPr/>
          </p:nvSpPr>
          <p:spPr>
            <a:xfrm>
              <a:off x="7318058" y="1846898"/>
              <a:ext cx="100012" cy="330517"/>
            </a:xfrm>
            <a:custGeom>
              <a:avLst/>
              <a:gdLst/>
              <a:ahLst/>
              <a:cxnLst/>
              <a:rect l="l" t="t" r="r" b="b"/>
              <a:pathLst>
                <a:path w="100012" h="330517">
                  <a:moveTo>
                    <a:pt x="0" y="0"/>
                  </a:moveTo>
                  <a:lnTo>
                    <a:pt x="100012" y="330517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25" name="Freeform 25"/>
            <p:cNvSpPr/>
            <p:nvPr/>
          </p:nvSpPr>
          <p:spPr>
            <a:xfrm>
              <a:off x="7028498" y="2700338"/>
              <a:ext cx="303847" cy="425767"/>
            </a:xfrm>
            <a:custGeom>
              <a:avLst/>
              <a:gdLst/>
              <a:ahLst/>
              <a:cxnLst/>
              <a:rect l="l" t="t" r="r" b="b"/>
              <a:pathLst>
                <a:path w="303847" h="425767">
                  <a:moveTo>
                    <a:pt x="0" y="425767"/>
                  </a:moveTo>
                  <a:lnTo>
                    <a:pt x="303847" y="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26" name="Freeform 26"/>
            <p:cNvSpPr/>
            <p:nvPr/>
          </p:nvSpPr>
          <p:spPr>
            <a:xfrm>
              <a:off x="10702290" y="1843088"/>
              <a:ext cx="198120" cy="435292"/>
            </a:xfrm>
            <a:custGeom>
              <a:avLst/>
              <a:gdLst/>
              <a:ahLst/>
              <a:cxnLst/>
              <a:rect l="l" t="t" r="r" b="b"/>
              <a:pathLst>
                <a:path w="198120" h="435292">
                  <a:moveTo>
                    <a:pt x="198120" y="0"/>
                  </a:moveTo>
                  <a:lnTo>
                    <a:pt x="0" y="435292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27" name="Freeform 27"/>
            <p:cNvSpPr/>
            <p:nvPr/>
          </p:nvSpPr>
          <p:spPr>
            <a:xfrm>
              <a:off x="10719435" y="2633662"/>
              <a:ext cx="278130" cy="488633"/>
            </a:xfrm>
            <a:custGeom>
              <a:avLst/>
              <a:gdLst/>
              <a:ahLst/>
              <a:cxnLst/>
              <a:rect l="l" t="t" r="r" b="b"/>
              <a:pathLst>
                <a:path w="278130" h="488633">
                  <a:moveTo>
                    <a:pt x="278130" y="488633"/>
                  </a:moveTo>
                  <a:lnTo>
                    <a:pt x="0" y="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28" name="Ellipse 28"/>
            <p:cNvSpPr/>
            <p:nvPr/>
          </p:nvSpPr>
          <p:spPr>
            <a:xfrm>
              <a:off x="7218045" y="2174558"/>
              <a:ext cx="571500" cy="571500"/>
            </a:xfrm>
            <a:prstGeom prst="ellipse">
              <a:avLst/>
            </a:prstGeom>
            <a:solidFill>
              <a:srgbClr val="FDEEE7"/>
            </a:solidFill>
            <a:ln w="17145">
              <a:solidFill>
                <a:srgbClr val="F26B3A"/>
              </a:solidFill>
            </a:ln>
          </p:spPr>
        </p:sp>
        <p:sp>
          <p:nvSpPr>
            <p:cNvPr id="29" name="Ellipse 29"/>
            <p:cNvSpPr/>
            <p:nvPr/>
          </p:nvSpPr>
          <p:spPr>
            <a:xfrm>
              <a:off x="7229475" y="1706880"/>
              <a:ext cx="133350" cy="13335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30" name="Ellipse 30"/>
            <p:cNvSpPr/>
            <p:nvPr/>
          </p:nvSpPr>
          <p:spPr>
            <a:xfrm>
              <a:off x="6917055" y="3121342"/>
              <a:ext cx="133350" cy="13335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31" name="Ellipse 31"/>
            <p:cNvSpPr/>
            <p:nvPr/>
          </p:nvSpPr>
          <p:spPr>
            <a:xfrm>
              <a:off x="10428922" y="2269808"/>
              <a:ext cx="381000" cy="381000"/>
            </a:xfrm>
            <a:prstGeom prst="ellipse">
              <a:avLst/>
            </a:prstGeom>
            <a:solidFill>
              <a:srgbClr val="E3F5F1"/>
            </a:solidFill>
            <a:ln w="17145">
              <a:solidFill>
                <a:srgbClr val="14A38B"/>
              </a:solidFill>
            </a:ln>
          </p:spPr>
        </p:sp>
        <p:sp>
          <p:nvSpPr>
            <p:cNvPr id="32" name="Ellipse 32"/>
            <p:cNvSpPr/>
            <p:nvPr/>
          </p:nvSpPr>
          <p:spPr>
            <a:xfrm>
              <a:off x="10865168" y="1706880"/>
              <a:ext cx="133350" cy="13335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33" name="Ellipse 33"/>
            <p:cNvSpPr/>
            <p:nvPr/>
          </p:nvSpPr>
          <p:spPr>
            <a:xfrm>
              <a:off x="10968990" y="3121342"/>
              <a:ext cx="133350" cy="13335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7270277" y="2399824"/>
              <a:ext cx="46703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pre[v]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10576375" y="2399824"/>
              <a:ext cx="8609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v</a:t>
              </a:r>
            </a:p>
          </p:txBody>
        </p:sp>
        <p:sp>
          <p:nvSpPr>
            <p:cNvPr id="36" name="Rectangle 36"/>
            <p:cNvSpPr/>
            <p:nvPr/>
          </p:nvSpPr>
          <p:spPr>
            <a:xfrm>
              <a:off x="8774430" y="2381250"/>
              <a:ext cx="669608" cy="146685"/>
            </a:xfrm>
            <a:prstGeom prst="roundRect">
              <a:avLst>
                <a:gd name="adj" fmla="val 25974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8788115" y="2411254"/>
              <a:ext cx="643191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8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Lowcost[v]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7247691" y="3408045"/>
              <a:ext cx="9691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S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10693310" y="3408045"/>
              <a:ext cx="26942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V−S</a:t>
              </a:r>
            </a:p>
          </p:txBody>
        </p:sp>
      </p:grpSp>
      <p:grpSp>
        <p:nvGrpSpPr>
          <p:cNvPr id="45" name="c2-card-2"/>
          <p:cNvGrpSpPr/>
          <p:nvPr/>
        </p:nvGrpSpPr>
        <p:grpSpPr>
          <a:xfrm>
            <a:off x="6464618" y="3779520"/>
            <a:ext cx="5193982" cy="1431608"/>
            <a:chOff x="6464618" y="3779520"/>
            <a:chExt cx="5193982" cy="1431608"/>
          </a:xfrm>
        </p:grpSpPr>
        <p:sp>
          <p:nvSpPr>
            <p:cNvPr id="41" name="Rectangle 41"/>
            <p:cNvSpPr/>
            <p:nvPr/>
          </p:nvSpPr>
          <p:spPr>
            <a:xfrm>
              <a:off x="6464618" y="3779520"/>
              <a:ext cx="5193982" cy="1431608"/>
            </a:xfrm>
            <a:prstGeom prst="roundRect">
              <a:avLst>
                <a:gd name="adj" fmla="val 9315"/>
              </a:avLst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42" name="Rectangle 42"/>
            <p:cNvSpPr/>
            <p:nvPr/>
          </p:nvSpPr>
          <p:spPr>
            <a:xfrm>
              <a:off x="6657022" y="3971925"/>
              <a:ext cx="476250" cy="247650"/>
            </a:xfrm>
            <a:prstGeom prst="roundRect">
              <a:avLst>
                <a:gd name="adj" fmla="val 50000"/>
              </a:avLst>
            </a:prstGeom>
            <a:solidFill>
              <a:srgbClr val="174A85"/>
            </a:solidFill>
            <a:ln>
              <a:noFill/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6748462" y="4006215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初值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6650164" y="4328160"/>
              <a:ext cx="4394264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Lowcost[u] = 0（u 为起点），其余 Lowcost[i] = INF；</a:t>
              </a:r>
              <a:br/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pre[i] = −1；S[i] = 0。</a:t>
              </a:r>
            </a:p>
          </p:txBody>
        </p:sp>
      </p:grpSp>
      <p:grpSp>
        <p:nvGrpSpPr>
          <p:cNvPr id="52" name="takeaway"/>
          <p:cNvGrpSpPr/>
          <p:nvPr/>
        </p:nvGrpSpPr>
        <p:grpSpPr>
          <a:xfrm>
            <a:off x="533400" y="5874068"/>
            <a:ext cx="11125200" cy="488632"/>
            <a:chOff x="533400" y="5874068"/>
            <a:chExt cx="11125200" cy="488632"/>
          </a:xfrm>
        </p:grpSpPr>
        <p:sp>
          <p:nvSpPr>
            <p:cNvPr id="46" name="Rectangle 46"/>
            <p:cNvSpPr/>
            <p:nvPr/>
          </p:nvSpPr>
          <p:spPr>
            <a:xfrm>
              <a:off x="533400" y="5874068"/>
              <a:ext cx="11125200" cy="488632"/>
            </a:xfrm>
            <a:prstGeom prst="roundRect">
              <a:avLst>
                <a:gd name="adj" fmla="val 23392"/>
              </a:avLst>
            </a:prstGeom>
            <a:solidFill>
              <a:srgbClr val="F4F6FB"/>
            </a:solidFill>
            <a:ln>
              <a:noFill/>
            </a:ln>
          </p:spPr>
        </p:sp>
        <p:grpSp>
          <p:nvGrpSpPr>
            <p:cNvPr id="50" name="Group 50"/>
            <p:cNvGrpSpPr/>
            <p:nvPr/>
          </p:nvGrpSpPr>
          <p:grpSpPr>
            <a:xfrm>
              <a:off x="738188" y="6017895"/>
              <a:ext cx="200026" cy="200026"/>
              <a:chOff x="738188" y="6017895"/>
              <a:chExt cx="200026" cy="200026"/>
            </a:xfrm>
          </p:grpSpPr>
          <p:sp>
            <p:nvSpPr>
              <p:cNvPr id="47" name="Freeform 47"/>
              <p:cNvSpPr/>
              <p:nvPr/>
            </p:nvSpPr>
            <p:spPr>
              <a:xfrm>
                <a:off x="738188" y="6017895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48" name="Freeform 48"/>
              <p:cNvSpPr/>
              <p:nvPr/>
            </p:nvSpPr>
            <p:spPr>
              <a:xfrm>
                <a:off x="838200" y="6084570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49" name="Freeform 49"/>
              <p:cNvSpPr/>
              <p:nvPr/>
            </p:nvSpPr>
            <p:spPr>
              <a:xfrm>
                <a:off x="827088" y="6117908"/>
                <a:ext cx="222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22225" h="44450">
                    <a:moveTo>
                      <a:pt x="0" y="0"/>
                    </a:moveTo>
                    <a:lnTo>
                      <a:pt x="11113" y="0"/>
                    </a:lnTo>
                    <a:lnTo>
                      <a:pt x="11113" y="44450"/>
                    </a:lnTo>
                    <a:lnTo>
                      <a:pt x="22225" y="4445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</p:grpSp>
        <p:sp>
          <p:nvSpPr>
            <p:cNvPr id="51" name="TextBox 51"/>
            <p:cNvSpPr txBox="1"/>
            <p:nvPr/>
          </p:nvSpPr>
          <p:spPr>
            <a:xfrm>
              <a:off x="1040892" y="6023610"/>
              <a:ext cx="1020054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更正：源课件第 24 页把整个图的最小跨边写成 min{Lowcost[i] ｜ i ∈ V−U}，同页其余地方集合都记作 S，这里的 U 应为 S。</a:t>
              </a:r>
            </a:p>
          </p:txBody>
        </p:sp>
      </p:grpSp>
      <p:grpSp>
        <p:nvGrpSpPr>
          <p:cNvPr id="55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53" name="TextBox 53"/>
            <p:cNvSpPr txBox="1"/>
            <p:nvPr/>
          </p:nvSpPr>
          <p:spPr>
            <a:xfrm>
              <a:off x="528447" y="6581299"/>
              <a:ext cx="232523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数据结构 · 第16讲 最小支撑树及图应用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12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5647426" cy="909257"/>
            <a:chOff x="520446" y="342900"/>
            <a:chExt cx="5647426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3431858" cy="26670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61740" y="407194"/>
              <a:ext cx="337422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第16讲 最小支撑树 · Prim 算法：从一个点长出去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5647426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v 进了 S 之后，只需要更新 v 的邻居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F5FA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20" name="c1-steps-1"/>
          <p:cNvGrpSpPr/>
          <p:nvPr/>
        </p:nvGrpSpPr>
        <p:grpSpPr>
          <a:xfrm>
            <a:off x="533400" y="1533525"/>
            <a:ext cx="5218176" cy="2665476"/>
            <a:chOff x="533400" y="1533525"/>
            <a:chExt cx="5218176" cy="2665476"/>
          </a:xfrm>
        </p:grpSpPr>
        <p:sp>
          <p:nvSpPr>
            <p:cNvPr id="7" name="Rectangle 7"/>
            <p:cNvSpPr/>
            <p:nvPr/>
          </p:nvSpPr>
          <p:spPr>
            <a:xfrm>
              <a:off x="666750" y="1676400"/>
              <a:ext cx="19050" cy="1896428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8" name="Ellipse 8"/>
            <p:cNvSpPr/>
            <p:nvPr/>
          </p:nvSpPr>
          <p:spPr>
            <a:xfrm>
              <a:off x="533400" y="1533525"/>
              <a:ext cx="285750" cy="28575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627024" y="160734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10" name="Ellipse 10"/>
            <p:cNvSpPr/>
            <p:nvPr/>
          </p:nvSpPr>
          <p:spPr>
            <a:xfrm>
              <a:off x="533400" y="2371725"/>
              <a:ext cx="285750" cy="28575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627024" y="244554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12" name="Ellipse 12"/>
            <p:cNvSpPr/>
            <p:nvPr/>
          </p:nvSpPr>
          <p:spPr>
            <a:xfrm>
              <a:off x="533400" y="3429952"/>
              <a:ext cx="285750" cy="28575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627024" y="3503771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945261" y="1566386"/>
              <a:ext cx="396799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选点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946404" y="1846898"/>
              <a:ext cx="4805172" cy="45567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40"/>
                </a:lnSpc>
              </a:pPr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在 V−S 里选 Lowcost 值最小的顶点 v，把边（pre[v], v）加入最小支</a:t>
              </a:r>
              <a:br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撑树，把 v 放入 S。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945261" y="2404586"/>
              <a:ext cx="396799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更新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946404" y="2685098"/>
              <a:ext cx="4782312" cy="67665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40"/>
                </a:lnSpc>
              </a:pPr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v 进入 S 后，新产生的跨边只可能是 v 的关联边（v, w）。对每个还在</a:t>
              </a:r>
              <a:br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V−S 里的邻居 w，若 G[v][w] &lt; Lowcost[w]，则令 Lowcost[w] =</a:t>
              </a:r>
              <a:br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G[v][w]，pre[w] = v。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945261" y="3462814"/>
              <a:ext cx="779120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其余不动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946404" y="3743325"/>
              <a:ext cx="4782312" cy="45567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40"/>
                </a:lnSpc>
              </a:pPr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与 v 不相邻的顶点，它到 S 的最短距离没有变化，不需要任何操作。这</a:t>
              </a:r>
              <a:br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正是从朴素做法省下来的部分。</a:t>
              </a:r>
            </a:p>
          </p:txBody>
        </p:sp>
      </p:grpSp>
      <p:grpSp>
        <p:nvGrpSpPr>
          <p:cNvPr id="26" name="c1-callout-2"/>
          <p:cNvGrpSpPr/>
          <p:nvPr/>
        </p:nvGrpSpPr>
        <p:grpSpPr>
          <a:xfrm>
            <a:off x="533400" y="4370070"/>
            <a:ext cx="5410200" cy="1273492"/>
            <a:chOff x="533400" y="4370070"/>
            <a:chExt cx="5410200" cy="1273492"/>
          </a:xfrm>
        </p:grpSpPr>
        <p:sp>
          <p:nvSpPr>
            <p:cNvPr id="21" name="Rectangle 21"/>
            <p:cNvSpPr/>
            <p:nvPr/>
          </p:nvSpPr>
          <p:spPr>
            <a:xfrm>
              <a:off x="533400" y="4370070"/>
              <a:ext cx="5410200" cy="1273492"/>
            </a:xfrm>
            <a:prstGeom prst="roundRect">
              <a:avLst>
                <a:gd name="adj" fmla="val 8975"/>
              </a:avLst>
            </a:prstGeom>
            <a:solidFill>
              <a:srgbClr val="1F5FA8"/>
            </a:solidFill>
            <a:ln>
              <a:noFill/>
            </a:ln>
          </p:spPr>
        </p:sp>
        <p:grpSp>
          <p:nvGrpSpPr>
            <p:cNvPr id="24" name="Group 24"/>
            <p:cNvGrpSpPr/>
            <p:nvPr/>
          </p:nvGrpSpPr>
          <p:grpSpPr>
            <a:xfrm>
              <a:off x="738188" y="4907282"/>
              <a:ext cx="200023" cy="200023"/>
              <a:chOff x="738188" y="4907282"/>
              <a:chExt cx="200023" cy="200023"/>
            </a:xfrm>
          </p:grpSpPr>
          <p:sp>
            <p:nvSpPr>
              <p:cNvPr id="22" name="Freeform 22"/>
              <p:cNvSpPr/>
              <p:nvPr/>
            </p:nvSpPr>
            <p:spPr>
              <a:xfrm>
                <a:off x="738188" y="4907282"/>
                <a:ext cx="200023" cy="200023"/>
              </a:xfrm>
              <a:custGeom>
                <a:avLst/>
                <a:gdLst/>
                <a:ahLst/>
                <a:cxnLst/>
                <a:rect l="l" t="t" r="r" b="b"/>
                <a:pathLst>
                  <a:path w="200023" h="200023">
                    <a:moveTo>
                      <a:pt x="150630" y="9366"/>
                    </a:moveTo>
                    <a:lnTo>
                      <a:pt x="190658" y="49393"/>
                    </a:lnTo>
                    <a:cubicBezTo>
                      <a:pt x="196654" y="55389"/>
                      <a:pt x="200023" y="63522"/>
                      <a:pt x="200023" y="72002"/>
                    </a:cubicBezTo>
                    <a:cubicBezTo>
                      <a:pt x="200023" y="80482"/>
                      <a:pt x="196654" y="88614"/>
                      <a:pt x="190658" y="94610"/>
                    </a:cubicBezTo>
                    <a:lnTo>
                      <a:pt x="161287" y="123980"/>
                    </a:lnTo>
                    <a:cubicBezTo>
                      <a:pt x="155291" y="129977"/>
                      <a:pt x="147159" y="133346"/>
                      <a:pt x="138679" y="133346"/>
                    </a:cubicBezTo>
                    <a:cubicBezTo>
                      <a:pt x="130199" y="133346"/>
                      <a:pt x="122066" y="129977"/>
                      <a:pt x="116070" y="123980"/>
                    </a:cubicBezTo>
                    <a:lnTo>
                      <a:pt x="112726" y="120636"/>
                    </a:lnTo>
                    <a:lnTo>
                      <a:pt x="39850" y="193511"/>
                    </a:lnTo>
                    <a:cubicBezTo>
                      <a:pt x="36157" y="197203"/>
                      <a:pt x="31283" y="199477"/>
                      <a:pt x="26081" y="199935"/>
                    </a:cubicBezTo>
                    <a:lnTo>
                      <a:pt x="24136" y="200023"/>
                    </a:lnTo>
                    <a:lnTo>
                      <a:pt x="11113" y="200023"/>
                    </a:lnTo>
                    <a:cubicBezTo>
                      <a:pt x="5479" y="200023"/>
                      <a:pt x="737" y="195806"/>
                      <a:pt x="78" y="190211"/>
                    </a:cubicBezTo>
                    <a:lnTo>
                      <a:pt x="0" y="188911"/>
                    </a:lnTo>
                    <a:lnTo>
                      <a:pt x="0" y="175887"/>
                    </a:lnTo>
                    <a:cubicBezTo>
                      <a:pt x="1" y="170669"/>
                      <a:pt x="1838" y="165618"/>
                      <a:pt x="5190" y="161619"/>
                    </a:cubicBezTo>
                    <a:lnTo>
                      <a:pt x="6512" y="160174"/>
                    </a:lnTo>
                    <a:lnTo>
                      <a:pt x="11113" y="155573"/>
                    </a:lnTo>
                    <a:lnTo>
                      <a:pt x="33338" y="155573"/>
                    </a:lnTo>
                    <a:lnTo>
                      <a:pt x="33338" y="133348"/>
                    </a:lnTo>
                    <a:lnTo>
                      <a:pt x="55563" y="133348"/>
                    </a:lnTo>
                    <a:lnTo>
                      <a:pt x="55563" y="111123"/>
                    </a:lnTo>
                    <a:lnTo>
                      <a:pt x="79388" y="87298"/>
                    </a:lnTo>
                    <a:lnTo>
                      <a:pt x="76043" y="83953"/>
                    </a:lnTo>
                    <a:cubicBezTo>
                      <a:pt x="70046" y="77957"/>
                      <a:pt x="66677" y="69825"/>
                      <a:pt x="66677" y="61345"/>
                    </a:cubicBezTo>
                    <a:cubicBezTo>
                      <a:pt x="66677" y="52865"/>
                      <a:pt x="70046" y="44732"/>
                      <a:pt x="76043" y="38736"/>
                    </a:cubicBezTo>
                    <a:lnTo>
                      <a:pt x="105413" y="9366"/>
                    </a:lnTo>
                    <a:cubicBezTo>
                      <a:pt x="111409" y="3369"/>
                      <a:pt x="119542" y="0"/>
                      <a:pt x="128022" y="0"/>
                    </a:cubicBezTo>
                    <a:cubicBezTo>
                      <a:pt x="136502" y="0"/>
                      <a:pt x="144635" y="3369"/>
                      <a:pt x="150630" y="9366"/>
                    </a:cubicBez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23" name="Freeform 23"/>
              <p:cNvSpPr/>
              <p:nvPr/>
            </p:nvSpPr>
            <p:spPr>
              <a:xfrm>
                <a:off x="871538" y="4973955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</p:grpSp>
        <p:sp>
          <p:nvSpPr>
            <p:cNvPr id="25" name="TextBox 25"/>
            <p:cNvSpPr txBox="1"/>
            <p:nvPr/>
          </p:nvSpPr>
          <p:spPr>
            <a:xfrm>
              <a:off x="1040511" y="4776311"/>
              <a:ext cx="4288536" cy="5415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70"/>
                </a:lnSpc>
              </a:pPr>
              <a:r>
                <a:rPr lang="zh-CN" sz="14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一轮的代价固定是选点 O(n) 加更新 O(n)，与边数无</a:t>
              </a:r>
              <a:br/>
              <a:r>
                <a:rPr lang="zh-CN" sz="14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关，所以稠密图上不吃亏。</a:t>
              </a:r>
            </a:p>
          </p:txBody>
        </p:sp>
      </p:grpSp>
      <p:grpSp>
        <p:nvGrpSpPr>
          <p:cNvPr id="46" name="c2-graph-1"/>
          <p:cNvGrpSpPr/>
          <p:nvPr/>
        </p:nvGrpSpPr>
        <p:grpSpPr>
          <a:xfrm>
            <a:off x="6826922" y="1554480"/>
            <a:ext cx="4248748" cy="2239328"/>
            <a:chOff x="6826922" y="1554480"/>
            <a:chExt cx="4248748" cy="2239328"/>
          </a:xfrm>
        </p:grpSpPr>
        <p:sp>
          <p:nvSpPr>
            <p:cNvPr id="27" name="Freeform 27"/>
            <p:cNvSpPr/>
            <p:nvPr/>
          </p:nvSpPr>
          <p:spPr>
            <a:xfrm>
              <a:off x="9062085" y="1671638"/>
              <a:ext cx="9525" cy="2122170"/>
            </a:xfrm>
            <a:custGeom>
              <a:avLst/>
              <a:gdLst/>
              <a:ahLst/>
              <a:cxnLst/>
              <a:rect l="l" t="t" r="r" b="b"/>
              <a:pathLst>
                <a:path w="9525" h="2122170">
                  <a:moveTo>
                    <a:pt x="0" y="0"/>
                  </a:moveTo>
                  <a:lnTo>
                    <a:pt x="0" y="2122170"/>
                  </a:lnTo>
                </a:path>
              </a:pathLst>
            </a:custGeom>
            <a:noFill/>
            <a:ln w="17145">
              <a:solidFill>
                <a:srgbClr val="5B6475"/>
              </a:solidFill>
              <a:custDash>
                <a:ds d="333333" sp="222222"/>
              </a:custDash>
            </a:ln>
          </p:spPr>
        </p:sp>
        <p:sp>
          <p:nvSpPr>
            <p:cNvPr id="28" name="Freeform 28"/>
            <p:cNvSpPr/>
            <p:nvPr/>
          </p:nvSpPr>
          <p:spPr>
            <a:xfrm>
              <a:off x="6921818" y="2079308"/>
              <a:ext cx="276225" cy="822960"/>
            </a:xfrm>
            <a:custGeom>
              <a:avLst/>
              <a:gdLst/>
              <a:ahLst/>
              <a:cxnLst/>
              <a:rect l="l" t="t" r="r" b="b"/>
              <a:pathLst>
                <a:path w="276225" h="822960">
                  <a:moveTo>
                    <a:pt x="276225" y="0"/>
                  </a:moveTo>
                  <a:lnTo>
                    <a:pt x="0" y="82296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29" name="Freeform 29"/>
            <p:cNvSpPr/>
            <p:nvPr/>
          </p:nvSpPr>
          <p:spPr>
            <a:xfrm>
              <a:off x="6968490" y="3001328"/>
              <a:ext cx="1157288" cy="437197"/>
            </a:xfrm>
            <a:custGeom>
              <a:avLst/>
              <a:gdLst/>
              <a:ahLst/>
              <a:cxnLst/>
              <a:rect l="l" t="t" r="r" b="b"/>
              <a:pathLst>
                <a:path w="1157288" h="437197">
                  <a:moveTo>
                    <a:pt x="0" y="0"/>
                  </a:moveTo>
                  <a:lnTo>
                    <a:pt x="1157288" y="437197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30" name="Freeform 30"/>
            <p:cNvSpPr/>
            <p:nvPr/>
          </p:nvSpPr>
          <p:spPr>
            <a:xfrm>
              <a:off x="8479155" y="2566035"/>
              <a:ext cx="2030730" cy="865823"/>
            </a:xfrm>
            <a:custGeom>
              <a:avLst/>
              <a:gdLst/>
              <a:ahLst/>
              <a:cxnLst/>
              <a:rect l="l" t="t" r="r" b="b"/>
              <a:pathLst>
                <a:path w="2030730" h="865823">
                  <a:moveTo>
                    <a:pt x="0" y="865823"/>
                  </a:moveTo>
                  <a:lnTo>
                    <a:pt x="2030730" y="0"/>
                  </a:lnTo>
                </a:path>
              </a:pathLst>
            </a:custGeom>
            <a:noFill/>
            <a:ln w="17145">
              <a:solidFill>
                <a:srgbClr val="14A38B"/>
              </a:solidFill>
            </a:ln>
          </p:spPr>
        </p:sp>
        <p:sp>
          <p:nvSpPr>
            <p:cNvPr id="31" name="Freeform 31"/>
            <p:cNvSpPr/>
            <p:nvPr/>
          </p:nvSpPr>
          <p:spPr>
            <a:xfrm>
              <a:off x="7298055" y="2018348"/>
              <a:ext cx="3198495" cy="446723"/>
            </a:xfrm>
            <a:custGeom>
              <a:avLst/>
              <a:gdLst/>
              <a:ahLst/>
              <a:cxnLst/>
              <a:rect l="l" t="t" r="r" b="b"/>
              <a:pathLst>
                <a:path w="3198495" h="446723">
                  <a:moveTo>
                    <a:pt x="0" y="0"/>
                  </a:moveTo>
                  <a:lnTo>
                    <a:pt x="3198495" y="446723"/>
                  </a:lnTo>
                </a:path>
              </a:pathLst>
            </a:custGeom>
            <a:noFill/>
            <a:ln w="17145">
              <a:solidFill>
                <a:srgbClr val="1F2937"/>
              </a:solidFill>
              <a:custDash>
                <a:ds d="333333" sp="222222"/>
              </a:custDash>
            </a:ln>
          </p:spPr>
        </p:sp>
        <p:sp>
          <p:nvSpPr>
            <p:cNvPr id="32" name="Freeform 32"/>
            <p:cNvSpPr/>
            <p:nvPr/>
          </p:nvSpPr>
          <p:spPr>
            <a:xfrm>
              <a:off x="10743248" y="2672715"/>
              <a:ext cx="242888" cy="761047"/>
            </a:xfrm>
            <a:custGeom>
              <a:avLst/>
              <a:gdLst/>
              <a:ahLst/>
              <a:cxnLst/>
              <a:rect l="l" t="t" r="r" b="b"/>
              <a:pathLst>
                <a:path w="242888" h="761047">
                  <a:moveTo>
                    <a:pt x="0" y="0"/>
                  </a:moveTo>
                  <a:lnTo>
                    <a:pt x="242888" y="761047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33" name="Ellipse 33"/>
            <p:cNvSpPr/>
            <p:nvPr/>
          </p:nvSpPr>
          <p:spPr>
            <a:xfrm>
              <a:off x="7155180" y="1941195"/>
              <a:ext cx="133350" cy="13335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34" name="Ellipse 34"/>
            <p:cNvSpPr/>
            <p:nvPr/>
          </p:nvSpPr>
          <p:spPr>
            <a:xfrm>
              <a:off x="6831330" y="2907982"/>
              <a:ext cx="133350" cy="13335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35" name="Ellipse 35"/>
            <p:cNvSpPr/>
            <p:nvPr/>
          </p:nvSpPr>
          <p:spPr>
            <a:xfrm>
              <a:off x="8122920" y="3325178"/>
              <a:ext cx="361950" cy="361950"/>
            </a:xfrm>
            <a:prstGeom prst="ellipse">
              <a:avLst/>
            </a:prstGeom>
            <a:solidFill>
              <a:srgbClr val="E3F5F1"/>
            </a:solidFill>
            <a:ln w="17145">
              <a:solidFill>
                <a:srgbClr val="14A38B"/>
              </a:solidFill>
            </a:ln>
          </p:spPr>
        </p:sp>
        <p:sp>
          <p:nvSpPr>
            <p:cNvPr id="36" name="Ellipse 36"/>
            <p:cNvSpPr/>
            <p:nvPr/>
          </p:nvSpPr>
          <p:spPr>
            <a:xfrm>
              <a:off x="10504170" y="2309812"/>
              <a:ext cx="361950" cy="361950"/>
            </a:xfrm>
            <a:prstGeom prst="ellipse">
              <a:avLst/>
            </a:prstGeom>
            <a:solidFill>
              <a:srgbClr val="FDEEE7"/>
            </a:solidFill>
            <a:ln w="17145">
              <a:solidFill>
                <a:srgbClr val="F26B3A"/>
              </a:solidFill>
            </a:ln>
          </p:spPr>
        </p:sp>
        <p:sp>
          <p:nvSpPr>
            <p:cNvPr id="37" name="Ellipse 37"/>
            <p:cNvSpPr/>
            <p:nvPr/>
          </p:nvSpPr>
          <p:spPr>
            <a:xfrm>
              <a:off x="10942320" y="3439478"/>
              <a:ext cx="133350" cy="13335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8260848" y="3445669"/>
              <a:ext cx="8609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v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10628246" y="2430304"/>
              <a:ext cx="11379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w</a:t>
              </a:r>
            </a:p>
          </p:txBody>
        </p:sp>
        <p:sp>
          <p:nvSpPr>
            <p:cNvPr id="40" name="Rectangle 40"/>
            <p:cNvSpPr/>
            <p:nvPr/>
          </p:nvSpPr>
          <p:spPr>
            <a:xfrm>
              <a:off x="9245918" y="2920365"/>
              <a:ext cx="498158" cy="146685"/>
            </a:xfrm>
            <a:prstGeom prst="roundRect">
              <a:avLst>
                <a:gd name="adj" fmla="val 25974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9262003" y="2949416"/>
              <a:ext cx="465033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8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G[v][w]</a:t>
              </a:r>
            </a:p>
          </p:txBody>
        </p:sp>
        <p:sp>
          <p:nvSpPr>
            <p:cNvPr id="42" name="Rectangle 42"/>
            <p:cNvSpPr/>
            <p:nvPr/>
          </p:nvSpPr>
          <p:spPr>
            <a:xfrm>
              <a:off x="8551545" y="2163128"/>
              <a:ext cx="690562" cy="146685"/>
            </a:xfrm>
            <a:prstGeom prst="roundRect">
              <a:avLst>
                <a:gd name="adj" fmla="val 25974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8564590" y="2192179"/>
              <a:ext cx="665425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8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Lowcost[w]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6826922" y="1554480"/>
              <a:ext cx="122420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S（v 刚刚加入）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10638823" y="1554480"/>
              <a:ext cx="30790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V−S</a:t>
              </a:r>
            </a:p>
          </p:txBody>
        </p:sp>
      </p:grpSp>
      <p:grpSp>
        <p:nvGrpSpPr>
          <p:cNvPr id="52" name="c2-card-2"/>
          <p:cNvGrpSpPr/>
          <p:nvPr/>
        </p:nvGrpSpPr>
        <p:grpSpPr>
          <a:xfrm>
            <a:off x="6248400" y="4121468"/>
            <a:ext cx="5410200" cy="1522095"/>
            <a:chOff x="6248400" y="4121468"/>
            <a:chExt cx="5410200" cy="1522095"/>
          </a:xfrm>
        </p:grpSpPr>
        <p:sp>
          <p:nvSpPr>
            <p:cNvPr id="47" name="Rectangle 47"/>
            <p:cNvSpPr/>
            <p:nvPr/>
          </p:nvSpPr>
          <p:spPr>
            <a:xfrm>
              <a:off x="6248400" y="4121468"/>
              <a:ext cx="5410200" cy="1522095"/>
            </a:xfrm>
            <a:prstGeom prst="roundRect">
              <a:avLst>
                <a:gd name="adj" fmla="val 8761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48" name="Rectangle 48"/>
            <p:cNvSpPr/>
            <p:nvPr/>
          </p:nvSpPr>
          <p:spPr>
            <a:xfrm>
              <a:off x="6257925" y="4254818"/>
              <a:ext cx="47625" cy="1255395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49" name="Rectangle 49"/>
            <p:cNvSpPr/>
            <p:nvPr/>
          </p:nvSpPr>
          <p:spPr>
            <a:xfrm>
              <a:off x="6484620" y="4319588"/>
              <a:ext cx="476250" cy="247650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50" name="TextBox 50"/>
            <p:cNvSpPr txBox="1"/>
            <p:nvPr/>
          </p:nvSpPr>
          <p:spPr>
            <a:xfrm>
              <a:off x="6576060" y="4353878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读图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6477381" y="4680109"/>
              <a:ext cx="4694301" cy="82162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w 原来到 S 的最小跨边是虚线那条，权值 Lowcost[w]。v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加入后出现了新跨边（v, w）。两者比小，小的留下，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pre[w] 随之改写。</a:t>
              </a:r>
            </a:p>
          </p:txBody>
        </p:sp>
      </p:grpSp>
      <p:grpSp>
        <p:nvGrpSpPr>
          <p:cNvPr id="59" name="takeaway"/>
          <p:cNvGrpSpPr/>
          <p:nvPr/>
        </p:nvGrpSpPr>
        <p:grpSpPr>
          <a:xfrm>
            <a:off x="533400" y="5858828"/>
            <a:ext cx="11125200" cy="503872"/>
            <a:chOff x="533400" y="5858828"/>
            <a:chExt cx="11125200" cy="503872"/>
          </a:xfrm>
        </p:grpSpPr>
        <p:sp>
          <p:nvSpPr>
            <p:cNvPr id="53" name="Rectangle 53"/>
            <p:cNvSpPr/>
            <p:nvPr/>
          </p:nvSpPr>
          <p:spPr>
            <a:xfrm>
              <a:off x="533400" y="5858828"/>
              <a:ext cx="11125200" cy="503872"/>
            </a:xfrm>
            <a:prstGeom prst="roundRect">
              <a:avLst>
                <a:gd name="adj" fmla="val 22684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57" name="Group 57"/>
            <p:cNvGrpSpPr/>
            <p:nvPr/>
          </p:nvGrpSpPr>
          <p:grpSpPr>
            <a:xfrm>
              <a:off x="738188" y="6011228"/>
              <a:ext cx="200026" cy="200025"/>
              <a:chOff x="738188" y="6011228"/>
              <a:chExt cx="200026" cy="200025"/>
            </a:xfrm>
          </p:grpSpPr>
          <p:sp>
            <p:nvSpPr>
              <p:cNvPr id="54" name="Freeform 54"/>
              <p:cNvSpPr/>
              <p:nvPr/>
            </p:nvSpPr>
            <p:spPr>
              <a:xfrm>
                <a:off x="738188" y="6011228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55" name="Freeform 55"/>
              <p:cNvSpPr/>
              <p:nvPr/>
            </p:nvSpPr>
            <p:spPr>
              <a:xfrm>
                <a:off x="777926" y="6055678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56" name="Freeform 56"/>
              <p:cNvSpPr/>
              <p:nvPr/>
            </p:nvSpPr>
            <p:spPr>
              <a:xfrm>
                <a:off x="812642" y="6166803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58" name="TextBox 58"/>
            <p:cNvSpPr txBox="1"/>
            <p:nvPr/>
          </p:nvSpPr>
          <p:spPr>
            <a:xfrm>
              <a:off x="1040511" y="6011704"/>
              <a:ext cx="8748666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更新条件里必须带上 S[w] == 0。已经进入 S 的顶点不再需要 Lowcost，改写它会让后面的选点出错。</a:t>
              </a:r>
            </a:p>
          </p:txBody>
        </p:sp>
      </p:grpSp>
      <p:grpSp>
        <p:nvGrpSpPr>
          <p:cNvPr id="62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60" name="TextBox 60"/>
            <p:cNvSpPr txBox="1"/>
            <p:nvPr/>
          </p:nvSpPr>
          <p:spPr>
            <a:xfrm>
              <a:off x="528447" y="6581299"/>
              <a:ext cx="232523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数据结构 · 第16讲 最小支撑树及图应用</a:t>
              </a:r>
            </a:p>
          </p:txBody>
        </p:sp>
        <p:sp>
          <p:nvSpPr>
            <p:cNvPr id="61" name="TextBox 61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13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6236634" cy="909257"/>
            <a:chOff x="520446" y="342900"/>
            <a:chExt cx="6236634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3431858" cy="26670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61740" y="407194"/>
              <a:ext cx="337422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第16讲 最小支撑树 · Prim 算法：从一个点长出去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6236634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Prim 的 C 实现：选点 + 更新，两重循环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F5FA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0" name="c1-code-1"/>
          <p:cNvGrpSpPr/>
          <p:nvPr/>
        </p:nvGrpSpPr>
        <p:grpSpPr>
          <a:xfrm>
            <a:off x="533400" y="1524000"/>
            <a:ext cx="11125200" cy="3948112"/>
            <a:chOff x="533400" y="1524000"/>
            <a:chExt cx="11125200" cy="3948112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11125200" cy="3948112"/>
            </a:xfrm>
            <a:prstGeom prst="roundRect">
              <a:avLst>
                <a:gd name="adj" fmla="val 2413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661797" y="1675924"/>
              <a:ext cx="258267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Prim 算法（邻接矩阵，起点固定为顶点 1）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661988" y="1935004"/>
              <a:ext cx="4461510" cy="34518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178"/>
                </a:lnSpc>
              </a:pPr>
              <a:r>
                <a:rPr lang="en-US" sz="82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int</a:t>
              </a:r>
              <a:r>
                <a:rPr lang="en-US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FindMin(</a:t>
              </a:r>
              <a:r>
                <a:rPr lang="en-US" sz="82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int</a:t>
              </a:r>
              <a:r>
                <a:rPr lang="en-US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S[], </a:t>
              </a:r>
              <a:r>
                <a:rPr lang="en-US" sz="82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int</a:t>
              </a:r>
              <a:r>
                <a:rPr lang="en-US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Lowcost[], </a:t>
              </a:r>
              <a:r>
                <a:rPr lang="en-US" sz="82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int</a:t>
              </a:r>
              <a:r>
                <a:rPr lang="en-US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n){  </a:t>
              </a:r>
              <a:r>
                <a:rPr lang="zh-CN" sz="82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/* 在 V-S 里挑 Lowcost 最小的点 */</a:t>
              </a:r>
              <a:br/>
              <a:r>
                <a:rPr lang="zh-CN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82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int</a:t>
              </a:r>
              <a:r>
                <a:rPr lang="en-US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v = -1, min = INF;</a:t>
              </a:r>
              <a:br/>
              <a:r>
                <a:rPr lang="zh-CN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82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for</a:t>
              </a:r>
              <a:r>
                <a:rPr lang="zh-CN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(</a:t>
              </a:r>
              <a:r>
                <a:rPr lang="en-US" sz="82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int</a:t>
              </a:r>
              <a:r>
                <a:rPr lang="en-US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i = 1; i &lt;= n; i++)</a:t>
              </a:r>
              <a:br/>
              <a:r>
                <a:rPr lang="zh-CN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</a:t>
              </a:r>
              <a:r>
                <a:rPr lang="en-US" sz="82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if</a:t>
              </a:r>
              <a:r>
                <a:rPr lang="en-US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(S[i] == 0 &amp;&amp; Lowcost[i] &lt; min){ min = Lowcost[i]; v = i; }</a:t>
              </a:r>
              <a:br/>
              <a:r>
                <a:rPr lang="zh-CN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82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return</a:t>
              </a:r>
              <a:r>
                <a:rPr lang="en-US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v;                   </a:t>
              </a:r>
              <a:r>
                <a:rPr lang="zh-CN" sz="82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/* 没有可选的点就返回 -1 */</a:t>
              </a:r>
              <a:br/>
              <a:r>
                <a:rPr lang="zh-CN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}</a:t>
              </a:r>
              <a:br/>
              <a:r>
                <a:rPr lang="zh-CN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br/>
              <a:r>
                <a:rPr lang="en-US" sz="82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int</a:t>
              </a:r>
              <a:r>
                <a:rPr lang="en-US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Prim(</a:t>
              </a:r>
              <a:r>
                <a:rPr lang="en-US" sz="82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int</a:t>
              </a:r>
              <a:r>
                <a:rPr lang="en-US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G[][N], </a:t>
              </a:r>
              <a:r>
                <a:rPr lang="en-US" sz="82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int</a:t>
              </a:r>
              <a:r>
                <a:rPr lang="en-US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n){    </a:t>
              </a:r>
              <a:r>
                <a:rPr lang="zh-CN" sz="82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/* 构造 MST 并返回边权和, G 为邻接矩阵 */</a:t>
              </a:r>
              <a:br/>
              <a:r>
                <a:rPr lang="zh-CN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82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int</a:t>
              </a:r>
              <a:r>
                <a:rPr lang="en-US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S[N] = {0}, Lowcost[N], pre[N], ans = 0;</a:t>
              </a:r>
              <a:br/>
              <a:r>
                <a:rPr lang="zh-CN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82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for</a:t>
              </a:r>
              <a:r>
                <a:rPr lang="zh-CN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(</a:t>
              </a:r>
              <a:r>
                <a:rPr lang="en-US" sz="82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int</a:t>
              </a:r>
              <a:r>
                <a:rPr lang="en-US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i = 1; i &lt;= n; i++){ Lowcost[i] = INF; pre[i] = -1; }</a:t>
              </a:r>
              <a:br/>
              <a:r>
                <a:rPr lang="en-US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Lowcost[1] = 0;             </a:t>
              </a:r>
              <a:r>
                <a:rPr lang="zh-CN" sz="82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/* 顶点 1 作为起点 */</a:t>
              </a:r>
              <a:br/>
              <a:r>
                <a:rPr lang="zh-CN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82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for</a:t>
              </a:r>
              <a:r>
                <a:rPr lang="zh-CN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(</a:t>
              </a:r>
              <a:r>
                <a:rPr lang="en-US" sz="82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int</a:t>
              </a:r>
              <a:r>
                <a:rPr lang="en-US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i = 1; i &lt;= n; i++){          </a:t>
              </a:r>
              <a:r>
                <a:rPr lang="zh-CN" sz="82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/* 把 n 个点逐个加入集合 S */</a:t>
              </a:r>
              <a:br/>
              <a:r>
                <a:rPr lang="zh-CN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</a:t>
              </a:r>
              <a:r>
                <a:rPr lang="en-US" sz="82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int</a:t>
              </a:r>
              <a:r>
                <a:rPr lang="en-US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v = FindMin(S, Lowcost, n);</a:t>
              </a:r>
              <a:br/>
              <a:r>
                <a:rPr lang="zh-CN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</a:t>
              </a:r>
              <a:r>
                <a:rPr lang="en-US" sz="82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if</a:t>
              </a:r>
              <a:r>
                <a:rPr lang="en-US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(v == -1) </a:t>
              </a:r>
              <a:r>
                <a:rPr lang="en-US" sz="82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return</a:t>
              </a:r>
              <a:r>
                <a:rPr lang="en-US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ans;           </a:t>
              </a:r>
              <a:r>
                <a:rPr lang="zh-CN" sz="82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/* 不存在跨边, 图不连通 */</a:t>
              </a:r>
              <a:br/>
              <a:r>
                <a:rPr lang="zh-CN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</a:t>
              </a:r>
              <a:r>
                <a:rPr lang="en-US" sz="82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if</a:t>
              </a:r>
              <a:r>
                <a:rPr lang="en-US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(v != 1) printf(</a:t>
              </a:r>
              <a:r>
                <a:rPr lang="en-US" sz="820" dirty="0">
                  <a:solidFill>
                    <a:srgbClr val="C2410C"/>
                  </a:solidFill>
                  <a:latin typeface="Consolas"/>
                  <a:ea typeface="Consolas"/>
                  <a:cs typeface="Consolas"/>
                </a:rPr>
                <a:t>"%d-%d "</a:t>
              </a:r>
              <a:r>
                <a:rPr lang="en-US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, pre[v], v);</a:t>
              </a:r>
              <a:br/>
              <a:r>
                <a:rPr lang="en-US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ans += Lowcost[v]; S[v] = 1;      </a:t>
              </a:r>
              <a:r>
                <a:rPr lang="zh-CN" sz="82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/* 累加边权, v 加入集合 S */</a:t>
              </a:r>
              <a:br/>
              <a:r>
                <a:rPr lang="zh-CN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</a:t>
              </a:r>
              <a:r>
                <a:rPr lang="en-US" sz="82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for</a:t>
              </a:r>
              <a:r>
                <a:rPr lang="zh-CN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(</a:t>
              </a:r>
              <a:r>
                <a:rPr lang="en-US" sz="82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int</a:t>
              </a:r>
              <a:r>
                <a:rPr lang="en-US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w = 1; w &lt;= n; w++)       </a:t>
              </a:r>
              <a:r>
                <a:rPr lang="zh-CN" sz="82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/* 更新 v 的邻居 */</a:t>
              </a:r>
              <a:br/>
              <a:r>
                <a:rPr lang="zh-CN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    </a:t>
              </a:r>
              <a:r>
                <a:rPr lang="en-US" sz="82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if</a:t>
              </a:r>
              <a:r>
                <a:rPr lang="en-US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(S[w] == 0 &amp;&amp; G[v][w] &lt; Lowcost[w]){</a:t>
              </a:r>
              <a:br/>
              <a:r>
                <a:rPr lang="en-US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        Lowcost[w] = G[v][w]; pre[w] = v;</a:t>
              </a:r>
              <a:br/>
              <a:r>
                <a:rPr lang="zh-CN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    }</a:t>
              </a:r>
              <a:br/>
              <a:r>
                <a:rPr lang="zh-CN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}</a:t>
              </a:r>
              <a:br/>
              <a:r>
                <a:rPr lang="zh-CN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82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return</a:t>
              </a:r>
              <a:r>
                <a:rPr lang="en-US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ans;</a:t>
              </a:r>
              <a:br/>
              <a:r>
                <a:rPr lang="zh-CN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}</a:t>
              </a:r>
            </a:p>
          </p:txBody>
        </p:sp>
      </p:grpSp>
      <p:grpSp>
        <p:nvGrpSpPr>
          <p:cNvPr id="17" name="takeaway"/>
          <p:cNvGrpSpPr/>
          <p:nvPr/>
        </p:nvGrpSpPr>
        <p:grpSpPr>
          <a:xfrm>
            <a:off x="533400" y="5659755"/>
            <a:ext cx="11125200" cy="702945"/>
            <a:chOff x="533400" y="5659755"/>
            <a:chExt cx="11125200" cy="702945"/>
          </a:xfrm>
        </p:grpSpPr>
        <p:sp>
          <p:nvSpPr>
            <p:cNvPr id="11" name="Rectangle 11"/>
            <p:cNvSpPr/>
            <p:nvPr/>
          </p:nvSpPr>
          <p:spPr>
            <a:xfrm>
              <a:off x="533400" y="5659755"/>
              <a:ext cx="11125200" cy="702945"/>
            </a:xfrm>
            <a:prstGeom prst="roundRect">
              <a:avLst>
                <a:gd name="adj" fmla="val 16260"/>
              </a:avLst>
            </a:prstGeom>
            <a:solidFill>
              <a:srgbClr val="F4F6FB"/>
            </a:solidFill>
            <a:ln>
              <a:noFill/>
            </a:ln>
          </p:spPr>
        </p:sp>
        <p:grpSp>
          <p:nvGrpSpPr>
            <p:cNvPr id="15" name="Group 15"/>
            <p:cNvGrpSpPr/>
            <p:nvPr/>
          </p:nvGrpSpPr>
          <p:grpSpPr>
            <a:xfrm>
              <a:off x="738188" y="5911215"/>
              <a:ext cx="200026" cy="200026"/>
              <a:chOff x="738188" y="5911215"/>
              <a:chExt cx="200026" cy="200026"/>
            </a:xfrm>
          </p:grpSpPr>
          <p:sp>
            <p:nvSpPr>
              <p:cNvPr id="12" name="Freeform 12"/>
              <p:cNvSpPr/>
              <p:nvPr/>
            </p:nvSpPr>
            <p:spPr>
              <a:xfrm>
                <a:off x="738188" y="5911215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13" name="Freeform 13"/>
              <p:cNvSpPr/>
              <p:nvPr/>
            </p:nvSpPr>
            <p:spPr>
              <a:xfrm>
                <a:off x="838200" y="5977890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14" name="Freeform 14"/>
              <p:cNvSpPr/>
              <p:nvPr/>
            </p:nvSpPr>
            <p:spPr>
              <a:xfrm>
                <a:off x="827088" y="6011228"/>
                <a:ext cx="222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22225" h="44450">
                    <a:moveTo>
                      <a:pt x="0" y="0"/>
                    </a:moveTo>
                    <a:lnTo>
                      <a:pt x="11113" y="0"/>
                    </a:lnTo>
                    <a:lnTo>
                      <a:pt x="11113" y="44450"/>
                    </a:lnTo>
                    <a:lnTo>
                      <a:pt x="22225" y="4445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</p:grpSp>
        <p:sp>
          <p:nvSpPr>
            <p:cNvPr id="16" name="TextBox 16"/>
            <p:cNvSpPr txBox="1"/>
            <p:nvPr/>
          </p:nvSpPr>
          <p:spPr>
            <a:xfrm>
              <a:off x="1041273" y="5805011"/>
              <a:ext cx="9994138" cy="483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45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更正：源课件第 29 至 31 页的 printf 用了全角引号“%d-%d”，C 编译器不接受，必须写成 ASCII 双引号。本页代码已用 zig cc 编译并在例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1、例2 上跑通。</a:t>
              </a:r>
            </a:p>
          </p:txBody>
        </p:sp>
      </p:grpSp>
      <p:grpSp>
        <p:nvGrpSpPr>
          <p:cNvPr id="20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18" name="TextBox 18"/>
            <p:cNvSpPr txBox="1"/>
            <p:nvPr/>
          </p:nvSpPr>
          <p:spPr>
            <a:xfrm>
              <a:off x="528447" y="6581299"/>
              <a:ext cx="232523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数据结构 · 第16讲 最小支撑树及图应用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14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5902186" cy="909257"/>
            <a:chOff x="520446" y="342900"/>
            <a:chExt cx="5902186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3431858" cy="26670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61740" y="407194"/>
              <a:ext cx="337422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第16讲 最小支撑树 · Prim 算法：从一个点长出去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5902186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Prim 的复杂度是 O(n²)，与边数无关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F5FA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38" name="c1-table-1"/>
          <p:cNvGrpSpPr/>
          <p:nvPr/>
        </p:nvGrpSpPr>
        <p:grpSpPr>
          <a:xfrm>
            <a:off x="533400" y="1524000"/>
            <a:ext cx="5410200" cy="2028825"/>
            <a:chOff x="533400" y="1524000"/>
            <a:chExt cx="5410200" cy="2028825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410200" cy="405765"/>
            </a:xfrm>
            <a:prstGeom prst="rect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1188441" y="1648301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部位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2444509" y="1648301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执行次数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3634181" y="1648301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单次代价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5084166" y="1648301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小计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633412" y="2054066"/>
              <a:ext cx="46375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初始化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2256472" y="2054066"/>
              <a:ext cx="29036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 次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3447098" y="2054066"/>
              <a:ext cx="38353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O(n)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4636770" y="2054066"/>
              <a:ext cx="38353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O(n)</a:t>
              </a:r>
            </a:p>
          </p:txBody>
        </p:sp>
        <p:sp>
          <p:nvSpPr>
            <p:cNvPr id="16" name="Rectangle 16"/>
            <p:cNvSpPr/>
            <p:nvPr/>
          </p:nvSpPr>
          <p:spPr>
            <a:xfrm>
              <a:off x="533400" y="2330768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7" name="Rectangle 17"/>
            <p:cNvSpPr/>
            <p:nvPr/>
          </p:nvSpPr>
          <p:spPr>
            <a:xfrm>
              <a:off x="533400" y="2335530"/>
              <a:ext cx="5410200" cy="405765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633412" y="2459831"/>
              <a:ext cx="58253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FindMin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2256472" y="2459831"/>
              <a:ext cx="29036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n 次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3447098" y="2459831"/>
              <a:ext cx="38353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O(n)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4636770" y="2459831"/>
              <a:ext cx="46880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O(n²)</a:t>
              </a:r>
            </a:p>
          </p:txBody>
        </p:sp>
        <p:sp>
          <p:nvSpPr>
            <p:cNvPr id="22" name="Rectangle 22"/>
            <p:cNvSpPr/>
            <p:nvPr/>
          </p:nvSpPr>
          <p:spPr>
            <a:xfrm>
              <a:off x="533400" y="2736532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633412" y="2865596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更新邻居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2256472" y="2865596"/>
              <a:ext cx="29036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n 次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3447098" y="2865596"/>
              <a:ext cx="38353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O(n)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4636770" y="2865596"/>
              <a:ext cx="46880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O(n²)</a:t>
              </a:r>
            </a:p>
          </p:txBody>
        </p:sp>
        <p:sp>
          <p:nvSpPr>
            <p:cNvPr id="27" name="Rectangle 27"/>
            <p:cNvSpPr/>
            <p:nvPr/>
          </p:nvSpPr>
          <p:spPr>
            <a:xfrm>
              <a:off x="533400" y="3142298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8" name="Rectangle 28"/>
            <p:cNvSpPr/>
            <p:nvPr/>
          </p:nvSpPr>
          <p:spPr>
            <a:xfrm>
              <a:off x="533400" y="3147060"/>
              <a:ext cx="5410200" cy="405765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633412" y="3271361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合计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2256472" y="3271361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—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3447098" y="3271361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—</a:t>
              </a:r>
            </a:p>
          </p:txBody>
        </p:sp>
        <p:sp>
          <p:nvSpPr>
            <p:cNvPr id="32" name="Rectangle 32"/>
            <p:cNvSpPr/>
            <p:nvPr/>
          </p:nvSpPr>
          <p:spPr>
            <a:xfrm>
              <a:off x="4546282" y="3156585"/>
              <a:ext cx="1387792" cy="386715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4636770" y="3271361"/>
              <a:ext cx="46880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O(n²)</a:t>
              </a:r>
            </a:p>
          </p:txBody>
        </p:sp>
        <p:sp>
          <p:nvSpPr>
            <p:cNvPr id="34" name="Rectangle 34"/>
            <p:cNvSpPr/>
            <p:nvPr/>
          </p:nvSpPr>
          <p:spPr>
            <a:xfrm>
              <a:off x="533400" y="1524000"/>
              <a:ext cx="5410200" cy="2028825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35" name="Rectangle 35"/>
            <p:cNvSpPr/>
            <p:nvPr/>
          </p:nvSpPr>
          <p:spPr>
            <a:xfrm>
              <a:off x="2151698" y="1524000"/>
              <a:ext cx="9525" cy="20288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6" name="Rectangle 36"/>
            <p:cNvSpPr/>
            <p:nvPr/>
          </p:nvSpPr>
          <p:spPr>
            <a:xfrm>
              <a:off x="3342322" y="1524000"/>
              <a:ext cx="9525" cy="20288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7" name="Rectangle 37"/>
            <p:cNvSpPr/>
            <p:nvPr/>
          </p:nvSpPr>
          <p:spPr>
            <a:xfrm>
              <a:off x="4531995" y="1524000"/>
              <a:ext cx="9525" cy="20288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46" name="c1-card-2"/>
          <p:cNvGrpSpPr/>
          <p:nvPr/>
        </p:nvGrpSpPr>
        <p:grpSpPr>
          <a:xfrm>
            <a:off x="533400" y="3728085"/>
            <a:ext cx="5410200" cy="1557338"/>
            <a:chOff x="533400" y="3728085"/>
            <a:chExt cx="5410200" cy="1557338"/>
          </a:xfrm>
        </p:grpSpPr>
        <p:sp>
          <p:nvSpPr>
            <p:cNvPr id="39" name="Rectangle 39"/>
            <p:cNvSpPr/>
            <p:nvPr/>
          </p:nvSpPr>
          <p:spPr>
            <a:xfrm>
              <a:off x="533400" y="3728085"/>
              <a:ext cx="5410200" cy="1557338"/>
            </a:xfrm>
            <a:prstGeom prst="roundRect">
              <a:avLst>
                <a:gd name="adj" fmla="val 8563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40" name="Rectangle 40"/>
            <p:cNvSpPr/>
            <p:nvPr/>
          </p:nvSpPr>
          <p:spPr>
            <a:xfrm>
              <a:off x="542925" y="3861435"/>
              <a:ext cx="47625" cy="1290638"/>
            </a:xfrm>
            <a:prstGeom prst="roundRect">
              <a:avLst>
                <a:gd name="adj" fmla="val 50000"/>
              </a:avLst>
            </a:prstGeom>
            <a:solidFill>
              <a:srgbClr val="B42318"/>
            </a:solidFill>
            <a:ln>
              <a:noFill/>
            </a:ln>
          </p:spPr>
        </p:sp>
        <p:sp>
          <p:nvSpPr>
            <p:cNvPr id="41" name="Rectangle 41"/>
            <p:cNvSpPr/>
            <p:nvPr/>
          </p:nvSpPr>
          <p:spPr>
            <a:xfrm>
              <a:off x="763905" y="3920490"/>
              <a:ext cx="1143000" cy="247650"/>
            </a:xfrm>
            <a:prstGeom prst="roundRect">
              <a:avLst>
                <a:gd name="adj" fmla="val 50000"/>
              </a:avLst>
            </a:prstGeom>
            <a:solidFill>
              <a:srgbClr val="FDECEA"/>
            </a:solidFill>
            <a:ln>
              <a:noFill/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835342" y="3954780"/>
              <a:ext cx="100012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结论成立的前提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757047" y="4276725"/>
              <a:ext cx="372046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图用 </a:t>
              </a:r>
              <a:r>
                <a:rPr lang="zh-CN" sz="135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邻接矩阵</a:t>
              </a: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 存储，不相邻时矩阵里存 INF。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757047" y="4579620"/>
              <a:ext cx="495910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FindMin 用线性扫描。改用小顶堆加邻接表则是 O(e log n)。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757047" y="4881562"/>
              <a:ext cx="441882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n 是顶点数，与边数无关，所以 </a:t>
              </a:r>
              <a:r>
                <a:rPr lang="zh-CN" sz="135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稠密图</a:t>
              </a: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 用 Prim 合适。</a:t>
              </a:r>
            </a:p>
          </p:txBody>
        </p:sp>
      </p:grpSp>
      <p:grpSp>
        <p:nvGrpSpPr>
          <p:cNvPr id="53" name="c2-card-1"/>
          <p:cNvGrpSpPr/>
          <p:nvPr/>
        </p:nvGrpSpPr>
        <p:grpSpPr>
          <a:xfrm>
            <a:off x="6248400" y="1524000"/>
            <a:ext cx="5410200" cy="1768792"/>
            <a:chOff x="6248400" y="1524000"/>
            <a:chExt cx="5410200" cy="1768792"/>
          </a:xfrm>
        </p:grpSpPr>
        <p:sp>
          <p:nvSpPr>
            <p:cNvPr id="47" name="Rectangle 47"/>
            <p:cNvSpPr/>
            <p:nvPr/>
          </p:nvSpPr>
          <p:spPr>
            <a:xfrm>
              <a:off x="6248400" y="1524000"/>
              <a:ext cx="5410200" cy="1768792"/>
            </a:xfrm>
            <a:prstGeom prst="roundRect">
              <a:avLst>
                <a:gd name="adj" fmla="val 7539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48" name="Rectangle 48"/>
            <p:cNvSpPr/>
            <p:nvPr/>
          </p:nvSpPr>
          <p:spPr>
            <a:xfrm>
              <a:off x="6257925" y="1657350"/>
              <a:ext cx="47625" cy="1502092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49" name="Rectangle 49"/>
            <p:cNvSpPr/>
            <p:nvPr/>
          </p:nvSpPr>
          <p:spPr>
            <a:xfrm>
              <a:off x="6478905" y="1716405"/>
              <a:ext cx="1276350" cy="247650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50" name="TextBox 50"/>
            <p:cNvSpPr txBox="1"/>
            <p:nvPr/>
          </p:nvSpPr>
          <p:spPr>
            <a:xfrm>
              <a:off x="6546342" y="1750695"/>
              <a:ext cx="114147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返回值的两种情形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6472047" y="2072640"/>
              <a:ext cx="458440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图连通时，循环整整跑 n 轮，返回最小支撑树的边权和。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6472047" y="2375535"/>
              <a:ext cx="4754308" cy="7783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图不连通时，某一轮 FindMin 会返回 −1（V−S 里所有点的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Lowcost 都还是 INF），此时提前 return，返回的是包含起点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的那个连通分量的最小支撑树的边权和。</a:t>
              </a:r>
            </a:p>
          </p:txBody>
        </p:sp>
      </p:grpSp>
      <p:grpSp>
        <p:nvGrpSpPr>
          <p:cNvPr id="59" name="c2-card-2"/>
          <p:cNvGrpSpPr/>
          <p:nvPr/>
        </p:nvGrpSpPr>
        <p:grpSpPr>
          <a:xfrm>
            <a:off x="6248400" y="3468052"/>
            <a:ext cx="5410200" cy="1817370"/>
            <a:chOff x="6248400" y="3468052"/>
            <a:chExt cx="5410200" cy="1817370"/>
          </a:xfrm>
        </p:grpSpPr>
        <p:sp>
          <p:nvSpPr>
            <p:cNvPr id="54" name="Rectangle 54"/>
            <p:cNvSpPr/>
            <p:nvPr/>
          </p:nvSpPr>
          <p:spPr>
            <a:xfrm>
              <a:off x="6248400" y="3468052"/>
              <a:ext cx="5410200" cy="1817370"/>
            </a:xfrm>
            <a:prstGeom prst="roundRect">
              <a:avLst>
                <a:gd name="adj" fmla="val 7338"/>
              </a:avLst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55" name="Rectangle 55"/>
            <p:cNvSpPr/>
            <p:nvPr/>
          </p:nvSpPr>
          <p:spPr>
            <a:xfrm>
              <a:off x="6440805" y="3660458"/>
              <a:ext cx="1835468" cy="247650"/>
            </a:xfrm>
            <a:prstGeom prst="roundRect">
              <a:avLst>
                <a:gd name="adj" fmla="val 50000"/>
              </a:avLst>
            </a:prstGeom>
            <a:solidFill>
              <a:srgbClr val="174A85"/>
            </a:solidFill>
            <a:ln>
              <a:noFill/>
            </a:ln>
          </p:spPr>
        </p:sp>
        <p:sp>
          <p:nvSpPr>
            <p:cNvPr id="56" name="TextBox 56"/>
            <p:cNvSpPr txBox="1"/>
            <p:nvPr/>
          </p:nvSpPr>
          <p:spPr>
            <a:xfrm>
              <a:off x="6482793" y="3694748"/>
              <a:ext cx="175053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为什么 INF 取 0x3f3f3f3f</a:t>
              </a: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6433947" y="4017645"/>
              <a:ext cx="4574286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0x3f3f3f3f ≈ 1.06 × 10⁹，两个相加仍小于 int 的上限 2.1</a:t>
              </a:r>
              <a:br/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× 10⁹，做 dist[v] + G[v][w] 这类运算不会溢出。</a:t>
              </a: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6433947" y="4576762"/>
              <a:ext cx="4780026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同时它的每个字节都是 0x3f，可以直接用 memset 把整个数组</a:t>
              </a:r>
              <a:br/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刷成 INF。</a:t>
              </a:r>
            </a:p>
          </p:txBody>
        </p:sp>
      </p:grpSp>
      <p:grpSp>
        <p:nvGrpSpPr>
          <p:cNvPr id="66" name="takeaway"/>
          <p:cNvGrpSpPr/>
          <p:nvPr/>
        </p:nvGrpSpPr>
        <p:grpSpPr>
          <a:xfrm>
            <a:off x="533400" y="5874068"/>
            <a:ext cx="11125200" cy="488632"/>
            <a:chOff x="533400" y="5874068"/>
            <a:chExt cx="11125200" cy="488632"/>
          </a:xfrm>
        </p:grpSpPr>
        <p:sp>
          <p:nvSpPr>
            <p:cNvPr id="60" name="Rectangle 60"/>
            <p:cNvSpPr/>
            <p:nvPr/>
          </p:nvSpPr>
          <p:spPr>
            <a:xfrm>
              <a:off x="533400" y="5874068"/>
              <a:ext cx="11125200" cy="488632"/>
            </a:xfrm>
            <a:prstGeom prst="roundRect">
              <a:avLst>
                <a:gd name="adj" fmla="val 23392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64" name="Group 64"/>
            <p:cNvGrpSpPr/>
            <p:nvPr/>
          </p:nvGrpSpPr>
          <p:grpSpPr>
            <a:xfrm>
              <a:off x="738188" y="6017895"/>
              <a:ext cx="200026" cy="200025"/>
              <a:chOff x="738188" y="6017895"/>
              <a:chExt cx="200026" cy="200025"/>
            </a:xfrm>
          </p:grpSpPr>
          <p:sp>
            <p:nvSpPr>
              <p:cNvPr id="61" name="Freeform 61"/>
              <p:cNvSpPr/>
              <p:nvPr/>
            </p:nvSpPr>
            <p:spPr>
              <a:xfrm>
                <a:off x="738188" y="6017895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62" name="Freeform 62"/>
              <p:cNvSpPr/>
              <p:nvPr/>
            </p:nvSpPr>
            <p:spPr>
              <a:xfrm>
                <a:off x="777926" y="6062345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63" name="Freeform 63"/>
              <p:cNvSpPr/>
              <p:nvPr/>
            </p:nvSpPr>
            <p:spPr>
              <a:xfrm>
                <a:off x="812642" y="6173471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65" name="TextBox 65"/>
            <p:cNvSpPr txBox="1"/>
            <p:nvPr/>
          </p:nvSpPr>
          <p:spPr>
            <a:xfrm>
              <a:off x="1040892" y="6023610"/>
              <a:ext cx="844925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记法：Prim 的循环只和顶点有关，Kruskal 的循环只和边有关。看图是稠密还是稀疏，就知道该用哪个。</a:t>
              </a:r>
            </a:p>
          </p:txBody>
        </p:sp>
      </p:grpSp>
      <p:grpSp>
        <p:nvGrpSpPr>
          <p:cNvPr id="69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67" name="TextBox 67"/>
            <p:cNvSpPr txBox="1"/>
            <p:nvPr/>
          </p:nvSpPr>
          <p:spPr>
            <a:xfrm>
              <a:off x="528447" y="6581299"/>
              <a:ext cx="232523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数据结构 · 第16讲 最小支撑树及图应用</a:t>
              </a:r>
            </a:p>
          </p:txBody>
        </p:sp>
        <p:sp>
          <p:nvSpPr>
            <p:cNvPr id="68" name="TextBox 68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15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6844149" cy="909257"/>
            <a:chOff x="520446" y="342900"/>
            <a:chExt cx="6844149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3431858" cy="26670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61740" y="407194"/>
              <a:ext cx="337422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第16讲 最小支撑树 · Prim 算法：从一个点长出去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6844149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例2：把 Lowcost 和 pre 的每一轮变化写全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F5FA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8" name="lead"/>
          <p:cNvGrpSpPr/>
          <p:nvPr/>
        </p:nvGrpSpPr>
        <p:grpSpPr>
          <a:xfrm>
            <a:off x="526542" y="1545907"/>
            <a:ext cx="6281389" cy="264033"/>
            <a:chOff x="526542" y="1545907"/>
            <a:chExt cx="6281389" cy="264033"/>
          </a:xfrm>
        </p:grpSpPr>
        <p:sp>
          <p:nvSpPr>
            <p:cNvPr id="7" name="TextBox 7"/>
            <p:cNvSpPr txBox="1"/>
            <p:nvPr/>
          </p:nvSpPr>
          <p:spPr>
            <a:xfrm>
              <a:off x="526542" y="1545907"/>
              <a:ext cx="628138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5 个顶点 8 条边，起点仍是顶点 1。表中每格写 Lowcost 值，括号里是 pre。</a:t>
              </a:r>
            </a:p>
          </p:txBody>
        </p:sp>
      </p:grpSp>
      <p:grpSp>
        <p:nvGrpSpPr>
          <p:cNvPr id="43" name="c1-graph-1"/>
          <p:cNvGrpSpPr/>
          <p:nvPr/>
        </p:nvGrpSpPr>
        <p:grpSpPr>
          <a:xfrm>
            <a:off x="656272" y="1919288"/>
            <a:ext cx="3432810" cy="2043112"/>
            <a:chOff x="656272" y="1919288"/>
            <a:chExt cx="3432810" cy="2043112"/>
          </a:xfrm>
        </p:grpSpPr>
        <p:sp>
          <p:nvSpPr>
            <p:cNvPr id="9" name="Freeform 9"/>
            <p:cNvSpPr/>
            <p:nvPr/>
          </p:nvSpPr>
          <p:spPr>
            <a:xfrm>
              <a:off x="990600" y="2169795"/>
              <a:ext cx="1219200" cy="590550"/>
            </a:xfrm>
            <a:custGeom>
              <a:avLst/>
              <a:gdLst/>
              <a:ahLst/>
              <a:cxnLst/>
              <a:rect l="l" t="t" r="r" b="b"/>
              <a:pathLst>
                <a:path w="1219200" h="590550">
                  <a:moveTo>
                    <a:pt x="1219200" y="0"/>
                  </a:moveTo>
                  <a:lnTo>
                    <a:pt x="0" y="59055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10" name="Freeform 10"/>
            <p:cNvSpPr/>
            <p:nvPr/>
          </p:nvSpPr>
          <p:spPr>
            <a:xfrm>
              <a:off x="2535555" y="2169795"/>
              <a:ext cx="1219200" cy="590550"/>
            </a:xfrm>
            <a:custGeom>
              <a:avLst/>
              <a:gdLst/>
              <a:ahLst/>
              <a:cxnLst/>
              <a:rect l="l" t="t" r="r" b="b"/>
              <a:pathLst>
                <a:path w="1219200" h="590550">
                  <a:moveTo>
                    <a:pt x="0" y="0"/>
                  </a:moveTo>
                  <a:lnTo>
                    <a:pt x="1219200" y="590550"/>
                  </a:lnTo>
                </a:path>
              </a:pathLst>
            </a:custGeom>
            <a:noFill/>
            <a:ln w="17145">
              <a:solidFill>
                <a:srgbClr val="1F5FA8"/>
              </a:solidFill>
            </a:ln>
          </p:spPr>
        </p:sp>
        <p:sp>
          <p:nvSpPr>
            <p:cNvPr id="11" name="Freeform 11"/>
            <p:cNvSpPr/>
            <p:nvPr/>
          </p:nvSpPr>
          <p:spPr>
            <a:xfrm>
              <a:off x="1008698" y="2839402"/>
              <a:ext cx="2727960" cy="9525"/>
            </a:xfrm>
            <a:custGeom>
              <a:avLst/>
              <a:gdLst/>
              <a:ahLst/>
              <a:cxnLst/>
              <a:rect l="l" t="t" r="r" b="b"/>
              <a:pathLst>
                <a:path w="2727960" h="9525">
                  <a:moveTo>
                    <a:pt x="0" y="0"/>
                  </a:moveTo>
                  <a:lnTo>
                    <a:pt x="2727960" y="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12" name="Freeform 12"/>
            <p:cNvSpPr/>
            <p:nvPr/>
          </p:nvSpPr>
          <p:spPr>
            <a:xfrm>
              <a:off x="931545" y="2987992"/>
              <a:ext cx="455295" cy="654367"/>
            </a:xfrm>
            <a:custGeom>
              <a:avLst/>
              <a:gdLst/>
              <a:ahLst/>
              <a:cxnLst/>
              <a:rect l="l" t="t" r="r" b="b"/>
              <a:pathLst>
                <a:path w="455295" h="654367">
                  <a:moveTo>
                    <a:pt x="0" y="0"/>
                  </a:moveTo>
                  <a:lnTo>
                    <a:pt x="455295" y="654367"/>
                  </a:lnTo>
                </a:path>
              </a:pathLst>
            </a:custGeom>
            <a:noFill/>
            <a:ln w="17145">
              <a:solidFill>
                <a:srgbClr val="1F5FA8"/>
              </a:solidFill>
            </a:ln>
          </p:spPr>
        </p:sp>
        <p:sp>
          <p:nvSpPr>
            <p:cNvPr id="13" name="Freeform 13"/>
            <p:cNvSpPr/>
            <p:nvPr/>
          </p:nvSpPr>
          <p:spPr>
            <a:xfrm>
              <a:off x="996315" y="2905125"/>
              <a:ext cx="2090738" cy="819150"/>
            </a:xfrm>
            <a:custGeom>
              <a:avLst/>
              <a:gdLst/>
              <a:ahLst/>
              <a:cxnLst/>
              <a:rect l="l" t="t" r="r" b="b"/>
              <a:pathLst>
                <a:path w="2090738" h="819150">
                  <a:moveTo>
                    <a:pt x="0" y="0"/>
                  </a:moveTo>
                  <a:lnTo>
                    <a:pt x="2090738" y="81915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14" name="Freeform 14"/>
            <p:cNvSpPr/>
            <p:nvPr/>
          </p:nvSpPr>
          <p:spPr>
            <a:xfrm>
              <a:off x="1658302" y="2905125"/>
              <a:ext cx="2091690" cy="819150"/>
            </a:xfrm>
            <a:custGeom>
              <a:avLst/>
              <a:gdLst/>
              <a:ahLst/>
              <a:cxnLst/>
              <a:rect l="l" t="t" r="r" b="b"/>
              <a:pathLst>
                <a:path w="2091690" h="819150">
                  <a:moveTo>
                    <a:pt x="0" y="819150"/>
                  </a:moveTo>
                  <a:lnTo>
                    <a:pt x="2091690" y="0"/>
                  </a:lnTo>
                </a:path>
              </a:pathLst>
            </a:custGeom>
            <a:noFill/>
            <a:ln w="17145">
              <a:solidFill>
                <a:srgbClr val="1F5FA8"/>
              </a:solidFill>
            </a:ln>
          </p:spPr>
        </p:sp>
        <p:sp>
          <p:nvSpPr>
            <p:cNvPr id="15" name="Freeform 15"/>
            <p:cNvSpPr/>
            <p:nvPr/>
          </p:nvSpPr>
          <p:spPr>
            <a:xfrm>
              <a:off x="1670685" y="3790950"/>
              <a:ext cx="1403985" cy="9525"/>
            </a:xfrm>
            <a:custGeom>
              <a:avLst/>
              <a:gdLst/>
              <a:ahLst/>
              <a:cxnLst/>
              <a:rect l="l" t="t" r="r" b="b"/>
              <a:pathLst>
                <a:path w="1403985" h="9525">
                  <a:moveTo>
                    <a:pt x="0" y="0"/>
                  </a:moveTo>
                  <a:lnTo>
                    <a:pt x="1403985" y="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16" name="Freeform 16"/>
            <p:cNvSpPr/>
            <p:nvPr/>
          </p:nvSpPr>
          <p:spPr>
            <a:xfrm>
              <a:off x="3359468" y="2987992"/>
              <a:ext cx="455295" cy="654367"/>
            </a:xfrm>
            <a:custGeom>
              <a:avLst/>
              <a:gdLst/>
              <a:ahLst/>
              <a:cxnLst/>
              <a:rect l="l" t="t" r="r" b="b"/>
              <a:pathLst>
                <a:path w="455295" h="654367">
                  <a:moveTo>
                    <a:pt x="0" y="654367"/>
                  </a:moveTo>
                  <a:lnTo>
                    <a:pt x="455295" y="0"/>
                  </a:lnTo>
                </a:path>
              </a:pathLst>
            </a:custGeom>
            <a:noFill/>
            <a:ln w="17145">
              <a:solidFill>
                <a:srgbClr val="1F5FA8"/>
              </a:solidFill>
            </a:ln>
          </p:spPr>
        </p:sp>
        <p:sp>
          <p:nvSpPr>
            <p:cNvPr id="17" name="Ellipse 17"/>
            <p:cNvSpPr/>
            <p:nvPr/>
          </p:nvSpPr>
          <p:spPr>
            <a:xfrm>
              <a:off x="2201228" y="1919288"/>
              <a:ext cx="342900" cy="342900"/>
            </a:xfrm>
            <a:prstGeom prst="ellipse">
              <a:avLst/>
            </a:prstGeom>
            <a:solidFill>
              <a:srgbClr val="FDEEE7"/>
            </a:solidFill>
            <a:ln w="17145">
              <a:solidFill>
                <a:srgbClr val="F26B3A"/>
              </a:solidFill>
            </a:ln>
          </p:spPr>
        </p:sp>
        <p:sp>
          <p:nvSpPr>
            <p:cNvPr id="18" name="Ellipse 18"/>
            <p:cNvSpPr/>
            <p:nvPr/>
          </p:nvSpPr>
          <p:spPr>
            <a:xfrm>
              <a:off x="656272" y="2667952"/>
              <a:ext cx="342900" cy="34290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19" name="Ellipse 19"/>
            <p:cNvSpPr/>
            <p:nvPr/>
          </p:nvSpPr>
          <p:spPr>
            <a:xfrm>
              <a:off x="3746182" y="2667952"/>
              <a:ext cx="342900" cy="34290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20" name="Ellipse 20"/>
            <p:cNvSpPr/>
            <p:nvPr/>
          </p:nvSpPr>
          <p:spPr>
            <a:xfrm>
              <a:off x="1318260" y="3619500"/>
              <a:ext cx="342900" cy="34290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21" name="Ellipse 21"/>
            <p:cNvSpPr/>
            <p:nvPr/>
          </p:nvSpPr>
          <p:spPr>
            <a:xfrm>
              <a:off x="3084195" y="3619500"/>
              <a:ext cx="342900" cy="34290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2329630" y="2030254"/>
              <a:ext cx="8609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784675" y="2778919"/>
              <a:ext cx="8609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3874585" y="2778919"/>
              <a:ext cx="8609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1446663" y="3730466"/>
              <a:ext cx="8609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3212598" y="3730466"/>
              <a:ext cx="8609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27" name="Rectangle 27"/>
            <p:cNvSpPr/>
            <p:nvPr/>
          </p:nvSpPr>
          <p:spPr>
            <a:xfrm>
              <a:off x="1533525" y="2386012"/>
              <a:ext cx="133350" cy="146685"/>
            </a:xfrm>
            <a:prstGeom prst="roundRect">
              <a:avLst>
                <a:gd name="adj" fmla="val 28571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1565081" y="2416016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8</a:t>
              </a:r>
            </a:p>
          </p:txBody>
        </p:sp>
        <p:sp>
          <p:nvSpPr>
            <p:cNvPr id="29" name="Rectangle 29"/>
            <p:cNvSpPr/>
            <p:nvPr/>
          </p:nvSpPr>
          <p:spPr>
            <a:xfrm>
              <a:off x="3078480" y="2386012"/>
              <a:ext cx="133350" cy="146685"/>
            </a:xfrm>
            <a:prstGeom prst="roundRect">
              <a:avLst>
                <a:gd name="adj" fmla="val 28571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3110036" y="2416016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31" name="Rectangle 31"/>
            <p:cNvSpPr/>
            <p:nvPr/>
          </p:nvSpPr>
          <p:spPr>
            <a:xfrm>
              <a:off x="2306002" y="2761298"/>
              <a:ext cx="133350" cy="146685"/>
            </a:xfrm>
            <a:prstGeom prst="roundRect">
              <a:avLst>
                <a:gd name="adj" fmla="val 28571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2337558" y="2790349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7</a:t>
              </a:r>
            </a:p>
          </p:txBody>
        </p:sp>
        <p:sp>
          <p:nvSpPr>
            <p:cNvPr id="33" name="Rectangle 33"/>
            <p:cNvSpPr/>
            <p:nvPr/>
          </p:nvSpPr>
          <p:spPr>
            <a:xfrm>
              <a:off x="1092518" y="3236595"/>
              <a:ext cx="133350" cy="146685"/>
            </a:xfrm>
            <a:prstGeom prst="roundRect">
              <a:avLst>
                <a:gd name="adj" fmla="val 28571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1124073" y="3265646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35" name="Rectangle 35"/>
            <p:cNvSpPr/>
            <p:nvPr/>
          </p:nvSpPr>
          <p:spPr>
            <a:xfrm>
              <a:off x="1975485" y="3236595"/>
              <a:ext cx="133350" cy="146685"/>
            </a:xfrm>
            <a:prstGeom prst="roundRect">
              <a:avLst>
                <a:gd name="adj" fmla="val 28571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2007041" y="3265646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6</a:t>
              </a:r>
            </a:p>
          </p:txBody>
        </p:sp>
        <p:sp>
          <p:nvSpPr>
            <p:cNvPr id="37" name="Rectangle 37"/>
            <p:cNvSpPr/>
            <p:nvPr/>
          </p:nvSpPr>
          <p:spPr>
            <a:xfrm>
              <a:off x="2637472" y="3236595"/>
              <a:ext cx="133350" cy="146685"/>
            </a:xfrm>
            <a:prstGeom prst="roundRect">
              <a:avLst>
                <a:gd name="adj" fmla="val 28571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2669028" y="3265646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39" name="Rectangle 39"/>
            <p:cNvSpPr/>
            <p:nvPr/>
          </p:nvSpPr>
          <p:spPr>
            <a:xfrm>
              <a:off x="2306002" y="3711892"/>
              <a:ext cx="133350" cy="146685"/>
            </a:xfrm>
            <a:prstGeom prst="roundRect">
              <a:avLst>
                <a:gd name="adj" fmla="val 28571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2337558" y="3741896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9</a:t>
              </a:r>
            </a:p>
          </p:txBody>
        </p:sp>
        <p:sp>
          <p:nvSpPr>
            <p:cNvPr id="41" name="Rectangle 41"/>
            <p:cNvSpPr/>
            <p:nvPr/>
          </p:nvSpPr>
          <p:spPr>
            <a:xfrm>
              <a:off x="3520440" y="3236595"/>
              <a:ext cx="133350" cy="146685"/>
            </a:xfrm>
            <a:prstGeom prst="roundRect">
              <a:avLst>
                <a:gd name="adj" fmla="val 28571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3551996" y="3265646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</p:grpSp>
      <p:grpSp>
        <p:nvGrpSpPr>
          <p:cNvPr id="47" name="c1-card-2"/>
          <p:cNvGrpSpPr/>
          <p:nvPr/>
        </p:nvGrpSpPr>
        <p:grpSpPr>
          <a:xfrm>
            <a:off x="533400" y="4117658"/>
            <a:ext cx="3678555" cy="1546860"/>
            <a:chOff x="533400" y="4117658"/>
            <a:chExt cx="3678555" cy="1546860"/>
          </a:xfrm>
        </p:grpSpPr>
        <p:sp>
          <p:nvSpPr>
            <p:cNvPr id="44" name="Rectangle 44"/>
            <p:cNvSpPr/>
            <p:nvPr/>
          </p:nvSpPr>
          <p:spPr>
            <a:xfrm>
              <a:off x="533400" y="4117658"/>
              <a:ext cx="3678555" cy="1546860"/>
            </a:xfrm>
            <a:prstGeom prst="roundRect">
              <a:avLst>
                <a:gd name="adj" fmla="val 8621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45" name="Rectangle 45"/>
            <p:cNvSpPr/>
            <p:nvPr/>
          </p:nvSpPr>
          <p:spPr>
            <a:xfrm>
              <a:off x="542925" y="4251008"/>
              <a:ext cx="47625" cy="1280160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745998" y="4319111"/>
              <a:ext cx="2898394" cy="4922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MST 边：1—5、5—3、5—4、3—2，边权和</a:t>
              </a:r>
              <a:br/>
              <a:r>
                <a:rPr lang="zh-CN" sz="128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11</a:t>
              </a: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。</a:t>
              </a:r>
            </a:p>
          </p:txBody>
        </p:sp>
      </p:grpSp>
      <p:grpSp>
        <p:nvGrpSpPr>
          <p:cNvPr id="125" name="c2-table-1"/>
          <p:cNvGrpSpPr/>
          <p:nvPr/>
        </p:nvGrpSpPr>
        <p:grpSpPr>
          <a:xfrm>
            <a:off x="4516755" y="1928812"/>
            <a:ext cx="7141845" cy="2669858"/>
            <a:chOff x="4516755" y="1928812"/>
            <a:chExt cx="7141845" cy="2669858"/>
          </a:xfrm>
        </p:grpSpPr>
        <p:sp>
          <p:nvSpPr>
            <p:cNvPr id="48" name="Rectangle 48"/>
            <p:cNvSpPr/>
            <p:nvPr/>
          </p:nvSpPr>
          <p:spPr>
            <a:xfrm>
              <a:off x="4516755" y="1928812"/>
              <a:ext cx="7141845" cy="381000"/>
            </a:xfrm>
            <a:prstGeom prst="rect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49" name="TextBox 49"/>
            <p:cNvSpPr txBox="1"/>
            <p:nvPr/>
          </p:nvSpPr>
          <p:spPr>
            <a:xfrm>
              <a:off x="4763452" y="2045970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轮次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5513070" y="2045970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选中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6299645" y="2045970"/>
              <a:ext cx="43472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加入边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7271172" y="2045970"/>
              <a:ext cx="41952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顶点 1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8199860" y="2045970"/>
              <a:ext cx="41952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顶点 2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9127595" y="2045970"/>
              <a:ext cx="41952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顶点 3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10056282" y="2045970"/>
              <a:ext cx="41952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顶点 4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10984970" y="2045970"/>
              <a:ext cx="41952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顶点 5</a:t>
              </a: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4763452" y="2426970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初值</a:t>
              </a: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5615549" y="2426970"/>
              <a:ext cx="884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—</a:t>
              </a:r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6472799" y="2426970"/>
              <a:ext cx="884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—</a:t>
              </a:r>
            </a:p>
          </p:txBody>
        </p:sp>
        <p:sp>
          <p:nvSpPr>
            <p:cNvPr id="60" name="TextBox 60"/>
            <p:cNvSpPr txBox="1"/>
            <p:nvPr/>
          </p:nvSpPr>
          <p:spPr>
            <a:xfrm>
              <a:off x="7281243" y="2426970"/>
              <a:ext cx="39938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0(−1)</a:t>
              </a:r>
            </a:p>
          </p:txBody>
        </p:sp>
        <p:sp>
          <p:nvSpPr>
            <p:cNvPr id="61" name="TextBox 61"/>
            <p:cNvSpPr txBox="1"/>
            <p:nvPr/>
          </p:nvSpPr>
          <p:spPr>
            <a:xfrm>
              <a:off x="8209931" y="2426970"/>
              <a:ext cx="39938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∞(−1)</a:t>
              </a:r>
            </a:p>
          </p:txBody>
        </p:sp>
        <p:sp>
          <p:nvSpPr>
            <p:cNvPr id="62" name="TextBox 62"/>
            <p:cNvSpPr txBox="1"/>
            <p:nvPr/>
          </p:nvSpPr>
          <p:spPr>
            <a:xfrm>
              <a:off x="9137666" y="2426970"/>
              <a:ext cx="39938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∞(−1)</a:t>
              </a:r>
            </a:p>
          </p:txBody>
        </p:sp>
        <p:sp>
          <p:nvSpPr>
            <p:cNvPr id="63" name="TextBox 63"/>
            <p:cNvSpPr txBox="1"/>
            <p:nvPr/>
          </p:nvSpPr>
          <p:spPr>
            <a:xfrm>
              <a:off x="10066353" y="2426970"/>
              <a:ext cx="39938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∞(−1)</a:t>
              </a:r>
            </a:p>
          </p:txBody>
        </p:sp>
        <p:sp>
          <p:nvSpPr>
            <p:cNvPr id="64" name="TextBox 64"/>
            <p:cNvSpPr txBox="1"/>
            <p:nvPr/>
          </p:nvSpPr>
          <p:spPr>
            <a:xfrm>
              <a:off x="10995041" y="2426970"/>
              <a:ext cx="39938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∞(−1)</a:t>
              </a:r>
            </a:p>
          </p:txBody>
        </p:sp>
        <p:sp>
          <p:nvSpPr>
            <p:cNvPr id="65" name="Rectangle 65"/>
            <p:cNvSpPr/>
            <p:nvPr/>
          </p:nvSpPr>
          <p:spPr>
            <a:xfrm>
              <a:off x="4516755" y="2687002"/>
              <a:ext cx="714184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66" name="Rectangle 66"/>
            <p:cNvSpPr/>
            <p:nvPr/>
          </p:nvSpPr>
          <p:spPr>
            <a:xfrm>
              <a:off x="4516755" y="2691765"/>
              <a:ext cx="7141845" cy="38100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67" name="TextBox 67"/>
            <p:cNvSpPr txBox="1"/>
            <p:nvPr/>
          </p:nvSpPr>
          <p:spPr>
            <a:xfrm>
              <a:off x="4863988" y="2808923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68" name="TextBox 68"/>
            <p:cNvSpPr txBox="1"/>
            <p:nvPr/>
          </p:nvSpPr>
          <p:spPr>
            <a:xfrm>
              <a:off x="5615549" y="2808923"/>
              <a:ext cx="884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69" name="TextBox 69"/>
            <p:cNvSpPr txBox="1"/>
            <p:nvPr/>
          </p:nvSpPr>
          <p:spPr>
            <a:xfrm>
              <a:off x="6472799" y="2808923"/>
              <a:ext cx="884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—</a:t>
              </a:r>
            </a:p>
          </p:txBody>
        </p:sp>
        <p:sp>
          <p:nvSpPr>
            <p:cNvPr id="70" name="TextBox 70"/>
            <p:cNvSpPr txBox="1"/>
            <p:nvPr/>
          </p:nvSpPr>
          <p:spPr>
            <a:xfrm>
              <a:off x="7281243" y="2808923"/>
              <a:ext cx="39938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0(−1)</a:t>
              </a:r>
            </a:p>
          </p:txBody>
        </p:sp>
        <p:sp>
          <p:nvSpPr>
            <p:cNvPr id="71" name="TextBox 71"/>
            <p:cNvSpPr txBox="1"/>
            <p:nvPr/>
          </p:nvSpPr>
          <p:spPr>
            <a:xfrm>
              <a:off x="8248802" y="2808923"/>
              <a:ext cx="32164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8(1)</a:t>
              </a:r>
            </a:p>
          </p:txBody>
        </p:sp>
        <p:sp>
          <p:nvSpPr>
            <p:cNvPr id="72" name="TextBox 72"/>
            <p:cNvSpPr txBox="1"/>
            <p:nvPr/>
          </p:nvSpPr>
          <p:spPr>
            <a:xfrm>
              <a:off x="9137666" y="2808923"/>
              <a:ext cx="39938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∞(−1)</a:t>
              </a:r>
            </a:p>
          </p:txBody>
        </p:sp>
        <p:sp>
          <p:nvSpPr>
            <p:cNvPr id="73" name="TextBox 73"/>
            <p:cNvSpPr txBox="1"/>
            <p:nvPr/>
          </p:nvSpPr>
          <p:spPr>
            <a:xfrm>
              <a:off x="10066353" y="2808923"/>
              <a:ext cx="39938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∞(−1)</a:t>
              </a:r>
            </a:p>
          </p:txBody>
        </p:sp>
        <p:sp>
          <p:nvSpPr>
            <p:cNvPr id="74" name="Rectangle 74"/>
            <p:cNvSpPr/>
            <p:nvPr/>
          </p:nvSpPr>
          <p:spPr>
            <a:xfrm>
              <a:off x="10739438" y="2701290"/>
              <a:ext cx="909638" cy="361950"/>
            </a:xfrm>
            <a:prstGeom prst="rect">
              <a:avLst/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75" name="TextBox 75"/>
            <p:cNvSpPr txBox="1"/>
            <p:nvPr/>
          </p:nvSpPr>
          <p:spPr>
            <a:xfrm>
              <a:off x="11033912" y="2808923"/>
              <a:ext cx="32164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5(1)</a:t>
              </a:r>
            </a:p>
          </p:txBody>
        </p:sp>
        <p:sp>
          <p:nvSpPr>
            <p:cNvPr id="76" name="Rectangle 76"/>
            <p:cNvSpPr/>
            <p:nvPr/>
          </p:nvSpPr>
          <p:spPr>
            <a:xfrm>
              <a:off x="4516755" y="3068002"/>
              <a:ext cx="714184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77" name="TextBox 77"/>
            <p:cNvSpPr txBox="1"/>
            <p:nvPr/>
          </p:nvSpPr>
          <p:spPr>
            <a:xfrm>
              <a:off x="4863988" y="3189923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78" name="TextBox 78"/>
            <p:cNvSpPr txBox="1"/>
            <p:nvPr/>
          </p:nvSpPr>
          <p:spPr>
            <a:xfrm>
              <a:off x="5615549" y="3189923"/>
              <a:ext cx="884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79" name="TextBox 79"/>
            <p:cNvSpPr txBox="1"/>
            <p:nvPr/>
          </p:nvSpPr>
          <p:spPr>
            <a:xfrm>
              <a:off x="6395056" y="3189923"/>
              <a:ext cx="24389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1—5</a:t>
              </a:r>
            </a:p>
          </p:txBody>
        </p:sp>
        <p:sp>
          <p:nvSpPr>
            <p:cNvPr id="80" name="TextBox 80"/>
            <p:cNvSpPr txBox="1"/>
            <p:nvPr/>
          </p:nvSpPr>
          <p:spPr>
            <a:xfrm>
              <a:off x="7281243" y="3189923"/>
              <a:ext cx="39938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0(−1)</a:t>
              </a:r>
            </a:p>
          </p:txBody>
        </p:sp>
        <p:sp>
          <p:nvSpPr>
            <p:cNvPr id="81" name="TextBox 81"/>
            <p:cNvSpPr txBox="1"/>
            <p:nvPr/>
          </p:nvSpPr>
          <p:spPr>
            <a:xfrm>
              <a:off x="8248802" y="3189923"/>
              <a:ext cx="32164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7(5)</a:t>
              </a:r>
            </a:p>
          </p:txBody>
        </p:sp>
        <p:sp>
          <p:nvSpPr>
            <p:cNvPr id="82" name="Rectangle 82"/>
            <p:cNvSpPr/>
            <p:nvPr/>
          </p:nvSpPr>
          <p:spPr>
            <a:xfrm>
              <a:off x="8883015" y="3082290"/>
              <a:ext cx="909638" cy="361950"/>
            </a:xfrm>
            <a:prstGeom prst="rect">
              <a:avLst/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83" name="TextBox 83"/>
            <p:cNvSpPr txBox="1"/>
            <p:nvPr/>
          </p:nvSpPr>
          <p:spPr>
            <a:xfrm>
              <a:off x="9176537" y="3189923"/>
              <a:ext cx="32164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1(5)</a:t>
              </a:r>
            </a:p>
          </p:txBody>
        </p:sp>
        <p:sp>
          <p:nvSpPr>
            <p:cNvPr id="84" name="TextBox 84"/>
            <p:cNvSpPr txBox="1"/>
            <p:nvPr/>
          </p:nvSpPr>
          <p:spPr>
            <a:xfrm>
              <a:off x="10105225" y="3189923"/>
              <a:ext cx="32164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2(5)</a:t>
              </a:r>
            </a:p>
          </p:txBody>
        </p:sp>
        <p:sp>
          <p:nvSpPr>
            <p:cNvPr id="85" name="TextBox 85"/>
            <p:cNvSpPr txBox="1"/>
            <p:nvPr/>
          </p:nvSpPr>
          <p:spPr>
            <a:xfrm>
              <a:off x="11033912" y="3189923"/>
              <a:ext cx="32164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5(1)</a:t>
              </a:r>
            </a:p>
          </p:txBody>
        </p:sp>
        <p:sp>
          <p:nvSpPr>
            <p:cNvPr id="86" name="Rectangle 86"/>
            <p:cNvSpPr/>
            <p:nvPr/>
          </p:nvSpPr>
          <p:spPr>
            <a:xfrm>
              <a:off x="4516755" y="3449002"/>
              <a:ext cx="714184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87" name="Rectangle 87"/>
            <p:cNvSpPr/>
            <p:nvPr/>
          </p:nvSpPr>
          <p:spPr>
            <a:xfrm>
              <a:off x="4516755" y="3453765"/>
              <a:ext cx="7141845" cy="38100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88" name="TextBox 88"/>
            <p:cNvSpPr txBox="1"/>
            <p:nvPr/>
          </p:nvSpPr>
          <p:spPr>
            <a:xfrm>
              <a:off x="4863988" y="3571875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89" name="TextBox 89"/>
            <p:cNvSpPr txBox="1"/>
            <p:nvPr/>
          </p:nvSpPr>
          <p:spPr>
            <a:xfrm>
              <a:off x="5615549" y="3571875"/>
              <a:ext cx="884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90" name="TextBox 90"/>
            <p:cNvSpPr txBox="1"/>
            <p:nvPr/>
          </p:nvSpPr>
          <p:spPr>
            <a:xfrm>
              <a:off x="6395056" y="3571875"/>
              <a:ext cx="24389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5—3</a:t>
              </a:r>
            </a:p>
          </p:txBody>
        </p:sp>
        <p:sp>
          <p:nvSpPr>
            <p:cNvPr id="91" name="TextBox 91"/>
            <p:cNvSpPr txBox="1"/>
            <p:nvPr/>
          </p:nvSpPr>
          <p:spPr>
            <a:xfrm>
              <a:off x="7281243" y="3571875"/>
              <a:ext cx="39938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0(−1)</a:t>
              </a:r>
            </a:p>
          </p:txBody>
        </p:sp>
        <p:sp>
          <p:nvSpPr>
            <p:cNvPr id="92" name="TextBox 92"/>
            <p:cNvSpPr txBox="1"/>
            <p:nvPr/>
          </p:nvSpPr>
          <p:spPr>
            <a:xfrm>
              <a:off x="8248802" y="3571875"/>
              <a:ext cx="32164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3(3)</a:t>
              </a:r>
            </a:p>
          </p:txBody>
        </p:sp>
        <p:sp>
          <p:nvSpPr>
            <p:cNvPr id="93" name="TextBox 93"/>
            <p:cNvSpPr txBox="1"/>
            <p:nvPr/>
          </p:nvSpPr>
          <p:spPr>
            <a:xfrm>
              <a:off x="9176537" y="3571875"/>
              <a:ext cx="32164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1(5)</a:t>
              </a:r>
            </a:p>
          </p:txBody>
        </p:sp>
        <p:sp>
          <p:nvSpPr>
            <p:cNvPr id="94" name="Rectangle 94"/>
            <p:cNvSpPr/>
            <p:nvPr/>
          </p:nvSpPr>
          <p:spPr>
            <a:xfrm>
              <a:off x="9811702" y="3463290"/>
              <a:ext cx="909638" cy="361950"/>
            </a:xfrm>
            <a:prstGeom prst="rect">
              <a:avLst/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95" name="TextBox 95"/>
            <p:cNvSpPr txBox="1"/>
            <p:nvPr/>
          </p:nvSpPr>
          <p:spPr>
            <a:xfrm>
              <a:off x="10105225" y="3571875"/>
              <a:ext cx="32164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2(5)</a:t>
              </a:r>
            </a:p>
          </p:txBody>
        </p:sp>
        <p:sp>
          <p:nvSpPr>
            <p:cNvPr id="96" name="TextBox 96"/>
            <p:cNvSpPr txBox="1"/>
            <p:nvPr/>
          </p:nvSpPr>
          <p:spPr>
            <a:xfrm>
              <a:off x="11033912" y="3571875"/>
              <a:ext cx="32164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5(1)</a:t>
              </a:r>
            </a:p>
          </p:txBody>
        </p:sp>
        <p:sp>
          <p:nvSpPr>
            <p:cNvPr id="97" name="Rectangle 97"/>
            <p:cNvSpPr/>
            <p:nvPr/>
          </p:nvSpPr>
          <p:spPr>
            <a:xfrm>
              <a:off x="4516755" y="3830955"/>
              <a:ext cx="714184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98" name="TextBox 98"/>
            <p:cNvSpPr txBox="1"/>
            <p:nvPr/>
          </p:nvSpPr>
          <p:spPr>
            <a:xfrm>
              <a:off x="4863988" y="3952875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99" name="TextBox 99"/>
            <p:cNvSpPr txBox="1"/>
            <p:nvPr/>
          </p:nvSpPr>
          <p:spPr>
            <a:xfrm>
              <a:off x="5615549" y="3952875"/>
              <a:ext cx="884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100" name="TextBox 100"/>
            <p:cNvSpPr txBox="1"/>
            <p:nvPr/>
          </p:nvSpPr>
          <p:spPr>
            <a:xfrm>
              <a:off x="6395056" y="3952875"/>
              <a:ext cx="24389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5—4</a:t>
              </a:r>
            </a:p>
          </p:txBody>
        </p:sp>
        <p:sp>
          <p:nvSpPr>
            <p:cNvPr id="101" name="TextBox 101"/>
            <p:cNvSpPr txBox="1"/>
            <p:nvPr/>
          </p:nvSpPr>
          <p:spPr>
            <a:xfrm>
              <a:off x="7281243" y="3952875"/>
              <a:ext cx="39938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0(−1)</a:t>
              </a:r>
            </a:p>
          </p:txBody>
        </p:sp>
        <p:sp>
          <p:nvSpPr>
            <p:cNvPr id="102" name="Rectangle 102"/>
            <p:cNvSpPr/>
            <p:nvPr/>
          </p:nvSpPr>
          <p:spPr>
            <a:xfrm>
              <a:off x="7954328" y="3845242"/>
              <a:ext cx="909638" cy="361950"/>
            </a:xfrm>
            <a:prstGeom prst="rect">
              <a:avLst/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103" name="TextBox 103"/>
            <p:cNvSpPr txBox="1"/>
            <p:nvPr/>
          </p:nvSpPr>
          <p:spPr>
            <a:xfrm>
              <a:off x="8248802" y="3952875"/>
              <a:ext cx="32164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3(3)</a:t>
              </a:r>
            </a:p>
          </p:txBody>
        </p:sp>
        <p:sp>
          <p:nvSpPr>
            <p:cNvPr id="104" name="TextBox 104"/>
            <p:cNvSpPr txBox="1"/>
            <p:nvPr/>
          </p:nvSpPr>
          <p:spPr>
            <a:xfrm>
              <a:off x="9176537" y="3952875"/>
              <a:ext cx="32164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1(5)</a:t>
              </a:r>
            </a:p>
          </p:txBody>
        </p:sp>
        <p:sp>
          <p:nvSpPr>
            <p:cNvPr id="105" name="TextBox 105"/>
            <p:cNvSpPr txBox="1"/>
            <p:nvPr/>
          </p:nvSpPr>
          <p:spPr>
            <a:xfrm>
              <a:off x="10105225" y="3952875"/>
              <a:ext cx="32164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2(5)</a:t>
              </a:r>
            </a:p>
          </p:txBody>
        </p:sp>
        <p:sp>
          <p:nvSpPr>
            <p:cNvPr id="106" name="TextBox 106"/>
            <p:cNvSpPr txBox="1"/>
            <p:nvPr/>
          </p:nvSpPr>
          <p:spPr>
            <a:xfrm>
              <a:off x="11033912" y="3952875"/>
              <a:ext cx="32164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5(1)</a:t>
              </a:r>
            </a:p>
          </p:txBody>
        </p:sp>
        <p:sp>
          <p:nvSpPr>
            <p:cNvPr id="107" name="Rectangle 107"/>
            <p:cNvSpPr/>
            <p:nvPr/>
          </p:nvSpPr>
          <p:spPr>
            <a:xfrm>
              <a:off x="4516755" y="4211955"/>
              <a:ext cx="714184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08" name="Rectangle 108"/>
            <p:cNvSpPr/>
            <p:nvPr/>
          </p:nvSpPr>
          <p:spPr>
            <a:xfrm>
              <a:off x="4516755" y="4216718"/>
              <a:ext cx="7141845" cy="38100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09" name="TextBox 109"/>
            <p:cNvSpPr txBox="1"/>
            <p:nvPr/>
          </p:nvSpPr>
          <p:spPr>
            <a:xfrm>
              <a:off x="4863988" y="4333875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110" name="TextBox 110"/>
            <p:cNvSpPr txBox="1"/>
            <p:nvPr/>
          </p:nvSpPr>
          <p:spPr>
            <a:xfrm>
              <a:off x="5615549" y="4333875"/>
              <a:ext cx="884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111" name="TextBox 111"/>
            <p:cNvSpPr txBox="1"/>
            <p:nvPr/>
          </p:nvSpPr>
          <p:spPr>
            <a:xfrm>
              <a:off x="6395056" y="4333875"/>
              <a:ext cx="24389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3—2</a:t>
              </a:r>
            </a:p>
          </p:txBody>
        </p:sp>
        <p:sp>
          <p:nvSpPr>
            <p:cNvPr id="112" name="TextBox 112"/>
            <p:cNvSpPr txBox="1"/>
            <p:nvPr/>
          </p:nvSpPr>
          <p:spPr>
            <a:xfrm>
              <a:off x="7281243" y="4333875"/>
              <a:ext cx="39938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0(−1)</a:t>
              </a:r>
            </a:p>
          </p:txBody>
        </p:sp>
        <p:sp>
          <p:nvSpPr>
            <p:cNvPr id="113" name="TextBox 113"/>
            <p:cNvSpPr txBox="1"/>
            <p:nvPr/>
          </p:nvSpPr>
          <p:spPr>
            <a:xfrm>
              <a:off x="8248802" y="4333875"/>
              <a:ext cx="32164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3(3)</a:t>
              </a:r>
            </a:p>
          </p:txBody>
        </p:sp>
        <p:sp>
          <p:nvSpPr>
            <p:cNvPr id="114" name="TextBox 114"/>
            <p:cNvSpPr txBox="1"/>
            <p:nvPr/>
          </p:nvSpPr>
          <p:spPr>
            <a:xfrm>
              <a:off x="9176537" y="4333875"/>
              <a:ext cx="32164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1(5)</a:t>
              </a:r>
            </a:p>
          </p:txBody>
        </p:sp>
        <p:sp>
          <p:nvSpPr>
            <p:cNvPr id="115" name="TextBox 115"/>
            <p:cNvSpPr txBox="1"/>
            <p:nvPr/>
          </p:nvSpPr>
          <p:spPr>
            <a:xfrm>
              <a:off x="10105225" y="4333875"/>
              <a:ext cx="32164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2(5)</a:t>
              </a:r>
            </a:p>
          </p:txBody>
        </p:sp>
        <p:sp>
          <p:nvSpPr>
            <p:cNvPr id="116" name="TextBox 116"/>
            <p:cNvSpPr txBox="1"/>
            <p:nvPr/>
          </p:nvSpPr>
          <p:spPr>
            <a:xfrm>
              <a:off x="11033912" y="4333875"/>
              <a:ext cx="32164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5(1)</a:t>
              </a:r>
            </a:p>
          </p:txBody>
        </p:sp>
        <p:sp>
          <p:nvSpPr>
            <p:cNvPr id="117" name="Rectangle 117"/>
            <p:cNvSpPr/>
            <p:nvPr/>
          </p:nvSpPr>
          <p:spPr>
            <a:xfrm>
              <a:off x="4516755" y="1928812"/>
              <a:ext cx="7141845" cy="2669858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118" name="Rectangle 118"/>
            <p:cNvSpPr/>
            <p:nvPr/>
          </p:nvSpPr>
          <p:spPr>
            <a:xfrm>
              <a:off x="5297805" y="1928812"/>
              <a:ext cx="9525" cy="2669858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19" name="Rectangle 119"/>
            <p:cNvSpPr/>
            <p:nvPr/>
          </p:nvSpPr>
          <p:spPr>
            <a:xfrm>
              <a:off x="6012180" y="1928812"/>
              <a:ext cx="9525" cy="2669858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20" name="Rectangle 120"/>
            <p:cNvSpPr/>
            <p:nvPr/>
          </p:nvSpPr>
          <p:spPr>
            <a:xfrm>
              <a:off x="7012305" y="1928812"/>
              <a:ext cx="9525" cy="2669858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21" name="Rectangle 121"/>
            <p:cNvSpPr/>
            <p:nvPr/>
          </p:nvSpPr>
          <p:spPr>
            <a:xfrm>
              <a:off x="7940040" y="1928812"/>
              <a:ext cx="9525" cy="2669858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22" name="Rectangle 122"/>
            <p:cNvSpPr/>
            <p:nvPr/>
          </p:nvSpPr>
          <p:spPr>
            <a:xfrm>
              <a:off x="8868728" y="1928812"/>
              <a:ext cx="9525" cy="2669858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23" name="Rectangle 123"/>
            <p:cNvSpPr/>
            <p:nvPr/>
          </p:nvSpPr>
          <p:spPr>
            <a:xfrm>
              <a:off x="9797415" y="1928812"/>
              <a:ext cx="9525" cy="2669858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24" name="Rectangle 124"/>
            <p:cNvSpPr/>
            <p:nvPr/>
          </p:nvSpPr>
          <p:spPr>
            <a:xfrm>
              <a:off x="10725150" y="1928812"/>
              <a:ext cx="9525" cy="2669858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131" name="c2-card-2"/>
          <p:cNvGrpSpPr/>
          <p:nvPr/>
        </p:nvGrpSpPr>
        <p:grpSpPr>
          <a:xfrm>
            <a:off x="4516755" y="4763452"/>
            <a:ext cx="7141845" cy="901065"/>
            <a:chOff x="4516755" y="4763452"/>
            <a:chExt cx="7141845" cy="901065"/>
          </a:xfrm>
        </p:grpSpPr>
        <p:sp>
          <p:nvSpPr>
            <p:cNvPr id="126" name="Rectangle 126"/>
            <p:cNvSpPr/>
            <p:nvPr/>
          </p:nvSpPr>
          <p:spPr>
            <a:xfrm>
              <a:off x="4516755" y="4763452"/>
              <a:ext cx="7141845" cy="901065"/>
            </a:xfrm>
            <a:prstGeom prst="roundRect">
              <a:avLst>
                <a:gd name="adj" fmla="val 14799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127" name="Rectangle 127"/>
            <p:cNvSpPr/>
            <p:nvPr/>
          </p:nvSpPr>
          <p:spPr>
            <a:xfrm>
              <a:off x="4526280" y="4896802"/>
              <a:ext cx="47625" cy="634365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128" name="Rectangle 128"/>
            <p:cNvSpPr/>
            <p:nvPr/>
          </p:nvSpPr>
          <p:spPr>
            <a:xfrm>
              <a:off x="4735830" y="4944428"/>
              <a:ext cx="458152" cy="238125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29" name="TextBox 129"/>
            <p:cNvSpPr txBox="1"/>
            <p:nvPr/>
          </p:nvSpPr>
          <p:spPr>
            <a:xfrm>
              <a:off x="4828502" y="4977289"/>
              <a:ext cx="27376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更正</a:t>
              </a:r>
            </a:p>
          </p:txBody>
        </p:sp>
        <p:sp>
          <p:nvSpPr>
            <p:cNvPr id="130" name="TextBox 130"/>
            <p:cNvSpPr txBox="1"/>
            <p:nvPr/>
          </p:nvSpPr>
          <p:spPr>
            <a:xfrm>
              <a:off x="4729353" y="5283994"/>
              <a:ext cx="565785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源课件第 42 页顶点 3 的 S 仍标着 0，它在第 3 轮已被选中，应为 S = 1。</a:t>
              </a:r>
            </a:p>
          </p:txBody>
        </p:sp>
      </p:grpSp>
      <p:grpSp>
        <p:nvGrpSpPr>
          <p:cNvPr id="137" name="takeaway"/>
          <p:cNvGrpSpPr/>
          <p:nvPr/>
        </p:nvGrpSpPr>
        <p:grpSpPr>
          <a:xfrm>
            <a:off x="533400" y="5895022"/>
            <a:ext cx="11125200" cy="467678"/>
            <a:chOff x="533400" y="5895022"/>
            <a:chExt cx="11125200" cy="467678"/>
          </a:xfrm>
        </p:grpSpPr>
        <p:sp>
          <p:nvSpPr>
            <p:cNvPr id="132" name="Rectangle 132"/>
            <p:cNvSpPr/>
            <p:nvPr/>
          </p:nvSpPr>
          <p:spPr>
            <a:xfrm>
              <a:off x="533400" y="5895022"/>
              <a:ext cx="11125200" cy="467678"/>
            </a:xfrm>
            <a:prstGeom prst="roundRect">
              <a:avLst>
                <a:gd name="adj" fmla="val 24440"/>
              </a:avLst>
            </a:prstGeom>
            <a:solidFill>
              <a:srgbClr val="1F5FA8"/>
            </a:solidFill>
            <a:ln>
              <a:noFill/>
            </a:ln>
          </p:spPr>
        </p:sp>
        <p:grpSp>
          <p:nvGrpSpPr>
            <p:cNvPr id="135" name="Group 135"/>
            <p:cNvGrpSpPr/>
            <p:nvPr/>
          </p:nvGrpSpPr>
          <p:grpSpPr>
            <a:xfrm>
              <a:off x="738188" y="6028375"/>
              <a:ext cx="200023" cy="200023"/>
              <a:chOff x="738188" y="6028375"/>
              <a:chExt cx="200023" cy="200023"/>
            </a:xfrm>
          </p:grpSpPr>
          <p:sp>
            <p:nvSpPr>
              <p:cNvPr id="133" name="Freeform 133"/>
              <p:cNvSpPr/>
              <p:nvPr/>
            </p:nvSpPr>
            <p:spPr>
              <a:xfrm>
                <a:off x="738188" y="6028375"/>
                <a:ext cx="200023" cy="200023"/>
              </a:xfrm>
              <a:custGeom>
                <a:avLst/>
                <a:gdLst/>
                <a:ahLst/>
                <a:cxnLst/>
                <a:rect l="l" t="t" r="r" b="b"/>
                <a:pathLst>
                  <a:path w="200023" h="200023">
                    <a:moveTo>
                      <a:pt x="150630" y="9366"/>
                    </a:moveTo>
                    <a:lnTo>
                      <a:pt x="190658" y="49393"/>
                    </a:lnTo>
                    <a:cubicBezTo>
                      <a:pt x="196654" y="55389"/>
                      <a:pt x="200023" y="63522"/>
                      <a:pt x="200023" y="72002"/>
                    </a:cubicBezTo>
                    <a:cubicBezTo>
                      <a:pt x="200023" y="80482"/>
                      <a:pt x="196654" y="88614"/>
                      <a:pt x="190658" y="94610"/>
                    </a:cubicBezTo>
                    <a:lnTo>
                      <a:pt x="161287" y="123980"/>
                    </a:lnTo>
                    <a:cubicBezTo>
                      <a:pt x="155291" y="129977"/>
                      <a:pt x="147159" y="133346"/>
                      <a:pt x="138679" y="133346"/>
                    </a:cubicBezTo>
                    <a:cubicBezTo>
                      <a:pt x="130199" y="133346"/>
                      <a:pt x="122066" y="129977"/>
                      <a:pt x="116070" y="123980"/>
                    </a:cubicBezTo>
                    <a:lnTo>
                      <a:pt x="112726" y="120636"/>
                    </a:lnTo>
                    <a:lnTo>
                      <a:pt x="39850" y="193511"/>
                    </a:lnTo>
                    <a:cubicBezTo>
                      <a:pt x="36157" y="197203"/>
                      <a:pt x="31283" y="199477"/>
                      <a:pt x="26081" y="199935"/>
                    </a:cubicBezTo>
                    <a:lnTo>
                      <a:pt x="24136" y="200023"/>
                    </a:lnTo>
                    <a:lnTo>
                      <a:pt x="11113" y="200023"/>
                    </a:lnTo>
                    <a:cubicBezTo>
                      <a:pt x="5479" y="200023"/>
                      <a:pt x="737" y="195806"/>
                      <a:pt x="78" y="190211"/>
                    </a:cubicBezTo>
                    <a:lnTo>
                      <a:pt x="0" y="188911"/>
                    </a:lnTo>
                    <a:lnTo>
                      <a:pt x="0" y="175887"/>
                    </a:lnTo>
                    <a:cubicBezTo>
                      <a:pt x="1" y="170669"/>
                      <a:pt x="1838" y="165618"/>
                      <a:pt x="5190" y="161619"/>
                    </a:cubicBezTo>
                    <a:lnTo>
                      <a:pt x="6512" y="160174"/>
                    </a:lnTo>
                    <a:lnTo>
                      <a:pt x="11113" y="155573"/>
                    </a:lnTo>
                    <a:lnTo>
                      <a:pt x="33338" y="155573"/>
                    </a:lnTo>
                    <a:lnTo>
                      <a:pt x="33338" y="133348"/>
                    </a:lnTo>
                    <a:lnTo>
                      <a:pt x="55563" y="133348"/>
                    </a:lnTo>
                    <a:lnTo>
                      <a:pt x="55563" y="111123"/>
                    </a:lnTo>
                    <a:lnTo>
                      <a:pt x="79388" y="87298"/>
                    </a:lnTo>
                    <a:lnTo>
                      <a:pt x="76043" y="83953"/>
                    </a:lnTo>
                    <a:cubicBezTo>
                      <a:pt x="70046" y="77957"/>
                      <a:pt x="66677" y="69825"/>
                      <a:pt x="66677" y="61345"/>
                    </a:cubicBezTo>
                    <a:cubicBezTo>
                      <a:pt x="66677" y="52865"/>
                      <a:pt x="70046" y="44732"/>
                      <a:pt x="76043" y="38736"/>
                    </a:cubicBezTo>
                    <a:lnTo>
                      <a:pt x="105413" y="9366"/>
                    </a:lnTo>
                    <a:cubicBezTo>
                      <a:pt x="111409" y="3369"/>
                      <a:pt x="119542" y="0"/>
                      <a:pt x="128022" y="0"/>
                    </a:cubicBezTo>
                    <a:cubicBezTo>
                      <a:pt x="136502" y="0"/>
                      <a:pt x="144635" y="3369"/>
                      <a:pt x="150630" y="9366"/>
                    </a:cubicBez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134" name="Freeform 134"/>
              <p:cNvSpPr/>
              <p:nvPr/>
            </p:nvSpPr>
            <p:spPr>
              <a:xfrm>
                <a:off x="871538" y="6095048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</p:grpSp>
        <p:sp>
          <p:nvSpPr>
            <p:cNvPr id="136" name="TextBox 136"/>
            <p:cNvSpPr txBox="1"/>
            <p:nvPr/>
          </p:nvSpPr>
          <p:spPr>
            <a:xfrm>
              <a:off x="1041273" y="6039326"/>
              <a:ext cx="907418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第 3 轮选中顶点 3 后，顶点 2 的 Lowcost 由 7 降到 3、pre 由 5 改成 3；顶点 4 的 G[3][4] = 9 大于 2，保持不变。</a:t>
              </a:r>
            </a:p>
          </p:txBody>
        </p:sp>
      </p:grpSp>
      <p:grpSp>
        <p:nvGrpSpPr>
          <p:cNvPr id="140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138" name="TextBox 138"/>
            <p:cNvSpPr txBox="1"/>
            <p:nvPr/>
          </p:nvSpPr>
          <p:spPr>
            <a:xfrm>
              <a:off x="528447" y="6581299"/>
              <a:ext cx="232523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数据结构 · 第16讲 最小支撑树及图应用</a:t>
              </a:r>
            </a:p>
          </p:txBody>
        </p:sp>
        <p:sp>
          <p:nvSpPr>
            <p:cNvPr id="139" name="TextBox 139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16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7252009" cy="909257"/>
            <a:chOff x="520446" y="342900"/>
            <a:chExt cx="7252009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3431858" cy="26670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61740" y="407194"/>
              <a:ext cx="337422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第16讲 最小支撑树 · Prim 算法：从一个点长出去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7252009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Dijkstra 与 Prim：同一个骨架，只差一个加号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F5FA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8" name="lead"/>
          <p:cNvGrpSpPr/>
          <p:nvPr/>
        </p:nvGrpSpPr>
        <p:grpSpPr>
          <a:xfrm>
            <a:off x="525780" y="1548765"/>
            <a:ext cx="8774049" cy="293370"/>
            <a:chOff x="525780" y="1548765"/>
            <a:chExt cx="8774049" cy="293370"/>
          </a:xfrm>
        </p:grpSpPr>
        <p:sp>
          <p:nvSpPr>
            <p:cNvPr id="7" name="TextBox 7"/>
            <p:cNvSpPr txBox="1"/>
            <p:nvPr/>
          </p:nvSpPr>
          <p:spPr>
            <a:xfrm>
              <a:off x="525780" y="1548765"/>
              <a:ext cx="8774049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两者都从 V−S 里选“值”最小的顶点放入 S，再更新它的邻居。差别只在那个值的含义和更新公式。</a:t>
              </a:r>
            </a:p>
          </p:txBody>
        </p:sp>
      </p:grpSp>
      <p:grpSp>
        <p:nvGrpSpPr>
          <p:cNvPr id="12" name="c1-code-1"/>
          <p:cNvGrpSpPr/>
          <p:nvPr/>
        </p:nvGrpSpPr>
        <p:grpSpPr>
          <a:xfrm>
            <a:off x="533400" y="1954530"/>
            <a:ext cx="5410200" cy="1995488"/>
            <a:chOff x="533400" y="1954530"/>
            <a:chExt cx="5410200" cy="1995488"/>
          </a:xfrm>
        </p:grpSpPr>
        <p:sp>
          <p:nvSpPr>
            <p:cNvPr id="9" name="Rectangle 9"/>
            <p:cNvSpPr/>
            <p:nvPr/>
          </p:nvSpPr>
          <p:spPr>
            <a:xfrm>
              <a:off x="533400" y="1954530"/>
              <a:ext cx="5410200" cy="1995488"/>
            </a:xfrm>
            <a:prstGeom prst="roundRect">
              <a:avLst>
                <a:gd name="adj" fmla="val 4773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661797" y="2106454"/>
              <a:ext cx="112353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Dijkstra 的循环体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661988" y="2366296"/>
              <a:ext cx="2322957" cy="15049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305"/>
                </a:lnSpc>
              </a:pPr>
              <a:r>
                <a:rPr lang="en-US" sz="92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int</a:t>
              </a:r>
              <a:r>
                <a:rPr lang="en-US" sz="9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v = FindMin(S, dist, n);</a:t>
              </a:r>
              <a:br/>
              <a:r>
                <a:rPr lang="en-US" sz="92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if</a:t>
              </a:r>
              <a:r>
                <a:rPr lang="en-US" sz="9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(v == -1) </a:t>
              </a:r>
              <a:r>
                <a:rPr lang="en-US" sz="92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return</a:t>
              </a:r>
              <a:r>
                <a:rPr lang="zh-CN" sz="9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;</a:t>
              </a:r>
              <a:br/>
              <a:r>
                <a:rPr lang="en-US" sz="9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S[v] = 1;</a:t>
              </a:r>
              <a:br/>
              <a:r>
                <a:rPr lang="en-US" sz="92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for</a:t>
              </a:r>
              <a:r>
                <a:rPr lang="zh-CN" sz="9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(</a:t>
              </a:r>
              <a:r>
                <a:rPr lang="en-US" sz="92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int</a:t>
              </a:r>
              <a:r>
                <a:rPr lang="en-US" sz="9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w = 1; w &lt;= n; w++)</a:t>
              </a:r>
              <a:br/>
              <a:r>
                <a:rPr lang="zh-CN" sz="9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92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if</a:t>
              </a:r>
              <a:r>
                <a:rPr lang="en-US" sz="9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(S[w] == 0 &amp;&amp;</a:t>
              </a:r>
              <a:br/>
              <a:r>
                <a:rPr lang="en-US" sz="9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dist[v] + G[v][w] &lt; dist[w]){</a:t>
              </a:r>
              <a:br/>
              <a:r>
                <a:rPr lang="en-US" sz="9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dist[w] = dist[v] + G[v][w];</a:t>
              </a:r>
              <a:br/>
              <a:r>
                <a:rPr lang="en-US" sz="9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pre[w] = v;</a:t>
              </a:r>
              <a:br/>
              <a:r>
                <a:rPr lang="zh-CN" sz="9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}</a:t>
              </a:r>
            </a:p>
          </p:txBody>
        </p:sp>
      </p:grpSp>
      <p:grpSp>
        <p:nvGrpSpPr>
          <p:cNvPr id="18" name="c1-card-2"/>
          <p:cNvGrpSpPr/>
          <p:nvPr/>
        </p:nvGrpSpPr>
        <p:grpSpPr>
          <a:xfrm>
            <a:off x="533400" y="4130040"/>
            <a:ext cx="5410200" cy="1250632"/>
            <a:chOff x="533400" y="4130040"/>
            <a:chExt cx="5410200" cy="1250632"/>
          </a:xfrm>
        </p:grpSpPr>
        <p:sp>
          <p:nvSpPr>
            <p:cNvPr id="13" name="Rectangle 13"/>
            <p:cNvSpPr/>
            <p:nvPr/>
          </p:nvSpPr>
          <p:spPr>
            <a:xfrm>
              <a:off x="533400" y="4130040"/>
              <a:ext cx="5410200" cy="1250632"/>
            </a:xfrm>
            <a:prstGeom prst="roundRect">
              <a:avLst>
                <a:gd name="adj" fmla="val 10663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14" name="Rectangle 14"/>
            <p:cNvSpPr/>
            <p:nvPr/>
          </p:nvSpPr>
          <p:spPr>
            <a:xfrm>
              <a:off x="542925" y="4263390"/>
              <a:ext cx="47625" cy="983932"/>
            </a:xfrm>
            <a:prstGeom prst="roundRect">
              <a:avLst>
                <a:gd name="adj" fmla="val 50000"/>
              </a:avLst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5" name="Rectangle 15"/>
            <p:cNvSpPr/>
            <p:nvPr/>
          </p:nvSpPr>
          <p:spPr>
            <a:xfrm>
              <a:off x="769620" y="4328160"/>
              <a:ext cx="741998" cy="24765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852813" y="4362450"/>
              <a:ext cx="57465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dist[w]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762381" y="4688681"/>
              <a:ext cx="4676267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源点到 w 的最短路径长度。更新时要把 v 到 w 这一段接在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源点到 v 的路径后面，所以是 </a:t>
              </a:r>
              <a:r>
                <a:rPr lang="en-US" sz="142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dist[v] + G[v][w]</a:t>
              </a: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。</a:t>
              </a:r>
            </a:p>
          </p:txBody>
        </p:sp>
      </p:grpSp>
      <p:grpSp>
        <p:nvGrpSpPr>
          <p:cNvPr id="22" name="c2-code-1"/>
          <p:cNvGrpSpPr/>
          <p:nvPr/>
        </p:nvGrpSpPr>
        <p:grpSpPr>
          <a:xfrm>
            <a:off x="6248400" y="1954530"/>
            <a:ext cx="5410200" cy="1995488"/>
            <a:chOff x="6248400" y="1954530"/>
            <a:chExt cx="5410200" cy="1995488"/>
          </a:xfrm>
        </p:grpSpPr>
        <p:sp>
          <p:nvSpPr>
            <p:cNvPr id="19" name="Rectangle 19"/>
            <p:cNvSpPr/>
            <p:nvPr/>
          </p:nvSpPr>
          <p:spPr>
            <a:xfrm>
              <a:off x="6248400" y="1954530"/>
              <a:ext cx="5410200" cy="1995488"/>
            </a:xfrm>
            <a:prstGeom prst="roundRect">
              <a:avLst>
                <a:gd name="adj" fmla="val 4773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6376797" y="2106454"/>
              <a:ext cx="88180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Prim 的循环体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6376988" y="2366296"/>
              <a:ext cx="2001647" cy="15049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305"/>
                </a:lnSpc>
              </a:pPr>
              <a:r>
                <a:rPr lang="en-US" sz="92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int</a:t>
              </a:r>
              <a:r>
                <a:rPr lang="en-US" sz="9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v = FindMin(S, Lowcost, n);</a:t>
              </a:r>
              <a:br/>
              <a:r>
                <a:rPr lang="en-US" sz="92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if</a:t>
              </a:r>
              <a:r>
                <a:rPr lang="en-US" sz="9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(v == -1) </a:t>
              </a:r>
              <a:r>
                <a:rPr lang="en-US" sz="92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return</a:t>
              </a:r>
              <a:r>
                <a:rPr lang="en-US" sz="9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ans;</a:t>
              </a:r>
              <a:br/>
              <a:r>
                <a:rPr lang="en-US" sz="9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S[v] = 1; ans += Lowcost[v];</a:t>
              </a:r>
              <a:br/>
              <a:r>
                <a:rPr lang="en-US" sz="92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for</a:t>
              </a:r>
              <a:r>
                <a:rPr lang="zh-CN" sz="9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(</a:t>
              </a:r>
              <a:r>
                <a:rPr lang="en-US" sz="92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int</a:t>
              </a:r>
              <a:r>
                <a:rPr lang="en-US" sz="9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w = 1; w &lt;= n; w++)</a:t>
              </a:r>
              <a:br/>
              <a:r>
                <a:rPr lang="zh-CN" sz="9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92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if</a:t>
              </a:r>
              <a:r>
                <a:rPr lang="en-US" sz="9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(S[w] == 0 &amp;&amp;</a:t>
              </a:r>
              <a:br/>
              <a:r>
                <a:rPr lang="en-US" sz="9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G[v][w] &lt; Lowcost[w]){</a:t>
              </a:r>
              <a:br/>
              <a:r>
                <a:rPr lang="en-US" sz="9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Lowcost[w] = G[v][w];</a:t>
              </a:r>
              <a:br/>
              <a:r>
                <a:rPr lang="en-US" sz="9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pre[w] = v;</a:t>
              </a:r>
              <a:br/>
              <a:r>
                <a:rPr lang="zh-CN" sz="9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}</a:t>
              </a:r>
            </a:p>
          </p:txBody>
        </p:sp>
      </p:grpSp>
      <p:grpSp>
        <p:nvGrpSpPr>
          <p:cNvPr id="28" name="c2-card-2"/>
          <p:cNvGrpSpPr/>
          <p:nvPr/>
        </p:nvGrpSpPr>
        <p:grpSpPr>
          <a:xfrm>
            <a:off x="6248400" y="4130040"/>
            <a:ext cx="5410200" cy="1250632"/>
            <a:chOff x="6248400" y="4130040"/>
            <a:chExt cx="5410200" cy="1250632"/>
          </a:xfrm>
        </p:grpSpPr>
        <p:sp>
          <p:nvSpPr>
            <p:cNvPr id="23" name="Rectangle 23"/>
            <p:cNvSpPr/>
            <p:nvPr/>
          </p:nvSpPr>
          <p:spPr>
            <a:xfrm>
              <a:off x="6248400" y="4130040"/>
              <a:ext cx="5410200" cy="1250632"/>
            </a:xfrm>
            <a:prstGeom prst="roundRect">
              <a:avLst>
                <a:gd name="adj" fmla="val 10663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24" name="Rectangle 24"/>
            <p:cNvSpPr/>
            <p:nvPr/>
          </p:nvSpPr>
          <p:spPr>
            <a:xfrm>
              <a:off x="6257925" y="4263390"/>
              <a:ext cx="47625" cy="983932"/>
            </a:xfrm>
            <a:prstGeom prst="roundRect">
              <a:avLst>
                <a:gd name="adj" fmla="val 50000"/>
              </a:avLst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25" name="Rectangle 25"/>
            <p:cNvSpPr/>
            <p:nvPr/>
          </p:nvSpPr>
          <p:spPr>
            <a:xfrm>
              <a:off x="6484620" y="4328160"/>
              <a:ext cx="1035368" cy="24765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6556513" y="4362450"/>
              <a:ext cx="89253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Lowcost[w]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6477381" y="4688681"/>
              <a:ext cx="4739386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w 到整个集合 S 的最短距离，只看一条边。更新时和源点到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v 的距离无关，所以是 </a:t>
              </a:r>
              <a:r>
                <a:rPr lang="en-US" sz="142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G[v][w]</a:t>
              </a: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 单独比较。</a:t>
              </a:r>
            </a:p>
          </p:txBody>
        </p:sp>
      </p:grpSp>
      <p:grpSp>
        <p:nvGrpSpPr>
          <p:cNvPr id="35" name="takeaway"/>
          <p:cNvGrpSpPr/>
          <p:nvPr/>
        </p:nvGrpSpPr>
        <p:grpSpPr>
          <a:xfrm>
            <a:off x="533400" y="5606415"/>
            <a:ext cx="11125200" cy="756285"/>
            <a:chOff x="533400" y="5606415"/>
            <a:chExt cx="11125200" cy="756285"/>
          </a:xfrm>
        </p:grpSpPr>
        <p:sp>
          <p:nvSpPr>
            <p:cNvPr id="29" name="Rectangle 29"/>
            <p:cNvSpPr/>
            <p:nvPr/>
          </p:nvSpPr>
          <p:spPr>
            <a:xfrm>
              <a:off x="533400" y="5606415"/>
              <a:ext cx="11125200" cy="756285"/>
            </a:xfrm>
            <a:prstGeom prst="roundRect">
              <a:avLst>
                <a:gd name="adj" fmla="val 15113"/>
              </a:avLst>
            </a:prstGeom>
            <a:solidFill>
              <a:srgbClr val="FDECEA"/>
            </a:solidFill>
            <a:ln>
              <a:noFill/>
            </a:ln>
          </p:spPr>
        </p:sp>
        <p:grpSp>
          <p:nvGrpSpPr>
            <p:cNvPr id="33" name="Group 33"/>
            <p:cNvGrpSpPr/>
            <p:nvPr/>
          </p:nvGrpSpPr>
          <p:grpSpPr>
            <a:xfrm>
              <a:off x="726129" y="5880853"/>
              <a:ext cx="224134" cy="192560"/>
              <a:chOff x="726129" y="5880853"/>
              <a:chExt cx="224134" cy="192560"/>
            </a:xfrm>
          </p:grpSpPr>
          <p:sp>
            <p:nvSpPr>
              <p:cNvPr id="30" name="Freeform 30"/>
              <p:cNvSpPr/>
              <p:nvPr/>
            </p:nvSpPr>
            <p:spPr>
              <a:xfrm>
                <a:off x="838200" y="5951220"/>
                <a:ext cx="95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44450">
                    <a:moveTo>
                      <a:pt x="0" y="0"/>
                    </a:moveTo>
                    <a:lnTo>
                      <a:pt x="0" y="4445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31" name="Freeform 31"/>
              <p:cNvSpPr/>
              <p:nvPr/>
            </p:nvSpPr>
            <p:spPr>
              <a:xfrm>
                <a:off x="726129" y="5880853"/>
                <a:ext cx="224134" cy="192560"/>
              </a:xfrm>
              <a:custGeom>
                <a:avLst/>
                <a:gdLst/>
                <a:ahLst/>
                <a:cxnLst/>
                <a:rect l="l" t="t" r="r" b="b"/>
                <a:pathLst>
                  <a:path w="224134" h="192560">
                    <a:moveTo>
                      <a:pt x="93880" y="10259"/>
                    </a:moveTo>
                    <a:lnTo>
                      <a:pt x="3802" y="160656"/>
                    </a:lnTo>
                    <a:cubicBezTo>
                      <a:pt x="23" y="167200"/>
                      <a:pt x="0" y="175257"/>
                      <a:pt x="3741" y="181823"/>
                    </a:cubicBezTo>
                    <a:cubicBezTo>
                      <a:pt x="7482" y="188388"/>
                      <a:pt x="14426" y="192476"/>
                      <a:pt x="21982" y="192560"/>
                    </a:cubicBezTo>
                    <a:lnTo>
                      <a:pt x="202160" y="192560"/>
                    </a:lnTo>
                    <a:cubicBezTo>
                      <a:pt x="209713" y="192473"/>
                      <a:pt x="216653" y="188387"/>
                      <a:pt x="220393" y="181826"/>
                    </a:cubicBezTo>
                    <a:cubicBezTo>
                      <a:pt x="224134" y="175264"/>
                      <a:pt x="224114" y="167211"/>
                      <a:pt x="220341" y="160667"/>
                    </a:cubicBezTo>
                    <a:lnTo>
                      <a:pt x="130262" y="10248"/>
                    </a:lnTo>
                    <a:cubicBezTo>
                      <a:pt x="126408" y="3886"/>
                      <a:pt x="119510" y="0"/>
                      <a:pt x="112071" y="0"/>
                    </a:cubicBezTo>
                    <a:cubicBezTo>
                      <a:pt x="104633" y="0"/>
                      <a:pt x="97734" y="3886"/>
                      <a:pt x="93880" y="10248"/>
                    </a:cubicBez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32" name="Freeform 32"/>
              <p:cNvSpPr/>
              <p:nvPr/>
            </p:nvSpPr>
            <p:spPr>
              <a:xfrm>
                <a:off x="838200" y="6029008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</p:grpSp>
        <p:sp>
          <p:nvSpPr>
            <p:cNvPr id="34" name="TextBox 34"/>
            <p:cNvSpPr txBox="1"/>
            <p:nvPr/>
          </p:nvSpPr>
          <p:spPr>
            <a:xfrm>
              <a:off x="1040511" y="5753576"/>
              <a:ext cx="9536430" cy="5415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70"/>
                </a:lnSpc>
              </a:pPr>
              <a:r>
                <a:rPr lang="zh-CN" sz="142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一个求“源点到各点的最短路”，一个求“连通全部顶点的最省边集”，答案含义不同。把 Prim 的更新写成 Lowcost[v] +</a:t>
              </a:r>
              <a:br/>
              <a:r>
                <a:rPr lang="zh-CN" sz="142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G[v][w] 就变成了 Dijkstra。</a:t>
              </a:r>
            </a:p>
          </p:txBody>
        </p:sp>
      </p:grpSp>
      <p:grpSp>
        <p:nvGrpSpPr>
          <p:cNvPr id="38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36" name="TextBox 36"/>
            <p:cNvSpPr txBox="1"/>
            <p:nvPr/>
          </p:nvSpPr>
          <p:spPr>
            <a:xfrm>
              <a:off x="528447" y="6581299"/>
              <a:ext cx="232523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数据结构 · 第16讲 最小支撑树及图应用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17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-disc"/>
          <p:cNvSpPr/>
          <p:nvPr/>
        </p:nvSpPr>
        <p:spPr>
          <a:xfrm>
            <a:off x="7715250" y="571500"/>
            <a:ext cx="5715000" cy="5715000"/>
          </a:xfrm>
          <a:prstGeom prst="ellipse">
            <a:avLst/>
          </a:prstGeom>
          <a:solidFill>
            <a:srgbClr val="1F5FA8"/>
          </a:solidFill>
          <a:ln>
            <a:noFill/>
          </a:ln>
        </p:spPr>
      </p:sp>
      <p:sp>
        <p:nvSpPr>
          <p:cNvPr id="3" name="section-ring"/>
          <p:cNvSpPr/>
          <p:nvPr/>
        </p:nvSpPr>
        <p:spPr>
          <a:xfrm>
            <a:off x="7334250" y="190500"/>
            <a:ext cx="6477000" cy="6477000"/>
          </a:xfrm>
          <a:prstGeom prst="ellipse">
            <a:avLst/>
          </a:prstGeom>
          <a:noFill/>
          <a:ln w="133350">
            <a:solidFill>
              <a:srgbClr val="E6EFF9"/>
            </a:solidFill>
          </a:ln>
        </p:spPr>
      </p:sp>
      <p:grpSp>
        <p:nvGrpSpPr>
          <p:cNvPr id="5" name="section-num"/>
          <p:cNvGrpSpPr/>
          <p:nvPr/>
        </p:nvGrpSpPr>
        <p:grpSpPr>
          <a:xfrm>
            <a:off x="8954033" y="2705100"/>
            <a:ext cx="1903933" cy="2305050"/>
            <a:chOff x="8954033" y="2705100"/>
            <a:chExt cx="1903933" cy="2305050"/>
          </a:xfrm>
        </p:grpSpPr>
        <p:sp>
          <p:nvSpPr>
            <p:cNvPr id="4" name="TextBox 4"/>
            <p:cNvSpPr txBox="1"/>
            <p:nvPr/>
          </p:nvSpPr>
          <p:spPr>
            <a:xfrm>
              <a:off x="8954033" y="2705100"/>
              <a:ext cx="1903933" cy="23050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03</a:t>
              </a:r>
            </a:p>
          </p:txBody>
        </p:sp>
      </p:grpSp>
      <p:grpSp>
        <p:nvGrpSpPr>
          <p:cNvPr id="18" name="section-title"/>
          <p:cNvGrpSpPr/>
          <p:nvPr/>
        </p:nvGrpSpPr>
        <p:grpSpPr>
          <a:xfrm>
            <a:off x="667512" y="1835468"/>
            <a:ext cx="6301645" cy="3351847"/>
            <a:chOff x="667512" y="1835468"/>
            <a:chExt cx="6301645" cy="3351847"/>
          </a:xfrm>
        </p:grpSpPr>
        <p:sp>
          <p:nvSpPr>
            <p:cNvPr id="6" name="TextBox 6"/>
            <p:cNvSpPr txBox="1"/>
            <p:nvPr/>
          </p:nvSpPr>
          <p:spPr>
            <a:xfrm>
              <a:off x="678942" y="1835468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第三部分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667512" y="2240280"/>
              <a:ext cx="5429616" cy="7040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6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Kruskal 算法：逐边加入</a:t>
              </a:r>
            </a:p>
          </p:txBody>
        </p:sp>
        <p:sp>
          <p:nvSpPr>
            <p:cNvPr id="8" name="Rectangle 8"/>
            <p:cNvSpPr/>
            <p:nvPr/>
          </p:nvSpPr>
          <p:spPr>
            <a:xfrm>
              <a:off x="685800" y="3041332"/>
              <a:ext cx="762000" cy="47625"/>
            </a:xfrm>
            <a:prstGeom prst="roundRect">
              <a:avLst>
                <a:gd name="adj" fmla="val 50000"/>
              </a:avLst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677418" y="3377565"/>
              <a:ext cx="6291739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把边按权值从小到大排队，能不成环就收下，收满 n−1 条就结束</a:t>
              </a:r>
            </a:p>
          </p:txBody>
        </p:sp>
        <p:sp>
          <p:nvSpPr>
            <p:cNvPr id="10" name="Ellipse 10"/>
            <p:cNvSpPr/>
            <p:nvPr/>
          </p:nvSpPr>
          <p:spPr>
            <a:xfrm>
              <a:off x="723900" y="3888105"/>
              <a:ext cx="76200" cy="7620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906780" y="3830955"/>
              <a:ext cx="8229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算法三步</a:t>
              </a:r>
            </a:p>
          </p:txBody>
        </p:sp>
        <p:sp>
          <p:nvSpPr>
            <p:cNvPr id="12" name="Ellipse 12"/>
            <p:cNvSpPr/>
            <p:nvPr/>
          </p:nvSpPr>
          <p:spPr>
            <a:xfrm>
              <a:off x="723900" y="4242435"/>
              <a:ext cx="76200" cy="7620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906780" y="4185285"/>
              <a:ext cx="102489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并查集判环</a:t>
              </a:r>
            </a:p>
          </p:txBody>
        </p:sp>
        <p:sp>
          <p:nvSpPr>
            <p:cNvPr id="14" name="Ellipse 14"/>
            <p:cNvSpPr/>
            <p:nvPr/>
          </p:nvSpPr>
          <p:spPr>
            <a:xfrm>
              <a:off x="723900" y="4596765"/>
              <a:ext cx="76200" cy="7620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906780" y="4539615"/>
              <a:ext cx="209502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边集数组与 O(e log e)</a:t>
              </a:r>
            </a:p>
          </p:txBody>
        </p:sp>
        <p:sp>
          <p:nvSpPr>
            <p:cNvPr id="16" name="Ellipse 16"/>
            <p:cNvSpPr/>
            <p:nvPr/>
          </p:nvSpPr>
          <p:spPr>
            <a:xfrm>
              <a:off x="723900" y="4951095"/>
              <a:ext cx="76200" cy="7620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906780" y="4893945"/>
              <a:ext cx="138612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与 Prim 的分工</a:t>
              </a:r>
            </a:p>
          </p:txBody>
        </p:sp>
      </p:grpSp>
      <p:grpSp>
        <p:nvGrpSpPr>
          <p:cNvPr id="21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19" name="TextBox 19"/>
            <p:cNvSpPr txBox="1"/>
            <p:nvPr/>
          </p:nvSpPr>
          <p:spPr>
            <a:xfrm>
              <a:off x="528447" y="6581299"/>
              <a:ext cx="232523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数据结构 · 第16讲 最小支撑树及图应用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18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9300697" cy="909257"/>
            <a:chOff x="520446" y="342900"/>
            <a:chExt cx="9300697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3221355" cy="26670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69149" y="407194"/>
              <a:ext cx="31498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第16讲 最小支撑树 · Kruskal 算法：逐边加入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9300697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Kruskal：从 n 个孤立点开始，每收一条边就少一个连通分量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F5FA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24" name="c1-steps-1"/>
          <p:cNvGrpSpPr/>
          <p:nvPr/>
        </p:nvGrpSpPr>
        <p:grpSpPr>
          <a:xfrm>
            <a:off x="533400" y="1533525"/>
            <a:ext cx="5933084" cy="2632139"/>
            <a:chOff x="533400" y="1533525"/>
            <a:chExt cx="5933084" cy="2632139"/>
          </a:xfrm>
        </p:grpSpPr>
        <p:sp>
          <p:nvSpPr>
            <p:cNvPr id="7" name="Rectangle 7"/>
            <p:cNvSpPr/>
            <p:nvPr/>
          </p:nvSpPr>
          <p:spPr>
            <a:xfrm>
              <a:off x="666750" y="1676400"/>
              <a:ext cx="19050" cy="2083118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8" name="Ellipse 8"/>
            <p:cNvSpPr/>
            <p:nvPr/>
          </p:nvSpPr>
          <p:spPr>
            <a:xfrm>
              <a:off x="533400" y="1533525"/>
              <a:ext cx="285750" cy="28575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627024" y="160734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10" name="Ellipse 10"/>
            <p:cNvSpPr/>
            <p:nvPr/>
          </p:nvSpPr>
          <p:spPr>
            <a:xfrm>
              <a:off x="533400" y="2154555"/>
              <a:ext cx="285750" cy="28575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627024" y="222837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12" name="Ellipse 12"/>
            <p:cNvSpPr/>
            <p:nvPr/>
          </p:nvSpPr>
          <p:spPr>
            <a:xfrm>
              <a:off x="533400" y="2775585"/>
              <a:ext cx="285750" cy="28575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627024" y="284940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14" name="Ellipse 14"/>
            <p:cNvSpPr/>
            <p:nvPr/>
          </p:nvSpPr>
          <p:spPr>
            <a:xfrm>
              <a:off x="533400" y="3616642"/>
              <a:ext cx="285750" cy="28575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627024" y="3690461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945261" y="1566386"/>
              <a:ext cx="396799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起步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946404" y="1846898"/>
              <a:ext cx="55200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令 T 中有 G 的全部 n 个顶点和 0 条边，此时 T 是 n 个互相孤立的连通分量。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945261" y="2187416"/>
              <a:ext cx="396799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取边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946404" y="2467927"/>
              <a:ext cx="331256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在 G 中选权值最小的边，并把它从 G 中删除。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945261" y="2808446"/>
              <a:ext cx="396799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判环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946404" y="3088957"/>
              <a:ext cx="5239512" cy="45567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40"/>
                </a:lnSpc>
              </a:pPr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若该边加入 T 后不产生环（两个端点位于 T 的不同连通分量中），就把它加入</a:t>
              </a:r>
              <a:br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T，T 的连通分量数减少一个；否则这一步什么都不做。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945261" y="3650456"/>
              <a:ext cx="396799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重复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946404" y="3930968"/>
              <a:ext cx="5256733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重复取边与判环，直到 T 中只剩一个连通分量，此时恰好收了 n−1 条边。</a:t>
              </a:r>
            </a:p>
          </p:txBody>
        </p:sp>
      </p:grpSp>
      <p:grpSp>
        <p:nvGrpSpPr>
          <p:cNvPr id="30" name="c1-callout-2"/>
          <p:cNvGrpSpPr/>
          <p:nvPr/>
        </p:nvGrpSpPr>
        <p:grpSpPr>
          <a:xfrm>
            <a:off x="533400" y="4341495"/>
            <a:ext cx="6059805" cy="964882"/>
            <a:chOff x="533400" y="4341495"/>
            <a:chExt cx="6059805" cy="964882"/>
          </a:xfrm>
        </p:grpSpPr>
        <p:sp>
          <p:nvSpPr>
            <p:cNvPr id="25" name="Rectangle 25"/>
            <p:cNvSpPr/>
            <p:nvPr/>
          </p:nvSpPr>
          <p:spPr>
            <a:xfrm>
              <a:off x="533400" y="4341495"/>
              <a:ext cx="6059805" cy="964882"/>
            </a:xfrm>
            <a:prstGeom prst="roundRect">
              <a:avLst>
                <a:gd name="adj" fmla="val 11846"/>
              </a:avLst>
            </a:prstGeom>
            <a:solidFill>
              <a:srgbClr val="1F5FA8"/>
            </a:solidFill>
            <a:ln>
              <a:noFill/>
            </a:ln>
          </p:spPr>
        </p:sp>
        <p:grpSp>
          <p:nvGrpSpPr>
            <p:cNvPr id="28" name="Group 28"/>
            <p:cNvGrpSpPr/>
            <p:nvPr/>
          </p:nvGrpSpPr>
          <p:grpSpPr>
            <a:xfrm>
              <a:off x="738188" y="4723450"/>
              <a:ext cx="200023" cy="200023"/>
              <a:chOff x="738188" y="4723450"/>
              <a:chExt cx="200023" cy="200023"/>
            </a:xfrm>
          </p:grpSpPr>
          <p:sp>
            <p:nvSpPr>
              <p:cNvPr id="26" name="Freeform 26"/>
              <p:cNvSpPr/>
              <p:nvPr/>
            </p:nvSpPr>
            <p:spPr>
              <a:xfrm>
                <a:off x="738188" y="4723450"/>
                <a:ext cx="200023" cy="200023"/>
              </a:xfrm>
              <a:custGeom>
                <a:avLst/>
                <a:gdLst/>
                <a:ahLst/>
                <a:cxnLst/>
                <a:rect l="l" t="t" r="r" b="b"/>
                <a:pathLst>
                  <a:path w="200023" h="200023">
                    <a:moveTo>
                      <a:pt x="150630" y="9366"/>
                    </a:moveTo>
                    <a:lnTo>
                      <a:pt x="190658" y="49393"/>
                    </a:lnTo>
                    <a:cubicBezTo>
                      <a:pt x="196654" y="55389"/>
                      <a:pt x="200023" y="63522"/>
                      <a:pt x="200023" y="72002"/>
                    </a:cubicBezTo>
                    <a:cubicBezTo>
                      <a:pt x="200023" y="80482"/>
                      <a:pt x="196654" y="88614"/>
                      <a:pt x="190658" y="94610"/>
                    </a:cubicBezTo>
                    <a:lnTo>
                      <a:pt x="161287" y="123980"/>
                    </a:lnTo>
                    <a:cubicBezTo>
                      <a:pt x="155291" y="129977"/>
                      <a:pt x="147159" y="133346"/>
                      <a:pt x="138679" y="133346"/>
                    </a:cubicBezTo>
                    <a:cubicBezTo>
                      <a:pt x="130199" y="133346"/>
                      <a:pt x="122066" y="129977"/>
                      <a:pt x="116070" y="123980"/>
                    </a:cubicBezTo>
                    <a:lnTo>
                      <a:pt x="112726" y="120636"/>
                    </a:lnTo>
                    <a:lnTo>
                      <a:pt x="39850" y="193511"/>
                    </a:lnTo>
                    <a:cubicBezTo>
                      <a:pt x="36157" y="197203"/>
                      <a:pt x="31283" y="199477"/>
                      <a:pt x="26081" y="199935"/>
                    </a:cubicBezTo>
                    <a:lnTo>
                      <a:pt x="24136" y="200023"/>
                    </a:lnTo>
                    <a:lnTo>
                      <a:pt x="11113" y="200023"/>
                    </a:lnTo>
                    <a:cubicBezTo>
                      <a:pt x="5479" y="200023"/>
                      <a:pt x="737" y="195806"/>
                      <a:pt x="78" y="190211"/>
                    </a:cubicBezTo>
                    <a:lnTo>
                      <a:pt x="0" y="188911"/>
                    </a:lnTo>
                    <a:lnTo>
                      <a:pt x="0" y="175887"/>
                    </a:lnTo>
                    <a:cubicBezTo>
                      <a:pt x="1" y="170669"/>
                      <a:pt x="1838" y="165618"/>
                      <a:pt x="5190" y="161619"/>
                    </a:cubicBezTo>
                    <a:lnTo>
                      <a:pt x="6512" y="160174"/>
                    </a:lnTo>
                    <a:lnTo>
                      <a:pt x="11113" y="155573"/>
                    </a:lnTo>
                    <a:lnTo>
                      <a:pt x="33338" y="155573"/>
                    </a:lnTo>
                    <a:lnTo>
                      <a:pt x="33338" y="133348"/>
                    </a:lnTo>
                    <a:lnTo>
                      <a:pt x="55563" y="133348"/>
                    </a:lnTo>
                    <a:lnTo>
                      <a:pt x="55563" y="111123"/>
                    </a:lnTo>
                    <a:lnTo>
                      <a:pt x="79388" y="87298"/>
                    </a:lnTo>
                    <a:lnTo>
                      <a:pt x="76043" y="83953"/>
                    </a:lnTo>
                    <a:cubicBezTo>
                      <a:pt x="70046" y="77957"/>
                      <a:pt x="66677" y="69825"/>
                      <a:pt x="66677" y="61345"/>
                    </a:cubicBezTo>
                    <a:cubicBezTo>
                      <a:pt x="66677" y="52865"/>
                      <a:pt x="70046" y="44732"/>
                      <a:pt x="76043" y="38736"/>
                    </a:cubicBezTo>
                    <a:lnTo>
                      <a:pt x="105413" y="9366"/>
                    </a:lnTo>
                    <a:cubicBezTo>
                      <a:pt x="111409" y="3369"/>
                      <a:pt x="119542" y="0"/>
                      <a:pt x="128022" y="0"/>
                    </a:cubicBezTo>
                    <a:cubicBezTo>
                      <a:pt x="136502" y="0"/>
                      <a:pt x="144635" y="3369"/>
                      <a:pt x="150630" y="9366"/>
                    </a:cubicBez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27" name="Freeform 27"/>
              <p:cNvSpPr/>
              <p:nvPr/>
            </p:nvSpPr>
            <p:spPr>
              <a:xfrm>
                <a:off x="871538" y="4790123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</p:grpSp>
        <p:sp>
          <p:nvSpPr>
            <p:cNvPr id="29" name="TextBox 29"/>
            <p:cNvSpPr txBox="1"/>
            <p:nvPr/>
          </p:nvSpPr>
          <p:spPr>
            <a:xfrm>
              <a:off x="1040511" y="4593431"/>
              <a:ext cx="5118100" cy="5415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70"/>
                </a:lnSpc>
              </a:pPr>
              <a:r>
                <a:rPr lang="zh-CN" sz="14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每收一条边，连通分量数严格减一。从 n 个降到 1 个，正好需要</a:t>
              </a:r>
              <a:br/>
              <a:r>
                <a:rPr lang="zh-CN" sz="14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n−1 条边。</a:t>
              </a:r>
            </a:p>
          </p:txBody>
        </p:sp>
      </p:grpSp>
      <p:grpSp>
        <p:nvGrpSpPr>
          <p:cNvPr id="42" name="c2-kv-1"/>
          <p:cNvGrpSpPr/>
          <p:nvPr/>
        </p:nvGrpSpPr>
        <p:grpSpPr>
          <a:xfrm>
            <a:off x="6890766" y="1547336"/>
            <a:ext cx="4767834" cy="1811275"/>
            <a:chOff x="6890766" y="1547336"/>
            <a:chExt cx="4767834" cy="1811275"/>
          </a:xfrm>
        </p:grpSpPr>
        <p:sp>
          <p:nvSpPr>
            <p:cNvPr id="31" name="TextBox 31"/>
            <p:cNvSpPr txBox="1"/>
            <p:nvPr/>
          </p:nvSpPr>
          <p:spPr>
            <a:xfrm>
              <a:off x="6890766" y="1547336"/>
              <a:ext cx="1472236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4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Joseph Kruskal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8509064" y="1547336"/>
              <a:ext cx="2681166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1928—2010，普林斯顿大学博士</a:t>
              </a:r>
            </a:p>
          </p:txBody>
        </p:sp>
        <p:sp>
          <p:nvSpPr>
            <p:cNvPr id="33" name="Rectangle 33"/>
            <p:cNvSpPr/>
            <p:nvPr/>
          </p:nvSpPr>
          <p:spPr>
            <a:xfrm>
              <a:off x="6898005" y="1853565"/>
              <a:ext cx="476059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6890766" y="1969294"/>
              <a:ext cx="396799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任职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8509064" y="1969294"/>
              <a:ext cx="2899918" cy="54635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0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贝尔实验室研究员，美国统计学会会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士</a:t>
              </a:r>
            </a:p>
          </p:txBody>
        </p:sp>
        <p:sp>
          <p:nvSpPr>
            <p:cNvPr id="36" name="Rectangle 36"/>
            <p:cNvSpPr/>
            <p:nvPr/>
          </p:nvSpPr>
          <p:spPr>
            <a:xfrm>
              <a:off x="6898005" y="2543175"/>
              <a:ext cx="476059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6890766" y="2658904"/>
              <a:ext cx="779120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提出时间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8509064" y="2658904"/>
              <a:ext cx="2172472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1956 年，比 Prim 早一年</a:t>
              </a:r>
            </a:p>
          </p:txBody>
        </p:sp>
        <p:sp>
          <p:nvSpPr>
            <p:cNvPr id="39" name="Rectangle 39"/>
            <p:cNvSpPr/>
            <p:nvPr/>
          </p:nvSpPr>
          <p:spPr>
            <a:xfrm>
              <a:off x="6898005" y="2964180"/>
              <a:ext cx="476059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6890766" y="3079909"/>
              <a:ext cx="779120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算法类型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8509064" y="3079909"/>
              <a:ext cx="1352601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同样是贪心算法</a:t>
              </a:r>
            </a:p>
          </p:txBody>
        </p:sp>
      </p:grpSp>
      <p:grpSp>
        <p:nvGrpSpPr>
          <p:cNvPr id="48" name="c2-card-2"/>
          <p:cNvGrpSpPr/>
          <p:nvPr/>
        </p:nvGrpSpPr>
        <p:grpSpPr>
          <a:xfrm>
            <a:off x="6898005" y="3488055"/>
            <a:ext cx="4760595" cy="1817370"/>
            <a:chOff x="6898005" y="3488055"/>
            <a:chExt cx="4760595" cy="1817370"/>
          </a:xfrm>
        </p:grpSpPr>
        <p:sp>
          <p:nvSpPr>
            <p:cNvPr id="43" name="Rectangle 43"/>
            <p:cNvSpPr/>
            <p:nvPr/>
          </p:nvSpPr>
          <p:spPr>
            <a:xfrm>
              <a:off x="6898005" y="3488055"/>
              <a:ext cx="4760595" cy="1817370"/>
            </a:xfrm>
            <a:prstGeom prst="roundRect">
              <a:avLst>
                <a:gd name="adj" fmla="val 7338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44" name="Rectangle 44"/>
            <p:cNvSpPr/>
            <p:nvPr/>
          </p:nvSpPr>
          <p:spPr>
            <a:xfrm>
              <a:off x="6907530" y="3621405"/>
              <a:ext cx="47625" cy="1550670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45" name="Rectangle 45"/>
            <p:cNvSpPr/>
            <p:nvPr/>
          </p:nvSpPr>
          <p:spPr>
            <a:xfrm>
              <a:off x="7139940" y="3691890"/>
              <a:ext cx="1916430" cy="257175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7187794" y="3727609"/>
              <a:ext cx="182072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为什么判环等价于最小跨边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7132701" y="4064794"/>
              <a:ext cx="4126230" cy="109308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设这一步选中的边是（u, v），u 所在连通分量的顶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点集为 S。比它更小的边都已处理完，剩下的跨 S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边权值都不小于它，所以（u, v）正是 S 与 V−S 的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最小跨边，由定理必在某棵最小支撑树里。</a:t>
              </a:r>
            </a:p>
          </p:txBody>
        </p:sp>
      </p:grpSp>
      <p:grpSp>
        <p:nvGrpSpPr>
          <p:cNvPr id="55" name="takeaway"/>
          <p:cNvGrpSpPr/>
          <p:nvPr/>
        </p:nvGrpSpPr>
        <p:grpSpPr>
          <a:xfrm>
            <a:off x="533400" y="5844540"/>
            <a:ext cx="11125200" cy="518160"/>
            <a:chOff x="533400" y="5844540"/>
            <a:chExt cx="11125200" cy="518160"/>
          </a:xfrm>
        </p:grpSpPr>
        <p:sp>
          <p:nvSpPr>
            <p:cNvPr id="49" name="Rectangle 49"/>
            <p:cNvSpPr/>
            <p:nvPr/>
          </p:nvSpPr>
          <p:spPr>
            <a:xfrm>
              <a:off x="533400" y="5844540"/>
              <a:ext cx="11125200" cy="518160"/>
            </a:xfrm>
            <a:prstGeom prst="roundRect">
              <a:avLst>
                <a:gd name="adj" fmla="val 22059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53" name="Group 53"/>
            <p:cNvGrpSpPr/>
            <p:nvPr/>
          </p:nvGrpSpPr>
          <p:grpSpPr>
            <a:xfrm>
              <a:off x="738188" y="6003608"/>
              <a:ext cx="200026" cy="200025"/>
              <a:chOff x="738188" y="6003608"/>
              <a:chExt cx="200026" cy="200025"/>
            </a:xfrm>
          </p:grpSpPr>
          <p:sp>
            <p:nvSpPr>
              <p:cNvPr id="50" name="Freeform 50"/>
              <p:cNvSpPr/>
              <p:nvPr/>
            </p:nvSpPr>
            <p:spPr>
              <a:xfrm>
                <a:off x="738188" y="6003608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51" name="Freeform 51"/>
              <p:cNvSpPr/>
              <p:nvPr/>
            </p:nvSpPr>
            <p:spPr>
              <a:xfrm>
                <a:off x="777926" y="6048058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52" name="Freeform 52"/>
              <p:cNvSpPr/>
              <p:nvPr/>
            </p:nvSpPr>
            <p:spPr>
              <a:xfrm>
                <a:off x="812642" y="6159183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54" name="TextBox 54"/>
            <p:cNvSpPr txBox="1"/>
            <p:nvPr/>
          </p:nvSpPr>
          <p:spPr>
            <a:xfrm>
              <a:off x="1040511" y="6004084"/>
              <a:ext cx="7953257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Prim 的 S 只有一个、一直在长；Kruskal 同时维护很多个 S，它们互相吞并，最后合成一个。</a:t>
              </a:r>
            </a:p>
          </p:txBody>
        </p:sp>
      </p:grpSp>
      <p:grpSp>
        <p:nvGrpSpPr>
          <p:cNvPr id="58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56" name="TextBox 56"/>
            <p:cNvSpPr txBox="1"/>
            <p:nvPr/>
          </p:nvSpPr>
          <p:spPr>
            <a:xfrm>
              <a:off x="528447" y="6581299"/>
              <a:ext cx="232523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数据结构 · 第16讲 最小支撑树及图应用</a:t>
              </a: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19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6212042" cy="909257"/>
            <a:chOff x="520446" y="342900"/>
            <a:chExt cx="6212042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3221355" cy="26670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69149" y="407194"/>
              <a:ext cx="31498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第16讲 最小支撑树 · Kruskal 算法：逐边加入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6212042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例1 换成 Kruskal：按权排队，逐条判定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F5FA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8" name="lead"/>
          <p:cNvGrpSpPr/>
          <p:nvPr/>
        </p:nvGrpSpPr>
        <p:grpSpPr>
          <a:xfrm>
            <a:off x="526542" y="1545907"/>
            <a:ext cx="11126934" cy="264033"/>
            <a:chOff x="526542" y="1545907"/>
            <a:chExt cx="11126934" cy="264033"/>
          </a:xfrm>
        </p:grpSpPr>
        <p:sp>
          <p:nvSpPr>
            <p:cNvPr id="7" name="TextBox 7"/>
            <p:cNvSpPr txBox="1"/>
            <p:nvPr/>
          </p:nvSpPr>
          <p:spPr>
            <a:xfrm>
              <a:off x="526542" y="1545907"/>
              <a:ext cx="1112693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仍是那张 6 点 10 边的图。排序后的边为 1—3(1)、4—6(2)、2—5(3)、3—6(4)、1—4(5)、2—3(5)、3—5(5)、1—2(6)、5—6(6)、3—4(7)。</a:t>
              </a:r>
            </a:p>
          </p:txBody>
        </p:sp>
      </p:grpSp>
      <p:grpSp>
        <p:nvGrpSpPr>
          <p:cNvPr id="36" name="c1-graph-1"/>
          <p:cNvGrpSpPr/>
          <p:nvPr/>
        </p:nvGrpSpPr>
        <p:grpSpPr>
          <a:xfrm>
            <a:off x="838200" y="1951672"/>
            <a:ext cx="4151948" cy="2334578"/>
            <a:chOff x="838200" y="1951672"/>
            <a:chExt cx="4151948" cy="2334578"/>
          </a:xfrm>
        </p:grpSpPr>
        <p:sp>
          <p:nvSpPr>
            <p:cNvPr id="9" name="Freeform 9"/>
            <p:cNvSpPr/>
            <p:nvPr/>
          </p:nvSpPr>
          <p:spPr>
            <a:xfrm>
              <a:off x="2913698" y="2304098"/>
              <a:ext cx="9525" cy="658178"/>
            </a:xfrm>
            <a:custGeom>
              <a:avLst/>
              <a:gdLst/>
              <a:ahLst/>
              <a:cxnLst/>
              <a:rect l="l" t="t" r="r" b="b"/>
              <a:pathLst>
                <a:path w="9525" h="658178">
                  <a:moveTo>
                    <a:pt x="0" y="0"/>
                  </a:moveTo>
                  <a:lnTo>
                    <a:pt x="0" y="658178"/>
                  </a:lnTo>
                </a:path>
              </a:pathLst>
            </a:custGeom>
            <a:noFill/>
            <a:ln w="17145">
              <a:solidFill>
                <a:srgbClr val="1F5FA8"/>
              </a:solidFill>
            </a:ln>
          </p:spPr>
        </p:sp>
        <p:sp>
          <p:nvSpPr>
            <p:cNvPr id="10" name="Freeform 10"/>
            <p:cNvSpPr/>
            <p:nvPr/>
          </p:nvSpPr>
          <p:spPr>
            <a:xfrm>
              <a:off x="4241482" y="3106102"/>
              <a:ext cx="486727" cy="851535"/>
            </a:xfrm>
            <a:custGeom>
              <a:avLst/>
              <a:gdLst/>
              <a:ahLst/>
              <a:cxnLst/>
              <a:rect l="l" t="t" r="r" b="b"/>
              <a:pathLst>
                <a:path w="486727" h="851535">
                  <a:moveTo>
                    <a:pt x="486727" y="0"/>
                  </a:moveTo>
                  <a:lnTo>
                    <a:pt x="0" y="851535"/>
                  </a:lnTo>
                </a:path>
              </a:pathLst>
            </a:custGeom>
            <a:noFill/>
            <a:ln w="17145">
              <a:solidFill>
                <a:srgbClr val="1F5FA8"/>
              </a:solidFill>
            </a:ln>
          </p:spPr>
        </p:sp>
        <p:sp>
          <p:nvSpPr>
            <p:cNvPr id="11" name="Freeform 11"/>
            <p:cNvSpPr/>
            <p:nvPr/>
          </p:nvSpPr>
          <p:spPr>
            <a:xfrm>
              <a:off x="1088708" y="3110865"/>
              <a:ext cx="412432" cy="841057"/>
            </a:xfrm>
            <a:custGeom>
              <a:avLst/>
              <a:gdLst/>
              <a:ahLst/>
              <a:cxnLst/>
              <a:rect l="l" t="t" r="r" b="b"/>
              <a:pathLst>
                <a:path w="412432" h="841057">
                  <a:moveTo>
                    <a:pt x="0" y="0"/>
                  </a:moveTo>
                  <a:lnTo>
                    <a:pt x="412432" y="841057"/>
                  </a:lnTo>
                </a:path>
              </a:pathLst>
            </a:custGeom>
            <a:noFill/>
            <a:ln w="17145">
              <a:solidFill>
                <a:srgbClr val="1F5FA8"/>
              </a:solidFill>
            </a:ln>
          </p:spPr>
        </p:sp>
        <p:sp>
          <p:nvSpPr>
            <p:cNvPr id="12" name="Freeform 12"/>
            <p:cNvSpPr/>
            <p:nvPr/>
          </p:nvSpPr>
          <p:spPr>
            <a:xfrm>
              <a:off x="3056572" y="3254692"/>
              <a:ext cx="952500" cy="747712"/>
            </a:xfrm>
            <a:custGeom>
              <a:avLst/>
              <a:gdLst/>
              <a:ahLst/>
              <a:cxnLst/>
              <a:rect l="l" t="t" r="r" b="b"/>
              <a:pathLst>
                <a:path w="952500" h="747712">
                  <a:moveTo>
                    <a:pt x="0" y="0"/>
                  </a:moveTo>
                  <a:lnTo>
                    <a:pt x="952500" y="747712"/>
                  </a:lnTo>
                </a:path>
              </a:pathLst>
            </a:custGeom>
            <a:noFill/>
            <a:ln w="17145">
              <a:solidFill>
                <a:srgbClr val="1F5FA8"/>
              </a:solidFill>
            </a:ln>
          </p:spPr>
        </p:sp>
        <p:sp>
          <p:nvSpPr>
            <p:cNvPr id="13" name="Freeform 13"/>
            <p:cNvSpPr/>
            <p:nvPr/>
          </p:nvSpPr>
          <p:spPr>
            <a:xfrm>
              <a:off x="1189672" y="2967038"/>
              <a:ext cx="1544002" cy="158115"/>
            </a:xfrm>
            <a:custGeom>
              <a:avLst/>
              <a:gdLst/>
              <a:ahLst/>
              <a:cxnLst/>
              <a:rect l="l" t="t" r="r" b="b"/>
              <a:pathLst>
                <a:path w="1544002" h="158115">
                  <a:moveTo>
                    <a:pt x="0" y="0"/>
                  </a:moveTo>
                  <a:lnTo>
                    <a:pt x="1544002" y="158115"/>
                  </a:lnTo>
                </a:path>
              </a:pathLst>
            </a:custGeom>
            <a:noFill/>
            <a:ln w="17145">
              <a:solidFill>
                <a:srgbClr val="1F5FA8"/>
              </a:solidFill>
            </a:ln>
          </p:spPr>
        </p:sp>
        <p:sp>
          <p:nvSpPr>
            <p:cNvPr id="14" name="Ellipse 14"/>
            <p:cNvSpPr/>
            <p:nvPr/>
          </p:nvSpPr>
          <p:spPr>
            <a:xfrm>
              <a:off x="2742248" y="1951672"/>
              <a:ext cx="342900" cy="342900"/>
            </a:xfrm>
            <a:prstGeom prst="ellipse">
              <a:avLst/>
            </a:prstGeom>
            <a:solidFill>
              <a:srgbClr val="FDEEE7"/>
            </a:solidFill>
            <a:ln w="17145">
              <a:solidFill>
                <a:srgbClr val="F26B3A"/>
              </a:solidFill>
            </a:ln>
          </p:spPr>
        </p:sp>
        <p:sp>
          <p:nvSpPr>
            <p:cNvPr id="15" name="Ellipse 15"/>
            <p:cNvSpPr/>
            <p:nvPr/>
          </p:nvSpPr>
          <p:spPr>
            <a:xfrm>
              <a:off x="838200" y="2777490"/>
              <a:ext cx="342900" cy="342900"/>
            </a:xfrm>
            <a:prstGeom prst="ellipse">
              <a:avLst/>
            </a:prstGeom>
            <a:solidFill>
              <a:srgbClr val="FDEEE7"/>
            </a:solidFill>
            <a:ln w="17145">
              <a:solidFill>
                <a:srgbClr val="F26B3A"/>
              </a:solidFill>
            </a:ln>
          </p:spPr>
        </p:sp>
        <p:sp>
          <p:nvSpPr>
            <p:cNvPr id="16" name="Ellipse 16"/>
            <p:cNvSpPr/>
            <p:nvPr/>
          </p:nvSpPr>
          <p:spPr>
            <a:xfrm>
              <a:off x="2742248" y="2971800"/>
              <a:ext cx="342900" cy="342900"/>
            </a:xfrm>
            <a:prstGeom prst="ellipse">
              <a:avLst/>
            </a:prstGeom>
            <a:solidFill>
              <a:srgbClr val="FDEEE7"/>
            </a:solidFill>
            <a:ln w="17145">
              <a:solidFill>
                <a:srgbClr val="F26B3A"/>
              </a:solidFill>
            </a:ln>
          </p:spPr>
        </p:sp>
        <p:sp>
          <p:nvSpPr>
            <p:cNvPr id="17" name="Ellipse 17"/>
            <p:cNvSpPr/>
            <p:nvPr/>
          </p:nvSpPr>
          <p:spPr>
            <a:xfrm>
              <a:off x="4647248" y="2777490"/>
              <a:ext cx="342900" cy="342900"/>
            </a:xfrm>
            <a:prstGeom prst="ellipse">
              <a:avLst/>
            </a:prstGeom>
            <a:solidFill>
              <a:srgbClr val="FDEEE7"/>
            </a:solidFill>
            <a:ln w="17145">
              <a:solidFill>
                <a:srgbClr val="F26B3A"/>
              </a:solidFill>
            </a:ln>
          </p:spPr>
        </p:sp>
        <p:sp>
          <p:nvSpPr>
            <p:cNvPr id="18" name="Ellipse 18"/>
            <p:cNvSpPr/>
            <p:nvPr/>
          </p:nvSpPr>
          <p:spPr>
            <a:xfrm>
              <a:off x="1409700" y="3943350"/>
              <a:ext cx="342900" cy="342900"/>
            </a:xfrm>
            <a:prstGeom prst="ellipse">
              <a:avLst/>
            </a:prstGeom>
            <a:solidFill>
              <a:srgbClr val="FDEEE7"/>
            </a:solidFill>
            <a:ln w="17145">
              <a:solidFill>
                <a:srgbClr val="F26B3A"/>
              </a:solidFill>
            </a:ln>
          </p:spPr>
        </p:sp>
        <p:sp>
          <p:nvSpPr>
            <p:cNvPr id="19" name="Ellipse 19"/>
            <p:cNvSpPr/>
            <p:nvPr/>
          </p:nvSpPr>
          <p:spPr>
            <a:xfrm>
              <a:off x="3980498" y="3943350"/>
              <a:ext cx="342900" cy="342900"/>
            </a:xfrm>
            <a:prstGeom prst="ellipse">
              <a:avLst/>
            </a:prstGeom>
            <a:solidFill>
              <a:srgbClr val="FDEEE7"/>
            </a:solidFill>
            <a:ln w="17145">
              <a:solidFill>
                <a:srgbClr val="F26B3A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2870650" y="2062639"/>
              <a:ext cx="8609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966603" y="2888456"/>
              <a:ext cx="8609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2870650" y="3082766"/>
              <a:ext cx="8609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4775650" y="2888456"/>
              <a:ext cx="8609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1538103" y="4054316"/>
              <a:ext cx="8609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4108900" y="4054316"/>
              <a:ext cx="8609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6</a:t>
              </a:r>
            </a:p>
          </p:txBody>
        </p:sp>
        <p:sp>
          <p:nvSpPr>
            <p:cNvPr id="26" name="Rectangle 26"/>
            <p:cNvSpPr/>
            <p:nvPr/>
          </p:nvSpPr>
          <p:spPr>
            <a:xfrm>
              <a:off x="2818448" y="2554605"/>
              <a:ext cx="190500" cy="146685"/>
            </a:xfrm>
            <a:prstGeom prst="roundRect">
              <a:avLst>
                <a:gd name="adj" fmla="val 25974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2848221" y="2583656"/>
              <a:ext cx="130952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①1</a:t>
              </a:r>
            </a:p>
          </p:txBody>
        </p:sp>
        <p:sp>
          <p:nvSpPr>
            <p:cNvPr id="28" name="Rectangle 28"/>
            <p:cNvSpPr/>
            <p:nvPr/>
          </p:nvSpPr>
          <p:spPr>
            <a:xfrm>
              <a:off x="4390072" y="3452812"/>
              <a:ext cx="190500" cy="146685"/>
            </a:xfrm>
            <a:prstGeom prst="roundRect">
              <a:avLst>
                <a:gd name="adj" fmla="val 25974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4419846" y="3482816"/>
              <a:ext cx="130952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②2</a:t>
              </a:r>
            </a:p>
          </p:txBody>
        </p:sp>
        <p:sp>
          <p:nvSpPr>
            <p:cNvPr id="30" name="Rectangle 30"/>
            <p:cNvSpPr/>
            <p:nvPr/>
          </p:nvSpPr>
          <p:spPr>
            <a:xfrm>
              <a:off x="1200150" y="3452812"/>
              <a:ext cx="190500" cy="146685"/>
            </a:xfrm>
            <a:prstGeom prst="roundRect">
              <a:avLst>
                <a:gd name="adj" fmla="val 25974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1229924" y="3482816"/>
              <a:ext cx="130952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③3</a:t>
              </a:r>
            </a:p>
          </p:txBody>
        </p:sp>
        <p:sp>
          <p:nvSpPr>
            <p:cNvPr id="32" name="Rectangle 32"/>
            <p:cNvSpPr/>
            <p:nvPr/>
          </p:nvSpPr>
          <p:spPr>
            <a:xfrm>
              <a:off x="3437572" y="3549968"/>
              <a:ext cx="190500" cy="146685"/>
            </a:xfrm>
            <a:prstGeom prst="roundRect">
              <a:avLst>
                <a:gd name="adj" fmla="val 25974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3467346" y="3579971"/>
              <a:ext cx="130952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④4</a:t>
              </a:r>
            </a:p>
          </p:txBody>
        </p:sp>
        <p:sp>
          <p:nvSpPr>
            <p:cNvPr id="34" name="Rectangle 34"/>
            <p:cNvSpPr/>
            <p:nvPr/>
          </p:nvSpPr>
          <p:spPr>
            <a:xfrm>
              <a:off x="1865948" y="2967038"/>
              <a:ext cx="190500" cy="146685"/>
            </a:xfrm>
            <a:prstGeom prst="roundRect">
              <a:avLst>
                <a:gd name="adj" fmla="val 25974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1896674" y="2997041"/>
              <a:ext cx="130952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⑥5</a:t>
              </a:r>
            </a:p>
          </p:txBody>
        </p:sp>
      </p:grpSp>
      <p:grpSp>
        <p:nvGrpSpPr>
          <p:cNvPr id="38" name="c1-text-2"/>
          <p:cNvGrpSpPr/>
          <p:nvPr/>
        </p:nvGrpSpPr>
        <p:grpSpPr>
          <a:xfrm>
            <a:off x="2060257" y="4539615"/>
            <a:ext cx="1706880" cy="205359"/>
            <a:chOff x="2060257" y="4539615"/>
            <a:chExt cx="1706880" cy="205359"/>
          </a:xfrm>
        </p:grpSpPr>
        <p:sp>
          <p:nvSpPr>
            <p:cNvPr id="37" name="TextBox 37"/>
            <p:cNvSpPr txBox="1"/>
            <p:nvPr/>
          </p:nvSpPr>
          <p:spPr>
            <a:xfrm>
              <a:off x="2060257" y="4539615"/>
              <a:ext cx="170688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收下的五条边与收下的次序</a:t>
              </a:r>
            </a:p>
          </p:txBody>
        </p:sp>
      </p:grpSp>
      <p:grpSp>
        <p:nvGrpSpPr>
          <p:cNvPr id="89" name="c2-table-1"/>
          <p:cNvGrpSpPr/>
          <p:nvPr/>
        </p:nvGrpSpPr>
        <p:grpSpPr>
          <a:xfrm>
            <a:off x="5598795" y="1928812"/>
            <a:ext cx="6059805" cy="2669858"/>
            <a:chOff x="5598795" y="1928812"/>
            <a:chExt cx="6059805" cy="2669858"/>
          </a:xfrm>
        </p:grpSpPr>
        <p:sp>
          <p:nvSpPr>
            <p:cNvPr id="39" name="Rectangle 39"/>
            <p:cNvSpPr/>
            <p:nvPr/>
          </p:nvSpPr>
          <p:spPr>
            <a:xfrm>
              <a:off x="5598795" y="1928812"/>
              <a:ext cx="6059805" cy="381000"/>
            </a:xfrm>
            <a:prstGeom prst="rect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5815965" y="2045970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次序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6674358" y="2045970"/>
              <a:ext cx="15201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边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7401116" y="2045970"/>
              <a:ext cx="15201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权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8502206" y="2045970"/>
              <a:ext cx="85877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两端所在分量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10724198" y="2045970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判定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5916501" y="2426970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①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6628419" y="2426970"/>
              <a:ext cx="24389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1—3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7432919" y="2426970"/>
              <a:ext cx="884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7875651" y="2426970"/>
              <a:ext cx="70328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{1} 与 {3}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10724198" y="2426970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收下</a:t>
              </a:r>
            </a:p>
          </p:txBody>
        </p:sp>
        <p:sp>
          <p:nvSpPr>
            <p:cNvPr id="50" name="Rectangle 50"/>
            <p:cNvSpPr/>
            <p:nvPr/>
          </p:nvSpPr>
          <p:spPr>
            <a:xfrm>
              <a:off x="5598795" y="2687002"/>
              <a:ext cx="605980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1" name="Rectangle 51"/>
            <p:cNvSpPr/>
            <p:nvPr/>
          </p:nvSpPr>
          <p:spPr>
            <a:xfrm>
              <a:off x="5598795" y="2691765"/>
              <a:ext cx="6059805" cy="38100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52" name="TextBox 52"/>
            <p:cNvSpPr txBox="1"/>
            <p:nvPr/>
          </p:nvSpPr>
          <p:spPr>
            <a:xfrm>
              <a:off x="5916501" y="2808923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②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6628419" y="2808923"/>
              <a:ext cx="24389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4—6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7432919" y="2808923"/>
              <a:ext cx="884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7875651" y="2808923"/>
              <a:ext cx="70328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{4} 与 {6}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10724198" y="2808923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收下</a:t>
              </a:r>
            </a:p>
          </p:txBody>
        </p:sp>
        <p:sp>
          <p:nvSpPr>
            <p:cNvPr id="57" name="Rectangle 57"/>
            <p:cNvSpPr/>
            <p:nvPr/>
          </p:nvSpPr>
          <p:spPr>
            <a:xfrm>
              <a:off x="5598795" y="3068002"/>
              <a:ext cx="605980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8" name="TextBox 58"/>
            <p:cNvSpPr txBox="1"/>
            <p:nvPr/>
          </p:nvSpPr>
          <p:spPr>
            <a:xfrm>
              <a:off x="5916501" y="3189923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③</a:t>
              </a:r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6628419" y="3189923"/>
              <a:ext cx="24389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2—5</a:t>
              </a:r>
            </a:p>
          </p:txBody>
        </p:sp>
        <p:sp>
          <p:nvSpPr>
            <p:cNvPr id="60" name="TextBox 60"/>
            <p:cNvSpPr txBox="1"/>
            <p:nvPr/>
          </p:nvSpPr>
          <p:spPr>
            <a:xfrm>
              <a:off x="7432919" y="3189923"/>
              <a:ext cx="884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61" name="TextBox 61"/>
            <p:cNvSpPr txBox="1"/>
            <p:nvPr/>
          </p:nvSpPr>
          <p:spPr>
            <a:xfrm>
              <a:off x="7875651" y="3189923"/>
              <a:ext cx="70328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{2} 与 {5}</a:t>
              </a:r>
            </a:p>
          </p:txBody>
        </p:sp>
        <p:sp>
          <p:nvSpPr>
            <p:cNvPr id="62" name="TextBox 62"/>
            <p:cNvSpPr txBox="1"/>
            <p:nvPr/>
          </p:nvSpPr>
          <p:spPr>
            <a:xfrm>
              <a:off x="10724198" y="3189923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收下</a:t>
              </a:r>
            </a:p>
          </p:txBody>
        </p:sp>
        <p:sp>
          <p:nvSpPr>
            <p:cNvPr id="63" name="Rectangle 63"/>
            <p:cNvSpPr/>
            <p:nvPr/>
          </p:nvSpPr>
          <p:spPr>
            <a:xfrm>
              <a:off x="5598795" y="3449002"/>
              <a:ext cx="605980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64" name="Rectangle 64"/>
            <p:cNvSpPr/>
            <p:nvPr/>
          </p:nvSpPr>
          <p:spPr>
            <a:xfrm>
              <a:off x="5598795" y="3453765"/>
              <a:ext cx="6059805" cy="38100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65" name="TextBox 65"/>
            <p:cNvSpPr txBox="1"/>
            <p:nvPr/>
          </p:nvSpPr>
          <p:spPr>
            <a:xfrm>
              <a:off x="5916501" y="3571875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④</a:t>
              </a:r>
            </a:p>
          </p:txBody>
        </p:sp>
        <p:sp>
          <p:nvSpPr>
            <p:cNvPr id="66" name="TextBox 66"/>
            <p:cNvSpPr txBox="1"/>
            <p:nvPr/>
          </p:nvSpPr>
          <p:spPr>
            <a:xfrm>
              <a:off x="6628419" y="3571875"/>
              <a:ext cx="24389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3—6</a:t>
              </a:r>
            </a:p>
          </p:txBody>
        </p:sp>
        <p:sp>
          <p:nvSpPr>
            <p:cNvPr id="67" name="TextBox 67"/>
            <p:cNvSpPr txBox="1"/>
            <p:nvPr/>
          </p:nvSpPr>
          <p:spPr>
            <a:xfrm>
              <a:off x="7432919" y="3571875"/>
              <a:ext cx="884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68" name="TextBox 68"/>
            <p:cNvSpPr txBox="1"/>
            <p:nvPr/>
          </p:nvSpPr>
          <p:spPr>
            <a:xfrm>
              <a:off x="7875651" y="3571875"/>
              <a:ext cx="101426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{1,3} 与 {4,6}</a:t>
              </a:r>
            </a:p>
          </p:txBody>
        </p:sp>
        <p:sp>
          <p:nvSpPr>
            <p:cNvPr id="69" name="TextBox 69"/>
            <p:cNvSpPr txBox="1"/>
            <p:nvPr/>
          </p:nvSpPr>
          <p:spPr>
            <a:xfrm>
              <a:off x="10724198" y="3571875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收下</a:t>
              </a:r>
            </a:p>
          </p:txBody>
        </p:sp>
        <p:sp>
          <p:nvSpPr>
            <p:cNvPr id="70" name="Rectangle 70"/>
            <p:cNvSpPr/>
            <p:nvPr/>
          </p:nvSpPr>
          <p:spPr>
            <a:xfrm>
              <a:off x="5598795" y="3830955"/>
              <a:ext cx="605980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71" name="TextBox 71"/>
            <p:cNvSpPr txBox="1"/>
            <p:nvPr/>
          </p:nvSpPr>
          <p:spPr>
            <a:xfrm>
              <a:off x="5916501" y="3952875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⑤</a:t>
              </a:r>
            </a:p>
          </p:txBody>
        </p:sp>
        <p:sp>
          <p:nvSpPr>
            <p:cNvPr id="72" name="TextBox 72"/>
            <p:cNvSpPr txBox="1"/>
            <p:nvPr/>
          </p:nvSpPr>
          <p:spPr>
            <a:xfrm>
              <a:off x="6628419" y="3952875"/>
              <a:ext cx="24389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1—4</a:t>
              </a:r>
            </a:p>
          </p:txBody>
        </p:sp>
        <p:sp>
          <p:nvSpPr>
            <p:cNvPr id="73" name="TextBox 73"/>
            <p:cNvSpPr txBox="1"/>
            <p:nvPr/>
          </p:nvSpPr>
          <p:spPr>
            <a:xfrm>
              <a:off x="7432919" y="3952875"/>
              <a:ext cx="884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74" name="TextBox 74"/>
            <p:cNvSpPr txBox="1"/>
            <p:nvPr/>
          </p:nvSpPr>
          <p:spPr>
            <a:xfrm>
              <a:off x="7875651" y="3952875"/>
              <a:ext cx="117681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{1,3,4,6} 同一个</a:t>
              </a:r>
            </a:p>
          </p:txBody>
        </p:sp>
        <p:sp>
          <p:nvSpPr>
            <p:cNvPr id="75" name="Rectangle 75"/>
            <p:cNvSpPr/>
            <p:nvPr/>
          </p:nvSpPr>
          <p:spPr>
            <a:xfrm>
              <a:off x="10092690" y="3845242"/>
              <a:ext cx="1556385" cy="361950"/>
            </a:xfrm>
            <a:prstGeom prst="rect">
              <a:avLst/>
            </a:prstGeom>
            <a:solidFill>
              <a:srgbClr val="FDECEA"/>
            </a:solidFill>
            <a:ln>
              <a:noFill/>
            </a:ln>
          </p:spPr>
        </p:sp>
        <p:sp>
          <p:nvSpPr>
            <p:cNvPr id="76" name="TextBox 76"/>
            <p:cNvSpPr txBox="1"/>
            <p:nvPr/>
          </p:nvSpPr>
          <p:spPr>
            <a:xfrm>
              <a:off x="10593448" y="3952875"/>
              <a:ext cx="55486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弃, 成环</a:t>
              </a:r>
            </a:p>
          </p:txBody>
        </p:sp>
        <p:sp>
          <p:nvSpPr>
            <p:cNvPr id="77" name="Rectangle 77"/>
            <p:cNvSpPr/>
            <p:nvPr/>
          </p:nvSpPr>
          <p:spPr>
            <a:xfrm>
              <a:off x="5598795" y="4211955"/>
              <a:ext cx="605980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78" name="Rectangle 78"/>
            <p:cNvSpPr/>
            <p:nvPr/>
          </p:nvSpPr>
          <p:spPr>
            <a:xfrm>
              <a:off x="5598795" y="4216718"/>
              <a:ext cx="6059805" cy="38100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79" name="TextBox 79"/>
            <p:cNvSpPr txBox="1"/>
            <p:nvPr/>
          </p:nvSpPr>
          <p:spPr>
            <a:xfrm>
              <a:off x="5916501" y="4333875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⑥</a:t>
              </a:r>
            </a:p>
          </p:txBody>
        </p:sp>
        <p:sp>
          <p:nvSpPr>
            <p:cNvPr id="80" name="TextBox 80"/>
            <p:cNvSpPr txBox="1"/>
            <p:nvPr/>
          </p:nvSpPr>
          <p:spPr>
            <a:xfrm>
              <a:off x="6628419" y="4333875"/>
              <a:ext cx="24389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2—3</a:t>
              </a:r>
            </a:p>
          </p:txBody>
        </p:sp>
        <p:sp>
          <p:nvSpPr>
            <p:cNvPr id="81" name="TextBox 81"/>
            <p:cNvSpPr txBox="1"/>
            <p:nvPr/>
          </p:nvSpPr>
          <p:spPr>
            <a:xfrm>
              <a:off x="7432919" y="4333875"/>
              <a:ext cx="884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82" name="TextBox 82"/>
            <p:cNvSpPr txBox="1"/>
            <p:nvPr/>
          </p:nvSpPr>
          <p:spPr>
            <a:xfrm>
              <a:off x="7875651" y="4333875"/>
              <a:ext cx="132523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{2,5} 与 {1,3,4,6}</a:t>
              </a:r>
            </a:p>
          </p:txBody>
        </p:sp>
        <p:sp>
          <p:nvSpPr>
            <p:cNvPr id="83" name="TextBox 83"/>
            <p:cNvSpPr txBox="1"/>
            <p:nvPr/>
          </p:nvSpPr>
          <p:spPr>
            <a:xfrm>
              <a:off x="10724198" y="4333875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收下</a:t>
              </a:r>
            </a:p>
          </p:txBody>
        </p:sp>
        <p:sp>
          <p:nvSpPr>
            <p:cNvPr id="84" name="Rectangle 84"/>
            <p:cNvSpPr/>
            <p:nvPr/>
          </p:nvSpPr>
          <p:spPr>
            <a:xfrm>
              <a:off x="5598795" y="1928812"/>
              <a:ext cx="6059805" cy="2669858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85" name="Rectangle 85"/>
            <p:cNvSpPr/>
            <p:nvPr/>
          </p:nvSpPr>
          <p:spPr>
            <a:xfrm>
              <a:off x="6321742" y="1928812"/>
              <a:ext cx="9525" cy="2669858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86" name="Rectangle 86"/>
            <p:cNvSpPr/>
            <p:nvPr/>
          </p:nvSpPr>
          <p:spPr>
            <a:xfrm>
              <a:off x="7169468" y="1928812"/>
              <a:ext cx="9525" cy="2669858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87" name="Rectangle 87"/>
            <p:cNvSpPr/>
            <p:nvPr/>
          </p:nvSpPr>
          <p:spPr>
            <a:xfrm>
              <a:off x="7776210" y="1928812"/>
              <a:ext cx="9525" cy="2669858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88" name="Rectangle 88"/>
            <p:cNvSpPr/>
            <p:nvPr/>
          </p:nvSpPr>
          <p:spPr>
            <a:xfrm>
              <a:off x="10078402" y="1928812"/>
              <a:ext cx="9525" cy="2669858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93" name="c2-card-2"/>
          <p:cNvGrpSpPr/>
          <p:nvPr/>
        </p:nvGrpSpPr>
        <p:grpSpPr>
          <a:xfrm>
            <a:off x="5598795" y="4763452"/>
            <a:ext cx="6059805" cy="581978"/>
            <a:chOff x="5598795" y="4763452"/>
            <a:chExt cx="6059805" cy="581978"/>
          </a:xfrm>
        </p:grpSpPr>
        <p:sp>
          <p:nvSpPr>
            <p:cNvPr id="90" name="Rectangle 90"/>
            <p:cNvSpPr/>
            <p:nvPr/>
          </p:nvSpPr>
          <p:spPr>
            <a:xfrm>
              <a:off x="5598795" y="4763452"/>
              <a:ext cx="6059805" cy="581978"/>
            </a:xfrm>
            <a:prstGeom prst="roundRect">
              <a:avLst>
                <a:gd name="adj" fmla="val 22913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91" name="Rectangle 91"/>
            <p:cNvSpPr/>
            <p:nvPr/>
          </p:nvSpPr>
          <p:spPr>
            <a:xfrm>
              <a:off x="5608320" y="4896802"/>
              <a:ext cx="47625" cy="315278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92" name="TextBox 92"/>
            <p:cNvSpPr txBox="1"/>
            <p:nvPr/>
          </p:nvSpPr>
          <p:spPr>
            <a:xfrm>
              <a:off x="5811393" y="4964906"/>
              <a:ext cx="568102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收满 5 条边即停止，边权和 1 + 2 + 3 + 4 + 5 = </a:t>
              </a:r>
              <a:r>
                <a:rPr lang="zh-CN" sz="128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15</a:t>
              </a: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，与 Prim 的结果一致。</a:t>
              </a:r>
            </a:p>
          </p:txBody>
        </p:sp>
      </p:grpSp>
      <p:grpSp>
        <p:nvGrpSpPr>
          <p:cNvPr id="100" name="takeaway"/>
          <p:cNvGrpSpPr/>
          <p:nvPr/>
        </p:nvGrpSpPr>
        <p:grpSpPr>
          <a:xfrm>
            <a:off x="533400" y="5895022"/>
            <a:ext cx="11125200" cy="467678"/>
            <a:chOff x="533400" y="5895022"/>
            <a:chExt cx="11125200" cy="467678"/>
          </a:xfrm>
        </p:grpSpPr>
        <p:sp>
          <p:nvSpPr>
            <p:cNvPr id="94" name="Rectangle 94"/>
            <p:cNvSpPr/>
            <p:nvPr/>
          </p:nvSpPr>
          <p:spPr>
            <a:xfrm>
              <a:off x="533400" y="5895022"/>
              <a:ext cx="11125200" cy="467678"/>
            </a:xfrm>
            <a:prstGeom prst="roundRect">
              <a:avLst>
                <a:gd name="adj" fmla="val 24440"/>
              </a:avLst>
            </a:prstGeom>
            <a:solidFill>
              <a:srgbClr val="FDECEA"/>
            </a:solidFill>
            <a:ln>
              <a:noFill/>
            </a:ln>
          </p:spPr>
        </p:sp>
        <p:grpSp>
          <p:nvGrpSpPr>
            <p:cNvPr id="98" name="Group 98"/>
            <p:cNvGrpSpPr/>
            <p:nvPr/>
          </p:nvGrpSpPr>
          <p:grpSpPr>
            <a:xfrm>
              <a:off x="726129" y="6024681"/>
              <a:ext cx="224134" cy="192560"/>
              <a:chOff x="726129" y="6024681"/>
              <a:chExt cx="224134" cy="192560"/>
            </a:xfrm>
          </p:grpSpPr>
          <p:sp>
            <p:nvSpPr>
              <p:cNvPr id="95" name="Freeform 95"/>
              <p:cNvSpPr/>
              <p:nvPr/>
            </p:nvSpPr>
            <p:spPr>
              <a:xfrm>
                <a:off x="838200" y="6095048"/>
                <a:ext cx="95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44450">
                    <a:moveTo>
                      <a:pt x="0" y="0"/>
                    </a:moveTo>
                    <a:lnTo>
                      <a:pt x="0" y="4445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96" name="Freeform 96"/>
              <p:cNvSpPr/>
              <p:nvPr/>
            </p:nvSpPr>
            <p:spPr>
              <a:xfrm>
                <a:off x="726129" y="6024681"/>
                <a:ext cx="224134" cy="192560"/>
              </a:xfrm>
              <a:custGeom>
                <a:avLst/>
                <a:gdLst/>
                <a:ahLst/>
                <a:cxnLst/>
                <a:rect l="l" t="t" r="r" b="b"/>
                <a:pathLst>
                  <a:path w="224134" h="192560">
                    <a:moveTo>
                      <a:pt x="93880" y="10259"/>
                    </a:moveTo>
                    <a:lnTo>
                      <a:pt x="3802" y="160656"/>
                    </a:lnTo>
                    <a:cubicBezTo>
                      <a:pt x="23" y="167200"/>
                      <a:pt x="0" y="175257"/>
                      <a:pt x="3741" y="181823"/>
                    </a:cubicBezTo>
                    <a:cubicBezTo>
                      <a:pt x="7482" y="188388"/>
                      <a:pt x="14426" y="192476"/>
                      <a:pt x="21982" y="192560"/>
                    </a:cubicBezTo>
                    <a:lnTo>
                      <a:pt x="202160" y="192560"/>
                    </a:lnTo>
                    <a:cubicBezTo>
                      <a:pt x="209713" y="192473"/>
                      <a:pt x="216653" y="188387"/>
                      <a:pt x="220393" y="181826"/>
                    </a:cubicBezTo>
                    <a:cubicBezTo>
                      <a:pt x="224134" y="175264"/>
                      <a:pt x="224114" y="167211"/>
                      <a:pt x="220341" y="160667"/>
                    </a:cubicBezTo>
                    <a:lnTo>
                      <a:pt x="130262" y="10248"/>
                    </a:lnTo>
                    <a:cubicBezTo>
                      <a:pt x="126408" y="3886"/>
                      <a:pt x="119510" y="0"/>
                      <a:pt x="112071" y="0"/>
                    </a:cubicBezTo>
                    <a:cubicBezTo>
                      <a:pt x="104633" y="0"/>
                      <a:pt x="97734" y="3886"/>
                      <a:pt x="93880" y="10248"/>
                    </a:cubicBez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97" name="Freeform 97"/>
              <p:cNvSpPr/>
              <p:nvPr/>
            </p:nvSpPr>
            <p:spPr>
              <a:xfrm>
                <a:off x="838200" y="6172836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</p:grpSp>
        <p:sp>
          <p:nvSpPr>
            <p:cNvPr id="99" name="TextBox 99"/>
            <p:cNvSpPr txBox="1"/>
            <p:nvPr/>
          </p:nvSpPr>
          <p:spPr>
            <a:xfrm>
              <a:off x="1041273" y="6039326"/>
              <a:ext cx="939543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第 ⑥ 步 2—3 与 3—5 权值都是 5、也都不成环，换成 3—5 得到的仍是边权和 15 的最小支撑树。这张图的最小支撑树有两棵。</a:t>
              </a:r>
            </a:p>
          </p:txBody>
        </p:sp>
      </p:grpSp>
      <p:grpSp>
        <p:nvGrpSpPr>
          <p:cNvPr id="103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101" name="TextBox 101"/>
            <p:cNvSpPr txBox="1"/>
            <p:nvPr/>
          </p:nvSpPr>
          <p:spPr>
            <a:xfrm>
              <a:off x="528447" y="6581299"/>
              <a:ext cx="232523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数据结构 · 第16讲 最小支撑树及图应用</a:t>
              </a:r>
            </a:p>
          </p:txBody>
        </p:sp>
        <p:sp>
          <p:nvSpPr>
            <p:cNvPr id="102" name="TextBox 102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20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6891528" cy="909257"/>
            <a:chOff x="520446" y="342900"/>
            <a:chExt cx="6891528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3221355" cy="26670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69149" y="407194"/>
              <a:ext cx="31498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第16讲 最小支撑树 · Kruskal 算法：逐边加入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6891528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判环用并查集：查两端是否同根，收边就合并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F5FA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4" name="c1-card-1"/>
          <p:cNvGrpSpPr/>
          <p:nvPr/>
        </p:nvGrpSpPr>
        <p:grpSpPr>
          <a:xfrm>
            <a:off x="533400" y="1524000"/>
            <a:ext cx="5626418" cy="2185988"/>
            <a:chOff x="533400" y="1524000"/>
            <a:chExt cx="5626418" cy="2185988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626418" cy="2185988"/>
            </a:xfrm>
            <a:prstGeom prst="roundRect">
              <a:avLst>
                <a:gd name="adj" fmla="val 6100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542925" y="1657350"/>
              <a:ext cx="47625" cy="1919288"/>
            </a:xfrm>
            <a:prstGeom prst="roundRect">
              <a:avLst>
                <a:gd name="adj" fmla="val 50000"/>
              </a:avLst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775335" y="1727835"/>
              <a:ext cx="494348" cy="257175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65543" y="1763554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思路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768096" y="2100739"/>
              <a:ext cx="4411167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每个连通分量看作一个集合，顶点看作集合的元素。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768096" y="2420779"/>
              <a:ext cx="4892675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en-US" sz="1420" dirty="0">
                  <a:solidFill>
                    <a:srgbClr val="174A85"/>
                  </a:solidFill>
                  <a:latin typeface="+mn-lt"/>
                  <a:ea typeface="+mn-ea"/>
                  <a:cs typeface="+mn-cs"/>
                </a:rPr>
                <a:t>Find(x)</a:t>
              </a: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 查 x 所在集合的代表元；两端代表元不同，说明不在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同一分量，加这条边不会成环。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768096" y="3012281"/>
              <a:ext cx="4856607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en-US" sz="1420" dirty="0">
                  <a:solidFill>
                    <a:srgbClr val="174A85"/>
                  </a:solidFill>
                  <a:latin typeface="+mn-lt"/>
                  <a:ea typeface="+mn-ea"/>
                  <a:cs typeface="+mn-cs"/>
                </a:rPr>
                <a:t>Union(u, v)</a:t>
              </a: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 把两个集合合并，使二者此后属于同一个连通分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量。</a:t>
              </a:r>
            </a:p>
          </p:txBody>
        </p:sp>
      </p:grpSp>
      <p:grpSp>
        <p:nvGrpSpPr>
          <p:cNvPr id="18" name="c1-code-2"/>
          <p:cNvGrpSpPr/>
          <p:nvPr/>
        </p:nvGrpSpPr>
        <p:grpSpPr>
          <a:xfrm>
            <a:off x="533400" y="3895725"/>
            <a:ext cx="5626418" cy="1701165"/>
            <a:chOff x="533400" y="3895725"/>
            <a:chExt cx="5626418" cy="1701165"/>
          </a:xfrm>
        </p:grpSpPr>
        <p:sp>
          <p:nvSpPr>
            <p:cNvPr id="15" name="Rectangle 15"/>
            <p:cNvSpPr/>
            <p:nvPr/>
          </p:nvSpPr>
          <p:spPr>
            <a:xfrm>
              <a:off x="533400" y="3895725"/>
              <a:ext cx="5626418" cy="1701165"/>
            </a:xfrm>
            <a:prstGeom prst="roundRect">
              <a:avLst>
                <a:gd name="adj" fmla="val 5599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661797" y="4047649"/>
              <a:ext cx="132918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并查集（路径压缩版）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661949" y="4308062"/>
              <a:ext cx="3817823" cy="12078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342"/>
                </a:lnSpc>
              </a:pPr>
              <a:r>
                <a:rPr lang="en-US" sz="94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int</a:t>
              </a:r>
              <a:r>
                <a:rPr lang="en-US" sz="94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parent[N];</a:t>
              </a:r>
              <a:br/>
              <a:r>
                <a:rPr lang="en-US" sz="94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void</a:t>
              </a:r>
              <a:r>
                <a:rPr lang="en-US" sz="94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Make_set(</a:t>
              </a:r>
              <a:r>
                <a:rPr lang="en-US" sz="94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int</a:t>
              </a:r>
              <a:r>
                <a:rPr lang="en-US" sz="94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x){ parent[x] = x; }</a:t>
              </a:r>
              <a:br/>
              <a:r>
                <a:rPr lang="en-US" sz="94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int</a:t>
              </a:r>
              <a:r>
                <a:rPr lang="en-US" sz="94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Find(</a:t>
              </a:r>
              <a:r>
                <a:rPr lang="en-US" sz="94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int</a:t>
              </a:r>
              <a:r>
                <a:rPr lang="en-US" sz="94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x){</a:t>
              </a:r>
              <a:br/>
              <a:r>
                <a:rPr lang="zh-CN" sz="94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94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return</a:t>
              </a:r>
              <a:r>
                <a:rPr lang="en-US" sz="94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parent[x] == x ? x</a:t>
              </a:r>
              <a:br/>
              <a:r>
                <a:rPr lang="en-US" sz="94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                  : (parent[x] = Find(parent[x]));</a:t>
              </a:r>
              <a:br/>
              <a:r>
                <a:rPr lang="zh-CN" sz="94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}</a:t>
              </a:r>
              <a:br/>
              <a:r>
                <a:rPr lang="en-US" sz="94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void</a:t>
              </a:r>
              <a:r>
                <a:rPr lang="en-US" sz="94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Union(</a:t>
              </a:r>
              <a:r>
                <a:rPr lang="en-US" sz="94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int</a:t>
              </a:r>
              <a:r>
                <a:rPr lang="en-US" sz="94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x, </a:t>
              </a:r>
              <a:r>
                <a:rPr lang="en-US" sz="94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int</a:t>
              </a:r>
              <a:r>
                <a:rPr lang="en-US" sz="94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y){ parent[Find(x)] = Find(y); }</a:t>
              </a:r>
            </a:p>
          </p:txBody>
        </p:sp>
      </p:grpSp>
      <p:grpSp>
        <p:nvGrpSpPr>
          <p:cNvPr id="36" name="c2-graph-1"/>
          <p:cNvGrpSpPr/>
          <p:nvPr/>
        </p:nvGrpSpPr>
        <p:grpSpPr>
          <a:xfrm>
            <a:off x="7012305" y="1732598"/>
            <a:ext cx="4307205" cy="1766316"/>
            <a:chOff x="7012305" y="1732598"/>
            <a:chExt cx="4307205" cy="1766316"/>
          </a:xfrm>
        </p:grpSpPr>
        <p:sp>
          <p:nvSpPr>
            <p:cNvPr id="19" name="Freeform 19"/>
            <p:cNvSpPr/>
            <p:nvPr/>
          </p:nvSpPr>
          <p:spPr>
            <a:xfrm>
              <a:off x="7172325" y="1823085"/>
              <a:ext cx="765810" cy="133350"/>
            </a:xfrm>
            <a:custGeom>
              <a:avLst/>
              <a:gdLst/>
              <a:ahLst/>
              <a:cxnLst/>
              <a:rect l="l" t="t" r="r" b="b"/>
              <a:pathLst>
                <a:path w="765810" h="133350">
                  <a:moveTo>
                    <a:pt x="0" y="133350"/>
                  </a:moveTo>
                  <a:lnTo>
                    <a:pt x="765810" y="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20" name="Freeform 20"/>
            <p:cNvSpPr/>
            <p:nvPr/>
          </p:nvSpPr>
          <p:spPr>
            <a:xfrm>
              <a:off x="7852410" y="1892618"/>
              <a:ext cx="152400" cy="714375"/>
            </a:xfrm>
            <a:custGeom>
              <a:avLst/>
              <a:gdLst/>
              <a:ahLst/>
              <a:cxnLst/>
              <a:rect l="l" t="t" r="r" b="b"/>
              <a:pathLst>
                <a:path w="152400" h="714375">
                  <a:moveTo>
                    <a:pt x="152400" y="0"/>
                  </a:moveTo>
                  <a:lnTo>
                    <a:pt x="0" y="714375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21" name="Freeform 21"/>
            <p:cNvSpPr/>
            <p:nvPr/>
          </p:nvSpPr>
          <p:spPr>
            <a:xfrm>
              <a:off x="10581322" y="1985962"/>
              <a:ext cx="596265" cy="499110"/>
            </a:xfrm>
            <a:custGeom>
              <a:avLst/>
              <a:gdLst/>
              <a:ahLst/>
              <a:cxnLst/>
              <a:rect l="l" t="t" r="r" b="b"/>
              <a:pathLst>
                <a:path w="596265" h="499110">
                  <a:moveTo>
                    <a:pt x="0" y="0"/>
                  </a:moveTo>
                  <a:lnTo>
                    <a:pt x="596265" y="49911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22" name="Freeform 22"/>
            <p:cNvSpPr/>
            <p:nvPr/>
          </p:nvSpPr>
          <p:spPr>
            <a:xfrm>
              <a:off x="10374630" y="2568892"/>
              <a:ext cx="787718" cy="277178"/>
            </a:xfrm>
            <a:custGeom>
              <a:avLst/>
              <a:gdLst/>
              <a:ahLst/>
              <a:cxnLst/>
              <a:rect l="l" t="t" r="r" b="b"/>
              <a:pathLst>
                <a:path w="787718" h="277178">
                  <a:moveTo>
                    <a:pt x="787718" y="0"/>
                  </a:moveTo>
                  <a:lnTo>
                    <a:pt x="0" y="277178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23" name="Freeform 23"/>
            <p:cNvSpPr/>
            <p:nvPr/>
          </p:nvSpPr>
          <p:spPr>
            <a:xfrm>
              <a:off x="7996238" y="2793682"/>
              <a:ext cx="2026920" cy="102870"/>
            </a:xfrm>
            <a:custGeom>
              <a:avLst/>
              <a:gdLst/>
              <a:ahLst/>
              <a:cxnLst/>
              <a:rect l="l" t="t" r="r" b="b"/>
              <a:pathLst>
                <a:path w="2026920" h="102870">
                  <a:moveTo>
                    <a:pt x="0" y="0"/>
                  </a:moveTo>
                  <a:lnTo>
                    <a:pt x="2026920" y="102870"/>
                  </a:lnTo>
                </a:path>
              </a:pathLst>
            </a:custGeom>
            <a:noFill/>
            <a:ln w="17145">
              <a:solidFill>
                <a:srgbClr val="14A38B"/>
              </a:solidFill>
            </a:ln>
          </p:spPr>
        </p:sp>
        <p:sp>
          <p:nvSpPr>
            <p:cNvPr id="24" name="Ellipse 24"/>
            <p:cNvSpPr/>
            <p:nvPr/>
          </p:nvSpPr>
          <p:spPr>
            <a:xfrm>
              <a:off x="7012305" y="1894522"/>
              <a:ext cx="152400" cy="15240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25" name="Ellipse 25"/>
            <p:cNvSpPr/>
            <p:nvPr/>
          </p:nvSpPr>
          <p:spPr>
            <a:xfrm>
              <a:off x="7946708" y="1732598"/>
              <a:ext cx="152400" cy="15240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26" name="Ellipse 26"/>
            <p:cNvSpPr/>
            <p:nvPr/>
          </p:nvSpPr>
          <p:spPr>
            <a:xfrm>
              <a:off x="7643812" y="2612708"/>
              <a:ext cx="342900" cy="342900"/>
            </a:xfrm>
            <a:prstGeom prst="ellipse">
              <a:avLst/>
            </a:prstGeom>
            <a:solidFill>
              <a:srgbClr val="FDEEE7"/>
            </a:solidFill>
            <a:ln w="17145">
              <a:solidFill>
                <a:srgbClr val="F26B3A"/>
              </a:solidFill>
            </a:ln>
          </p:spPr>
        </p:sp>
        <p:sp>
          <p:nvSpPr>
            <p:cNvPr id="27" name="Ellipse 27"/>
            <p:cNvSpPr/>
            <p:nvPr/>
          </p:nvSpPr>
          <p:spPr>
            <a:xfrm>
              <a:off x="10439400" y="1854518"/>
              <a:ext cx="152400" cy="15240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28" name="Ellipse 28"/>
            <p:cNvSpPr/>
            <p:nvPr/>
          </p:nvSpPr>
          <p:spPr>
            <a:xfrm>
              <a:off x="11167110" y="2464118"/>
              <a:ext cx="152400" cy="15240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29" name="Ellipse 29"/>
            <p:cNvSpPr/>
            <p:nvPr/>
          </p:nvSpPr>
          <p:spPr>
            <a:xfrm>
              <a:off x="10032682" y="2734628"/>
              <a:ext cx="342900" cy="342900"/>
            </a:xfrm>
            <a:prstGeom prst="ellipse">
              <a:avLst/>
            </a:prstGeom>
            <a:solidFill>
              <a:srgbClr val="FDEEE7"/>
            </a:solidFill>
            <a:ln w="17145">
              <a:solidFill>
                <a:srgbClr val="F26B3A"/>
              </a:solidFill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7769113" y="2718435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u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10157983" y="2841308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v</a:t>
              </a:r>
            </a:p>
          </p:txBody>
        </p:sp>
        <p:sp>
          <p:nvSpPr>
            <p:cNvPr id="32" name="Rectangle 32"/>
            <p:cNvSpPr/>
            <p:nvPr/>
          </p:nvSpPr>
          <p:spPr>
            <a:xfrm>
              <a:off x="8711565" y="2767012"/>
              <a:ext cx="597218" cy="146685"/>
            </a:xfrm>
            <a:prstGeom prst="roundRect">
              <a:avLst>
                <a:gd name="adj" fmla="val 25974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8728964" y="2796064"/>
              <a:ext cx="561467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加入后合并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7255383" y="3264218"/>
              <a:ext cx="49682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分量甲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10371010" y="3264218"/>
              <a:ext cx="49682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分量乙</a:t>
              </a:r>
            </a:p>
          </p:txBody>
        </p:sp>
      </p:grpSp>
      <p:grpSp>
        <p:nvGrpSpPr>
          <p:cNvPr id="41" name="c2-card-2"/>
          <p:cNvGrpSpPr/>
          <p:nvPr/>
        </p:nvGrpSpPr>
        <p:grpSpPr>
          <a:xfrm>
            <a:off x="6464618" y="3742372"/>
            <a:ext cx="5193982" cy="1854518"/>
            <a:chOff x="6464618" y="3742372"/>
            <a:chExt cx="5193982" cy="1854518"/>
          </a:xfrm>
        </p:grpSpPr>
        <p:sp>
          <p:nvSpPr>
            <p:cNvPr id="37" name="Rectangle 37"/>
            <p:cNvSpPr/>
            <p:nvPr/>
          </p:nvSpPr>
          <p:spPr>
            <a:xfrm>
              <a:off x="6464618" y="3742372"/>
              <a:ext cx="5193982" cy="1854518"/>
            </a:xfrm>
            <a:prstGeom prst="roundRect">
              <a:avLst>
                <a:gd name="adj" fmla="val 7191"/>
              </a:avLst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38" name="Rectangle 38"/>
            <p:cNvSpPr/>
            <p:nvPr/>
          </p:nvSpPr>
          <p:spPr>
            <a:xfrm>
              <a:off x="6668452" y="3946208"/>
              <a:ext cx="494348" cy="257175"/>
            </a:xfrm>
            <a:prstGeom prst="roundRect">
              <a:avLst>
                <a:gd name="adj" fmla="val 50000"/>
              </a:avLst>
            </a:prstGeom>
            <a:solidFill>
              <a:srgbClr val="174A85"/>
            </a:solidFill>
            <a:ln>
              <a:noFill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6759613" y="3981926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代价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6661214" y="4319111"/>
              <a:ext cx="4568063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路径压缩后单次 Find 近似 O(1)，整轮判环的总代价被排</a:t>
              </a:r>
              <a:br/>
              <a:r>
                <a:rPr lang="zh-CN" sz="14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序的 O(e log e) 盖住，不影响算法的复杂度。</a:t>
              </a:r>
            </a:p>
          </p:txBody>
        </p:sp>
      </p:grpSp>
      <p:grpSp>
        <p:nvGrpSpPr>
          <p:cNvPr id="48" name="takeaway"/>
          <p:cNvGrpSpPr/>
          <p:nvPr/>
        </p:nvGrpSpPr>
        <p:grpSpPr>
          <a:xfrm>
            <a:off x="533400" y="5844540"/>
            <a:ext cx="11125200" cy="518160"/>
            <a:chOff x="533400" y="5844540"/>
            <a:chExt cx="11125200" cy="518160"/>
          </a:xfrm>
        </p:grpSpPr>
        <p:sp>
          <p:nvSpPr>
            <p:cNvPr id="42" name="Rectangle 42"/>
            <p:cNvSpPr/>
            <p:nvPr/>
          </p:nvSpPr>
          <p:spPr>
            <a:xfrm>
              <a:off x="533400" y="5844540"/>
              <a:ext cx="11125200" cy="518160"/>
            </a:xfrm>
            <a:prstGeom prst="roundRect">
              <a:avLst>
                <a:gd name="adj" fmla="val 22059"/>
              </a:avLst>
            </a:prstGeom>
            <a:solidFill>
              <a:srgbClr val="F4F6FB"/>
            </a:solidFill>
            <a:ln>
              <a:noFill/>
            </a:ln>
          </p:spPr>
        </p:sp>
        <p:grpSp>
          <p:nvGrpSpPr>
            <p:cNvPr id="46" name="Group 46"/>
            <p:cNvGrpSpPr/>
            <p:nvPr/>
          </p:nvGrpSpPr>
          <p:grpSpPr>
            <a:xfrm>
              <a:off x="738188" y="6003608"/>
              <a:ext cx="200026" cy="200026"/>
              <a:chOff x="738188" y="6003608"/>
              <a:chExt cx="200026" cy="200026"/>
            </a:xfrm>
          </p:grpSpPr>
          <p:sp>
            <p:nvSpPr>
              <p:cNvPr id="43" name="Freeform 43"/>
              <p:cNvSpPr/>
              <p:nvPr/>
            </p:nvSpPr>
            <p:spPr>
              <a:xfrm>
                <a:off x="738188" y="6003608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44" name="Freeform 44"/>
              <p:cNvSpPr/>
              <p:nvPr/>
            </p:nvSpPr>
            <p:spPr>
              <a:xfrm>
                <a:off x="838200" y="6070283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45" name="Freeform 45"/>
              <p:cNvSpPr/>
              <p:nvPr/>
            </p:nvSpPr>
            <p:spPr>
              <a:xfrm>
                <a:off x="827088" y="6103620"/>
                <a:ext cx="222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22225" h="44450">
                    <a:moveTo>
                      <a:pt x="0" y="0"/>
                    </a:moveTo>
                    <a:lnTo>
                      <a:pt x="11113" y="0"/>
                    </a:lnTo>
                    <a:lnTo>
                      <a:pt x="11113" y="44450"/>
                    </a:lnTo>
                    <a:lnTo>
                      <a:pt x="22225" y="4445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</p:grpSp>
        <p:sp>
          <p:nvSpPr>
            <p:cNvPr id="47" name="TextBox 47"/>
            <p:cNvSpPr txBox="1"/>
            <p:nvPr/>
          </p:nvSpPr>
          <p:spPr>
            <a:xfrm>
              <a:off x="1040511" y="6004084"/>
              <a:ext cx="9172098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判环不能用“数一数 T 里的边数”或“跑一次 DFS”，那样每条边都要 O(n+e)，总代价会退化到 O(e(n+e))。</a:t>
              </a:r>
            </a:p>
          </p:txBody>
        </p:sp>
      </p:grpSp>
      <p:grpSp>
        <p:nvGrpSpPr>
          <p:cNvPr id="51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49" name="TextBox 49"/>
            <p:cNvSpPr txBox="1"/>
            <p:nvPr/>
          </p:nvSpPr>
          <p:spPr>
            <a:xfrm>
              <a:off x="528447" y="6581299"/>
              <a:ext cx="232523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数据结构 · 第16讲 最小支撑树及图应用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21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7172662" cy="909257"/>
            <a:chOff x="520446" y="342900"/>
            <a:chExt cx="7172662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3221355" cy="26670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69149" y="407194"/>
              <a:ext cx="31498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第16讲 最小支撑树 · Kruskal 算法：逐边加入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7172662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Kruskal 的 C 实现：边集数组 + 排序 + 并查集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F5FA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0" name="c1-code-1"/>
          <p:cNvGrpSpPr/>
          <p:nvPr/>
        </p:nvGrpSpPr>
        <p:grpSpPr>
          <a:xfrm>
            <a:off x="533400" y="1524000"/>
            <a:ext cx="6708458" cy="4097655"/>
            <a:chOff x="533400" y="1524000"/>
            <a:chExt cx="6708458" cy="4097655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6708458" cy="4097655"/>
            </a:xfrm>
            <a:prstGeom prst="roundRect">
              <a:avLst>
                <a:gd name="adj" fmla="val 2325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661797" y="1675924"/>
              <a:ext cx="81837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Kruskal 算法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661988" y="1935004"/>
              <a:ext cx="3732530" cy="36014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178"/>
                </a:lnSpc>
              </a:pPr>
              <a:r>
                <a:rPr lang="en-US" sz="82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struct</a:t>
              </a:r>
              <a:r>
                <a:rPr lang="en-US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Edge{ </a:t>
              </a:r>
              <a:r>
                <a:rPr lang="en-US" sz="82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int</a:t>
              </a:r>
              <a:r>
                <a:rPr lang="en-US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head, tail, weight; };</a:t>
              </a:r>
              <a:br/>
              <a:r>
                <a:rPr lang="en-US" sz="82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struct</a:t>
              </a:r>
              <a:r>
                <a:rPr lang="en-US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Edge E[1010];</a:t>
              </a:r>
              <a:br/>
              <a:r>
                <a:rPr lang="zh-CN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br/>
              <a:r>
                <a:rPr lang="en-US" sz="82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int</a:t>
              </a:r>
              <a:r>
                <a:rPr lang="en-US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Kruskal(</a:t>
              </a:r>
              <a:r>
                <a:rPr lang="en-US" sz="82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struct</a:t>
              </a:r>
              <a:r>
                <a:rPr lang="en-US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Edge E[], </a:t>
              </a:r>
              <a:r>
                <a:rPr lang="en-US" sz="82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int</a:t>
              </a:r>
              <a:r>
                <a:rPr lang="en-US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n, </a:t>
              </a:r>
              <a:r>
                <a:rPr lang="en-US" sz="82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int</a:t>
              </a:r>
              <a:r>
                <a:rPr lang="en-US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e){</a:t>
              </a:r>
              <a:br/>
              <a:r>
                <a:rPr lang="zh-CN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82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for</a:t>
              </a:r>
              <a:r>
                <a:rPr lang="zh-CN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(</a:t>
              </a:r>
              <a:r>
                <a:rPr lang="en-US" sz="82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int</a:t>
              </a:r>
              <a:r>
                <a:rPr lang="en-US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i = 1; i &lt;= n; i++) Make_set(i);</a:t>
              </a:r>
              <a:br/>
              <a:r>
                <a:rPr lang="en-US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Sort(E, e);            </a:t>
              </a:r>
              <a:r>
                <a:rPr lang="zh-CN" sz="82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/* 按权值递增排序, O(e log e) */</a:t>
              </a:r>
              <a:br/>
              <a:r>
                <a:rPr lang="zh-CN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82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int</a:t>
              </a:r>
              <a:r>
                <a:rPr lang="en-US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ans = 0, k = 0;    </a:t>
              </a:r>
              <a:r>
                <a:rPr lang="zh-CN" sz="82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/* k 为已找到的 MST 边数 */</a:t>
              </a:r>
              <a:br/>
              <a:r>
                <a:rPr lang="zh-CN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82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for</a:t>
              </a:r>
              <a:r>
                <a:rPr lang="zh-CN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(</a:t>
              </a:r>
              <a:r>
                <a:rPr lang="en-US" sz="82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int</a:t>
              </a:r>
              <a:r>
                <a:rPr lang="en-US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i = 0; i &lt; e; i++){</a:t>
              </a:r>
              <a:br/>
              <a:r>
                <a:rPr lang="zh-CN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</a:t>
              </a:r>
              <a:r>
                <a:rPr lang="en-US" sz="82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int</a:t>
              </a:r>
              <a:r>
                <a:rPr lang="en-US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u = E[i].head, v = E[i].tail, w = E[i].weight;</a:t>
              </a:r>
              <a:br/>
              <a:r>
                <a:rPr lang="zh-CN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</a:t>
              </a:r>
              <a:r>
                <a:rPr lang="en-US" sz="82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if</a:t>
              </a:r>
              <a:r>
                <a:rPr lang="en-US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(Find(u) != Find(v)){        </a:t>
              </a:r>
              <a:r>
                <a:rPr lang="zh-CN" sz="82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/* 不成环, 是 MST 的边 */</a:t>
              </a:r>
              <a:br/>
              <a:r>
                <a:rPr lang="en-US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    printf(</a:t>
              </a:r>
              <a:r>
                <a:rPr lang="en-US" sz="820" dirty="0">
                  <a:solidFill>
                    <a:srgbClr val="C2410C"/>
                  </a:solidFill>
                  <a:latin typeface="Consolas"/>
                  <a:ea typeface="Consolas"/>
                  <a:cs typeface="Consolas"/>
                </a:rPr>
                <a:t>"%d-%d "</a:t>
              </a:r>
              <a:r>
                <a:rPr lang="en-US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, u, v); k++; ans += w;</a:t>
              </a:r>
              <a:br/>
              <a:r>
                <a:rPr lang="en-US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    Union(u, v);</a:t>
              </a:r>
              <a:br/>
              <a:r>
                <a:rPr lang="zh-CN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}</a:t>
              </a:r>
              <a:br/>
              <a:r>
                <a:rPr lang="zh-CN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</a:t>
              </a:r>
              <a:r>
                <a:rPr lang="en-US" sz="82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if</a:t>
              </a:r>
              <a:r>
                <a:rPr lang="en-US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(k == n-1) </a:t>
              </a:r>
              <a:r>
                <a:rPr lang="en-US" sz="82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return</a:t>
              </a:r>
              <a:r>
                <a:rPr lang="en-US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ans;       </a:t>
              </a:r>
              <a:r>
                <a:rPr lang="zh-CN" sz="82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/* 已凑齐 n-1 条边 */</a:t>
              </a:r>
              <a:br/>
              <a:r>
                <a:rPr lang="zh-CN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}</a:t>
              </a:r>
              <a:br/>
              <a:r>
                <a:rPr lang="zh-CN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82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return</a:t>
              </a:r>
              <a:r>
                <a:rPr lang="en-US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INF;            </a:t>
              </a:r>
              <a:r>
                <a:rPr lang="zh-CN" sz="82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/* 扫完所有边仍不连通 */</a:t>
              </a:r>
              <a:br/>
              <a:r>
                <a:rPr lang="zh-CN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}</a:t>
              </a:r>
              <a:br/>
              <a:r>
                <a:rPr lang="zh-CN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br/>
              <a:r>
                <a:rPr lang="en-US" sz="82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static</a:t>
              </a:r>
              <a:r>
                <a:rPr lang="zh-CN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82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int</a:t>
              </a:r>
              <a:r>
                <a:rPr lang="en-US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cmp(</a:t>
              </a:r>
              <a:r>
                <a:rPr lang="en-US" sz="82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const</a:t>
              </a:r>
              <a:r>
                <a:rPr lang="zh-CN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82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void</a:t>
              </a:r>
              <a:r>
                <a:rPr lang="en-US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*a, </a:t>
              </a:r>
              <a:r>
                <a:rPr lang="en-US" sz="82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const</a:t>
              </a:r>
              <a:r>
                <a:rPr lang="zh-CN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82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void</a:t>
              </a:r>
              <a:r>
                <a:rPr lang="en-US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*b){   </a:t>
              </a:r>
              <a:r>
                <a:rPr lang="zh-CN" sz="82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/* 按权值递增 */</a:t>
              </a:r>
              <a:br/>
              <a:r>
                <a:rPr lang="zh-CN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82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return</a:t>
              </a:r>
              <a:r>
                <a:rPr lang="zh-CN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((</a:t>
              </a:r>
              <a:r>
                <a:rPr lang="en-US" sz="82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struct</a:t>
              </a:r>
              <a:r>
                <a:rPr lang="en-US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Edge*)a)-&gt;weight - ((</a:t>
              </a:r>
              <a:r>
                <a:rPr lang="en-US" sz="82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struct</a:t>
              </a:r>
              <a:r>
                <a:rPr lang="en-US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Edge*)b)-&gt;weight;</a:t>
              </a:r>
              <a:br/>
              <a:r>
                <a:rPr lang="zh-CN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}</a:t>
              </a:r>
              <a:br/>
              <a:r>
                <a:rPr lang="en-US" sz="82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void</a:t>
              </a:r>
              <a:r>
                <a:rPr lang="en-US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Sort(</a:t>
              </a:r>
              <a:r>
                <a:rPr lang="en-US" sz="82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struct</a:t>
              </a:r>
              <a:r>
                <a:rPr lang="en-US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Edge E[], </a:t>
              </a:r>
              <a:r>
                <a:rPr lang="en-US" sz="82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int</a:t>
              </a:r>
              <a:r>
                <a:rPr lang="en-US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e){</a:t>
              </a:r>
              <a:br/>
              <a:r>
                <a:rPr lang="en-US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qsort(E, e, </a:t>
              </a:r>
              <a:r>
                <a:rPr lang="en-US" sz="82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sizeof</a:t>
              </a:r>
              <a:r>
                <a:rPr lang="zh-CN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(</a:t>
              </a:r>
              <a:r>
                <a:rPr lang="en-US" sz="82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struct</a:t>
              </a:r>
              <a:r>
                <a:rPr lang="en-US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Edge), cmp);</a:t>
              </a:r>
              <a:br/>
              <a:r>
                <a:rPr lang="zh-CN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}</a:t>
              </a:r>
            </a:p>
          </p:txBody>
        </p:sp>
      </p:grpSp>
      <p:grpSp>
        <p:nvGrpSpPr>
          <p:cNvPr id="18" name="c2-card-1"/>
          <p:cNvGrpSpPr/>
          <p:nvPr/>
        </p:nvGrpSpPr>
        <p:grpSpPr>
          <a:xfrm>
            <a:off x="7546658" y="1524000"/>
            <a:ext cx="4111942" cy="1687830"/>
            <a:chOff x="7546658" y="1524000"/>
            <a:chExt cx="4111942" cy="1687830"/>
          </a:xfrm>
        </p:grpSpPr>
        <p:sp>
          <p:nvSpPr>
            <p:cNvPr id="11" name="Rectangle 11"/>
            <p:cNvSpPr/>
            <p:nvPr/>
          </p:nvSpPr>
          <p:spPr>
            <a:xfrm>
              <a:off x="7546658" y="1524000"/>
              <a:ext cx="4111942" cy="1687830"/>
            </a:xfrm>
            <a:prstGeom prst="roundRect">
              <a:avLst>
                <a:gd name="adj" fmla="val 7901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12" name="Rectangle 12"/>
            <p:cNvSpPr/>
            <p:nvPr/>
          </p:nvSpPr>
          <p:spPr>
            <a:xfrm>
              <a:off x="7556182" y="1657350"/>
              <a:ext cx="47625" cy="1421130"/>
            </a:xfrm>
            <a:prstGeom prst="roundRect">
              <a:avLst>
                <a:gd name="adj" fmla="val 50000"/>
              </a:avLst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3" name="Rectangle 13"/>
            <p:cNvSpPr/>
            <p:nvPr/>
          </p:nvSpPr>
          <p:spPr>
            <a:xfrm>
              <a:off x="7765732" y="1704975"/>
              <a:ext cx="707708" cy="238125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7851254" y="1737836"/>
              <a:ext cx="53761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存图方式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8581263" y="1744504"/>
              <a:ext cx="139146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只存边，不存矩阵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7759256" y="2061686"/>
              <a:ext cx="3499866" cy="7351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Kruskal 全程只按权值遍历边，不需要查“某两点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之间有没有边”，所以用 </a:t>
              </a:r>
              <a:r>
                <a:rPr lang="zh-CN" sz="128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边集数组</a:t>
              </a: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 就够，空间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O(e)。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7759256" y="2832259"/>
              <a:ext cx="294228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每个元素记一条边的两个端点和权值。</a:t>
              </a:r>
            </a:p>
          </p:txBody>
        </p:sp>
      </p:grpSp>
      <p:grpSp>
        <p:nvGrpSpPr>
          <p:cNvPr id="25" name="c2-card-2"/>
          <p:cNvGrpSpPr/>
          <p:nvPr/>
        </p:nvGrpSpPr>
        <p:grpSpPr>
          <a:xfrm>
            <a:off x="7546658" y="3376612"/>
            <a:ext cx="4111942" cy="2244090"/>
            <a:chOff x="7546658" y="3376612"/>
            <a:chExt cx="4111942" cy="2244090"/>
          </a:xfrm>
        </p:grpSpPr>
        <p:sp>
          <p:nvSpPr>
            <p:cNvPr id="19" name="Rectangle 19"/>
            <p:cNvSpPr/>
            <p:nvPr/>
          </p:nvSpPr>
          <p:spPr>
            <a:xfrm>
              <a:off x="7546658" y="3376612"/>
              <a:ext cx="4111942" cy="2244090"/>
            </a:xfrm>
            <a:prstGeom prst="roundRect">
              <a:avLst>
                <a:gd name="adj" fmla="val 5942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20" name="Rectangle 20"/>
            <p:cNvSpPr/>
            <p:nvPr/>
          </p:nvSpPr>
          <p:spPr>
            <a:xfrm>
              <a:off x="7556182" y="3509962"/>
              <a:ext cx="47625" cy="1977390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21" name="Rectangle 21"/>
            <p:cNvSpPr/>
            <p:nvPr/>
          </p:nvSpPr>
          <p:spPr>
            <a:xfrm>
              <a:off x="7765732" y="3557588"/>
              <a:ext cx="458152" cy="238125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7858404" y="3590449"/>
              <a:ext cx="27376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更正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7759256" y="3898106"/>
              <a:ext cx="3532378" cy="97802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源课件第 50、51 页写 </a:t>
              </a:r>
              <a:r>
                <a:rPr lang="en-US" sz="1280" dirty="0">
                  <a:solidFill>
                    <a:srgbClr val="174A85"/>
                  </a:solidFill>
                  <a:latin typeface="+mn-lt"/>
                  <a:ea typeface="+mn-ea"/>
                  <a:cs typeface="+mn-cs"/>
                </a:rPr>
                <a:t>Edge E[1010]</a:t>
              </a: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 和</a:t>
              </a:r>
              <a:br/>
              <a:r>
                <a:rPr lang="en-US" sz="1280" dirty="0">
                  <a:solidFill>
                    <a:srgbClr val="174A85"/>
                  </a:solidFill>
                  <a:latin typeface="+mn-lt"/>
                  <a:ea typeface="+mn-ea"/>
                  <a:cs typeface="+mn-cs"/>
                </a:rPr>
                <a:t>Kruskal(Edge E[], …)</a:t>
              </a: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，那是 C++ 写法。按 C 语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法要写成 </a:t>
              </a:r>
              <a:r>
                <a:rPr lang="en-US" sz="1280" dirty="0">
                  <a:solidFill>
                    <a:srgbClr val="174A85"/>
                  </a:solidFill>
                  <a:latin typeface="+mn-lt"/>
                  <a:ea typeface="+mn-ea"/>
                  <a:cs typeface="+mn-cs"/>
                </a:rPr>
                <a:t>struct Edge</a:t>
              </a: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，或先 </a:t>
              </a:r>
              <a:r>
                <a:rPr lang="en-US" sz="1280" dirty="0">
                  <a:solidFill>
                    <a:srgbClr val="174A85"/>
                  </a:solidFill>
                  <a:latin typeface="+mn-lt"/>
                  <a:ea typeface="+mn-ea"/>
                  <a:cs typeface="+mn-cs"/>
                </a:rPr>
                <a:t>typedef</a:t>
              </a:r>
              <a:br/>
              <a:r>
                <a:rPr lang="en-US" sz="1280" dirty="0">
                  <a:solidFill>
                    <a:srgbClr val="174A85"/>
                  </a:solidFill>
                  <a:latin typeface="+mn-lt"/>
                  <a:ea typeface="+mn-ea"/>
                  <a:cs typeface="+mn-cs"/>
                </a:rPr>
                <a:t>struct{…} Edge;</a:t>
              </a: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。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7759256" y="4911566"/>
              <a:ext cx="334722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同样地，第 51 页 printf 的引号也是全角。</a:t>
              </a:r>
            </a:p>
          </p:txBody>
        </p:sp>
      </p:grpSp>
      <p:grpSp>
        <p:nvGrpSpPr>
          <p:cNvPr id="31" name="takeaway"/>
          <p:cNvGrpSpPr/>
          <p:nvPr/>
        </p:nvGrpSpPr>
        <p:grpSpPr>
          <a:xfrm>
            <a:off x="533400" y="5895022"/>
            <a:ext cx="11125200" cy="467678"/>
            <a:chOff x="533400" y="5895022"/>
            <a:chExt cx="11125200" cy="467678"/>
          </a:xfrm>
        </p:grpSpPr>
        <p:sp>
          <p:nvSpPr>
            <p:cNvPr id="26" name="Rectangle 26"/>
            <p:cNvSpPr/>
            <p:nvPr/>
          </p:nvSpPr>
          <p:spPr>
            <a:xfrm>
              <a:off x="533400" y="5895022"/>
              <a:ext cx="11125200" cy="467678"/>
            </a:xfrm>
            <a:prstGeom prst="roundRect">
              <a:avLst>
                <a:gd name="adj" fmla="val 24440"/>
              </a:avLst>
            </a:prstGeom>
            <a:solidFill>
              <a:srgbClr val="1F5FA8"/>
            </a:solidFill>
            <a:ln>
              <a:noFill/>
            </a:ln>
          </p:spPr>
        </p:sp>
        <p:grpSp>
          <p:nvGrpSpPr>
            <p:cNvPr id="29" name="Group 29"/>
            <p:cNvGrpSpPr/>
            <p:nvPr/>
          </p:nvGrpSpPr>
          <p:grpSpPr>
            <a:xfrm>
              <a:off x="738188" y="6028375"/>
              <a:ext cx="200023" cy="200023"/>
              <a:chOff x="738188" y="6028375"/>
              <a:chExt cx="200023" cy="200023"/>
            </a:xfrm>
          </p:grpSpPr>
          <p:sp>
            <p:nvSpPr>
              <p:cNvPr id="27" name="Freeform 27"/>
              <p:cNvSpPr/>
              <p:nvPr/>
            </p:nvSpPr>
            <p:spPr>
              <a:xfrm>
                <a:off x="738188" y="6028375"/>
                <a:ext cx="200023" cy="200023"/>
              </a:xfrm>
              <a:custGeom>
                <a:avLst/>
                <a:gdLst/>
                <a:ahLst/>
                <a:cxnLst/>
                <a:rect l="l" t="t" r="r" b="b"/>
                <a:pathLst>
                  <a:path w="200023" h="200023">
                    <a:moveTo>
                      <a:pt x="150630" y="9366"/>
                    </a:moveTo>
                    <a:lnTo>
                      <a:pt x="190658" y="49393"/>
                    </a:lnTo>
                    <a:cubicBezTo>
                      <a:pt x="196654" y="55389"/>
                      <a:pt x="200023" y="63522"/>
                      <a:pt x="200023" y="72002"/>
                    </a:cubicBezTo>
                    <a:cubicBezTo>
                      <a:pt x="200023" y="80482"/>
                      <a:pt x="196654" y="88614"/>
                      <a:pt x="190658" y="94610"/>
                    </a:cubicBezTo>
                    <a:lnTo>
                      <a:pt x="161287" y="123980"/>
                    </a:lnTo>
                    <a:cubicBezTo>
                      <a:pt x="155291" y="129977"/>
                      <a:pt x="147159" y="133346"/>
                      <a:pt x="138679" y="133346"/>
                    </a:cubicBezTo>
                    <a:cubicBezTo>
                      <a:pt x="130199" y="133346"/>
                      <a:pt x="122066" y="129977"/>
                      <a:pt x="116070" y="123980"/>
                    </a:cubicBezTo>
                    <a:lnTo>
                      <a:pt x="112726" y="120636"/>
                    </a:lnTo>
                    <a:lnTo>
                      <a:pt x="39850" y="193511"/>
                    </a:lnTo>
                    <a:cubicBezTo>
                      <a:pt x="36157" y="197203"/>
                      <a:pt x="31283" y="199477"/>
                      <a:pt x="26081" y="199935"/>
                    </a:cubicBezTo>
                    <a:lnTo>
                      <a:pt x="24136" y="200023"/>
                    </a:lnTo>
                    <a:lnTo>
                      <a:pt x="11113" y="200023"/>
                    </a:lnTo>
                    <a:cubicBezTo>
                      <a:pt x="5479" y="200023"/>
                      <a:pt x="737" y="195806"/>
                      <a:pt x="78" y="190211"/>
                    </a:cubicBezTo>
                    <a:lnTo>
                      <a:pt x="0" y="188911"/>
                    </a:lnTo>
                    <a:lnTo>
                      <a:pt x="0" y="175887"/>
                    </a:lnTo>
                    <a:cubicBezTo>
                      <a:pt x="1" y="170669"/>
                      <a:pt x="1838" y="165618"/>
                      <a:pt x="5190" y="161619"/>
                    </a:cubicBezTo>
                    <a:lnTo>
                      <a:pt x="6512" y="160174"/>
                    </a:lnTo>
                    <a:lnTo>
                      <a:pt x="11113" y="155573"/>
                    </a:lnTo>
                    <a:lnTo>
                      <a:pt x="33338" y="155573"/>
                    </a:lnTo>
                    <a:lnTo>
                      <a:pt x="33338" y="133348"/>
                    </a:lnTo>
                    <a:lnTo>
                      <a:pt x="55563" y="133348"/>
                    </a:lnTo>
                    <a:lnTo>
                      <a:pt x="55563" y="111123"/>
                    </a:lnTo>
                    <a:lnTo>
                      <a:pt x="79388" y="87298"/>
                    </a:lnTo>
                    <a:lnTo>
                      <a:pt x="76043" y="83953"/>
                    </a:lnTo>
                    <a:cubicBezTo>
                      <a:pt x="70046" y="77957"/>
                      <a:pt x="66677" y="69825"/>
                      <a:pt x="66677" y="61345"/>
                    </a:cubicBezTo>
                    <a:cubicBezTo>
                      <a:pt x="66677" y="52865"/>
                      <a:pt x="70046" y="44732"/>
                      <a:pt x="76043" y="38736"/>
                    </a:cubicBezTo>
                    <a:lnTo>
                      <a:pt x="105413" y="9366"/>
                    </a:lnTo>
                    <a:cubicBezTo>
                      <a:pt x="111409" y="3369"/>
                      <a:pt x="119542" y="0"/>
                      <a:pt x="128022" y="0"/>
                    </a:cubicBezTo>
                    <a:cubicBezTo>
                      <a:pt x="136502" y="0"/>
                      <a:pt x="144635" y="3369"/>
                      <a:pt x="150630" y="9366"/>
                    </a:cubicBez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28" name="Freeform 28"/>
              <p:cNvSpPr/>
              <p:nvPr/>
            </p:nvSpPr>
            <p:spPr>
              <a:xfrm>
                <a:off x="871538" y="6095048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</p:grpSp>
        <p:sp>
          <p:nvSpPr>
            <p:cNvPr id="30" name="TextBox 30"/>
            <p:cNvSpPr txBox="1"/>
            <p:nvPr/>
          </p:nvSpPr>
          <p:spPr>
            <a:xfrm>
              <a:off x="1041273" y="6039326"/>
              <a:ext cx="762222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图不连通时扫完所有边也凑不满 n−1 条，函数返回 INF。调用方拿到 INF 就知道这张图没有支撑树。</a:t>
              </a:r>
            </a:p>
          </p:txBody>
        </p:sp>
      </p:grpSp>
      <p:grpSp>
        <p:nvGrpSpPr>
          <p:cNvPr id="34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32" name="TextBox 32"/>
            <p:cNvSpPr txBox="1"/>
            <p:nvPr/>
          </p:nvSpPr>
          <p:spPr>
            <a:xfrm>
              <a:off x="528447" y="6581299"/>
              <a:ext cx="232523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数据结构 · 第16讲 最小支撑树及图应用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22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5428127" cy="909257"/>
            <a:chOff x="520446" y="342900"/>
            <a:chExt cx="5428127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3221355" cy="26670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69149" y="407194"/>
              <a:ext cx="31498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第16讲 最小支撑树 · Kruskal 算法：逐边加入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5428127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稠密图用 Prim，稀疏图用 Kruskal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F5FA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28" name="c1-table-1"/>
          <p:cNvGrpSpPr/>
          <p:nvPr/>
        </p:nvGrpSpPr>
        <p:grpSpPr>
          <a:xfrm>
            <a:off x="533400" y="1524000"/>
            <a:ext cx="5626418" cy="1143952"/>
            <a:chOff x="533400" y="1524000"/>
            <a:chExt cx="5626418" cy="1143952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626418" cy="381000"/>
            </a:xfrm>
            <a:prstGeom prst="rect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837247" y="1641157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算法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1750124" y="1641157"/>
              <a:ext cx="71742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时间复杂度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3340036" y="1641157"/>
              <a:ext cx="5760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主要开销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5027867" y="1641157"/>
              <a:ext cx="5760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适用场合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628078" y="2023110"/>
              <a:ext cx="33428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Prim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528191" y="2023110"/>
              <a:ext cx="43945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O(n²)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2878836" y="2023110"/>
              <a:ext cx="97892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n 轮选点与更新</a:t>
              </a:r>
            </a:p>
          </p:txBody>
        </p:sp>
        <p:sp>
          <p:nvSpPr>
            <p:cNvPr id="15" name="Rectangle 15"/>
            <p:cNvSpPr/>
            <p:nvPr/>
          </p:nvSpPr>
          <p:spPr>
            <a:xfrm>
              <a:off x="4481512" y="1914525"/>
              <a:ext cx="1668780" cy="361950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4566666" y="2023110"/>
              <a:ext cx="43472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稠密图</a:t>
              </a:r>
            </a:p>
          </p:txBody>
        </p:sp>
        <p:sp>
          <p:nvSpPr>
            <p:cNvPr id="17" name="Rectangle 17"/>
            <p:cNvSpPr/>
            <p:nvPr/>
          </p:nvSpPr>
          <p:spPr>
            <a:xfrm>
              <a:off x="533400" y="2282190"/>
              <a:ext cx="562641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8" name="Rectangle 18"/>
            <p:cNvSpPr/>
            <p:nvPr/>
          </p:nvSpPr>
          <p:spPr>
            <a:xfrm>
              <a:off x="533400" y="2286952"/>
              <a:ext cx="5626418" cy="38100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628078" y="2404110"/>
              <a:ext cx="54929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Kruskal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1528191" y="2404110"/>
              <a:ext cx="71695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O(e log e)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2878836" y="2404110"/>
              <a:ext cx="87997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给 e 条边排序</a:t>
              </a:r>
            </a:p>
          </p:txBody>
        </p:sp>
        <p:sp>
          <p:nvSpPr>
            <p:cNvPr id="22" name="Rectangle 22"/>
            <p:cNvSpPr/>
            <p:nvPr/>
          </p:nvSpPr>
          <p:spPr>
            <a:xfrm>
              <a:off x="4481512" y="2296478"/>
              <a:ext cx="1668780" cy="361950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4566666" y="2404110"/>
              <a:ext cx="43472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稀疏图</a:t>
              </a:r>
            </a:p>
          </p:txBody>
        </p:sp>
        <p:sp>
          <p:nvSpPr>
            <p:cNvPr id="24" name="Rectangle 24"/>
            <p:cNvSpPr/>
            <p:nvPr/>
          </p:nvSpPr>
          <p:spPr>
            <a:xfrm>
              <a:off x="533400" y="1524000"/>
              <a:ext cx="5626418" cy="1143952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25" name="Rectangle 25"/>
            <p:cNvSpPr/>
            <p:nvPr/>
          </p:nvSpPr>
          <p:spPr>
            <a:xfrm>
              <a:off x="1428750" y="1524000"/>
              <a:ext cx="9525" cy="1143952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6" name="Rectangle 26"/>
            <p:cNvSpPr/>
            <p:nvPr/>
          </p:nvSpPr>
          <p:spPr>
            <a:xfrm>
              <a:off x="2779395" y="1524000"/>
              <a:ext cx="9525" cy="1143952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7" name="Rectangle 27"/>
            <p:cNvSpPr/>
            <p:nvPr/>
          </p:nvSpPr>
          <p:spPr>
            <a:xfrm>
              <a:off x="4467225" y="1524000"/>
              <a:ext cx="9525" cy="1143952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35" name="c1-card-2"/>
          <p:cNvGrpSpPr/>
          <p:nvPr/>
        </p:nvGrpSpPr>
        <p:grpSpPr>
          <a:xfrm>
            <a:off x="533400" y="2832735"/>
            <a:ext cx="5626418" cy="1671638"/>
            <a:chOff x="533400" y="2832735"/>
            <a:chExt cx="5626418" cy="1671638"/>
          </a:xfrm>
        </p:grpSpPr>
        <p:sp>
          <p:nvSpPr>
            <p:cNvPr id="29" name="Rectangle 29"/>
            <p:cNvSpPr/>
            <p:nvPr/>
          </p:nvSpPr>
          <p:spPr>
            <a:xfrm>
              <a:off x="533400" y="2832735"/>
              <a:ext cx="5626418" cy="1671638"/>
            </a:xfrm>
            <a:prstGeom prst="roundRect">
              <a:avLst>
                <a:gd name="adj" fmla="val 7977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30" name="Rectangle 30"/>
            <p:cNvSpPr/>
            <p:nvPr/>
          </p:nvSpPr>
          <p:spPr>
            <a:xfrm>
              <a:off x="542925" y="2966085"/>
              <a:ext cx="47625" cy="1404938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31" name="Rectangle 31"/>
            <p:cNvSpPr/>
            <p:nvPr/>
          </p:nvSpPr>
          <p:spPr>
            <a:xfrm>
              <a:off x="752475" y="3013710"/>
              <a:ext cx="831532" cy="238125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833946" y="3046571"/>
              <a:ext cx="66954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代入数字看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745998" y="3354229"/>
              <a:ext cx="4971034" cy="4922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n = 1000 的完全图，e = 499500。Prim 约 10⁶ 次基本操作，Kruskal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约 9.5 × 10⁶ 次，Prim 快约一个量级。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745998" y="3881914"/>
              <a:ext cx="4759706" cy="4922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n = 1000、e = 3000 的稀疏图。Prim 仍是 10⁶，Kruskal 约 3.5 ×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10⁴，Kruskal 快约 30 倍。</a:t>
              </a:r>
            </a:p>
          </p:txBody>
        </p:sp>
      </p:grpSp>
      <p:grpSp>
        <p:nvGrpSpPr>
          <p:cNvPr id="42" name="c1-callout-3"/>
          <p:cNvGrpSpPr/>
          <p:nvPr/>
        </p:nvGrpSpPr>
        <p:grpSpPr>
          <a:xfrm>
            <a:off x="533400" y="4670108"/>
            <a:ext cx="5626418" cy="943928"/>
            <a:chOff x="533400" y="4670108"/>
            <a:chExt cx="5626418" cy="943928"/>
          </a:xfrm>
        </p:grpSpPr>
        <p:sp>
          <p:nvSpPr>
            <p:cNvPr id="36" name="Rectangle 36"/>
            <p:cNvSpPr/>
            <p:nvPr/>
          </p:nvSpPr>
          <p:spPr>
            <a:xfrm>
              <a:off x="533400" y="4670108"/>
              <a:ext cx="5626418" cy="943928"/>
            </a:xfrm>
            <a:prstGeom prst="roundRect">
              <a:avLst>
                <a:gd name="adj" fmla="val 12109"/>
              </a:avLst>
            </a:prstGeom>
            <a:solidFill>
              <a:srgbClr val="F4F6FB"/>
            </a:solidFill>
            <a:ln>
              <a:noFill/>
            </a:ln>
          </p:spPr>
        </p:sp>
        <p:grpSp>
          <p:nvGrpSpPr>
            <p:cNvPr id="40" name="Group 40"/>
            <p:cNvGrpSpPr/>
            <p:nvPr/>
          </p:nvGrpSpPr>
          <p:grpSpPr>
            <a:xfrm>
              <a:off x="738188" y="5041583"/>
              <a:ext cx="200026" cy="200026"/>
              <a:chOff x="738188" y="5041583"/>
              <a:chExt cx="200026" cy="200026"/>
            </a:xfrm>
          </p:grpSpPr>
          <p:sp>
            <p:nvSpPr>
              <p:cNvPr id="37" name="Freeform 37"/>
              <p:cNvSpPr/>
              <p:nvPr/>
            </p:nvSpPr>
            <p:spPr>
              <a:xfrm>
                <a:off x="738188" y="5041583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38" name="Freeform 38"/>
              <p:cNvSpPr/>
              <p:nvPr/>
            </p:nvSpPr>
            <p:spPr>
              <a:xfrm>
                <a:off x="838200" y="5108258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39" name="Freeform 39"/>
              <p:cNvSpPr/>
              <p:nvPr/>
            </p:nvSpPr>
            <p:spPr>
              <a:xfrm>
                <a:off x="827088" y="5141595"/>
                <a:ext cx="222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22225" h="44450">
                    <a:moveTo>
                      <a:pt x="0" y="0"/>
                    </a:moveTo>
                    <a:lnTo>
                      <a:pt x="11113" y="0"/>
                    </a:lnTo>
                    <a:lnTo>
                      <a:pt x="11113" y="44450"/>
                    </a:lnTo>
                    <a:lnTo>
                      <a:pt x="22225" y="4445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</p:grpSp>
        <p:sp>
          <p:nvSpPr>
            <p:cNvPr id="41" name="TextBox 41"/>
            <p:cNvSpPr txBox="1"/>
            <p:nvPr/>
          </p:nvSpPr>
          <p:spPr>
            <a:xfrm>
              <a:off x="1041273" y="4935379"/>
              <a:ext cx="4727194" cy="483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45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两者都是贪心算法，正确性都来自同一条最小跨边定理，得到的边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权和必然相同。</a:t>
              </a:r>
            </a:p>
          </p:txBody>
        </p:sp>
      </p:grpSp>
      <p:grpSp>
        <p:nvGrpSpPr>
          <p:cNvPr id="50" name="c2-card-1"/>
          <p:cNvGrpSpPr/>
          <p:nvPr/>
        </p:nvGrpSpPr>
        <p:grpSpPr>
          <a:xfrm>
            <a:off x="6464618" y="1524000"/>
            <a:ext cx="5193982" cy="1687830"/>
            <a:chOff x="6464618" y="1524000"/>
            <a:chExt cx="5193982" cy="1687830"/>
          </a:xfrm>
        </p:grpSpPr>
        <p:sp>
          <p:nvSpPr>
            <p:cNvPr id="43" name="Rectangle 43"/>
            <p:cNvSpPr/>
            <p:nvPr/>
          </p:nvSpPr>
          <p:spPr>
            <a:xfrm>
              <a:off x="6464618" y="1524000"/>
              <a:ext cx="5193982" cy="1687830"/>
            </a:xfrm>
            <a:prstGeom prst="roundRect">
              <a:avLst>
                <a:gd name="adj" fmla="val 7901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44" name="Rectangle 44"/>
            <p:cNvSpPr/>
            <p:nvPr/>
          </p:nvSpPr>
          <p:spPr>
            <a:xfrm>
              <a:off x="6474142" y="1657350"/>
              <a:ext cx="47625" cy="1421130"/>
            </a:xfrm>
            <a:prstGeom prst="roundRect">
              <a:avLst>
                <a:gd name="adj" fmla="val 50000"/>
              </a:avLst>
            </a:prstGeom>
            <a:solidFill>
              <a:srgbClr val="B42318"/>
            </a:solidFill>
            <a:ln>
              <a:noFill/>
            </a:ln>
          </p:spPr>
        </p:sp>
        <p:sp>
          <p:nvSpPr>
            <p:cNvPr id="45" name="Rectangle 45"/>
            <p:cNvSpPr/>
            <p:nvPr/>
          </p:nvSpPr>
          <p:spPr>
            <a:xfrm>
              <a:off x="6683692" y="1704975"/>
              <a:ext cx="831532" cy="238125"/>
            </a:xfrm>
            <a:prstGeom prst="roundRect">
              <a:avLst>
                <a:gd name="adj" fmla="val 50000"/>
              </a:avLst>
            </a:prstGeom>
            <a:solidFill>
              <a:srgbClr val="FDECEA"/>
            </a:solidFill>
            <a:ln>
              <a:noFill/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6765163" y="1737836"/>
              <a:ext cx="66954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考研判断题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7624001" y="1744504"/>
              <a:ext cx="167147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【2023 年清华大学】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6677216" y="2061686"/>
              <a:ext cx="444462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题目：相对于 Kruskal 算法，Prim 算法更适宜于稀疏图。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6677216" y="2346484"/>
              <a:ext cx="4597146" cy="7351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答案：</a:t>
              </a:r>
              <a:r>
                <a:rPr lang="zh-CN" sz="128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错误</a:t>
              </a: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。Prim 的复杂度 O(n²) 与边数无关，边越多越划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算，适宜 </a:t>
              </a:r>
              <a:r>
                <a:rPr lang="zh-CN" sz="128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稠密图</a:t>
              </a: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；Kruskal 的复杂度随边数增长，适宜稀疏图。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两者的适用场合恰好说反了。</a:t>
              </a:r>
            </a:p>
          </p:txBody>
        </p:sp>
      </p:grpSp>
      <p:grpSp>
        <p:nvGrpSpPr>
          <p:cNvPr id="67" name="c2-table-2"/>
          <p:cNvGrpSpPr/>
          <p:nvPr/>
        </p:nvGrpSpPr>
        <p:grpSpPr>
          <a:xfrm>
            <a:off x="6459665" y="3376612"/>
            <a:ext cx="5198935" cy="1408462"/>
            <a:chOff x="6459665" y="3376612"/>
            <a:chExt cx="5198935" cy="1408462"/>
          </a:xfrm>
        </p:grpSpPr>
        <p:sp>
          <p:nvSpPr>
            <p:cNvPr id="51" name="Rectangle 51"/>
            <p:cNvSpPr/>
            <p:nvPr/>
          </p:nvSpPr>
          <p:spPr>
            <a:xfrm>
              <a:off x="6464618" y="3376612"/>
              <a:ext cx="5193982" cy="381000"/>
            </a:xfrm>
            <a:prstGeom prst="rect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52" name="TextBox 52"/>
            <p:cNvSpPr txBox="1"/>
            <p:nvPr/>
          </p:nvSpPr>
          <p:spPr>
            <a:xfrm>
              <a:off x="6889433" y="3494723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年份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8235696" y="3494723"/>
              <a:ext cx="71742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时间复杂度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10402062" y="3494723"/>
              <a:ext cx="43472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提出者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6559296" y="3875723"/>
              <a:ext cx="33718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1975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7702296" y="3875723"/>
              <a:ext cx="95656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O(e log log n)</a:t>
              </a: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9675876" y="3875723"/>
              <a:ext cx="43472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姚期智</a:t>
              </a:r>
            </a:p>
          </p:txBody>
        </p:sp>
        <p:sp>
          <p:nvSpPr>
            <p:cNvPr id="58" name="Rectangle 58"/>
            <p:cNvSpPr/>
            <p:nvPr/>
          </p:nvSpPr>
          <p:spPr>
            <a:xfrm>
              <a:off x="6464618" y="4134802"/>
              <a:ext cx="519398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9" name="Rectangle 59"/>
            <p:cNvSpPr/>
            <p:nvPr/>
          </p:nvSpPr>
          <p:spPr>
            <a:xfrm>
              <a:off x="6464618" y="4139565"/>
              <a:ext cx="5193982" cy="38100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60" name="TextBox 60"/>
            <p:cNvSpPr txBox="1"/>
            <p:nvPr/>
          </p:nvSpPr>
          <p:spPr>
            <a:xfrm>
              <a:off x="6559296" y="4256722"/>
              <a:ext cx="33718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2002</a:t>
              </a:r>
            </a:p>
          </p:txBody>
        </p:sp>
        <p:sp>
          <p:nvSpPr>
            <p:cNvPr id="61" name="TextBox 61"/>
            <p:cNvSpPr txBox="1"/>
            <p:nvPr/>
          </p:nvSpPr>
          <p:spPr>
            <a:xfrm>
              <a:off x="7702296" y="4256722"/>
              <a:ext cx="9469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l-GR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O(e·α(n, e))</a:t>
              </a:r>
            </a:p>
          </p:txBody>
        </p:sp>
        <p:sp>
          <p:nvSpPr>
            <p:cNvPr id="62" name="TextBox 62"/>
            <p:cNvSpPr txBox="1"/>
            <p:nvPr/>
          </p:nvSpPr>
          <p:spPr>
            <a:xfrm>
              <a:off x="9675876" y="4256722"/>
              <a:ext cx="163833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Pettie 与 Ramachandran</a:t>
              </a:r>
            </a:p>
          </p:txBody>
        </p:sp>
        <p:sp>
          <p:nvSpPr>
            <p:cNvPr id="63" name="Rectangle 63"/>
            <p:cNvSpPr/>
            <p:nvPr/>
          </p:nvSpPr>
          <p:spPr>
            <a:xfrm>
              <a:off x="6464618" y="3376612"/>
              <a:ext cx="5193982" cy="1143952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64" name="Rectangle 64"/>
            <p:cNvSpPr/>
            <p:nvPr/>
          </p:nvSpPr>
          <p:spPr>
            <a:xfrm>
              <a:off x="7602855" y="3376612"/>
              <a:ext cx="9525" cy="1143952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65" name="Rectangle 65"/>
            <p:cNvSpPr/>
            <p:nvPr/>
          </p:nvSpPr>
          <p:spPr>
            <a:xfrm>
              <a:off x="9576435" y="3376612"/>
              <a:ext cx="9525" cy="1143952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66" name="TextBox 66"/>
            <p:cNvSpPr txBox="1"/>
            <p:nvPr/>
          </p:nvSpPr>
          <p:spPr>
            <a:xfrm>
              <a:off x="6459665" y="4594384"/>
              <a:ext cx="185689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最小支撑树问题的主要研究进展</a:t>
              </a:r>
            </a:p>
          </p:txBody>
        </p:sp>
      </p:grpSp>
      <p:grpSp>
        <p:nvGrpSpPr>
          <p:cNvPr id="74" name="c2-callout-3"/>
          <p:cNvGrpSpPr/>
          <p:nvPr/>
        </p:nvGrpSpPr>
        <p:grpSpPr>
          <a:xfrm>
            <a:off x="6464618" y="4911090"/>
            <a:ext cx="5193982" cy="702945"/>
            <a:chOff x="6464618" y="4911090"/>
            <a:chExt cx="5193982" cy="702945"/>
          </a:xfrm>
        </p:grpSpPr>
        <p:sp>
          <p:nvSpPr>
            <p:cNvPr id="68" name="Rectangle 68"/>
            <p:cNvSpPr/>
            <p:nvPr/>
          </p:nvSpPr>
          <p:spPr>
            <a:xfrm>
              <a:off x="6464618" y="4911090"/>
              <a:ext cx="5193982" cy="702945"/>
            </a:xfrm>
            <a:prstGeom prst="roundRect">
              <a:avLst>
                <a:gd name="adj" fmla="val 16260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72" name="Group 72"/>
            <p:cNvGrpSpPr/>
            <p:nvPr/>
          </p:nvGrpSpPr>
          <p:grpSpPr>
            <a:xfrm>
              <a:off x="6669405" y="5162550"/>
              <a:ext cx="200026" cy="200025"/>
              <a:chOff x="6669405" y="5162550"/>
              <a:chExt cx="200026" cy="200025"/>
            </a:xfrm>
          </p:grpSpPr>
          <p:sp>
            <p:nvSpPr>
              <p:cNvPr id="69" name="Freeform 69"/>
              <p:cNvSpPr/>
              <p:nvPr/>
            </p:nvSpPr>
            <p:spPr>
              <a:xfrm>
                <a:off x="6669405" y="5162550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70" name="Freeform 70"/>
              <p:cNvSpPr/>
              <p:nvPr/>
            </p:nvSpPr>
            <p:spPr>
              <a:xfrm>
                <a:off x="6709144" y="5207000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71" name="Freeform 71"/>
              <p:cNvSpPr/>
              <p:nvPr/>
            </p:nvSpPr>
            <p:spPr>
              <a:xfrm>
                <a:off x="6743859" y="5318126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73" name="TextBox 73"/>
            <p:cNvSpPr txBox="1"/>
            <p:nvPr/>
          </p:nvSpPr>
          <p:spPr>
            <a:xfrm>
              <a:off x="6972491" y="5056346"/>
              <a:ext cx="4174490" cy="483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45"/>
                </a:lnSpc>
              </a:pPr>
              <a:r>
                <a:rPr lang="zh-CN" sz="128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α 是 Ackermann 函数的反函数，增长极慢，实际输入下可</a:t>
              </a:r>
              <a:br/>
              <a:r>
                <a:rPr lang="zh-CN" sz="128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视作常数。</a:t>
              </a:r>
            </a:p>
          </p:txBody>
        </p:sp>
      </p:grpSp>
      <p:grpSp>
        <p:nvGrpSpPr>
          <p:cNvPr id="80" name="takeaway"/>
          <p:cNvGrpSpPr/>
          <p:nvPr/>
        </p:nvGrpSpPr>
        <p:grpSpPr>
          <a:xfrm>
            <a:off x="533400" y="5895022"/>
            <a:ext cx="11125200" cy="467678"/>
            <a:chOff x="533400" y="5895022"/>
            <a:chExt cx="11125200" cy="467678"/>
          </a:xfrm>
        </p:grpSpPr>
        <p:sp>
          <p:nvSpPr>
            <p:cNvPr id="75" name="Rectangle 75"/>
            <p:cNvSpPr/>
            <p:nvPr/>
          </p:nvSpPr>
          <p:spPr>
            <a:xfrm>
              <a:off x="533400" y="5895022"/>
              <a:ext cx="11125200" cy="467678"/>
            </a:xfrm>
            <a:prstGeom prst="roundRect">
              <a:avLst>
                <a:gd name="adj" fmla="val 24440"/>
              </a:avLst>
            </a:prstGeom>
            <a:solidFill>
              <a:srgbClr val="1F5FA8"/>
            </a:solidFill>
            <a:ln>
              <a:noFill/>
            </a:ln>
          </p:spPr>
        </p:sp>
        <p:grpSp>
          <p:nvGrpSpPr>
            <p:cNvPr id="78" name="Group 78"/>
            <p:cNvGrpSpPr/>
            <p:nvPr/>
          </p:nvGrpSpPr>
          <p:grpSpPr>
            <a:xfrm>
              <a:off x="738188" y="6028375"/>
              <a:ext cx="200023" cy="200023"/>
              <a:chOff x="738188" y="6028375"/>
              <a:chExt cx="200023" cy="200023"/>
            </a:xfrm>
          </p:grpSpPr>
          <p:sp>
            <p:nvSpPr>
              <p:cNvPr id="76" name="Freeform 76"/>
              <p:cNvSpPr/>
              <p:nvPr/>
            </p:nvSpPr>
            <p:spPr>
              <a:xfrm>
                <a:off x="738188" y="6028375"/>
                <a:ext cx="200023" cy="200023"/>
              </a:xfrm>
              <a:custGeom>
                <a:avLst/>
                <a:gdLst/>
                <a:ahLst/>
                <a:cxnLst/>
                <a:rect l="l" t="t" r="r" b="b"/>
                <a:pathLst>
                  <a:path w="200023" h="200023">
                    <a:moveTo>
                      <a:pt x="150630" y="9366"/>
                    </a:moveTo>
                    <a:lnTo>
                      <a:pt x="190658" y="49393"/>
                    </a:lnTo>
                    <a:cubicBezTo>
                      <a:pt x="196654" y="55389"/>
                      <a:pt x="200023" y="63522"/>
                      <a:pt x="200023" y="72002"/>
                    </a:cubicBezTo>
                    <a:cubicBezTo>
                      <a:pt x="200023" y="80482"/>
                      <a:pt x="196654" y="88614"/>
                      <a:pt x="190658" y="94610"/>
                    </a:cubicBezTo>
                    <a:lnTo>
                      <a:pt x="161287" y="123980"/>
                    </a:lnTo>
                    <a:cubicBezTo>
                      <a:pt x="155291" y="129977"/>
                      <a:pt x="147159" y="133346"/>
                      <a:pt x="138679" y="133346"/>
                    </a:cubicBezTo>
                    <a:cubicBezTo>
                      <a:pt x="130199" y="133346"/>
                      <a:pt x="122066" y="129977"/>
                      <a:pt x="116070" y="123980"/>
                    </a:cubicBezTo>
                    <a:lnTo>
                      <a:pt x="112726" y="120636"/>
                    </a:lnTo>
                    <a:lnTo>
                      <a:pt x="39850" y="193511"/>
                    </a:lnTo>
                    <a:cubicBezTo>
                      <a:pt x="36157" y="197203"/>
                      <a:pt x="31283" y="199477"/>
                      <a:pt x="26081" y="199935"/>
                    </a:cubicBezTo>
                    <a:lnTo>
                      <a:pt x="24136" y="200023"/>
                    </a:lnTo>
                    <a:lnTo>
                      <a:pt x="11113" y="200023"/>
                    </a:lnTo>
                    <a:cubicBezTo>
                      <a:pt x="5479" y="200023"/>
                      <a:pt x="737" y="195806"/>
                      <a:pt x="78" y="190211"/>
                    </a:cubicBezTo>
                    <a:lnTo>
                      <a:pt x="0" y="188911"/>
                    </a:lnTo>
                    <a:lnTo>
                      <a:pt x="0" y="175887"/>
                    </a:lnTo>
                    <a:cubicBezTo>
                      <a:pt x="1" y="170669"/>
                      <a:pt x="1838" y="165618"/>
                      <a:pt x="5190" y="161619"/>
                    </a:cubicBezTo>
                    <a:lnTo>
                      <a:pt x="6512" y="160174"/>
                    </a:lnTo>
                    <a:lnTo>
                      <a:pt x="11113" y="155573"/>
                    </a:lnTo>
                    <a:lnTo>
                      <a:pt x="33338" y="155573"/>
                    </a:lnTo>
                    <a:lnTo>
                      <a:pt x="33338" y="133348"/>
                    </a:lnTo>
                    <a:lnTo>
                      <a:pt x="55563" y="133348"/>
                    </a:lnTo>
                    <a:lnTo>
                      <a:pt x="55563" y="111123"/>
                    </a:lnTo>
                    <a:lnTo>
                      <a:pt x="79388" y="87298"/>
                    </a:lnTo>
                    <a:lnTo>
                      <a:pt x="76043" y="83953"/>
                    </a:lnTo>
                    <a:cubicBezTo>
                      <a:pt x="70046" y="77957"/>
                      <a:pt x="66677" y="69825"/>
                      <a:pt x="66677" y="61345"/>
                    </a:cubicBezTo>
                    <a:cubicBezTo>
                      <a:pt x="66677" y="52865"/>
                      <a:pt x="70046" y="44732"/>
                      <a:pt x="76043" y="38736"/>
                    </a:cubicBezTo>
                    <a:lnTo>
                      <a:pt x="105413" y="9366"/>
                    </a:lnTo>
                    <a:cubicBezTo>
                      <a:pt x="111409" y="3369"/>
                      <a:pt x="119542" y="0"/>
                      <a:pt x="128022" y="0"/>
                    </a:cubicBezTo>
                    <a:cubicBezTo>
                      <a:pt x="136502" y="0"/>
                      <a:pt x="144635" y="3369"/>
                      <a:pt x="150630" y="9366"/>
                    </a:cubicBez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77" name="Freeform 77"/>
              <p:cNvSpPr/>
              <p:nvPr/>
            </p:nvSpPr>
            <p:spPr>
              <a:xfrm>
                <a:off x="871538" y="6095048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</p:grpSp>
        <p:sp>
          <p:nvSpPr>
            <p:cNvPr id="79" name="TextBox 79"/>
            <p:cNvSpPr txBox="1"/>
            <p:nvPr/>
          </p:nvSpPr>
          <p:spPr>
            <a:xfrm>
              <a:off x="1041273" y="6039326"/>
              <a:ext cx="954147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判断该用哪个，看的是 e 与 n² 的关系：e 接近 n² 选 Prim，e 接近 n 选 Kruskal。中间地带用堆优化的 Prim，O(e log n)。</a:t>
              </a:r>
            </a:p>
          </p:txBody>
        </p:sp>
      </p:grpSp>
      <p:grpSp>
        <p:nvGrpSpPr>
          <p:cNvPr id="83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81" name="TextBox 81"/>
            <p:cNvSpPr txBox="1"/>
            <p:nvPr/>
          </p:nvSpPr>
          <p:spPr>
            <a:xfrm>
              <a:off x="528447" y="6581299"/>
              <a:ext cx="232523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数据结构 · 第16讲 最小支撑树及图应用</a:t>
              </a:r>
            </a:p>
          </p:txBody>
        </p:sp>
        <p:sp>
          <p:nvSpPr>
            <p:cNvPr id="82" name="TextBox 82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23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3234309" cy="909257"/>
            <a:chOff x="520446" y="342900"/>
            <a:chExt cx="3234309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3221355" cy="26670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69149" y="407194"/>
              <a:ext cx="31498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第16讲 最小支撑树 · Kruskal 算法：逐边加入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3115437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三个容易想错的问题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F5FA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8" name="lead"/>
          <p:cNvGrpSpPr/>
          <p:nvPr/>
        </p:nvGrpSpPr>
        <p:grpSpPr>
          <a:xfrm>
            <a:off x="526542" y="1545907"/>
            <a:ext cx="4320883" cy="264033"/>
            <a:chOff x="526542" y="1545907"/>
            <a:chExt cx="4320883" cy="264033"/>
          </a:xfrm>
        </p:grpSpPr>
        <p:sp>
          <p:nvSpPr>
            <p:cNvPr id="7" name="TextBox 7"/>
            <p:cNvSpPr txBox="1"/>
            <p:nvPr/>
          </p:nvSpPr>
          <p:spPr>
            <a:xfrm>
              <a:off x="526542" y="1545907"/>
              <a:ext cx="432088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源课件第 55 页留作课下思考，这里给出结论与反例。</a:t>
              </a:r>
            </a:p>
          </p:txBody>
        </p:sp>
      </p:grpSp>
      <p:grpSp>
        <p:nvGrpSpPr>
          <p:cNvPr id="16" name="c1-card-1"/>
          <p:cNvGrpSpPr/>
          <p:nvPr/>
        </p:nvGrpSpPr>
        <p:grpSpPr>
          <a:xfrm>
            <a:off x="533400" y="1928812"/>
            <a:ext cx="3505200" cy="2173605"/>
            <a:chOff x="533400" y="1928812"/>
            <a:chExt cx="3505200" cy="2173605"/>
          </a:xfrm>
        </p:grpSpPr>
        <p:sp>
          <p:nvSpPr>
            <p:cNvPr id="9" name="Rectangle 9"/>
            <p:cNvSpPr/>
            <p:nvPr/>
          </p:nvSpPr>
          <p:spPr>
            <a:xfrm>
              <a:off x="533400" y="1928812"/>
              <a:ext cx="3505200" cy="2173605"/>
            </a:xfrm>
            <a:prstGeom prst="roundRect">
              <a:avLst>
                <a:gd name="adj" fmla="val 6135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10" name="Rectangle 10"/>
            <p:cNvSpPr/>
            <p:nvPr/>
          </p:nvSpPr>
          <p:spPr>
            <a:xfrm>
              <a:off x="542925" y="2062162"/>
              <a:ext cx="47625" cy="1906905"/>
            </a:xfrm>
            <a:prstGeom prst="roundRect">
              <a:avLst>
                <a:gd name="adj" fmla="val 50000"/>
              </a:avLst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1" name="Rectangle 11"/>
            <p:cNvSpPr/>
            <p:nvPr/>
          </p:nvSpPr>
          <p:spPr>
            <a:xfrm>
              <a:off x="752475" y="2109788"/>
              <a:ext cx="582930" cy="238125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841096" y="2142649"/>
              <a:ext cx="40568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问题一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443228" y="2149316"/>
              <a:ext cx="180248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MST 一定包含最小边吗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745998" y="2465546"/>
              <a:ext cx="2922778" cy="7351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最小边一定在某棵 MST 里，第 2 小的边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也是。Kruskal 的前两步一定收下它们，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因为两条边不可能构成环。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745998" y="3237071"/>
              <a:ext cx="2963418" cy="7351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第 3 小的边 </a:t>
              </a:r>
              <a:r>
                <a:rPr lang="zh-CN" sz="128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不一定</a:t>
              </a: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。三条最小边若恰好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围成一个三角形，第 3 小的那条必被判环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弃掉。</a:t>
              </a:r>
            </a:p>
          </p:txBody>
        </p:sp>
      </p:grpSp>
      <p:grpSp>
        <p:nvGrpSpPr>
          <p:cNvPr id="22" name="c1-card-2"/>
          <p:cNvGrpSpPr/>
          <p:nvPr/>
        </p:nvGrpSpPr>
        <p:grpSpPr>
          <a:xfrm>
            <a:off x="533400" y="4267200"/>
            <a:ext cx="3505200" cy="1386840"/>
            <a:chOff x="533400" y="4267200"/>
            <a:chExt cx="3505200" cy="1386840"/>
          </a:xfrm>
        </p:grpSpPr>
        <p:sp>
          <p:nvSpPr>
            <p:cNvPr id="17" name="Rectangle 17"/>
            <p:cNvSpPr/>
            <p:nvPr/>
          </p:nvSpPr>
          <p:spPr>
            <a:xfrm>
              <a:off x="533400" y="4267200"/>
              <a:ext cx="3505200" cy="1386840"/>
            </a:xfrm>
            <a:prstGeom prst="roundRect">
              <a:avLst>
                <a:gd name="adj" fmla="val 9615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18" name="Rectangle 18"/>
            <p:cNvSpPr/>
            <p:nvPr/>
          </p:nvSpPr>
          <p:spPr>
            <a:xfrm>
              <a:off x="542925" y="4400550"/>
              <a:ext cx="47625" cy="1120140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19" name="Rectangle 19"/>
            <p:cNvSpPr/>
            <p:nvPr/>
          </p:nvSpPr>
          <p:spPr>
            <a:xfrm>
              <a:off x="752475" y="4448175"/>
              <a:ext cx="458152" cy="238125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845147" y="4481036"/>
              <a:ext cx="27376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反例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745998" y="4788694"/>
              <a:ext cx="2971546" cy="7351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四个点，边 1—2(1)、2—3(2)、1—3(3)、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1—4(4)。MST 是 1—2、2—3、1—4，边权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和 7，第 3 小的 1—3 不在其中。</a:t>
              </a:r>
            </a:p>
          </p:txBody>
        </p:sp>
      </p:grpSp>
      <p:grpSp>
        <p:nvGrpSpPr>
          <p:cNvPr id="30" name="c2-card-1"/>
          <p:cNvGrpSpPr/>
          <p:nvPr/>
        </p:nvGrpSpPr>
        <p:grpSpPr>
          <a:xfrm>
            <a:off x="4343400" y="1928812"/>
            <a:ext cx="3505200" cy="1930718"/>
            <a:chOff x="4343400" y="1928812"/>
            <a:chExt cx="3505200" cy="1930718"/>
          </a:xfrm>
        </p:grpSpPr>
        <p:sp>
          <p:nvSpPr>
            <p:cNvPr id="23" name="Rectangle 23"/>
            <p:cNvSpPr/>
            <p:nvPr/>
          </p:nvSpPr>
          <p:spPr>
            <a:xfrm>
              <a:off x="4343400" y="1928812"/>
              <a:ext cx="3505200" cy="1930718"/>
            </a:xfrm>
            <a:prstGeom prst="roundRect">
              <a:avLst>
                <a:gd name="adj" fmla="val 6907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24" name="Rectangle 24"/>
            <p:cNvSpPr/>
            <p:nvPr/>
          </p:nvSpPr>
          <p:spPr>
            <a:xfrm>
              <a:off x="4352925" y="2062162"/>
              <a:ext cx="47625" cy="1664018"/>
            </a:xfrm>
            <a:prstGeom prst="roundRect">
              <a:avLst>
                <a:gd name="adj" fmla="val 50000"/>
              </a:avLst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25" name="Rectangle 25"/>
            <p:cNvSpPr/>
            <p:nvPr/>
          </p:nvSpPr>
          <p:spPr>
            <a:xfrm>
              <a:off x="4562475" y="2109788"/>
              <a:ext cx="582930" cy="238125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4651096" y="2142649"/>
              <a:ext cx="40568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问题二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5253228" y="2149316"/>
              <a:ext cx="185983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边权互异时 MST 唯一吗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4555998" y="2465546"/>
              <a:ext cx="2939034" cy="7351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唯一</a:t>
              </a: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。Kruskal 每一步取的边都不与别的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边并列，取舍完全确定，整个过程没有可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选的分支，因此只能产出一棵树。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4555998" y="3237071"/>
              <a:ext cx="2955290" cy="4922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本讲第 4 页的图 8 条边权值互不相同，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32 棵支撑树里边权和为 23 的只有一棵。</a:t>
              </a:r>
            </a:p>
          </p:txBody>
        </p:sp>
      </p:grpSp>
      <p:grpSp>
        <p:nvGrpSpPr>
          <p:cNvPr id="36" name="c2-card-2"/>
          <p:cNvGrpSpPr/>
          <p:nvPr/>
        </p:nvGrpSpPr>
        <p:grpSpPr>
          <a:xfrm>
            <a:off x="4343400" y="4024312"/>
            <a:ext cx="3505200" cy="1629728"/>
            <a:chOff x="4343400" y="4024312"/>
            <a:chExt cx="3505200" cy="1629728"/>
          </a:xfrm>
        </p:grpSpPr>
        <p:sp>
          <p:nvSpPr>
            <p:cNvPr id="31" name="Rectangle 31"/>
            <p:cNvSpPr/>
            <p:nvPr/>
          </p:nvSpPr>
          <p:spPr>
            <a:xfrm>
              <a:off x="4343400" y="4024312"/>
              <a:ext cx="3505200" cy="1629728"/>
            </a:xfrm>
            <a:prstGeom prst="roundRect">
              <a:avLst>
                <a:gd name="adj" fmla="val 8182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32" name="Rectangle 32"/>
            <p:cNvSpPr/>
            <p:nvPr/>
          </p:nvSpPr>
          <p:spPr>
            <a:xfrm>
              <a:off x="4352925" y="4157662"/>
              <a:ext cx="47625" cy="1363028"/>
            </a:xfrm>
            <a:prstGeom prst="roundRect">
              <a:avLst>
                <a:gd name="adj" fmla="val 50000"/>
              </a:avLst>
            </a:prstGeom>
            <a:solidFill>
              <a:srgbClr val="D97706"/>
            </a:solidFill>
            <a:ln>
              <a:noFill/>
            </a:ln>
          </p:spPr>
        </p:sp>
        <p:sp>
          <p:nvSpPr>
            <p:cNvPr id="33" name="Rectangle 33"/>
            <p:cNvSpPr/>
            <p:nvPr/>
          </p:nvSpPr>
          <p:spPr>
            <a:xfrm>
              <a:off x="4562475" y="4205288"/>
              <a:ext cx="458152" cy="238125"/>
            </a:xfrm>
            <a:prstGeom prst="roundRect">
              <a:avLst>
                <a:gd name="adj" fmla="val 50000"/>
              </a:avLst>
            </a:prstGeom>
            <a:solidFill>
              <a:srgbClr val="FEF3C7"/>
            </a:solidFill>
            <a:ln>
              <a:noFill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4655147" y="4238149"/>
              <a:ext cx="27376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92400E"/>
                  </a:solidFill>
                  <a:latin typeface="+mn-lt"/>
                  <a:ea typeface="+mn-ea"/>
                  <a:cs typeface="+mn-cs"/>
                </a:rPr>
                <a:t>顺带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4555998" y="4545806"/>
              <a:ext cx="2849626" cy="7351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边权互异时，最小支撑树与起点无关，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Prim 从任何顶点出发得到的都是同一棵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树。</a:t>
              </a:r>
            </a:p>
          </p:txBody>
        </p:sp>
      </p:grpSp>
      <p:grpSp>
        <p:nvGrpSpPr>
          <p:cNvPr id="44" name="c3-card-1"/>
          <p:cNvGrpSpPr/>
          <p:nvPr/>
        </p:nvGrpSpPr>
        <p:grpSpPr>
          <a:xfrm>
            <a:off x="8153400" y="1928812"/>
            <a:ext cx="3505200" cy="2173605"/>
            <a:chOff x="8153400" y="1928812"/>
            <a:chExt cx="3505200" cy="2173605"/>
          </a:xfrm>
        </p:grpSpPr>
        <p:sp>
          <p:nvSpPr>
            <p:cNvPr id="37" name="Rectangle 37"/>
            <p:cNvSpPr/>
            <p:nvPr/>
          </p:nvSpPr>
          <p:spPr>
            <a:xfrm>
              <a:off x="8153400" y="1928812"/>
              <a:ext cx="3505200" cy="2173605"/>
            </a:xfrm>
            <a:prstGeom prst="roundRect">
              <a:avLst>
                <a:gd name="adj" fmla="val 6135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38" name="Rectangle 38"/>
            <p:cNvSpPr/>
            <p:nvPr/>
          </p:nvSpPr>
          <p:spPr>
            <a:xfrm>
              <a:off x="8162925" y="2062162"/>
              <a:ext cx="47625" cy="1906905"/>
            </a:xfrm>
            <a:prstGeom prst="roundRect">
              <a:avLst>
                <a:gd name="adj" fmla="val 50000"/>
              </a:avLst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39" name="Rectangle 39"/>
            <p:cNvSpPr/>
            <p:nvPr/>
          </p:nvSpPr>
          <p:spPr>
            <a:xfrm>
              <a:off x="8372475" y="2109788"/>
              <a:ext cx="582930" cy="238125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8461096" y="2142649"/>
              <a:ext cx="40568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问题三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9063228" y="2149316"/>
              <a:ext cx="190840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有等权边就一定不唯一吗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8365998" y="2465546"/>
              <a:ext cx="2955290" cy="7351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不一定</a:t>
              </a: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。等权的边未必成为“二选一”的分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支，只要它们都被收下或都被弃掉，结果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依然唯一。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8365998" y="3237071"/>
              <a:ext cx="2776474" cy="7351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例：三个点，边 1—2(1)、2—3(1)、1—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3(5)。两条权 1 的边都要收，MST 唯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一，边权和 2。</a:t>
              </a:r>
            </a:p>
          </p:txBody>
        </p:sp>
      </p:grpSp>
      <p:grpSp>
        <p:nvGrpSpPr>
          <p:cNvPr id="50" name="c3-card-2"/>
          <p:cNvGrpSpPr/>
          <p:nvPr/>
        </p:nvGrpSpPr>
        <p:grpSpPr>
          <a:xfrm>
            <a:off x="8153400" y="4267200"/>
            <a:ext cx="3505200" cy="1386840"/>
            <a:chOff x="8153400" y="4267200"/>
            <a:chExt cx="3505200" cy="1386840"/>
          </a:xfrm>
        </p:grpSpPr>
        <p:sp>
          <p:nvSpPr>
            <p:cNvPr id="45" name="Rectangle 45"/>
            <p:cNvSpPr/>
            <p:nvPr/>
          </p:nvSpPr>
          <p:spPr>
            <a:xfrm>
              <a:off x="8153400" y="4267200"/>
              <a:ext cx="3505200" cy="1386840"/>
            </a:xfrm>
            <a:prstGeom prst="roundRect">
              <a:avLst>
                <a:gd name="adj" fmla="val 9615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46" name="Rectangle 46"/>
            <p:cNvSpPr/>
            <p:nvPr/>
          </p:nvSpPr>
          <p:spPr>
            <a:xfrm>
              <a:off x="8162925" y="4400550"/>
              <a:ext cx="47625" cy="1120140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47" name="Rectangle 47"/>
            <p:cNvSpPr/>
            <p:nvPr/>
          </p:nvSpPr>
          <p:spPr>
            <a:xfrm>
              <a:off x="8372475" y="4448175"/>
              <a:ext cx="1204912" cy="238125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48" name="TextBox 48"/>
            <p:cNvSpPr txBox="1"/>
            <p:nvPr/>
          </p:nvSpPr>
          <p:spPr>
            <a:xfrm>
              <a:off x="8442744" y="4481036"/>
              <a:ext cx="106532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真正不唯一的例子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8365998" y="4788694"/>
              <a:ext cx="2987802" cy="7351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本讲例1 的图：最后一步 2—3 与 3—5 权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值都是 5，收哪条都行，两棵 MST 的边权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和都是 15。</a:t>
              </a:r>
            </a:p>
          </p:txBody>
        </p:sp>
      </p:grpSp>
      <p:grpSp>
        <p:nvGrpSpPr>
          <p:cNvPr id="56" name="takeaway"/>
          <p:cNvGrpSpPr/>
          <p:nvPr/>
        </p:nvGrpSpPr>
        <p:grpSpPr>
          <a:xfrm>
            <a:off x="533400" y="5895022"/>
            <a:ext cx="11125200" cy="467678"/>
            <a:chOff x="533400" y="5895022"/>
            <a:chExt cx="11125200" cy="467678"/>
          </a:xfrm>
        </p:grpSpPr>
        <p:sp>
          <p:nvSpPr>
            <p:cNvPr id="51" name="Rectangle 51"/>
            <p:cNvSpPr/>
            <p:nvPr/>
          </p:nvSpPr>
          <p:spPr>
            <a:xfrm>
              <a:off x="533400" y="5895022"/>
              <a:ext cx="11125200" cy="467678"/>
            </a:xfrm>
            <a:prstGeom prst="roundRect">
              <a:avLst>
                <a:gd name="adj" fmla="val 24440"/>
              </a:avLst>
            </a:prstGeom>
            <a:solidFill>
              <a:srgbClr val="1F5FA8"/>
            </a:solidFill>
            <a:ln>
              <a:noFill/>
            </a:ln>
          </p:spPr>
        </p:sp>
        <p:grpSp>
          <p:nvGrpSpPr>
            <p:cNvPr id="54" name="Group 54"/>
            <p:cNvGrpSpPr/>
            <p:nvPr/>
          </p:nvGrpSpPr>
          <p:grpSpPr>
            <a:xfrm>
              <a:off x="738188" y="6028375"/>
              <a:ext cx="200023" cy="200023"/>
              <a:chOff x="738188" y="6028375"/>
              <a:chExt cx="200023" cy="200023"/>
            </a:xfrm>
          </p:grpSpPr>
          <p:sp>
            <p:nvSpPr>
              <p:cNvPr id="52" name="Freeform 52"/>
              <p:cNvSpPr/>
              <p:nvPr/>
            </p:nvSpPr>
            <p:spPr>
              <a:xfrm>
                <a:off x="738188" y="6028375"/>
                <a:ext cx="200023" cy="200023"/>
              </a:xfrm>
              <a:custGeom>
                <a:avLst/>
                <a:gdLst/>
                <a:ahLst/>
                <a:cxnLst/>
                <a:rect l="l" t="t" r="r" b="b"/>
                <a:pathLst>
                  <a:path w="200023" h="200023">
                    <a:moveTo>
                      <a:pt x="150630" y="9366"/>
                    </a:moveTo>
                    <a:lnTo>
                      <a:pt x="190658" y="49393"/>
                    </a:lnTo>
                    <a:cubicBezTo>
                      <a:pt x="196654" y="55389"/>
                      <a:pt x="200023" y="63522"/>
                      <a:pt x="200023" y="72002"/>
                    </a:cubicBezTo>
                    <a:cubicBezTo>
                      <a:pt x="200023" y="80482"/>
                      <a:pt x="196654" y="88614"/>
                      <a:pt x="190658" y="94610"/>
                    </a:cubicBezTo>
                    <a:lnTo>
                      <a:pt x="161287" y="123980"/>
                    </a:lnTo>
                    <a:cubicBezTo>
                      <a:pt x="155291" y="129977"/>
                      <a:pt x="147159" y="133346"/>
                      <a:pt x="138679" y="133346"/>
                    </a:cubicBezTo>
                    <a:cubicBezTo>
                      <a:pt x="130199" y="133346"/>
                      <a:pt x="122066" y="129977"/>
                      <a:pt x="116070" y="123980"/>
                    </a:cubicBezTo>
                    <a:lnTo>
                      <a:pt x="112726" y="120636"/>
                    </a:lnTo>
                    <a:lnTo>
                      <a:pt x="39850" y="193511"/>
                    </a:lnTo>
                    <a:cubicBezTo>
                      <a:pt x="36157" y="197203"/>
                      <a:pt x="31283" y="199477"/>
                      <a:pt x="26081" y="199935"/>
                    </a:cubicBezTo>
                    <a:lnTo>
                      <a:pt x="24136" y="200023"/>
                    </a:lnTo>
                    <a:lnTo>
                      <a:pt x="11113" y="200023"/>
                    </a:lnTo>
                    <a:cubicBezTo>
                      <a:pt x="5479" y="200023"/>
                      <a:pt x="737" y="195806"/>
                      <a:pt x="78" y="190211"/>
                    </a:cubicBezTo>
                    <a:lnTo>
                      <a:pt x="0" y="188911"/>
                    </a:lnTo>
                    <a:lnTo>
                      <a:pt x="0" y="175887"/>
                    </a:lnTo>
                    <a:cubicBezTo>
                      <a:pt x="1" y="170669"/>
                      <a:pt x="1838" y="165618"/>
                      <a:pt x="5190" y="161619"/>
                    </a:cubicBezTo>
                    <a:lnTo>
                      <a:pt x="6512" y="160174"/>
                    </a:lnTo>
                    <a:lnTo>
                      <a:pt x="11113" y="155573"/>
                    </a:lnTo>
                    <a:lnTo>
                      <a:pt x="33338" y="155573"/>
                    </a:lnTo>
                    <a:lnTo>
                      <a:pt x="33338" y="133348"/>
                    </a:lnTo>
                    <a:lnTo>
                      <a:pt x="55563" y="133348"/>
                    </a:lnTo>
                    <a:lnTo>
                      <a:pt x="55563" y="111123"/>
                    </a:lnTo>
                    <a:lnTo>
                      <a:pt x="79388" y="87298"/>
                    </a:lnTo>
                    <a:lnTo>
                      <a:pt x="76043" y="83953"/>
                    </a:lnTo>
                    <a:cubicBezTo>
                      <a:pt x="70046" y="77957"/>
                      <a:pt x="66677" y="69825"/>
                      <a:pt x="66677" y="61345"/>
                    </a:cubicBezTo>
                    <a:cubicBezTo>
                      <a:pt x="66677" y="52865"/>
                      <a:pt x="70046" y="44732"/>
                      <a:pt x="76043" y="38736"/>
                    </a:cubicBezTo>
                    <a:lnTo>
                      <a:pt x="105413" y="9366"/>
                    </a:lnTo>
                    <a:cubicBezTo>
                      <a:pt x="111409" y="3369"/>
                      <a:pt x="119542" y="0"/>
                      <a:pt x="128022" y="0"/>
                    </a:cubicBezTo>
                    <a:cubicBezTo>
                      <a:pt x="136502" y="0"/>
                      <a:pt x="144635" y="3369"/>
                      <a:pt x="150630" y="9366"/>
                    </a:cubicBez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53" name="Freeform 53"/>
              <p:cNvSpPr/>
              <p:nvPr/>
            </p:nvSpPr>
            <p:spPr>
              <a:xfrm>
                <a:off x="871538" y="6095048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</p:grpSp>
        <p:sp>
          <p:nvSpPr>
            <p:cNvPr id="55" name="TextBox 55"/>
            <p:cNvSpPr txBox="1"/>
            <p:nvPr/>
          </p:nvSpPr>
          <p:spPr>
            <a:xfrm>
              <a:off x="1041273" y="6039326"/>
              <a:ext cx="916280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等权边只有在“同一轮里互相竞争且只能收其中一部分”时才制造分支。判断唯一性要看竞争，不是看有没有相等的权值。</a:t>
              </a:r>
            </a:p>
          </p:txBody>
        </p:sp>
      </p:grpSp>
      <p:grpSp>
        <p:nvGrpSpPr>
          <p:cNvPr id="59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57" name="TextBox 57"/>
            <p:cNvSpPr txBox="1"/>
            <p:nvPr/>
          </p:nvSpPr>
          <p:spPr>
            <a:xfrm>
              <a:off x="528447" y="6581299"/>
              <a:ext cx="232523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数据结构 · 第16讲 最小支撑树及图应用</a:t>
              </a: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24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6891528" cy="909257"/>
            <a:chOff x="520446" y="342900"/>
            <a:chExt cx="6891528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3221355" cy="26670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69149" y="407194"/>
              <a:ext cx="31498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第16讲 最小支撑树 · Kruskal 算法：逐边加入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6891528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三个拓展问题：都能转化回标准的最小支撑树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F5FA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5" name="c1-card-1"/>
          <p:cNvGrpSpPr/>
          <p:nvPr/>
        </p:nvGrpSpPr>
        <p:grpSpPr>
          <a:xfrm>
            <a:off x="533400" y="1524000"/>
            <a:ext cx="3505200" cy="3475672"/>
            <a:chOff x="533400" y="1524000"/>
            <a:chExt cx="3505200" cy="3475672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3505200" cy="3475672"/>
            </a:xfrm>
            <a:prstGeom prst="roundRect">
              <a:avLst>
                <a:gd name="adj" fmla="val 3837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542925" y="1657350"/>
              <a:ext cx="47625" cy="3208972"/>
            </a:xfrm>
            <a:prstGeom prst="roundRect">
              <a:avLst>
                <a:gd name="adj" fmla="val 50000"/>
              </a:avLst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781050" y="1733550"/>
              <a:ext cx="636270" cy="257175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67308" y="1769269"/>
              <a:ext cx="46375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拓展一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524000" y="1768792"/>
              <a:ext cx="211234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必须包含某些边的 MST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773430" y="2129790"/>
              <a:ext cx="2844165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先把指定的边全部放进 T，同时用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Union 合并它们的端点。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773430" y="2750820"/>
              <a:ext cx="28727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若这些边本身已经成环，则无解；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否则对剩下的边照常跑 Kruskal。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774573" y="3368516"/>
              <a:ext cx="2776474" cy="483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45"/>
                </a:lnSpc>
              </a:pPr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指定的边强制入选后，后续判环自动避</a:t>
              </a:r>
              <a:br/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开它们造成的环。</a:t>
              </a:r>
            </a:p>
          </p:txBody>
        </p:sp>
      </p:grpSp>
      <p:grpSp>
        <p:nvGrpSpPr>
          <p:cNvPr id="24" name="c2-card-1"/>
          <p:cNvGrpSpPr/>
          <p:nvPr/>
        </p:nvGrpSpPr>
        <p:grpSpPr>
          <a:xfrm>
            <a:off x="4343400" y="1524000"/>
            <a:ext cx="3505200" cy="3475672"/>
            <a:chOff x="4343400" y="1524000"/>
            <a:chExt cx="3505200" cy="3475672"/>
          </a:xfrm>
        </p:grpSpPr>
        <p:sp>
          <p:nvSpPr>
            <p:cNvPr id="16" name="Rectangle 16"/>
            <p:cNvSpPr/>
            <p:nvPr/>
          </p:nvSpPr>
          <p:spPr>
            <a:xfrm>
              <a:off x="4343400" y="1524000"/>
              <a:ext cx="3505200" cy="3475672"/>
            </a:xfrm>
            <a:prstGeom prst="roundRect">
              <a:avLst>
                <a:gd name="adj" fmla="val 3837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17" name="Rectangle 17"/>
            <p:cNvSpPr/>
            <p:nvPr/>
          </p:nvSpPr>
          <p:spPr>
            <a:xfrm>
              <a:off x="4352925" y="1657350"/>
              <a:ext cx="47625" cy="3208972"/>
            </a:xfrm>
            <a:prstGeom prst="roundRect">
              <a:avLst>
                <a:gd name="adj" fmla="val 50000"/>
              </a:avLst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8" name="Rectangle 18"/>
            <p:cNvSpPr/>
            <p:nvPr/>
          </p:nvSpPr>
          <p:spPr>
            <a:xfrm>
              <a:off x="4591050" y="1733550"/>
              <a:ext cx="636270" cy="257175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4677308" y="1769269"/>
              <a:ext cx="46375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拓展二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5334000" y="1768792"/>
              <a:ext cx="102489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最大支撑树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4583430" y="2129790"/>
              <a:ext cx="28727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办法一：把所有边权取反，求最小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支撑树，结果取反即可。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4583430" y="2750820"/>
              <a:ext cx="285369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办法二：改 Kruskal，每次选权值</a:t>
              </a:r>
              <a:br/>
              <a:r>
                <a:rPr lang="zh-CN" sz="150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最大</a:t>
              </a: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 的边，判环规则不变。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4584573" y="3368516"/>
              <a:ext cx="2776474" cy="483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45"/>
                </a:lnSpc>
              </a:pPr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两种办法本质相同。最小跨边定理换成</a:t>
              </a:r>
              <a:br/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“最大跨边”一样成立。</a:t>
              </a:r>
            </a:p>
          </p:txBody>
        </p:sp>
      </p:grpSp>
      <p:grpSp>
        <p:nvGrpSpPr>
          <p:cNvPr id="32" name="c3-card-1"/>
          <p:cNvGrpSpPr/>
          <p:nvPr/>
        </p:nvGrpSpPr>
        <p:grpSpPr>
          <a:xfrm>
            <a:off x="8153400" y="1524000"/>
            <a:ext cx="3505200" cy="2813685"/>
            <a:chOff x="8153400" y="1524000"/>
            <a:chExt cx="3505200" cy="2813685"/>
          </a:xfrm>
        </p:grpSpPr>
        <p:sp>
          <p:nvSpPr>
            <p:cNvPr id="25" name="Rectangle 25"/>
            <p:cNvSpPr/>
            <p:nvPr/>
          </p:nvSpPr>
          <p:spPr>
            <a:xfrm>
              <a:off x="8153400" y="1524000"/>
              <a:ext cx="3505200" cy="2813685"/>
            </a:xfrm>
            <a:prstGeom prst="roundRect">
              <a:avLst>
                <a:gd name="adj" fmla="val 4739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26" name="Rectangle 26"/>
            <p:cNvSpPr/>
            <p:nvPr/>
          </p:nvSpPr>
          <p:spPr>
            <a:xfrm>
              <a:off x="8162925" y="1657350"/>
              <a:ext cx="47625" cy="2546985"/>
            </a:xfrm>
            <a:prstGeom prst="roundRect">
              <a:avLst>
                <a:gd name="adj" fmla="val 50000"/>
              </a:avLst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27" name="Rectangle 27"/>
            <p:cNvSpPr/>
            <p:nvPr/>
          </p:nvSpPr>
          <p:spPr>
            <a:xfrm>
              <a:off x="8401050" y="1733550"/>
              <a:ext cx="636270" cy="257175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8487308" y="1769269"/>
              <a:ext cx="46375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拓展三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9144000" y="1768792"/>
              <a:ext cx="142875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最小乘积支撑树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8393430" y="2129790"/>
              <a:ext cx="28727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给定正权图，求边权乘积最小的支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撑树。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8393430" y="2750820"/>
              <a:ext cx="2882265" cy="1436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对乘积取对数，log(w₁w₂…) =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log w₁ + log w₂ + …。正权下 log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严格单调递增，所以把每条边的权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换成 log w 再求最小支撑树，得到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的树就是答案。</a:t>
              </a:r>
            </a:p>
          </p:txBody>
        </p: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33" name="formula5"/>
              <p:cNvSpPr txBox="1">
                <a:spLocks noGrp="1"/>
              </p:cNvSpPr>
              <p:nvPr/>
            </p:nvSpPr>
            <p:spPr>
              <a:xfrm>
                <a:off x="8153400" y="4528185"/>
                <a:ext cx="3505200" cy="47148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lIns="0" tIns="0" rIns="0" bIns="0" wrap="none" anchor="ctr">
                <a:normAutofit/>
              </a:bodyPr>
              <a:lstStyle/>
              <a:p>
                <a:pPr algn="ctr"/>
                <a14:m>
                  <m:oMathPara xmlns:a="http://schemas.openxmlformats.org/drawingml/2006/main" xmlns:m="http://schemas.openxmlformats.org/officeDocument/2006/math">
                    <m:oMathParaPr>
                      <m:jc m:val="center"/>
                    </m:oMathParaPr>
                    <m:oMath>
                      <m:func>
                        <m:funcPr/>
                        <m:fName>
                          <m:r>
                            <m:rPr>
                              <m:sty m:val="p"/>
                            </m:rPr>
                            <a:rPr lang="zh-CN" sz="11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min</m:t>
                          </m:r>
                        </m:fName>
                        <m:e>
                          <m:nary>
                            <m:naryPr>
                              <m:chr m:val="∏"/>
                              <m:limLoc m:val="undOvr"/>
                              <m:grow m:val="off"/>
                              <m:subHide m:val="off"/>
                              <m:supHide m:val="on"/>
                              <m:ctrlPr>
                                <a:rPr lang="zh-CN" sz="112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naryPr>
                            <m:sub>
                              <m:r>
                                <a:rPr lang="zh-CN" sz="112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e</m:t>
                              </m:r>
                              <m:r>
                                <m:rPr>
                                  <m:sty m:val="p"/>
                                </m:rPr>
                                <a:rPr lang="zh-CN" sz="112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∈</m:t>
                              </m:r>
                              <m:r>
                                <a:rPr lang="zh-CN" sz="112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T</m:t>
                              </m:r>
                            </m:sub>
                            <m:sup/>
                            <m:e>
                              <m:sSub>
                                <m:e>
                                  <m:r>
                                    <a:rPr lang="zh-CN" sz="112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w</m:t>
                                  </m:r>
                                </m:e>
                                <m:sub>
                                  <m:r>
                                    <a:rPr lang="zh-CN" sz="112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e</m:t>
                                  </m:r>
                                </m:sub>
                              </m:sSub>
                            </m:e>
                          </m:nary>
                        </m:e>
                      </m:func>
                      <m:r>
                        <m:rPr>
                          <m:sty m:val="p"/>
                        </m:rPr>
                        <a:rPr lang="zh-CN" sz="112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⟺</m:t>
                      </m:r>
                      <m:func>
                        <m:funcPr/>
                        <m:fName>
                          <m:r>
                            <m:rPr>
                              <m:sty m:val="p"/>
                            </m:rPr>
                            <a:rPr lang="zh-CN" sz="11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min</m:t>
                          </m:r>
                        </m:fName>
                        <m:e>
                          <m:nary>
                            <m:naryPr>
                              <m:chr m:val="∑"/>
                              <m:limLoc m:val="undOvr"/>
                              <m:grow m:val="off"/>
                              <m:subHide m:val="off"/>
                              <m:supHide m:val="on"/>
                              <m:ctrlPr>
                                <a:rPr lang="zh-CN" sz="112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naryPr>
                            <m:sub>
                              <m:r>
                                <a:rPr lang="zh-CN" sz="112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e</m:t>
                              </m:r>
                              <m:r>
                                <m:rPr>
                                  <m:sty m:val="p"/>
                                </m:rPr>
                                <a:rPr lang="zh-CN" sz="112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∈</m:t>
                              </m:r>
                              <m:r>
                                <a:rPr lang="zh-CN" sz="112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T</m:t>
                              </m:r>
                            </m:sub>
                            <m:sup/>
                            <m:e>
                              <m:func>
                                <m:funcPr/>
                                <m:fName>
                                  <m:r>
                                    <m:rPr>
                                      <m:sty m:val="p"/>
                                    </m:rPr>
                                    <a:rPr lang="zh-CN" sz="112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log</m:t>
                                  </m:r>
                                </m:fName>
                                <m:e>
                                  <m:sSub>
                                    <m:e>
                                      <m:r>
                                        <a:rPr lang="zh-CN" sz="1120" dirty="0">
                                          <a:solidFill>
                                            <a:srgbClr val="1F2937"/>
                                          </a:solidFill>
                                          <a:latin typeface="Cambria Math"/>
                                          <a:ea typeface="Cambria Math"/>
                                          <a:cs typeface="Cambria Math"/>
                                        </a:rPr>
                                        <m:t>w</m:t>
                                      </m:r>
                                    </m:e>
                                    <m:sub>
                                      <m:r>
                                        <a:rPr lang="zh-CN" sz="1120" dirty="0">
                                          <a:solidFill>
                                            <a:srgbClr val="1F2937"/>
                                          </a:solidFill>
                                          <a:latin typeface="Cambria Math"/>
                                          <a:ea typeface="Cambria Math"/>
                                          <a:cs typeface="Cambria Math"/>
                                        </a:rPr>
                                        <m:t>e</m:t>
                                      </m:r>
                                    </m:sub>
                                  </m:sSub>
                                </m:e>
                              </m:func>
                            </m:e>
                          </m:nary>
                        </m:e>
                      </m:func>
                    </m:oMath>
                  </m:oMathPara>
                </a14:m>
              </a:p>
            </p:txBody>
          </p:sp>
        </mc:Choice>
      </mc:AlternateContent>
      <p:grpSp>
        <p:nvGrpSpPr>
          <p:cNvPr id="40" name="takeaway"/>
          <p:cNvGrpSpPr/>
          <p:nvPr/>
        </p:nvGrpSpPr>
        <p:grpSpPr>
          <a:xfrm>
            <a:off x="533400" y="5579745"/>
            <a:ext cx="11125200" cy="782955"/>
            <a:chOff x="533400" y="5579745"/>
            <a:chExt cx="11125200" cy="782955"/>
          </a:xfrm>
        </p:grpSpPr>
        <p:sp>
          <p:nvSpPr>
            <p:cNvPr id="34" name="Rectangle 34"/>
            <p:cNvSpPr/>
            <p:nvPr/>
          </p:nvSpPr>
          <p:spPr>
            <a:xfrm>
              <a:off x="533400" y="5579745"/>
              <a:ext cx="11125200" cy="782955"/>
            </a:xfrm>
            <a:prstGeom prst="roundRect">
              <a:avLst>
                <a:gd name="adj" fmla="val 14599"/>
              </a:avLst>
            </a:prstGeom>
            <a:solidFill>
              <a:srgbClr val="FDECEA"/>
            </a:solidFill>
            <a:ln>
              <a:noFill/>
            </a:ln>
          </p:spPr>
        </p:sp>
        <p:grpSp>
          <p:nvGrpSpPr>
            <p:cNvPr id="38" name="Group 38"/>
            <p:cNvGrpSpPr/>
            <p:nvPr/>
          </p:nvGrpSpPr>
          <p:grpSpPr>
            <a:xfrm>
              <a:off x="726129" y="5867518"/>
              <a:ext cx="224134" cy="192560"/>
              <a:chOff x="726129" y="5867518"/>
              <a:chExt cx="224134" cy="192560"/>
            </a:xfrm>
          </p:grpSpPr>
          <p:sp>
            <p:nvSpPr>
              <p:cNvPr id="35" name="Freeform 35"/>
              <p:cNvSpPr/>
              <p:nvPr/>
            </p:nvSpPr>
            <p:spPr>
              <a:xfrm>
                <a:off x="838200" y="5937885"/>
                <a:ext cx="95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44450">
                    <a:moveTo>
                      <a:pt x="0" y="0"/>
                    </a:moveTo>
                    <a:lnTo>
                      <a:pt x="0" y="4445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36" name="Freeform 36"/>
              <p:cNvSpPr/>
              <p:nvPr/>
            </p:nvSpPr>
            <p:spPr>
              <a:xfrm>
                <a:off x="726129" y="5867518"/>
                <a:ext cx="224134" cy="192560"/>
              </a:xfrm>
              <a:custGeom>
                <a:avLst/>
                <a:gdLst/>
                <a:ahLst/>
                <a:cxnLst/>
                <a:rect l="l" t="t" r="r" b="b"/>
                <a:pathLst>
                  <a:path w="224134" h="192560">
                    <a:moveTo>
                      <a:pt x="93880" y="10259"/>
                    </a:moveTo>
                    <a:lnTo>
                      <a:pt x="3802" y="160656"/>
                    </a:lnTo>
                    <a:cubicBezTo>
                      <a:pt x="23" y="167200"/>
                      <a:pt x="0" y="175257"/>
                      <a:pt x="3741" y="181823"/>
                    </a:cubicBezTo>
                    <a:cubicBezTo>
                      <a:pt x="7482" y="188388"/>
                      <a:pt x="14426" y="192476"/>
                      <a:pt x="21982" y="192560"/>
                    </a:cubicBezTo>
                    <a:lnTo>
                      <a:pt x="202160" y="192560"/>
                    </a:lnTo>
                    <a:cubicBezTo>
                      <a:pt x="209713" y="192473"/>
                      <a:pt x="216653" y="188387"/>
                      <a:pt x="220393" y="181826"/>
                    </a:cubicBezTo>
                    <a:cubicBezTo>
                      <a:pt x="224134" y="175264"/>
                      <a:pt x="224114" y="167211"/>
                      <a:pt x="220341" y="160667"/>
                    </a:cubicBezTo>
                    <a:lnTo>
                      <a:pt x="130262" y="10248"/>
                    </a:lnTo>
                    <a:cubicBezTo>
                      <a:pt x="126408" y="3886"/>
                      <a:pt x="119510" y="0"/>
                      <a:pt x="112071" y="0"/>
                    </a:cubicBezTo>
                    <a:cubicBezTo>
                      <a:pt x="104633" y="0"/>
                      <a:pt x="97734" y="3886"/>
                      <a:pt x="93880" y="10248"/>
                    </a:cubicBez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37" name="Freeform 37"/>
              <p:cNvSpPr/>
              <p:nvPr/>
            </p:nvSpPr>
            <p:spPr>
              <a:xfrm>
                <a:off x="838200" y="6015673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</p:grpSp>
        <p:sp>
          <p:nvSpPr>
            <p:cNvPr id="39" name="TextBox 39"/>
            <p:cNvSpPr txBox="1"/>
            <p:nvPr/>
          </p:nvSpPr>
          <p:spPr>
            <a:xfrm>
              <a:off x="1040130" y="5728335"/>
              <a:ext cx="9768840" cy="5695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75"/>
                </a:lnSpc>
              </a:pPr>
              <a:r>
                <a:rPr lang="zh-CN" sz="150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取对数这一步要求全部边权为正。出现 w = 1 时 log w = 0，出现 0 &lt; w &lt; 1 时 log w 为负，算法照常，但不能有 w ≤</a:t>
              </a:r>
              <a:br/>
              <a:r>
                <a:rPr lang="zh-CN" sz="150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0。</a:t>
              </a:r>
            </a:p>
          </p:txBody>
        </p:sp>
      </p:grpSp>
      <p:grpSp>
        <p:nvGrpSpPr>
          <p:cNvPr id="43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41" name="TextBox 41"/>
            <p:cNvSpPr txBox="1"/>
            <p:nvPr/>
          </p:nvSpPr>
          <p:spPr>
            <a:xfrm>
              <a:off x="528447" y="6581299"/>
              <a:ext cx="232523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数据结构 · 第16讲 最小支撑树及图应用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25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6519149" cy="909257"/>
            <a:chOff x="520446" y="342900"/>
            <a:chExt cx="6519149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3221355" cy="26670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69149" y="407194"/>
              <a:ext cx="31498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第16讲 最小支撑树 · Kruskal 算法：逐边加入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6519149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增量最小支撑树：加一条边，O(n) 内改好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F5FA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8" name="lead"/>
          <p:cNvGrpSpPr/>
          <p:nvPr/>
        </p:nvGrpSpPr>
        <p:grpSpPr>
          <a:xfrm>
            <a:off x="526542" y="1545907"/>
            <a:ext cx="10575036" cy="512636"/>
            <a:chOff x="526542" y="1545907"/>
            <a:chExt cx="10575036" cy="512636"/>
          </a:xfrm>
        </p:grpSpPr>
        <p:sp>
          <p:nvSpPr>
            <p:cNvPr id="7" name="TextBox 7"/>
            <p:cNvSpPr txBox="1"/>
            <p:nvPr/>
          </p:nvSpPr>
          <p:spPr>
            <a:xfrm>
              <a:off x="526542" y="1545907"/>
              <a:ext cx="10575036" cy="51263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58"/>
                </a:lnSpc>
              </a:pPr>
              <a:r>
                <a:rPr lang="zh-CN" sz="13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【2018 级期末考试题，14 分】已知无向带权连通图 G 的最小支撑树 T，现向 G 加入一条新边 e（顶点集不变），设计 O(n) 算法求新图 G +</a:t>
              </a:r>
              <a:br/>
              <a:r>
                <a:rPr lang="zh-CN" sz="13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e 的最小支撑树。</a:t>
              </a:r>
            </a:p>
          </p:txBody>
        </p:sp>
      </p:grpSp>
      <p:grpSp>
        <p:nvGrpSpPr>
          <p:cNvPr id="30" name="c1-steps-1"/>
          <p:cNvGrpSpPr/>
          <p:nvPr/>
        </p:nvGrpSpPr>
        <p:grpSpPr>
          <a:xfrm>
            <a:off x="533400" y="2186940"/>
            <a:ext cx="5811774" cy="3476244"/>
            <a:chOff x="533400" y="2186940"/>
            <a:chExt cx="5811774" cy="3476244"/>
          </a:xfrm>
        </p:grpSpPr>
        <p:sp>
          <p:nvSpPr>
            <p:cNvPr id="9" name="Rectangle 9"/>
            <p:cNvSpPr/>
            <p:nvPr/>
          </p:nvSpPr>
          <p:spPr>
            <a:xfrm>
              <a:off x="666750" y="2329815"/>
              <a:ext cx="19050" cy="298513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0" name="Ellipse 10"/>
            <p:cNvSpPr/>
            <p:nvPr/>
          </p:nvSpPr>
          <p:spPr>
            <a:xfrm>
              <a:off x="533400" y="2186940"/>
              <a:ext cx="285750" cy="28575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627024" y="2260759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12" name="Ellipse 12"/>
            <p:cNvSpPr/>
            <p:nvPr/>
          </p:nvSpPr>
          <p:spPr>
            <a:xfrm>
              <a:off x="533400" y="2932748"/>
              <a:ext cx="285750" cy="28575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627024" y="3006566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14" name="Ellipse 14"/>
            <p:cNvSpPr/>
            <p:nvPr/>
          </p:nvSpPr>
          <p:spPr>
            <a:xfrm>
              <a:off x="533400" y="3679508"/>
              <a:ext cx="285750" cy="28575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627024" y="3753326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16" name="Ellipse 16"/>
            <p:cNvSpPr/>
            <p:nvPr/>
          </p:nvSpPr>
          <p:spPr>
            <a:xfrm>
              <a:off x="533400" y="4426268"/>
              <a:ext cx="285750" cy="28575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627024" y="4500086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18" name="Ellipse 18"/>
            <p:cNvSpPr/>
            <p:nvPr/>
          </p:nvSpPr>
          <p:spPr>
            <a:xfrm>
              <a:off x="533400" y="5172075"/>
              <a:ext cx="285750" cy="28575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627024" y="524589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946023" y="2216944"/>
              <a:ext cx="87452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想清楚结构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947166" y="2471738"/>
              <a:ext cx="5244656" cy="39871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522"/>
                </a:lnSpc>
              </a:pPr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设 e =（u, v）。加入 e 后 T + e 中恰好出现一个环，由 T 中 u 到 v 的唯一路径加上 e 构</a:t>
              </a:r>
              <a:br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成。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946023" y="2963704"/>
              <a:ext cx="104683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找环上最大边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947166" y="3218498"/>
              <a:ext cx="5237988" cy="39871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522"/>
                </a:lnSpc>
              </a:pPr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在 T 中以 u 为起点做 DFS，走到 v 停止，沿途记下路径上权值最大的边（x, y）。T 只有</a:t>
              </a:r>
              <a:br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n−1 条边，代价 O(n)。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946023" y="3710464"/>
              <a:ext cx="7022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换或不换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947166" y="3964305"/>
              <a:ext cx="5384673" cy="39871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522"/>
                </a:lnSpc>
              </a:pPr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若 weight(x, y) &gt; weight(e)，删去（x, y）、加入 e，得到的就是 G + e 的最小支撑树；</a:t>
              </a:r>
              <a:br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否则原来的 T 不变。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946023" y="4456271"/>
              <a:ext cx="52989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正确性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947166" y="4711065"/>
              <a:ext cx="5398008" cy="39871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522"/>
                </a:lnSpc>
              </a:pPr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删去（x, y）把 T 分成两块，环上只有 e 跨这两块，而 e 是此时跨边中最小的，由最小跨边</a:t>
              </a:r>
              <a:br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定理换进来正确。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946023" y="5203031"/>
              <a:ext cx="52989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复杂度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947166" y="5457825"/>
              <a:ext cx="457870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只在含 n−1 条边的 T 上做 DFS 才是 O(n)；在原图 G 上做是 O(n + e)。</a:t>
              </a:r>
            </a:p>
          </p:txBody>
        </p:sp>
      </p:grpSp>
      <p:grpSp>
        <p:nvGrpSpPr>
          <p:cNvPr id="53" name="c2-graph-1"/>
          <p:cNvGrpSpPr/>
          <p:nvPr/>
        </p:nvGrpSpPr>
        <p:grpSpPr>
          <a:xfrm>
            <a:off x="7439978" y="2296478"/>
            <a:ext cx="3580447" cy="1662112"/>
            <a:chOff x="7439978" y="2296478"/>
            <a:chExt cx="3580447" cy="1662112"/>
          </a:xfrm>
        </p:grpSpPr>
        <p:sp>
          <p:nvSpPr>
            <p:cNvPr id="31" name="Freeform 31"/>
            <p:cNvSpPr/>
            <p:nvPr/>
          </p:nvSpPr>
          <p:spPr>
            <a:xfrm>
              <a:off x="7577138" y="2917508"/>
              <a:ext cx="65722" cy="667702"/>
            </a:xfrm>
            <a:custGeom>
              <a:avLst/>
              <a:gdLst/>
              <a:ahLst/>
              <a:cxnLst/>
              <a:rect l="l" t="t" r="r" b="b"/>
              <a:pathLst>
                <a:path w="65722" h="667702">
                  <a:moveTo>
                    <a:pt x="65722" y="667702"/>
                  </a:moveTo>
                  <a:lnTo>
                    <a:pt x="0" y="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32" name="Freeform 32"/>
            <p:cNvSpPr/>
            <p:nvPr/>
          </p:nvSpPr>
          <p:spPr>
            <a:xfrm>
              <a:off x="7694295" y="2447925"/>
              <a:ext cx="1453515" cy="308610"/>
            </a:xfrm>
            <a:custGeom>
              <a:avLst/>
              <a:gdLst/>
              <a:ahLst/>
              <a:cxnLst/>
              <a:rect l="l" t="t" r="r" b="b"/>
              <a:pathLst>
                <a:path w="1453515" h="308610">
                  <a:moveTo>
                    <a:pt x="0" y="308610"/>
                  </a:moveTo>
                  <a:lnTo>
                    <a:pt x="1453515" y="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33" name="Freeform 33"/>
            <p:cNvSpPr/>
            <p:nvPr/>
          </p:nvSpPr>
          <p:spPr>
            <a:xfrm>
              <a:off x="9406890" y="2455545"/>
              <a:ext cx="1361122" cy="374333"/>
            </a:xfrm>
            <a:custGeom>
              <a:avLst/>
              <a:gdLst/>
              <a:ahLst/>
              <a:cxnLst/>
              <a:rect l="l" t="t" r="r" b="b"/>
              <a:pathLst>
                <a:path w="1361122" h="374333">
                  <a:moveTo>
                    <a:pt x="0" y="0"/>
                  </a:moveTo>
                  <a:lnTo>
                    <a:pt x="1361122" y="374333"/>
                  </a:lnTo>
                </a:path>
              </a:pathLst>
            </a:custGeom>
            <a:noFill/>
            <a:ln w="17145">
              <a:solidFill>
                <a:srgbClr val="B42318"/>
              </a:solidFill>
            </a:ln>
          </p:spPr>
        </p:sp>
        <p:sp>
          <p:nvSpPr>
            <p:cNvPr id="34" name="Freeform 34"/>
            <p:cNvSpPr/>
            <p:nvPr/>
          </p:nvSpPr>
          <p:spPr>
            <a:xfrm>
              <a:off x="10740390" y="2995612"/>
              <a:ext cx="129540" cy="632460"/>
            </a:xfrm>
            <a:custGeom>
              <a:avLst/>
              <a:gdLst/>
              <a:ahLst/>
              <a:cxnLst/>
              <a:rect l="l" t="t" r="r" b="b"/>
              <a:pathLst>
                <a:path w="129540" h="632460">
                  <a:moveTo>
                    <a:pt x="129540" y="0"/>
                  </a:moveTo>
                  <a:lnTo>
                    <a:pt x="0" y="63246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35" name="Freeform 35"/>
            <p:cNvSpPr/>
            <p:nvPr/>
          </p:nvSpPr>
          <p:spPr>
            <a:xfrm>
              <a:off x="7830502" y="3758565"/>
              <a:ext cx="2704148" cy="35242"/>
            </a:xfrm>
            <a:custGeom>
              <a:avLst/>
              <a:gdLst/>
              <a:ahLst/>
              <a:cxnLst/>
              <a:rect l="l" t="t" r="r" b="b"/>
              <a:pathLst>
                <a:path w="2704148" h="35242">
                  <a:moveTo>
                    <a:pt x="0" y="0"/>
                  </a:moveTo>
                  <a:lnTo>
                    <a:pt x="2704148" y="35242"/>
                  </a:lnTo>
                </a:path>
              </a:pathLst>
            </a:custGeom>
            <a:noFill/>
            <a:ln w="17145">
              <a:solidFill>
                <a:srgbClr val="14A38B"/>
              </a:solidFill>
            </a:ln>
          </p:spPr>
        </p:sp>
        <p:sp>
          <p:nvSpPr>
            <p:cNvPr id="36" name="Ellipse 36"/>
            <p:cNvSpPr/>
            <p:nvPr/>
          </p:nvSpPr>
          <p:spPr>
            <a:xfrm>
              <a:off x="7497128" y="3593782"/>
              <a:ext cx="323850" cy="323850"/>
            </a:xfrm>
            <a:prstGeom prst="ellipse">
              <a:avLst/>
            </a:prstGeom>
            <a:solidFill>
              <a:srgbClr val="FDEEE7"/>
            </a:solidFill>
            <a:ln w="17145">
              <a:solidFill>
                <a:srgbClr val="F26B3A"/>
              </a:solidFill>
            </a:ln>
          </p:spPr>
        </p:sp>
        <p:sp>
          <p:nvSpPr>
            <p:cNvPr id="37" name="Ellipse 37"/>
            <p:cNvSpPr/>
            <p:nvPr/>
          </p:nvSpPr>
          <p:spPr>
            <a:xfrm>
              <a:off x="7439978" y="2660332"/>
              <a:ext cx="247650" cy="24765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38" name="Ellipse 38"/>
            <p:cNvSpPr/>
            <p:nvPr/>
          </p:nvSpPr>
          <p:spPr>
            <a:xfrm>
              <a:off x="9154478" y="2296478"/>
              <a:ext cx="247650" cy="24765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39" name="Ellipse 39"/>
            <p:cNvSpPr/>
            <p:nvPr/>
          </p:nvSpPr>
          <p:spPr>
            <a:xfrm>
              <a:off x="10772775" y="2741295"/>
              <a:ext cx="247650" cy="24765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40" name="Ellipse 40"/>
            <p:cNvSpPr/>
            <p:nvPr/>
          </p:nvSpPr>
          <p:spPr>
            <a:xfrm>
              <a:off x="10544175" y="3634740"/>
              <a:ext cx="323850" cy="323850"/>
            </a:xfrm>
            <a:prstGeom prst="ellipse">
              <a:avLst/>
            </a:prstGeom>
            <a:solidFill>
              <a:srgbClr val="FDEEE7"/>
            </a:solidFill>
            <a:ln w="17145">
              <a:solidFill>
                <a:srgbClr val="F26B3A"/>
              </a:solidFill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7619306" y="3699510"/>
              <a:ext cx="7949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u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10666353" y="3740468"/>
              <a:ext cx="7949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v</a:t>
              </a:r>
            </a:p>
          </p:txBody>
        </p:sp>
        <p:sp>
          <p:nvSpPr>
            <p:cNvPr id="43" name="Rectangle 43"/>
            <p:cNvSpPr/>
            <p:nvPr/>
          </p:nvSpPr>
          <p:spPr>
            <a:xfrm>
              <a:off x="7542848" y="3172778"/>
              <a:ext cx="133350" cy="146685"/>
            </a:xfrm>
            <a:prstGeom prst="roundRect">
              <a:avLst>
                <a:gd name="adj" fmla="val 28571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7574403" y="3201829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45" name="Rectangle 45"/>
            <p:cNvSpPr/>
            <p:nvPr/>
          </p:nvSpPr>
          <p:spPr>
            <a:xfrm>
              <a:off x="8354378" y="2524125"/>
              <a:ext cx="133350" cy="146685"/>
            </a:xfrm>
            <a:prstGeom prst="roundRect">
              <a:avLst>
                <a:gd name="adj" fmla="val 28571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8385933" y="2553176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47" name="Rectangle 47"/>
            <p:cNvSpPr/>
            <p:nvPr/>
          </p:nvSpPr>
          <p:spPr>
            <a:xfrm>
              <a:off x="10020300" y="2564130"/>
              <a:ext cx="133350" cy="146685"/>
            </a:xfrm>
            <a:prstGeom prst="roundRect">
              <a:avLst>
                <a:gd name="adj" fmla="val 28571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48" name="TextBox 48"/>
            <p:cNvSpPr txBox="1"/>
            <p:nvPr/>
          </p:nvSpPr>
          <p:spPr>
            <a:xfrm>
              <a:off x="10052808" y="2593181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8</a:t>
              </a:r>
            </a:p>
          </p:txBody>
        </p:sp>
        <p:sp>
          <p:nvSpPr>
            <p:cNvPr id="49" name="Rectangle 49"/>
            <p:cNvSpPr/>
            <p:nvPr/>
          </p:nvSpPr>
          <p:spPr>
            <a:xfrm>
              <a:off x="10738485" y="3233738"/>
              <a:ext cx="133350" cy="146685"/>
            </a:xfrm>
            <a:prstGeom prst="roundRect">
              <a:avLst>
                <a:gd name="adj" fmla="val 28571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50" name="TextBox 50"/>
            <p:cNvSpPr txBox="1"/>
            <p:nvPr/>
          </p:nvSpPr>
          <p:spPr>
            <a:xfrm>
              <a:off x="10770041" y="3262789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6</a:t>
              </a:r>
            </a:p>
          </p:txBody>
        </p:sp>
        <p:sp>
          <p:nvSpPr>
            <p:cNvPr id="51" name="Rectangle 51"/>
            <p:cNvSpPr/>
            <p:nvPr/>
          </p:nvSpPr>
          <p:spPr>
            <a:xfrm>
              <a:off x="9027795" y="3697605"/>
              <a:ext cx="310515" cy="146685"/>
            </a:xfrm>
            <a:prstGeom prst="roundRect">
              <a:avLst>
                <a:gd name="adj" fmla="val 25974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52" name="TextBox 52"/>
            <p:cNvSpPr txBox="1"/>
            <p:nvPr/>
          </p:nvSpPr>
          <p:spPr>
            <a:xfrm>
              <a:off x="9054103" y="3726656"/>
              <a:ext cx="25789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8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e = 3</a:t>
              </a:r>
            </a:p>
          </p:txBody>
        </p:sp>
      </p:grpSp>
      <p:grpSp>
        <p:nvGrpSpPr>
          <p:cNvPr id="59" name="c2-card-2"/>
          <p:cNvGrpSpPr/>
          <p:nvPr/>
        </p:nvGrpSpPr>
        <p:grpSpPr>
          <a:xfrm>
            <a:off x="6898005" y="4366260"/>
            <a:ext cx="4760595" cy="1293495"/>
            <a:chOff x="6898005" y="4366260"/>
            <a:chExt cx="4760595" cy="1293495"/>
          </a:xfrm>
        </p:grpSpPr>
        <p:sp>
          <p:nvSpPr>
            <p:cNvPr id="54" name="Rectangle 54"/>
            <p:cNvSpPr/>
            <p:nvPr/>
          </p:nvSpPr>
          <p:spPr>
            <a:xfrm>
              <a:off x="6898005" y="4366260"/>
              <a:ext cx="4760595" cy="1293495"/>
            </a:xfrm>
            <a:prstGeom prst="roundRect">
              <a:avLst>
                <a:gd name="adj" fmla="val 10309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55" name="Rectangle 55"/>
            <p:cNvSpPr/>
            <p:nvPr/>
          </p:nvSpPr>
          <p:spPr>
            <a:xfrm>
              <a:off x="6907530" y="4499610"/>
              <a:ext cx="47625" cy="1026795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56" name="Rectangle 56"/>
            <p:cNvSpPr/>
            <p:nvPr/>
          </p:nvSpPr>
          <p:spPr>
            <a:xfrm>
              <a:off x="7117080" y="4547235"/>
              <a:ext cx="458152" cy="238125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57" name="TextBox 57"/>
            <p:cNvSpPr txBox="1"/>
            <p:nvPr/>
          </p:nvSpPr>
          <p:spPr>
            <a:xfrm>
              <a:off x="7208799" y="4580096"/>
              <a:ext cx="27376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读图</a:t>
              </a: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7110603" y="4886801"/>
              <a:ext cx="4141978" cy="4922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环上最大的是权 8 那条边，而新边 e 的权是 3。3 &lt; 8，所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以删掉权 8 的边、换成 e，边权和减少 5。</a:t>
              </a:r>
            </a:p>
          </p:txBody>
        </p:sp>
      </p:grpSp>
      <p:grpSp>
        <p:nvGrpSpPr>
          <p:cNvPr id="66" name="takeaway"/>
          <p:cNvGrpSpPr/>
          <p:nvPr/>
        </p:nvGrpSpPr>
        <p:grpSpPr>
          <a:xfrm>
            <a:off x="533400" y="5895022"/>
            <a:ext cx="11125200" cy="467678"/>
            <a:chOff x="533400" y="5895022"/>
            <a:chExt cx="11125200" cy="467678"/>
          </a:xfrm>
        </p:grpSpPr>
        <p:sp>
          <p:nvSpPr>
            <p:cNvPr id="60" name="Rectangle 60"/>
            <p:cNvSpPr/>
            <p:nvPr/>
          </p:nvSpPr>
          <p:spPr>
            <a:xfrm>
              <a:off x="533400" y="5895022"/>
              <a:ext cx="11125200" cy="467678"/>
            </a:xfrm>
            <a:prstGeom prst="roundRect">
              <a:avLst>
                <a:gd name="adj" fmla="val 24440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64" name="Group 64"/>
            <p:cNvGrpSpPr/>
            <p:nvPr/>
          </p:nvGrpSpPr>
          <p:grpSpPr>
            <a:xfrm>
              <a:off x="738188" y="6028373"/>
              <a:ext cx="200026" cy="200025"/>
              <a:chOff x="738188" y="6028373"/>
              <a:chExt cx="200026" cy="200025"/>
            </a:xfrm>
          </p:grpSpPr>
          <p:sp>
            <p:nvSpPr>
              <p:cNvPr id="61" name="Freeform 61"/>
              <p:cNvSpPr/>
              <p:nvPr/>
            </p:nvSpPr>
            <p:spPr>
              <a:xfrm>
                <a:off x="738188" y="6028373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62" name="Freeform 62"/>
              <p:cNvSpPr/>
              <p:nvPr/>
            </p:nvSpPr>
            <p:spPr>
              <a:xfrm>
                <a:off x="777926" y="6072823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63" name="Freeform 63"/>
              <p:cNvSpPr/>
              <p:nvPr/>
            </p:nvSpPr>
            <p:spPr>
              <a:xfrm>
                <a:off x="812642" y="6183948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65" name="TextBox 65"/>
            <p:cNvSpPr txBox="1"/>
            <p:nvPr/>
          </p:nvSpPr>
          <p:spPr>
            <a:xfrm>
              <a:off x="1041273" y="6039326"/>
              <a:ext cx="802000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若加入的是新顶点而不是新边，做法完全不同：新点只需在它的全部关联边里挑最小的一条接上，O(n)。</a:t>
              </a:r>
            </a:p>
          </p:txBody>
        </p:sp>
      </p:grpSp>
      <p:grpSp>
        <p:nvGrpSpPr>
          <p:cNvPr id="69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67" name="TextBox 67"/>
            <p:cNvSpPr txBox="1"/>
            <p:nvPr/>
          </p:nvSpPr>
          <p:spPr>
            <a:xfrm>
              <a:off x="528447" y="6581299"/>
              <a:ext cx="232523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数据结构 · 第16讲 最小支撑树及图应用</a:t>
              </a:r>
            </a:p>
          </p:txBody>
        </p:sp>
        <p:sp>
          <p:nvSpPr>
            <p:cNvPr id="68" name="TextBox 68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26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5993945" cy="909257"/>
            <a:chOff x="520446" y="342900"/>
            <a:chExt cx="5993945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3221355" cy="26670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69149" y="407194"/>
              <a:ext cx="31498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第16讲 最小支撑树 · Kruskal 算法：逐边加入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5993945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MST 的另外两个用法：聚类与图像分割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F5FA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5" name="c1-card-1"/>
          <p:cNvGrpSpPr/>
          <p:nvPr/>
        </p:nvGrpSpPr>
        <p:grpSpPr>
          <a:xfrm>
            <a:off x="533400" y="1524000"/>
            <a:ext cx="5410200" cy="2577465"/>
            <a:chOff x="533400" y="1524000"/>
            <a:chExt cx="5410200" cy="2577465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410200" cy="2577465"/>
            </a:xfrm>
            <a:prstGeom prst="roundRect">
              <a:avLst>
                <a:gd name="adj" fmla="val 5174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542925" y="1657350"/>
              <a:ext cx="47625" cy="2310765"/>
            </a:xfrm>
            <a:prstGeom prst="roundRect">
              <a:avLst>
                <a:gd name="adj" fmla="val 50000"/>
              </a:avLst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781050" y="1733550"/>
              <a:ext cx="778192" cy="257175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63359" y="1769269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用户聚类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665922" y="1768792"/>
              <a:ext cx="212453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让 Kruskal 提前停下来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773430" y="2129790"/>
              <a:ext cx="45872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每个用户是一个顶点，边权反映两个用户购买习惯的相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似程度，越相似权值越小。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773430" y="2750820"/>
              <a:ext cx="4662011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设定参数 k，执行 Kruskal 但在 T 中还剩 </a:t>
              </a:r>
              <a:r>
                <a:rPr lang="zh-CN" sz="150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k 个连通分量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时就停止，这 k 个分量就是 k 组用户。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773430" y="3371850"/>
              <a:ext cx="43967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也可以设一个阈值，当选出的最小边权高于阈值时终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止，此时组数由数据自己决定。</a:t>
              </a:r>
            </a:p>
          </p:txBody>
        </p:sp>
      </p:grpSp>
      <p:grpSp>
        <p:nvGrpSpPr>
          <p:cNvPr id="22" name="c1-callout-2"/>
          <p:cNvGrpSpPr/>
          <p:nvPr/>
        </p:nvGrpSpPr>
        <p:grpSpPr>
          <a:xfrm>
            <a:off x="533400" y="4291965"/>
            <a:ext cx="5410200" cy="981075"/>
            <a:chOff x="533400" y="4291965"/>
            <a:chExt cx="5410200" cy="981075"/>
          </a:xfrm>
        </p:grpSpPr>
        <p:sp>
          <p:nvSpPr>
            <p:cNvPr id="16" name="Rectangle 16"/>
            <p:cNvSpPr/>
            <p:nvPr/>
          </p:nvSpPr>
          <p:spPr>
            <a:xfrm>
              <a:off x="533400" y="4291965"/>
              <a:ext cx="5410200" cy="981075"/>
            </a:xfrm>
            <a:prstGeom prst="roundRect">
              <a:avLst>
                <a:gd name="adj" fmla="val 11650"/>
              </a:avLst>
            </a:prstGeom>
            <a:solidFill>
              <a:srgbClr val="F4F6FB"/>
            </a:solidFill>
            <a:ln>
              <a:noFill/>
            </a:ln>
          </p:spPr>
        </p:sp>
        <p:grpSp>
          <p:nvGrpSpPr>
            <p:cNvPr id="20" name="Group 20"/>
            <p:cNvGrpSpPr/>
            <p:nvPr/>
          </p:nvGrpSpPr>
          <p:grpSpPr>
            <a:xfrm>
              <a:off x="738188" y="4682490"/>
              <a:ext cx="200026" cy="200026"/>
              <a:chOff x="738188" y="4682490"/>
              <a:chExt cx="200026" cy="200026"/>
            </a:xfrm>
          </p:grpSpPr>
          <p:sp>
            <p:nvSpPr>
              <p:cNvPr id="17" name="Freeform 17"/>
              <p:cNvSpPr/>
              <p:nvPr/>
            </p:nvSpPr>
            <p:spPr>
              <a:xfrm>
                <a:off x="738188" y="4682490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18" name="Freeform 18"/>
              <p:cNvSpPr/>
              <p:nvPr/>
            </p:nvSpPr>
            <p:spPr>
              <a:xfrm>
                <a:off x="838200" y="4749165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19" name="Freeform 19"/>
              <p:cNvSpPr/>
              <p:nvPr/>
            </p:nvSpPr>
            <p:spPr>
              <a:xfrm>
                <a:off x="827088" y="4782503"/>
                <a:ext cx="222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22225" h="44450">
                    <a:moveTo>
                      <a:pt x="0" y="0"/>
                    </a:moveTo>
                    <a:lnTo>
                      <a:pt x="11113" y="0"/>
                    </a:lnTo>
                    <a:lnTo>
                      <a:pt x="11113" y="44450"/>
                    </a:lnTo>
                    <a:lnTo>
                      <a:pt x="22225" y="4445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</p:grpSp>
        <p:sp>
          <p:nvSpPr>
            <p:cNvPr id="21" name="TextBox 21"/>
            <p:cNvSpPr txBox="1"/>
            <p:nvPr/>
          </p:nvSpPr>
          <p:spPr>
            <a:xfrm>
              <a:off x="1040130" y="4539615"/>
              <a:ext cx="4377690" cy="5695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75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这就是单链接层次聚类。Kruskal 每合并一次，相当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于把两个最接近的簇并成一个。</a:t>
              </a:r>
            </a:p>
          </p:txBody>
        </p:sp>
      </p:grpSp>
      <p:grpSp>
        <p:nvGrpSpPr>
          <p:cNvPr id="30" name="c2-card-1"/>
          <p:cNvGrpSpPr/>
          <p:nvPr/>
        </p:nvGrpSpPr>
        <p:grpSpPr>
          <a:xfrm>
            <a:off x="6248400" y="1524000"/>
            <a:ext cx="5410200" cy="1956435"/>
            <a:chOff x="6248400" y="1524000"/>
            <a:chExt cx="5410200" cy="1956435"/>
          </a:xfrm>
        </p:grpSpPr>
        <p:sp>
          <p:nvSpPr>
            <p:cNvPr id="23" name="Rectangle 23"/>
            <p:cNvSpPr/>
            <p:nvPr/>
          </p:nvSpPr>
          <p:spPr>
            <a:xfrm>
              <a:off x="6248400" y="1524000"/>
              <a:ext cx="5410200" cy="1956435"/>
            </a:xfrm>
            <a:prstGeom prst="roundRect">
              <a:avLst>
                <a:gd name="adj" fmla="val 6816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24" name="Rectangle 24"/>
            <p:cNvSpPr/>
            <p:nvPr/>
          </p:nvSpPr>
          <p:spPr>
            <a:xfrm>
              <a:off x="6257925" y="1657350"/>
              <a:ext cx="47625" cy="1689735"/>
            </a:xfrm>
            <a:prstGeom prst="roundRect">
              <a:avLst>
                <a:gd name="adj" fmla="val 50000"/>
              </a:avLst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25" name="Rectangle 25"/>
            <p:cNvSpPr/>
            <p:nvPr/>
          </p:nvSpPr>
          <p:spPr>
            <a:xfrm>
              <a:off x="6496050" y="1733550"/>
              <a:ext cx="778192" cy="257175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6578359" y="1769269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图像分割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7380923" y="1768792"/>
              <a:ext cx="203454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把相似的像素并到一起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6488430" y="2129790"/>
              <a:ext cx="45872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每个像素是一个顶点，相邻像素之间连边，边权表示两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者在颜色、亮度上的差异。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6488430" y="2750820"/>
              <a:ext cx="475869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用同样的提前终止的 Kruskal，把颜色亮度接近的像素并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成一个区域，得到图像的分割结果。</a:t>
              </a:r>
            </a:p>
          </p:txBody>
        </p:sp>
      </p:grpSp>
      <p:grpSp>
        <p:nvGrpSpPr>
          <p:cNvPr id="35" name="c2-card-2"/>
          <p:cNvGrpSpPr/>
          <p:nvPr/>
        </p:nvGrpSpPr>
        <p:grpSpPr>
          <a:xfrm>
            <a:off x="6248400" y="3670935"/>
            <a:ext cx="5410200" cy="1602105"/>
            <a:chOff x="6248400" y="3670935"/>
            <a:chExt cx="5410200" cy="1602105"/>
          </a:xfrm>
        </p:grpSpPr>
        <p:sp>
          <p:nvSpPr>
            <p:cNvPr id="31" name="Rectangle 31"/>
            <p:cNvSpPr/>
            <p:nvPr/>
          </p:nvSpPr>
          <p:spPr>
            <a:xfrm>
              <a:off x="6248400" y="3670935"/>
              <a:ext cx="5410200" cy="1602105"/>
            </a:xfrm>
            <a:prstGeom prst="roundRect">
              <a:avLst>
                <a:gd name="adj" fmla="val 8323"/>
              </a:avLst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32" name="Rectangle 32"/>
            <p:cNvSpPr/>
            <p:nvPr/>
          </p:nvSpPr>
          <p:spPr>
            <a:xfrm>
              <a:off x="6457950" y="3880485"/>
              <a:ext cx="636270" cy="257175"/>
            </a:xfrm>
            <a:prstGeom prst="roundRect">
              <a:avLst>
                <a:gd name="adj" fmla="val 50000"/>
              </a:avLst>
            </a:prstGeom>
            <a:solidFill>
              <a:srgbClr val="174A85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6544208" y="3916204"/>
              <a:ext cx="46375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共同点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6450330" y="4257675"/>
              <a:ext cx="4777740" cy="8648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两个应用都不要完整的最小支撑树，要的是 Kruskal 合</a:t>
              </a:r>
              <a:br/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并连通分量的过程：边按相似度从高到低处理，先合并的</a:t>
              </a:r>
              <a:br/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一定是最像的一对。</a:t>
              </a:r>
            </a:p>
          </p:txBody>
        </p:sp>
      </p:grpSp>
      <p:grpSp>
        <p:nvGrpSpPr>
          <p:cNvPr id="42" name="takeaway"/>
          <p:cNvGrpSpPr/>
          <p:nvPr/>
        </p:nvGrpSpPr>
        <p:grpSpPr>
          <a:xfrm>
            <a:off x="533400" y="5829300"/>
            <a:ext cx="11125200" cy="533400"/>
            <a:chOff x="533400" y="5829300"/>
            <a:chExt cx="11125200" cy="533400"/>
          </a:xfrm>
        </p:grpSpPr>
        <p:sp>
          <p:nvSpPr>
            <p:cNvPr id="36" name="Rectangle 36"/>
            <p:cNvSpPr/>
            <p:nvPr/>
          </p:nvSpPr>
          <p:spPr>
            <a:xfrm>
              <a:off x="533400" y="5829300"/>
              <a:ext cx="11125200" cy="533400"/>
            </a:xfrm>
            <a:prstGeom prst="roundRect">
              <a:avLst>
                <a:gd name="adj" fmla="val 21429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40" name="Group 40"/>
            <p:cNvGrpSpPr/>
            <p:nvPr/>
          </p:nvGrpSpPr>
          <p:grpSpPr>
            <a:xfrm>
              <a:off x="738188" y="5995988"/>
              <a:ext cx="200026" cy="200025"/>
              <a:chOff x="738188" y="5995988"/>
              <a:chExt cx="200026" cy="200025"/>
            </a:xfrm>
          </p:grpSpPr>
          <p:sp>
            <p:nvSpPr>
              <p:cNvPr id="37" name="Freeform 37"/>
              <p:cNvSpPr/>
              <p:nvPr/>
            </p:nvSpPr>
            <p:spPr>
              <a:xfrm>
                <a:off x="738188" y="5995988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38" name="Freeform 38"/>
              <p:cNvSpPr/>
              <p:nvPr/>
            </p:nvSpPr>
            <p:spPr>
              <a:xfrm>
                <a:off x="777926" y="6040438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39" name="Freeform 39"/>
              <p:cNvSpPr/>
              <p:nvPr/>
            </p:nvSpPr>
            <p:spPr>
              <a:xfrm>
                <a:off x="812642" y="6151563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41" name="TextBox 41"/>
            <p:cNvSpPr txBox="1"/>
            <p:nvPr/>
          </p:nvSpPr>
          <p:spPr>
            <a:xfrm>
              <a:off x="1040130" y="5991225"/>
              <a:ext cx="793089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把“求一棵树”换成“看合并的顺序”，同一个算法就从网络设计问题变成了数据分析工具。</a:t>
              </a:r>
            </a:p>
          </p:txBody>
        </p:sp>
      </p:grpSp>
      <p:grpSp>
        <p:nvGrpSpPr>
          <p:cNvPr id="45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43" name="TextBox 43"/>
            <p:cNvSpPr txBox="1"/>
            <p:nvPr/>
          </p:nvSpPr>
          <p:spPr>
            <a:xfrm>
              <a:off x="528447" y="6581299"/>
              <a:ext cx="232523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数据结构 · 第16讲 最小支撑树及图应用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27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-disc"/>
          <p:cNvSpPr/>
          <p:nvPr/>
        </p:nvSpPr>
        <p:spPr>
          <a:xfrm>
            <a:off x="7715250" y="571500"/>
            <a:ext cx="5715000" cy="5715000"/>
          </a:xfrm>
          <a:prstGeom prst="ellipse">
            <a:avLst/>
          </a:prstGeom>
          <a:solidFill>
            <a:srgbClr val="1F5FA8"/>
          </a:solidFill>
          <a:ln>
            <a:noFill/>
          </a:ln>
        </p:spPr>
      </p:sp>
      <p:sp>
        <p:nvSpPr>
          <p:cNvPr id="3" name="section-ring"/>
          <p:cNvSpPr/>
          <p:nvPr/>
        </p:nvSpPr>
        <p:spPr>
          <a:xfrm>
            <a:off x="7334250" y="190500"/>
            <a:ext cx="6477000" cy="6477000"/>
          </a:xfrm>
          <a:prstGeom prst="ellipse">
            <a:avLst/>
          </a:prstGeom>
          <a:noFill/>
          <a:ln w="133350">
            <a:solidFill>
              <a:srgbClr val="E6EFF9"/>
            </a:solidFill>
          </a:ln>
        </p:spPr>
      </p:sp>
      <p:grpSp>
        <p:nvGrpSpPr>
          <p:cNvPr id="5" name="section-num"/>
          <p:cNvGrpSpPr/>
          <p:nvPr/>
        </p:nvGrpSpPr>
        <p:grpSpPr>
          <a:xfrm>
            <a:off x="8954033" y="2705100"/>
            <a:ext cx="1903933" cy="2305050"/>
            <a:chOff x="8954033" y="2705100"/>
            <a:chExt cx="1903933" cy="2305050"/>
          </a:xfrm>
        </p:grpSpPr>
        <p:sp>
          <p:nvSpPr>
            <p:cNvPr id="4" name="TextBox 4"/>
            <p:cNvSpPr txBox="1"/>
            <p:nvPr/>
          </p:nvSpPr>
          <p:spPr>
            <a:xfrm>
              <a:off x="8954033" y="2705100"/>
              <a:ext cx="1903933" cy="23050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04</a:t>
              </a:r>
            </a:p>
          </p:txBody>
        </p:sp>
      </p:grpSp>
      <p:grpSp>
        <p:nvGrpSpPr>
          <p:cNvPr id="18" name="section-title"/>
          <p:cNvGrpSpPr/>
          <p:nvPr/>
        </p:nvGrpSpPr>
        <p:grpSpPr>
          <a:xfrm>
            <a:off x="667512" y="1835468"/>
            <a:ext cx="6437376" cy="3923347"/>
            <a:chOff x="667512" y="1835468"/>
            <a:chExt cx="6437376" cy="3923347"/>
          </a:xfrm>
        </p:grpSpPr>
        <p:sp>
          <p:nvSpPr>
            <p:cNvPr id="6" name="TextBox 6"/>
            <p:cNvSpPr txBox="1"/>
            <p:nvPr/>
          </p:nvSpPr>
          <p:spPr>
            <a:xfrm>
              <a:off x="678942" y="1835468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第四部分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667512" y="2240280"/>
              <a:ext cx="6437376" cy="12755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4500"/>
                </a:lnSpc>
              </a:pPr>
              <a:r>
                <a:rPr lang="zh-CN" sz="36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强连通分量：有向图里能互相到</a:t>
              </a:r>
              <a:br/>
              <a:r>
                <a:rPr lang="zh-CN" sz="36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达的极大顶点组</a:t>
              </a:r>
            </a:p>
          </p:txBody>
        </p:sp>
        <p:sp>
          <p:nvSpPr>
            <p:cNvPr id="8" name="Rectangle 8"/>
            <p:cNvSpPr/>
            <p:nvPr/>
          </p:nvSpPr>
          <p:spPr>
            <a:xfrm>
              <a:off x="685800" y="3612832"/>
              <a:ext cx="762000" cy="47625"/>
            </a:xfrm>
            <a:prstGeom prst="roundRect">
              <a:avLst>
                <a:gd name="adj" fmla="val 50000"/>
              </a:avLst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677418" y="3949065"/>
              <a:ext cx="6014085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用可及矩阵判断两点是否互相可及，再把每个分量缩成一个点</a:t>
              </a:r>
            </a:p>
          </p:txBody>
        </p:sp>
        <p:sp>
          <p:nvSpPr>
            <p:cNvPr id="10" name="Ellipse 10"/>
            <p:cNvSpPr/>
            <p:nvPr/>
          </p:nvSpPr>
          <p:spPr>
            <a:xfrm>
              <a:off x="723900" y="4459605"/>
              <a:ext cx="76200" cy="7620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906780" y="4402455"/>
              <a:ext cx="163068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强连通分量的定义</a:t>
              </a:r>
            </a:p>
          </p:txBody>
        </p:sp>
        <p:sp>
          <p:nvSpPr>
            <p:cNvPr id="12" name="Ellipse 12"/>
            <p:cNvSpPr/>
            <p:nvPr/>
          </p:nvSpPr>
          <p:spPr>
            <a:xfrm>
              <a:off x="723900" y="4813935"/>
              <a:ext cx="76200" cy="7620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906780" y="4756785"/>
              <a:ext cx="256975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基于可及矩阵的 O(n³) 算法</a:t>
              </a:r>
            </a:p>
          </p:txBody>
        </p:sp>
        <p:sp>
          <p:nvSpPr>
            <p:cNvPr id="14" name="Ellipse 14"/>
            <p:cNvSpPr/>
            <p:nvPr/>
          </p:nvSpPr>
          <p:spPr>
            <a:xfrm>
              <a:off x="723900" y="5168265"/>
              <a:ext cx="76200" cy="7620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906780" y="5111115"/>
              <a:ext cx="183261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缩点得到有向无环图</a:t>
              </a:r>
            </a:p>
          </p:txBody>
        </p:sp>
        <p:sp>
          <p:nvSpPr>
            <p:cNvPr id="16" name="Ellipse 16"/>
            <p:cNvSpPr/>
            <p:nvPr/>
          </p:nvSpPr>
          <p:spPr>
            <a:xfrm>
              <a:off x="723900" y="5522595"/>
              <a:ext cx="76200" cy="7620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906780" y="5465445"/>
              <a:ext cx="180496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Tarjan 与 Kosaraju</a:t>
              </a:r>
            </a:p>
          </p:txBody>
        </p:sp>
      </p:grpSp>
      <p:grpSp>
        <p:nvGrpSpPr>
          <p:cNvPr id="21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19" name="TextBox 19"/>
            <p:cNvSpPr txBox="1"/>
            <p:nvPr/>
          </p:nvSpPr>
          <p:spPr>
            <a:xfrm>
              <a:off x="528447" y="6581299"/>
              <a:ext cx="232523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数据结构 · 第16讲 最小支撑树及图应用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28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5861685" cy="909257"/>
            <a:chOff x="520446" y="342900"/>
            <a:chExt cx="5861685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4630102" cy="26670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30522" y="407194"/>
              <a:ext cx="463681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第16讲 最小支撑树 · 强连通分量：有向图里能互相到达的极大顶点组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5861685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强连通分量：互相可及的顶点归为一组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F5FA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65" name="c1-graph-1"/>
          <p:cNvGrpSpPr/>
          <p:nvPr/>
        </p:nvGrpSpPr>
        <p:grpSpPr>
          <a:xfrm>
            <a:off x="831532" y="1660208"/>
            <a:ext cx="4917758" cy="3407092"/>
            <a:chOff x="831532" y="1660208"/>
            <a:chExt cx="4917758" cy="3407092"/>
          </a:xfrm>
        </p:grpSpPr>
        <p:sp>
          <p:nvSpPr>
            <p:cNvPr id="7" name="Freeform 7"/>
            <p:cNvSpPr/>
            <p:nvPr/>
          </p:nvSpPr>
          <p:spPr>
            <a:xfrm>
              <a:off x="1133475" y="2377440"/>
              <a:ext cx="511492" cy="204788"/>
            </a:xfrm>
            <a:custGeom>
              <a:avLst/>
              <a:gdLst/>
              <a:ahLst/>
              <a:cxnLst/>
              <a:rect l="l" t="t" r="r" b="b"/>
              <a:pathLst>
                <a:path w="511492" h="204788">
                  <a:moveTo>
                    <a:pt x="0" y="0"/>
                  </a:moveTo>
                  <a:lnTo>
                    <a:pt x="511492" y="204788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8" name="Freeform 8"/>
            <p:cNvSpPr/>
            <p:nvPr/>
          </p:nvSpPr>
          <p:spPr>
            <a:xfrm>
              <a:off x="1626870" y="2538412"/>
              <a:ext cx="106680" cy="88583"/>
            </a:xfrm>
            <a:custGeom>
              <a:avLst/>
              <a:gdLst/>
              <a:ahLst/>
              <a:cxnLst/>
              <a:rect l="l" t="t" r="r" b="b"/>
              <a:pathLst>
                <a:path w="106680" h="88583">
                  <a:moveTo>
                    <a:pt x="106680" y="80010"/>
                  </a:moveTo>
                  <a:lnTo>
                    <a:pt x="0" y="88583"/>
                  </a:lnTo>
                  <a:lnTo>
                    <a:pt x="36195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9" name="Freeform 9"/>
            <p:cNvSpPr/>
            <p:nvPr/>
          </p:nvSpPr>
          <p:spPr>
            <a:xfrm>
              <a:off x="1344930" y="2815590"/>
              <a:ext cx="453390" cy="726757"/>
            </a:xfrm>
            <a:custGeom>
              <a:avLst/>
              <a:gdLst/>
              <a:ahLst/>
              <a:cxnLst/>
              <a:rect l="l" t="t" r="r" b="b"/>
              <a:pathLst>
                <a:path w="453390" h="726757">
                  <a:moveTo>
                    <a:pt x="453390" y="0"/>
                  </a:moveTo>
                  <a:lnTo>
                    <a:pt x="0" y="726757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10" name="Freeform 10"/>
            <p:cNvSpPr/>
            <p:nvPr/>
          </p:nvSpPr>
          <p:spPr>
            <a:xfrm>
              <a:off x="1294448" y="3516630"/>
              <a:ext cx="90488" cy="106680"/>
            </a:xfrm>
            <a:custGeom>
              <a:avLst/>
              <a:gdLst/>
              <a:ahLst/>
              <a:cxnLst/>
              <a:rect l="l" t="t" r="r" b="b"/>
              <a:pathLst>
                <a:path w="90488" h="106680">
                  <a:moveTo>
                    <a:pt x="0" y="106680"/>
                  </a:moveTo>
                  <a:lnTo>
                    <a:pt x="9525" y="0"/>
                  </a:lnTo>
                  <a:lnTo>
                    <a:pt x="90488" y="50483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11" name="Freeform 11"/>
            <p:cNvSpPr/>
            <p:nvPr/>
          </p:nvSpPr>
          <p:spPr>
            <a:xfrm>
              <a:off x="1022985" y="2571750"/>
              <a:ext cx="160972" cy="1028700"/>
            </a:xfrm>
            <a:custGeom>
              <a:avLst/>
              <a:gdLst/>
              <a:ahLst/>
              <a:cxnLst/>
              <a:rect l="l" t="t" r="r" b="b"/>
              <a:pathLst>
                <a:path w="160972" h="1028700">
                  <a:moveTo>
                    <a:pt x="160972" y="1028700"/>
                  </a:moveTo>
                  <a:lnTo>
                    <a:pt x="0" y="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12" name="Freeform 12"/>
            <p:cNvSpPr/>
            <p:nvPr/>
          </p:nvSpPr>
          <p:spPr>
            <a:xfrm>
              <a:off x="976312" y="2477452"/>
              <a:ext cx="94298" cy="101917"/>
            </a:xfrm>
            <a:custGeom>
              <a:avLst/>
              <a:gdLst/>
              <a:ahLst/>
              <a:cxnLst/>
              <a:rect l="l" t="t" r="r" b="b"/>
              <a:pathLst>
                <a:path w="94298" h="101917">
                  <a:moveTo>
                    <a:pt x="32385" y="0"/>
                  </a:moveTo>
                  <a:lnTo>
                    <a:pt x="94298" y="86677"/>
                  </a:lnTo>
                  <a:lnTo>
                    <a:pt x="0" y="101917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13" name="Freeform 13"/>
            <p:cNvSpPr/>
            <p:nvPr/>
          </p:nvSpPr>
          <p:spPr>
            <a:xfrm>
              <a:off x="2024062" y="2228850"/>
              <a:ext cx="648653" cy="369570"/>
            </a:xfrm>
            <a:custGeom>
              <a:avLst/>
              <a:gdLst/>
              <a:ahLst/>
              <a:cxnLst/>
              <a:rect l="l" t="t" r="r" b="b"/>
              <a:pathLst>
                <a:path w="648653" h="369570">
                  <a:moveTo>
                    <a:pt x="0" y="369570"/>
                  </a:moveTo>
                  <a:lnTo>
                    <a:pt x="648653" y="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14" name="Freeform 14"/>
            <p:cNvSpPr/>
            <p:nvPr/>
          </p:nvSpPr>
          <p:spPr>
            <a:xfrm>
              <a:off x="2649855" y="2181225"/>
              <a:ext cx="105728" cy="88583"/>
            </a:xfrm>
            <a:custGeom>
              <a:avLst/>
              <a:gdLst/>
              <a:ahLst/>
              <a:cxnLst/>
              <a:rect l="l" t="t" r="r" b="b"/>
              <a:pathLst>
                <a:path w="105728" h="88583">
                  <a:moveTo>
                    <a:pt x="105728" y="0"/>
                  </a:moveTo>
                  <a:lnTo>
                    <a:pt x="46673" y="88583"/>
                  </a:lnTo>
                  <a:lnTo>
                    <a:pt x="0" y="5715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15" name="Freeform 15"/>
            <p:cNvSpPr/>
            <p:nvPr/>
          </p:nvSpPr>
          <p:spPr>
            <a:xfrm>
              <a:off x="3054668" y="1865948"/>
              <a:ext cx="941070" cy="200977"/>
            </a:xfrm>
            <a:custGeom>
              <a:avLst/>
              <a:gdLst/>
              <a:ahLst/>
              <a:cxnLst/>
              <a:rect l="l" t="t" r="r" b="b"/>
              <a:pathLst>
                <a:path w="941070" h="200977">
                  <a:moveTo>
                    <a:pt x="0" y="200977"/>
                  </a:moveTo>
                  <a:lnTo>
                    <a:pt x="941070" y="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16" name="Freeform 16"/>
            <p:cNvSpPr/>
            <p:nvPr/>
          </p:nvSpPr>
          <p:spPr>
            <a:xfrm>
              <a:off x="3985260" y="1819275"/>
              <a:ext cx="103823" cy="93345"/>
            </a:xfrm>
            <a:custGeom>
              <a:avLst/>
              <a:gdLst/>
              <a:ahLst/>
              <a:cxnLst/>
              <a:rect l="l" t="t" r="r" b="b"/>
              <a:pathLst>
                <a:path w="103823" h="93345">
                  <a:moveTo>
                    <a:pt x="103823" y="26670"/>
                  </a:moveTo>
                  <a:lnTo>
                    <a:pt x="20003" y="9334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17" name="Freeform 17"/>
            <p:cNvSpPr/>
            <p:nvPr/>
          </p:nvSpPr>
          <p:spPr>
            <a:xfrm>
              <a:off x="3017520" y="2208848"/>
              <a:ext cx="813435" cy="730568"/>
            </a:xfrm>
            <a:custGeom>
              <a:avLst/>
              <a:gdLst/>
              <a:ahLst/>
              <a:cxnLst/>
              <a:rect l="l" t="t" r="r" b="b"/>
              <a:pathLst>
                <a:path w="813435" h="730568">
                  <a:moveTo>
                    <a:pt x="0" y="0"/>
                  </a:moveTo>
                  <a:lnTo>
                    <a:pt x="813435" y="730568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18" name="Freeform 18"/>
            <p:cNvSpPr/>
            <p:nvPr/>
          </p:nvSpPr>
          <p:spPr>
            <a:xfrm>
              <a:off x="3798570" y="2904172"/>
              <a:ext cx="102870" cy="99060"/>
            </a:xfrm>
            <a:custGeom>
              <a:avLst/>
              <a:gdLst/>
              <a:ahLst/>
              <a:cxnLst/>
              <a:rect l="l" t="t" r="r" b="b"/>
              <a:pathLst>
                <a:path w="102870" h="99060">
                  <a:moveTo>
                    <a:pt x="102870" y="99060"/>
                  </a:moveTo>
                  <a:lnTo>
                    <a:pt x="0" y="70485"/>
                  </a:lnTo>
                  <a:lnTo>
                    <a:pt x="63817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19" name="Freeform 19"/>
            <p:cNvSpPr/>
            <p:nvPr/>
          </p:nvSpPr>
          <p:spPr>
            <a:xfrm>
              <a:off x="4370070" y="1917382"/>
              <a:ext cx="1031558" cy="882015"/>
            </a:xfrm>
            <a:custGeom>
              <a:avLst/>
              <a:gdLst/>
              <a:ahLst/>
              <a:cxnLst/>
              <a:rect l="l" t="t" r="r" b="b"/>
              <a:pathLst>
                <a:path w="1031558" h="882015">
                  <a:moveTo>
                    <a:pt x="0" y="0"/>
                  </a:moveTo>
                  <a:lnTo>
                    <a:pt x="1031558" y="882015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20" name="Freeform 20"/>
            <p:cNvSpPr/>
            <p:nvPr/>
          </p:nvSpPr>
          <p:spPr>
            <a:xfrm>
              <a:off x="5371148" y="2763202"/>
              <a:ext cx="102870" cy="98107"/>
            </a:xfrm>
            <a:custGeom>
              <a:avLst/>
              <a:gdLst/>
              <a:ahLst/>
              <a:cxnLst/>
              <a:rect l="l" t="t" r="r" b="b"/>
              <a:pathLst>
                <a:path w="102870" h="98107">
                  <a:moveTo>
                    <a:pt x="102870" y="98107"/>
                  </a:moveTo>
                  <a:lnTo>
                    <a:pt x="0" y="72390"/>
                  </a:lnTo>
                  <a:lnTo>
                    <a:pt x="61912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21" name="Freeform 21"/>
            <p:cNvSpPr/>
            <p:nvPr/>
          </p:nvSpPr>
          <p:spPr>
            <a:xfrm>
              <a:off x="4277678" y="2981325"/>
              <a:ext cx="1158240" cy="106680"/>
            </a:xfrm>
            <a:custGeom>
              <a:avLst/>
              <a:gdLst/>
              <a:ahLst/>
              <a:cxnLst/>
              <a:rect l="l" t="t" r="r" b="b"/>
              <a:pathLst>
                <a:path w="1158240" h="106680">
                  <a:moveTo>
                    <a:pt x="1158240" y="0"/>
                  </a:moveTo>
                  <a:lnTo>
                    <a:pt x="0" y="10668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22" name="Freeform 22"/>
            <p:cNvSpPr/>
            <p:nvPr/>
          </p:nvSpPr>
          <p:spPr>
            <a:xfrm>
              <a:off x="4183380" y="3040380"/>
              <a:ext cx="99060" cy="94298"/>
            </a:xfrm>
            <a:custGeom>
              <a:avLst/>
              <a:gdLst/>
              <a:ahLst/>
              <a:cxnLst/>
              <a:rect l="l" t="t" r="r" b="b"/>
              <a:pathLst>
                <a:path w="99060" h="94298">
                  <a:moveTo>
                    <a:pt x="0" y="56198"/>
                  </a:moveTo>
                  <a:lnTo>
                    <a:pt x="90488" y="0"/>
                  </a:lnTo>
                  <a:lnTo>
                    <a:pt x="99060" y="94298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23" name="Freeform 23"/>
            <p:cNvSpPr/>
            <p:nvPr/>
          </p:nvSpPr>
          <p:spPr>
            <a:xfrm>
              <a:off x="4049078" y="2065972"/>
              <a:ext cx="154305" cy="885825"/>
            </a:xfrm>
            <a:custGeom>
              <a:avLst/>
              <a:gdLst/>
              <a:ahLst/>
              <a:cxnLst/>
              <a:rect l="l" t="t" r="r" b="b"/>
              <a:pathLst>
                <a:path w="154305" h="885825">
                  <a:moveTo>
                    <a:pt x="0" y="885825"/>
                  </a:moveTo>
                  <a:lnTo>
                    <a:pt x="154305" y="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24" name="Freeform 24"/>
            <p:cNvSpPr/>
            <p:nvPr/>
          </p:nvSpPr>
          <p:spPr>
            <a:xfrm>
              <a:off x="4155758" y="1971675"/>
              <a:ext cx="94297" cy="102870"/>
            </a:xfrm>
            <a:custGeom>
              <a:avLst/>
              <a:gdLst/>
              <a:ahLst/>
              <a:cxnLst/>
              <a:rect l="l" t="t" r="r" b="b"/>
              <a:pathLst>
                <a:path w="94297" h="102870">
                  <a:moveTo>
                    <a:pt x="63817" y="0"/>
                  </a:moveTo>
                  <a:lnTo>
                    <a:pt x="94297" y="102870"/>
                  </a:lnTo>
                  <a:lnTo>
                    <a:pt x="0" y="85725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25" name="Freeform 25"/>
            <p:cNvSpPr/>
            <p:nvPr/>
          </p:nvSpPr>
          <p:spPr>
            <a:xfrm>
              <a:off x="1370648" y="3760470"/>
              <a:ext cx="1156335" cy="9525"/>
            </a:xfrm>
            <a:custGeom>
              <a:avLst/>
              <a:gdLst/>
              <a:ahLst/>
              <a:cxnLst/>
              <a:rect l="l" t="t" r="r" b="b"/>
              <a:pathLst>
                <a:path w="1156335" h="9525">
                  <a:moveTo>
                    <a:pt x="0" y="0"/>
                  </a:moveTo>
                  <a:lnTo>
                    <a:pt x="1156335" y="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26" name="Freeform 26"/>
            <p:cNvSpPr/>
            <p:nvPr/>
          </p:nvSpPr>
          <p:spPr>
            <a:xfrm>
              <a:off x="2526982" y="3712845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95250" y="47625"/>
                  </a:moveTo>
                  <a:lnTo>
                    <a:pt x="0" y="9525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27" name="Freeform 27"/>
            <p:cNvSpPr/>
            <p:nvPr/>
          </p:nvSpPr>
          <p:spPr>
            <a:xfrm>
              <a:off x="1279208" y="3906202"/>
              <a:ext cx="379095" cy="777240"/>
            </a:xfrm>
            <a:custGeom>
              <a:avLst/>
              <a:gdLst/>
              <a:ahLst/>
              <a:cxnLst/>
              <a:rect l="l" t="t" r="r" b="b"/>
              <a:pathLst>
                <a:path w="379095" h="777240">
                  <a:moveTo>
                    <a:pt x="0" y="0"/>
                  </a:moveTo>
                  <a:lnTo>
                    <a:pt x="379095" y="77724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28" name="Freeform 28"/>
            <p:cNvSpPr/>
            <p:nvPr/>
          </p:nvSpPr>
          <p:spPr>
            <a:xfrm>
              <a:off x="1615440" y="4662488"/>
              <a:ext cx="85725" cy="106680"/>
            </a:xfrm>
            <a:custGeom>
              <a:avLst/>
              <a:gdLst/>
              <a:ahLst/>
              <a:cxnLst/>
              <a:rect l="l" t="t" r="r" b="b"/>
              <a:pathLst>
                <a:path w="85725" h="106680">
                  <a:moveTo>
                    <a:pt x="84773" y="106680"/>
                  </a:moveTo>
                  <a:lnTo>
                    <a:pt x="0" y="41910"/>
                  </a:lnTo>
                  <a:lnTo>
                    <a:pt x="85725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29" name="Freeform 29"/>
            <p:cNvSpPr/>
            <p:nvPr/>
          </p:nvSpPr>
          <p:spPr>
            <a:xfrm>
              <a:off x="1878330" y="3953828"/>
              <a:ext cx="736283" cy="839152"/>
            </a:xfrm>
            <a:custGeom>
              <a:avLst/>
              <a:gdLst/>
              <a:ahLst/>
              <a:cxnLst/>
              <a:rect l="l" t="t" r="r" b="b"/>
              <a:pathLst>
                <a:path w="736283" h="839152">
                  <a:moveTo>
                    <a:pt x="0" y="839152"/>
                  </a:moveTo>
                  <a:lnTo>
                    <a:pt x="736283" y="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30" name="Freeform 30"/>
            <p:cNvSpPr/>
            <p:nvPr/>
          </p:nvSpPr>
          <p:spPr>
            <a:xfrm>
              <a:off x="2578418" y="3882390"/>
              <a:ext cx="99060" cy="102870"/>
            </a:xfrm>
            <a:custGeom>
              <a:avLst/>
              <a:gdLst/>
              <a:ahLst/>
              <a:cxnLst/>
              <a:rect l="l" t="t" r="r" b="b"/>
              <a:pathLst>
                <a:path w="99060" h="102870">
                  <a:moveTo>
                    <a:pt x="99060" y="0"/>
                  </a:moveTo>
                  <a:lnTo>
                    <a:pt x="71438" y="102870"/>
                  </a:lnTo>
                  <a:lnTo>
                    <a:pt x="0" y="40005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31" name="Freeform 31"/>
            <p:cNvSpPr/>
            <p:nvPr/>
          </p:nvSpPr>
          <p:spPr>
            <a:xfrm>
              <a:off x="2939415" y="3807142"/>
              <a:ext cx="1285875" cy="384810"/>
            </a:xfrm>
            <a:custGeom>
              <a:avLst/>
              <a:gdLst/>
              <a:ahLst/>
              <a:cxnLst/>
              <a:rect l="l" t="t" r="r" b="b"/>
              <a:pathLst>
                <a:path w="1285875" h="384810">
                  <a:moveTo>
                    <a:pt x="0" y="0"/>
                  </a:moveTo>
                  <a:lnTo>
                    <a:pt x="1285875" y="38481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32" name="Freeform 32"/>
            <p:cNvSpPr/>
            <p:nvPr/>
          </p:nvSpPr>
          <p:spPr>
            <a:xfrm>
              <a:off x="4211955" y="4146232"/>
              <a:ext cx="104775" cy="90488"/>
            </a:xfrm>
            <a:custGeom>
              <a:avLst/>
              <a:gdLst/>
              <a:ahLst/>
              <a:cxnLst/>
              <a:rect l="l" t="t" r="r" b="b"/>
              <a:pathLst>
                <a:path w="104775" h="90488">
                  <a:moveTo>
                    <a:pt x="104775" y="72390"/>
                  </a:moveTo>
                  <a:lnTo>
                    <a:pt x="0" y="90488"/>
                  </a:lnTo>
                  <a:lnTo>
                    <a:pt x="27623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33" name="Freeform 33"/>
            <p:cNvSpPr/>
            <p:nvPr/>
          </p:nvSpPr>
          <p:spPr>
            <a:xfrm>
              <a:off x="2829878" y="3915728"/>
              <a:ext cx="220027" cy="751522"/>
            </a:xfrm>
            <a:custGeom>
              <a:avLst/>
              <a:gdLst/>
              <a:ahLst/>
              <a:cxnLst/>
              <a:rect l="l" t="t" r="r" b="b"/>
              <a:pathLst>
                <a:path w="220027" h="751522">
                  <a:moveTo>
                    <a:pt x="0" y="0"/>
                  </a:moveTo>
                  <a:lnTo>
                    <a:pt x="220027" y="751522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34" name="Freeform 34"/>
            <p:cNvSpPr/>
            <p:nvPr/>
          </p:nvSpPr>
          <p:spPr>
            <a:xfrm>
              <a:off x="3004185" y="4653915"/>
              <a:ext cx="91440" cy="104775"/>
            </a:xfrm>
            <a:custGeom>
              <a:avLst/>
              <a:gdLst/>
              <a:ahLst/>
              <a:cxnLst/>
              <a:rect l="l" t="t" r="r" b="b"/>
              <a:pathLst>
                <a:path w="91440" h="104775">
                  <a:moveTo>
                    <a:pt x="72390" y="104775"/>
                  </a:moveTo>
                  <a:lnTo>
                    <a:pt x="0" y="26670"/>
                  </a:lnTo>
                  <a:lnTo>
                    <a:pt x="91440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35" name="Freeform 35"/>
            <p:cNvSpPr/>
            <p:nvPr/>
          </p:nvSpPr>
          <p:spPr>
            <a:xfrm>
              <a:off x="2927032" y="3230880"/>
              <a:ext cx="866775" cy="454342"/>
            </a:xfrm>
            <a:custGeom>
              <a:avLst/>
              <a:gdLst/>
              <a:ahLst/>
              <a:cxnLst/>
              <a:rect l="l" t="t" r="r" b="b"/>
              <a:pathLst>
                <a:path w="866775" h="454342">
                  <a:moveTo>
                    <a:pt x="0" y="454342"/>
                  </a:moveTo>
                  <a:lnTo>
                    <a:pt x="866775" y="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36" name="Freeform 36"/>
            <p:cNvSpPr/>
            <p:nvPr/>
          </p:nvSpPr>
          <p:spPr>
            <a:xfrm>
              <a:off x="3771900" y="3186112"/>
              <a:ext cx="106680" cy="86678"/>
            </a:xfrm>
            <a:custGeom>
              <a:avLst/>
              <a:gdLst/>
              <a:ahLst/>
              <a:cxnLst/>
              <a:rect l="l" t="t" r="r" b="b"/>
              <a:pathLst>
                <a:path w="106680" h="86678">
                  <a:moveTo>
                    <a:pt x="106680" y="0"/>
                  </a:moveTo>
                  <a:lnTo>
                    <a:pt x="44767" y="86678"/>
                  </a:lnTo>
                  <a:lnTo>
                    <a:pt x="0" y="1905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37" name="Freeform 37"/>
            <p:cNvSpPr/>
            <p:nvPr/>
          </p:nvSpPr>
          <p:spPr>
            <a:xfrm>
              <a:off x="2028825" y="4914900"/>
              <a:ext cx="930592" cy="9525"/>
            </a:xfrm>
            <a:custGeom>
              <a:avLst/>
              <a:gdLst/>
              <a:ahLst/>
              <a:cxnLst/>
              <a:rect l="l" t="t" r="r" b="b"/>
              <a:pathLst>
                <a:path w="930592" h="9525">
                  <a:moveTo>
                    <a:pt x="930592" y="0"/>
                  </a:moveTo>
                  <a:lnTo>
                    <a:pt x="0" y="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38" name="Freeform 38"/>
            <p:cNvSpPr/>
            <p:nvPr/>
          </p:nvSpPr>
          <p:spPr>
            <a:xfrm>
              <a:off x="1933575" y="4867275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0" y="47625"/>
                  </a:moveTo>
                  <a:lnTo>
                    <a:pt x="95250" y="0"/>
                  </a:lnTo>
                  <a:lnTo>
                    <a:pt x="95250" y="9525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39" name="Freeform 39"/>
            <p:cNvSpPr/>
            <p:nvPr/>
          </p:nvSpPr>
          <p:spPr>
            <a:xfrm>
              <a:off x="3353752" y="4335780"/>
              <a:ext cx="972502" cy="467678"/>
            </a:xfrm>
            <a:custGeom>
              <a:avLst/>
              <a:gdLst/>
              <a:ahLst/>
              <a:cxnLst/>
              <a:rect l="l" t="t" r="r" b="b"/>
              <a:pathLst>
                <a:path w="972502" h="467678">
                  <a:moveTo>
                    <a:pt x="972502" y="0"/>
                  </a:moveTo>
                  <a:lnTo>
                    <a:pt x="0" y="467678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40" name="Freeform 40"/>
            <p:cNvSpPr/>
            <p:nvPr/>
          </p:nvSpPr>
          <p:spPr>
            <a:xfrm>
              <a:off x="3268028" y="4759642"/>
              <a:ext cx="105727" cy="86678"/>
            </a:xfrm>
            <a:custGeom>
              <a:avLst/>
              <a:gdLst/>
              <a:ahLst/>
              <a:cxnLst/>
              <a:rect l="l" t="t" r="r" b="b"/>
              <a:pathLst>
                <a:path w="105727" h="86678">
                  <a:moveTo>
                    <a:pt x="0" y="84773"/>
                  </a:moveTo>
                  <a:lnTo>
                    <a:pt x="64770" y="0"/>
                  </a:lnTo>
                  <a:lnTo>
                    <a:pt x="105727" y="86678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41" name="Freeform 41"/>
            <p:cNvSpPr/>
            <p:nvPr/>
          </p:nvSpPr>
          <p:spPr>
            <a:xfrm>
              <a:off x="4577715" y="3161348"/>
              <a:ext cx="851535" cy="981075"/>
            </a:xfrm>
            <a:custGeom>
              <a:avLst/>
              <a:gdLst/>
              <a:ahLst/>
              <a:cxnLst/>
              <a:rect l="l" t="t" r="r" b="b"/>
              <a:pathLst>
                <a:path w="851535" h="981075">
                  <a:moveTo>
                    <a:pt x="0" y="981075"/>
                  </a:moveTo>
                  <a:lnTo>
                    <a:pt x="851535" y="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42" name="Freeform 42"/>
            <p:cNvSpPr/>
            <p:nvPr/>
          </p:nvSpPr>
          <p:spPr>
            <a:xfrm>
              <a:off x="5393055" y="3088958"/>
              <a:ext cx="98107" cy="102870"/>
            </a:xfrm>
            <a:custGeom>
              <a:avLst/>
              <a:gdLst/>
              <a:ahLst/>
              <a:cxnLst/>
              <a:rect l="l" t="t" r="r" b="b"/>
              <a:pathLst>
                <a:path w="98107" h="102870">
                  <a:moveTo>
                    <a:pt x="98107" y="0"/>
                  </a:moveTo>
                  <a:lnTo>
                    <a:pt x="71438" y="102870"/>
                  </a:lnTo>
                  <a:lnTo>
                    <a:pt x="0" y="40958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43" name="Ellipse 43"/>
            <p:cNvSpPr/>
            <p:nvPr/>
          </p:nvSpPr>
          <p:spPr>
            <a:xfrm>
              <a:off x="831532" y="2165032"/>
              <a:ext cx="304800" cy="304800"/>
            </a:xfrm>
            <a:prstGeom prst="ellipse">
              <a:avLst/>
            </a:prstGeom>
            <a:solidFill>
              <a:srgbClr val="FDEEE7"/>
            </a:solidFill>
            <a:ln w="17145">
              <a:solidFill>
                <a:srgbClr val="F26B3A"/>
              </a:solidFill>
            </a:ln>
          </p:spPr>
        </p:sp>
        <p:sp>
          <p:nvSpPr>
            <p:cNvPr id="44" name="Ellipse 44"/>
            <p:cNvSpPr/>
            <p:nvPr/>
          </p:nvSpPr>
          <p:spPr>
            <a:xfrm>
              <a:off x="1731645" y="2526030"/>
              <a:ext cx="304800" cy="304800"/>
            </a:xfrm>
            <a:prstGeom prst="ellipse">
              <a:avLst/>
            </a:prstGeom>
            <a:solidFill>
              <a:srgbClr val="FDEEE7"/>
            </a:solidFill>
            <a:ln w="17145">
              <a:solidFill>
                <a:srgbClr val="F26B3A"/>
              </a:solidFill>
            </a:ln>
          </p:spPr>
        </p:sp>
        <p:sp>
          <p:nvSpPr>
            <p:cNvPr id="45" name="Ellipse 45"/>
            <p:cNvSpPr/>
            <p:nvPr/>
          </p:nvSpPr>
          <p:spPr>
            <a:xfrm>
              <a:off x="1056322" y="3608070"/>
              <a:ext cx="304800" cy="304800"/>
            </a:xfrm>
            <a:prstGeom prst="ellipse">
              <a:avLst/>
            </a:prstGeom>
            <a:solidFill>
              <a:srgbClr val="FDEEE7"/>
            </a:solidFill>
            <a:ln w="17145">
              <a:solidFill>
                <a:srgbClr val="F26B3A"/>
              </a:solidFill>
            </a:ln>
          </p:spPr>
        </p:sp>
        <p:sp>
          <p:nvSpPr>
            <p:cNvPr id="46" name="Ellipse 46"/>
            <p:cNvSpPr/>
            <p:nvPr/>
          </p:nvSpPr>
          <p:spPr>
            <a:xfrm>
              <a:off x="2744152" y="1948815"/>
              <a:ext cx="304800" cy="304800"/>
            </a:xfrm>
            <a:prstGeom prst="ellipse">
              <a:avLst/>
            </a:prstGeom>
            <a:solidFill>
              <a:srgbClr val="E3F5F1"/>
            </a:solidFill>
            <a:ln w="17145">
              <a:solidFill>
                <a:srgbClr val="14A38B"/>
              </a:solidFill>
            </a:ln>
          </p:spPr>
        </p:sp>
        <p:sp>
          <p:nvSpPr>
            <p:cNvPr id="47" name="Ellipse 47"/>
            <p:cNvSpPr/>
            <p:nvPr/>
          </p:nvSpPr>
          <p:spPr>
            <a:xfrm>
              <a:off x="4094798" y="1660208"/>
              <a:ext cx="304800" cy="304800"/>
            </a:xfrm>
            <a:prstGeom prst="ellipse">
              <a:avLst/>
            </a:prstGeom>
            <a:solidFill>
              <a:srgbClr val="1F5FA8"/>
            </a:solidFill>
            <a:ln w="17145">
              <a:solidFill>
                <a:srgbClr val="1F5FA8"/>
              </a:solidFill>
            </a:ln>
          </p:spPr>
        </p:sp>
        <p:sp>
          <p:nvSpPr>
            <p:cNvPr id="48" name="Ellipse 48"/>
            <p:cNvSpPr/>
            <p:nvPr/>
          </p:nvSpPr>
          <p:spPr>
            <a:xfrm>
              <a:off x="3869055" y="2958465"/>
              <a:ext cx="304800" cy="304800"/>
            </a:xfrm>
            <a:prstGeom prst="ellipse">
              <a:avLst/>
            </a:prstGeom>
            <a:solidFill>
              <a:srgbClr val="1F5FA8"/>
            </a:solidFill>
            <a:ln w="17145">
              <a:solidFill>
                <a:srgbClr val="1F5FA8"/>
              </a:solidFill>
            </a:ln>
          </p:spPr>
        </p:sp>
        <p:sp>
          <p:nvSpPr>
            <p:cNvPr id="49" name="Ellipse 49"/>
            <p:cNvSpPr/>
            <p:nvPr/>
          </p:nvSpPr>
          <p:spPr>
            <a:xfrm>
              <a:off x="5444490" y="2814638"/>
              <a:ext cx="304800" cy="304800"/>
            </a:xfrm>
            <a:prstGeom prst="ellipse">
              <a:avLst/>
            </a:prstGeom>
            <a:solidFill>
              <a:srgbClr val="1F5FA8"/>
            </a:solidFill>
            <a:ln w="17145">
              <a:solidFill>
                <a:srgbClr val="1F5FA8"/>
              </a:solidFill>
            </a:ln>
          </p:spPr>
        </p:sp>
        <p:sp>
          <p:nvSpPr>
            <p:cNvPr id="50" name="Ellipse 50"/>
            <p:cNvSpPr/>
            <p:nvPr/>
          </p:nvSpPr>
          <p:spPr>
            <a:xfrm>
              <a:off x="2631758" y="3608070"/>
              <a:ext cx="304800" cy="304800"/>
            </a:xfrm>
            <a:prstGeom prst="ellipse">
              <a:avLst/>
            </a:prstGeom>
            <a:solidFill>
              <a:srgbClr val="F4F6FB"/>
            </a:solidFill>
            <a:ln w="17145">
              <a:solidFill>
                <a:srgbClr val="D9DFEA"/>
              </a:solidFill>
            </a:ln>
          </p:spPr>
        </p:sp>
        <p:sp>
          <p:nvSpPr>
            <p:cNvPr id="51" name="Ellipse 51"/>
            <p:cNvSpPr/>
            <p:nvPr/>
          </p:nvSpPr>
          <p:spPr>
            <a:xfrm>
              <a:off x="4319588" y="4112895"/>
              <a:ext cx="304800" cy="304800"/>
            </a:xfrm>
            <a:prstGeom prst="ellipse">
              <a:avLst/>
            </a:prstGeom>
            <a:solidFill>
              <a:srgbClr val="F4F6FB"/>
            </a:solidFill>
            <a:ln w="17145">
              <a:solidFill>
                <a:srgbClr val="D9DFEA"/>
              </a:solidFill>
            </a:ln>
          </p:spPr>
        </p:sp>
        <p:sp>
          <p:nvSpPr>
            <p:cNvPr id="52" name="Ellipse 52"/>
            <p:cNvSpPr/>
            <p:nvPr/>
          </p:nvSpPr>
          <p:spPr>
            <a:xfrm>
              <a:off x="1619250" y="4762500"/>
              <a:ext cx="304800" cy="304800"/>
            </a:xfrm>
            <a:prstGeom prst="ellipse">
              <a:avLst/>
            </a:prstGeom>
            <a:solidFill>
              <a:srgbClr val="F4F6FB"/>
            </a:solidFill>
            <a:ln w="17145">
              <a:solidFill>
                <a:srgbClr val="D9DFEA"/>
              </a:solidFill>
            </a:ln>
          </p:spPr>
        </p:sp>
        <p:sp>
          <p:nvSpPr>
            <p:cNvPr id="53" name="Ellipse 53"/>
            <p:cNvSpPr/>
            <p:nvPr/>
          </p:nvSpPr>
          <p:spPr>
            <a:xfrm>
              <a:off x="2968942" y="4762500"/>
              <a:ext cx="304800" cy="304800"/>
            </a:xfrm>
            <a:prstGeom prst="ellipse">
              <a:avLst/>
            </a:prstGeom>
            <a:solidFill>
              <a:srgbClr val="F4F6FB"/>
            </a:solidFill>
            <a:ln w="17145">
              <a:solidFill>
                <a:srgbClr val="D9DFEA"/>
              </a:solidFill>
            </a:ln>
          </p:spPr>
        </p:sp>
        <p:sp>
          <p:nvSpPr>
            <p:cNvPr id="54" name="TextBox 54"/>
            <p:cNvSpPr txBox="1"/>
            <p:nvPr/>
          </p:nvSpPr>
          <p:spPr>
            <a:xfrm>
              <a:off x="944186" y="2261235"/>
              <a:ext cx="7949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1844298" y="2622232"/>
              <a:ext cx="7949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1168976" y="3704273"/>
              <a:ext cx="7949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2856806" y="2045018"/>
              <a:ext cx="7949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4207451" y="1756410"/>
              <a:ext cx="7949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3981708" y="3054668"/>
              <a:ext cx="7949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7</a:t>
              </a:r>
            </a:p>
          </p:txBody>
        </p:sp>
        <p:sp>
          <p:nvSpPr>
            <p:cNvPr id="60" name="TextBox 60"/>
            <p:cNvSpPr txBox="1"/>
            <p:nvPr/>
          </p:nvSpPr>
          <p:spPr>
            <a:xfrm>
              <a:off x="5557143" y="2910840"/>
              <a:ext cx="7949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8</a:t>
              </a:r>
            </a:p>
          </p:txBody>
        </p:sp>
        <p:sp>
          <p:nvSpPr>
            <p:cNvPr id="61" name="TextBox 61"/>
            <p:cNvSpPr txBox="1"/>
            <p:nvPr/>
          </p:nvSpPr>
          <p:spPr>
            <a:xfrm>
              <a:off x="2744411" y="3704273"/>
              <a:ext cx="7949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6</a:t>
              </a:r>
            </a:p>
          </p:txBody>
        </p:sp>
        <p:sp>
          <p:nvSpPr>
            <p:cNvPr id="62" name="TextBox 62"/>
            <p:cNvSpPr txBox="1"/>
            <p:nvPr/>
          </p:nvSpPr>
          <p:spPr>
            <a:xfrm>
              <a:off x="4397256" y="4209098"/>
              <a:ext cx="14946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11</a:t>
              </a:r>
            </a:p>
          </p:txBody>
        </p:sp>
        <p:sp>
          <p:nvSpPr>
            <p:cNvPr id="63" name="TextBox 63"/>
            <p:cNvSpPr txBox="1"/>
            <p:nvPr/>
          </p:nvSpPr>
          <p:spPr>
            <a:xfrm>
              <a:off x="1731903" y="4858702"/>
              <a:ext cx="7949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9</a:t>
              </a:r>
            </a:p>
          </p:txBody>
        </p:sp>
        <p:sp>
          <p:nvSpPr>
            <p:cNvPr id="64" name="TextBox 64"/>
            <p:cNvSpPr txBox="1"/>
            <p:nvPr/>
          </p:nvSpPr>
          <p:spPr>
            <a:xfrm>
              <a:off x="3046611" y="4858702"/>
              <a:ext cx="14946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10</a:t>
              </a:r>
            </a:p>
          </p:txBody>
        </p:sp>
      </p:grpSp>
      <p:grpSp>
        <p:nvGrpSpPr>
          <p:cNvPr id="72" name="c2-card-1"/>
          <p:cNvGrpSpPr/>
          <p:nvPr/>
        </p:nvGrpSpPr>
        <p:grpSpPr>
          <a:xfrm>
            <a:off x="6464618" y="1524000"/>
            <a:ext cx="5193982" cy="1428750"/>
            <a:chOff x="6464618" y="1524000"/>
            <a:chExt cx="5193982" cy="1428750"/>
          </a:xfrm>
        </p:grpSpPr>
        <p:sp>
          <p:nvSpPr>
            <p:cNvPr id="66" name="Rectangle 66"/>
            <p:cNvSpPr/>
            <p:nvPr/>
          </p:nvSpPr>
          <p:spPr>
            <a:xfrm>
              <a:off x="6464618" y="1524000"/>
              <a:ext cx="5193982" cy="1428750"/>
            </a:xfrm>
            <a:prstGeom prst="roundRect">
              <a:avLst>
                <a:gd name="adj" fmla="val 9333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67" name="Rectangle 67"/>
            <p:cNvSpPr/>
            <p:nvPr/>
          </p:nvSpPr>
          <p:spPr>
            <a:xfrm>
              <a:off x="6474142" y="1657350"/>
              <a:ext cx="47625" cy="1162050"/>
            </a:xfrm>
            <a:prstGeom prst="roundRect">
              <a:avLst>
                <a:gd name="adj" fmla="val 50000"/>
              </a:avLst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68" name="Rectangle 68"/>
            <p:cNvSpPr/>
            <p:nvPr/>
          </p:nvSpPr>
          <p:spPr>
            <a:xfrm>
              <a:off x="6683692" y="1704975"/>
              <a:ext cx="458152" cy="238125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69" name="TextBox 69"/>
            <p:cNvSpPr txBox="1"/>
            <p:nvPr/>
          </p:nvSpPr>
          <p:spPr>
            <a:xfrm>
              <a:off x="6776364" y="1737836"/>
              <a:ext cx="27376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定义</a:t>
              </a:r>
            </a:p>
          </p:txBody>
        </p:sp>
        <p:sp>
          <p:nvSpPr>
            <p:cNvPr id="70" name="TextBox 70"/>
            <p:cNvSpPr txBox="1"/>
            <p:nvPr/>
          </p:nvSpPr>
          <p:spPr>
            <a:xfrm>
              <a:off x="6677216" y="2045494"/>
              <a:ext cx="4450842" cy="4922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有向图中，若 u 能到达 v 且 v 也能到达 u，就说二者 </a:t>
              </a:r>
              <a:r>
                <a:rPr lang="zh-CN" sz="128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互相可</a:t>
              </a:r>
              <a:br/>
              <a:r>
                <a:rPr lang="zh-CN" sz="128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及</a:t>
              </a: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。互相可及的顶点构成的极大集合，称为一个 </a:t>
              </a:r>
              <a:r>
                <a:rPr lang="zh-CN" sz="128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强连通分量</a:t>
              </a: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。</a:t>
              </a:r>
            </a:p>
          </p:txBody>
        </p:sp>
        <p:sp>
          <p:nvSpPr>
            <p:cNvPr id="71" name="TextBox 71"/>
            <p:cNvSpPr txBox="1"/>
            <p:nvPr/>
          </p:nvSpPr>
          <p:spPr>
            <a:xfrm>
              <a:off x="6677216" y="2573179"/>
              <a:ext cx="2959517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dirty="0">
                  <a:solidFill>
                    <a:srgbClr val="174A85"/>
                  </a:solidFill>
                  <a:latin typeface="+mn-lt"/>
                  <a:ea typeface="+mn-ea"/>
                  <a:cs typeface="+mn-cs"/>
                </a:rPr>
                <a:t>scc[i] = t</a:t>
              </a: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 记顶点 i 属于第 t 个分量。</a:t>
              </a:r>
            </a:p>
          </p:txBody>
        </p:sp>
      </p:grpSp>
      <p:grpSp>
        <p:nvGrpSpPr>
          <p:cNvPr id="75" name="c2-image-2"/>
          <p:cNvGrpSpPr/>
          <p:nvPr/>
        </p:nvGrpSpPr>
        <p:grpSpPr>
          <a:xfrm>
            <a:off x="7737856" y="3117532"/>
            <a:ext cx="2648458" cy="1255109"/>
            <a:chOff x="7737856" y="3117532"/>
            <a:chExt cx="2648458" cy="1255109"/>
          </a:xfrm>
        </p:grpSpPr>
        <p:pic>
          <p:nvPicPr>
            <p:cNvPr id="73" name="Image 73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8414385" y="3117532"/>
              <a:ext cx="1295400" cy="971550"/>
            </a:xfrm>
            <a:prstGeom prst="roundRect">
              <a:avLst>
                <a:gd name="adj" fmla="val 13725"/>
              </a:avLst>
            </a:prstGeom>
          </p:spPr>
        </p:pic>
        <p:sp>
          <p:nvSpPr>
            <p:cNvPr id="74" name="TextBox 74"/>
            <p:cNvSpPr txBox="1"/>
            <p:nvPr/>
          </p:nvSpPr>
          <p:spPr>
            <a:xfrm>
              <a:off x="7737856" y="4181951"/>
              <a:ext cx="264845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单行道街区，能绕回原处的一圈就是一个分量</a:t>
              </a:r>
            </a:p>
          </p:txBody>
        </p:sp>
      </p:grpSp>
      <p:grpSp>
        <p:nvGrpSpPr>
          <p:cNvPr id="81" name="c2-card-3"/>
          <p:cNvGrpSpPr/>
          <p:nvPr/>
        </p:nvGrpSpPr>
        <p:grpSpPr>
          <a:xfrm>
            <a:off x="6464618" y="4517708"/>
            <a:ext cx="5193982" cy="1143952"/>
            <a:chOff x="6464618" y="4517708"/>
            <a:chExt cx="5193982" cy="1143952"/>
          </a:xfrm>
        </p:grpSpPr>
        <p:sp>
          <p:nvSpPr>
            <p:cNvPr id="76" name="Rectangle 76"/>
            <p:cNvSpPr/>
            <p:nvPr/>
          </p:nvSpPr>
          <p:spPr>
            <a:xfrm>
              <a:off x="6464618" y="4517708"/>
              <a:ext cx="5193982" cy="1143952"/>
            </a:xfrm>
            <a:prstGeom prst="roundRect">
              <a:avLst>
                <a:gd name="adj" fmla="val 11657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77" name="Rectangle 77"/>
            <p:cNvSpPr/>
            <p:nvPr/>
          </p:nvSpPr>
          <p:spPr>
            <a:xfrm>
              <a:off x="6474142" y="4651058"/>
              <a:ext cx="47625" cy="877252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78" name="Rectangle 78"/>
            <p:cNvSpPr/>
            <p:nvPr/>
          </p:nvSpPr>
          <p:spPr>
            <a:xfrm>
              <a:off x="6683692" y="4698682"/>
              <a:ext cx="831532" cy="238125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79" name="TextBox 79"/>
            <p:cNvSpPr txBox="1"/>
            <p:nvPr/>
          </p:nvSpPr>
          <p:spPr>
            <a:xfrm>
              <a:off x="6765163" y="4731544"/>
              <a:ext cx="66954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本图的结果</a:t>
              </a:r>
            </a:p>
          </p:txBody>
        </p:sp>
        <p:sp>
          <p:nvSpPr>
            <p:cNvPr id="80" name="TextBox 80"/>
            <p:cNvSpPr txBox="1"/>
            <p:nvPr/>
          </p:nvSpPr>
          <p:spPr>
            <a:xfrm>
              <a:off x="6677216" y="5039201"/>
              <a:ext cx="4458970" cy="4922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 个分量：{1, 2, 5}、{3}、{4, 7, 8}、{6, 9, 10, 11}。顶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点 3 能到 4、7 却回不来。</a:t>
              </a:r>
            </a:p>
          </p:txBody>
        </p:sp>
      </p:grpSp>
      <p:grpSp>
        <p:nvGrpSpPr>
          <p:cNvPr id="88" name="takeaway"/>
          <p:cNvGrpSpPr/>
          <p:nvPr/>
        </p:nvGrpSpPr>
        <p:grpSpPr>
          <a:xfrm>
            <a:off x="533400" y="5895022"/>
            <a:ext cx="11125200" cy="467678"/>
            <a:chOff x="533400" y="5895022"/>
            <a:chExt cx="11125200" cy="467678"/>
          </a:xfrm>
        </p:grpSpPr>
        <p:sp>
          <p:nvSpPr>
            <p:cNvPr id="82" name="Rectangle 82"/>
            <p:cNvSpPr/>
            <p:nvPr/>
          </p:nvSpPr>
          <p:spPr>
            <a:xfrm>
              <a:off x="533400" y="5895022"/>
              <a:ext cx="11125200" cy="467678"/>
            </a:xfrm>
            <a:prstGeom prst="roundRect">
              <a:avLst>
                <a:gd name="adj" fmla="val 24440"/>
              </a:avLst>
            </a:prstGeom>
            <a:solidFill>
              <a:srgbClr val="FDECEA"/>
            </a:solidFill>
            <a:ln>
              <a:noFill/>
            </a:ln>
          </p:spPr>
        </p:sp>
        <p:grpSp>
          <p:nvGrpSpPr>
            <p:cNvPr id="86" name="Group 86"/>
            <p:cNvGrpSpPr/>
            <p:nvPr/>
          </p:nvGrpSpPr>
          <p:grpSpPr>
            <a:xfrm>
              <a:off x="726129" y="6024681"/>
              <a:ext cx="224134" cy="192560"/>
              <a:chOff x="726129" y="6024681"/>
              <a:chExt cx="224134" cy="192560"/>
            </a:xfrm>
          </p:grpSpPr>
          <p:sp>
            <p:nvSpPr>
              <p:cNvPr id="83" name="Freeform 83"/>
              <p:cNvSpPr/>
              <p:nvPr/>
            </p:nvSpPr>
            <p:spPr>
              <a:xfrm>
                <a:off x="838200" y="6095048"/>
                <a:ext cx="95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44450">
                    <a:moveTo>
                      <a:pt x="0" y="0"/>
                    </a:moveTo>
                    <a:lnTo>
                      <a:pt x="0" y="4445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84" name="Freeform 84"/>
              <p:cNvSpPr/>
              <p:nvPr/>
            </p:nvSpPr>
            <p:spPr>
              <a:xfrm>
                <a:off x="726129" y="6024681"/>
                <a:ext cx="224134" cy="192560"/>
              </a:xfrm>
              <a:custGeom>
                <a:avLst/>
                <a:gdLst/>
                <a:ahLst/>
                <a:cxnLst/>
                <a:rect l="l" t="t" r="r" b="b"/>
                <a:pathLst>
                  <a:path w="224134" h="192560">
                    <a:moveTo>
                      <a:pt x="93880" y="10259"/>
                    </a:moveTo>
                    <a:lnTo>
                      <a:pt x="3802" y="160656"/>
                    </a:lnTo>
                    <a:cubicBezTo>
                      <a:pt x="23" y="167200"/>
                      <a:pt x="0" y="175257"/>
                      <a:pt x="3741" y="181823"/>
                    </a:cubicBezTo>
                    <a:cubicBezTo>
                      <a:pt x="7482" y="188388"/>
                      <a:pt x="14426" y="192476"/>
                      <a:pt x="21982" y="192560"/>
                    </a:cubicBezTo>
                    <a:lnTo>
                      <a:pt x="202160" y="192560"/>
                    </a:lnTo>
                    <a:cubicBezTo>
                      <a:pt x="209713" y="192473"/>
                      <a:pt x="216653" y="188387"/>
                      <a:pt x="220393" y="181826"/>
                    </a:cubicBezTo>
                    <a:cubicBezTo>
                      <a:pt x="224134" y="175264"/>
                      <a:pt x="224114" y="167211"/>
                      <a:pt x="220341" y="160667"/>
                    </a:cubicBezTo>
                    <a:lnTo>
                      <a:pt x="130262" y="10248"/>
                    </a:lnTo>
                    <a:cubicBezTo>
                      <a:pt x="126408" y="3886"/>
                      <a:pt x="119510" y="0"/>
                      <a:pt x="112071" y="0"/>
                    </a:cubicBezTo>
                    <a:cubicBezTo>
                      <a:pt x="104633" y="0"/>
                      <a:pt x="97734" y="3886"/>
                      <a:pt x="93880" y="10248"/>
                    </a:cubicBez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85" name="Freeform 85"/>
              <p:cNvSpPr/>
              <p:nvPr/>
            </p:nvSpPr>
            <p:spPr>
              <a:xfrm>
                <a:off x="838200" y="6172836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</p:grpSp>
        <p:sp>
          <p:nvSpPr>
            <p:cNvPr id="87" name="TextBox 87"/>
            <p:cNvSpPr txBox="1"/>
            <p:nvPr/>
          </p:nvSpPr>
          <p:spPr>
            <a:xfrm>
              <a:off x="1041273" y="6039326"/>
              <a:ext cx="690549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单个顶点自成一个分量是合法的。极大的含义是再添任何一个顶点，互相可及就不再成立。</a:t>
              </a:r>
            </a:p>
          </p:txBody>
        </p:sp>
      </p:grpSp>
      <p:grpSp>
        <p:nvGrpSpPr>
          <p:cNvPr id="91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89" name="TextBox 89"/>
            <p:cNvSpPr txBox="1"/>
            <p:nvPr/>
          </p:nvSpPr>
          <p:spPr>
            <a:xfrm>
              <a:off x="528447" y="6581299"/>
              <a:ext cx="232523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数据结构 · 第16讲 最小支撑树及图应用</a:t>
              </a:r>
            </a:p>
          </p:txBody>
        </p:sp>
        <p:sp>
          <p:nvSpPr>
            <p:cNvPr id="90" name="TextBox 90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29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4646888" cy="909257"/>
            <a:chOff x="520446" y="342900"/>
            <a:chExt cx="4646888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4630102" cy="26670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30522" y="407194"/>
              <a:ext cx="463681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第16讲 最小支撑树 · 强连通分量：有向图里能互相到达的极大顶点组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3801999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用可及矩阵求强连通分量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F5FA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0" name="c1-code-1"/>
          <p:cNvGrpSpPr/>
          <p:nvPr/>
        </p:nvGrpSpPr>
        <p:grpSpPr>
          <a:xfrm>
            <a:off x="533400" y="1524000"/>
            <a:ext cx="6276022" cy="4097655"/>
            <a:chOff x="533400" y="1524000"/>
            <a:chExt cx="6276022" cy="4097655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6276022" cy="4097655"/>
            </a:xfrm>
            <a:prstGeom prst="roundRect">
              <a:avLst>
                <a:gd name="adj" fmla="val 2325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661797" y="1675924"/>
              <a:ext cx="178871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SCC（Warshall 求可及矩阵）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661988" y="1935004"/>
              <a:ext cx="3591941" cy="36014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178"/>
                </a:lnSpc>
              </a:pPr>
              <a:r>
                <a:rPr lang="en-US" sz="82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int</a:t>
              </a:r>
              <a:r>
                <a:rPr lang="en-US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SCC(</a:t>
              </a:r>
              <a:r>
                <a:rPr lang="en-US" sz="82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int</a:t>
              </a:r>
              <a:r>
                <a:rPr lang="en-US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G[][N], </a:t>
              </a:r>
              <a:r>
                <a:rPr lang="en-US" sz="82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int</a:t>
              </a:r>
              <a:r>
                <a:rPr lang="en-US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n, </a:t>
              </a:r>
              <a:r>
                <a:rPr lang="en-US" sz="82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int</a:t>
              </a:r>
              <a:r>
                <a:rPr lang="en-US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scc[]){   </a:t>
              </a:r>
              <a:r>
                <a:rPr lang="zh-CN" sz="82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/* 返回分量个数 */</a:t>
              </a:r>
              <a:br/>
              <a:r>
                <a:rPr lang="zh-CN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82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int</a:t>
              </a:r>
              <a:r>
                <a:rPr lang="en-US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R[N][N], visited[N] = {0};</a:t>
              </a:r>
              <a:br/>
              <a:r>
                <a:rPr lang="zh-CN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82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for</a:t>
              </a:r>
              <a:r>
                <a:rPr lang="zh-CN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(</a:t>
              </a:r>
              <a:r>
                <a:rPr lang="en-US" sz="82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int</a:t>
              </a:r>
              <a:r>
                <a:rPr lang="en-US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i = 1; i &lt;= n; i++) scc[i] = 0;</a:t>
              </a:r>
              <a:br/>
              <a:r>
                <a:rPr lang="en-US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Warshall(G, n, R);          </a:t>
              </a:r>
              <a:r>
                <a:rPr lang="zh-CN" sz="82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/* R 为可及矩阵 */</a:t>
              </a:r>
              <a:br/>
              <a:r>
                <a:rPr lang="zh-CN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82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int</a:t>
              </a:r>
              <a:r>
                <a:rPr lang="en-US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t = 0;                  </a:t>
              </a:r>
              <a:r>
                <a:rPr lang="zh-CN" sz="82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/* t 为分量编号 */</a:t>
              </a:r>
              <a:br/>
              <a:r>
                <a:rPr lang="zh-CN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82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for</a:t>
              </a:r>
              <a:r>
                <a:rPr lang="zh-CN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(</a:t>
              </a:r>
              <a:r>
                <a:rPr lang="en-US" sz="82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int</a:t>
              </a:r>
              <a:r>
                <a:rPr lang="en-US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i = 1; i &lt;= n; i++)</a:t>
              </a:r>
              <a:br/>
              <a:r>
                <a:rPr lang="zh-CN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</a:t>
              </a:r>
              <a:r>
                <a:rPr lang="en-US" sz="82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if</a:t>
              </a:r>
              <a:r>
                <a:rPr lang="en-US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(visited[i] == 0){    </a:t>
              </a:r>
              <a:r>
                <a:rPr lang="zh-CN" sz="82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/* i 还没进入任何分量 */</a:t>
              </a:r>
              <a:br/>
              <a:r>
                <a:rPr lang="en-US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    t++; scc[i] = t; visited[i] = 1;</a:t>
              </a:r>
              <a:br/>
              <a:r>
                <a:rPr lang="zh-CN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    </a:t>
              </a:r>
              <a:r>
                <a:rPr lang="en-US" sz="82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for</a:t>
              </a:r>
              <a:r>
                <a:rPr lang="zh-CN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(</a:t>
              </a:r>
              <a:r>
                <a:rPr lang="en-US" sz="82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int</a:t>
              </a:r>
              <a:r>
                <a:rPr lang="en-US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j = i+1; j &lt;= n; j++)</a:t>
              </a:r>
              <a:br/>
              <a:r>
                <a:rPr lang="zh-CN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        </a:t>
              </a:r>
              <a:r>
                <a:rPr lang="en-US" sz="82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if</a:t>
              </a:r>
              <a:r>
                <a:rPr lang="en-US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(visited[j]==0 &amp;&amp; R[i][j]==1 &amp;&amp; R[j][i]==1){</a:t>
              </a:r>
              <a:br/>
              <a:r>
                <a:rPr lang="en-US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            scc[j] = t; visited[j] = 1;</a:t>
              </a:r>
              <a:br/>
              <a:r>
                <a:rPr lang="zh-CN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        }</a:t>
              </a:r>
              <a:br/>
              <a:r>
                <a:rPr lang="zh-CN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}</a:t>
              </a:r>
              <a:br/>
              <a:r>
                <a:rPr lang="zh-CN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82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return</a:t>
              </a:r>
              <a:r>
                <a:rPr lang="en-US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t;</a:t>
              </a:r>
              <a:br/>
              <a:r>
                <a:rPr lang="zh-CN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}</a:t>
              </a:r>
              <a:br/>
              <a:r>
                <a:rPr lang="zh-CN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br/>
              <a:r>
                <a:rPr lang="en-US" sz="82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void</a:t>
              </a:r>
              <a:r>
                <a:rPr lang="en-US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Warshall(</a:t>
              </a:r>
              <a:r>
                <a:rPr lang="en-US" sz="82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int</a:t>
              </a:r>
              <a:r>
                <a:rPr lang="en-US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G[][N], </a:t>
              </a:r>
              <a:r>
                <a:rPr lang="en-US" sz="82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int</a:t>
              </a:r>
              <a:r>
                <a:rPr lang="en-US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n, </a:t>
              </a:r>
              <a:r>
                <a:rPr lang="en-US" sz="82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int</a:t>
              </a:r>
              <a:r>
                <a:rPr lang="en-US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R[][N]){</a:t>
              </a:r>
              <a:br/>
              <a:r>
                <a:rPr lang="zh-CN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82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for</a:t>
              </a:r>
              <a:r>
                <a:rPr lang="zh-CN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(</a:t>
              </a:r>
              <a:r>
                <a:rPr lang="en-US" sz="82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int</a:t>
              </a:r>
              <a:r>
                <a:rPr lang="en-US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i = 1; i &lt;= n; i++)</a:t>
              </a:r>
              <a:br/>
              <a:r>
                <a:rPr lang="zh-CN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</a:t>
              </a:r>
              <a:r>
                <a:rPr lang="en-US" sz="82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for</a:t>
              </a:r>
              <a:r>
                <a:rPr lang="zh-CN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(</a:t>
              </a:r>
              <a:r>
                <a:rPr lang="en-US" sz="82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int</a:t>
              </a:r>
              <a:r>
                <a:rPr lang="en-US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j = 1; j &lt;= n; j++) R[i][j] = (G[i][j] != 0);</a:t>
              </a:r>
              <a:br/>
              <a:r>
                <a:rPr lang="zh-CN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82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for</a:t>
              </a:r>
              <a:r>
                <a:rPr lang="zh-CN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(</a:t>
              </a:r>
              <a:r>
                <a:rPr lang="en-US" sz="82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int</a:t>
              </a:r>
              <a:r>
                <a:rPr lang="en-US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k = 1; k &lt;= n; k++)        </a:t>
              </a:r>
              <a:r>
                <a:rPr lang="zh-CN" sz="82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/* 中转点 k 放在最外层 */</a:t>
              </a:r>
              <a:br/>
              <a:r>
                <a:rPr lang="zh-CN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</a:t>
              </a:r>
              <a:r>
                <a:rPr lang="en-US" sz="82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for</a:t>
              </a:r>
              <a:r>
                <a:rPr lang="zh-CN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(</a:t>
              </a:r>
              <a:r>
                <a:rPr lang="en-US" sz="82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int</a:t>
              </a:r>
              <a:r>
                <a:rPr lang="en-US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i = 1; i &lt;= n; i++)</a:t>
              </a:r>
              <a:br/>
              <a:r>
                <a:rPr lang="zh-CN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    </a:t>
              </a:r>
              <a:r>
                <a:rPr lang="en-US" sz="82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for</a:t>
              </a:r>
              <a:r>
                <a:rPr lang="zh-CN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(</a:t>
              </a:r>
              <a:r>
                <a:rPr lang="en-US" sz="82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int</a:t>
              </a:r>
              <a:r>
                <a:rPr lang="en-US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j = 1; j &lt;= n; j++)</a:t>
              </a:r>
              <a:br/>
              <a:r>
                <a:rPr lang="zh-CN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        </a:t>
              </a:r>
              <a:r>
                <a:rPr lang="en-US" sz="82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if</a:t>
              </a:r>
              <a:r>
                <a:rPr lang="en-US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(R[i][k] == 1 &amp;&amp; R[k][j] == 1) R[i][j] = 1;</a:t>
              </a:r>
              <a:br/>
              <a:r>
                <a:rPr lang="zh-CN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}</a:t>
              </a:r>
            </a:p>
          </p:txBody>
        </p:sp>
      </p:grpSp>
      <p:grpSp>
        <p:nvGrpSpPr>
          <p:cNvPr id="30" name="c2-table-1"/>
          <p:cNvGrpSpPr/>
          <p:nvPr/>
        </p:nvGrpSpPr>
        <p:grpSpPr>
          <a:xfrm>
            <a:off x="7109270" y="1524000"/>
            <a:ext cx="4549330" cy="2170461"/>
            <a:chOff x="7109270" y="1524000"/>
            <a:chExt cx="4549330" cy="2170461"/>
          </a:xfrm>
        </p:grpSpPr>
        <p:sp>
          <p:nvSpPr>
            <p:cNvPr id="11" name="Rectangle 11"/>
            <p:cNvSpPr/>
            <p:nvPr/>
          </p:nvSpPr>
          <p:spPr>
            <a:xfrm>
              <a:off x="7114222" y="1524000"/>
              <a:ext cx="4544378" cy="381000"/>
            </a:xfrm>
            <a:prstGeom prst="rect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7535586" y="1641157"/>
              <a:ext cx="70222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分量编号 t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9729978" y="1641157"/>
              <a:ext cx="85877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该分量的顶点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7840551" y="2023110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8753856" y="2023110"/>
              <a:ext cx="52659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1、2、5</a:t>
              </a:r>
            </a:p>
          </p:txBody>
        </p:sp>
        <p:sp>
          <p:nvSpPr>
            <p:cNvPr id="16" name="Rectangle 16"/>
            <p:cNvSpPr/>
            <p:nvPr/>
          </p:nvSpPr>
          <p:spPr>
            <a:xfrm>
              <a:off x="7114222" y="2282190"/>
              <a:ext cx="454437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7" name="Rectangle 17"/>
            <p:cNvSpPr/>
            <p:nvPr/>
          </p:nvSpPr>
          <p:spPr>
            <a:xfrm>
              <a:off x="7114222" y="2286952"/>
              <a:ext cx="4544378" cy="38100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7840551" y="2404110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8753856" y="2404110"/>
              <a:ext cx="884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20" name="Rectangle 20"/>
            <p:cNvSpPr/>
            <p:nvPr/>
          </p:nvSpPr>
          <p:spPr>
            <a:xfrm>
              <a:off x="7114222" y="2663190"/>
              <a:ext cx="454437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7840551" y="2785110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8753856" y="2785110"/>
              <a:ext cx="52659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4、7、8</a:t>
              </a:r>
            </a:p>
          </p:txBody>
        </p:sp>
        <p:sp>
          <p:nvSpPr>
            <p:cNvPr id="23" name="Rectangle 23"/>
            <p:cNvSpPr/>
            <p:nvPr/>
          </p:nvSpPr>
          <p:spPr>
            <a:xfrm>
              <a:off x="7114222" y="3045142"/>
              <a:ext cx="454437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4" name="Rectangle 24"/>
            <p:cNvSpPr/>
            <p:nvPr/>
          </p:nvSpPr>
          <p:spPr>
            <a:xfrm>
              <a:off x="7114222" y="3049905"/>
              <a:ext cx="4544378" cy="38100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7840551" y="3167062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8753856" y="3167062"/>
              <a:ext cx="90117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6、9、10、11</a:t>
              </a:r>
            </a:p>
          </p:txBody>
        </p:sp>
        <p:sp>
          <p:nvSpPr>
            <p:cNvPr id="27" name="Rectangle 27"/>
            <p:cNvSpPr/>
            <p:nvPr/>
          </p:nvSpPr>
          <p:spPr>
            <a:xfrm>
              <a:off x="7114222" y="1524000"/>
              <a:ext cx="4544378" cy="1906905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28" name="Rectangle 28"/>
            <p:cNvSpPr/>
            <p:nvPr/>
          </p:nvSpPr>
          <p:spPr>
            <a:xfrm>
              <a:off x="8654415" y="1524000"/>
              <a:ext cx="9525" cy="190690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7109270" y="3503771"/>
              <a:ext cx="234502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本页代码在第 29 页那张图上的运行结果</a:t>
              </a:r>
            </a:p>
          </p:txBody>
        </p:sp>
      </p:grpSp>
      <p:grpSp>
        <p:nvGrpSpPr>
          <p:cNvPr id="38" name="c2-card-2"/>
          <p:cNvGrpSpPr/>
          <p:nvPr/>
        </p:nvGrpSpPr>
        <p:grpSpPr>
          <a:xfrm>
            <a:off x="7114222" y="3821430"/>
            <a:ext cx="4544378" cy="1800225"/>
            <a:chOff x="7114222" y="3821430"/>
            <a:chExt cx="4544378" cy="1800225"/>
          </a:xfrm>
        </p:grpSpPr>
        <p:sp>
          <p:nvSpPr>
            <p:cNvPr id="31" name="Rectangle 31"/>
            <p:cNvSpPr/>
            <p:nvPr/>
          </p:nvSpPr>
          <p:spPr>
            <a:xfrm>
              <a:off x="7114222" y="3821430"/>
              <a:ext cx="4544378" cy="1800225"/>
            </a:xfrm>
            <a:prstGeom prst="roundRect">
              <a:avLst>
                <a:gd name="adj" fmla="val 7407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32" name="Rectangle 32"/>
            <p:cNvSpPr/>
            <p:nvPr/>
          </p:nvSpPr>
          <p:spPr>
            <a:xfrm>
              <a:off x="7123748" y="3954780"/>
              <a:ext cx="47625" cy="1533525"/>
            </a:xfrm>
            <a:prstGeom prst="roundRect">
              <a:avLst>
                <a:gd name="adj" fmla="val 50000"/>
              </a:avLst>
            </a:prstGeom>
            <a:solidFill>
              <a:srgbClr val="B42318"/>
            </a:solidFill>
            <a:ln>
              <a:noFill/>
            </a:ln>
          </p:spPr>
        </p:sp>
        <p:sp>
          <p:nvSpPr>
            <p:cNvPr id="33" name="Rectangle 33"/>
            <p:cNvSpPr/>
            <p:nvPr/>
          </p:nvSpPr>
          <p:spPr>
            <a:xfrm>
              <a:off x="7333298" y="4002405"/>
              <a:ext cx="956310" cy="238125"/>
            </a:xfrm>
            <a:prstGeom prst="roundRect">
              <a:avLst>
                <a:gd name="adj" fmla="val 50000"/>
              </a:avLst>
            </a:prstGeom>
            <a:solidFill>
              <a:srgbClr val="FDECEA"/>
            </a:solidFill>
            <a:ln>
              <a:noFill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7410717" y="4035266"/>
              <a:ext cx="80147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复杂度与前提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7326820" y="4341971"/>
              <a:ext cx="3857498" cy="4922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Warshall 求可及矩阵是三重循环 O(n³)，后面的双重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循环是 O(n²)，合计 </a:t>
              </a:r>
              <a:r>
                <a:rPr lang="en-US" sz="128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O(n³)</a:t>
              </a: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，与边数无关。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7326820" y="4870609"/>
              <a:ext cx="344459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前提是邻接矩阵存图，且 R 要开 n² 的空间。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7327964" y="5151120"/>
              <a:ext cx="332534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内层从 j = i+1 起，编号更小的顶点都已分配过分量。</a:t>
              </a:r>
            </a:p>
          </p:txBody>
        </p:sp>
      </p:grpSp>
      <p:grpSp>
        <p:nvGrpSpPr>
          <p:cNvPr id="44" name="takeaway"/>
          <p:cNvGrpSpPr/>
          <p:nvPr/>
        </p:nvGrpSpPr>
        <p:grpSpPr>
          <a:xfrm>
            <a:off x="533400" y="5895022"/>
            <a:ext cx="11125200" cy="467678"/>
            <a:chOff x="533400" y="5895022"/>
            <a:chExt cx="11125200" cy="467678"/>
          </a:xfrm>
        </p:grpSpPr>
        <p:sp>
          <p:nvSpPr>
            <p:cNvPr id="39" name="Rectangle 39"/>
            <p:cNvSpPr/>
            <p:nvPr/>
          </p:nvSpPr>
          <p:spPr>
            <a:xfrm>
              <a:off x="533400" y="5895022"/>
              <a:ext cx="11125200" cy="467678"/>
            </a:xfrm>
            <a:prstGeom prst="roundRect">
              <a:avLst>
                <a:gd name="adj" fmla="val 24440"/>
              </a:avLst>
            </a:prstGeom>
            <a:solidFill>
              <a:srgbClr val="1F5FA8"/>
            </a:solidFill>
            <a:ln>
              <a:noFill/>
            </a:ln>
          </p:spPr>
        </p:sp>
        <p:grpSp>
          <p:nvGrpSpPr>
            <p:cNvPr id="42" name="Group 42"/>
            <p:cNvGrpSpPr/>
            <p:nvPr/>
          </p:nvGrpSpPr>
          <p:grpSpPr>
            <a:xfrm>
              <a:off x="738188" y="6028375"/>
              <a:ext cx="200023" cy="200023"/>
              <a:chOff x="738188" y="6028375"/>
              <a:chExt cx="200023" cy="200023"/>
            </a:xfrm>
          </p:grpSpPr>
          <p:sp>
            <p:nvSpPr>
              <p:cNvPr id="40" name="Freeform 40"/>
              <p:cNvSpPr/>
              <p:nvPr/>
            </p:nvSpPr>
            <p:spPr>
              <a:xfrm>
                <a:off x="738188" y="6028375"/>
                <a:ext cx="200023" cy="200023"/>
              </a:xfrm>
              <a:custGeom>
                <a:avLst/>
                <a:gdLst/>
                <a:ahLst/>
                <a:cxnLst/>
                <a:rect l="l" t="t" r="r" b="b"/>
                <a:pathLst>
                  <a:path w="200023" h="200023">
                    <a:moveTo>
                      <a:pt x="150630" y="9366"/>
                    </a:moveTo>
                    <a:lnTo>
                      <a:pt x="190658" y="49393"/>
                    </a:lnTo>
                    <a:cubicBezTo>
                      <a:pt x="196654" y="55389"/>
                      <a:pt x="200023" y="63522"/>
                      <a:pt x="200023" y="72002"/>
                    </a:cubicBezTo>
                    <a:cubicBezTo>
                      <a:pt x="200023" y="80482"/>
                      <a:pt x="196654" y="88614"/>
                      <a:pt x="190658" y="94610"/>
                    </a:cubicBezTo>
                    <a:lnTo>
                      <a:pt x="161287" y="123980"/>
                    </a:lnTo>
                    <a:cubicBezTo>
                      <a:pt x="155291" y="129977"/>
                      <a:pt x="147159" y="133346"/>
                      <a:pt x="138679" y="133346"/>
                    </a:cubicBezTo>
                    <a:cubicBezTo>
                      <a:pt x="130199" y="133346"/>
                      <a:pt x="122066" y="129977"/>
                      <a:pt x="116070" y="123980"/>
                    </a:cubicBezTo>
                    <a:lnTo>
                      <a:pt x="112726" y="120636"/>
                    </a:lnTo>
                    <a:lnTo>
                      <a:pt x="39850" y="193511"/>
                    </a:lnTo>
                    <a:cubicBezTo>
                      <a:pt x="36157" y="197203"/>
                      <a:pt x="31283" y="199477"/>
                      <a:pt x="26081" y="199935"/>
                    </a:cubicBezTo>
                    <a:lnTo>
                      <a:pt x="24136" y="200023"/>
                    </a:lnTo>
                    <a:lnTo>
                      <a:pt x="11113" y="200023"/>
                    </a:lnTo>
                    <a:cubicBezTo>
                      <a:pt x="5479" y="200023"/>
                      <a:pt x="737" y="195806"/>
                      <a:pt x="78" y="190211"/>
                    </a:cubicBezTo>
                    <a:lnTo>
                      <a:pt x="0" y="188911"/>
                    </a:lnTo>
                    <a:lnTo>
                      <a:pt x="0" y="175887"/>
                    </a:lnTo>
                    <a:cubicBezTo>
                      <a:pt x="1" y="170669"/>
                      <a:pt x="1838" y="165618"/>
                      <a:pt x="5190" y="161619"/>
                    </a:cubicBezTo>
                    <a:lnTo>
                      <a:pt x="6512" y="160174"/>
                    </a:lnTo>
                    <a:lnTo>
                      <a:pt x="11113" y="155573"/>
                    </a:lnTo>
                    <a:lnTo>
                      <a:pt x="33338" y="155573"/>
                    </a:lnTo>
                    <a:lnTo>
                      <a:pt x="33338" y="133348"/>
                    </a:lnTo>
                    <a:lnTo>
                      <a:pt x="55563" y="133348"/>
                    </a:lnTo>
                    <a:lnTo>
                      <a:pt x="55563" y="111123"/>
                    </a:lnTo>
                    <a:lnTo>
                      <a:pt x="79388" y="87298"/>
                    </a:lnTo>
                    <a:lnTo>
                      <a:pt x="76043" y="83953"/>
                    </a:lnTo>
                    <a:cubicBezTo>
                      <a:pt x="70046" y="77957"/>
                      <a:pt x="66677" y="69825"/>
                      <a:pt x="66677" y="61345"/>
                    </a:cubicBezTo>
                    <a:cubicBezTo>
                      <a:pt x="66677" y="52865"/>
                      <a:pt x="70046" y="44732"/>
                      <a:pt x="76043" y="38736"/>
                    </a:cubicBezTo>
                    <a:lnTo>
                      <a:pt x="105413" y="9366"/>
                    </a:lnTo>
                    <a:cubicBezTo>
                      <a:pt x="111409" y="3369"/>
                      <a:pt x="119542" y="0"/>
                      <a:pt x="128022" y="0"/>
                    </a:cubicBezTo>
                    <a:cubicBezTo>
                      <a:pt x="136502" y="0"/>
                      <a:pt x="144635" y="3369"/>
                      <a:pt x="150630" y="9366"/>
                    </a:cubicBez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41" name="Freeform 41"/>
              <p:cNvSpPr/>
              <p:nvPr/>
            </p:nvSpPr>
            <p:spPr>
              <a:xfrm>
                <a:off x="871538" y="6095048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</p:grpSp>
        <p:sp>
          <p:nvSpPr>
            <p:cNvPr id="43" name="TextBox 43"/>
            <p:cNvSpPr txBox="1"/>
            <p:nvPr/>
          </p:nvSpPr>
          <p:spPr>
            <a:xfrm>
              <a:off x="1041273" y="6039326"/>
              <a:ext cx="8482167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分量编号 t 的含义是“第几个被发现”，由外层 i 从小到大决定。所以编号只与顶点编号有关，与图的形状无关。</a:t>
              </a:r>
            </a:p>
          </p:txBody>
        </p:sp>
      </p:grpSp>
      <p:grpSp>
        <p:nvGrpSpPr>
          <p:cNvPr id="47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45" name="TextBox 45"/>
            <p:cNvSpPr txBox="1"/>
            <p:nvPr/>
          </p:nvSpPr>
          <p:spPr>
            <a:xfrm>
              <a:off x="528447" y="6581299"/>
              <a:ext cx="232523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数据结构 · 第16讲 最小支撑树及图应用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30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8264652" cy="909257"/>
            <a:chOff x="520446" y="342900"/>
            <a:chExt cx="8264652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4630102" cy="26670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30522" y="407194"/>
              <a:ext cx="463681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第16讲 最小支撑树 · 强连通分量：有向图里能互相到达的极大顶点组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8264652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缩点：把每个强连通分量捏成一个点，剩下的一定无环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F5FA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20" name="c1-steps-1"/>
          <p:cNvGrpSpPr/>
          <p:nvPr/>
        </p:nvGrpSpPr>
        <p:grpSpPr>
          <a:xfrm>
            <a:off x="533400" y="1533525"/>
            <a:ext cx="4646676" cy="2011108"/>
            <a:chOff x="533400" y="1533525"/>
            <a:chExt cx="4646676" cy="2011108"/>
          </a:xfrm>
        </p:grpSpPr>
        <p:sp>
          <p:nvSpPr>
            <p:cNvPr id="7" name="Rectangle 7"/>
            <p:cNvSpPr/>
            <p:nvPr/>
          </p:nvSpPr>
          <p:spPr>
            <a:xfrm>
              <a:off x="666750" y="1676400"/>
              <a:ext cx="19050" cy="124206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8" name="Ellipse 8"/>
            <p:cNvSpPr/>
            <p:nvPr/>
          </p:nvSpPr>
          <p:spPr>
            <a:xfrm>
              <a:off x="533400" y="1533525"/>
              <a:ext cx="285750" cy="28575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627024" y="160734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10" name="Ellipse 10"/>
            <p:cNvSpPr/>
            <p:nvPr/>
          </p:nvSpPr>
          <p:spPr>
            <a:xfrm>
              <a:off x="533400" y="2154555"/>
              <a:ext cx="285750" cy="28575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627024" y="222837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12" name="Ellipse 12"/>
            <p:cNvSpPr/>
            <p:nvPr/>
          </p:nvSpPr>
          <p:spPr>
            <a:xfrm>
              <a:off x="533400" y="2775585"/>
              <a:ext cx="285750" cy="28575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627024" y="284940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945261" y="1566386"/>
              <a:ext cx="396799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编号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946404" y="1846898"/>
              <a:ext cx="297652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先求出每个顶点所属的分量编号 scc[i]。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945261" y="2187416"/>
              <a:ext cx="396799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缩点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946404" y="2467927"/>
              <a:ext cx="421233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把同一分量的顶点合成一个点，新点的编号就是分量编号。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945261" y="2808446"/>
              <a:ext cx="396799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连边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946404" y="3088957"/>
              <a:ext cx="4233672" cy="45567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40"/>
                </a:lnSpc>
              </a:pPr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原图中若有边 ⟨u, v⟩ 且 scc[u] ≠ scc[v]，就在新图里连一条</a:t>
              </a:r>
              <a:br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scc[u] → scc[v] 的边；分量内部的边全部丢弃。</a:t>
              </a:r>
            </a:p>
          </p:txBody>
        </p:sp>
      </p:grpSp>
      <p:grpSp>
        <p:nvGrpSpPr>
          <p:cNvPr id="28" name="c1-card-2"/>
          <p:cNvGrpSpPr/>
          <p:nvPr/>
        </p:nvGrpSpPr>
        <p:grpSpPr>
          <a:xfrm>
            <a:off x="533400" y="3720465"/>
            <a:ext cx="4977765" cy="1884998"/>
            <a:chOff x="533400" y="3720465"/>
            <a:chExt cx="4977765" cy="1884998"/>
          </a:xfrm>
        </p:grpSpPr>
        <p:sp>
          <p:nvSpPr>
            <p:cNvPr id="21" name="Rectangle 21"/>
            <p:cNvSpPr/>
            <p:nvPr/>
          </p:nvSpPr>
          <p:spPr>
            <a:xfrm>
              <a:off x="533400" y="3720465"/>
              <a:ext cx="4977765" cy="1884998"/>
            </a:xfrm>
            <a:prstGeom prst="roundRect">
              <a:avLst>
                <a:gd name="adj" fmla="val 7074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22" name="Rectangle 22"/>
            <p:cNvSpPr/>
            <p:nvPr/>
          </p:nvSpPr>
          <p:spPr>
            <a:xfrm>
              <a:off x="542925" y="3853815"/>
              <a:ext cx="47625" cy="1618298"/>
            </a:xfrm>
            <a:prstGeom prst="roundRect">
              <a:avLst>
                <a:gd name="adj" fmla="val 50000"/>
              </a:avLst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23" name="Rectangle 23"/>
            <p:cNvSpPr/>
            <p:nvPr/>
          </p:nvSpPr>
          <p:spPr>
            <a:xfrm>
              <a:off x="775335" y="3924300"/>
              <a:ext cx="494348" cy="257175"/>
            </a:xfrm>
            <a:prstGeom prst="roundRect">
              <a:avLst>
                <a:gd name="adj" fmla="val 50000"/>
              </a:avLst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865543" y="3960019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结论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1376744" y="3964781"/>
              <a:ext cx="1926082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缩点后必为有向无环图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768096" y="4316254"/>
              <a:ext cx="4162298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若缩点图中存在环，环上各分量的顶点就都能互相到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达，它们本应属于同一个分量，与“极大”矛盾。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768096" y="4907756"/>
              <a:ext cx="4168159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所以缩点图是 </a:t>
              </a:r>
              <a:r>
                <a:rPr lang="en-US" sz="142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DAG</a:t>
              </a: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，可以在上面跑拓扑排序、求最长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路，这是很多有向图问题的标准预处理。</a:t>
              </a:r>
            </a:p>
          </p:txBody>
        </p:sp>
      </p:grpSp>
      <p:grpSp>
        <p:nvGrpSpPr>
          <p:cNvPr id="49" name="c2-graph-1"/>
          <p:cNvGrpSpPr/>
          <p:nvPr/>
        </p:nvGrpSpPr>
        <p:grpSpPr>
          <a:xfrm>
            <a:off x="6279013" y="1667828"/>
            <a:ext cx="4916538" cy="2172652"/>
            <a:chOff x="6279013" y="1667828"/>
            <a:chExt cx="4916538" cy="2172652"/>
          </a:xfrm>
        </p:grpSpPr>
        <p:sp>
          <p:nvSpPr>
            <p:cNvPr id="29" name="Freeform 29"/>
            <p:cNvSpPr/>
            <p:nvPr/>
          </p:nvSpPr>
          <p:spPr>
            <a:xfrm>
              <a:off x="6736080" y="2031682"/>
              <a:ext cx="1686877" cy="9525"/>
            </a:xfrm>
            <a:custGeom>
              <a:avLst/>
              <a:gdLst/>
              <a:ahLst/>
              <a:cxnLst/>
              <a:rect l="l" t="t" r="r" b="b"/>
              <a:pathLst>
                <a:path w="1686877" h="9525">
                  <a:moveTo>
                    <a:pt x="0" y="0"/>
                  </a:moveTo>
                  <a:lnTo>
                    <a:pt x="1686877" y="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30" name="Freeform 30"/>
            <p:cNvSpPr/>
            <p:nvPr/>
          </p:nvSpPr>
          <p:spPr>
            <a:xfrm>
              <a:off x="8422958" y="1984058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95250" y="47625"/>
                  </a:moveTo>
                  <a:lnTo>
                    <a:pt x="0" y="9525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31" name="Freeform 31"/>
            <p:cNvSpPr/>
            <p:nvPr/>
          </p:nvSpPr>
          <p:spPr>
            <a:xfrm>
              <a:off x="8956358" y="2031682"/>
              <a:ext cx="1686878" cy="9525"/>
            </a:xfrm>
            <a:custGeom>
              <a:avLst/>
              <a:gdLst/>
              <a:ahLst/>
              <a:cxnLst/>
              <a:rect l="l" t="t" r="r" b="b"/>
              <a:pathLst>
                <a:path w="1686878" h="9525">
                  <a:moveTo>
                    <a:pt x="0" y="0"/>
                  </a:moveTo>
                  <a:lnTo>
                    <a:pt x="1686878" y="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32" name="Freeform 32"/>
            <p:cNvSpPr/>
            <p:nvPr/>
          </p:nvSpPr>
          <p:spPr>
            <a:xfrm>
              <a:off x="10643235" y="1984058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95250" y="47625"/>
                  </a:moveTo>
                  <a:lnTo>
                    <a:pt x="0" y="9525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33" name="Freeform 33"/>
            <p:cNvSpPr/>
            <p:nvPr/>
          </p:nvSpPr>
          <p:spPr>
            <a:xfrm>
              <a:off x="6702742" y="2147888"/>
              <a:ext cx="1767840" cy="1103947"/>
            </a:xfrm>
            <a:custGeom>
              <a:avLst/>
              <a:gdLst/>
              <a:ahLst/>
              <a:cxnLst/>
              <a:rect l="l" t="t" r="r" b="b"/>
              <a:pathLst>
                <a:path w="1767840" h="1103947">
                  <a:moveTo>
                    <a:pt x="0" y="0"/>
                  </a:moveTo>
                  <a:lnTo>
                    <a:pt x="1767840" y="1103947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34" name="Freeform 34"/>
            <p:cNvSpPr/>
            <p:nvPr/>
          </p:nvSpPr>
          <p:spPr>
            <a:xfrm>
              <a:off x="8444865" y="3210878"/>
              <a:ext cx="106680" cy="91440"/>
            </a:xfrm>
            <a:custGeom>
              <a:avLst/>
              <a:gdLst/>
              <a:ahLst/>
              <a:cxnLst/>
              <a:rect l="l" t="t" r="r" b="b"/>
              <a:pathLst>
                <a:path w="106680" h="91440">
                  <a:moveTo>
                    <a:pt x="106680" y="91440"/>
                  </a:moveTo>
                  <a:lnTo>
                    <a:pt x="0" y="80962"/>
                  </a:lnTo>
                  <a:lnTo>
                    <a:pt x="50482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35" name="Freeform 35"/>
            <p:cNvSpPr/>
            <p:nvPr/>
          </p:nvSpPr>
          <p:spPr>
            <a:xfrm>
              <a:off x="8923020" y="2198370"/>
              <a:ext cx="1767840" cy="1103947"/>
            </a:xfrm>
            <a:custGeom>
              <a:avLst/>
              <a:gdLst/>
              <a:ahLst/>
              <a:cxnLst/>
              <a:rect l="l" t="t" r="r" b="b"/>
              <a:pathLst>
                <a:path w="1767840" h="1103947">
                  <a:moveTo>
                    <a:pt x="0" y="1103947"/>
                  </a:moveTo>
                  <a:lnTo>
                    <a:pt x="1767840" y="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36" name="Freeform 36"/>
            <p:cNvSpPr/>
            <p:nvPr/>
          </p:nvSpPr>
          <p:spPr>
            <a:xfrm>
              <a:off x="10665142" y="2147888"/>
              <a:ext cx="106680" cy="91440"/>
            </a:xfrm>
            <a:custGeom>
              <a:avLst/>
              <a:gdLst/>
              <a:ahLst/>
              <a:cxnLst/>
              <a:rect l="l" t="t" r="r" b="b"/>
              <a:pathLst>
                <a:path w="106680" h="91440">
                  <a:moveTo>
                    <a:pt x="106680" y="0"/>
                  </a:moveTo>
                  <a:lnTo>
                    <a:pt x="50482" y="91440"/>
                  </a:lnTo>
                  <a:lnTo>
                    <a:pt x="0" y="10477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37" name="Ellipse 37"/>
            <p:cNvSpPr/>
            <p:nvPr/>
          </p:nvSpPr>
          <p:spPr>
            <a:xfrm>
              <a:off x="6307455" y="1822132"/>
              <a:ext cx="419100" cy="419100"/>
            </a:xfrm>
            <a:prstGeom prst="ellipse">
              <a:avLst/>
            </a:prstGeom>
            <a:solidFill>
              <a:srgbClr val="FDEEE7"/>
            </a:solidFill>
            <a:ln w="17145">
              <a:solidFill>
                <a:srgbClr val="F26B3A"/>
              </a:solidFill>
            </a:ln>
          </p:spPr>
        </p:sp>
        <p:sp>
          <p:nvSpPr>
            <p:cNvPr id="38" name="Ellipse 38"/>
            <p:cNvSpPr/>
            <p:nvPr/>
          </p:nvSpPr>
          <p:spPr>
            <a:xfrm>
              <a:off x="8527732" y="1822132"/>
              <a:ext cx="419100" cy="419100"/>
            </a:xfrm>
            <a:prstGeom prst="ellipse">
              <a:avLst/>
            </a:prstGeom>
            <a:solidFill>
              <a:srgbClr val="E3F5F1"/>
            </a:solidFill>
            <a:ln w="17145">
              <a:solidFill>
                <a:srgbClr val="14A38B"/>
              </a:solidFill>
            </a:ln>
          </p:spPr>
        </p:sp>
        <p:sp>
          <p:nvSpPr>
            <p:cNvPr id="39" name="Ellipse 39"/>
            <p:cNvSpPr/>
            <p:nvPr/>
          </p:nvSpPr>
          <p:spPr>
            <a:xfrm>
              <a:off x="10748010" y="1822132"/>
              <a:ext cx="419100" cy="419100"/>
            </a:xfrm>
            <a:prstGeom prst="ellipse">
              <a:avLst/>
            </a:prstGeom>
            <a:solidFill>
              <a:srgbClr val="1F5FA8"/>
            </a:solidFill>
            <a:ln w="17145">
              <a:solidFill>
                <a:srgbClr val="1F5FA8"/>
              </a:solidFill>
            </a:ln>
          </p:spPr>
        </p:sp>
        <p:sp>
          <p:nvSpPr>
            <p:cNvPr id="40" name="Ellipse 40"/>
            <p:cNvSpPr/>
            <p:nvPr/>
          </p:nvSpPr>
          <p:spPr>
            <a:xfrm>
              <a:off x="8527732" y="3208972"/>
              <a:ext cx="419100" cy="419100"/>
            </a:xfrm>
            <a:prstGeom prst="ellipse">
              <a:avLst/>
            </a:prstGeom>
            <a:solidFill>
              <a:srgbClr val="F4F6FB"/>
            </a:solidFill>
            <a:ln w="17145">
              <a:solidFill>
                <a:srgbClr val="D9DFEA"/>
              </a:solidFill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6467754" y="1962626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6279013" y="1667828"/>
              <a:ext cx="475983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{1,2,5}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8688031" y="1962626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8632565" y="1667828"/>
              <a:ext cx="209436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{3}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10908309" y="1962626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10719568" y="1667828"/>
              <a:ext cx="475983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{4,7,8}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8688031" y="3347561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8366017" y="3664268"/>
              <a:ext cx="742531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{6,9,10,11}</a:t>
              </a:r>
            </a:p>
          </p:txBody>
        </p:sp>
      </p:grpSp>
      <p:grpSp>
        <p:nvGrpSpPr>
          <p:cNvPr id="55" name="c2-callout-2"/>
          <p:cNvGrpSpPr/>
          <p:nvPr/>
        </p:nvGrpSpPr>
        <p:grpSpPr>
          <a:xfrm>
            <a:off x="5815965" y="4019550"/>
            <a:ext cx="5842635" cy="1585912"/>
            <a:chOff x="5815965" y="4019550"/>
            <a:chExt cx="5842635" cy="1585912"/>
          </a:xfrm>
        </p:grpSpPr>
        <p:sp>
          <p:nvSpPr>
            <p:cNvPr id="50" name="Rectangle 50"/>
            <p:cNvSpPr/>
            <p:nvPr/>
          </p:nvSpPr>
          <p:spPr>
            <a:xfrm>
              <a:off x="5815965" y="4019550"/>
              <a:ext cx="5842635" cy="1585912"/>
            </a:xfrm>
            <a:prstGeom prst="roundRect">
              <a:avLst>
                <a:gd name="adj" fmla="val 7207"/>
              </a:avLst>
            </a:prstGeom>
            <a:solidFill>
              <a:srgbClr val="1F5FA8"/>
            </a:solidFill>
            <a:ln>
              <a:noFill/>
            </a:ln>
          </p:spPr>
        </p:sp>
        <p:grpSp>
          <p:nvGrpSpPr>
            <p:cNvPr id="53" name="Group 53"/>
            <p:cNvGrpSpPr/>
            <p:nvPr/>
          </p:nvGrpSpPr>
          <p:grpSpPr>
            <a:xfrm>
              <a:off x="6020753" y="4712020"/>
              <a:ext cx="200023" cy="200023"/>
              <a:chOff x="6020753" y="4712020"/>
              <a:chExt cx="200023" cy="200023"/>
            </a:xfrm>
          </p:grpSpPr>
          <p:sp>
            <p:nvSpPr>
              <p:cNvPr id="51" name="Freeform 51"/>
              <p:cNvSpPr/>
              <p:nvPr/>
            </p:nvSpPr>
            <p:spPr>
              <a:xfrm>
                <a:off x="6020753" y="4712020"/>
                <a:ext cx="200023" cy="200023"/>
              </a:xfrm>
              <a:custGeom>
                <a:avLst/>
                <a:gdLst/>
                <a:ahLst/>
                <a:cxnLst/>
                <a:rect l="l" t="t" r="r" b="b"/>
                <a:pathLst>
                  <a:path w="200023" h="200023">
                    <a:moveTo>
                      <a:pt x="150630" y="9366"/>
                    </a:moveTo>
                    <a:lnTo>
                      <a:pt x="190658" y="49393"/>
                    </a:lnTo>
                    <a:cubicBezTo>
                      <a:pt x="196654" y="55389"/>
                      <a:pt x="200023" y="63522"/>
                      <a:pt x="200023" y="72002"/>
                    </a:cubicBezTo>
                    <a:cubicBezTo>
                      <a:pt x="200023" y="80482"/>
                      <a:pt x="196654" y="88614"/>
                      <a:pt x="190658" y="94610"/>
                    </a:cubicBezTo>
                    <a:lnTo>
                      <a:pt x="161287" y="123980"/>
                    </a:lnTo>
                    <a:cubicBezTo>
                      <a:pt x="155291" y="129977"/>
                      <a:pt x="147159" y="133346"/>
                      <a:pt x="138679" y="133346"/>
                    </a:cubicBezTo>
                    <a:cubicBezTo>
                      <a:pt x="130199" y="133346"/>
                      <a:pt x="122066" y="129977"/>
                      <a:pt x="116070" y="123980"/>
                    </a:cubicBezTo>
                    <a:lnTo>
                      <a:pt x="112726" y="120636"/>
                    </a:lnTo>
                    <a:lnTo>
                      <a:pt x="39850" y="193511"/>
                    </a:lnTo>
                    <a:cubicBezTo>
                      <a:pt x="36157" y="197203"/>
                      <a:pt x="31283" y="199477"/>
                      <a:pt x="26081" y="199935"/>
                    </a:cubicBezTo>
                    <a:lnTo>
                      <a:pt x="24136" y="200023"/>
                    </a:lnTo>
                    <a:lnTo>
                      <a:pt x="11113" y="200023"/>
                    </a:lnTo>
                    <a:cubicBezTo>
                      <a:pt x="5479" y="200023"/>
                      <a:pt x="737" y="195806"/>
                      <a:pt x="78" y="190211"/>
                    </a:cubicBezTo>
                    <a:lnTo>
                      <a:pt x="0" y="188911"/>
                    </a:lnTo>
                    <a:lnTo>
                      <a:pt x="0" y="175887"/>
                    </a:lnTo>
                    <a:cubicBezTo>
                      <a:pt x="1" y="170669"/>
                      <a:pt x="1838" y="165618"/>
                      <a:pt x="5190" y="161619"/>
                    </a:cubicBezTo>
                    <a:lnTo>
                      <a:pt x="6512" y="160174"/>
                    </a:lnTo>
                    <a:lnTo>
                      <a:pt x="11113" y="155573"/>
                    </a:lnTo>
                    <a:lnTo>
                      <a:pt x="33338" y="155573"/>
                    </a:lnTo>
                    <a:lnTo>
                      <a:pt x="33338" y="133348"/>
                    </a:lnTo>
                    <a:lnTo>
                      <a:pt x="55563" y="133348"/>
                    </a:lnTo>
                    <a:lnTo>
                      <a:pt x="55563" y="111123"/>
                    </a:lnTo>
                    <a:lnTo>
                      <a:pt x="79388" y="87298"/>
                    </a:lnTo>
                    <a:lnTo>
                      <a:pt x="76043" y="83953"/>
                    </a:lnTo>
                    <a:cubicBezTo>
                      <a:pt x="70046" y="77957"/>
                      <a:pt x="66677" y="69825"/>
                      <a:pt x="66677" y="61345"/>
                    </a:cubicBezTo>
                    <a:cubicBezTo>
                      <a:pt x="66677" y="52865"/>
                      <a:pt x="70046" y="44732"/>
                      <a:pt x="76043" y="38736"/>
                    </a:cubicBezTo>
                    <a:lnTo>
                      <a:pt x="105413" y="9366"/>
                    </a:lnTo>
                    <a:cubicBezTo>
                      <a:pt x="111409" y="3369"/>
                      <a:pt x="119542" y="0"/>
                      <a:pt x="128022" y="0"/>
                    </a:cubicBezTo>
                    <a:cubicBezTo>
                      <a:pt x="136502" y="0"/>
                      <a:pt x="144635" y="3369"/>
                      <a:pt x="150630" y="9366"/>
                    </a:cubicBez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52" name="Freeform 52"/>
              <p:cNvSpPr/>
              <p:nvPr/>
            </p:nvSpPr>
            <p:spPr>
              <a:xfrm>
                <a:off x="6154103" y="4778693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</p:grpSp>
        <p:sp>
          <p:nvSpPr>
            <p:cNvPr id="54" name="TextBox 54"/>
            <p:cNvSpPr txBox="1"/>
            <p:nvPr/>
          </p:nvSpPr>
          <p:spPr>
            <a:xfrm>
              <a:off x="6323076" y="4582001"/>
              <a:ext cx="4649216" cy="5415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70"/>
                </a:lnSpc>
              </a:pPr>
              <a:r>
                <a:rPr lang="zh-CN" sz="14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原图 11 个顶点 18 条边，缩完只剩 4 个点 4 条边，且没有</a:t>
              </a:r>
              <a:br/>
              <a:r>
                <a:rPr lang="zh-CN" sz="14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环。</a:t>
              </a:r>
            </a:p>
          </p:txBody>
        </p:sp>
      </p:grpSp>
      <p:grpSp>
        <p:nvGrpSpPr>
          <p:cNvPr id="62" name="takeaway"/>
          <p:cNvGrpSpPr/>
          <p:nvPr/>
        </p:nvGrpSpPr>
        <p:grpSpPr>
          <a:xfrm>
            <a:off x="533400" y="5844540"/>
            <a:ext cx="11125200" cy="518160"/>
            <a:chOff x="533400" y="5844540"/>
            <a:chExt cx="11125200" cy="518160"/>
          </a:xfrm>
        </p:grpSpPr>
        <p:sp>
          <p:nvSpPr>
            <p:cNvPr id="56" name="Rectangle 56"/>
            <p:cNvSpPr/>
            <p:nvPr/>
          </p:nvSpPr>
          <p:spPr>
            <a:xfrm>
              <a:off x="533400" y="5844540"/>
              <a:ext cx="11125200" cy="518160"/>
            </a:xfrm>
            <a:prstGeom prst="roundRect">
              <a:avLst>
                <a:gd name="adj" fmla="val 22059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60" name="Group 60"/>
            <p:cNvGrpSpPr/>
            <p:nvPr/>
          </p:nvGrpSpPr>
          <p:grpSpPr>
            <a:xfrm>
              <a:off x="738188" y="6003608"/>
              <a:ext cx="200026" cy="200025"/>
              <a:chOff x="738188" y="6003608"/>
              <a:chExt cx="200026" cy="200025"/>
            </a:xfrm>
          </p:grpSpPr>
          <p:sp>
            <p:nvSpPr>
              <p:cNvPr id="57" name="Freeform 57"/>
              <p:cNvSpPr/>
              <p:nvPr/>
            </p:nvSpPr>
            <p:spPr>
              <a:xfrm>
                <a:off x="738188" y="6003608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58" name="Freeform 58"/>
              <p:cNvSpPr/>
              <p:nvPr/>
            </p:nvSpPr>
            <p:spPr>
              <a:xfrm>
                <a:off x="777926" y="6048058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59" name="Freeform 59"/>
              <p:cNvSpPr/>
              <p:nvPr/>
            </p:nvSpPr>
            <p:spPr>
              <a:xfrm>
                <a:off x="812642" y="6159183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61" name="TextBox 61"/>
            <p:cNvSpPr txBox="1"/>
            <p:nvPr/>
          </p:nvSpPr>
          <p:spPr>
            <a:xfrm>
              <a:off x="1040511" y="6004084"/>
              <a:ext cx="9190177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缩点图上两点之间可能出现重复的边（原图里有多条跨分量的边），按需要去重即可，不影响无环这一性质。</a:t>
              </a:r>
            </a:p>
          </p:txBody>
        </p:sp>
      </p:grpSp>
      <p:grpSp>
        <p:nvGrpSpPr>
          <p:cNvPr id="65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63" name="TextBox 63"/>
            <p:cNvSpPr txBox="1"/>
            <p:nvPr/>
          </p:nvSpPr>
          <p:spPr>
            <a:xfrm>
              <a:off x="528447" y="6581299"/>
              <a:ext cx="232523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数据结构 · 第16讲 最小支撑树及图应用</a:t>
              </a:r>
            </a:p>
          </p:txBody>
        </p:sp>
        <p:sp>
          <p:nvSpPr>
            <p:cNvPr id="64" name="TextBox 64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31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6979492" cy="909257"/>
            <a:chOff x="520446" y="342900"/>
            <a:chExt cx="6979492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4630102" cy="26670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30522" y="407194"/>
              <a:ext cx="463681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第16讲 最小支撑树 · 强连通分量：有向图里能互相到达的极大顶点组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6979492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线性时间求强连通分量：Tarjan 与 Kosaraju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F5FA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24" name="c1-table-1"/>
          <p:cNvGrpSpPr/>
          <p:nvPr/>
        </p:nvGrpSpPr>
        <p:grpSpPr>
          <a:xfrm>
            <a:off x="533400" y="1524000"/>
            <a:ext cx="5410200" cy="1143952"/>
            <a:chOff x="533400" y="1524000"/>
            <a:chExt cx="5410200" cy="1143952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410200" cy="381000"/>
            </a:xfrm>
            <a:prstGeom prst="rect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1198245" y="1641157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算法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2609278" y="1641157"/>
              <a:ext cx="71742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时间复杂度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4644200" y="1641157"/>
              <a:ext cx="43472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提出者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628078" y="2023110"/>
              <a:ext cx="79526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Tarjan 算法</a:t>
              </a:r>
            </a:p>
          </p:txBody>
        </p:sp>
        <p:sp>
          <p:nvSpPr>
            <p:cNvPr id="12" name="Rectangle 12"/>
            <p:cNvSpPr/>
            <p:nvPr/>
          </p:nvSpPr>
          <p:spPr>
            <a:xfrm>
              <a:off x="2165985" y="1914525"/>
              <a:ext cx="1604010" cy="361950"/>
            </a:xfrm>
            <a:prstGeom prst="rect">
              <a:avLst/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2251138" y="2023110"/>
              <a:ext cx="60114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O(n + e)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3874198" y="2023110"/>
              <a:ext cx="95952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Robert Tarjan</a:t>
              </a:r>
            </a:p>
          </p:txBody>
        </p:sp>
        <p:sp>
          <p:nvSpPr>
            <p:cNvPr id="15" name="Rectangle 15"/>
            <p:cNvSpPr/>
            <p:nvPr/>
          </p:nvSpPr>
          <p:spPr>
            <a:xfrm>
              <a:off x="533400" y="2282190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6" name="Rectangle 16"/>
            <p:cNvSpPr/>
            <p:nvPr/>
          </p:nvSpPr>
          <p:spPr>
            <a:xfrm>
              <a:off x="533400" y="2286952"/>
              <a:ext cx="5410200" cy="38100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628078" y="2404110"/>
              <a:ext cx="95850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Kosaraju 算法</a:t>
              </a:r>
            </a:p>
          </p:txBody>
        </p:sp>
        <p:sp>
          <p:nvSpPr>
            <p:cNvPr id="18" name="Rectangle 18"/>
            <p:cNvSpPr/>
            <p:nvPr/>
          </p:nvSpPr>
          <p:spPr>
            <a:xfrm>
              <a:off x="2165985" y="2296478"/>
              <a:ext cx="1604010" cy="361950"/>
            </a:xfrm>
            <a:prstGeom prst="rect">
              <a:avLst/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2251138" y="2404110"/>
              <a:ext cx="60114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O(n + e)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3874198" y="2404110"/>
              <a:ext cx="108580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S. Rao Kosaraju</a:t>
              </a:r>
            </a:p>
          </p:txBody>
        </p:sp>
        <p:sp>
          <p:nvSpPr>
            <p:cNvPr id="21" name="Rectangle 21"/>
            <p:cNvSpPr/>
            <p:nvPr/>
          </p:nvSpPr>
          <p:spPr>
            <a:xfrm>
              <a:off x="533400" y="1524000"/>
              <a:ext cx="5410200" cy="1143952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22" name="Rectangle 22"/>
            <p:cNvSpPr/>
            <p:nvPr/>
          </p:nvSpPr>
          <p:spPr>
            <a:xfrm>
              <a:off x="2151698" y="1524000"/>
              <a:ext cx="9525" cy="1143952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3" name="Rectangle 23"/>
            <p:cNvSpPr/>
            <p:nvPr/>
          </p:nvSpPr>
          <p:spPr>
            <a:xfrm>
              <a:off x="3774758" y="1524000"/>
              <a:ext cx="9525" cy="1143952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31" name="c1-card-2"/>
          <p:cNvGrpSpPr/>
          <p:nvPr/>
        </p:nvGrpSpPr>
        <p:grpSpPr>
          <a:xfrm>
            <a:off x="533400" y="2832735"/>
            <a:ext cx="5410200" cy="1671638"/>
            <a:chOff x="533400" y="2832735"/>
            <a:chExt cx="5410200" cy="1671638"/>
          </a:xfrm>
        </p:grpSpPr>
        <p:sp>
          <p:nvSpPr>
            <p:cNvPr id="25" name="Rectangle 25"/>
            <p:cNvSpPr/>
            <p:nvPr/>
          </p:nvSpPr>
          <p:spPr>
            <a:xfrm>
              <a:off x="533400" y="2832735"/>
              <a:ext cx="5410200" cy="1671638"/>
            </a:xfrm>
            <a:prstGeom prst="roundRect">
              <a:avLst>
                <a:gd name="adj" fmla="val 7977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26" name="Rectangle 26"/>
            <p:cNvSpPr/>
            <p:nvPr/>
          </p:nvSpPr>
          <p:spPr>
            <a:xfrm>
              <a:off x="542925" y="2966085"/>
              <a:ext cx="47625" cy="1404938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27" name="Rectangle 27"/>
            <p:cNvSpPr/>
            <p:nvPr/>
          </p:nvSpPr>
          <p:spPr>
            <a:xfrm>
              <a:off x="752475" y="3013710"/>
              <a:ext cx="707708" cy="238125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837044" y="3046571"/>
              <a:ext cx="53761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思路对照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745998" y="3354229"/>
              <a:ext cx="4792218" cy="4922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Tarjan：一次 DFS，给每个顶点记 dfn（访问次序）与 low（能回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溯到的最小 dfn），栈中 dfn 等于 low 的顶点就是一个分量的根。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745998" y="3881914"/>
              <a:ext cx="4743450" cy="4922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Kosaraju：跑两次 DFS。第一次在原图上记录顶点的完成次序，第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二次在反图上按逆完成序出发，每棵 DFS 树就是一个分量。</a:t>
              </a:r>
            </a:p>
          </p:txBody>
        </p:sp>
      </p:grpSp>
      <p:grpSp>
        <p:nvGrpSpPr>
          <p:cNvPr id="38" name="c1-callout-3"/>
          <p:cNvGrpSpPr/>
          <p:nvPr/>
        </p:nvGrpSpPr>
        <p:grpSpPr>
          <a:xfrm>
            <a:off x="533400" y="4670108"/>
            <a:ext cx="5410200" cy="467678"/>
            <a:chOff x="533400" y="4670108"/>
            <a:chExt cx="5410200" cy="467678"/>
          </a:xfrm>
        </p:grpSpPr>
        <p:sp>
          <p:nvSpPr>
            <p:cNvPr id="32" name="Rectangle 32"/>
            <p:cNvSpPr/>
            <p:nvPr/>
          </p:nvSpPr>
          <p:spPr>
            <a:xfrm>
              <a:off x="533400" y="4670108"/>
              <a:ext cx="5410200" cy="467678"/>
            </a:xfrm>
            <a:prstGeom prst="roundRect">
              <a:avLst>
                <a:gd name="adj" fmla="val 24440"/>
              </a:avLst>
            </a:prstGeom>
            <a:solidFill>
              <a:srgbClr val="F4F6FB"/>
            </a:solidFill>
            <a:ln>
              <a:noFill/>
            </a:ln>
          </p:spPr>
        </p:sp>
        <p:grpSp>
          <p:nvGrpSpPr>
            <p:cNvPr id="36" name="Group 36"/>
            <p:cNvGrpSpPr/>
            <p:nvPr/>
          </p:nvGrpSpPr>
          <p:grpSpPr>
            <a:xfrm>
              <a:off x="738188" y="4803458"/>
              <a:ext cx="200026" cy="200026"/>
              <a:chOff x="738188" y="4803458"/>
              <a:chExt cx="200026" cy="200026"/>
            </a:xfrm>
          </p:grpSpPr>
          <p:sp>
            <p:nvSpPr>
              <p:cNvPr id="33" name="Freeform 33"/>
              <p:cNvSpPr/>
              <p:nvPr/>
            </p:nvSpPr>
            <p:spPr>
              <a:xfrm>
                <a:off x="738188" y="4803458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34" name="Freeform 34"/>
              <p:cNvSpPr/>
              <p:nvPr/>
            </p:nvSpPr>
            <p:spPr>
              <a:xfrm>
                <a:off x="838200" y="4870133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35" name="Freeform 35"/>
              <p:cNvSpPr/>
              <p:nvPr/>
            </p:nvSpPr>
            <p:spPr>
              <a:xfrm>
                <a:off x="827088" y="4903470"/>
                <a:ext cx="222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22225" h="44450">
                    <a:moveTo>
                      <a:pt x="0" y="0"/>
                    </a:moveTo>
                    <a:lnTo>
                      <a:pt x="11113" y="0"/>
                    </a:lnTo>
                    <a:lnTo>
                      <a:pt x="11113" y="44450"/>
                    </a:lnTo>
                    <a:lnTo>
                      <a:pt x="22225" y="4445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</p:grpSp>
        <p:sp>
          <p:nvSpPr>
            <p:cNvPr id="37" name="TextBox 37"/>
            <p:cNvSpPr txBox="1"/>
            <p:nvPr/>
          </p:nvSpPr>
          <p:spPr>
            <a:xfrm>
              <a:off x="1041273" y="4814411"/>
              <a:ext cx="457633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两者都基于邻接表，把每条边只看一次，所以是 O(n + e)。</a:t>
              </a:r>
            </a:p>
          </p:txBody>
        </p:sp>
      </p:grpSp>
      <p:grpSp>
        <p:nvGrpSpPr>
          <p:cNvPr id="44" name="c2-kv-1"/>
          <p:cNvGrpSpPr/>
          <p:nvPr/>
        </p:nvGrpSpPr>
        <p:grpSpPr>
          <a:xfrm>
            <a:off x="6241923" y="1545431"/>
            <a:ext cx="5416677" cy="622744"/>
            <a:chOff x="6241923" y="1545431"/>
            <a:chExt cx="5416677" cy="622744"/>
          </a:xfrm>
        </p:grpSpPr>
        <p:sp>
          <p:nvSpPr>
            <p:cNvPr id="39" name="TextBox 39"/>
            <p:cNvSpPr txBox="1"/>
            <p:nvPr/>
          </p:nvSpPr>
          <p:spPr>
            <a:xfrm>
              <a:off x="6241923" y="1545431"/>
              <a:ext cx="122748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Robert Tarjan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7823073" y="1545431"/>
              <a:ext cx="259765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图灵奖获得者，普林斯顿大学教授</a:t>
              </a:r>
            </a:p>
          </p:txBody>
        </p:sp>
        <p:sp>
          <p:nvSpPr>
            <p:cNvPr id="41" name="Rectangle 41"/>
            <p:cNvSpPr/>
            <p:nvPr/>
          </p:nvSpPr>
          <p:spPr>
            <a:xfrm>
              <a:off x="6248400" y="1817370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6241923" y="1918811"/>
              <a:ext cx="138912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S. Rao Kosaraju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7823073" y="1918811"/>
              <a:ext cx="345556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约翰霍普金斯大学教授，ACM 与 IEEE Fellow</a:t>
              </a:r>
            </a:p>
          </p:txBody>
        </p:sp>
      </p:grpSp>
      <p:grpSp>
        <p:nvGrpSpPr>
          <p:cNvPr id="51" name="c2-card-2"/>
          <p:cNvGrpSpPr/>
          <p:nvPr/>
        </p:nvGrpSpPr>
        <p:grpSpPr>
          <a:xfrm>
            <a:off x="6248400" y="2283142"/>
            <a:ext cx="5410200" cy="2854642"/>
            <a:chOff x="6248400" y="2283142"/>
            <a:chExt cx="5410200" cy="2854642"/>
          </a:xfrm>
        </p:grpSpPr>
        <p:sp>
          <p:nvSpPr>
            <p:cNvPr id="45" name="Rectangle 45"/>
            <p:cNvSpPr/>
            <p:nvPr/>
          </p:nvSpPr>
          <p:spPr>
            <a:xfrm>
              <a:off x="6248400" y="2283142"/>
              <a:ext cx="5410200" cy="2854642"/>
            </a:xfrm>
            <a:prstGeom prst="roundRect">
              <a:avLst>
                <a:gd name="adj" fmla="val 4671"/>
              </a:avLst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46" name="Rectangle 46"/>
            <p:cNvSpPr/>
            <p:nvPr/>
          </p:nvSpPr>
          <p:spPr>
            <a:xfrm>
              <a:off x="6429375" y="2464118"/>
              <a:ext cx="1081088" cy="238125"/>
            </a:xfrm>
            <a:prstGeom prst="roundRect">
              <a:avLst>
                <a:gd name="adj" fmla="val 50000"/>
              </a:avLst>
            </a:prstGeom>
            <a:solidFill>
              <a:srgbClr val="174A85"/>
            </a:solidFill>
            <a:ln>
              <a:noFill/>
            </a:ln>
          </p:spPr>
        </p:sp>
        <p:sp>
          <p:nvSpPr>
            <p:cNvPr id="47" name="TextBox 47"/>
            <p:cNvSpPr txBox="1"/>
            <p:nvPr/>
          </p:nvSpPr>
          <p:spPr>
            <a:xfrm>
              <a:off x="6502743" y="2496979"/>
              <a:ext cx="93339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三种做法怎么选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6422898" y="2804636"/>
              <a:ext cx="4743450" cy="4922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本讲的可及矩阵法 O(n³)，胜在容易理解、代码短，n 在几百以内</a:t>
              </a:r>
              <a:br/>
              <a:r>
                <a:rPr lang="zh-CN" sz="128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够用。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6422898" y="3332321"/>
              <a:ext cx="4832858" cy="4922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n 上万或者图很稀疏时，必须换成 Tarjan 或 Kosaraju，把 n³ 降到</a:t>
              </a:r>
              <a:br/>
              <a:r>
                <a:rPr lang="zh-CN" sz="128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n + e。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6422898" y="3860006"/>
              <a:ext cx="501004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三者的输出都是每个顶点的分量编号，只是编号的先后次序不同。</a:t>
              </a:r>
            </a:p>
          </p:txBody>
        </p:sp>
      </p:grpSp>
      <p:grpSp>
        <p:nvGrpSpPr>
          <p:cNvPr id="58" name="takeaway"/>
          <p:cNvGrpSpPr/>
          <p:nvPr/>
        </p:nvGrpSpPr>
        <p:grpSpPr>
          <a:xfrm>
            <a:off x="533400" y="5895022"/>
            <a:ext cx="11125200" cy="467678"/>
            <a:chOff x="533400" y="5895022"/>
            <a:chExt cx="11125200" cy="467678"/>
          </a:xfrm>
        </p:grpSpPr>
        <p:sp>
          <p:nvSpPr>
            <p:cNvPr id="52" name="Rectangle 52"/>
            <p:cNvSpPr/>
            <p:nvPr/>
          </p:nvSpPr>
          <p:spPr>
            <a:xfrm>
              <a:off x="533400" y="5895022"/>
              <a:ext cx="11125200" cy="467678"/>
            </a:xfrm>
            <a:prstGeom prst="roundRect">
              <a:avLst>
                <a:gd name="adj" fmla="val 24440"/>
              </a:avLst>
            </a:prstGeom>
            <a:solidFill>
              <a:srgbClr val="FDECEA"/>
            </a:solidFill>
            <a:ln>
              <a:noFill/>
            </a:ln>
          </p:spPr>
        </p:sp>
        <p:grpSp>
          <p:nvGrpSpPr>
            <p:cNvPr id="56" name="Group 56"/>
            <p:cNvGrpSpPr/>
            <p:nvPr/>
          </p:nvGrpSpPr>
          <p:grpSpPr>
            <a:xfrm>
              <a:off x="726129" y="6024681"/>
              <a:ext cx="224134" cy="192560"/>
              <a:chOff x="726129" y="6024681"/>
              <a:chExt cx="224134" cy="192560"/>
            </a:xfrm>
          </p:grpSpPr>
          <p:sp>
            <p:nvSpPr>
              <p:cNvPr id="53" name="Freeform 53"/>
              <p:cNvSpPr/>
              <p:nvPr/>
            </p:nvSpPr>
            <p:spPr>
              <a:xfrm>
                <a:off x="838200" y="6095048"/>
                <a:ext cx="95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44450">
                    <a:moveTo>
                      <a:pt x="0" y="0"/>
                    </a:moveTo>
                    <a:lnTo>
                      <a:pt x="0" y="4445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54" name="Freeform 54"/>
              <p:cNvSpPr/>
              <p:nvPr/>
            </p:nvSpPr>
            <p:spPr>
              <a:xfrm>
                <a:off x="726129" y="6024681"/>
                <a:ext cx="224134" cy="192560"/>
              </a:xfrm>
              <a:custGeom>
                <a:avLst/>
                <a:gdLst/>
                <a:ahLst/>
                <a:cxnLst/>
                <a:rect l="l" t="t" r="r" b="b"/>
                <a:pathLst>
                  <a:path w="224134" h="192560">
                    <a:moveTo>
                      <a:pt x="93880" y="10259"/>
                    </a:moveTo>
                    <a:lnTo>
                      <a:pt x="3802" y="160656"/>
                    </a:lnTo>
                    <a:cubicBezTo>
                      <a:pt x="23" y="167200"/>
                      <a:pt x="0" y="175257"/>
                      <a:pt x="3741" y="181823"/>
                    </a:cubicBezTo>
                    <a:cubicBezTo>
                      <a:pt x="7482" y="188388"/>
                      <a:pt x="14426" y="192476"/>
                      <a:pt x="21982" y="192560"/>
                    </a:cubicBezTo>
                    <a:lnTo>
                      <a:pt x="202160" y="192560"/>
                    </a:lnTo>
                    <a:cubicBezTo>
                      <a:pt x="209713" y="192473"/>
                      <a:pt x="216653" y="188387"/>
                      <a:pt x="220393" y="181826"/>
                    </a:cubicBezTo>
                    <a:cubicBezTo>
                      <a:pt x="224134" y="175264"/>
                      <a:pt x="224114" y="167211"/>
                      <a:pt x="220341" y="160667"/>
                    </a:cubicBezTo>
                    <a:lnTo>
                      <a:pt x="130262" y="10248"/>
                    </a:lnTo>
                    <a:cubicBezTo>
                      <a:pt x="126408" y="3886"/>
                      <a:pt x="119510" y="0"/>
                      <a:pt x="112071" y="0"/>
                    </a:cubicBezTo>
                    <a:cubicBezTo>
                      <a:pt x="104633" y="0"/>
                      <a:pt x="97734" y="3886"/>
                      <a:pt x="93880" y="10248"/>
                    </a:cubicBez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55" name="Freeform 55"/>
              <p:cNvSpPr/>
              <p:nvPr/>
            </p:nvSpPr>
            <p:spPr>
              <a:xfrm>
                <a:off x="838200" y="6172836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</p:grpSp>
        <p:sp>
          <p:nvSpPr>
            <p:cNvPr id="57" name="TextBox 57"/>
            <p:cNvSpPr txBox="1"/>
            <p:nvPr/>
          </p:nvSpPr>
          <p:spPr>
            <a:xfrm>
              <a:off x="1041273" y="6039326"/>
              <a:ext cx="834976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Tarjan 给出的分量编号是逆拓扑序，直接拿来跑缩点图的动态规划很方便；可及矩阵法的编号没有这个性质。</a:t>
              </a:r>
            </a:p>
          </p:txBody>
        </p:sp>
      </p:grpSp>
      <p:grpSp>
        <p:nvGrpSpPr>
          <p:cNvPr id="61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59" name="TextBox 59"/>
            <p:cNvSpPr txBox="1"/>
            <p:nvPr/>
          </p:nvSpPr>
          <p:spPr>
            <a:xfrm>
              <a:off x="528447" y="6581299"/>
              <a:ext cx="232523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数据结构 · 第16讲 最小支撑树及图应用</a:t>
              </a:r>
            </a:p>
          </p:txBody>
        </p:sp>
        <p:sp>
          <p:nvSpPr>
            <p:cNvPr id="60" name="TextBox 60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32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-disc"/>
          <p:cNvSpPr/>
          <p:nvPr/>
        </p:nvSpPr>
        <p:spPr>
          <a:xfrm>
            <a:off x="7715250" y="571500"/>
            <a:ext cx="5715000" cy="5715000"/>
          </a:xfrm>
          <a:prstGeom prst="ellipse">
            <a:avLst/>
          </a:prstGeom>
          <a:solidFill>
            <a:srgbClr val="1F5FA8"/>
          </a:solidFill>
          <a:ln>
            <a:noFill/>
          </a:ln>
        </p:spPr>
      </p:sp>
      <p:sp>
        <p:nvSpPr>
          <p:cNvPr id="3" name="section-ring"/>
          <p:cNvSpPr/>
          <p:nvPr/>
        </p:nvSpPr>
        <p:spPr>
          <a:xfrm>
            <a:off x="7334250" y="190500"/>
            <a:ext cx="6477000" cy="6477000"/>
          </a:xfrm>
          <a:prstGeom prst="ellipse">
            <a:avLst/>
          </a:prstGeom>
          <a:noFill/>
          <a:ln w="133350">
            <a:solidFill>
              <a:srgbClr val="E6EFF9"/>
            </a:solidFill>
          </a:ln>
        </p:spPr>
      </p:sp>
      <p:grpSp>
        <p:nvGrpSpPr>
          <p:cNvPr id="5" name="section-num"/>
          <p:cNvGrpSpPr/>
          <p:nvPr/>
        </p:nvGrpSpPr>
        <p:grpSpPr>
          <a:xfrm>
            <a:off x="8954033" y="2705100"/>
            <a:ext cx="1903933" cy="2305050"/>
            <a:chOff x="8954033" y="2705100"/>
            <a:chExt cx="1903933" cy="2305050"/>
          </a:xfrm>
        </p:grpSpPr>
        <p:sp>
          <p:nvSpPr>
            <p:cNvPr id="4" name="TextBox 4"/>
            <p:cNvSpPr txBox="1"/>
            <p:nvPr/>
          </p:nvSpPr>
          <p:spPr>
            <a:xfrm>
              <a:off x="8954033" y="2705100"/>
              <a:ext cx="1903933" cy="23050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05</a:t>
              </a:r>
            </a:p>
          </p:txBody>
        </p:sp>
      </p:grpSp>
      <p:grpSp>
        <p:nvGrpSpPr>
          <p:cNvPr id="16" name="section-title"/>
          <p:cNvGrpSpPr/>
          <p:nvPr/>
        </p:nvGrpSpPr>
        <p:grpSpPr>
          <a:xfrm>
            <a:off x="667512" y="1835468"/>
            <a:ext cx="6313170" cy="3321367"/>
            <a:chOff x="667512" y="1835468"/>
            <a:chExt cx="6313170" cy="3321367"/>
          </a:xfrm>
        </p:grpSpPr>
        <p:sp>
          <p:nvSpPr>
            <p:cNvPr id="6" name="TextBox 6"/>
            <p:cNvSpPr txBox="1"/>
            <p:nvPr/>
          </p:nvSpPr>
          <p:spPr>
            <a:xfrm>
              <a:off x="678942" y="1835468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第五部分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667512" y="2240280"/>
              <a:ext cx="3913632" cy="7040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6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图模型的其他应用</a:t>
              </a:r>
            </a:p>
          </p:txBody>
        </p:sp>
        <p:sp>
          <p:nvSpPr>
            <p:cNvPr id="8" name="Rectangle 8"/>
            <p:cNvSpPr/>
            <p:nvPr/>
          </p:nvSpPr>
          <p:spPr>
            <a:xfrm>
              <a:off x="685800" y="3041332"/>
              <a:ext cx="762000" cy="47625"/>
            </a:xfrm>
            <a:prstGeom prst="roundRect">
              <a:avLst>
                <a:gd name="adj" fmla="val 50000"/>
              </a:avLst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677418" y="3377565"/>
              <a:ext cx="6303264" cy="64655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550"/>
                </a:lnSpc>
              </a:pPr>
              <a:r>
                <a:rPr lang="zh-CN" sz="16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把问题里的对象画成顶点、关系画成边，很多问题就变成了学过的图</a:t>
              </a:r>
              <a:br/>
              <a:r>
                <a:rPr lang="zh-CN" sz="16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算法</a:t>
              </a:r>
            </a:p>
          </p:txBody>
        </p:sp>
        <p:sp>
          <p:nvSpPr>
            <p:cNvPr id="10" name="Ellipse 10"/>
            <p:cNvSpPr/>
            <p:nvPr/>
          </p:nvSpPr>
          <p:spPr>
            <a:xfrm>
              <a:off x="723900" y="4211955"/>
              <a:ext cx="76200" cy="7620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906780" y="4154805"/>
              <a:ext cx="1987391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PageRank 与网页排序</a:t>
              </a:r>
            </a:p>
          </p:txBody>
        </p:sp>
        <p:sp>
          <p:nvSpPr>
            <p:cNvPr id="12" name="Ellipse 12"/>
            <p:cNvSpPr/>
            <p:nvPr/>
          </p:nvSpPr>
          <p:spPr>
            <a:xfrm>
              <a:off x="723900" y="4566285"/>
              <a:ext cx="76200" cy="7620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906780" y="4509135"/>
              <a:ext cx="203454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拼音输入法转最短路径</a:t>
              </a:r>
            </a:p>
          </p:txBody>
        </p:sp>
        <p:sp>
          <p:nvSpPr>
            <p:cNvPr id="14" name="Ellipse 14"/>
            <p:cNvSpPr/>
            <p:nvPr/>
          </p:nvSpPr>
          <p:spPr>
            <a:xfrm>
              <a:off x="723900" y="4920615"/>
              <a:ext cx="76200" cy="7620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906780" y="4863465"/>
              <a:ext cx="203454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神经网络与贝叶斯网络</a:t>
              </a:r>
            </a:p>
          </p:txBody>
        </p:sp>
      </p:grpSp>
      <p:grpSp>
        <p:nvGrpSpPr>
          <p:cNvPr id="19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17" name="TextBox 17"/>
            <p:cNvSpPr txBox="1"/>
            <p:nvPr/>
          </p:nvSpPr>
          <p:spPr>
            <a:xfrm>
              <a:off x="528447" y="6581299"/>
              <a:ext cx="232523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数据结构 · 第16讲 最小支撑树及图应用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33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7813367" cy="909257"/>
            <a:chOff x="520446" y="342900"/>
            <a:chExt cx="7813367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781300" cy="26670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85678" y="407194"/>
              <a:ext cx="267674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第16讲 最小支撑树 · 图模型的其他应用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7813367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PageRank：一个网页的重要性由指向它的网页决定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F5FA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8" name="lead"/>
          <p:cNvGrpSpPr/>
          <p:nvPr/>
        </p:nvGrpSpPr>
        <p:grpSpPr>
          <a:xfrm>
            <a:off x="526542" y="1545907"/>
            <a:ext cx="5647563" cy="264033"/>
            <a:chOff x="526542" y="1545907"/>
            <a:chExt cx="5647563" cy="264033"/>
          </a:xfrm>
        </p:grpSpPr>
        <p:sp>
          <p:nvSpPr>
            <p:cNvPr id="7" name="TextBox 7"/>
            <p:cNvSpPr txBox="1"/>
            <p:nvPr/>
          </p:nvSpPr>
          <p:spPr>
            <a:xfrm>
              <a:off x="526542" y="1545907"/>
              <a:ext cx="564756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互联网可看成一张有向图，顶点是网页，有向边是网页之间的超链接。</a:t>
              </a:r>
            </a:p>
          </p:txBody>
        </p:sp>
      </p:grpSp>
      <p:grpSp>
        <p:nvGrpSpPr>
          <p:cNvPr id="35" name="c1-graph-1"/>
          <p:cNvGrpSpPr/>
          <p:nvPr/>
        </p:nvGrpSpPr>
        <p:grpSpPr>
          <a:xfrm>
            <a:off x="869632" y="1961198"/>
            <a:ext cx="4305300" cy="1878330"/>
            <a:chOff x="869632" y="1961198"/>
            <a:chExt cx="4305300" cy="1878330"/>
          </a:xfrm>
        </p:grpSpPr>
        <p:sp>
          <p:nvSpPr>
            <p:cNvPr id="9" name="Freeform 9"/>
            <p:cNvSpPr/>
            <p:nvPr/>
          </p:nvSpPr>
          <p:spPr>
            <a:xfrm>
              <a:off x="1075372" y="2380298"/>
              <a:ext cx="85725" cy="315277"/>
            </a:xfrm>
            <a:custGeom>
              <a:avLst/>
              <a:gdLst/>
              <a:ahLst/>
              <a:cxnLst/>
              <a:rect l="l" t="t" r="r" b="b"/>
              <a:pathLst>
                <a:path w="85725" h="315277">
                  <a:moveTo>
                    <a:pt x="0" y="315277"/>
                  </a:moveTo>
                  <a:lnTo>
                    <a:pt x="85725" y="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10" name="Freeform 10"/>
            <p:cNvSpPr/>
            <p:nvPr/>
          </p:nvSpPr>
          <p:spPr>
            <a:xfrm>
              <a:off x="1114425" y="2288858"/>
              <a:ext cx="92393" cy="103822"/>
            </a:xfrm>
            <a:custGeom>
              <a:avLst/>
              <a:gdLst/>
              <a:ahLst/>
              <a:cxnLst/>
              <a:rect l="l" t="t" r="r" b="b"/>
              <a:pathLst>
                <a:path w="92393" h="103822">
                  <a:moveTo>
                    <a:pt x="71438" y="0"/>
                  </a:moveTo>
                  <a:lnTo>
                    <a:pt x="92393" y="103822"/>
                  </a:lnTo>
                  <a:lnTo>
                    <a:pt x="0" y="79057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11" name="Freeform 11"/>
            <p:cNvSpPr/>
            <p:nvPr/>
          </p:nvSpPr>
          <p:spPr>
            <a:xfrm>
              <a:off x="1179195" y="2947988"/>
              <a:ext cx="1015365" cy="594360"/>
            </a:xfrm>
            <a:custGeom>
              <a:avLst/>
              <a:gdLst/>
              <a:ahLst/>
              <a:cxnLst/>
              <a:rect l="l" t="t" r="r" b="b"/>
              <a:pathLst>
                <a:path w="1015365" h="594360">
                  <a:moveTo>
                    <a:pt x="0" y="0"/>
                  </a:moveTo>
                  <a:lnTo>
                    <a:pt x="1015365" y="59436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12" name="Freeform 12"/>
            <p:cNvSpPr/>
            <p:nvPr/>
          </p:nvSpPr>
          <p:spPr>
            <a:xfrm>
              <a:off x="2170748" y="3501390"/>
              <a:ext cx="105727" cy="89535"/>
            </a:xfrm>
            <a:custGeom>
              <a:avLst/>
              <a:gdLst/>
              <a:ahLst/>
              <a:cxnLst/>
              <a:rect l="l" t="t" r="r" b="b"/>
              <a:pathLst>
                <a:path w="105727" h="89535">
                  <a:moveTo>
                    <a:pt x="105727" y="89535"/>
                  </a:moveTo>
                  <a:lnTo>
                    <a:pt x="0" y="81915"/>
                  </a:lnTo>
                  <a:lnTo>
                    <a:pt x="47625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13" name="Freeform 13"/>
            <p:cNvSpPr/>
            <p:nvPr/>
          </p:nvSpPr>
          <p:spPr>
            <a:xfrm>
              <a:off x="2425065" y="3032760"/>
              <a:ext cx="9525" cy="378143"/>
            </a:xfrm>
            <a:custGeom>
              <a:avLst/>
              <a:gdLst/>
              <a:ahLst/>
              <a:cxnLst/>
              <a:rect l="l" t="t" r="r" b="b"/>
              <a:pathLst>
                <a:path w="9525" h="378143">
                  <a:moveTo>
                    <a:pt x="0" y="0"/>
                  </a:moveTo>
                  <a:lnTo>
                    <a:pt x="0" y="378143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14" name="Freeform 14"/>
            <p:cNvSpPr/>
            <p:nvPr/>
          </p:nvSpPr>
          <p:spPr>
            <a:xfrm>
              <a:off x="2377440" y="3410902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47625" y="95250"/>
                  </a:moveTo>
                  <a:lnTo>
                    <a:pt x="0" y="0"/>
                  </a:lnTo>
                  <a:lnTo>
                    <a:pt x="95250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15" name="Freeform 15"/>
            <p:cNvSpPr/>
            <p:nvPr/>
          </p:nvSpPr>
          <p:spPr>
            <a:xfrm>
              <a:off x="2650808" y="2952750"/>
              <a:ext cx="922972" cy="581978"/>
            </a:xfrm>
            <a:custGeom>
              <a:avLst/>
              <a:gdLst/>
              <a:ahLst/>
              <a:cxnLst/>
              <a:rect l="l" t="t" r="r" b="b"/>
              <a:pathLst>
                <a:path w="922972" h="581978">
                  <a:moveTo>
                    <a:pt x="922972" y="0"/>
                  </a:moveTo>
                  <a:lnTo>
                    <a:pt x="0" y="581978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16" name="Freeform 16"/>
            <p:cNvSpPr/>
            <p:nvPr/>
          </p:nvSpPr>
          <p:spPr>
            <a:xfrm>
              <a:off x="2569845" y="3494722"/>
              <a:ext cx="105727" cy="91440"/>
            </a:xfrm>
            <a:custGeom>
              <a:avLst/>
              <a:gdLst/>
              <a:ahLst/>
              <a:cxnLst/>
              <a:rect l="l" t="t" r="r" b="b"/>
              <a:pathLst>
                <a:path w="105727" h="91440">
                  <a:moveTo>
                    <a:pt x="0" y="91440"/>
                  </a:moveTo>
                  <a:lnTo>
                    <a:pt x="55245" y="0"/>
                  </a:lnTo>
                  <a:lnTo>
                    <a:pt x="105727" y="80962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17" name="Freeform 17"/>
            <p:cNvSpPr/>
            <p:nvPr/>
          </p:nvSpPr>
          <p:spPr>
            <a:xfrm>
              <a:off x="3741420" y="2386965"/>
              <a:ext cx="40958" cy="304800"/>
            </a:xfrm>
            <a:custGeom>
              <a:avLst/>
              <a:gdLst/>
              <a:ahLst/>
              <a:cxnLst/>
              <a:rect l="l" t="t" r="r" b="b"/>
              <a:pathLst>
                <a:path w="40958" h="304800">
                  <a:moveTo>
                    <a:pt x="0" y="304800"/>
                  </a:moveTo>
                  <a:lnTo>
                    <a:pt x="40958" y="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18" name="Freeform 18"/>
            <p:cNvSpPr/>
            <p:nvPr/>
          </p:nvSpPr>
          <p:spPr>
            <a:xfrm>
              <a:off x="3735705" y="2292668"/>
              <a:ext cx="94298" cy="100965"/>
            </a:xfrm>
            <a:custGeom>
              <a:avLst/>
              <a:gdLst/>
              <a:ahLst/>
              <a:cxnLst/>
              <a:rect l="l" t="t" r="r" b="b"/>
              <a:pathLst>
                <a:path w="94298" h="100965">
                  <a:moveTo>
                    <a:pt x="60008" y="0"/>
                  </a:moveTo>
                  <a:lnTo>
                    <a:pt x="94298" y="100965"/>
                  </a:lnTo>
                  <a:lnTo>
                    <a:pt x="0" y="88583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19" name="Freeform 19"/>
            <p:cNvSpPr/>
            <p:nvPr/>
          </p:nvSpPr>
          <p:spPr>
            <a:xfrm>
              <a:off x="3890010" y="2861310"/>
              <a:ext cx="856298" cy="9525"/>
            </a:xfrm>
            <a:custGeom>
              <a:avLst/>
              <a:gdLst/>
              <a:ahLst/>
              <a:cxnLst/>
              <a:rect l="l" t="t" r="r" b="b"/>
              <a:pathLst>
                <a:path w="856298" h="9525">
                  <a:moveTo>
                    <a:pt x="0" y="0"/>
                  </a:moveTo>
                  <a:lnTo>
                    <a:pt x="856298" y="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20" name="Freeform 20"/>
            <p:cNvSpPr/>
            <p:nvPr/>
          </p:nvSpPr>
          <p:spPr>
            <a:xfrm>
              <a:off x="4746308" y="2813685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95250" y="47625"/>
                  </a:moveTo>
                  <a:lnTo>
                    <a:pt x="0" y="9525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21" name="Ellipse 21"/>
            <p:cNvSpPr/>
            <p:nvPr/>
          </p:nvSpPr>
          <p:spPr>
            <a:xfrm>
              <a:off x="1068705" y="1961198"/>
              <a:ext cx="323850" cy="32385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22" name="Ellipse 22"/>
            <p:cNvSpPr/>
            <p:nvPr/>
          </p:nvSpPr>
          <p:spPr>
            <a:xfrm>
              <a:off x="3656648" y="1961198"/>
              <a:ext cx="323850" cy="32385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23" name="Ellipse 23"/>
            <p:cNvSpPr/>
            <p:nvPr/>
          </p:nvSpPr>
          <p:spPr>
            <a:xfrm>
              <a:off x="869632" y="2699385"/>
              <a:ext cx="323850" cy="32385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24" name="Ellipse 24"/>
            <p:cNvSpPr/>
            <p:nvPr/>
          </p:nvSpPr>
          <p:spPr>
            <a:xfrm>
              <a:off x="2263140" y="2699385"/>
              <a:ext cx="323850" cy="32385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25" name="Ellipse 25"/>
            <p:cNvSpPr/>
            <p:nvPr/>
          </p:nvSpPr>
          <p:spPr>
            <a:xfrm>
              <a:off x="3556635" y="2699385"/>
              <a:ext cx="323850" cy="32385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26" name="Ellipse 26"/>
            <p:cNvSpPr/>
            <p:nvPr/>
          </p:nvSpPr>
          <p:spPr>
            <a:xfrm>
              <a:off x="4851082" y="2699385"/>
              <a:ext cx="323850" cy="32385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27" name="Ellipse 27"/>
            <p:cNvSpPr/>
            <p:nvPr/>
          </p:nvSpPr>
          <p:spPr>
            <a:xfrm>
              <a:off x="2263140" y="3515678"/>
              <a:ext cx="323850" cy="323850"/>
            </a:xfrm>
            <a:prstGeom prst="ellipse">
              <a:avLst/>
            </a:prstGeom>
            <a:solidFill>
              <a:srgbClr val="FDEEE7"/>
            </a:solidFill>
            <a:ln w="17145">
              <a:solidFill>
                <a:srgbClr val="F26B3A"/>
              </a:solidFill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1185427" y="2062639"/>
              <a:ext cx="9040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E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3773369" y="2062639"/>
              <a:ext cx="9040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F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986354" y="2800826"/>
              <a:ext cx="9040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B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2379862" y="2800826"/>
              <a:ext cx="9040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3673357" y="2800826"/>
              <a:ext cx="9040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D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4967804" y="2800826"/>
              <a:ext cx="9040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G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2379862" y="3617119"/>
              <a:ext cx="9040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</a:t>
              </a:r>
            </a:p>
          </p:txBody>
        </p:sp>
      </p:grpSp>
      <p:grpSp>
        <p:nvGrpSpPr>
          <p:cNvPr id="42" name="c1-callout-2"/>
          <p:cNvGrpSpPr/>
          <p:nvPr/>
        </p:nvGrpSpPr>
        <p:grpSpPr>
          <a:xfrm>
            <a:off x="533400" y="4036695"/>
            <a:ext cx="4977765" cy="915352"/>
            <a:chOff x="533400" y="4036695"/>
            <a:chExt cx="4977765" cy="915352"/>
          </a:xfrm>
        </p:grpSpPr>
        <p:sp>
          <p:nvSpPr>
            <p:cNvPr id="36" name="Rectangle 36"/>
            <p:cNvSpPr/>
            <p:nvPr/>
          </p:nvSpPr>
          <p:spPr>
            <a:xfrm>
              <a:off x="533400" y="4036695"/>
              <a:ext cx="4977765" cy="915352"/>
            </a:xfrm>
            <a:prstGeom prst="roundRect">
              <a:avLst>
                <a:gd name="adj" fmla="val 12487"/>
              </a:avLst>
            </a:prstGeom>
            <a:solidFill>
              <a:srgbClr val="F4F6FB"/>
            </a:solidFill>
            <a:ln>
              <a:noFill/>
            </a:ln>
          </p:spPr>
        </p:sp>
        <p:grpSp>
          <p:nvGrpSpPr>
            <p:cNvPr id="40" name="Group 40"/>
            <p:cNvGrpSpPr/>
            <p:nvPr/>
          </p:nvGrpSpPr>
          <p:grpSpPr>
            <a:xfrm>
              <a:off x="738188" y="4393883"/>
              <a:ext cx="200026" cy="200026"/>
              <a:chOff x="738188" y="4393883"/>
              <a:chExt cx="200026" cy="200026"/>
            </a:xfrm>
          </p:grpSpPr>
          <p:sp>
            <p:nvSpPr>
              <p:cNvPr id="37" name="Freeform 37"/>
              <p:cNvSpPr/>
              <p:nvPr/>
            </p:nvSpPr>
            <p:spPr>
              <a:xfrm>
                <a:off x="738188" y="4393883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38" name="Freeform 38"/>
              <p:cNvSpPr/>
              <p:nvPr/>
            </p:nvSpPr>
            <p:spPr>
              <a:xfrm>
                <a:off x="838200" y="4460558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39" name="Freeform 39"/>
              <p:cNvSpPr/>
              <p:nvPr/>
            </p:nvSpPr>
            <p:spPr>
              <a:xfrm>
                <a:off x="827088" y="4493895"/>
                <a:ext cx="222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22225" h="44450">
                    <a:moveTo>
                      <a:pt x="0" y="0"/>
                    </a:moveTo>
                    <a:lnTo>
                      <a:pt x="11113" y="0"/>
                    </a:lnTo>
                    <a:lnTo>
                      <a:pt x="11113" y="44450"/>
                    </a:lnTo>
                    <a:lnTo>
                      <a:pt x="22225" y="4445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</p:grpSp>
        <p:sp>
          <p:nvSpPr>
            <p:cNvPr id="41" name="TextBox 41"/>
            <p:cNvSpPr txBox="1"/>
            <p:nvPr/>
          </p:nvSpPr>
          <p:spPr>
            <a:xfrm>
              <a:off x="1041273" y="4404836"/>
              <a:ext cx="350132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B 的出度是 2，C 的出度是 1，D 的出度是 3。</a:t>
              </a:r>
            </a:p>
          </p:txBody>
        </p:sp>
      </p:grpSp>
      <p:grpSp>
        <p:nvGrpSpPr>
          <p:cNvPr id="49" name="c2-card-1"/>
          <p:cNvGrpSpPr/>
          <p:nvPr/>
        </p:nvGrpSpPr>
        <p:grpSpPr>
          <a:xfrm>
            <a:off x="5815965" y="1928812"/>
            <a:ext cx="5842635" cy="1185862"/>
            <a:chOff x="5815965" y="1928812"/>
            <a:chExt cx="5842635" cy="1185862"/>
          </a:xfrm>
        </p:grpSpPr>
        <p:sp>
          <p:nvSpPr>
            <p:cNvPr id="43" name="Rectangle 43"/>
            <p:cNvSpPr/>
            <p:nvPr/>
          </p:nvSpPr>
          <p:spPr>
            <a:xfrm>
              <a:off x="5815965" y="1928812"/>
              <a:ext cx="5842635" cy="1185862"/>
            </a:xfrm>
            <a:prstGeom prst="roundRect">
              <a:avLst>
                <a:gd name="adj" fmla="val 11245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44" name="Rectangle 44"/>
            <p:cNvSpPr/>
            <p:nvPr/>
          </p:nvSpPr>
          <p:spPr>
            <a:xfrm>
              <a:off x="5825490" y="2062162"/>
              <a:ext cx="47625" cy="919162"/>
            </a:xfrm>
            <a:prstGeom prst="roundRect">
              <a:avLst>
                <a:gd name="adj" fmla="val 50000"/>
              </a:avLst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45" name="Rectangle 45"/>
            <p:cNvSpPr/>
            <p:nvPr/>
          </p:nvSpPr>
          <p:spPr>
            <a:xfrm>
              <a:off x="6035040" y="2109788"/>
              <a:ext cx="1204912" cy="238125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6104357" y="2142649"/>
              <a:ext cx="106532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重要性的两个条件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6028563" y="2449354"/>
              <a:ext cx="407955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指向该网页的超链接多，也就是这个顶点的 </a:t>
              </a:r>
              <a:r>
                <a:rPr lang="zh-CN" sz="128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入度</a:t>
              </a: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 大。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6028563" y="2735104"/>
              <a:ext cx="294228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指向该网页的那些网页本身也很重要。</a:t>
              </a:r>
            </a:p>
          </p:txBody>
        </p: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50" name="formula19"/>
              <p:cNvSpPr txBox="1">
                <a:spLocks noGrp="1"/>
              </p:cNvSpPr>
              <p:nvPr/>
            </p:nvSpPr>
            <p:spPr>
              <a:xfrm>
                <a:off x="5815965" y="3279458"/>
                <a:ext cx="5842635" cy="36004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lIns="0" tIns="0" rIns="0" bIns="0" wrap="none" anchor="ctr">
                <a:normAutofit/>
              </a:bodyPr>
              <a:lstStyle/>
              <a:p>
                <a:pPr algn="ctr"/>
                <a14:m>
                  <m:oMathPara xmlns:a="http://schemas.openxmlformats.org/drawingml/2006/main" xmlns:m="http://schemas.openxmlformats.org/officeDocument/2006/math">
                    <m:oMathParaPr>
                      <m:jc m:val="center"/>
                    </m:oMathParaPr>
                    <m:oMath>
                      <m:r>
                        <a:rPr lang="zh-CN" sz="105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PR</m:t>
                      </m:r>
                      <m:d>
                        <m:dPr>
                          <m:begChr m:val="("/>
                          <m:sepChr m:val=""/>
                          <m:endChr m:val=")"/>
                          <m:grow m:val="on"/>
                          <m:ctrlPr>
                            <a:rPr lang="zh-CN" sz="10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dPr>
                        <m:e>
                          <m:r>
                            <a:rPr lang="zh-CN" sz="10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v</m:t>
                          </m:r>
                        </m:e>
                      </m:d>
                      <m:r>
                        <m:rPr>
                          <m:sty m:val="p"/>
                        </m:rPr>
                        <a:rPr lang="zh-CN" sz="105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f>
                        <m:fPr>
                          <m:type m:val="bar"/>
                          <m:ctrlPr>
                            <a:rPr lang="zh-CN" sz="10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fPr>
                        <m:num>
                          <m:r>
                            <a:rPr lang="zh-CN" sz="10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PR</m:t>
                          </m:r>
                          <m:d>
                            <m:dPr>
                              <m:begChr m:val="("/>
                              <m:sepChr m:val=""/>
                              <m:endChr m:val=")"/>
                              <m:grow m:val="on"/>
                              <m:ctrlPr>
                                <a:rPr lang="zh-CN" sz="10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dPr>
                            <m:e>
                              <m:sSub>
                                <m:e>
                                  <m:r>
                                    <a:rPr lang="zh-CN" sz="105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v</m:t>
                                  </m:r>
                                </m:e>
                                <m:sub>
                                  <m:r>
                                    <a:rPr lang="zh-CN" sz="105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1</m:t>
                                  </m:r>
                                </m:sub>
                              </m:sSub>
                            </m:e>
                          </m:d>
                        </m:num>
                        <m:den>
                          <m:r>
                            <m:rPr>
                              <m:sty m:val="p"/>
                            </m:rPr>
                            <a:rPr lang="zh-CN" sz="10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outdegree</m:t>
                          </m:r>
                          <m:d>
                            <m:dPr>
                              <m:begChr m:val="("/>
                              <m:sepChr m:val=""/>
                              <m:endChr m:val=")"/>
                              <m:grow m:val="on"/>
                              <m:ctrlPr>
                                <a:rPr lang="zh-CN" sz="10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dPr>
                            <m:e>
                              <m:sSub>
                                <m:e>
                                  <m:r>
                                    <a:rPr lang="zh-CN" sz="105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v</m:t>
                                  </m:r>
                                </m:e>
                                <m:sub>
                                  <m:r>
                                    <a:rPr lang="zh-CN" sz="105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1</m:t>
                                  </m:r>
                                </m:sub>
                              </m:sSub>
                            </m:e>
                          </m:d>
                        </m:den>
                      </m:f>
                      <m:r>
                        <m:rPr>
                          <m:sty m:val="p"/>
                        </m:rPr>
                        <a:rPr lang="zh-CN" sz="105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+⋯+</m:t>
                      </m:r>
                      <m:f>
                        <m:fPr>
                          <m:type m:val="bar"/>
                          <m:ctrlPr>
                            <a:rPr lang="zh-CN" sz="10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fPr>
                        <m:num>
                          <m:r>
                            <a:rPr lang="zh-CN" sz="10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PR</m:t>
                          </m:r>
                          <m:d>
                            <m:dPr>
                              <m:begChr m:val="("/>
                              <m:sepChr m:val=""/>
                              <m:endChr m:val=")"/>
                              <m:grow m:val="on"/>
                              <m:ctrlPr>
                                <a:rPr lang="zh-CN" sz="10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dPr>
                            <m:e>
                              <m:sSub>
                                <m:e>
                                  <m:r>
                                    <a:rPr lang="zh-CN" sz="105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v</m:t>
                                  </m:r>
                                </m:e>
                                <m:sub>
                                  <m:r>
                                    <a:rPr lang="zh-CN" sz="105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k</m:t>
                                  </m:r>
                                </m:sub>
                              </m:sSub>
                            </m:e>
                          </m:d>
                        </m:num>
                        <m:den>
                          <m:r>
                            <m:rPr>
                              <m:sty m:val="p"/>
                            </m:rPr>
                            <a:rPr lang="zh-CN" sz="10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outdegree</m:t>
                          </m:r>
                          <m:d>
                            <m:dPr>
                              <m:begChr m:val="("/>
                              <m:sepChr m:val=""/>
                              <m:endChr m:val=")"/>
                              <m:grow m:val="on"/>
                              <m:ctrlPr>
                                <a:rPr lang="zh-CN" sz="10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dPr>
                            <m:e>
                              <m:sSub>
                                <m:e>
                                  <m:r>
                                    <a:rPr lang="zh-CN" sz="105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v</m:t>
                                  </m:r>
                                </m:e>
                                <m:sub>
                                  <m:r>
                                    <a:rPr lang="zh-CN" sz="105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k</m:t>
                                  </m:r>
                                </m:sub>
                              </m:sSub>
                            </m:e>
                          </m:d>
                        </m:den>
                      </m:f>
                    </m:oMath>
                  </m:oMathPara>
                </a14:m>
              </a:p>
            </p:txBody>
          </p:sp>
        </mc:Choice>
      </mc:AlternateContent>
      <p:grpSp>
        <p:nvGrpSpPr>
          <p:cNvPr id="57" name="c2-card-3"/>
          <p:cNvGrpSpPr/>
          <p:nvPr/>
        </p:nvGrpSpPr>
        <p:grpSpPr>
          <a:xfrm>
            <a:off x="5815965" y="3804285"/>
            <a:ext cx="5842635" cy="1147762"/>
            <a:chOff x="5815965" y="3804285"/>
            <a:chExt cx="5842635" cy="1147762"/>
          </a:xfrm>
        </p:grpSpPr>
        <p:sp>
          <p:nvSpPr>
            <p:cNvPr id="51" name="Rectangle 51"/>
            <p:cNvSpPr/>
            <p:nvPr/>
          </p:nvSpPr>
          <p:spPr>
            <a:xfrm>
              <a:off x="5815965" y="3804285"/>
              <a:ext cx="5842635" cy="1147762"/>
            </a:xfrm>
            <a:prstGeom prst="roundRect">
              <a:avLst>
                <a:gd name="adj" fmla="val 11618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52" name="Rectangle 52"/>
            <p:cNvSpPr/>
            <p:nvPr/>
          </p:nvSpPr>
          <p:spPr>
            <a:xfrm>
              <a:off x="5825490" y="3937635"/>
              <a:ext cx="47625" cy="881062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53" name="Rectangle 53"/>
            <p:cNvSpPr/>
            <p:nvPr/>
          </p:nvSpPr>
          <p:spPr>
            <a:xfrm>
              <a:off x="6035040" y="3985260"/>
              <a:ext cx="707708" cy="238125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54" name="TextBox 54"/>
            <p:cNvSpPr txBox="1"/>
            <p:nvPr/>
          </p:nvSpPr>
          <p:spPr>
            <a:xfrm>
              <a:off x="6119609" y="4018121"/>
              <a:ext cx="53761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代入左图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6028563" y="4325779"/>
              <a:ext cx="558681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指向 A 的是 B、C、D，于是 PR(A) = PR(B)/2 + PR(C)/1 + PR(D)/3。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6029706" y="4607242"/>
              <a:ext cx="524065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一个页面把自己的重要性平均分给它指向的每个页面，出度越大，分给每家的越少。</a:t>
              </a:r>
            </a:p>
          </p:txBody>
        </p:sp>
      </p:grpSp>
      <p:grpSp>
        <p:nvGrpSpPr>
          <p:cNvPr id="63" name="takeaway"/>
          <p:cNvGrpSpPr/>
          <p:nvPr/>
        </p:nvGrpSpPr>
        <p:grpSpPr>
          <a:xfrm>
            <a:off x="533400" y="5659755"/>
            <a:ext cx="11125200" cy="702945"/>
            <a:chOff x="533400" y="5659755"/>
            <a:chExt cx="11125200" cy="702945"/>
          </a:xfrm>
        </p:grpSpPr>
        <p:sp>
          <p:nvSpPr>
            <p:cNvPr id="58" name="Rectangle 58"/>
            <p:cNvSpPr/>
            <p:nvPr/>
          </p:nvSpPr>
          <p:spPr>
            <a:xfrm>
              <a:off x="533400" y="5659755"/>
              <a:ext cx="11125200" cy="702945"/>
            </a:xfrm>
            <a:prstGeom prst="roundRect">
              <a:avLst>
                <a:gd name="adj" fmla="val 16260"/>
              </a:avLst>
            </a:prstGeom>
            <a:solidFill>
              <a:srgbClr val="1F5FA8"/>
            </a:solidFill>
            <a:ln>
              <a:noFill/>
            </a:ln>
          </p:spPr>
        </p:sp>
        <p:grpSp>
          <p:nvGrpSpPr>
            <p:cNvPr id="61" name="Group 61"/>
            <p:cNvGrpSpPr/>
            <p:nvPr/>
          </p:nvGrpSpPr>
          <p:grpSpPr>
            <a:xfrm>
              <a:off x="738188" y="5911217"/>
              <a:ext cx="200023" cy="200023"/>
              <a:chOff x="738188" y="5911217"/>
              <a:chExt cx="200023" cy="200023"/>
            </a:xfrm>
          </p:grpSpPr>
          <p:sp>
            <p:nvSpPr>
              <p:cNvPr id="59" name="Freeform 59"/>
              <p:cNvSpPr/>
              <p:nvPr/>
            </p:nvSpPr>
            <p:spPr>
              <a:xfrm>
                <a:off x="738188" y="5911217"/>
                <a:ext cx="200023" cy="200023"/>
              </a:xfrm>
              <a:custGeom>
                <a:avLst/>
                <a:gdLst/>
                <a:ahLst/>
                <a:cxnLst/>
                <a:rect l="l" t="t" r="r" b="b"/>
                <a:pathLst>
                  <a:path w="200023" h="200023">
                    <a:moveTo>
                      <a:pt x="150630" y="9366"/>
                    </a:moveTo>
                    <a:lnTo>
                      <a:pt x="190658" y="49393"/>
                    </a:lnTo>
                    <a:cubicBezTo>
                      <a:pt x="196654" y="55389"/>
                      <a:pt x="200023" y="63522"/>
                      <a:pt x="200023" y="72002"/>
                    </a:cubicBezTo>
                    <a:cubicBezTo>
                      <a:pt x="200023" y="80482"/>
                      <a:pt x="196654" y="88614"/>
                      <a:pt x="190658" y="94610"/>
                    </a:cubicBezTo>
                    <a:lnTo>
                      <a:pt x="161287" y="123980"/>
                    </a:lnTo>
                    <a:cubicBezTo>
                      <a:pt x="155291" y="129977"/>
                      <a:pt x="147159" y="133346"/>
                      <a:pt x="138679" y="133346"/>
                    </a:cubicBezTo>
                    <a:cubicBezTo>
                      <a:pt x="130199" y="133346"/>
                      <a:pt x="122066" y="129977"/>
                      <a:pt x="116070" y="123980"/>
                    </a:cubicBezTo>
                    <a:lnTo>
                      <a:pt x="112726" y="120636"/>
                    </a:lnTo>
                    <a:lnTo>
                      <a:pt x="39850" y="193511"/>
                    </a:lnTo>
                    <a:cubicBezTo>
                      <a:pt x="36157" y="197203"/>
                      <a:pt x="31283" y="199477"/>
                      <a:pt x="26081" y="199935"/>
                    </a:cubicBezTo>
                    <a:lnTo>
                      <a:pt x="24136" y="200023"/>
                    </a:lnTo>
                    <a:lnTo>
                      <a:pt x="11113" y="200023"/>
                    </a:lnTo>
                    <a:cubicBezTo>
                      <a:pt x="5479" y="200023"/>
                      <a:pt x="737" y="195806"/>
                      <a:pt x="78" y="190211"/>
                    </a:cubicBezTo>
                    <a:lnTo>
                      <a:pt x="0" y="188911"/>
                    </a:lnTo>
                    <a:lnTo>
                      <a:pt x="0" y="175887"/>
                    </a:lnTo>
                    <a:cubicBezTo>
                      <a:pt x="1" y="170669"/>
                      <a:pt x="1838" y="165618"/>
                      <a:pt x="5190" y="161619"/>
                    </a:cubicBezTo>
                    <a:lnTo>
                      <a:pt x="6512" y="160174"/>
                    </a:lnTo>
                    <a:lnTo>
                      <a:pt x="11113" y="155573"/>
                    </a:lnTo>
                    <a:lnTo>
                      <a:pt x="33338" y="155573"/>
                    </a:lnTo>
                    <a:lnTo>
                      <a:pt x="33338" y="133348"/>
                    </a:lnTo>
                    <a:lnTo>
                      <a:pt x="55563" y="133348"/>
                    </a:lnTo>
                    <a:lnTo>
                      <a:pt x="55563" y="111123"/>
                    </a:lnTo>
                    <a:lnTo>
                      <a:pt x="79388" y="87298"/>
                    </a:lnTo>
                    <a:lnTo>
                      <a:pt x="76043" y="83953"/>
                    </a:lnTo>
                    <a:cubicBezTo>
                      <a:pt x="70046" y="77957"/>
                      <a:pt x="66677" y="69825"/>
                      <a:pt x="66677" y="61345"/>
                    </a:cubicBezTo>
                    <a:cubicBezTo>
                      <a:pt x="66677" y="52865"/>
                      <a:pt x="70046" y="44732"/>
                      <a:pt x="76043" y="38736"/>
                    </a:cubicBezTo>
                    <a:lnTo>
                      <a:pt x="105413" y="9366"/>
                    </a:lnTo>
                    <a:cubicBezTo>
                      <a:pt x="111409" y="3369"/>
                      <a:pt x="119542" y="0"/>
                      <a:pt x="128022" y="0"/>
                    </a:cubicBezTo>
                    <a:cubicBezTo>
                      <a:pt x="136502" y="0"/>
                      <a:pt x="144635" y="3369"/>
                      <a:pt x="150630" y="9366"/>
                    </a:cubicBez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60" name="Freeform 60"/>
              <p:cNvSpPr/>
              <p:nvPr/>
            </p:nvSpPr>
            <p:spPr>
              <a:xfrm>
                <a:off x="871538" y="5977890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</p:grpSp>
        <p:sp>
          <p:nvSpPr>
            <p:cNvPr id="62" name="TextBox 62"/>
            <p:cNvSpPr txBox="1"/>
            <p:nvPr/>
          </p:nvSpPr>
          <p:spPr>
            <a:xfrm>
              <a:off x="1041273" y="5805011"/>
              <a:ext cx="9904730" cy="483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45"/>
                </a:lnSpc>
              </a:pPr>
              <a:r>
                <a:rPr lang="zh-CN" sz="128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公式两边都含 PR，实际是解一个线性方程组，工程上用迭代法反复代入直到数值稳定。Google 离线算好全网的 PR，查询时直接按 PR 排序</a:t>
              </a:r>
              <a:br/>
              <a:r>
                <a:rPr lang="zh-CN" sz="128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返回。</a:t>
              </a:r>
            </a:p>
          </p:txBody>
        </p:sp>
      </p:grpSp>
      <p:grpSp>
        <p:nvGrpSpPr>
          <p:cNvPr id="66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64" name="TextBox 64"/>
            <p:cNvSpPr txBox="1"/>
            <p:nvPr/>
          </p:nvSpPr>
          <p:spPr>
            <a:xfrm>
              <a:off x="528447" y="6581299"/>
              <a:ext cx="232523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数据结构 · 第16讲 最小支撑树及图应用</a:t>
              </a:r>
            </a:p>
          </p:txBody>
        </p:sp>
        <p:sp>
          <p:nvSpPr>
            <p:cNvPr id="65" name="TextBox 65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34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7921371" cy="909257"/>
            <a:chOff x="520446" y="342900"/>
            <a:chExt cx="7921371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781300" cy="26670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85678" y="407194"/>
              <a:ext cx="267674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第16讲 最小支撑树 · 图模型的其他应用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7921371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智能拼音输入法：一串拼音对应图上的一条最短路径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F5FA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35" name="c1-cells-1"/>
          <p:cNvGrpSpPr/>
          <p:nvPr/>
        </p:nvGrpSpPr>
        <p:grpSpPr>
          <a:xfrm>
            <a:off x="528447" y="1524000"/>
            <a:ext cx="1550861" cy="1993582"/>
            <a:chOff x="528447" y="1524000"/>
            <a:chExt cx="1550861" cy="1993582"/>
          </a:xfrm>
        </p:grpSpPr>
        <p:sp>
          <p:nvSpPr>
            <p:cNvPr id="7" name="TextBox 7"/>
            <p:cNvSpPr txBox="1"/>
            <p:nvPr/>
          </p:nvSpPr>
          <p:spPr>
            <a:xfrm>
              <a:off x="528447" y="1654016"/>
              <a:ext cx="23847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shu</a:t>
              </a:r>
            </a:p>
          </p:txBody>
        </p:sp>
        <p:sp>
          <p:nvSpPr>
            <p:cNvPr id="8" name="Rectangle 8"/>
            <p:cNvSpPr/>
            <p:nvPr/>
          </p:nvSpPr>
          <p:spPr>
            <a:xfrm>
              <a:off x="882015" y="1524000"/>
              <a:ext cx="399098" cy="3810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1011123" y="1654016"/>
              <a:ext cx="14183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树</a:t>
              </a:r>
            </a:p>
          </p:txBody>
        </p:sp>
        <p:sp>
          <p:nvSpPr>
            <p:cNvPr id="10" name="Rectangle 10"/>
            <p:cNvSpPr/>
            <p:nvPr/>
          </p:nvSpPr>
          <p:spPr>
            <a:xfrm>
              <a:off x="1281112" y="1524000"/>
              <a:ext cx="399098" cy="3810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1409268" y="1654016"/>
              <a:ext cx="14183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书</a:t>
              </a:r>
            </a:p>
          </p:txBody>
        </p:sp>
        <p:sp>
          <p:nvSpPr>
            <p:cNvPr id="12" name="Rectangle 12"/>
            <p:cNvSpPr/>
            <p:nvPr/>
          </p:nvSpPr>
          <p:spPr>
            <a:xfrm>
              <a:off x="1680210" y="1524000"/>
              <a:ext cx="399098" cy="3810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1808366" y="1654016"/>
              <a:ext cx="14183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数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528447" y="2191226"/>
              <a:ext cx="12765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ju</a:t>
              </a:r>
            </a:p>
          </p:txBody>
        </p:sp>
        <p:sp>
          <p:nvSpPr>
            <p:cNvPr id="15" name="Rectangle 15"/>
            <p:cNvSpPr/>
            <p:nvPr/>
          </p:nvSpPr>
          <p:spPr>
            <a:xfrm>
              <a:off x="882015" y="2061210"/>
              <a:ext cx="399098" cy="3810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1011123" y="2191226"/>
              <a:ext cx="14183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局</a:t>
              </a:r>
            </a:p>
          </p:txBody>
        </p:sp>
        <p:sp>
          <p:nvSpPr>
            <p:cNvPr id="17" name="Rectangle 17"/>
            <p:cNvSpPr/>
            <p:nvPr/>
          </p:nvSpPr>
          <p:spPr>
            <a:xfrm>
              <a:off x="1281112" y="2061210"/>
              <a:ext cx="399098" cy="3810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1409268" y="2191226"/>
              <a:ext cx="14183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据</a:t>
              </a:r>
            </a:p>
          </p:txBody>
        </p:sp>
        <p:sp>
          <p:nvSpPr>
            <p:cNvPr id="19" name="Rectangle 19"/>
            <p:cNvSpPr/>
            <p:nvPr/>
          </p:nvSpPr>
          <p:spPr>
            <a:xfrm>
              <a:off x="1680210" y="2061210"/>
              <a:ext cx="399098" cy="3810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1808366" y="2191226"/>
              <a:ext cx="14183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具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528447" y="2728436"/>
              <a:ext cx="16920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jie</a:t>
              </a:r>
            </a:p>
          </p:txBody>
        </p:sp>
        <p:sp>
          <p:nvSpPr>
            <p:cNvPr id="22" name="Rectangle 22"/>
            <p:cNvSpPr/>
            <p:nvPr/>
          </p:nvSpPr>
          <p:spPr>
            <a:xfrm>
              <a:off x="882015" y="2598420"/>
              <a:ext cx="399098" cy="3810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1011123" y="2728436"/>
              <a:ext cx="14183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结</a:t>
              </a:r>
            </a:p>
          </p:txBody>
        </p:sp>
        <p:sp>
          <p:nvSpPr>
            <p:cNvPr id="24" name="Rectangle 24"/>
            <p:cNvSpPr/>
            <p:nvPr/>
          </p:nvSpPr>
          <p:spPr>
            <a:xfrm>
              <a:off x="1281112" y="2598420"/>
              <a:ext cx="399098" cy="3810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1409268" y="2728436"/>
              <a:ext cx="14183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节</a:t>
              </a:r>
            </a:p>
          </p:txBody>
        </p:sp>
        <p:sp>
          <p:nvSpPr>
            <p:cNvPr id="26" name="Rectangle 26"/>
            <p:cNvSpPr/>
            <p:nvPr/>
          </p:nvSpPr>
          <p:spPr>
            <a:xfrm>
              <a:off x="1680210" y="2598420"/>
              <a:ext cx="399098" cy="3810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1808366" y="2728436"/>
              <a:ext cx="14183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借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528447" y="3266599"/>
              <a:ext cx="23847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gou</a:t>
              </a:r>
            </a:p>
          </p:txBody>
        </p:sp>
        <p:sp>
          <p:nvSpPr>
            <p:cNvPr id="29" name="Rectangle 29"/>
            <p:cNvSpPr/>
            <p:nvPr/>
          </p:nvSpPr>
          <p:spPr>
            <a:xfrm>
              <a:off x="882015" y="3136582"/>
              <a:ext cx="399098" cy="3810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1011123" y="3266599"/>
              <a:ext cx="14183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够</a:t>
              </a:r>
            </a:p>
          </p:txBody>
        </p:sp>
        <p:sp>
          <p:nvSpPr>
            <p:cNvPr id="31" name="Rectangle 31"/>
            <p:cNvSpPr/>
            <p:nvPr/>
          </p:nvSpPr>
          <p:spPr>
            <a:xfrm>
              <a:off x="1281112" y="3136582"/>
              <a:ext cx="399098" cy="3810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1409268" y="3266599"/>
              <a:ext cx="14183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构</a:t>
              </a:r>
            </a:p>
          </p:txBody>
        </p:sp>
        <p:sp>
          <p:nvSpPr>
            <p:cNvPr id="33" name="Rectangle 33"/>
            <p:cNvSpPr/>
            <p:nvPr/>
          </p:nvSpPr>
          <p:spPr>
            <a:xfrm>
              <a:off x="1680210" y="3136582"/>
              <a:ext cx="399098" cy="3810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1808366" y="3266599"/>
              <a:ext cx="14183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狗</a:t>
              </a:r>
            </a:p>
          </p:txBody>
        </p:sp>
      </p:grpSp>
      <p:grpSp>
        <p:nvGrpSpPr>
          <p:cNvPr id="42" name="c1-card-2"/>
          <p:cNvGrpSpPr/>
          <p:nvPr/>
        </p:nvGrpSpPr>
        <p:grpSpPr>
          <a:xfrm>
            <a:off x="533400" y="3692842"/>
            <a:ext cx="5842635" cy="1874520"/>
            <a:chOff x="533400" y="3692842"/>
            <a:chExt cx="5842635" cy="1874520"/>
          </a:xfrm>
        </p:grpSpPr>
        <p:sp>
          <p:nvSpPr>
            <p:cNvPr id="36" name="Rectangle 36"/>
            <p:cNvSpPr/>
            <p:nvPr/>
          </p:nvSpPr>
          <p:spPr>
            <a:xfrm>
              <a:off x="533400" y="3692842"/>
              <a:ext cx="5842635" cy="1874520"/>
            </a:xfrm>
            <a:prstGeom prst="roundRect">
              <a:avLst>
                <a:gd name="adj" fmla="val 7114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37" name="Rectangle 37"/>
            <p:cNvSpPr/>
            <p:nvPr/>
          </p:nvSpPr>
          <p:spPr>
            <a:xfrm>
              <a:off x="542925" y="3826192"/>
              <a:ext cx="47625" cy="1607820"/>
            </a:xfrm>
            <a:prstGeom prst="roundRect">
              <a:avLst>
                <a:gd name="adj" fmla="val 50000"/>
              </a:avLst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38" name="Rectangle 38"/>
            <p:cNvSpPr/>
            <p:nvPr/>
          </p:nvSpPr>
          <p:spPr>
            <a:xfrm>
              <a:off x="763905" y="3885248"/>
              <a:ext cx="476250" cy="24765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855345" y="3919538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建图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757047" y="4241482"/>
              <a:ext cx="4985766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每个音节的每个候选字是一个顶点，相邻音节的候选字之间两两连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边，再加一个源点和一个汇点。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757047" y="4801552"/>
              <a:ext cx="386825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边⟨wᵢ₋₁, wᵢ⟩的权定为 −log P(wᵢ ｜ wᵢ₋₁)。</a:t>
              </a:r>
            </a:p>
          </p:txBody>
        </p:sp>
      </p:grpSp>
      <p:grpSp>
        <p:nvGrpSpPr>
          <p:cNvPr id="49" name="c2-card-1"/>
          <p:cNvGrpSpPr/>
          <p:nvPr/>
        </p:nvGrpSpPr>
        <p:grpSpPr>
          <a:xfrm>
            <a:off x="6680835" y="1524000"/>
            <a:ext cx="4977765" cy="1226820"/>
            <a:chOff x="6680835" y="1524000"/>
            <a:chExt cx="4977765" cy="1226820"/>
          </a:xfrm>
        </p:grpSpPr>
        <p:sp>
          <p:nvSpPr>
            <p:cNvPr id="43" name="Rectangle 43"/>
            <p:cNvSpPr/>
            <p:nvPr/>
          </p:nvSpPr>
          <p:spPr>
            <a:xfrm>
              <a:off x="6680835" y="1524000"/>
              <a:ext cx="4977765" cy="1226820"/>
            </a:xfrm>
            <a:prstGeom prst="roundRect">
              <a:avLst>
                <a:gd name="adj" fmla="val 10870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44" name="Rectangle 44"/>
            <p:cNvSpPr/>
            <p:nvPr/>
          </p:nvSpPr>
          <p:spPr>
            <a:xfrm>
              <a:off x="6690360" y="1657350"/>
              <a:ext cx="47625" cy="960120"/>
            </a:xfrm>
            <a:prstGeom prst="roundRect">
              <a:avLst>
                <a:gd name="adj" fmla="val 50000"/>
              </a:avLst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45" name="Rectangle 45"/>
            <p:cNvSpPr/>
            <p:nvPr/>
          </p:nvSpPr>
          <p:spPr>
            <a:xfrm>
              <a:off x="6911340" y="1716405"/>
              <a:ext cx="476250" cy="24765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7002780" y="1750695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目标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7495032" y="1756410"/>
              <a:ext cx="128587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从连乘改成连加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6904482" y="2090738"/>
              <a:ext cx="4119944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要找整句概率最大的那条候选串，即最大化 ∏ P(wᵢ ｜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wᵢ₋₁)。取负对数后，连乘变连加，最大化变最小化。</a:t>
              </a:r>
            </a:p>
          </p:txBody>
        </p: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50" name="formula24"/>
              <p:cNvSpPr txBox="1">
                <a:spLocks noGrp="1"/>
              </p:cNvSpPr>
              <p:nvPr/>
            </p:nvSpPr>
            <p:spPr>
              <a:xfrm>
                <a:off x="6680835" y="2926080"/>
                <a:ext cx="4977765" cy="44005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lIns="0" tIns="0" rIns="0" bIns="0" wrap="none" anchor="ctr">
                <a:normAutofit/>
              </a:bodyPr>
              <a:lstStyle/>
              <a:p>
                <a:pPr algn="ctr"/>
                <a14:m>
                  <m:oMathPara xmlns:a="http://schemas.openxmlformats.org/drawingml/2006/main" xmlns:m="http://schemas.openxmlformats.org/officeDocument/2006/math">
                    <m:oMathParaPr>
                      <m:jc m:val="center"/>
                    </m:oMathParaPr>
                    <m:oMath>
                      <m:func>
                        <m:funcPr/>
                        <m:fName>
                          <m:r>
                            <m:rPr>
                              <m:sty m:val="p"/>
                            </m:rPr>
                            <a:rPr lang="zh-CN" sz="10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max</m:t>
                          </m:r>
                        </m:fName>
                        <m:e>
                          <m:nary>
                            <m:naryPr>
                              <m:chr m:val="∏"/>
                              <m:limLoc m:val="undOvr"/>
                              <m:grow m:val="off"/>
                              <m:subHide m:val="off"/>
                              <m:supHide m:val="off"/>
                              <m:ctrlPr>
                                <a:rPr lang="zh-CN" sz="10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naryPr>
                            <m:sub>
                              <m:r>
                                <a:rPr lang="zh-CN" sz="10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i</m:t>
                              </m:r>
                              <m:r>
                                <m:rPr>
                                  <m:sty m:val="p"/>
                                </m:rPr>
                                <a:rPr lang="zh-CN" sz="10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=</m:t>
                              </m:r>
                              <m:r>
                                <a:rPr lang="zh-CN" sz="10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1</m:t>
                              </m:r>
                            </m:sub>
                            <m:sup>
                              <m:r>
                                <a:rPr lang="zh-CN" sz="10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n</m:t>
                              </m:r>
                            </m:sup>
                            <m:e>
                              <m:r>
                                <a:rPr lang="zh-CN" sz="10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P</m:t>
                              </m:r>
                              <m:d>
                                <m:dPr>
                                  <m:begChr m:val="("/>
                                  <m:sepChr m:val=""/>
                                  <m:endChr m:val=")"/>
                                  <m:grow m:val="on"/>
                                  <m:ctrlPr>
                                    <a:rPr lang="zh-CN" sz="105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</m:ctrlPr>
                                </m:dPr>
                                <m:e>
                                  <m:sSub>
                                    <m:e>
                                      <m:r>
                                        <a:rPr lang="zh-CN" sz="1050" dirty="0">
                                          <a:solidFill>
                                            <a:srgbClr val="1F2937"/>
                                          </a:solidFill>
                                          <a:latin typeface="Cambria Math"/>
                                          <a:ea typeface="Cambria Math"/>
                                          <a:cs typeface="Cambria Math"/>
                                        </a:rPr>
                                        <m:t>w</m:t>
                                      </m:r>
                                    </m:e>
                                    <m:sub>
                                      <m:r>
                                        <a:rPr lang="zh-CN" sz="1050" dirty="0">
                                          <a:solidFill>
                                            <a:srgbClr val="1F2937"/>
                                          </a:solidFill>
                                          <a:latin typeface="Cambria Math"/>
                                          <a:ea typeface="Cambria Math"/>
                                          <a:cs typeface="Cambria Math"/>
                                        </a:rPr>
                                        <m:t>i</m:t>
                                      </m:r>
                                    </m:sub>
                                  </m:sSub>
                                  <m:r>
                                    <m:rPr>
                                      <m:sty m:val="p"/>
                                    </m:rPr>
                                    <a:rPr lang="zh-CN" sz="105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∣</m:t>
                                  </m:r>
                                  <m:sSub>
                                    <m:e>
                                      <m:r>
                                        <a:rPr lang="zh-CN" sz="1050" dirty="0">
                                          <a:solidFill>
                                            <a:srgbClr val="1F2937"/>
                                          </a:solidFill>
                                          <a:latin typeface="Cambria Math"/>
                                          <a:ea typeface="Cambria Math"/>
                                          <a:cs typeface="Cambria Math"/>
                                        </a:rPr>
                                        <m:t>w</m:t>
                                      </m:r>
                                    </m:e>
                                    <m:sub>
                                      <m:r>
                                        <a:rPr lang="zh-CN" sz="1050" dirty="0">
                                          <a:solidFill>
                                            <a:srgbClr val="1F2937"/>
                                          </a:solidFill>
                                          <a:latin typeface="Cambria Math"/>
                                          <a:ea typeface="Cambria Math"/>
                                          <a:cs typeface="Cambria Math"/>
                                        </a:rPr>
                                        <m:t>i</m:t>
                                      </m:r>
                                      <m:r>
                                        <m:rPr>
                                          <m:sty m:val="p"/>
                                        </m:rPr>
                                        <a:rPr lang="zh-CN" sz="1050" dirty="0">
                                          <a:solidFill>
                                            <a:srgbClr val="1F2937"/>
                                          </a:solidFill>
                                          <a:latin typeface="Cambria Math"/>
                                          <a:ea typeface="Cambria Math"/>
                                          <a:cs typeface="Cambria Math"/>
                                        </a:rPr>
                                        <m:t>−</m:t>
                                      </m:r>
                                      <m:r>
                                        <a:rPr lang="zh-CN" sz="1050" dirty="0">
                                          <a:solidFill>
                                            <a:srgbClr val="1F2937"/>
                                          </a:solidFill>
                                          <a:latin typeface="Cambria Math"/>
                                          <a:ea typeface="Cambria Math"/>
                                          <a:cs typeface="Cambria Math"/>
                                        </a:rPr>
                                        <m:t>1</m:t>
                                      </m:r>
                                    </m:sub>
                                  </m:sSub>
                                </m:e>
                              </m:d>
                            </m:e>
                          </m:nary>
                        </m:e>
                      </m:func>
                      <m:r>
                        <m:rPr>
                          <m:sty m:val="p"/>
                        </m:rPr>
                        <a:rPr lang="zh-CN" sz="105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⟺</m:t>
                      </m:r>
                      <m:func>
                        <m:funcPr/>
                        <m:fName>
                          <m:r>
                            <m:rPr>
                              <m:sty m:val="p"/>
                            </m:rPr>
                            <a:rPr lang="zh-CN" sz="10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min</m:t>
                          </m:r>
                        </m:fName>
                        <m:e>
                          <m:nary>
                            <m:naryPr>
                              <m:chr m:val="∑"/>
                              <m:limLoc m:val="undOvr"/>
                              <m:grow m:val="off"/>
                              <m:subHide m:val="off"/>
                              <m:supHide m:val="off"/>
                              <m:ctrlPr>
                                <a:rPr lang="zh-CN" sz="10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naryPr>
                            <m:sub>
                              <m:r>
                                <a:rPr lang="zh-CN" sz="10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i</m:t>
                              </m:r>
                              <m:r>
                                <m:rPr>
                                  <m:sty m:val="p"/>
                                </m:rPr>
                                <a:rPr lang="zh-CN" sz="10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=</m:t>
                              </m:r>
                              <m:r>
                                <a:rPr lang="zh-CN" sz="10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1</m:t>
                              </m:r>
                            </m:sub>
                            <m:sup>
                              <m:r>
                                <a:rPr lang="zh-CN" sz="10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n</m:t>
                              </m:r>
                            </m:sup>
                            <m:e>
                              <m:d>
                                <m:dPr>
                                  <m:begChr m:val="("/>
                                  <m:sepChr m:val=""/>
                                  <m:endChr m:val=")"/>
                                  <m:grow m:val="on"/>
                                  <m:ctrlPr>
                                    <a:rPr lang="zh-CN" sz="105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</m:ctrlPr>
                                </m:dPr>
                                <m:e>
                                  <m:r>
                                    <m:rPr>
                                      <m:sty m:val="p"/>
                                    </m:rPr>
                                    <a:rPr lang="zh-CN" sz="105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−</m:t>
                                  </m:r>
                                  <m:func>
                                    <m:funcPr/>
                                    <m:fName>
                                      <m:r>
                                        <m:rPr>
                                          <m:sty m:val="p"/>
                                        </m:rPr>
                                        <a:rPr lang="zh-CN" sz="1050" dirty="0">
                                          <a:solidFill>
                                            <a:srgbClr val="1F2937"/>
                                          </a:solidFill>
                                          <a:latin typeface="Cambria Math"/>
                                          <a:ea typeface="Cambria Math"/>
                                          <a:cs typeface="Cambria Math"/>
                                        </a:rPr>
                                        <m:t>log</m:t>
                                      </m:r>
                                    </m:fName>
                                    <m:e>
                                      <m:r>
                                        <a:rPr lang="zh-CN" sz="1050" dirty="0">
                                          <a:solidFill>
                                            <a:srgbClr val="1F2937"/>
                                          </a:solidFill>
                                          <a:latin typeface="Cambria Math"/>
                                          <a:ea typeface="Cambria Math"/>
                                          <a:cs typeface="Cambria Math"/>
                                        </a:rPr>
                                        <m:t>P</m:t>
                                      </m:r>
                                      <m:d>
                                        <m:dPr>
                                          <m:begChr m:val="("/>
                                          <m:sepChr m:val=""/>
                                          <m:endChr m:val=")"/>
                                          <m:grow m:val="on"/>
                                          <m:ctrlPr>
                                            <a:rPr lang="zh-CN" sz="1050" dirty="0">
                                              <a:solidFill>
                                                <a:srgbClr val="1F2937"/>
                                              </a:solidFill>
                                              <a:latin typeface="Cambria Math"/>
                                              <a:ea typeface="Cambria Math"/>
                                              <a:cs typeface="Cambria Math"/>
                                            </a:rPr>
                                          </m:ctrlPr>
                                        </m:dPr>
                                        <m:e>
                                          <m:sSub>
                                            <m:e>
                                              <m:r>
                                                <a:rPr lang="zh-CN" sz="1050" dirty="0">
                                                  <a:solidFill>
                                                    <a:srgbClr val="1F2937"/>
                                                  </a:solidFill>
                                                  <a:latin typeface="Cambria Math"/>
                                                  <a:ea typeface="Cambria Math"/>
                                                  <a:cs typeface="Cambria Math"/>
                                                </a:rPr>
                                                <m:t>w</m:t>
                                              </m:r>
                                            </m:e>
                                            <m:sub>
                                              <m:r>
                                                <a:rPr lang="zh-CN" sz="1050" dirty="0">
                                                  <a:solidFill>
                                                    <a:srgbClr val="1F2937"/>
                                                  </a:solidFill>
                                                  <a:latin typeface="Cambria Math"/>
                                                  <a:ea typeface="Cambria Math"/>
                                                  <a:cs typeface="Cambria Math"/>
                                                </a:rPr>
                                                <m:t>i</m:t>
                                              </m:r>
                                            </m:sub>
                                          </m:sSub>
                                          <m:r>
                                            <m:rPr>
                                              <m:sty m:val="p"/>
                                            </m:rPr>
                                            <a:rPr lang="zh-CN" sz="1050" dirty="0">
                                              <a:solidFill>
                                                <a:srgbClr val="1F2937"/>
                                              </a:solidFill>
                                              <a:latin typeface="Cambria Math"/>
                                              <a:ea typeface="Cambria Math"/>
                                              <a:cs typeface="Cambria Math"/>
                                            </a:rPr>
                                            <m:t>∣</m:t>
                                          </m:r>
                                          <m:sSub>
                                            <m:e>
                                              <m:r>
                                                <a:rPr lang="zh-CN" sz="1050" dirty="0">
                                                  <a:solidFill>
                                                    <a:srgbClr val="1F2937"/>
                                                  </a:solidFill>
                                                  <a:latin typeface="Cambria Math"/>
                                                  <a:ea typeface="Cambria Math"/>
                                                  <a:cs typeface="Cambria Math"/>
                                                </a:rPr>
                                                <m:t>w</m:t>
                                              </m:r>
                                            </m:e>
                                            <m:sub>
                                              <m:r>
                                                <a:rPr lang="zh-CN" sz="1050" dirty="0">
                                                  <a:solidFill>
                                                    <a:srgbClr val="1F2937"/>
                                                  </a:solidFill>
                                                  <a:latin typeface="Cambria Math"/>
                                                  <a:ea typeface="Cambria Math"/>
                                                  <a:cs typeface="Cambria Math"/>
                                                </a:rPr>
                                                <m:t>i</m:t>
                                              </m:r>
                                              <m:r>
                                                <m:rPr>
                                                  <m:sty m:val="p"/>
                                                </m:rPr>
                                                <a:rPr lang="zh-CN" sz="1050" dirty="0">
                                                  <a:solidFill>
                                                    <a:srgbClr val="1F2937"/>
                                                  </a:solidFill>
                                                  <a:latin typeface="Cambria Math"/>
                                                  <a:ea typeface="Cambria Math"/>
                                                  <a:cs typeface="Cambria Math"/>
                                                </a:rPr>
                                                <m:t>−</m:t>
                                              </m:r>
                                              <m:r>
                                                <a:rPr lang="zh-CN" sz="1050" dirty="0">
                                                  <a:solidFill>
                                                    <a:srgbClr val="1F2937"/>
                                                  </a:solidFill>
                                                  <a:latin typeface="Cambria Math"/>
                                                  <a:ea typeface="Cambria Math"/>
                                                  <a:cs typeface="Cambria Math"/>
                                                </a:rPr>
                                                <m:t>1</m:t>
                                              </m:r>
                                            </m:sub>
                                          </m:sSub>
                                        </m:e>
                                      </m:d>
                                    </m:e>
                                  </m:func>
                                </m:e>
                              </m:d>
                            </m:e>
                          </m:nary>
                        </m:e>
                      </m:func>
                    </m:oMath>
                  </m:oMathPara>
                </a14:m>
              </a:p>
            </p:txBody>
          </p:sp>
        </mc:Choice>
      </mc:AlternateContent>
      <p:grpSp>
        <p:nvGrpSpPr>
          <p:cNvPr id="56" name="c2-card-3"/>
          <p:cNvGrpSpPr/>
          <p:nvPr/>
        </p:nvGrpSpPr>
        <p:grpSpPr>
          <a:xfrm>
            <a:off x="6680835" y="3541395"/>
            <a:ext cx="4977765" cy="2025968"/>
            <a:chOff x="6680835" y="3541395"/>
            <a:chExt cx="4977765" cy="2025968"/>
          </a:xfrm>
        </p:grpSpPr>
        <p:sp>
          <p:nvSpPr>
            <p:cNvPr id="51" name="Rectangle 51"/>
            <p:cNvSpPr/>
            <p:nvPr/>
          </p:nvSpPr>
          <p:spPr>
            <a:xfrm>
              <a:off x="6680835" y="3541395"/>
              <a:ext cx="4977765" cy="2025968"/>
            </a:xfrm>
            <a:prstGeom prst="roundRect">
              <a:avLst>
                <a:gd name="adj" fmla="val 6582"/>
              </a:avLst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52" name="Rectangle 52"/>
            <p:cNvSpPr/>
            <p:nvPr/>
          </p:nvSpPr>
          <p:spPr>
            <a:xfrm>
              <a:off x="6873240" y="3733800"/>
              <a:ext cx="476250" cy="247650"/>
            </a:xfrm>
            <a:prstGeom prst="roundRect">
              <a:avLst>
                <a:gd name="adj" fmla="val 50000"/>
              </a:avLst>
            </a:prstGeom>
            <a:solidFill>
              <a:srgbClr val="174A85"/>
            </a:solidFill>
            <a:ln>
              <a:noFill/>
            </a:ln>
          </p:spPr>
        </p:sp>
        <p:sp>
          <p:nvSpPr>
            <p:cNvPr id="53" name="TextBox 53"/>
            <p:cNvSpPr txBox="1"/>
            <p:nvPr/>
          </p:nvSpPr>
          <p:spPr>
            <a:xfrm>
              <a:off x="6964680" y="3768090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于是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6866382" y="4090035"/>
              <a:ext cx="4351401" cy="7783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 xml:space="preserve">求整句概率最大的候选，就是在这张分层图上求 </a:t>
              </a:r>
              <a:r>
                <a:rPr lang="zh-CN" sz="1350" b="1" dirty="0">
                  <a:solidFill>
                    <a:srgbClr val="FFD58A"/>
                  </a:solidFill>
                  <a:latin typeface="+mn-lt"/>
                  <a:ea typeface="+mn-ea"/>
                  <a:cs typeface="+mn-cs"/>
                </a:rPr>
                <a:t>源点到汇</a:t>
              </a:r>
              <a:br/>
              <a:r>
                <a:rPr lang="zh-CN" sz="1350" b="1" dirty="0">
                  <a:solidFill>
                    <a:srgbClr val="FFD58A"/>
                  </a:solidFill>
                  <a:latin typeface="+mn-lt"/>
                  <a:ea typeface="+mn-ea"/>
                  <a:cs typeface="+mn-cs"/>
                </a:rPr>
                <a:t>点的最短路径</a:t>
              </a:r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，用第 15 讲的 Dijkstra 或按层递推都可</a:t>
              </a:r>
              <a:br/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以。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6866382" y="4907280"/>
              <a:ext cx="4385691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条件概率由语料统计得到：P(据 ｜ 数) = “数据”同时出现</a:t>
              </a:r>
              <a:br/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的次数 ÷ “数”出现的次数。</a:t>
              </a:r>
            </a:p>
          </p:txBody>
        </p:sp>
      </p:grpSp>
      <p:grpSp>
        <p:nvGrpSpPr>
          <p:cNvPr id="63" name="takeaway"/>
          <p:cNvGrpSpPr/>
          <p:nvPr/>
        </p:nvGrpSpPr>
        <p:grpSpPr>
          <a:xfrm>
            <a:off x="533400" y="5874068"/>
            <a:ext cx="11125200" cy="488632"/>
            <a:chOff x="533400" y="5874068"/>
            <a:chExt cx="11125200" cy="488632"/>
          </a:xfrm>
        </p:grpSpPr>
        <p:sp>
          <p:nvSpPr>
            <p:cNvPr id="57" name="Rectangle 57"/>
            <p:cNvSpPr/>
            <p:nvPr/>
          </p:nvSpPr>
          <p:spPr>
            <a:xfrm>
              <a:off x="533400" y="5874068"/>
              <a:ext cx="11125200" cy="488632"/>
            </a:xfrm>
            <a:prstGeom prst="roundRect">
              <a:avLst>
                <a:gd name="adj" fmla="val 23392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61" name="Group 61"/>
            <p:cNvGrpSpPr/>
            <p:nvPr/>
          </p:nvGrpSpPr>
          <p:grpSpPr>
            <a:xfrm>
              <a:off x="738188" y="6017895"/>
              <a:ext cx="200026" cy="200025"/>
              <a:chOff x="738188" y="6017895"/>
              <a:chExt cx="200026" cy="200025"/>
            </a:xfrm>
          </p:grpSpPr>
          <p:sp>
            <p:nvSpPr>
              <p:cNvPr id="58" name="Freeform 58"/>
              <p:cNvSpPr/>
              <p:nvPr/>
            </p:nvSpPr>
            <p:spPr>
              <a:xfrm>
                <a:off x="738188" y="6017895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59" name="Freeform 59"/>
              <p:cNvSpPr/>
              <p:nvPr/>
            </p:nvSpPr>
            <p:spPr>
              <a:xfrm>
                <a:off x="777926" y="6062345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60" name="Freeform 60"/>
              <p:cNvSpPr/>
              <p:nvPr/>
            </p:nvSpPr>
            <p:spPr>
              <a:xfrm>
                <a:off x="812642" y="6173471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62" name="TextBox 62"/>
            <p:cNvSpPr txBox="1"/>
            <p:nvPr/>
          </p:nvSpPr>
          <p:spPr>
            <a:xfrm>
              <a:off x="1040892" y="6023610"/>
              <a:ext cx="777388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取负对数是把乘积型目标转成求和型目标的通用手法，第 25 页的最小乘积支撑树用的是同一招。</a:t>
              </a:r>
            </a:p>
          </p:txBody>
        </p:sp>
      </p:grpSp>
      <p:grpSp>
        <p:nvGrpSpPr>
          <p:cNvPr id="66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64" name="TextBox 64"/>
            <p:cNvSpPr txBox="1"/>
            <p:nvPr/>
          </p:nvSpPr>
          <p:spPr>
            <a:xfrm>
              <a:off x="528447" y="6581299"/>
              <a:ext cx="232523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数据结构 · 第16讲 最小支撑树及图应用</a:t>
              </a:r>
            </a:p>
          </p:txBody>
        </p:sp>
        <p:sp>
          <p:nvSpPr>
            <p:cNvPr id="65" name="TextBox 65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35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5518404" cy="909257"/>
            <a:chOff x="520446" y="342900"/>
            <a:chExt cx="5518404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781300" cy="26670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85678" y="407194"/>
              <a:ext cx="267674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第16讲 最小支撑树 · 图模型的其他应用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5518404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神经网络与贝叶斯网络：两张有向图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F5FA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4" name="c1-card-1"/>
          <p:cNvGrpSpPr/>
          <p:nvPr/>
        </p:nvGrpSpPr>
        <p:grpSpPr>
          <a:xfrm>
            <a:off x="533400" y="1524000"/>
            <a:ext cx="5410200" cy="1687830"/>
            <a:chOff x="533400" y="1524000"/>
            <a:chExt cx="5410200" cy="1687830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410200" cy="1687830"/>
            </a:xfrm>
            <a:prstGeom prst="roundRect">
              <a:avLst>
                <a:gd name="adj" fmla="val 7901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542925" y="1657350"/>
              <a:ext cx="47625" cy="1421130"/>
            </a:xfrm>
            <a:prstGeom prst="roundRect">
              <a:avLst>
                <a:gd name="adj" fmla="val 50000"/>
              </a:avLst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752475" y="1704975"/>
              <a:ext cx="956310" cy="238125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29894" y="1737836"/>
              <a:ext cx="80147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人工神经网络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816608" y="1744504"/>
              <a:ext cx="242534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顶点是神经元，边上的权是参数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745998" y="2061686"/>
              <a:ext cx="4727194" cy="4922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一个人工神经元把若干输入按权求和再加偏置，送进激活函数得到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输出。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745998" y="2589371"/>
              <a:ext cx="4727194" cy="4922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神经元排成输入层、若干隐含层、输出层，同层之间无边、层与层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之间前向连边，整张网就是一个有向无环图。</a:t>
              </a:r>
            </a:p>
          </p:txBody>
        </p: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15" name="formula31"/>
              <p:cNvSpPr txBox="1">
                <a:spLocks noGrp="1"/>
              </p:cNvSpPr>
              <p:nvPr/>
            </p:nvSpPr>
            <p:spPr>
              <a:xfrm>
                <a:off x="533400" y="3376612"/>
                <a:ext cx="5410200" cy="43338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lIns="0" tIns="0" rIns="0" bIns="0" wrap="none" anchor="ctr">
                <a:normAutofit/>
              </a:bodyPr>
              <a:lstStyle/>
              <a:p>
                <a:pPr algn="ctr"/>
                <a14:m>
                  <m:oMathPara xmlns:a="http://schemas.openxmlformats.org/drawingml/2006/main" xmlns:m="http://schemas.openxmlformats.org/officeDocument/2006/math">
                    <m:oMathParaPr>
                      <m:jc m:val="center"/>
                    </m:oMathParaPr>
                    <m:oMath>
                      <m:r>
                        <a:rPr lang="zh-CN" sz="98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y</m:t>
                      </m:r>
                      <m:r>
                        <m:rPr>
                          <m:sty m:val="p"/>
                        </m:rPr>
                        <a:rPr lang="zh-CN" sz="98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r>
                        <a:rPr lang="zh-CN" sz="98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σ</m:t>
                      </m:r>
                      <m:d>
                        <m:dPr>
                          <m:begChr m:val="("/>
                          <m:sepChr m:val=""/>
                          <m:endChr m:val=")"/>
                          <m:grow m:val="on"/>
                          <m:ctrlPr>
                            <a:rPr lang="zh-CN" sz="9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dPr>
                        <m:e>
                          <m:nary>
                            <m:naryPr>
                              <m:chr m:val="∑"/>
                              <m:limLoc m:val="undOvr"/>
                              <m:grow m:val="off"/>
                              <m:subHide m:val="off"/>
                              <m:supHide m:val="off"/>
                              <m:ctrlPr>
                                <a:rPr lang="zh-CN" sz="98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naryPr>
                            <m:sub>
                              <m:r>
                                <a:rPr lang="zh-CN" sz="98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i</m:t>
                              </m:r>
                              <m:r>
                                <m:rPr>
                                  <m:sty m:val="p"/>
                                </m:rPr>
                                <a:rPr lang="zh-CN" sz="98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=</m:t>
                              </m:r>
                              <m:r>
                                <a:rPr lang="zh-CN" sz="98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1</m:t>
                              </m:r>
                            </m:sub>
                            <m:sup>
                              <m:r>
                                <a:rPr lang="zh-CN" sz="98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n</m:t>
                              </m:r>
                            </m:sup>
                            <m:e>
                              <m:sSub>
                                <m:e>
                                  <m:r>
                                    <a:rPr lang="zh-CN" sz="98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w</m:t>
                                  </m:r>
                                </m:e>
                                <m:sub>
                                  <m:r>
                                    <a:rPr lang="zh-CN" sz="98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i</m:t>
                                  </m:r>
                                </m:sub>
                              </m:sSub>
                              <m:sSub>
                                <m:e>
                                  <m:r>
                                    <a:rPr lang="zh-CN" sz="98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x</m:t>
                                  </m:r>
                                </m:e>
                                <m:sub>
                                  <m:r>
                                    <a:rPr lang="zh-CN" sz="98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i</m:t>
                                  </m:r>
                                </m:sub>
                              </m:sSub>
                            </m:e>
                          </m:nary>
                          <m:r>
                            <m:rPr>
                              <m:sty m:val="p"/>
                            </m:rPr>
                            <a:rPr lang="zh-CN" sz="9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+</m:t>
                          </m:r>
                          <m:r>
                            <a:rPr lang="zh-CN" sz="9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b</m:t>
                          </m:r>
                        </m:e>
                      </m:d>
                      <m:r>
                        <m:rPr>
                          <m:sty m:val="p"/>
                        </m:rPr>
                        <a:rPr lang="zh-CN" sz="98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,</m:t>
                      </m:r>
                      <m:r>
                        <a:rPr lang="zh-CN" sz="98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 xml:space="preserve"> </m:t>
                      </m:r>
                      <m:r>
                        <a:rPr lang="zh-CN" sz="98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σ</m:t>
                      </m:r>
                      <m:d>
                        <m:dPr>
                          <m:begChr m:val="("/>
                          <m:sepChr m:val=""/>
                          <m:endChr m:val=")"/>
                          <m:grow m:val="on"/>
                          <m:ctrlPr>
                            <a:rPr lang="zh-CN" sz="9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dPr>
                        <m:e>
                          <m:r>
                            <a:rPr lang="zh-CN" sz="9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x</m:t>
                          </m:r>
                        </m:e>
                      </m:d>
                      <m:r>
                        <m:rPr>
                          <m:sty m:val="p"/>
                        </m:rPr>
                        <a:rPr lang="zh-CN" sz="98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f>
                        <m:fPr>
                          <m:type m:val="bar"/>
                          <m:ctrlPr>
                            <a:rPr lang="zh-CN" sz="9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fPr>
                        <m:num>
                          <m:r>
                            <a:rPr lang="zh-CN" sz="9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1</m:t>
                          </m:r>
                        </m:num>
                        <m:den>
                          <m:r>
                            <a:rPr lang="zh-CN" sz="9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1</m:t>
                          </m:r>
                          <m:r>
                            <m:rPr>
                              <m:sty m:val="p"/>
                            </m:rPr>
                            <a:rPr lang="zh-CN" sz="9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+</m:t>
                          </m:r>
                          <m:sSup>
                            <m:e>
                              <m:r>
                                <a:rPr lang="zh-CN" sz="98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e</m:t>
                              </m:r>
                            </m:e>
                            <m:sup>
                              <m:r>
                                <m:rPr>
                                  <m:sty m:val="p"/>
                                </m:rPr>
                                <a:rPr lang="zh-CN" sz="98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−</m:t>
                              </m:r>
                              <m:r>
                                <a:rPr lang="zh-CN" sz="98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x</m:t>
                              </m:r>
                            </m:sup>
                          </m:sSup>
                        </m:den>
                      </m:f>
                    </m:oMath>
                  </m:oMathPara>
                </a14:m>
              </a:p>
            </p:txBody>
          </p:sp>
        </mc:Choice>
      </mc:AlternateContent>
      <p:grpSp>
        <p:nvGrpSpPr>
          <p:cNvPr id="22" name="c1-callout-3"/>
          <p:cNvGrpSpPr/>
          <p:nvPr/>
        </p:nvGrpSpPr>
        <p:grpSpPr>
          <a:xfrm>
            <a:off x="533400" y="3974782"/>
            <a:ext cx="5410200" cy="1734502"/>
            <a:chOff x="533400" y="3974782"/>
            <a:chExt cx="5410200" cy="1734502"/>
          </a:xfrm>
        </p:grpSpPr>
        <p:sp>
          <p:nvSpPr>
            <p:cNvPr id="16" name="Rectangle 16"/>
            <p:cNvSpPr/>
            <p:nvPr/>
          </p:nvSpPr>
          <p:spPr>
            <a:xfrm>
              <a:off x="533400" y="3974782"/>
              <a:ext cx="5410200" cy="1734502"/>
            </a:xfrm>
            <a:prstGeom prst="roundRect">
              <a:avLst>
                <a:gd name="adj" fmla="val 6590"/>
              </a:avLst>
            </a:prstGeom>
            <a:solidFill>
              <a:srgbClr val="F4F6FB"/>
            </a:solidFill>
            <a:ln>
              <a:noFill/>
            </a:ln>
          </p:spPr>
        </p:sp>
        <p:grpSp>
          <p:nvGrpSpPr>
            <p:cNvPr id="20" name="Group 20"/>
            <p:cNvGrpSpPr/>
            <p:nvPr/>
          </p:nvGrpSpPr>
          <p:grpSpPr>
            <a:xfrm>
              <a:off x="738188" y="4742498"/>
              <a:ext cx="200026" cy="200026"/>
              <a:chOff x="738188" y="4742498"/>
              <a:chExt cx="200026" cy="200026"/>
            </a:xfrm>
          </p:grpSpPr>
          <p:sp>
            <p:nvSpPr>
              <p:cNvPr id="17" name="Freeform 17"/>
              <p:cNvSpPr/>
              <p:nvPr/>
            </p:nvSpPr>
            <p:spPr>
              <a:xfrm>
                <a:off x="738188" y="4742498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18" name="Freeform 18"/>
              <p:cNvSpPr/>
              <p:nvPr/>
            </p:nvSpPr>
            <p:spPr>
              <a:xfrm>
                <a:off x="838200" y="4809173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19" name="Freeform 19"/>
              <p:cNvSpPr/>
              <p:nvPr/>
            </p:nvSpPr>
            <p:spPr>
              <a:xfrm>
                <a:off x="827088" y="4842510"/>
                <a:ext cx="222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22225" h="44450">
                    <a:moveTo>
                      <a:pt x="0" y="0"/>
                    </a:moveTo>
                    <a:lnTo>
                      <a:pt x="11113" y="0"/>
                    </a:lnTo>
                    <a:lnTo>
                      <a:pt x="11113" y="44450"/>
                    </a:lnTo>
                    <a:lnTo>
                      <a:pt x="22225" y="4445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</p:grpSp>
        <p:sp>
          <p:nvSpPr>
            <p:cNvPr id="21" name="TextBox 21"/>
            <p:cNvSpPr txBox="1"/>
            <p:nvPr/>
          </p:nvSpPr>
          <p:spPr>
            <a:xfrm>
              <a:off x="1041273" y="4636294"/>
              <a:ext cx="4158234" cy="483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45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2018 年图灵奖授予 Yoshua Bengio、Geoffrey Hinton 与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Yann LeCun，表彰他们在深度神经网络上的工作。</a:t>
              </a:r>
            </a:p>
          </p:txBody>
        </p:sp>
      </p:grpSp>
      <p:grpSp>
        <p:nvGrpSpPr>
          <p:cNvPr id="30" name="c2-card-1"/>
          <p:cNvGrpSpPr/>
          <p:nvPr/>
        </p:nvGrpSpPr>
        <p:grpSpPr>
          <a:xfrm>
            <a:off x="6248400" y="1524000"/>
            <a:ext cx="5410200" cy="1444942"/>
            <a:chOff x="6248400" y="1524000"/>
            <a:chExt cx="5410200" cy="1444942"/>
          </a:xfrm>
        </p:grpSpPr>
        <p:sp>
          <p:nvSpPr>
            <p:cNvPr id="23" name="Rectangle 23"/>
            <p:cNvSpPr/>
            <p:nvPr/>
          </p:nvSpPr>
          <p:spPr>
            <a:xfrm>
              <a:off x="6248400" y="1524000"/>
              <a:ext cx="5410200" cy="1444942"/>
            </a:xfrm>
            <a:prstGeom prst="roundRect">
              <a:avLst>
                <a:gd name="adj" fmla="val 9229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24" name="Rectangle 24"/>
            <p:cNvSpPr/>
            <p:nvPr/>
          </p:nvSpPr>
          <p:spPr>
            <a:xfrm>
              <a:off x="6257925" y="1657350"/>
              <a:ext cx="47625" cy="1178242"/>
            </a:xfrm>
            <a:prstGeom prst="roundRect">
              <a:avLst>
                <a:gd name="adj" fmla="val 50000"/>
              </a:avLst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25" name="Rectangle 25"/>
            <p:cNvSpPr/>
            <p:nvPr/>
          </p:nvSpPr>
          <p:spPr>
            <a:xfrm>
              <a:off x="6467475" y="1704975"/>
              <a:ext cx="831532" cy="238125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6548946" y="1737836"/>
              <a:ext cx="66954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贝叶斯网络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7406830" y="1744504"/>
              <a:ext cx="2080717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顶点是变量，边是因果关系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6460998" y="2061686"/>
              <a:ext cx="4727194" cy="4922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贝叶斯网络是一个有向无环图，顶点表示随机变量，有向边表示变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量之间的因果或依赖关系。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6460998" y="2589371"/>
              <a:ext cx="332475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由 Judea Pearl 提出，他因此获得图灵奖。</a:t>
              </a:r>
            </a:p>
          </p:txBody>
        </p:sp>
      </p:grpSp>
      <p:grpSp>
        <p:nvGrpSpPr>
          <p:cNvPr id="45" name="c2-flow-2"/>
          <p:cNvGrpSpPr/>
          <p:nvPr/>
        </p:nvGrpSpPr>
        <p:grpSpPr>
          <a:xfrm>
            <a:off x="6437948" y="3271838"/>
            <a:ext cx="5031105" cy="1667828"/>
            <a:chOff x="6437948" y="3271838"/>
            <a:chExt cx="5031105" cy="1667828"/>
          </a:xfrm>
        </p:grpSpPr>
        <p:sp>
          <p:nvSpPr>
            <p:cNvPr id="31" name="Freeform 31"/>
            <p:cNvSpPr/>
            <p:nvPr/>
          </p:nvSpPr>
          <p:spPr>
            <a:xfrm>
              <a:off x="7600950" y="3644265"/>
              <a:ext cx="1352550" cy="170497"/>
            </a:xfrm>
            <a:custGeom>
              <a:avLst/>
              <a:gdLst/>
              <a:ahLst/>
              <a:cxnLst/>
              <a:rect l="l" t="t" r="r" b="b"/>
              <a:pathLst>
                <a:path w="1352550" h="170497">
                  <a:moveTo>
                    <a:pt x="0" y="0"/>
                  </a:moveTo>
                  <a:lnTo>
                    <a:pt x="0" y="137160"/>
                  </a:lnTo>
                  <a:lnTo>
                    <a:pt x="1352550" y="137160"/>
                  </a:lnTo>
                  <a:lnTo>
                    <a:pt x="1352550" y="170497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32" name="Freeform 32"/>
            <p:cNvSpPr/>
            <p:nvPr/>
          </p:nvSpPr>
          <p:spPr>
            <a:xfrm>
              <a:off x="8901112" y="3814762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52388" y="104775"/>
                  </a:moveTo>
                  <a:lnTo>
                    <a:pt x="0" y="0"/>
                  </a:lnTo>
                  <a:lnTo>
                    <a:pt x="104775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33" name="Freeform 33"/>
            <p:cNvSpPr/>
            <p:nvPr/>
          </p:nvSpPr>
          <p:spPr>
            <a:xfrm>
              <a:off x="8953500" y="3644265"/>
              <a:ext cx="1352550" cy="170497"/>
            </a:xfrm>
            <a:custGeom>
              <a:avLst/>
              <a:gdLst/>
              <a:ahLst/>
              <a:cxnLst/>
              <a:rect l="l" t="t" r="r" b="b"/>
              <a:pathLst>
                <a:path w="1352550" h="170497">
                  <a:moveTo>
                    <a:pt x="1352550" y="0"/>
                  </a:moveTo>
                  <a:lnTo>
                    <a:pt x="1352550" y="137160"/>
                  </a:lnTo>
                  <a:lnTo>
                    <a:pt x="0" y="137160"/>
                  </a:lnTo>
                  <a:lnTo>
                    <a:pt x="0" y="170497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34" name="Freeform 34"/>
            <p:cNvSpPr/>
            <p:nvPr/>
          </p:nvSpPr>
          <p:spPr>
            <a:xfrm>
              <a:off x="8901112" y="3814762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52388" y="104775"/>
                  </a:moveTo>
                  <a:lnTo>
                    <a:pt x="0" y="0"/>
                  </a:lnTo>
                  <a:lnTo>
                    <a:pt x="104775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35" name="Freeform 35"/>
            <p:cNvSpPr/>
            <p:nvPr/>
          </p:nvSpPr>
          <p:spPr>
            <a:xfrm>
              <a:off x="8953500" y="4291965"/>
              <a:ext cx="9525" cy="170497"/>
            </a:xfrm>
            <a:custGeom>
              <a:avLst/>
              <a:gdLst/>
              <a:ahLst/>
              <a:cxnLst/>
              <a:rect l="l" t="t" r="r" b="b"/>
              <a:pathLst>
                <a:path w="9525" h="170497">
                  <a:moveTo>
                    <a:pt x="0" y="0"/>
                  </a:moveTo>
                  <a:lnTo>
                    <a:pt x="0" y="170497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36" name="Freeform 36"/>
            <p:cNvSpPr/>
            <p:nvPr/>
          </p:nvSpPr>
          <p:spPr>
            <a:xfrm>
              <a:off x="8901112" y="4462462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52388" y="104775"/>
                  </a:moveTo>
                  <a:lnTo>
                    <a:pt x="0" y="0"/>
                  </a:lnTo>
                  <a:lnTo>
                    <a:pt x="104775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37" name="Rectangle 37"/>
            <p:cNvSpPr/>
            <p:nvPr/>
          </p:nvSpPr>
          <p:spPr>
            <a:xfrm>
              <a:off x="6437948" y="3271838"/>
              <a:ext cx="2326005" cy="372428"/>
            </a:xfrm>
            <a:prstGeom prst="roundRect">
              <a:avLst>
                <a:gd name="adj" fmla="val 25575"/>
              </a:avLst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38" name="Rectangle 38"/>
            <p:cNvSpPr/>
            <p:nvPr/>
          </p:nvSpPr>
          <p:spPr>
            <a:xfrm>
              <a:off x="9143048" y="3271838"/>
              <a:ext cx="2326005" cy="372428"/>
            </a:xfrm>
            <a:prstGeom prst="roundRect">
              <a:avLst>
                <a:gd name="adj" fmla="val 25575"/>
              </a:avLst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39" name="Rectangle 39"/>
            <p:cNvSpPr/>
            <p:nvPr/>
          </p:nvSpPr>
          <p:spPr>
            <a:xfrm>
              <a:off x="6627495" y="3919538"/>
              <a:ext cx="4652962" cy="372428"/>
            </a:xfrm>
            <a:prstGeom prst="roundRect">
              <a:avLst>
                <a:gd name="adj" fmla="val 25575"/>
              </a:avLst>
            </a:prstGeom>
            <a:solidFill>
              <a:srgbClr val="E6EFF9"/>
            </a:solidFill>
            <a:ln w="19050">
              <a:solidFill>
                <a:srgbClr val="1F5FA8"/>
              </a:solidFill>
            </a:ln>
          </p:spPr>
        </p:sp>
        <p:sp>
          <p:nvSpPr>
            <p:cNvPr id="40" name="Rectangle 40"/>
            <p:cNvSpPr/>
            <p:nvPr/>
          </p:nvSpPr>
          <p:spPr>
            <a:xfrm>
              <a:off x="6627495" y="4567238"/>
              <a:ext cx="4652962" cy="372428"/>
            </a:xfrm>
            <a:prstGeom prst="roundRect">
              <a:avLst>
                <a:gd name="adj" fmla="val 25575"/>
              </a:avLst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7454265" y="3384232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下雨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10088690" y="3384232"/>
              <a:ext cx="43472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洒水器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8736140" y="4031932"/>
              <a:ext cx="43472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草地湿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8736140" y="4679632"/>
              <a:ext cx="43472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鞋子脏</a:t>
              </a:r>
            </a:p>
          </p:txBody>
        </p:sp>
      </p:grpSp>
      <p:grpSp>
        <p:nvGrpSpPr>
          <p:cNvPr id="51" name="c2-callout-3"/>
          <p:cNvGrpSpPr/>
          <p:nvPr/>
        </p:nvGrpSpPr>
        <p:grpSpPr>
          <a:xfrm>
            <a:off x="6248400" y="5241608"/>
            <a:ext cx="5410200" cy="467678"/>
            <a:chOff x="6248400" y="5241608"/>
            <a:chExt cx="5410200" cy="467678"/>
          </a:xfrm>
        </p:grpSpPr>
        <p:sp>
          <p:nvSpPr>
            <p:cNvPr id="46" name="Rectangle 46"/>
            <p:cNvSpPr/>
            <p:nvPr/>
          </p:nvSpPr>
          <p:spPr>
            <a:xfrm>
              <a:off x="6248400" y="5241608"/>
              <a:ext cx="5410200" cy="467678"/>
            </a:xfrm>
            <a:prstGeom prst="roundRect">
              <a:avLst>
                <a:gd name="adj" fmla="val 24440"/>
              </a:avLst>
            </a:prstGeom>
            <a:solidFill>
              <a:srgbClr val="1F5FA8"/>
            </a:solidFill>
            <a:ln>
              <a:noFill/>
            </a:ln>
          </p:spPr>
        </p:sp>
        <p:grpSp>
          <p:nvGrpSpPr>
            <p:cNvPr id="49" name="Group 49"/>
            <p:cNvGrpSpPr/>
            <p:nvPr/>
          </p:nvGrpSpPr>
          <p:grpSpPr>
            <a:xfrm>
              <a:off x="6453188" y="5375912"/>
              <a:ext cx="200023" cy="200023"/>
              <a:chOff x="6453188" y="5375912"/>
              <a:chExt cx="200023" cy="200023"/>
            </a:xfrm>
          </p:grpSpPr>
          <p:sp>
            <p:nvSpPr>
              <p:cNvPr id="47" name="Freeform 47"/>
              <p:cNvSpPr/>
              <p:nvPr/>
            </p:nvSpPr>
            <p:spPr>
              <a:xfrm>
                <a:off x="6453188" y="5375912"/>
                <a:ext cx="200023" cy="200023"/>
              </a:xfrm>
              <a:custGeom>
                <a:avLst/>
                <a:gdLst/>
                <a:ahLst/>
                <a:cxnLst/>
                <a:rect l="l" t="t" r="r" b="b"/>
                <a:pathLst>
                  <a:path w="200023" h="200023">
                    <a:moveTo>
                      <a:pt x="150630" y="9366"/>
                    </a:moveTo>
                    <a:lnTo>
                      <a:pt x="190658" y="49393"/>
                    </a:lnTo>
                    <a:cubicBezTo>
                      <a:pt x="196654" y="55389"/>
                      <a:pt x="200023" y="63522"/>
                      <a:pt x="200023" y="72002"/>
                    </a:cubicBezTo>
                    <a:cubicBezTo>
                      <a:pt x="200023" y="80482"/>
                      <a:pt x="196654" y="88614"/>
                      <a:pt x="190658" y="94610"/>
                    </a:cubicBezTo>
                    <a:lnTo>
                      <a:pt x="161287" y="123980"/>
                    </a:lnTo>
                    <a:cubicBezTo>
                      <a:pt x="155291" y="129977"/>
                      <a:pt x="147159" y="133346"/>
                      <a:pt x="138679" y="133346"/>
                    </a:cubicBezTo>
                    <a:cubicBezTo>
                      <a:pt x="130199" y="133346"/>
                      <a:pt x="122066" y="129977"/>
                      <a:pt x="116070" y="123980"/>
                    </a:cubicBezTo>
                    <a:lnTo>
                      <a:pt x="112726" y="120636"/>
                    </a:lnTo>
                    <a:lnTo>
                      <a:pt x="39850" y="193511"/>
                    </a:lnTo>
                    <a:cubicBezTo>
                      <a:pt x="36157" y="197203"/>
                      <a:pt x="31283" y="199477"/>
                      <a:pt x="26081" y="199935"/>
                    </a:cubicBezTo>
                    <a:lnTo>
                      <a:pt x="24136" y="200023"/>
                    </a:lnTo>
                    <a:lnTo>
                      <a:pt x="11113" y="200023"/>
                    </a:lnTo>
                    <a:cubicBezTo>
                      <a:pt x="5479" y="200023"/>
                      <a:pt x="737" y="195806"/>
                      <a:pt x="78" y="190211"/>
                    </a:cubicBezTo>
                    <a:lnTo>
                      <a:pt x="0" y="188911"/>
                    </a:lnTo>
                    <a:lnTo>
                      <a:pt x="0" y="175887"/>
                    </a:lnTo>
                    <a:cubicBezTo>
                      <a:pt x="1" y="170669"/>
                      <a:pt x="1838" y="165618"/>
                      <a:pt x="5190" y="161619"/>
                    </a:cubicBezTo>
                    <a:lnTo>
                      <a:pt x="6512" y="160174"/>
                    </a:lnTo>
                    <a:lnTo>
                      <a:pt x="11113" y="155573"/>
                    </a:lnTo>
                    <a:lnTo>
                      <a:pt x="33338" y="155573"/>
                    </a:lnTo>
                    <a:lnTo>
                      <a:pt x="33338" y="133348"/>
                    </a:lnTo>
                    <a:lnTo>
                      <a:pt x="55563" y="133348"/>
                    </a:lnTo>
                    <a:lnTo>
                      <a:pt x="55563" y="111123"/>
                    </a:lnTo>
                    <a:lnTo>
                      <a:pt x="79388" y="87298"/>
                    </a:lnTo>
                    <a:lnTo>
                      <a:pt x="76043" y="83953"/>
                    </a:lnTo>
                    <a:cubicBezTo>
                      <a:pt x="70046" y="77957"/>
                      <a:pt x="66677" y="69825"/>
                      <a:pt x="66677" y="61345"/>
                    </a:cubicBezTo>
                    <a:cubicBezTo>
                      <a:pt x="66677" y="52865"/>
                      <a:pt x="70046" y="44732"/>
                      <a:pt x="76043" y="38736"/>
                    </a:cubicBezTo>
                    <a:lnTo>
                      <a:pt x="105413" y="9366"/>
                    </a:lnTo>
                    <a:cubicBezTo>
                      <a:pt x="111409" y="3369"/>
                      <a:pt x="119542" y="0"/>
                      <a:pt x="128022" y="0"/>
                    </a:cubicBezTo>
                    <a:cubicBezTo>
                      <a:pt x="136502" y="0"/>
                      <a:pt x="144635" y="3369"/>
                      <a:pt x="150630" y="9366"/>
                    </a:cubicBez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48" name="Freeform 48"/>
              <p:cNvSpPr/>
              <p:nvPr/>
            </p:nvSpPr>
            <p:spPr>
              <a:xfrm>
                <a:off x="6586538" y="5442585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</p:grpSp>
        <p:sp>
          <p:nvSpPr>
            <p:cNvPr id="50" name="TextBox 50"/>
            <p:cNvSpPr txBox="1"/>
            <p:nvPr/>
          </p:nvSpPr>
          <p:spPr>
            <a:xfrm>
              <a:off x="6756273" y="5386864"/>
              <a:ext cx="432079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无环是硬性要求：一个变量不能间接地成为自己的原因。</a:t>
              </a:r>
            </a:p>
          </p:txBody>
        </p:sp>
      </p:grpSp>
      <p:grpSp>
        <p:nvGrpSpPr>
          <p:cNvPr id="58" name="takeaway"/>
          <p:cNvGrpSpPr/>
          <p:nvPr/>
        </p:nvGrpSpPr>
        <p:grpSpPr>
          <a:xfrm>
            <a:off x="533400" y="5895022"/>
            <a:ext cx="11125200" cy="467678"/>
            <a:chOff x="533400" y="5895022"/>
            <a:chExt cx="11125200" cy="467678"/>
          </a:xfrm>
        </p:grpSpPr>
        <p:sp>
          <p:nvSpPr>
            <p:cNvPr id="52" name="Rectangle 52"/>
            <p:cNvSpPr/>
            <p:nvPr/>
          </p:nvSpPr>
          <p:spPr>
            <a:xfrm>
              <a:off x="533400" y="5895022"/>
              <a:ext cx="11125200" cy="467678"/>
            </a:xfrm>
            <a:prstGeom prst="roundRect">
              <a:avLst>
                <a:gd name="adj" fmla="val 24440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56" name="Group 56"/>
            <p:cNvGrpSpPr/>
            <p:nvPr/>
          </p:nvGrpSpPr>
          <p:grpSpPr>
            <a:xfrm>
              <a:off x="738188" y="6028373"/>
              <a:ext cx="200026" cy="200025"/>
              <a:chOff x="738188" y="6028373"/>
              <a:chExt cx="200026" cy="200025"/>
            </a:xfrm>
          </p:grpSpPr>
          <p:sp>
            <p:nvSpPr>
              <p:cNvPr id="53" name="Freeform 53"/>
              <p:cNvSpPr/>
              <p:nvPr/>
            </p:nvSpPr>
            <p:spPr>
              <a:xfrm>
                <a:off x="738188" y="6028373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54" name="Freeform 54"/>
              <p:cNvSpPr/>
              <p:nvPr/>
            </p:nvSpPr>
            <p:spPr>
              <a:xfrm>
                <a:off x="777926" y="6072823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55" name="Freeform 55"/>
              <p:cNvSpPr/>
              <p:nvPr/>
            </p:nvSpPr>
            <p:spPr>
              <a:xfrm>
                <a:off x="812642" y="6183948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57" name="TextBox 57"/>
            <p:cNvSpPr txBox="1"/>
            <p:nvPr/>
          </p:nvSpPr>
          <p:spPr>
            <a:xfrm>
              <a:off x="1041273" y="6039326"/>
              <a:ext cx="847355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这三个模型的共同点是把“依赖谁”画成有向边，于是拓扑排序、可及性、最长路径这些图算法可以直接拿来用。</a:t>
              </a:r>
            </a:p>
          </p:txBody>
        </p:sp>
      </p:grpSp>
      <p:grpSp>
        <p:nvGrpSpPr>
          <p:cNvPr id="61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59" name="TextBox 59"/>
            <p:cNvSpPr txBox="1"/>
            <p:nvPr/>
          </p:nvSpPr>
          <p:spPr>
            <a:xfrm>
              <a:off x="528447" y="6581299"/>
              <a:ext cx="232523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数据结构 · 第16讲 最小支撑树及图应用</a:t>
              </a:r>
            </a:p>
          </p:txBody>
        </p:sp>
        <p:sp>
          <p:nvSpPr>
            <p:cNvPr id="60" name="TextBox 60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36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1484566" cy="909257"/>
            <a:chOff x="520446" y="342900"/>
            <a:chExt cx="1484566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1471612" cy="26670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24485" y="407194"/>
              <a:ext cx="128848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第16讲 最小支撑树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1055751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自测题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F5FA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8" name="lead"/>
          <p:cNvGrpSpPr/>
          <p:nvPr/>
        </p:nvGrpSpPr>
        <p:grpSpPr>
          <a:xfrm>
            <a:off x="526542" y="1545907"/>
            <a:ext cx="2376297" cy="264033"/>
            <a:chOff x="526542" y="1545907"/>
            <a:chExt cx="2376297" cy="264033"/>
          </a:xfrm>
        </p:grpSpPr>
        <p:sp>
          <p:nvSpPr>
            <p:cNvPr id="7" name="TextBox 7"/>
            <p:cNvSpPr txBox="1"/>
            <p:nvPr/>
          </p:nvSpPr>
          <p:spPr>
            <a:xfrm>
              <a:off x="526542" y="1545907"/>
              <a:ext cx="237629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先自己写出答案，再看解答。</a:t>
              </a:r>
            </a:p>
          </p:txBody>
        </p:sp>
      </p:grpSp>
      <p:grpSp>
        <p:nvGrpSpPr>
          <p:cNvPr id="14" name="c1-card-1"/>
          <p:cNvGrpSpPr/>
          <p:nvPr/>
        </p:nvGrpSpPr>
        <p:grpSpPr>
          <a:xfrm>
            <a:off x="533400" y="1928812"/>
            <a:ext cx="3505200" cy="1914525"/>
            <a:chOff x="533400" y="1928812"/>
            <a:chExt cx="3505200" cy="1914525"/>
          </a:xfrm>
        </p:grpSpPr>
        <p:sp>
          <p:nvSpPr>
            <p:cNvPr id="9" name="Rectangle 9"/>
            <p:cNvSpPr/>
            <p:nvPr/>
          </p:nvSpPr>
          <p:spPr>
            <a:xfrm>
              <a:off x="533400" y="1928812"/>
              <a:ext cx="3505200" cy="1914525"/>
            </a:xfrm>
            <a:prstGeom prst="roundRect">
              <a:avLst>
                <a:gd name="adj" fmla="val 6965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0" name="Rectangle 10"/>
            <p:cNvSpPr/>
            <p:nvPr/>
          </p:nvSpPr>
          <p:spPr>
            <a:xfrm>
              <a:off x="714375" y="2109788"/>
              <a:ext cx="379095" cy="238125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803832" y="2142649"/>
              <a:ext cx="20018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Q1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707898" y="2449354"/>
              <a:ext cx="2972765" cy="4922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含 n 个顶点的连通图，支撑树一定有多少</a:t>
              </a:r>
              <a:br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条边？多加一条边会怎样？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707898" y="2977991"/>
              <a:ext cx="2995930" cy="7351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答：</a:t>
              </a: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恰好 n−1 条。n 个点用 n−1 条边连通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必定无环，再加一条边，它的两个端点之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间原本就有唯一路径，于是多出一个环。</a:t>
              </a:r>
            </a:p>
          </p:txBody>
        </p:sp>
      </p:grpSp>
      <p:grpSp>
        <p:nvGrpSpPr>
          <p:cNvPr id="20" name="c1-card-2"/>
          <p:cNvGrpSpPr/>
          <p:nvPr/>
        </p:nvGrpSpPr>
        <p:grpSpPr>
          <a:xfrm>
            <a:off x="533400" y="4008120"/>
            <a:ext cx="3505200" cy="2157412"/>
            <a:chOff x="533400" y="4008120"/>
            <a:chExt cx="3505200" cy="2157412"/>
          </a:xfrm>
        </p:grpSpPr>
        <p:sp>
          <p:nvSpPr>
            <p:cNvPr id="15" name="Rectangle 15"/>
            <p:cNvSpPr/>
            <p:nvPr/>
          </p:nvSpPr>
          <p:spPr>
            <a:xfrm>
              <a:off x="533400" y="4008120"/>
              <a:ext cx="3505200" cy="2157412"/>
            </a:xfrm>
            <a:prstGeom prst="roundRect">
              <a:avLst>
                <a:gd name="adj" fmla="val 6181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6" name="Rectangle 16"/>
            <p:cNvSpPr/>
            <p:nvPr/>
          </p:nvSpPr>
          <p:spPr>
            <a:xfrm>
              <a:off x="714375" y="4189095"/>
              <a:ext cx="379095" cy="238125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803832" y="4221956"/>
              <a:ext cx="20018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Q4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707898" y="4529614"/>
              <a:ext cx="2954477" cy="4922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Kruskal 用并查集判环，为什么不能改成</a:t>
              </a:r>
              <a:br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每收一条边就跑一遍 DFS？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707898" y="5057299"/>
              <a:ext cx="3012186" cy="97802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答：</a:t>
              </a: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并查集路径压缩后单次查询近似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O(1)，判环的总代价被排序的 O(e log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e) 盖住；每条边跑一次 DFS 是 O(n+e)，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总复杂度退化到 O(e(n+e))。</a:t>
              </a:r>
            </a:p>
          </p:txBody>
        </p:sp>
      </p:grpSp>
      <p:grpSp>
        <p:nvGrpSpPr>
          <p:cNvPr id="26" name="c2-card-1"/>
          <p:cNvGrpSpPr/>
          <p:nvPr/>
        </p:nvGrpSpPr>
        <p:grpSpPr>
          <a:xfrm>
            <a:off x="4343400" y="1928812"/>
            <a:ext cx="3505200" cy="1914525"/>
            <a:chOff x="4343400" y="1928812"/>
            <a:chExt cx="3505200" cy="1914525"/>
          </a:xfrm>
        </p:grpSpPr>
        <p:sp>
          <p:nvSpPr>
            <p:cNvPr id="21" name="Rectangle 21"/>
            <p:cNvSpPr/>
            <p:nvPr/>
          </p:nvSpPr>
          <p:spPr>
            <a:xfrm>
              <a:off x="4343400" y="1928812"/>
              <a:ext cx="3505200" cy="1914525"/>
            </a:xfrm>
            <a:prstGeom prst="roundRect">
              <a:avLst>
                <a:gd name="adj" fmla="val 6965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2" name="Rectangle 22"/>
            <p:cNvSpPr/>
            <p:nvPr/>
          </p:nvSpPr>
          <p:spPr>
            <a:xfrm>
              <a:off x="4524375" y="2109788"/>
              <a:ext cx="379095" cy="238125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4613832" y="2142649"/>
              <a:ext cx="20018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Q2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4517898" y="2449354"/>
              <a:ext cx="2800858" cy="4922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把最小跨边定理的“存在一棵 MST 包含</a:t>
              </a:r>
              <a:br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它”改成“每棵 MST 都包含它”对吗？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4517898" y="2977991"/>
              <a:ext cx="2939034" cy="7351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答：</a:t>
              </a: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不对。有并列最小跨边时，另一棵最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小支撑树可能改用权值相同的另一条，边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权和不变。</a:t>
              </a:r>
            </a:p>
          </p:txBody>
        </p:sp>
      </p:grpSp>
      <p:grpSp>
        <p:nvGrpSpPr>
          <p:cNvPr id="32" name="c2-card-2"/>
          <p:cNvGrpSpPr/>
          <p:nvPr/>
        </p:nvGrpSpPr>
        <p:grpSpPr>
          <a:xfrm>
            <a:off x="4343400" y="4008120"/>
            <a:ext cx="3505200" cy="2157412"/>
            <a:chOff x="4343400" y="4008120"/>
            <a:chExt cx="3505200" cy="2157412"/>
          </a:xfrm>
        </p:grpSpPr>
        <p:sp>
          <p:nvSpPr>
            <p:cNvPr id="27" name="Rectangle 27"/>
            <p:cNvSpPr/>
            <p:nvPr/>
          </p:nvSpPr>
          <p:spPr>
            <a:xfrm>
              <a:off x="4343400" y="4008120"/>
              <a:ext cx="3505200" cy="2157412"/>
            </a:xfrm>
            <a:prstGeom prst="roundRect">
              <a:avLst>
                <a:gd name="adj" fmla="val 6181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8" name="Rectangle 28"/>
            <p:cNvSpPr/>
            <p:nvPr/>
          </p:nvSpPr>
          <p:spPr>
            <a:xfrm>
              <a:off x="4524375" y="4189095"/>
              <a:ext cx="379095" cy="238125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4613832" y="4221956"/>
              <a:ext cx="20018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Q5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4517898" y="4529614"/>
              <a:ext cx="2951632" cy="4922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一张图 n = 1000、e = 3000，该选 Prim</a:t>
              </a:r>
              <a:br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还是 Kruskal？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4517898" y="5057299"/>
              <a:ext cx="2890266" cy="97802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答：</a:t>
              </a: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选 Kruskal。稀疏图里 e log₂e 约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3.5 万次，而 Prim 与边数无关，固定要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n² 即 100 万次。若换成完全图则是 950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万对 100 万，该选 Prim。</a:t>
              </a:r>
            </a:p>
          </p:txBody>
        </p:sp>
      </p:grpSp>
      <p:grpSp>
        <p:nvGrpSpPr>
          <p:cNvPr id="38" name="c3-card-1"/>
          <p:cNvGrpSpPr/>
          <p:nvPr/>
        </p:nvGrpSpPr>
        <p:grpSpPr>
          <a:xfrm>
            <a:off x="8153400" y="1928812"/>
            <a:ext cx="3505200" cy="2157412"/>
            <a:chOff x="8153400" y="1928812"/>
            <a:chExt cx="3505200" cy="2157412"/>
          </a:xfrm>
        </p:grpSpPr>
        <p:sp>
          <p:nvSpPr>
            <p:cNvPr id="33" name="Rectangle 33"/>
            <p:cNvSpPr/>
            <p:nvPr/>
          </p:nvSpPr>
          <p:spPr>
            <a:xfrm>
              <a:off x="8153400" y="1928812"/>
              <a:ext cx="3505200" cy="2157412"/>
            </a:xfrm>
            <a:prstGeom prst="roundRect">
              <a:avLst>
                <a:gd name="adj" fmla="val 6181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4" name="Rectangle 34"/>
            <p:cNvSpPr/>
            <p:nvPr/>
          </p:nvSpPr>
          <p:spPr>
            <a:xfrm>
              <a:off x="8334375" y="2109788"/>
              <a:ext cx="379095" cy="238125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8423832" y="2142649"/>
              <a:ext cx="20018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Q3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8327898" y="2449354"/>
              <a:ext cx="2796388" cy="4922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Prim 的 Lowcost[w] 与 Dijkstra 的</a:t>
              </a:r>
              <a:br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dist[w] 差在哪里？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8327898" y="2977991"/>
              <a:ext cx="2963418" cy="97802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答：</a:t>
              </a: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Lowcost[w] 是 w 到集合 S 的最小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跨边权值，更新时比 G[v][w]；dist[w]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是源点到 w 的路径长度，更新时比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dist[v] + G[v][w]。</a:t>
              </a:r>
            </a:p>
          </p:txBody>
        </p:sp>
      </p:grpSp>
      <p:grpSp>
        <p:nvGrpSpPr>
          <p:cNvPr id="44" name="c3-card-2"/>
          <p:cNvGrpSpPr/>
          <p:nvPr/>
        </p:nvGrpSpPr>
        <p:grpSpPr>
          <a:xfrm>
            <a:off x="8153400" y="4251008"/>
            <a:ext cx="3505200" cy="1914525"/>
            <a:chOff x="8153400" y="4251008"/>
            <a:chExt cx="3505200" cy="1914525"/>
          </a:xfrm>
        </p:grpSpPr>
        <p:sp>
          <p:nvSpPr>
            <p:cNvPr id="39" name="Rectangle 39"/>
            <p:cNvSpPr/>
            <p:nvPr/>
          </p:nvSpPr>
          <p:spPr>
            <a:xfrm>
              <a:off x="8153400" y="4251008"/>
              <a:ext cx="3505200" cy="1914525"/>
            </a:xfrm>
            <a:prstGeom prst="roundRect">
              <a:avLst>
                <a:gd name="adj" fmla="val 6965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40" name="Rectangle 40"/>
            <p:cNvSpPr/>
            <p:nvPr/>
          </p:nvSpPr>
          <p:spPr>
            <a:xfrm>
              <a:off x="8334375" y="4431982"/>
              <a:ext cx="379095" cy="238125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8423832" y="4464844"/>
              <a:ext cx="20018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Q6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8327898" y="4772501"/>
              <a:ext cx="276997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有向图缩点之后为什么一定没有环？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8327898" y="5057299"/>
              <a:ext cx="2939034" cy="97802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答：</a:t>
              </a: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若缩点图有环，环上各分量的顶点互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相都能到达，本该合成一个分量，与极大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性矛盾。缩点后是 DAG，可以跑拓扑排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序。</a:t>
              </a:r>
            </a:p>
          </p:txBody>
        </p:sp>
      </p:grpSp>
      <p:grpSp>
        <p:nvGrpSpPr>
          <p:cNvPr id="47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45" name="TextBox 45"/>
            <p:cNvSpPr txBox="1"/>
            <p:nvPr/>
          </p:nvSpPr>
          <p:spPr>
            <a:xfrm>
              <a:off x="528447" y="6581299"/>
              <a:ext cx="232523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数据结构 · 第16讲 最小支撑树及图应用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37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1484566" cy="909257"/>
            <a:chOff x="520446" y="342900"/>
            <a:chExt cx="1484566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1471612" cy="26670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24485" y="407194"/>
              <a:ext cx="128848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第16讲 最小支撑树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1399032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本讲小结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F5FA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28" name="c1-table-1"/>
          <p:cNvGrpSpPr/>
          <p:nvPr/>
        </p:nvGrpSpPr>
        <p:grpSpPr>
          <a:xfrm>
            <a:off x="533400" y="1524000"/>
            <a:ext cx="6276022" cy="2287905"/>
            <a:chOff x="533400" y="1524000"/>
            <a:chExt cx="6276022" cy="2287905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6276022" cy="381000"/>
            </a:xfrm>
            <a:prstGeom prst="rect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1140142" y="1641157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概念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4277678" y="1641157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要点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628078" y="2023110"/>
              <a:ext cx="43472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支撑树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2133981" y="2023110"/>
              <a:ext cx="317693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含全部 n 个顶点与 n−1 条边的连通子图，必定无环</a:t>
              </a:r>
            </a:p>
          </p:txBody>
        </p:sp>
        <p:sp>
          <p:nvSpPr>
            <p:cNvPr id="12" name="Rectangle 12"/>
            <p:cNvSpPr/>
            <p:nvPr/>
          </p:nvSpPr>
          <p:spPr>
            <a:xfrm>
              <a:off x="533400" y="2282190"/>
              <a:ext cx="627602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3" name="Rectangle 13"/>
            <p:cNvSpPr/>
            <p:nvPr/>
          </p:nvSpPr>
          <p:spPr>
            <a:xfrm>
              <a:off x="533400" y="2286952"/>
              <a:ext cx="6276022" cy="38100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628078" y="2404110"/>
              <a:ext cx="85877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最小跨边定理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2133981" y="2404110"/>
              <a:ext cx="347190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任取 S，最小跨边必在某棵 MST 里；两算法的共同依据</a:t>
              </a:r>
            </a:p>
          </p:txBody>
        </p:sp>
        <p:sp>
          <p:nvSpPr>
            <p:cNvPr id="16" name="Rectangle 16"/>
            <p:cNvSpPr/>
            <p:nvPr/>
          </p:nvSpPr>
          <p:spPr>
            <a:xfrm>
              <a:off x="533400" y="2663190"/>
              <a:ext cx="627602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628078" y="2785110"/>
              <a:ext cx="33428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Prim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2133981" y="2785110"/>
              <a:ext cx="410576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从一点扩张，靠 Lowcost 与 pre 记最小跨边，O(n²)，宜稠密图</a:t>
              </a:r>
            </a:p>
          </p:txBody>
        </p:sp>
        <p:sp>
          <p:nvSpPr>
            <p:cNvPr id="19" name="Rectangle 19"/>
            <p:cNvSpPr/>
            <p:nvPr/>
          </p:nvSpPr>
          <p:spPr>
            <a:xfrm>
              <a:off x="533400" y="3045142"/>
              <a:ext cx="627602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0" name="Rectangle 20"/>
            <p:cNvSpPr/>
            <p:nvPr/>
          </p:nvSpPr>
          <p:spPr>
            <a:xfrm>
              <a:off x="533400" y="3049905"/>
              <a:ext cx="6276022" cy="38100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628078" y="3167062"/>
              <a:ext cx="54929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Kruskal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2133981" y="3167062"/>
              <a:ext cx="368532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边按权排序逐条试加，并查集判环，O(e log e)，宜稀疏图</a:t>
              </a:r>
            </a:p>
          </p:txBody>
        </p:sp>
        <p:sp>
          <p:nvSpPr>
            <p:cNvPr id="23" name="Rectangle 23"/>
            <p:cNvSpPr/>
            <p:nvPr/>
          </p:nvSpPr>
          <p:spPr>
            <a:xfrm>
              <a:off x="533400" y="3426142"/>
              <a:ext cx="627602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628078" y="3548062"/>
              <a:ext cx="71742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强连通分量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2133981" y="3548062"/>
              <a:ext cx="359278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互相可及的极大顶点组；可及矩阵法 O(n³)，缩点后无环</a:t>
              </a:r>
            </a:p>
          </p:txBody>
        </p:sp>
        <p:sp>
          <p:nvSpPr>
            <p:cNvPr id="26" name="Rectangle 26"/>
            <p:cNvSpPr/>
            <p:nvPr/>
          </p:nvSpPr>
          <p:spPr>
            <a:xfrm>
              <a:off x="533400" y="1524000"/>
              <a:ext cx="6276022" cy="2287905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27" name="Rectangle 27"/>
            <p:cNvSpPr/>
            <p:nvPr/>
          </p:nvSpPr>
          <p:spPr>
            <a:xfrm>
              <a:off x="2034540" y="1524000"/>
              <a:ext cx="9525" cy="228790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34" name="c1-card-2"/>
          <p:cNvGrpSpPr/>
          <p:nvPr/>
        </p:nvGrpSpPr>
        <p:grpSpPr>
          <a:xfrm>
            <a:off x="533400" y="3976688"/>
            <a:ext cx="6276022" cy="1705928"/>
            <a:chOff x="533400" y="3976688"/>
            <a:chExt cx="6276022" cy="1705928"/>
          </a:xfrm>
        </p:grpSpPr>
        <p:sp>
          <p:nvSpPr>
            <p:cNvPr id="29" name="Rectangle 29"/>
            <p:cNvSpPr/>
            <p:nvPr/>
          </p:nvSpPr>
          <p:spPr>
            <a:xfrm>
              <a:off x="533400" y="3976688"/>
              <a:ext cx="6276022" cy="1705928"/>
            </a:xfrm>
            <a:prstGeom prst="roundRect">
              <a:avLst>
                <a:gd name="adj" fmla="val 7817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30" name="Rectangle 30"/>
            <p:cNvSpPr/>
            <p:nvPr/>
          </p:nvSpPr>
          <p:spPr>
            <a:xfrm>
              <a:off x="542925" y="4110038"/>
              <a:ext cx="47625" cy="1439228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31" name="Rectangle 31"/>
            <p:cNvSpPr/>
            <p:nvPr/>
          </p:nvSpPr>
          <p:spPr>
            <a:xfrm>
              <a:off x="752475" y="4157662"/>
              <a:ext cx="1827848" cy="238125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803440" y="4190524"/>
              <a:ext cx="172496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本讲义对源课件的更正与补充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745998" y="4498181"/>
              <a:ext cx="5556250" cy="97802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更正 5 处：第 10 页 w(u,v)&lt;w(s,t) 应为 ≤，第 24 页 V−U 应为 V−S，第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29 至 31、51 页 printf 用全角引号，第 50、51 页 </a:t>
              </a:r>
              <a:r>
                <a:rPr lang="en-US" sz="1280" dirty="0">
                  <a:solidFill>
                    <a:srgbClr val="174A85"/>
                  </a:solidFill>
                  <a:latin typeface="+mn-lt"/>
                  <a:ea typeface="+mn-ea"/>
                  <a:cs typeface="+mn-cs"/>
                </a:rPr>
                <a:t>Edge E[1010]</a:t>
              </a: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 缺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struct，第 42 页漏标顶点 3 的 S=1。补充了第 53、55、56、58 页留空的答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案。</a:t>
              </a:r>
            </a:p>
          </p:txBody>
        </p:sp>
      </p:grpSp>
      <p:grpSp>
        <p:nvGrpSpPr>
          <p:cNvPr id="50" name="c2-bullets-1"/>
          <p:cNvGrpSpPr/>
          <p:nvPr/>
        </p:nvGrpSpPr>
        <p:grpSpPr>
          <a:xfrm>
            <a:off x="7114222" y="1533525"/>
            <a:ext cx="4369327" cy="2404396"/>
            <a:chOff x="7114222" y="1533525"/>
            <a:chExt cx="4369327" cy="2404396"/>
          </a:xfrm>
        </p:grpSpPr>
        <p:sp>
          <p:nvSpPr>
            <p:cNvPr id="35" name="Ellipse 35"/>
            <p:cNvSpPr/>
            <p:nvPr/>
          </p:nvSpPr>
          <p:spPr>
            <a:xfrm>
              <a:off x="7114222" y="1533525"/>
              <a:ext cx="180975" cy="180975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7166129" y="1569148"/>
              <a:ext cx="77161" cy="170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7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7383970" y="1545431"/>
              <a:ext cx="4093210" cy="4922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两个算法都只靠最小跨边定理，记住“最小跨边不会选错”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就能复原推导。</a:t>
              </a:r>
            </a:p>
          </p:txBody>
        </p:sp>
        <p:sp>
          <p:nvSpPr>
            <p:cNvPr id="38" name="Ellipse 38"/>
            <p:cNvSpPr/>
            <p:nvPr/>
          </p:nvSpPr>
          <p:spPr>
            <a:xfrm>
              <a:off x="7114222" y="2069782"/>
              <a:ext cx="180975" cy="180975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7166129" y="2105406"/>
              <a:ext cx="77161" cy="170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7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7383970" y="2080736"/>
              <a:ext cx="409957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Prim 的循环数只与 n 有关，Kruskal 的只与 e 有关。</a:t>
              </a:r>
            </a:p>
          </p:txBody>
        </p:sp>
        <p:sp>
          <p:nvSpPr>
            <p:cNvPr id="41" name="Ellipse 41"/>
            <p:cNvSpPr/>
            <p:nvPr/>
          </p:nvSpPr>
          <p:spPr>
            <a:xfrm>
              <a:off x="7114222" y="2363152"/>
              <a:ext cx="180975" cy="180975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7166129" y="2398776"/>
              <a:ext cx="77161" cy="170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7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7383970" y="2374106"/>
              <a:ext cx="4085082" cy="4922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Lowcost 记的是到整个集合 S 的距离，这是它与 dist 的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根本差别。</a:t>
              </a:r>
            </a:p>
          </p:txBody>
        </p:sp>
        <p:sp>
          <p:nvSpPr>
            <p:cNvPr id="44" name="Ellipse 44"/>
            <p:cNvSpPr/>
            <p:nvPr/>
          </p:nvSpPr>
          <p:spPr>
            <a:xfrm>
              <a:off x="7114222" y="2899410"/>
              <a:ext cx="180975" cy="180975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7166129" y="2934081"/>
              <a:ext cx="77161" cy="170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7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7383970" y="2910364"/>
              <a:ext cx="3987546" cy="4922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边权互异时 MST 唯一；有并列时要看等权边是否在同一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轮里竞争。</a:t>
              </a:r>
            </a:p>
          </p:txBody>
        </p:sp>
        <p:sp>
          <p:nvSpPr>
            <p:cNvPr id="47" name="Ellipse 47"/>
            <p:cNvSpPr/>
            <p:nvPr/>
          </p:nvSpPr>
          <p:spPr>
            <a:xfrm>
              <a:off x="7114222" y="3434715"/>
              <a:ext cx="180975" cy="180975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48" name="TextBox 48"/>
            <p:cNvSpPr txBox="1"/>
            <p:nvPr/>
          </p:nvSpPr>
          <p:spPr>
            <a:xfrm>
              <a:off x="7166129" y="3470338"/>
              <a:ext cx="77161" cy="170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7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7383970" y="3445669"/>
              <a:ext cx="3955034" cy="4922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强连通分量的价值在缩点：有环的有向图换成 DAG 后算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法才能用。</a:t>
              </a:r>
            </a:p>
          </p:txBody>
        </p:sp>
      </p:grpSp>
      <p:grpSp>
        <p:nvGrpSpPr>
          <p:cNvPr id="55" name="c2-card-2"/>
          <p:cNvGrpSpPr/>
          <p:nvPr/>
        </p:nvGrpSpPr>
        <p:grpSpPr>
          <a:xfrm>
            <a:off x="7114222" y="4052888"/>
            <a:ext cx="4544378" cy="1629728"/>
            <a:chOff x="7114222" y="4052888"/>
            <a:chExt cx="4544378" cy="1629728"/>
          </a:xfrm>
        </p:grpSpPr>
        <p:sp>
          <p:nvSpPr>
            <p:cNvPr id="51" name="Rectangle 51"/>
            <p:cNvSpPr/>
            <p:nvPr/>
          </p:nvSpPr>
          <p:spPr>
            <a:xfrm>
              <a:off x="7114222" y="4052888"/>
              <a:ext cx="4544378" cy="1629728"/>
            </a:xfrm>
            <a:prstGeom prst="roundRect">
              <a:avLst>
                <a:gd name="adj" fmla="val 8182"/>
              </a:avLst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52" name="Rectangle 52"/>
            <p:cNvSpPr/>
            <p:nvPr/>
          </p:nvSpPr>
          <p:spPr>
            <a:xfrm>
              <a:off x="7295198" y="4233862"/>
              <a:ext cx="707708" cy="238125"/>
            </a:xfrm>
            <a:prstGeom prst="roundRect">
              <a:avLst>
                <a:gd name="adj" fmla="val 50000"/>
              </a:avLst>
            </a:prstGeom>
            <a:solidFill>
              <a:srgbClr val="174A85"/>
            </a:solidFill>
            <a:ln>
              <a:noFill/>
            </a:ln>
          </p:spPr>
        </p:sp>
        <p:sp>
          <p:nvSpPr>
            <p:cNvPr id="53" name="TextBox 53"/>
            <p:cNvSpPr txBox="1"/>
            <p:nvPr/>
          </p:nvSpPr>
          <p:spPr>
            <a:xfrm>
              <a:off x="7379767" y="4266724"/>
              <a:ext cx="53761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复习方法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7288720" y="4574381"/>
              <a:ext cx="3979418" cy="97802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拿本讲例1 那张 6 点 10 边的图，遮住答案，先用 Prim</a:t>
              </a:r>
              <a:br/>
              <a:r>
                <a:rPr lang="zh-CN" sz="128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写出五轮的 S 和最小跨边，再用 Kruskal 写出六次判</a:t>
              </a:r>
              <a:br/>
              <a:r>
                <a:rPr lang="zh-CN" sz="128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定，两边的边权和都应是 15。能一次对上，这一讲就过</a:t>
              </a:r>
              <a:br/>
              <a:r>
                <a:rPr lang="zh-CN" sz="128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了。</a:t>
              </a:r>
            </a:p>
          </p:txBody>
        </p:sp>
      </p:grpSp>
      <p:grpSp>
        <p:nvGrpSpPr>
          <p:cNvPr id="62" name="takeaway"/>
          <p:cNvGrpSpPr/>
          <p:nvPr/>
        </p:nvGrpSpPr>
        <p:grpSpPr>
          <a:xfrm>
            <a:off x="533400" y="5895022"/>
            <a:ext cx="11125200" cy="467678"/>
            <a:chOff x="533400" y="5895022"/>
            <a:chExt cx="11125200" cy="467678"/>
          </a:xfrm>
        </p:grpSpPr>
        <p:sp>
          <p:nvSpPr>
            <p:cNvPr id="56" name="Rectangle 56"/>
            <p:cNvSpPr/>
            <p:nvPr/>
          </p:nvSpPr>
          <p:spPr>
            <a:xfrm>
              <a:off x="533400" y="5895022"/>
              <a:ext cx="11125200" cy="467678"/>
            </a:xfrm>
            <a:prstGeom prst="roundRect">
              <a:avLst>
                <a:gd name="adj" fmla="val 24440"/>
              </a:avLst>
            </a:prstGeom>
            <a:solidFill>
              <a:srgbClr val="F4F6FB"/>
            </a:solidFill>
            <a:ln>
              <a:noFill/>
            </a:ln>
          </p:spPr>
        </p:sp>
        <p:grpSp>
          <p:nvGrpSpPr>
            <p:cNvPr id="60" name="Group 60"/>
            <p:cNvGrpSpPr/>
            <p:nvPr/>
          </p:nvGrpSpPr>
          <p:grpSpPr>
            <a:xfrm>
              <a:off x="738188" y="6028373"/>
              <a:ext cx="200026" cy="200026"/>
              <a:chOff x="738188" y="6028373"/>
              <a:chExt cx="200026" cy="200026"/>
            </a:xfrm>
          </p:grpSpPr>
          <p:sp>
            <p:nvSpPr>
              <p:cNvPr id="57" name="Freeform 57"/>
              <p:cNvSpPr/>
              <p:nvPr/>
            </p:nvSpPr>
            <p:spPr>
              <a:xfrm>
                <a:off x="738188" y="6028373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58" name="Freeform 58"/>
              <p:cNvSpPr/>
              <p:nvPr/>
            </p:nvSpPr>
            <p:spPr>
              <a:xfrm>
                <a:off x="838200" y="6095048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59" name="Freeform 59"/>
              <p:cNvSpPr/>
              <p:nvPr/>
            </p:nvSpPr>
            <p:spPr>
              <a:xfrm>
                <a:off x="827088" y="6128385"/>
                <a:ext cx="222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22225" h="44450">
                    <a:moveTo>
                      <a:pt x="0" y="0"/>
                    </a:moveTo>
                    <a:lnTo>
                      <a:pt x="11113" y="0"/>
                    </a:lnTo>
                    <a:lnTo>
                      <a:pt x="11113" y="44450"/>
                    </a:lnTo>
                    <a:lnTo>
                      <a:pt x="22225" y="4445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</p:grpSp>
        <p:sp>
          <p:nvSpPr>
            <p:cNvPr id="61" name="TextBox 61"/>
            <p:cNvSpPr txBox="1"/>
            <p:nvPr/>
          </p:nvSpPr>
          <p:spPr>
            <a:xfrm>
              <a:off x="1041273" y="6039326"/>
              <a:ext cx="942997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下一讲：第 17 讲 平方阶排序算法。图这一块到此结束，接下来从插入、选择、冒泡三种 O(n²) 的排序开始进入排序专题。</a:t>
              </a:r>
            </a:p>
          </p:txBody>
        </p:sp>
      </p:grpSp>
      <p:grpSp>
        <p:nvGrpSpPr>
          <p:cNvPr id="65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63" name="TextBox 63"/>
            <p:cNvSpPr txBox="1"/>
            <p:nvPr/>
          </p:nvSpPr>
          <p:spPr>
            <a:xfrm>
              <a:off x="528447" y="6581299"/>
              <a:ext cx="232523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数据结构 · 第16讲 最小支撑树及图应用</a:t>
              </a:r>
            </a:p>
          </p:txBody>
        </p:sp>
        <p:sp>
          <p:nvSpPr>
            <p:cNvPr id="64" name="TextBox 64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38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theme/theme1.xml><?xml version="1.0" encoding="utf-8"?>
<a:theme xmlns:a="http://schemas.openxmlformats.org/drawingml/2006/main" name="ds_l16">
  <a:themeElements>
    <a:clrScheme name="ds_l16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ds_l16">
      <a:majorFont>
        <a:latin typeface="Microsoft YaHei"/>
        <a:ea typeface="Microsoft YaHei"/>
        <a:cs typeface="Microsoft YaHei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Microsoft YaHei"/>
        <a:ea typeface="Microsoft YaHei"/>
        <a:cs typeface="Microsoft YaHei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ds_l16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On-screen Show (16:9)</PresentationFormat>
  <Paragraphs>0</Paragraphs>
  <Slides>38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/>
  <dc:language>zh-CN</dc:language>
  <cp:lastModifiedBy/>
  <cp:revision>1</cp:revision>
  <dcterms:created xsi:type="dcterms:W3CDTF">2026-09-19T13:59:55Z</dcterms:created>
  <dcterms:modified xsi:type="dcterms:W3CDTF">2026-09-19T13:59:55Z</dcterms:modified>
  <cp:category/>
  <cp:contentStatus/>
</cp:coreProperties>
</file>