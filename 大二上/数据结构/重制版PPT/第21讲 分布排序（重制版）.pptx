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2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2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9939608888046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9684be21a60b54e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df4ee0b0f55765f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第21讲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不比较关键词，用值直接算出元素该去的位置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线性时间的前提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21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656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为什么能比 O(n log n) 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027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比较排序的下界只管“靠比较决定次序”的算法，分布排序不在其中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93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值域 [0, m) 开 m 个桶，分配一遍、收集一遍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只数个数不搬元素，靠前缀和把计数变成位置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555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把关键词拆成 d 位，自低位向高位做 d 趟稳定排序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三者怎么选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0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 m 与 n 的关系，以及关键词能不能拆位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说出分布排序为什么不受 O(n log n) 比较下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界的约束，并写出它成立的前提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72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8 个数，手算桶排序的分配与收集过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程，并指出稳定性体现在哪一步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手算计数排序的 cnt 计数、前缀和与回填三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步，解释第三步为什么从右往左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手算基数排序三趟的桶内容与每趟收集结果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n 与值域，估算三种分布排序的时空开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销并选出合适的一种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分布排序与桶排序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关键词的值本身就是地址，一次分配一次收集就排好了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比较排序的下界为什么管不到分布排序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桶排序：值域有多大就开多少个桶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桶用链式队列实现才稳定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8593" cy="909257"/>
            <a:chOff x="520446" y="342900"/>
            <a:chExt cx="74285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85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比较排序卡在 O(n log n)，分布排序换了一条路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82928" cy="264033"/>
            <a:chOff x="526542" y="1545907"/>
            <a:chExt cx="788292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82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20 讲证明过，任何只靠关键词比较决定次序的排序算法，最坏情况至少要 ⌈log₂(n!)⌉ 次比较。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193982" cy="1160145"/>
            <a:chOff x="533400" y="1928812"/>
            <a:chExt cx="5193982" cy="11601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2568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分布排序（Distribution Sort）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不比较关键词，而是按关键词的取值把元素分派到若干预先划好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的位置上，再按位置顺序收集，从而得到有序序列。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53740"/>
            <a:ext cx="5193982" cy="1730692"/>
            <a:chOff x="533400" y="3253740"/>
            <a:chExt cx="5193982" cy="1730692"/>
          </a:xfrm>
        </p:grpSpPr>
        <p:sp>
          <p:nvSpPr>
            <p:cNvPr id="16" name="Rectangle 16"/>
            <p:cNvSpPr/>
            <p:nvPr/>
          </p:nvSpPr>
          <p:spPr>
            <a:xfrm>
              <a:off x="533400" y="3253740"/>
              <a:ext cx="5193982" cy="1730692"/>
            </a:xfrm>
            <a:prstGeom prst="roundRect">
              <a:avLst>
                <a:gd name="adj" fmla="val 770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4375" y="34347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7047" y="34675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0350" y="34742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下界管不到分布排序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7898" y="3791426"/>
              <a:ext cx="45890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比较排序的判定树有 n! 个叶结点，树高至少 log₂(n!) = Θ(n log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n)。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23900" y="437102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9348" y="4319111"/>
              <a:ext cx="33949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下界的前提是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算法只能问“Kᵢ 和 Kⱼ 谁大”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23900" y="465677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9348" y="460390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分布排序不问这个问题，它直接拿关键词的值当地址。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149215"/>
            <a:ext cx="5193982" cy="542925"/>
            <a:chOff x="533400" y="5149215"/>
            <a:chExt cx="5193982" cy="542925"/>
          </a:xfrm>
        </p:grpSpPr>
        <p:sp>
          <p:nvSpPr>
            <p:cNvPr id="26" name="Rectangle 26"/>
            <p:cNvSpPr/>
            <p:nvPr/>
          </p:nvSpPr>
          <p:spPr>
            <a:xfrm>
              <a:off x="533400" y="5149215"/>
              <a:ext cx="5193982" cy="542925"/>
            </a:xfrm>
            <a:prstGeom prst="roundRect">
              <a:avLst>
                <a:gd name="adj" fmla="val 2105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26129" y="5316021"/>
              <a:ext cx="224134" cy="192560"/>
              <a:chOff x="726129" y="5316021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8200" y="53863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6129" y="53160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4641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533066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换路的代价：必须事先知道关键词的取值范围或位数。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027230" y="1928812"/>
            <a:ext cx="5631370" cy="2933414"/>
            <a:chOff x="6027230" y="1928812"/>
            <a:chExt cx="5631370" cy="2933414"/>
          </a:xfrm>
        </p:grpSpPr>
        <p:sp>
          <p:nvSpPr>
            <p:cNvPr id="33" name="Rectangle 33"/>
            <p:cNvSpPr/>
            <p:nvPr/>
          </p:nvSpPr>
          <p:spPr>
            <a:xfrm>
              <a:off x="6032182" y="192881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0462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6698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基于比较的排序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7328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分布排序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6861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信息来源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159" y="242697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关键词两两比较的结果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58718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关键词的值本身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32182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6861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时间下界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4159" y="2808923"/>
              <a:ext cx="6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Ω(n log n)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473565" y="2701290"/>
              <a:ext cx="21755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8718" y="2808923"/>
              <a:ext cx="968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可以做到 O(n)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6861" y="3189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事先要知道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159" y="3189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只要能比较大小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473565" y="3082290"/>
              <a:ext cx="21755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58718" y="3189923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值域 [0, m) 或位数 d 与基数 r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32182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26861" y="3571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关键词类型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64159" y="35718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任何可比较的类型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58718" y="357187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非负整数，或能映射成非负整数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3830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26861" y="3952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159" y="3952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各算法不一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58718" y="39528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本讲三种都稳定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32182" y="421671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6861" y="4333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本课程讲次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159" y="4333875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到 20 讲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58718" y="4333875"/>
              <a:ext cx="533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21 讲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1928812"/>
              <a:ext cx="5626418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26471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45927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27230" y="46715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两类排序的分工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6032182" y="4988242"/>
            <a:ext cx="5626418" cy="702945"/>
            <a:chOff x="6032182" y="4988242"/>
            <a:chExt cx="5626418" cy="702945"/>
          </a:xfrm>
        </p:grpSpPr>
        <p:sp>
          <p:nvSpPr>
            <p:cNvPr id="70" name="Rectangle 70"/>
            <p:cNvSpPr/>
            <p:nvPr/>
          </p:nvSpPr>
          <p:spPr>
            <a:xfrm>
              <a:off x="6032182" y="4988242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236970" y="5239703"/>
              <a:ext cx="200026" cy="200025"/>
              <a:chOff x="6236970" y="5239703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236970" y="5239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276709" y="5284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311424" y="5395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540056" y="513349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一句话区别：桶排序把元素搬进桶，计数排序桶里只放计数器，基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数排序把大值域拆成 d 位后再用前两种之一。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603932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线性时间是有代价的：辅助空间跟着值域走，而且值域必须提前知道。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桶排序：值域有多大，就开多少个桶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005771" cy="308039"/>
            <a:chOff x="525399" y="1550194"/>
            <a:chExt cx="900577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0057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待排序文件 R 含 n 个整数，每个整数的值域为 [0, m)。设置 m 个桶，桶号与关键词一一对应。</a:t>
              </a:r>
            </a:p>
          </p:txBody>
        </p:sp>
      </p:grpSp>
      <p:grpSp>
        <p:nvGrpSpPr>
          <p:cNvPr id="34" name="c1-cells-1"/>
          <p:cNvGrpSpPr/>
          <p:nvPr/>
        </p:nvGrpSpPr>
        <p:grpSpPr>
          <a:xfrm>
            <a:off x="526923" y="1967865"/>
            <a:ext cx="3716464" cy="666464"/>
            <a:chOff x="526923" y="1967865"/>
            <a:chExt cx="3716464" cy="6664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0978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1048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1985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96340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5727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31632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92570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66925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2786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02218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6410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37510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99400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72802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3469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08095" y="1967865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20229" y="209788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6984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7227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07569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42862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7910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14399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49692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84984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67" name="c1-cells-2"/>
          <p:cNvGrpSpPr/>
          <p:nvPr/>
        </p:nvGrpSpPr>
        <p:grpSpPr>
          <a:xfrm>
            <a:off x="526923" y="2777490"/>
            <a:ext cx="4655629" cy="1009650"/>
            <a:chOff x="526923" y="2777490"/>
            <a:chExt cx="4655629" cy="1009650"/>
          </a:xfrm>
        </p:grpSpPr>
        <p:sp>
          <p:nvSpPr>
            <p:cNvPr id="35" name="TextBox 35"/>
            <p:cNvSpPr txBox="1"/>
            <p:nvPr/>
          </p:nvSpPr>
          <p:spPr>
            <a:xfrm>
              <a:off x="526923" y="29075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915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448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106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639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8297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830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2488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4021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6679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8212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0870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2403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5061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6594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9252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85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3443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976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63452" y="2777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16770" y="29075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6923" y="34980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桶内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915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4106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8297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88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26679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30870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5061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9252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43443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4763452" y="336804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75" name="c1-card-3"/>
          <p:cNvGrpSpPr/>
          <p:nvPr/>
        </p:nvGrpSpPr>
        <p:grpSpPr>
          <a:xfrm>
            <a:off x="533400" y="3977640"/>
            <a:ext cx="6059805" cy="1631632"/>
            <a:chOff x="533400" y="3977640"/>
            <a:chExt cx="6059805" cy="1631632"/>
          </a:xfrm>
        </p:grpSpPr>
        <p:sp>
          <p:nvSpPr>
            <p:cNvPr id="68" name="Rectangle 68"/>
            <p:cNvSpPr/>
            <p:nvPr/>
          </p:nvSpPr>
          <p:spPr>
            <a:xfrm>
              <a:off x="533400" y="3977640"/>
              <a:ext cx="6059805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411099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1050" y="418719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6160" y="42229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239202" y="422243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本讲通用的例子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3430" y="4583430"/>
              <a:ext cx="5292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8，m = 10，A[1] 到 A[8] 依次是 9、6、3、5、2、0、1、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4573" y="5200174"/>
              <a:ext cx="5078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与 5* 关键词相同，5 原本在前。整讲用这一对元素检查稳定性。</a:t>
              </a:r>
            </a:p>
          </p:txBody>
        </p:sp>
      </p:grpSp>
      <p:grpSp>
        <p:nvGrpSpPr>
          <p:cNvPr id="85" name="c2-steps-1"/>
          <p:cNvGrpSpPr/>
          <p:nvPr/>
        </p:nvGrpSpPr>
        <p:grpSpPr>
          <a:xfrm>
            <a:off x="6898005" y="1977390"/>
            <a:ext cx="4587113" cy="1696689"/>
            <a:chOff x="6898005" y="1977390"/>
            <a:chExt cx="4587113" cy="1696689"/>
          </a:xfrm>
        </p:grpSpPr>
        <p:sp>
          <p:nvSpPr>
            <p:cNvPr id="76" name="Rectangle 76"/>
            <p:cNvSpPr/>
            <p:nvPr/>
          </p:nvSpPr>
          <p:spPr>
            <a:xfrm>
              <a:off x="7031355" y="2120265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6898005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9162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898005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91629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09485" y="201168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分配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10628" y="2304574"/>
              <a:ext cx="4125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A[1] 扫到 A[n]，把每个元素按它的关键词放进对应编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号的桶里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09485" y="2896552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收集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10628" y="3190399"/>
              <a:ext cx="4174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按桶号从 0 到 m−1 依次把各桶中的元素取出，接成一个序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6898005" y="3852862"/>
            <a:ext cx="4760595" cy="1756410"/>
            <a:chOff x="6898005" y="3852862"/>
            <a:chExt cx="4760595" cy="1756410"/>
          </a:xfrm>
        </p:grpSpPr>
        <p:sp>
          <p:nvSpPr>
            <p:cNvPr id="86" name="Rectangle 86"/>
            <p:cNvSpPr/>
            <p:nvPr/>
          </p:nvSpPr>
          <p:spPr>
            <a:xfrm>
              <a:off x="6898005" y="3852862"/>
              <a:ext cx="4760595" cy="1756410"/>
            </a:xfrm>
            <a:prstGeom prst="roundRect">
              <a:avLst>
                <a:gd name="adj" fmla="val 650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102793" y="4631057"/>
              <a:ext cx="200023" cy="200023"/>
              <a:chOff x="7102793" y="4631057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102793" y="46310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236143" y="4697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404735" y="448818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关键词的值就是桶号，不需要任何比较。这一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句话就是整个桶排序。</a:t>
              </a:r>
            </a:p>
          </p:txBody>
        </p:sp>
      </p:grpSp>
      <p:grpSp>
        <p:nvGrpSpPr>
          <p:cNvPr id="9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2" name="Rectangle 9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0130" y="5991225"/>
              <a:ext cx="939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桶号从 0 数起，元素下标从 1 数起。本讲沿用源课件的约定：数据放在 R[1] 到 R[n]，R[0] 空着不用。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2575" cy="909257"/>
            <a:chOff x="520446" y="342900"/>
            <a:chExt cx="65825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25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分配：扫一遍就把 8 个元素全部投进桶里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27685" y="1524000"/>
            <a:ext cx="5848350" cy="4166712"/>
            <a:chOff x="527685" y="1524000"/>
            <a:chExt cx="5848350" cy="41667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扫描到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232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86659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放进哪个桶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94872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该桶此刻的队列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0306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41866" y="208502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10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90306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41866" y="251555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6110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294608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A[3]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90306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41866" y="294608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6110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37566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A[4]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90306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41866" y="33756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6110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380619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A[5]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90306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41866" y="380619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110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00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10527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423576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A[6]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90306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41866" y="4235768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61104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5300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8746" y="466629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A[7]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90306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41866" y="4666298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61104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960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965382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8746" y="509682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A[8]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90306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41866" y="5096828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165282" y="4974908"/>
              <a:ext cx="220122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261104" y="5096828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→ 5*（排在 5 后面）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1524000"/>
              <a:ext cx="5842635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58019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263175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15099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7685" y="54706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逐个元素入桶</a:t>
              </a:r>
            </a:p>
          </p:txBody>
        </p:sp>
      </p:grpSp>
      <p:grpSp>
        <p:nvGrpSpPr>
          <p:cNvPr id="113" name="c2-cells-1"/>
          <p:cNvGrpSpPr/>
          <p:nvPr/>
        </p:nvGrpSpPr>
        <p:grpSpPr>
          <a:xfrm>
            <a:off x="6674739" y="1524000"/>
            <a:ext cx="4681918" cy="1552576"/>
            <a:chOff x="6674739" y="1524000"/>
            <a:chExt cx="4681918" cy="1552576"/>
          </a:xfrm>
        </p:grpSpPr>
        <p:sp>
          <p:nvSpPr>
            <p:cNvPr id="62" name="TextBox 62"/>
            <p:cNvSpPr txBox="1"/>
            <p:nvPr/>
          </p:nvSpPr>
          <p:spPr>
            <a:xfrm>
              <a:off x="6674739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89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757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380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6948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9571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1139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762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330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7953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9521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2144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712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6335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7903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0526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2094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17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285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089088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10476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74739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先入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11898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2757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53808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948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95718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139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37628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5330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795385" y="2096452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9214485" y="20964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3712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63358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7903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052685" y="2096452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10471785" y="2096452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89088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1047693" y="2225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674739" y="2798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后入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118985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542848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7966710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390572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814435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237345" y="2669858"/>
              <a:ext cx="42386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350365" y="2798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9661208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085070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0508932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932795" y="2669858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124" name="c2-card-2"/>
          <p:cNvGrpSpPr/>
          <p:nvPr/>
        </p:nvGrpSpPr>
        <p:grpSpPr>
          <a:xfrm>
            <a:off x="6680835" y="3261360"/>
            <a:ext cx="4977765" cy="2386965"/>
            <a:chOff x="6680835" y="3261360"/>
            <a:chExt cx="4977765" cy="2386965"/>
          </a:xfrm>
        </p:grpSpPr>
        <p:sp>
          <p:nvSpPr>
            <p:cNvPr id="114" name="Rectangle 114"/>
            <p:cNvSpPr/>
            <p:nvPr/>
          </p:nvSpPr>
          <p:spPr>
            <a:xfrm>
              <a:off x="6680835" y="3261360"/>
              <a:ext cx="4977765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690360" y="3394710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922770" y="346519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009028" y="3500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看这里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66101" y="350567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分配阶段的两个事实</a:t>
              </a:r>
            </a:p>
          </p:txBody>
        </p:sp>
        <p:sp>
          <p:nvSpPr>
            <p:cNvPr id="119" name="Ellipse 119"/>
            <p:cNvSpPr/>
            <p:nvPr/>
          </p:nvSpPr>
          <p:spPr>
            <a:xfrm>
              <a:off x="6930390" y="391668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086981" y="385714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每个元素只被访问一次，入桶的位置由关键词直接算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出，没有比较、没有移动整个数组。</a:t>
              </a:r>
            </a:p>
          </p:txBody>
        </p:sp>
        <p:sp>
          <p:nvSpPr>
            <p:cNvPr id="121" name="Ellipse 121"/>
            <p:cNvSpPr/>
            <p:nvPr/>
          </p:nvSpPr>
          <p:spPr>
            <a:xfrm>
              <a:off x="6930390" y="45081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7086981" y="4448651"/>
              <a:ext cx="40270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4、7、8 是空的。空桶不影响正确性，但收集时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仍要扫过它们，这就是复杂度里 m 的来源。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916674" y="5035867"/>
              <a:ext cx="42336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5* 接在 5 的后面，而不是压在 5 上面。桶必须是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队列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，这一点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下一页还要用到。</a:t>
              </a:r>
            </a:p>
          </p:txBody>
        </p:sp>
      </p:grpSp>
      <p:grpSp>
        <p:nvGrpSpPr>
          <p:cNvPr id="13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25" name="Rectangle 12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1040511" y="6004084"/>
              <a:ext cx="55918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分配阶段的代价是 O(n)，与 m 无关；m 的代价出现在收集阶段。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8220" cy="909257"/>
            <a:chOff x="520446" y="342900"/>
            <a:chExt cx="51382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82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收集：按桶号从小到大依次出队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28447" y="1524000"/>
            <a:ext cx="5631371" cy="4077366"/>
            <a:chOff x="528447" y="1524000"/>
            <a:chExt cx="5631371" cy="4077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8291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扫到桶号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491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出队的元素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634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输出序列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298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0362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2981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03626" y="240411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2981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03626" y="278511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2981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3626" y="3167062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52981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空桶，跳过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03626" y="3548062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2981" y="393001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5，再 5*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18472" y="3821430"/>
              <a:ext cx="313182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03626" y="3930015"/>
              <a:ext cx="766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 5 5*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89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52981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03626" y="4311015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 5 5* 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570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57485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8078" y="469201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7、8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52981" y="4692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空桶，跳过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03626" y="4692015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 5 5* 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9520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5073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52981" y="50739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018472" y="4966335"/>
              <a:ext cx="313182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103626" y="5073968"/>
              <a:ext cx="1007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 5 5* 6 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5626418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653540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00418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447" y="5410676"/>
              <a:ext cx="20811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扫过 10 个桶，把元素接成一个序列</a:t>
              </a:r>
            </a:p>
          </p:txBody>
        </p:sp>
      </p:grpSp>
      <p:grpSp>
        <p:nvGrpSpPr>
          <p:cNvPr id="82" name="c2-cells-1"/>
          <p:cNvGrpSpPr/>
          <p:nvPr/>
        </p:nvGrpSpPr>
        <p:grpSpPr>
          <a:xfrm>
            <a:off x="6459284" y="1524000"/>
            <a:ext cx="3758184" cy="571976"/>
            <a:chOff x="6459284" y="1524000"/>
            <a:chExt cx="3758184" cy="571976"/>
          </a:xfrm>
        </p:grpSpPr>
        <p:sp>
          <p:nvSpPr>
            <p:cNvPr id="57" name="TextBox 57"/>
            <p:cNvSpPr txBox="1"/>
            <p:nvPr/>
          </p:nvSpPr>
          <p:spPr>
            <a:xfrm>
              <a:off x="6459284" y="16363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646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280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837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471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7028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662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1219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853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541068" y="152400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7044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960168" y="152400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082753" y="16363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3792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426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7983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961768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390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581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772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963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7154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1345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5536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972798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85" name="c2-image-2"/>
          <p:cNvGrpSpPr/>
          <p:nvPr/>
        </p:nvGrpSpPr>
        <p:grpSpPr>
          <a:xfrm>
            <a:off x="7226618" y="2225992"/>
            <a:ext cx="3669982" cy="3035332"/>
            <a:chOff x="7226618" y="2225992"/>
            <a:chExt cx="3669982" cy="3035332"/>
          </a:xfrm>
        </p:grpSpPr>
        <p:pic>
          <p:nvPicPr>
            <p:cNvPr id="83" name="Image 83"/>
            <p:cNvPicPr>
              <a:picLocks noChangeAspect="1"/>
            </p:cNvPicPr>
            <p:nvPr/>
          </p:nvPicPr>
          <p:blipFill>
            <a:blip r:embed="rId2"/>
            <a:srcRect l="4" t="0" r="5" b="0"/>
            <a:stretch>
              <a:fillRect/>
            </a:stretch>
          </p:blipFill>
          <p:spPr>
            <a:xfrm>
              <a:off x="7226618" y="2225992"/>
              <a:ext cx="3669982" cy="2752725"/>
            </a:xfrm>
            <a:prstGeom prst="roundRect">
              <a:avLst>
                <a:gd name="adj" fmla="val 4844"/>
              </a:avLst>
            </a:prstGeom>
          </p:spPr>
        </p:pic>
        <p:sp>
          <p:nvSpPr>
            <p:cNvPr id="84" name="TextBox 84"/>
            <p:cNvSpPr txBox="1"/>
            <p:nvPr/>
          </p:nvSpPr>
          <p:spPr>
            <a:xfrm>
              <a:off x="7605928" y="5070634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分配一遍、收集一遍，元素自己走到了该在的位置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6" name="Rectangle 8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273" y="6039326"/>
              <a:ext cx="6914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收集时扫的是 m 个桶，不是 n 个元素，所以即使 n 很小，m 很大时这一步也要跑满 m 次。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桶排序是稳定的，稳定性来自“桶是队列”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27860"/>
            <a:chOff x="533400" y="1524000"/>
            <a:chExt cx="5410200" cy="1927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桶排序的稳定性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关键词相同的元素一定落在同一个桶里。分配时它们按原先的先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后顺序依次入队，收集时又按先进先出的顺序出队，相对次序原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样保留。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475" y="2882741"/>
              <a:ext cx="46982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例子里 5 在 A[4]、5* 在 A[8]，入桶顺序是先 5 后 5*，出桶顺序也是先 5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 5*。</a:t>
              </a:r>
            </a:p>
          </p:txBody>
        </p:sp>
      </p:grpSp>
      <p:grpSp>
        <p:nvGrpSpPr>
          <p:cNvPr id="35" name="c1-compare-2"/>
          <p:cNvGrpSpPr/>
          <p:nvPr/>
        </p:nvGrpSpPr>
        <p:grpSpPr>
          <a:xfrm>
            <a:off x="533400" y="3622358"/>
            <a:ext cx="5410200" cy="2038350"/>
            <a:chOff x="533400" y="3622358"/>
            <a:chExt cx="5410200" cy="2038350"/>
          </a:xfrm>
        </p:grpSpPr>
        <p:sp>
          <p:nvSpPr>
            <p:cNvPr id="15" name="Rectangle 15"/>
            <p:cNvSpPr/>
            <p:nvPr/>
          </p:nvSpPr>
          <p:spPr>
            <a:xfrm>
              <a:off x="533400" y="3622358"/>
              <a:ext cx="2362200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55708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1332" y="3830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用链式队列（正确）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42043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41481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同桶元素先进先出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45043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4448175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… 5 5* …，稳定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8044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74821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尾插法 O(1) 入队，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头部 O(1) 出队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581400" y="3622358"/>
              <a:ext cx="2362200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90925" y="3755708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99332" y="38309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用栈（错误）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14762" y="42043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70782" y="41481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同桶元素后进先出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814762" y="45043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70782" y="4448175"/>
              <a:ext cx="15481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… 5* 5 …，不稳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814762" y="50615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70782" y="500538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基数排序拿它当子过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程会直接排错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2943225" y="4346258"/>
              <a:ext cx="590550" cy="590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91422" y="458533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桶的实现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760220"/>
            <a:chOff x="6248400" y="1524000"/>
            <a:chExt cx="5410200" cy="176022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8784" y="1745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为什么非要在意稳定性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81762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7782" y="207168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稳定性是桶排序能被基数排序当作子过程使用的前提。第三部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分会看到，某一趟不稳定就会把前几趟的结果打乱。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81762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7782" y="262890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多关键词排序（先按次关键词、再按主关键词）同样依赖稳定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性，这一点在第 17 讲已经讲过。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453765"/>
            <a:ext cx="5410200" cy="2206942"/>
            <a:chOff x="6248400" y="3453765"/>
            <a:chExt cx="5410200" cy="2206942"/>
          </a:xfrm>
        </p:grpSpPr>
        <p:sp>
          <p:nvSpPr>
            <p:cNvPr id="46" name="Rectangle 46"/>
            <p:cNvSpPr/>
            <p:nvPr/>
          </p:nvSpPr>
          <p:spPr>
            <a:xfrm>
              <a:off x="6248400" y="3453765"/>
              <a:ext cx="5410200" cy="2206942"/>
            </a:xfrm>
            <a:prstGeom prst="roundRect">
              <a:avLst>
                <a:gd name="adj" fmla="val 60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3587115"/>
              <a:ext cx="47625" cy="19402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3190" y="36404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5862" y="36733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38784" y="36756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穷举验证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6332" y="4001452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复核脚本对 m = 3、n ≤ 6 的全部 1093 个输入逐一验证：桶排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序的输出与 Python 稳定排序的结果完全一致。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7475" y="4555331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脚本：decks/ds/ds_l21_verify.py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8373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同桶元素的先后由队列保证，不同桶元素的先后由桶号保证。两条合起来就是排序的正确性加稳定性。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61722" cy="909257"/>
            <a:chOff x="520446" y="342900"/>
            <a:chExt cx="49617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617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桶排序的 C 实现：m 个链式队列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061460"/>
            <a:chOff x="533400" y="1524000"/>
            <a:chExt cx="6276022" cy="4061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61460"/>
            </a:xfrm>
            <a:prstGeom prst="roundRect">
              <a:avLst>
                <a:gd name="adj" fmla="val 23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636455" cy="356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桶中的结点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key;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数据域：关键词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指针域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Node;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Node *front, *rear; } Bucket;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BucketSort(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Bucket B[])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j, k = 1;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*p, *q;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m; j++) B[j].front = B[j].rear 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{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① 分配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(Node *)malloc(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(Node));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p-&gt;key = R[i];  p-&gt;next 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 = R[i];            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关键词就是桶号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(B[j].rear ==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B[j].front = p;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空桶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B[j].rear-&gt;next = p;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接在队尾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B[j].rear =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m; j++)  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② 收集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 B[j].front; p !=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q)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R[k++] = p-&gt;key;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q = p-&gt;next;  free(p);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bullets-1"/>
          <p:cNvGrpSpPr/>
          <p:nvPr/>
        </p:nvGrpSpPr>
        <p:grpSpPr>
          <a:xfrm>
            <a:off x="7114222" y="1542574"/>
            <a:ext cx="4281488" cy="1193483"/>
            <a:chOff x="7114222" y="1542574"/>
            <a:chExt cx="4281488" cy="1193483"/>
          </a:xfrm>
        </p:grpSpPr>
        <p:sp>
          <p:nvSpPr>
            <p:cNvPr id="11" name="Freeform 11"/>
            <p:cNvSpPr/>
            <p:nvPr/>
          </p:nvSpPr>
          <p:spPr>
            <a:xfrm>
              <a:off x="7114222" y="1565910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30440" y="1542574"/>
              <a:ext cx="406527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入队一律用尾插：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B[j].rear-&gt;next = p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之后再更新 rear，同桶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元素就是先来先排。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114222" y="2052638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30440" y="2029301"/>
              <a:ext cx="3944366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空桶判断看 rear 是否为 NULL，此时 front 也要一并指向新结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114222" y="2539365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2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30440" y="2516029"/>
              <a:ext cx="3976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收集时先取 next 再 free，顺序反了就会读已释放的内存。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7114222" y="2867025"/>
            <a:ext cx="4544378" cy="2719388"/>
            <a:chOff x="7114222" y="2867025"/>
            <a:chExt cx="4544378" cy="2719388"/>
          </a:xfrm>
        </p:grpSpPr>
        <p:sp>
          <p:nvSpPr>
            <p:cNvPr id="18" name="Rectangle 18"/>
            <p:cNvSpPr/>
            <p:nvPr/>
          </p:nvSpPr>
          <p:spPr>
            <a:xfrm>
              <a:off x="7114222" y="2867025"/>
              <a:ext cx="4544378" cy="2719388"/>
            </a:xfrm>
            <a:prstGeom prst="roundRect">
              <a:avLst>
                <a:gd name="adj" fmla="val 49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06628" y="30594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98068" y="30937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90320" y="30984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编译与对拍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9770" y="3432810"/>
              <a:ext cx="39399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zig cc -std=c99 -Wall -Wextra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编译零告警；跑源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课件的例子结果为 0 1 2 3 5 5* 6 9，并与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qsort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机对拍 600 轮（n 取 0 到 59、m 取 1 到 1000）全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部一致。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00912" y="4502944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代码与测试：decks/ds/ds_l21_code.c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25" name="Rectangle 2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6023610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桶也可以用顺序队列或动态数组，只要保持先进先出即可；用链表的好处是各桶长度不必预先分配。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82557" cy="909257"/>
            <a:chOff x="520446" y="342900"/>
            <a:chExt cx="58825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分布排序与桶排序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825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桶排序的复杂度：O(n+m)，m 说了算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28447" y="1524000"/>
            <a:ext cx="5847588" cy="1026509"/>
            <a:chOff x="528447" y="1524000"/>
            <a:chExt cx="5847588" cy="10265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107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870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633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96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895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023110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90254" y="2023110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66554" y="2023110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42854" y="2023110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0" y="1914525"/>
              <a:ext cx="10325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19154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524000"/>
              <a:ext cx="584263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1451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9081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6711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4341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1971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447" y="235981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桶排序总结</a:t>
              </a:r>
            </a:p>
          </p:txBody>
        </p:sp>
      </p:grpSp>
      <p:grpSp>
        <p:nvGrpSpPr>
          <p:cNvPr id="37" name="c1-kv-2"/>
          <p:cNvGrpSpPr/>
          <p:nvPr/>
        </p:nvGrpSpPr>
        <p:grpSpPr>
          <a:xfrm>
            <a:off x="526923" y="2697956"/>
            <a:ext cx="5849112" cy="1237107"/>
            <a:chOff x="526923" y="2697956"/>
            <a:chExt cx="5849112" cy="1237107"/>
          </a:xfrm>
        </p:grpSpPr>
        <p:sp>
          <p:nvSpPr>
            <p:cNvPr id="29" name="TextBox 29"/>
            <p:cNvSpPr txBox="1"/>
            <p:nvPr/>
          </p:nvSpPr>
          <p:spPr>
            <a:xfrm>
              <a:off x="526923" y="26979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82256" y="2697956"/>
              <a:ext cx="425577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分配扫 n 个元素是 O(n)，收集扫 m 个桶是 O(m)，合起来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O(n+m)。三种情况完全相同，与初始排列无关。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099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923" y="33123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82256" y="3312319"/>
              <a:ext cx="2937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个桶头指针加 n 个结点，O(n+m)。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5842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923" y="36856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82256" y="368569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同桶先进先出，稳定。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050030"/>
            <a:ext cx="5842635" cy="1281112"/>
            <a:chOff x="533400" y="4050030"/>
            <a:chExt cx="5842635" cy="1281112"/>
          </a:xfrm>
        </p:grpSpPr>
        <p:sp>
          <p:nvSpPr>
            <p:cNvPr id="38" name="Rectangle 38"/>
            <p:cNvSpPr/>
            <p:nvPr/>
          </p:nvSpPr>
          <p:spPr>
            <a:xfrm>
              <a:off x="533400" y="4050030"/>
              <a:ext cx="5842635" cy="1281112"/>
            </a:xfrm>
            <a:prstGeom prst="roundRect">
              <a:avLst>
                <a:gd name="adj" fmla="val 892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591052"/>
              <a:ext cx="200023" cy="200023"/>
              <a:chOff x="738188" y="4591052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5910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4657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483894"/>
              <a:ext cx="4938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m = O(n)，时空复杂度都是线性的 O(n)。这是桶排序唯一值得用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的场合。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680835" y="1524000"/>
            <a:ext cx="4977765" cy="2705100"/>
            <a:chOff x="6680835" y="1524000"/>
            <a:chExt cx="4977765" cy="2705100"/>
          </a:xfrm>
        </p:grpSpPr>
        <p:sp>
          <p:nvSpPr>
            <p:cNvPr id="44" name="Rectangle 44"/>
            <p:cNvSpPr/>
            <p:nvPr/>
          </p:nvSpPr>
          <p:spPr>
            <a:xfrm>
              <a:off x="6680835" y="1524000"/>
              <a:ext cx="4977765" cy="2705100"/>
            </a:xfrm>
            <a:prstGeom prst="roundRect">
              <a:avLst>
                <a:gd name="adj" fmla="val 4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1657350"/>
              <a:ext cx="47625" cy="24384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66838" y="1744504"/>
              <a:ext cx="1762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“线性时间”成立的条件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09435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64883" y="2061686"/>
              <a:ext cx="39757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关键词必须是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[0, m) 范围内的整数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，而且 m 要提前知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09435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64883" y="2589371"/>
              <a:ext cx="41907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与 n 同阶。m 远大于 n 时 O(n+m) 退化成 O(m)，例如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10、m = 1000 时要扫 1000 个桶，比快排的约 33 次比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较慢得多。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09435" y="34128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4883" y="3359944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每个元素要额外分配一个结点，记录很大时这部分空间开销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不可忽略。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4576" y="3884295"/>
              <a:ext cx="43218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与第 17 到 20 讲不同，桶排序的三种情况一样快，没有“最坏输入”。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680835" y="4393882"/>
            <a:ext cx="4977765" cy="937260"/>
            <a:chOff x="6680835" y="4393882"/>
            <a:chExt cx="4977765" cy="937260"/>
          </a:xfrm>
        </p:grpSpPr>
        <p:sp>
          <p:nvSpPr>
            <p:cNvPr id="57" name="Rectangle 57"/>
            <p:cNvSpPr/>
            <p:nvPr/>
          </p:nvSpPr>
          <p:spPr>
            <a:xfrm>
              <a:off x="6680835" y="4393882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885623" y="4762500"/>
              <a:ext cx="200026" cy="200026"/>
              <a:chOff x="6885623" y="476250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885623" y="47625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985635" y="4829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74523" y="48625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188708" y="4539139"/>
              <a:ext cx="409321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教材里还有另一种叫法相同的算法：把值域切成若干区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间、每个区间内部再用插入排序。那是平均线性的随机化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算法，与本讲“一个值一个桶”的分配收集法不是一回事。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5242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复杂度里的 m 是桶的个数，也就是值域大小，它不随输入数据变化。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只数个数，不把元素搬进桶，用前缀和把计数变成位置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三步：计数、前缀和、回填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5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前缀和让 cnt[i] 变成元素 i 的排名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回填必须从右往左才稳定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计数排序：先数清楚每个值有几个，再一次性放到位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074774" cy="278702"/>
            <a:chOff x="526161" y="1547336"/>
            <a:chExt cx="807477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0747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待排序数组 R 含 n 个整数，值域同样是 [0, m)。另设一个长度为 m 的数组 cnt[]，初值全 0。</a:t>
              </a:r>
            </a:p>
          </p:txBody>
        </p:sp>
      </p:grpSp>
      <p:grpSp>
        <p:nvGrpSpPr>
          <p:cNvPr id="34" name="c1-cells-1"/>
          <p:cNvGrpSpPr/>
          <p:nvPr/>
        </p:nvGrpSpPr>
        <p:grpSpPr>
          <a:xfrm>
            <a:off x="527685" y="1941195"/>
            <a:ext cx="3573780" cy="597694"/>
            <a:chOff x="527685" y="1941195"/>
            <a:chExt cx="3573780" cy="597694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626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86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896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677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806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868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4716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059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6626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250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8536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441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0446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632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8002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3*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82365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9912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3#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0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21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612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803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994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185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376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567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54" name="c1-cells-2"/>
          <p:cNvGrpSpPr/>
          <p:nvPr/>
        </p:nvGrpSpPr>
        <p:grpSpPr>
          <a:xfrm>
            <a:off x="527685" y="2679382"/>
            <a:ext cx="2900363" cy="596742"/>
            <a:chOff x="527685" y="2679382"/>
            <a:chExt cx="2900363" cy="596742"/>
          </a:xfrm>
        </p:grpSpPr>
        <p:sp>
          <p:nvSpPr>
            <p:cNvPr id="35" name="TextBox 35"/>
            <p:cNvSpPr txBox="1"/>
            <p:nvPr/>
          </p:nvSpPr>
          <p:spPr>
            <a:xfrm>
              <a:off x="527685" y="279987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3448" y="26793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3746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332548" y="26793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92846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751648" y="26793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11946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170748" y="26793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31046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589848" y="26793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50146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008948" y="26793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169246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7878" y="31141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06978" y="31141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26078" y="31141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45178" y="31141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64278" y="31141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183378" y="31141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72" name="c1-cells-3"/>
          <p:cNvGrpSpPr/>
          <p:nvPr/>
        </p:nvGrpSpPr>
        <p:grpSpPr>
          <a:xfrm>
            <a:off x="527685" y="3416618"/>
            <a:ext cx="3573780" cy="596741"/>
            <a:chOff x="527685" y="3416618"/>
            <a:chExt cx="3573780" cy="596741"/>
          </a:xfrm>
        </p:grpSpPr>
        <p:sp>
          <p:nvSpPr>
            <p:cNvPr id="55" name="TextBox 55"/>
            <p:cNvSpPr txBox="1"/>
            <p:nvPr/>
          </p:nvSpPr>
          <p:spPr>
            <a:xfrm>
              <a:off x="527685" y="35371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486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1677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5868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0059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4250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28441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32632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682365" y="3416618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30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3421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7612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1803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5994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0185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4376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56796" y="3851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80" name="c1-card-4"/>
          <p:cNvGrpSpPr/>
          <p:nvPr/>
        </p:nvGrpSpPr>
        <p:grpSpPr>
          <a:xfrm>
            <a:off x="533400" y="4153852"/>
            <a:ext cx="4977765" cy="1490662"/>
            <a:chOff x="533400" y="4153852"/>
            <a:chExt cx="4977765" cy="1490662"/>
          </a:xfrm>
        </p:grpSpPr>
        <p:sp>
          <p:nvSpPr>
            <p:cNvPr id="73" name="Rectangle 73"/>
            <p:cNvSpPr/>
            <p:nvPr/>
          </p:nvSpPr>
          <p:spPr>
            <a:xfrm>
              <a:off x="533400" y="4153852"/>
              <a:ext cx="4977765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42925" y="4287202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63905" y="434625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9346" y="43805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14247" y="43862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本节的例子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7047" y="4720590"/>
              <a:ext cx="41885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8，m = 6。R 中有三个 3，按出现先后记作 3、3*、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3#，用来检查稳定性。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8190" y="5276374"/>
              <a:ext cx="3614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是存放排序结果的新数组，计数排序不在原地完成。</a:t>
              </a:r>
            </a:p>
          </p:txBody>
        </p:sp>
      </p:grpSp>
      <p:grpSp>
        <p:nvGrpSpPr>
          <p:cNvPr id="94" name="c2-steps-1"/>
          <p:cNvGrpSpPr/>
          <p:nvPr/>
        </p:nvGrpSpPr>
        <p:grpSpPr>
          <a:xfrm>
            <a:off x="5815965" y="1950720"/>
            <a:ext cx="5395890" cy="1694022"/>
            <a:chOff x="5815965" y="1950720"/>
            <a:chExt cx="5395890" cy="1694022"/>
          </a:xfrm>
        </p:grpSpPr>
        <p:sp>
          <p:nvSpPr>
            <p:cNvPr id="81" name="Rectangle 81"/>
            <p:cNvSpPr/>
            <p:nvPr/>
          </p:nvSpPr>
          <p:spPr>
            <a:xfrm>
              <a:off x="5949315" y="209359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5815965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909589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815965" y="25384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09589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815965" y="31251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909589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228207" y="1983105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计数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29350" y="2250281"/>
              <a:ext cx="31269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 R，令 cnt[i] 等于 R 中值为 i 的元素个数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228207" y="2569845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前缀和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229350" y="2837021"/>
              <a:ext cx="4830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cnt[i] += cnt[i−1]，此后 cnt[i] 表示 R 中不超过 i 的元素有多少个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228207" y="3156585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回填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229350" y="3424714"/>
              <a:ext cx="4982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从右往左扫描 R，对每个元素 K，把它放到 B[cnt[K]]，然后 cnt[K] 减 1</a:t>
              </a:r>
            </a:p>
          </p:txBody>
        </p:sp>
      </p:grpSp>
      <p:grpSp>
        <p:nvGrpSpPr>
          <p:cNvPr id="100" name="c2-callout-2"/>
          <p:cNvGrpSpPr/>
          <p:nvPr/>
        </p:nvGrpSpPr>
        <p:grpSpPr>
          <a:xfrm>
            <a:off x="5815965" y="3812858"/>
            <a:ext cx="5842635" cy="1830705"/>
            <a:chOff x="5815965" y="3812858"/>
            <a:chExt cx="5842635" cy="1830705"/>
          </a:xfrm>
        </p:grpSpPr>
        <p:sp>
          <p:nvSpPr>
            <p:cNvPr id="95" name="Rectangle 95"/>
            <p:cNvSpPr/>
            <p:nvPr/>
          </p:nvSpPr>
          <p:spPr>
            <a:xfrm>
              <a:off x="5815965" y="3812858"/>
              <a:ext cx="5842635" cy="1830705"/>
            </a:xfrm>
            <a:prstGeom prst="roundRect">
              <a:avLst>
                <a:gd name="adj" fmla="val 624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020753" y="4629152"/>
              <a:ext cx="200023" cy="200023"/>
              <a:chOff x="6020753" y="4629152"/>
              <a:chExt cx="200023" cy="20002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020753" y="46291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154103" y="4695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323457" y="4510088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与桶排序的区别只有一条：计数排序不把元素搬进桶，只记住每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个值出现了几次，位置靠算出来。</a:t>
              </a:r>
            </a:p>
          </p:txBody>
        </p:sp>
      </p:grpSp>
      <p:grpSp>
        <p:nvGrpSpPr>
          <p:cNvPr id="10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1" name="Rectangle 10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1040892" y="6023610"/>
              <a:ext cx="6465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元素只被真正搬动一次（第 ③ 步），前两步都只在长度为 m 的小数组上做加法。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40269" cy="909257"/>
            <a:chOff x="520446" y="342900"/>
            <a:chExt cx="56402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402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计数：cnt[i] 记下值 i 出现了几次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ells-1"/>
          <p:cNvGrpSpPr/>
          <p:nvPr/>
        </p:nvGrpSpPr>
        <p:grpSpPr>
          <a:xfrm>
            <a:off x="528066" y="1524000"/>
            <a:ext cx="3568636" cy="571976"/>
            <a:chOff x="528066" y="1524000"/>
            <a:chExt cx="3568636" cy="571976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363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439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303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630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6403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821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45503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012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64603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203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83703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394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2803" y="1636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585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81088" y="16363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3*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7760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0188" y="16363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3#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83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374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65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756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947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38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329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5203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52" name="c1-cells-2"/>
          <p:cNvGrpSpPr/>
          <p:nvPr/>
        </p:nvGrpSpPr>
        <p:grpSpPr>
          <a:xfrm>
            <a:off x="528066" y="2225992"/>
            <a:ext cx="2884742" cy="571977"/>
            <a:chOff x="528066" y="2225992"/>
            <a:chExt cx="2884742" cy="571977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233838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cnt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8208" y="22259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1608" y="233838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317308" y="22259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80708" y="233838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736408" y="22259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899808" y="233838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155508" y="222599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18908" y="233838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574608" y="22259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38008" y="233838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993708" y="22259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157108" y="233838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2638" y="26360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91738" y="26360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10838" y="26360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329938" y="26360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749038" y="26360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68138" y="26360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6" name="c1-code-3"/>
          <p:cNvGrpSpPr/>
          <p:nvPr/>
        </p:nvGrpSpPr>
        <p:grpSpPr>
          <a:xfrm>
            <a:off x="533400" y="2927985"/>
            <a:ext cx="6059805" cy="858202"/>
            <a:chOff x="533400" y="2927985"/>
            <a:chExt cx="6059805" cy="858202"/>
          </a:xfrm>
        </p:grpSpPr>
        <p:sp>
          <p:nvSpPr>
            <p:cNvPr id="53" name="Rectangle 53"/>
            <p:cNvSpPr/>
            <p:nvPr/>
          </p:nvSpPr>
          <p:spPr>
            <a:xfrm>
              <a:off x="533400" y="2927985"/>
              <a:ext cx="605980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1797" y="3079909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① 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797" y="3340894"/>
              <a:ext cx="165277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cnt[R[i]]++;</a:t>
              </a:r>
            </a:p>
          </p:txBody>
        </p:sp>
      </p:grpSp>
      <p:grpSp>
        <p:nvGrpSpPr>
          <p:cNvPr id="65" name="c1-card-4"/>
          <p:cNvGrpSpPr/>
          <p:nvPr/>
        </p:nvGrpSpPr>
        <p:grpSpPr>
          <a:xfrm>
            <a:off x="533400" y="3950970"/>
            <a:ext cx="6059805" cy="1687830"/>
            <a:chOff x="533400" y="3950970"/>
            <a:chExt cx="6059805" cy="1687830"/>
          </a:xfrm>
        </p:grpSpPr>
        <p:sp>
          <p:nvSpPr>
            <p:cNvPr id="57" name="Rectangle 57"/>
            <p:cNvSpPr/>
            <p:nvPr/>
          </p:nvSpPr>
          <p:spPr>
            <a:xfrm>
              <a:off x="533400" y="3950970"/>
              <a:ext cx="605980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2925" y="408432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2475" y="41319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5147" y="41648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18450" y="4171474"/>
              <a:ext cx="1952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计数之前 cnt 必须是全 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5998" y="4487704"/>
              <a:ext cx="53693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cnt[MAXM] = {0};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只在进入函数时清零一次。若把 cnt 写成全局数组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反复使用，每次排序前都要手工清零，否则上一次的计数会残留下来。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62000" y="506825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7448" y="5015389"/>
              <a:ext cx="5271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清零要扫过 m 个位置，和桶排序收集时扫空桶一样，是分布排序里那笔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无关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的开销。</a:t>
              </a:r>
            </a:p>
          </p:txBody>
        </p:sp>
      </p:grpSp>
      <p:grpSp>
        <p:nvGrpSpPr>
          <p:cNvPr id="101" name="c2-table-1"/>
          <p:cNvGrpSpPr/>
          <p:nvPr/>
        </p:nvGrpSpPr>
        <p:grpSpPr>
          <a:xfrm>
            <a:off x="6893052" y="1524000"/>
            <a:ext cx="4765548" cy="2933414"/>
            <a:chOff x="6893052" y="1524000"/>
            <a:chExt cx="4765548" cy="2933414"/>
          </a:xfrm>
        </p:grpSpPr>
        <p:sp>
          <p:nvSpPr>
            <p:cNvPr id="66" name="Rectangle 66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05142" y="1641157"/>
              <a:ext cx="241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 i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44142" y="1641157"/>
              <a:ext cx="992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中的出现位置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60178" y="1641157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cnt[i]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92684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48981" y="2023110"/>
              <a:ext cx="80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R[4]、R[6]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19778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92684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48981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没有出现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419778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92684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48981" y="2785110"/>
              <a:ext cx="80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R[1]、R[5]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419778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898005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898005" y="3049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92684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48981" y="3167062"/>
              <a:ext cx="1279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R[3]、R[7]、R[8]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334625" y="3059430"/>
              <a:ext cx="131445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419778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898005" y="3426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992684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848981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没有出现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419778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898005" y="3807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898005" y="3811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992684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848981" y="3930015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R[2]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419778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898005" y="1524000"/>
              <a:ext cx="476059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74954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32033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893052" y="42667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逐个值核对</a:t>
              </a:r>
            </a:p>
          </p:txBody>
        </p:sp>
      </p:grpSp>
      <p:grpSp>
        <p:nvGrpSpPr>
          <p:cNvPr id="108" name="c2-callout-2"/>
          <p:cNvGrpSpPr/>
          <p:nvPr/>
        </p:nvGrpSpPr>
        <p:grpSpPr>
          <a:xfrm>
            <a:off x="6898005" y="4584382"/>
            <a:ext cx="4760595" cy="1054418"/>
            <a:chOff x="6898005" y="4584382"/>
            <a:chExt cx="4760595" cy="1054418"/>
          </a:xfrm>
        </p:grpSpPr>
        <p:sp>
          <p:nvSpPr>
            <p:cNvPr id="102" name="Rectangle 102"/>
            <p:cNvSpPr/>
            <p:nvPr/>
          </p:nvSpPr>
          <p:spPr>
            <a:xfrm>
              <a:off x="6898005" y="4584382"/>
              <a:ext cx="4760595" cy="1054418"/>
            </a:xfrm>
            <a:prstGeom prst="roundRect">
              <a:avLst>
                <a:gd name="adj" fmla="val 108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102793" y="5011103"/>
              <a:ext cx="200026" cy="200026"/>
              <a:chOff x="7102793" y="5011103"/>
              <a:chExt cx="200026" cy="200026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7102793" y="50111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202805" y="50777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191693" y="51111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7405878" y="4904899"/>
              <a:ext cx="3890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cnt 各项之和必须等于 n。这里 2+0+2+3+0+1 = 8，正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好是元素个数，可以用来自查。</a:t>
              </a:r>
            </a:p>
          </p:txBody>
        </p:sp>
      </p:grpSp>
      <p:grpSp>
        <p:nvGrpSpPr>
          <p:cNvPr id="11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09" name="Rectangle 10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1041273" y="6039326"/>
              <a:ext cx="5476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这一步只访问每个元素一次，代价 O(n)；cnt 数组的清零代价 O(m)。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7918" cy="909257"/>
            <a:chOff x="520446" y="342900"/>
            <a:chExt cx="55879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79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前缀和：把“有几个”变成“排第几”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ells-1"/>
          <p:cNvGrpSpPr/>
          <p:nvPr/>
        </p:nvGrpSpPr>
        <p:grpSpPr>
          <a:xfrm>
            <a:off x="527685" y="1524000"/>
            <a:ext cx="3080385" cy="584359"/>
            <a:chOff x="527685" y="1524000"/>
            <a:chExt cx="3080385" cy="584359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387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计数后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3470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53769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12570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2869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31670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91969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50770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11069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69870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0169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88970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49269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679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870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061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252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43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634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6" name="c1-cells-2"/>
          <p:cNvGrpSpPr/>
          <p:nvPr/>
        </p:nvGrpSpPr>
        <p:grpSpPr>
          <a:xfrm>
            <a:off x="527685" y="2244090"/>
            <a:ext cx="3222307" cy="584359"/>
            <a:chOff x="527685" y="2244090"/>
            <a:chExt cx="3222307" cy="584359"/>
          </a:xfrm>
        </p:grpSpPr>
        <p:sp>
          <p:nvSpPr>
            <p:cNvPr id="27" name="TextBox 27"/>
            <p:cNvSpPr txBox="1"/>
            <p:nvPr/>
          </p:nvSpPr>
          <p:spPr>
            <a:xfrm>
              <a:off x="527685" y="23579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前缀和后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235392" y="22440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95691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654492" y="22440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14791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73592" y="22440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33891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2692" y="224409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52991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911792" y="22440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72091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330892" y="22440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91191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9823" y="26665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28923" y="26665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48023" y="26665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67123" y="26665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86223" y="26665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05323" y="26665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0" name="c1-code-3"/>
          <p:cNvGrpSpPr/>
          <p:nvPr/>
        </p:nvGrpSpPr>
        <p:grpSpPr>
          <a:xfrm>
            <a:off x="533400" y="2963228"/>
            <a:ext cx="5842635" cy="858202"/>
            <a:chOff x="533400" y="2963228"/>
            <a:chExt cx="5842635" cy="858202"/>
          </a:xfrm>
        </p:grpSpPr>
        <p:sp>
          <p:nvSpPr>
            <p:cNvPr id="47" name="Rectangle 47"/>
            <p:cNvSpPr/>
            <p:nvPr/>
          </p:nvSpPr>
          <p:spPr>
            <a:xfrm>
              <a:off x="533400" y="2963228"/>
              <a:ext cx="584263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1797" y="3115151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② 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797" y="3376136"/>
              <a:ext cx="1584325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 m;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cnt[i] += cnt[i-1];</a:t>
              </a:r>
            </a:p>
          </p:txBody>
        </p:sp>
      </p:grpSp>
      <p:grpSp>
        <p:nvGrpSpPr>
          <p:cNvPr id="56" name="c1-callout-4"/>
          <p:cNvGrpSpPr/>
          <p:nvPr/>
        </p:nvGrpSpPr>
        <p:grpSpPr>
          <a:xfrm>
            <a:off x="533400" y="3990975"/>
            <a:ext cx="5842635" cy="1705928"/>
            <a:chOff x="533400" y="3990975"/>
            <a:chExt cx="5842635" cy="1705928"/>
          </a:xfrm>
        </p:grpSpPr>
        <p:sp>
          <p:nvSpPr>
            <p:cNvPr id="51" name="Rectangle 51"/>
            <p:cNvSpPr/>
            <p:nvPr/>
          </p:nvSpPr>
          <p:spPr>
            <a:xfrm>
              <a:off x="533400" y="3990975"/>
              <a:ext cx="5842635" cy="1705928"/>
            </a:xfrm>
            <a:prstGeom prst="roundRect">
              <a:avLst>
                <a:gd name="adj" fmla="val 670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4743452"/>
              <a:ext cx="200023" cy="200023"/>
              <a:chOff x="738188" y="4743452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47434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4810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462534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前缀和之后，cnt[i] 是 R 中不超过 i 的元素个数，也就是值为 i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的元素在 B 中最后一个的下标。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6680835" y="1524000"/>
            <a:ext cx="4977765" cy="2800350"/>
            <a:chOff x="6680835" y="1524000"/>
            <a:chExt cx="4977765" cy="2800350"/>
          </a:xfrm>
        </p:grpSpPr>
        <p:sp>
          <p:nvSpPr>
            <p:cNvPr id="57" name="Rectangle 57"/>
            <p:cNvSpPr/>
            <p:nvPr/>
          </p:nvSpPr>
          <p:spPr>
            <a:xfrm>
              <a:off x="6680835" y="1524000"/>
              <a:ext cx="497776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50384" y="1645444"/>
              <a:ext cx="257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 i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77670" y="164544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cnt[i]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10555" y="1645444"/>
              <a:ext cx="1409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该值在 B 中占的下标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77990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7428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69655" y="204549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23193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80835" y="23241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77990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7428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69655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不出现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680835" y="27193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77990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7428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69655" y="284559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80835" y="31194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80835" y="31242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77990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7428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582025" y="3133725"/>
              <a:ext cx="306705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69655" y="3245644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5、6、7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680835" y="35194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77990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7428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69655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不出现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680835" y="39195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80835" y="39243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77990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57428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69655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680835" y="1524000"/>
              <a:ext cx="497776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47236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56773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card-2"/>
          <p:cNvGrpSpPr/>
          <p:nvPr/>
        </p:nvGrpSpPr>
        <p:grpSpPr>
          <a:xfrm>
            <a:off x="6680835" y="4493895"/>
            <a:ext cx="4977765" cy="1202055"/>
            <a:chOff x="6680835" y="4493895"/>
            <a:chExt cx="4977765" cy="1202055"/>
          </a:xfrm>
        </p:grpSpPr>
        <p:sp>
          <p:nvSpPr>
            <p:cNvPr id="92" name="Rectangle 92"/>
            <p:cNvSpPr/>
            <p:nvPr/>
          </p:nvSpPr>
          <p:spPr>
            <a:xfrm>
              <a:off x="6680835" y="4493895"/>
              <a:ext cx="497776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690360" y="462724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905625" y="46805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94246" y="4713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想一想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595997" y="4715828"/>
              <a:ext cx="1859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为什么指向“最后一个”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898767" y="5041583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cnt[i] 数的是所有不超过 i 的元素，其中包括值为 i 的全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部元素，所以它落在这一段的末尾。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9" name="Rectangle 9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040892" y="6028373"/>
              <a:ext cx="813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 1 和 4 不出现时 cnt 仍被填成邻居的值，这不会造成错误，因为第 ③ 步根本不会取到这两个下标。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0320" cy="909257"/>
            <a:chOff x="520446" y="342900"/>
            <a:chExt cx="77603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03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回填：从 R 的最右端开始，放一个就把 cnt 减一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85171" cy="264033"/>
            <a:chOff x="526542" y="1545907"/>
            <a:chExt cx="708517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851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对每个元素 K = R[i]，令 B[cnt[K]] = K，再执行 cnt[K]−−。八步走完，B 就排好了。</a:t>
              </a:r>
            </a:p>
          </p:txBody>
        </p:sp>
      </p:grpSp>
      <p:grpSp>
        <p:nvGrpSpPr>
          <p:cNvPr id="75" name="c1-table-1"/>
          <p:cNvGrpSpPr/>
          <p:nvPr/>
        </p:nvGrpSpPr>
        <p:grpSpPr>
          <a:xfrm>
            <a:off x="528447" y="1928812"/>
            <a:ext cx="6280975" cy="3696367"/>
            <a:chOff x="528447" y="1928812"/>
            <a:chExt cx="6280975" cy="369636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176" y="204597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2376" y="2045970"/>
              <a:ext cx="572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R[i]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80673" y="2045970"/>
              <a:ext cx="9765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读到的 cnt[K]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4969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放入位置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64106" y="2045970"/>
              <a:ext cx="835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cnt[K] 变为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5776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3#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1117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31920" y="2319338"/>
              <a:ext cx="16125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17074" y="242697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B[7] = 3#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4870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55776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1117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31920" y="2701290"/>
              <a:ext cx="16125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17074" y="2808923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B[6] = 3*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4870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577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1117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17074" y="3189923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B[2] =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4870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5577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1117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17074" y="3571875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B[4] =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4870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830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5577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1117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17074" y="3952875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B[1] =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870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4216718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55776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11171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931920" y="4226242"/>
              <a:ext cx="16125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017074" y="4333875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B[5] = 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48706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5939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8078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55776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11171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017074" y="4715828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B[8] = 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48706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9749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3400" y="4979670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8078" y="5096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55776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11171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17074" y="5096828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B[3] = 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48706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1928812"/>
              <a:ext cx="6276022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15633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41173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391763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54926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28447" y="543448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八步回填全过程</a:t>
              </a:r>
            </a:p>
          </p:txBody>
        </p:sp>
      </p:grpSp>
      <p:grpSp>
        <p:nvGrpSpPr>
          <p:cNvPr id="101" name="c2-cells-1"/>
          <p:cNvGrpSpPr/>
          <p:nvPr/>
        </p:nvGrpSpPr>
        <p:grpSpPr>
          <a:xfrm>
            <a:off x="7108888" y="1928812"/>
            <a:ext cx="3568637" cy="571977"/>
            <a:chOff x="7108888" y="1928812"/>
            <a:chExt cx="3568637" cy="571977"/>
          </a:xfrm>
        </p:grpSpPr>
        <p:sp>
          <p:nvSpPr>
            <p:cNvPr id="76" name="TextBox 76"/>
            <p:cNvSpPr txBox="1"/>
            <p:nvPr/>
          </p:nvSpPr>
          <p:spPr>
            <a:xfrm>
              <a:off x="7108888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32472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8812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74382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0722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16292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32632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58202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4542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001125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16452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420225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542811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3*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839325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961911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3#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25842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42182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991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9182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373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7564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755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5946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0137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43285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05" name="c2-code-2"/>
          <p:cNvGrpSpPr/>
          <p:nvPr/>
        </p:nvGrpSpPr>
        <p:grpSpPr>
          <a:xfrm>
            <a:off x="7114222" y="2630805"/>
            <a:ext cx="4544378" cy="1384935"/>
            <a:chOff x="7114222" y="2630805"/>
            <a:chExt cx="4544378" cy="1384935"/>
          </a:xfrm>
        </p:grpSpPr>
        <p:sp>
          <p:nvSpPr>
            <p:cNvPr id="102" name="Rectangle 102"/>
            <p:cNvSpPr/>
            <p:nvPr/>
          </p:nvSpPr>
          <p:spPr>
            <a:xfrm>
              <a:off x="7114222" y="2630805"/>
              <a:ext cx="454437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242620" y="2782729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③ 步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242620" y="3042761"/>
              <a:ext cx="1789684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n; i &gt;= 1; i--)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R[i];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B[cnt[K]] = 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cnt[K]--;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09" name="c2-card-3"/>
          <p:cNvGrpSpPr/>
          <p:nvPr/>
        </p:nvGrpSpPr>
        <p:grpSpPr>
          <a:xfrm>
            <a:off x="7114222" y="4180522"/>
            <a:ext cx="4544378" cy="1405890"/>
            <a:chOff x="7114222" y="4180522"/>
            <a:chExt cx="4544378" cy="1405890"/>
          </a:xfrm>
        </p:grpSpPr>
        <p:sp>
          <p:nvSpPr>
            <p:cNvPr id="106" name="Rectangle 106"/>
            <p:cNvSpPr/>
            <p:nvPr/>
          </p:nvSpPr>
          <p:spPr>
            <a:xfrm>
              <a:off x="7114222" y="4180522"/>
              <a:ext cx="4544378" cy="1405890"/>
            </a:xfrm>
            <a:prstGeom prst="roundRect">
              <a:avLst>
                <a:gd name="adj" fmla="val 94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123748" y="4313872"/>
              <a:ext cx="47625" cy="1139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326820" y="4382929"/>
              <a:ext cx="3873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 3 依次落在 B[7]、B[6]、B[5]，也就是 3# 在最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后、3 在最前，与它们在 R 中的先后顺序一致。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0" name="Rectangle 11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041273" y="6039326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每放一个元素就把该值的可用位置往前挪一格，同一个值的若干元素从后往前铺满它那一段。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16511" cy="909257"/>
            <a:chOff x="520446" y="342900"/>
            <a:chExt cx="42165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165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为什么第 ③ 步必须从右往左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5410200" cy="3017520"/>
            <a:chOff x="533400" y="1524000"/>
            <a:chExt cx="5410200" cy="3017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279332" cy="3017520"/>
            </a:xfrm>
            <a:prstGeom prst="roundRect">
              <a:avLst>
                <a:gd name="adj" fmla="val 5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508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381" y="17454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从右往左（正确）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7240" y="2141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3831" y="2081689"/>
              <a:ext cx="15924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先取 R[8] = 3#，放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B[7]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08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0334"/>
              <a:ext cx="15924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再取 R[7] = 3*，放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B[6]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3194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259931"/>
              <a:ext cx="14932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最后取 R[3] = 3，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放进 B[5]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9090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848576"/>
              <a:ext cx="152031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… 3 3* 3# …，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4268" y="1524000"/>
              <a:ext cx="2279332" cy="3017520"/>
            </a:xfrm>
            <a:prstGeom prst="roundRect">
              <a:avLst>
                <a:gd name="adj" fmla="val 5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73792" y="1657350"/>
              <a:ext cx="47625" cy="27508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93248" y="174545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从左往右（不稳定）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08108" y="2141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64698" y="2081689"/>
              <a:ext cx="14932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先取 R[3] = 3，放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B[7]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08108" y="27308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64698" y="2670334"/>
              <a:ext cx="15924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再取 R[7] = 3*，放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B[6]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908108" y="33194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64698" y="3259931"/>
              <a:ext cx="15924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最后取 R[8] = 3#，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放进 B[5]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908108" y="39090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64698" y="3848576"/>
              <a:ext cx="152031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… 3# 3* 3 …，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整段倒过来了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860358" y="2654618"/>
              <a:ext cx="756285" cy="75628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03728" y="297227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同一组输入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721542"/>
            <a:ext cx="5410200" cy="931545"/>
            <a:chOff x="533400" y="4721542"/>
            <a:chExt cx="5410200" cy="931545"/>
          </a:xfrm>
        </p:grpSpPr>
        <p:sp>
          <p:nvSpPr>
            <p:cNvPr id="32" name="Rectangle 32"/>
            <p:cNvSpPr/>
            <p:nvPr/>
          </p:nvSpPr>
          <p:spPr>
            <a:xfrm>
              <a:off x="533400" y="4721542"/>
              <a:ext cx="5410200" cy="931545"/>
            </a:xfrm>
            <a:prstGeom prst="roundRect">
              <a:avLst>
                <a:gd name="adj" fmla="val 1227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083611"/>
              <a:ext cx="224134" cy="192560"/>
              <a:chOff x="726129" y="5083611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1539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0836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2317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495633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从左往右扫描并不会排错，序列仍然递增，错的只是相等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关键词之间的相对次序。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2129790"/>
            <a:chOff x="6248400" y="1524000"/>
            <a:chExt cx="5410200" cy="2129790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129790"/>
            </a:xfrm>
            <a:prstGeom prst="roundRect">
              <a:avLst>
                <a:gd name="adj" fmla="val 6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1657350"/>
              <a:ext cx="47625" cy="18630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84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6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67931" y="17568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扫描方向与稳定性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7381" y="210073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前缀和给出的 cnt[K] 是值 K 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最后一个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位置，配从后往前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的取法才能让“原来靠后的仍然靠后”。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92240" y="27498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8831" y="2690336"/>
              <a:ext cx="445084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若想从左往右扫描，必须改成 exclusive 前缀和：先令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cnt[i] 等于比 i 小的元素个数，取元素时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B[++cnt[K]]</a:t>
              </a:r>
              <a:br/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= K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。两种写法都稳定，但不能混用。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248400" y="3833812"/>
            <a:ext cx="5410200" cy="1819275"/>
            <a:chOff x="6248400" y="3833812"/>
            <a:chExt cx="5410200" cy="1819275"/>
          </a:xfrm>
        </p:grpSpPr>
        <p:sp>
          <p:nvSpPr>
            <p:cNvPr id="48" name="Rectangle 48"/>
            <p:cNvSpPr/>
            <p:nvPr/>
          </p:nvSpPr>
          <p:spPr>
            <a:xfrm>
              <a:off x="6248400" y="3833812"/>
              <a:ext cx="5410200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3967162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84620" y="40319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6060" y="40662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67931" y="40666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穷举验证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7381" y="4410551"/>
              <a:ext cx="479348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m = 3、n ≤ 6 的全部输入逐一检查：从右往左的版本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1093 个输入全部稳定；从左往右的版本只要有重复关键词就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会把它们整段倒置。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8524" y="5267325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脚本：decks/ds/ds_l21_verify.py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6" name="Rectangle 5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1170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记法：前缀和指末位，就得倒着填。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计数排序的完整代码与复杂度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264092"/>
            <a:chOff x="533400" y="1524000"/>
            <a:chExt cx="6059805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117086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MAXM 1000        /* cnt 的容量，须为编译期常量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CountingSort(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B[])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cnt[MAXM] = {0};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cnt[R[i]]++;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 m;  i++) cnt[i] += cnt[i-1];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n; i &gt;= 1; i--) B[cnt[R[i]]--] = R[i];  /* ③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58590"/>
            <a:ext cx="6059805" cy="1721168"/>
            <a:chOff x="533400" y="3958590"/>
            <a:chExt cx="6059805" cy="1721168"/>
          </a:xfrm>
        </p:grpSpPr>
        <p:sp>
          <p:nvSpPr>
            <p:cNvPr id="11" name="Rectangle 11"/>
            <p:cNvSpPr/>
            <p:nvPr/>
          </p:nvSpPr>
          <p:spPr>
            <a:xfrm>
              <a:off x="533400" y="3958590"/>
              <a:ext cx="6059805" cy="1721168"/>
            </a:xfrm>
            <a:prstGeom prst="roundRect">
              <a:avLst>
                <a:gd name="adj" fmla="val 77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091940"/>
              <a:ext cx="47625" cy="14544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1452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41781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3784" y="4180522"/>
              <a:ext cx="2750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38 页在标准 C 下编不过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4506278"/>
              <a:ext cx="53801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原文写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const int maxm=1e5+10;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再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cnt[maxm]={0};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。C 语言里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const int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变量不是常量表达式，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cnt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成了变长数组，而变长数组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不允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许带初始化式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5317331"/>
              <a:ext cx="53249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改用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#define MAXM 1000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即可。C++ 没有这个问题，源课件应是按 C++ 写的。</a:t>
              </a:r>
            </a:p>
          </p:txBody>
        </p:sp>
      </p:grpSp>
      <p:grpSp>
        <p:nvGrpSpPr>
          <p:cNvPr id="34" name="c2-table-1"/>
          <p:cNvGrpSpPr/>
          <p:nvPr/>
        </p:nvGrpSpPr>
        <p:grpSpPr>
          <a:xfrm>
            <a:off x="6893052" y="1524000"/>
            <a:ext cx="4765548" cy="1063656"/>
            <a:chOff x="6893052" y="1524000"/>
            <a:chExt cx="4765548" cy="1063656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96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177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002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0284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9516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2458" y="2045494"/>
              <a:ext cx="579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0708" y="2045494"/>
              <a:ext cx="579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620375" y="1933575"/>
              <a:ext cx="10287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70800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8005" y="1524000"/>
              <a:ext cx="476059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30540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368790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606088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93052" y="2396966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计数排序总结（最好、平均、最坏三种情况相同）</a:t>
              </a:r>
            </a:p>
          </p:txBody>
        </p:sp>
      </p:grpSp>
      <p:grpSp>
        <p:nvGrpSpPr>
          <p:cNvPr id="41" name="c2-bullets-2"/>
          <p:cNvGrpSpPr/>
          <p:nvPr/>
        </p:nvGrpSpPr>
        <p:grpSpPr>
          <a:xfrm>
            <a:off x="6907530" y="2737961"/>
            <a:ext cx="4150360" cy="974408"/>
            <a:chOff x="6907530" y="2737961"/>
            <a:chExt cx="4150360" cy="974408"/>
          </a:xfrm>
        </p:grpSpPr>
        <p:sp>
          <p:nvSpPr>
            <p:cNvPr id="35" name="Ellipse 35"/>
            <p:cNvSpPr/>
            <p:nvPr/>
          </p:nvSpPr>
          <p:spPr>
            <a:xfrm>
              <a:off x="6907530" y="27813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63740" y="2737961"/>
              <a:ext cx="399415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① 步 O(n)，第 ② 步 O(m)，第 ③ 步 O(n)，加上 cnt 清零的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O(m)，合计 O(n+m)。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07530" y="32651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63740" y="3221831"/>
              <a:ext cx="3590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空间是 cnt 的 m 个计数加 B 的 n 个位置，O(n+m)。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07530" y="35347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3740" y="349234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三种情况完全相同，与初始排列无关。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898005" y="3837622"/>
            <a:ext cx="4760595" cy="1842135"/>
            <a:chOff x="6898005" y="3837622"/>
            <a:chExt cx="4760595" cy="1842135"/>
          </a:xfrm>
        </p:grpSpPr>
        <p:sp>
          <p:nvSpPr>
            <p:cNvPr id="42" name="Rectangle 42"/>
            <p:cNvSpPr/>
            <p:nvPr/>
          </p:nvSpPr>
          <p:spPr>
            <a:xfrm>
              <a:off x="6898005" y="3837622"/>
              <a:ext cx="4760595" cy="1842135"/>
            </a:xfrm>
            <a:prstGeom prst="roundRect">
              <a:avLst>
                <a:gd name="adj" fmla="val 62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090734" y="4654986"/>
              <a:ext cx="224134" cy="192560"/>
              <a:chOff x="7090734" y="465498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202805" y="47253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090734" y="46549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02805" y="48031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405497" y="4539615"/>
              <a:ext cx="37598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前提与桶排序相同：关键词是 [0, m) 内的整数且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提前已知；只有 m = O(n) 时才是线性算法。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9" name="Rectangle 4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8373"/>
              <a:ext cx="8489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B[cnt[R[i]]--] = R[i];</a:t>
              </a: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一行同时完成了取位置、放元素、减计数三件事，是考试里最常默写错的一行。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0512" cy="909257"/>
            <a:chOff x="520446" y="342900"/>
            <a:chExt cx="83605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05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桶排序与计数排序：同样 O(n+m)，差别在搬不搬元素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6276022" cy="3646170"/>
            <a:chOff x="533400" y="1524000"/>
            <a:chExt cx="6276022" cy="3646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1231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676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8808" y="2154079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个链式队列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8645" y="2054066"/>
              <a:ext cx="2109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m 的 cnt 数组 + 长度 n 的 B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元素怎么动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8808" y="2659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先搬进桶，再搬出来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08158" y="2545080"/>
              <a:ext cx="249174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98645" y="26598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只搬一次，直接搬到最终位置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9365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额外结点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88808" y="306562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每个元素一个结点，要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malloc/free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08158" y="2950845"/>
              <a:ext cx="2491740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98645" y="31656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不需要动态分配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423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4711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7141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88808" y="367141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稳定（桶是队列）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8645" y="367141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稳定（从右往左回填）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481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0771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88808" y="4077176"/>
              <a:ext cx="579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8645" y="4077176"/>
              <a:ext cx="579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538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5864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4829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88808" y="4482941"/>
              <a:ext cx="579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98645" y="4482941"/>
              <a:ext cx="579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596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888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88808" y="48887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记录带卫星数据、桶长度差异大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98645" y="48887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纯整数关键词、追求常数小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6276022" cy="3646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784032" y="1524000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293870" y="1524000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1697355"/>
            <a:chOff x="7114222" y="1524000"/>
            <a:chExt cx="4544378" cy="1697355"/>
          </a:xfrm>
        </p:grpSpPr>
        <p:sp>
          <p:nvSpPr>
            <p:cNvPr id="47" name="Rectangle 47"/>
            <p:cNvSpPr/>
            <p:nvPr/>
          </p:nvSpPr>
          <p:spPr>
            <a:xfrm>
              <a:off x="7114222" y="1524000"/>
              <a:ext cx="4544378" cy="1697355"/>
            </a:xfrm>
            <a:prstGeom prst="roundRect">
              <a:avLst>
                <a:gd name="adj" fmla="val 785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066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980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90320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两者的共同软肋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9770" y="2090738"/>
              <a:ext cx="38456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它们都用一个与值域等长的辅助结构。值域 m 一旦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远大于 n，无论哪种都会被 m 拖垮。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0912" y="2646521"/>
              <a:ext cx="39941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第三部分的基数排序正是为了解决这个问题：把大值域拆成若干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小值域。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7114222" y="3396615"/>
            <a:ext cx="4544378" cy="978218"/>
            <a:chOff x="7114222" y="3396615"/>
            <a:chExt cx="4544378" cy="978218"/>
          </a:xfrm>
        </p:grpSpPr>
        <p:sp>
          <p:nvSpPr>
            <p:cNvPr id="54" name="Rectangle 54"/>
            <p:cNvSpPr/>
            <p:nvPr/>
          </p:nvSpPr>
          <p:spPr>
            <a:xfrm>
              <a:off x="7114222" y="3396615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19010" y="3785235"/>
              <a:ext cx="200026" cy="200026"/>
              <a:chOff x="7319010" y="378523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19010" y="37852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419023" y="3851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407910" y="38852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621714" y="3542348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计数排序的常数更小：全程只有数组下标运算，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没有指针跳转和堆分配，实测比链式桶排序快若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干倍。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7114222" y="4550092"/>
            <a:ext cx="4544378" cy="978218"/>
            <a:chOff x="7114222" y="4550092"/>
            <a:chExt cx="4544378" cy="978218"/>
          </a:xfrm>
        </p:grpSpPr>
        <p:sp>
          <p:nvSpPr>
            <p:cNvPr id="61" name="Rectangle 61"/>
            <p:cNvSpPr/>
            <p:nvPr/>
          </p:nvSpPr>
          <p:spPr>
            <a:xfrm>
              <a:off x="7114222" y="4550092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19010" y="4938713"/>
              <a:ext cx="200026" cy="200025"/>
              <a:chOff x="7319010" y="493871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19010" y="49387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358749" y="49831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393464" y="50942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621714" y="4695825"/>
              <a:ext cx="3537013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计数排序也可以看成“桶里不存元素、只存一个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计数器”的桶排序。理解了一个，另一个只是实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现细节的差别。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8" name="Rectangle 6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3610"/>
              <a:ext cx="6828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选哪个不影响复杂度，只影响常数和实现难度；真正影响复杂度的是 m 与 n 的关系。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计数排序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思考：什么时候该用分布排序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20794" cy="264033"/>
            <a:chOff x="526542" y="1545907"/>
            <a:chExt cx="452079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20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40、41 页的三个问题，先自己判断再看解答。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410200" cy="1934528"/>
            <a:chOff x="533400" y="1928812"/>
            <a:chExt cx="5410200" cy="193452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10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3228" y="2149316"/>
              <a:ext cx="3594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对吉林大学 22 级全体同学按英语考试分数排序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3452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选项：A. 快速排序　　B. 计数排序或桶排序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803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751296"/>
              <a:ext cx="460161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答案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。人数 n 约两万，分数的值域只有 0 到 150，m = 151。n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 ≈ 20151 次基本操作，而快排约需 n·log₂n ≈ 285754 次比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7141" y="3517582"/>
              <a:ext cx="2258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远大于 m，正是分布排序的主场。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28122"/>
            <a:ext cx="5410200" cy="1691640"/>
            <a:chOff x="533400" y="4028122"/>
            <a:chExt cx="5410200" cy="1691640"/>
          </a:xfrm>
        </p:grpSpPr>
        <p:sp>
          <p:nvSpPr>
            <p:cNvPr id="19" name="Rectangle 19"/>
            <p:cNvSpPr/>
            <p:nvPr/>
          </p:nvSpPr>
          <p:spPr>
            <a:xfrm>
              <a:off x="533400" y="4028122"/>
              <a:ext cx="5410200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61472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420909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1096" y="424195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43228" y="424862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对世界各国的人口进行排序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4564856"/>
              <a:ext cx="3452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选项：A. 快速排序　　B. 计数排序或桶排序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2000" y="49025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448" y="4849654"/>
              <a:ext cx="45853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答案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。国家数 n 不到 200，人口值域却到十几亿，m/n 约七百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万倍。开十几亿个桶既放不下也扫不完。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7141" y="5374005"/>
              <a:ext cx="3624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远大于 n 时，分布排序的 O(n+m) 实际上就是 O(m)。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928812"/>
            <a:ext cx="5410200" cy="2412682"/>
            <a:chOff x="6248400" y="1928812"/>
            <a:chExt cx="5410200" cy="2412682"/>
          </a:xfrm>
        </p:grpSpPr>
        <p:sp>
          <p:nvSpPr>
            <p:cNvPr id="29" name="Rectangle 29"/>
            <p:cNvSpPr/>
            <p:nvPr/>
          </p:nvSpPr>
          <p:spPr>
            <a:xfrm>
              <a:off x="6248400" y="1928812"/>
              <a:ext cx="5410200" cy="2412682"/>
            </a:xfrm>
            <a:prstGeom prst="roundRect">
              <a:avLst>
                <a:gd name="adj" fmla="val 5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2062162"/>
              <a:ext cx="47625" cy="21459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74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60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58228" y="2149316"/>
              <a:ext cx="38098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10 个整数排序，每个整数的范围为 [0, 1000)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998" y="2465546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29、257、658、839、236、720、56、237、999、155。n = 10，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1000。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7000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32448" y="2994184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桶排序要 1000 个桶，计数排序要长度 1000 的 cnt 数组，两者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n + m = 1010。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77000" y="35737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2448" y="3521869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直接用快排只要约 33 次比较，反而更划算。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2141" y="3803332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值域大、元素少时，能不能既不开一千个桶、又不做比较？这正是基数排序要回答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的问题。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248400" y="4506278"/>
            <a:ext cx="5410200" cy="1213485"/>
            <a:chOff x="6248400" y="4506278"/>
            <a:chExt cx="5410200" cy="1213485"/>
          </a:xfrm>
        </p:grpSpPr>
        <p:sp>
          <p:nvSpPr>
            <p:cNvPr id="41" name="Rectangle 41"/>
            <p:cNvSpPr/>
            <p:nvPr/>
          </p:nvSpPr>
          <p:spPr>
            <a:xfrm>
              <a:off x="6248400" y="4506278"/>
              <a:ext cx="5410200" cy="1213485"/>
            </a:xfrm>
            <a:prstGeom prst="roundRect">
              <a:avLst>
                <a:gd name="adj" fmla="val 941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013010"/>
              <a:ext cx="200023" cy="200023"/>
              <a:chOff x="6453188" y="501301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0130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86538" y="5079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6273" y="4905851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判断顺序：先看关键词是不是有界非负整数，再看 m 与 n 哪个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大。m 与 n 同阶才用桶排序或计数排序。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“m 远大于 n”并不意味着只能回到比较排序，把关键词拆成几位之后仍然可以做分布排序。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202136" cy="2997517"/>
            <a:chOff x="667512" y="1835468"/>
            <a:chExt cx="520213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922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把一个大值域的关键词拆成 d 位，每位只有 r 种取值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自低位向高位做 d 趟稳定排序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每趟用桶排序或计数排序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15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O(d(n+r))，与值域大小无关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基数排序：关键词由多个域构成，就一位一位地排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842635" cy="3001328"/>
            <a:chOff x="533400" y="1524000"/>
            <a:chExt cx="5842635" cy="3001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001328"/>
            </a:xfrm>
            <a:prstGeom prst="roundRect">
              <a:avLst>
                <a:gd name="adj" fmla="val 4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346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962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基数排序（Radix Sort）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4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设元素的关键词由 d 个域构成，从高位到低位依次记作：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0"/>
                <p:cNvSpPr txBox="1">
                  <a:spLocks noGrp="1"/>
                </p:cNvSpPr>
                <p:nvPr/>
              </p:nvSpPr>
              <p:spPr>
                <a:xfrm>
                  <a:off x="752475" y="2325052"/>
                  <a:ext cx="544258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2846546"/>
              <a:ext cx="5166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从最低位的那个域 K₁ 起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自低位向高位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，依次以各个域为关键词对整个文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件做一趟稳定排序，d 趟之后文件即有序。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427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374231"/>
              <a:ext cx="5027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每个域为一位十进制数字（0 到 9）时，关键词就是 d 位十进制数，基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 r = 10。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9547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901916"/>
              <a:ext cx="5027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每个域为一个英文字母时，关键词就是 d 个字母组成的单词，基数 r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690110"/>
            <a:ext cx="5842635" cy="1017270"/>
            <a:chOff x="533400" y="4690110"/>
            <a:chExt cx="5842635" cy="1017270"/>
          </a:xfrm>
        </p:grpSpPr>
        <p:sp>
          <p:nvSpPr>
            <p:cNvPr id="20" name="Rectangle 20"/>
            <p:cNvSpPr/>
            <p:nvPr/>
          </p:nvSpPr>
          <p:spPr>
            <a:xfrm>
              <a:off x="533400" y="4690110"/>
              <a:ext cx="5842635" cy="1017270"/>
            </a:xfrm>
            <a:prstGeom prst="roundRect">
              <a:avLst>
                <a:gd name="adj" fmla="val 1123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098735"/>
              <a:ext cx="200023" cy="200023"/>
              <a:chOff x="738188" y="5098735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0987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165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1273" y="4991576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这种自低位向高位的做法称为 LSD（Least Significant Digit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first），本讲讨论的就是它。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7766685" y="1524000"/>
            <a:ext cx="2807018" cy="2387631"/>
            <a:chOff x="7766685" y="1524000"/>
            <a:chExt cx="2807018" cy="2387631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6" r="0" b="5"/>
            <a:stretch>
              <a:fillRect/>
            </a:stretch>
          </p:blipFill>
          <p:spPr>
            <a:xfrm>
              <a:off x="7766685" y="1524000"/>
              <a:ext cx="2807018" cy="2105025"/>
            </a:xfrm>
            <a:prstGeom prst="roundRect">
              <a:avLst>
                <a:gd name="adj" fmla="val 6334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901558" y="3720941"/>
              <a:ext cx="25363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同一叠卡片反复过机器 d 遍，每遍只看一位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680835" y="4057650"/>
            <a:ext cx="4977765" cy="1649730"/>
            <a:chOff x="6680835" y="4057650"/>
            <a:chExt cx="4977765" cy="1649730"/>
          </a:xfrm>
        </p:grpSpPr>
        <p:sp>
          <p:nvSpPr>
            <p:cNvPr id="29" name="Rectangle 29"/>
            <p:cNvSpPr/>
            <p:nvPr/>
          </p:nvSpPr>
          <p:spPr>
            <a:xfrm>
              <a:off x="6680835" y="4057650"/>
              <a:ext cx="4977765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4191000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99910" y="42386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2582" y="42714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6838" y="4278154"/>
              <a:ext cx="2711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Herman Hollerith（1860—1929）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3433" y="4594384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他为 1890 年美国人口普查发明了打孔卡制表机，用机械方式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按卡片上某一列的孔位把卡片分到不同托盘里，再按托盘顺序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收拢。基数排序就是这套流程的算法化。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94576" y="5361622"/>
              <a:ext cx="4015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他创办的制表机公司后来并入 IBM，因此被称为 IBM 公司之父。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6039326"/>
              <a:ext cx="8456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关键词能不能拆位，是能不能用基数排序的唯一门槛。整数按十进制位拆，字符串按字符拆，日期按年月日拆。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为什么从最低位开始：高位相等时，低位的次序已经排好了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593988" cy="278702"/>
            <a:chOff x="526161" y="1547336"/>
            <a:chExt cx="759398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5939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七个三位数 29、257、658、839、236、720、155（29 视作 029），三趟之后就是升序。</a:t>
              </a:r>
            </a:p>
          </p:txBody>
        </p:sp>
      </p:grpSp>
      <p:grpSp>
        <p:nvGrpSpPr>
          <p:cNvPr id="63" name="c1-table-1"/>
          <p:cNvGrpSpPr/>
          <p:nvPr/>
        </p:nvGrpSpPr>
        <p:grpSpPr>
          <a:xfrm>
            <a:off x="528066" y="1941195"/>
            <a:ext cx="6065139" cy="3526726"/>
            <a:chOff x="528066" y="1941195"/>
            <a:chExt cx="6065139" cy="352672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7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原始序列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31518" y="206549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按个位排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45993" y="206549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按十位排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60468" y="206549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按百位排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7888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63315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87302" y="2356485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77790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029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7702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7888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63315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87302" y="2762250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7790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537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2827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47888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63315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087302" y="3168015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77790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59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5642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36885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47888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63315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087302" y="3573780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177790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652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09432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47888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63315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087302" y="3979545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177790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3710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37578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450008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47888" y="45000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63315" y="45000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087302" y="4385310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77790" y="45000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7767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3412" y="490585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47888" y="49058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63315" y="49058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87302" y="4791075"/>
              <a:ext cx="14954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77790" y="49058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941195"/>
              <a:ext cx="6059805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043112" y="194119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558540" y="194119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073015" y="194119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8066" y="526256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每一趟都对整个序列做一次稳定排序</a:t>
              </a:r>
            </a:p>
          </p:txBody>
        </p:sp>
      </p:grpSp>
      <p:grpSp>
        <p:nvGrpSpPr>
          <p:cNvPr id="77" name="c2-card-1"/>
          <p:cNvGrpSpPr/>
          <p:nvPr/>
        </p:nvGrpSpPr>
        <p:grpSpPr>
          <a:xfrm>
            <a:off x="6898005" y="1941195"/>
            <a:ext cx="4760595" cy="2609850"/>
            <a:chOff x="6898005" y="1941195"/>
            <a:chExt cx="4760595" cy="2609850"/>
          </a:xfrm>
        </p:grpSpPr>
        <p:sp>
          <p:nvSpPr>
            <p:cNvPr id="64" name="Rectangle 64"/>
            <p:cNvSpPr/>
            <p:nvPr/>
          </p:nvSpPr>
          <p:spPr>
            <a:xfrm>
              <a:off x="6898005" y="1941195"/>
              <a:ext cx="4760595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07530" y="2074545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28510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15950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45552" y="21736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归纳法一句话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21652" y="250793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假设前 k−1 趟之后，序列已按低 k−1 位有序。第 k 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按第 k 位做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排序后：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127558" y="30556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83236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08354" y="3068002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位不同的两个元素，按第 k 位正确分开。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127558" y="335756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83236" y="33969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08354" y="3369945"/>
              <a:ext cx="38113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位相同的两个元素，稳定性保证它们保持上一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趟的相对次序，而那个次序正是按低 k−1 位排好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22795" y="4182904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于是序列按低 k 位有序。k 从 1 递推到 d，全部 d 位有序。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898005" y="4726305"/>
            <a:ext cx="4760595" cy="729615"/>
            <a:chOff x="6898005" y="4726305"/>
            <a:chExt cx="4760595" cy="729615"/>
          </a:xfrm>
        </p:grpSpPr>
        <p:sp>
          <p:nvSpPr>
            <p:cNvPr id="78" name="Rectangle 78"/>
            <p:cNvSpPr/>
            <p:nvPr/>
          </p:nvSpPr>
          <p:spPr>
            <a:xfrm>
              <a:off x="6898005" y="472630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102793" y="4991102"/>
              <a:ext cx="200023" cy="200023"/>
              <a:chOff x="7102793" y="4991102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102793" y="49911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236143" y="5057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405497" y="4872990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十位相等的元素，个位小的靠前；百位相等的元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素，十位小的靠前。这就是上面两条的通俗说法。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4" name="Rectangle 8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892" y="6023610"/>
              <a:ext cx="5901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位数不足的元素高位补 0，例如 29 参加第三趟时百位是 0，排在最前面。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每一趟都必须稳定，否则前面几趟白排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ard-1"/>
          <p:cNvGrpSpPr/>
          <p:nvPr/>
        </p:nvGrpSpPr>
        <p:grpSpPr>
          <a:xfrm>
            <a:off x="533400" y="1524000"/>
            <a:ext cx="5410200" cy="3001328"/>
            <a:chOff x="533400" y="1524000"/>
            <a:chExt cx="5410200" cy="3001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001328"/>
            </a:xfrm>
            <a:prstGeom prst="roundRect">
              <a:avLst>
                <a:gd name="adj" fmla="val 4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346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某一趟不稳定会发生什么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21、12、11、22 做两趟基数排序（r = 10，d = 2）。若某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一趟的桶内元素倒着取出，就不再稳定。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3905" y="2627948"/>
              <a:ext cx="498729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6056" y="2752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26424" y="27522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稳定版本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45267" y="275224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桶内倒序的版本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3918" y="315801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个位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61198" y="3158014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21 11 12 22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06202" y="3158014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11 21 22 12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3905" y="343471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343947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3918" y="35637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十位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70710" y="3449002"/>
              <a:ext cx="192595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61198" y="3563779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11 12 21 22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5715" y="3449002"/>
              <a:ext cx="192595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06202" y="3563779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12 11 22 21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3905" y="2627948"/>
              <a:ext cx="498729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56422" y="262794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01428" y="262794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8190" y="3950494"/>
              <a:ext cx="46911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右列的结果 12 11 22 21 根本不是升序。第二趟把十位分对了，却把第一趟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排好的个位次序打乱了。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700588"/>
            <a:ext cx="5410200" cy="729615"/>
            <a:chOff x="533400" y="4700588"/>
            <a:chExt cx="5410200" cy="729615"/>
          </a:xfrm>
        </p:grpSpPr>
        <p:sp>
          <p:nvSpPr>
            <p:cNvPr id="32" name="Rectangle 32"/>
            <p:cNvSpPr/>
            <p:nvPr/>
          </p:nvSpPr>
          <p:spPr>
            <a:xfrm>
              <a:off x="533400" y="470058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965385"/>
              <a:ext cx="200023" cy="200023"/>
              <a:chOff x="738188" y="4965385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9653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0320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484727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所以桶排序的桶必须是队列，计数排序必须从右往左回填。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第一、二部分反复强调的稳定性，到这里才真正派上用场。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2095500"/>
            <a:chOff x="6248400" y="1524000"/>
            <a:chExt cx="5410200" cy="2095500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20955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选型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62597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每一位用哪种排序方法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87478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43497" y="209073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要求：高效且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87478" y="24488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3497" y="2392680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特点：每一位的关键词都是整数，且落在 [0, r) 这个很小的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范围内。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87478" y="3008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497" y="29527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方法：桶排序或计数排序，正好都满足。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3190" y="3251359"/>
              <a:ext cx="4949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10 时只要 10 个桶或长度 10 的 cnt 数组，无论原始值域多大都不变。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3794760"/>
            <a:ext cx="5410200" cy="1635442"/>
            <a:chOff x="6248400" y="3794760"/>
            <a:chExt cx="5410200" cy="1635442"/>
          </a:xfrm>
        </p:grpSpPr>
        <p:sp>
          <p:nvSpPr>
            <p:cNvPr id="51" name="Rectangle 51"/>
            <p:cNvSpPr/>
            <p:nvPr/>
          </p:nvSpPr>
          <p:spPr>
            <a:xfrm>
              <a:off x="6248400" y="3794760"/>
              <a:ext cx="5410200" cy="1635442"/>
            </a:xfrm>
            <a:prstGeom prst="roundRect">
              <a:avLst>
                <a:gd name="adj" fmla="val 81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928110"/>
              <a:ext cx="47625" cy="13687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8905" y="39871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0345" y="4021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提示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62597" y="4027170"/>
              <a:ext cx="1361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 m 去哪了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2047" y="436054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单趟的值域是 r 而不是 m，所以单趟代价是 O(n+r)；代价换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成了要做 d 趟，总共 O(d(n+r))。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3190" y="4917281"/>
              <a:ext cx="4255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d 趟小值域，换掉一趟大值域，这就是基数排序的全部交易。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把这条写进笔记：基数排序的正确性依赖子过程的稳定性，不是依赖子过程的速度。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3073" cy="909257"/>
            <a:chOff x="520446" y="342900"/>
            <a:chExt cx="4903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3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示例第 ① 趟：按个位分配与收集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56873" cy="264033"/>
            <a:chOff x="526542" y="1545907"/>
            <a:chExt cx="515687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56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初始序列 29、257、658、839、236、720、155，桶号取个位。</a:t>
              </a:r>
            </a:p>
          </p:txBody>
        </p:sp>
      </p:grpSp>
      <p:grpSp>
        <p:nvGrpSpPr>
          <p:cNvPr id="46" name="c1-cells-1"/>
          <p:cNvGrpSpPr/>
          <p:nvPr/>
        </p:nvGrpSpPr>
        <p:grpSpPr>
          <a:xfrm>
            <a:off x="528066" y="1928812"/>
            <a:ext cx="3919157" cy="1039178"/>
            <a:chOff x="528066" y="1928812"/>
            <a:chExt cx="3919157" cy="1039178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993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35418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58146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37385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6011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39352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2081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41320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64048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3288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66016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45255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6798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83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0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277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474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5670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867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6064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066" y="2724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个位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3450" y="2611755"/>
              <a:ext cx="50196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3780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35418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3977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37385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41743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39352" y="2611755"/>
              <a:ext cx="50196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643711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941320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4567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443288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4764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45255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149613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97" name="c1-cells-2"/>
          <p:cNvGrpSpPr/>
          <p:nvPr/>
        </p:nvGrpSpPr>
        <p:grpSpPr>
          <a:xfrm>
            <a:off x="528638" y="3132772"/>
            <a:ext cx="5062536" cy="1360171"/>
            <a:chOff x="528638" y="3132772"/>
            <a:chExt cx="5062536" cy="1360171"/>
          </a:xfrm>
        </p:grpSpPr>
        <p:sp>
          <p:nvSpPr>
            <p:cNvPr id="47" name="TextBox 47"/>
            <p:cNvSpPr txBox="1"/>
            <p:nvPr/>
          </p:nvSpPr>
          <p:spPr>
            <a:xfrm>
              <a:off x="528638" y="325469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087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36493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6045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834515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030036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304098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499618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77368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96920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4326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3878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712845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08366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182428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377948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5201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4753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2159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1711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8638" y="37566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先入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95350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20902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364932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834515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2304098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2773680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3243262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368814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712845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838397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182428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307979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652010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777562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121592" y="3634740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282129" y="3756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28638" y="42586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后入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9535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136493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1834515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2304098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277368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324326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3712845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4182428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465201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121592" y="4136708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247144" y="4258628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</p:grpSp>
      <p:grpSp>
        <p:nvGrpSpPr>
          <p:cNvPr id="120" name="c1-cells-3"/>
          <p:cNvGrpSpPr/>
          <p:nvPr/>
        </p:nvGrpSpPr>
        <p:grpSpPr>
          <a:xfrm>
            <a:off x="528066" y="4657725"/>
            <a:ext cx="3919157" cy="571976"/>
            <a:chOff x="528066" y="4657725"/>
            <a:chExt cx="3919157" cy="571976"/>
          </a:xfrm>
        </p:grpSpPr>
        <p:sp>
          <p:nvSpPr>
            <p:cNvPr id="98" name="TextBox 98"/>
            <p:cNvSpPr txBox="1"/>
            <p:nvPr/>
          </p:nvSpPr>
          <p:spPr>
            <a:xfrm>
              <a:off x="528066" y="47701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收集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33450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56178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435418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558146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937385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060113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439352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562081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2941320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064048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443288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606831" y="477012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3945255" y="465772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4067983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48838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650806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2152773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654741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3156708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3658676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4160643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30" name="c2-steps-1"/>
          <p:cNvGrpSpPr/>
          <p:nvPr/>
        </p:nvGrpSpPr>
        <p:grpSpPr>
          <a:xfrm>
            <a:off x="7114222" y="1938338"/>
            <a:ext cx="3442278" cy="1043559"/>
            <a:chOff x="7114222" y="1938338"/>
            <a:chExt cx="3442278" cy="1043559"/>
          </a:xfrm>
        </p:grpSpPr>
        <p:sp>
          <p:nvSpPr>
            <p:cNvPr id="121" name="Rectangle 121"/>
            <p:cNvSpPr/>
            <p:nvPr/>
          </p:nvSpPr>
          <p:spPr>
            <a:xfrm>
              <a:off x="7247572" y="2081212"/>
              <a:ext cx="19050" cy="5534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7114222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207846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7114222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7207846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526846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7527988" y="2223135"/>
              <a:ext cx="3028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按个位入桶：29 与 839 的个位都是 9，都进桶 9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526846" y="25217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527988" y="277653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从桶 0 扫到桶 9，把各桶队列依次接起来</a:t>
              </a:r>
            </a:p>
          </p:txBody>
        </p:sp>
      </p:grpSp>
      <p:grpSp>
        <p:nvGrpSpPr>
          <p:cNvPr id="138" name="c2-card-2"/>
          <p:cNvGrpSpPr/>
          <p:nvPr/>
        </p:nvGrpSpPr>
        <p:grpSpPr>
          <a:xfrm>
            <a:off x="7114222" y="3143250"/>
            <a:ext cx="4544378" cy="1600200"/>
            <a:chOff x="7114222" y="3143250"/>
            <a:chExt cx="4544378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7114222" y="3143250"/>
              <a:ext cx="4544378" cy="1600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7123748" y="3276600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7333298" y="332422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421918" y="335708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看这里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024051" y="3363754"/>
              <a:ext cx="1907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9 里为什么是 29 在前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326820" y="3680936"/>
              <a:ext cx="3711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 在原序列中排第 1，839 排第 4。分配时 29 先入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队，收集时也先出队。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327964" y="4204335"/>
              <a:ext cx="38778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这一趟只看个位。收集后序列按个位递增，个位相同的保持原来的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先后。</a:t>
              </a:r>
            </a:p>
          </p:txBody>
        </p:sp>
      </p:grpSp>
      <p:grpSp>
        <p:nvGrpSpPr>
          <p:cNvPr id="144" name="c2-callout-3"/>
          <p:cNvGrpSpPr/>
          <p:nvPr/>
        </p:nvGrpSpPr>
        <p:grpSpPr>
          <a:xfrm>
            <a:off x="7114222" y="4908232"/>
            <a:ext cx="4544378" cy="702945"/>
            <a:chOff x="7114222" y="4908232"/>
            <a:chExt cx="4544378" cy="702945"/>
          </a:xfrm>
        </p:grpSpPr>
        <p:sp>
          <p:nvSpPr>
            <p:cNvPr id="139" name="Rectangle 139"/>
            <p:cNvSpPr/>
            <p:nvPr/>
          </p:nvSpPr>
          <p:spPr>
            <a:xfrm>
              <a:off x="7114222" y="4908232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319010" y="5158742"/>
              <a:ext cx="200023" cy="200023"/>
              <a:chOff x="7319010" y="5158742"/>
              <a:chExt cx="200023" cy="200023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7319010" y="51587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7452360" y="5225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7622096" y="5052536"/>
              <a:ext cx="35567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空桶 1、2、3、4 直接跳过，但仍要扫过，这就是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每趟代价里那个 r。</a:t>
              </a:r>
            </a:p>
          </p:txBody>
        </p:sp>
      </p:grpSp>
      <p:grpSp>
        <p:nvGrpSpPr>
          <p:cNvPr id="1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45" name="Rectangle 1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1041273" y="6039326"/>
              <a:ext cx="5414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位数不足的元素高位补 0，例如 29 写成 029，参加第三趟时百位是 0。</a:t>
              </a:r>
            </a:p>
          </p:txBody>
        </p:sp>
      </p:grpSp>
      <p:grpSp>
        <p:nvGrpSpPr>
          <p:cNvPr id="1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2" name="TextBox 15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3073" cy="909257"/>
            <a:chOff x="520446" y="342900"/>
            <a:chExt cx="4903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3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示例第 ② 趟：按十位分配与收集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92819" cy="264033"/>
            <a:chOff x="526542" y="1545907"/>
            <a:chExt cx="60928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92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输入是第 ① 趟的结果 720、155、236、257、658、29、839，桶号取十位。</a:t>
              </a:r>
            </a:p>
          </p:txBody>
        </p:sp>
      </p:grpSp>
      <p:grpSp>
        <p:nvGrpSpPr>
          <p:cNvPr id="46" name="c1-cells-1"/>
          <p:cNvGrpSpPr/>
          <p:nvPr/>
        </p:nvGrpSpPr>
        <p:grpSpPr>
          <a:xfrm>
            <a:off x="528066" y="1928812"/>
            <a:ext cx="3919157" cy="1039178"/>
            <a:chOff x="528066" y="1928812"/>
            <a:chExt cx="3919157" cy="1039178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6178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35418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58146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37385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6011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39352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2081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41320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64048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3288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06831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45255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6798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83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0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277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474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5670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867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6064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066" y="2724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十位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3450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3780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35418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3977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37385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41743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39352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643711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941320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4567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443288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4764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45255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149613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08" name="c1-cells-2"/>
          <p:cNvGrpSpPr/>
          <p:nvPr/>
        </p:nvGrpSpPr>
        <p:grpSpPr>
          <a:xfrm>
            <a:off x="528638" y="3132772"/>
            <a:ext cx="5062536" cy="1862138"/>
            <a:chOff x="528638" y="3132772"/>
            <a:chExt cx="5062536" cy="1862138"/>
          </a:xfrm>
        </p:grpSpPr>
        <p:sp>
          <p:nvSpPr>
            <p:cNvPr id="47" name="TextBox 47"/>
            <p:cNvSpPr txBox="1"/>
            <p:nvPr/>
          </p:nvSpPr>
          <p:spPr>
            <a:xfrm>
              <a:off x="528638" y="325469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087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36493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6045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834515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030036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304098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499618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77368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96920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4326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3878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712845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08366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182428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377948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5201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4753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2159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1711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8638" y="37566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先入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95350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364932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834515" y="3634740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960067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2304098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429649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773680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3243262" y="3634740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368814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712845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4182428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4652010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121592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8638" y="42586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次入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9535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36493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1834515" y="4136708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995051" y="4258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304098" y="4136708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429649" y="4258628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77368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3243262" y="4136708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368814" y="4258628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712845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4182428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465201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12159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28638" y="47605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后入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95350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1364932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1834515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2304098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2773680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3243262" y="4638675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368814" y="476059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3712845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4182428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4652010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5121592" y="4638675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131" name="c1-cells-3"/>
          <p:cNvGrpSpPr/>
          <p:nvPr/>
        </p:nvGrpSpPr>
        <p:grpSpPr>
          <a:xfrm>
            <a:off x="528066" y="5159692"/>
            <a:ext cx="3919157" cy="571977"/>
            <a:chOff x="528066" y="5159692"/>
            <a:chExt cx="3919157" cy="571977"/>
          </a:xfrm>
        </p:grpSpPr>
        <p:sp>
          <p:nvSpPr>
            <p:cNvPr id="109" name="TextBox 109"/>
            <p:cNvSpPr txBox="1"/>
            <p:nvPr/>
          </p:nvSpPr>
          <p:spPr>
            <a:xfrm>
              <a:off x="528066" y="5272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收集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33450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56178" y="5272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435418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598961" y="527208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1937385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2060113" y="5272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2439352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2562081" y="5272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2941320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3064048" y="5272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3443288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3566016" y="5272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3945255" y="515969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4067983" y="5272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48838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650806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2152773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654741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3156708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3658676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4160643" y="55697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53" name="c2-table-1"/>
          <p:cNvGrpSpPr/>
          <p:nvPr/>
        </p:nvGrpSpPr>
        <p:grpSpPr>
          <a:xfrm>
            <a:off x="7109270" y="1928812"/>
            <a:ext cx="4549330" cy="2162842"/>
            <a:chOff x="7109270" y="1928812"/>
            <a:chExt cx="4549330" cy="2162842"/>
          </a:xfrm>
        </p:grpSpPr>
        <p:sp>
          <p:nvSpPr>
            <p:cNvPr id="132" name="Rectangle 132"/>
            <p:cNvSpPr/>
            <p:nvPr/>
          </p:nvSpPr>
          <p:spPr>
            <a:xfrm>
              <a:off x="7114222" y="1928812"/>
              <a:ext cx="454437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33044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832542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桶内元素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37558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208901" y="25203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935659" y="2520315"/>
              <a:ext cx="540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720、29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9480614" y="2426970"/>
              <a:ext cx="19842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两者十位都是 2，720 在上一趟结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果中靠前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7114222" y="28736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7114222" y="2878455"/>
              <a:ext cx="454437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7208901" y="3088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935659" y="308895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236、839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9480614" y="2995612"/>
              <a:ext cx="19842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十位都是 3，236 在上一趟结果中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靠前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7114222" y="34413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7208901" y="3563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7850505" y="3455670"/>
              <a:ext cx="152590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935659" y="356330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155、257、658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9480614" y="3563302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十位都是 5，按上一趟的先后排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7114222" y="1928812"/>
              <a:ext cx="4544378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7836218" y="1928812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9381172" y="1928812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7109270" y="390096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桶内为什么是这个顺序</a:t>
              </a:r>
            </a:p>
          </p:txBody>
        </p:sp>
      </p:grpSp>
      <p:grpSp>
        <p:nvGrpSpPr>
          <p:cNvPr id="159" name="c2-callout-2"/>
          <p:cNvGrpSpPr/>
          <p:nvPr/>
        </p:nvGrpSpPr>
        <p:grpSpPr>
          <a:xfrm>
            <a:off x="7114222" y="4217670"/>
            <a:ext cx="4544378" cy="1479232"/>
            <a:chOff x="7114222" y="4217670"/>
            <a:chExt cx="4544378" cy="1479232"/>
          </a:xfrm>
        </p:grpSpPr>
        <p:sp>
          <p:nvSpPr>
            <p:cNvPr id="154" name="Rectangle 154"/>
            <p:cNvSpPr/>
            <p:nvPr/>
          </p:nvSpPr>
          <p:spPr>
            <a:xfrm>
              <a:off x="7114222" y="4217670"/>
              <a:ext cx="4544378" cy="1479232"/>
            </a:xfrm>
            <a:prstGeom prst="roundRect">
              <a:avLst>
                <a:gd name="adj" fmla="val 772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7319010" y="4857752"/>
              <a:ext cx="200023" cy="200023"/>
              <a:chOff x="7319010" y="4857752"/>
              <a:chExt cx="200023" cy="200023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7319010" y="48577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7452360" y="4924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7622096" y="4633436"/>
              <a:ext cx="369493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 5 里的 155、257、658 个位依次是 5、7、8，已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经递增。这就是稳定性把第 ① 趟的成果带进第 ② 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的效果。</a:t>
              </a:r>
            </a:p>
          </p:txBody>
        </p:sp>
      </p:grpSp>
      <p:grpSp>
        <p:nvGrpSpPr>
          <p:cNvPr id="1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60" name="Rectangle 1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4" name="Group 16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2" name="Freeform 16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3" name="Freeform 16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5" name="TextBox 165"/>
            <p:cNvSpPr txBox="1"/>
            <p:nvPr/>
          </p:nvSpPr>
          <p:spPr>
            <a:xfrm>
              <a:off x="1041273" y="6039326"/>
              <a:ext cx="7215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这一趟结束时，序列按“十位、个位”两位组成的两位数有序：20、29、36、39、55、57、58。</a:t>
              </a:r>
            </a:p>
          </p:txBody>
        </p:sp>
      </p:grpSp>
      <p:grpSp>
        <p:nvGrpSpPr>
          <p:cNvPr id="1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7" name="TextBox 16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示例第 ③ 趟：按百位分配，收集完就排好了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92149" cy="264033"/>
            <a:chOff x="526542" y="1545907"/>
            <a:chExt cx="759214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92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输入是第 ② 趟的结果 720、29、236、839、155、257、658，桶号取百位（29 的百位是 0）。</a:t>
              </a:r>
            </a:p>
          </p:txBody>
        </p:sp>
      </p:grpSp>
      <p:grpSp>
        <p:nvGrpSpPr>
          <p:cNvPr id="46" name="c1-cells-1"/>
          <p:cNvGrpSpPr/>
          <p:nvPr/>
        </p:nvGrpSpPr>
        <p:grpSpPr>
          <a:xfrm>
            <a:off x="528066" y="1928812"/>
            <a:ext cx="3919157" cy="1039178"/>
            <a:chOff x="528066" y="1928812"/>
            <a:chExt cx="3919157" cy="1039178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6178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35418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98961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37385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6011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39352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2081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41320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64048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3288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66016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45255" y="1928812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6798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83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0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277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474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5670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867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6064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066" y="2724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百位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3450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3780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35418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3977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37385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41743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39352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643711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941320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4567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443288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4764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45255" y="2611755"/>
              <a:ext cx="5019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149613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97" name="c1-cells-2"/>
          <p:cNvGrpSpPr/>
          <p:nvPr/>
        </p:nvGrpSpPr>
        <p:grpSpPr>
          <a:xfrm>
            <a:off x="528638" y="3132772"/>
            <a:ext cx="5062536" cy="1360171"/>
            <a:chOff x="528638" y="3132772"/>
            <a:chExt cx="5062536" cy="1360171"/>
          </a:xfrm>
        </p:grpSpPr>
        <p:sp>
          <p:nvSpPr>
            <p:cNvPr id="47" name="TextBox 47"/>
            <p:cNvSpPr txBox="1"/>
            <p:nvPr/>
          </p:nvSpPr>
          <p:spPr>
            <a:xfrm>
              <a:off x="528638" y="325469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087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36493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6045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834515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030036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304098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499618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77368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96920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4326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3878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712845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08366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182428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377948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52010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47531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21592" y="3132772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17113" y="32546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8638" y="37566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先入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95350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55886" y="3756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364932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90484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834515" y="3634740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960067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304098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773680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3243262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3712845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838397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182428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307979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652010" y="3634740"/>
              <a:ext cx="4695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77562" y="375666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121592" y="3634740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28638" y="42586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后入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9535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136493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1834515" y="4136708"/>
              <a:ext cx="46958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960067" y="4258628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304098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277368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324326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3712845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4182428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4652010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5121592" y="4136708"/>
              <a:ext cx="46958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120" name="c1-cells-3"/>
          <p:cNvGrpSpPr/>
          <p:nvPr/>
        </p:nvGrpSpPr>
        <p:grpSpPr>
          <a:xfrm>
            <a:off x="528066" y="4657725"/>
            <a:ext cx="3919157" cy="571976"/>
            <a:chOff x="528066" y="4657725"/>
            <a:chExt cx="3919157" cy="571976"/>
          </a:xfrm>
        </p:grpSpPr>
        <p:sp>
          <p:nvSpPr>
            <p:cNvPr id="98" name="TextBox 98"/>
            <p:cNvSpPr txBox="1"/>
            <p:nvPr/>
          </p:nvSpPr>
          <p:spPr>
            <a:xfrm>
              <a:off x="528066" y="47701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33450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96993" y="477012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435418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558146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937385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060113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439352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562081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2941320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064048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443288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566016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3945255" y="4657725"/>
              <a:ext cx="5019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4067983" y="47701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48838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650806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2152773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654741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3156708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3658676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4160643" y="5067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24" name="c2-card-1"/>
          <p:cNvGrpSpPr/>
          <p:nvPr/>
        </p:nvGrpSpPr>
        <p:grpSpPr>
          <a:xfrm>
            <a:off x="7114222" y="1928812"/>
            <a:ext cx="4544378" cy="824865"/>
            <a:chOff x="7114222" y="1928812"/>
            <a:chExt cx="4544378" cy="824865"/>
          </a:xfrm>
        </p:grpSpPr>
        <p:sp>
          <p:nvSpPr>
            <p:cNvPr id="121" name="Rectangle 121"/>
            <p:cNvSpPr/>
            <p:nvPr/>
          </p:nvSpPr>
          <p:spPr>
            <a:xfrm>
              <a:off x="7114222" y="1928812"/>
              <a:ext cx="4544378" cy="824865"/>
            </a:xfrm>
            <a:prstGeom prst="roundRect">
              <a:avLst>
                <a:gd name="adj" fmla="val 161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7123748" y="2062162"/>
              <a:ext cx="47625" cy="5581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326820" y="2130266"/>
              <a:ext cx="3833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 2 里 236 与 257 的百位都是 2，靠上一趟排好的十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位（3 &lt; 5）分出先后，不需要再比较。</a:t>
              </a:r>
            </a:p>
          </p:txBody>
        </p:sp>
      </p:grpSp>
      <p:grpSp>
        <p:nvGrpSpPr>
          <p:cNvPr id="131" name="c2-card-2"/>
          <p:cNvGrpSpPr/>
          <p:nvPr/>
        </p:nvGrpSpPr>
        <p:grpSpPr>
          <a:xfrm>
            <a:off x="7114222" y="2918460"/>
            <a:ext cx="4544378" cy="1843088"/>
            <a:chOff x="7114222" y="2918460"/>
            <a:chExt cx="4544378" cy="1843088"/>
          </a:xfrm>
        </p:grpSpPr>
        <p:sp>
          <p:nvSpPr>
            <p:cNvPr id="125" name="Rectangle 125"/>
            <p:cNvSpPr/>
            <p:nvPr/>
          </p:nvSpPr>
          <p:spPr>
            <a:xfrm>
              <a:off x="7114222" y="2918460"/>
              <a:ext cx="4544378" cy="1843088"/>
            </a:xfrm>
            <a:prstGeom prst="roundRect">
              <a:avLst>
                <a:gd name="adj" fmla="val 723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295198" y="30994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386917" y="31322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861173" y="3138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三趟结果已逐趟验证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288720" y="3456146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复核脚本按位分桶重算了三趟的桶内容和收集结果，与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源课件第 46 到 90 页的每一张图一致；C 程序</a:t>
              </a:r>
              <a:br/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RadixSort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取 d = 1、2、3 跑出的中间结果也对得上。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289864" y="4222432"/>
              <a:ext cx="248431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脚本 decks/ds/ds_l21_verify.py，代码</a:t>
              </a:r>
              <a:br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decks/ds/ds_l21_code.c</a:t>
              </a:r>
            </a:p>
          </p:txBody>
        </p:sp>
      </p:grpSp>
      <p:grpSp>
        <p:nvGrpSpPr>
          <p:cNvPr id="138" name="c2-callout-3"/>
          <p:cNvGrpSpPr/>
          <p:nvPr/>
        </p:nvGrpSpPr>
        <p:grpSpPr>
          <a:xfrm>
            <a:off x="7114222" y="4926330"/>
            <a:ext cx="4544378" cy="702945"/>
            <a:chOff x="7114222" y="4926330"/>
            <a:chExt cx="4544378" cy="702945"/>
          </a:xfrm>
        </p:grpSpPr>
        <p:sp>
          <p:nvSpPr>
            <p:cNvPr id="132" name="Rectangle 132"/>
            <p:cNvSpPr/>
            <p:nvPr/>
          </p:nvSpPr>
          <p:spPr>
            <a:xfrm>
              <a:off x="7114222" y="4926330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7319010" y="5176838"/>
              <a:ext cx="200026" cy="200026"/>
              <a:chOff x="7319010" y="5176838"/>
              <a:chExt cx="200026" cy="200026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319010" y="5176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7419023" y="5243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7407910" y="52768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7622096" y="5070634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三趟一共做了 3 次分配和 3 次收集，元素被搬动 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次，但一次关键词比较也没有做过。</a:t>
              </a:r>
            </a:p>
          </p:txBody>
        </p:sp>
      </p:grpSp>
      <p:grpSp>
        <p:nvGrpSpPr>
          <p:cNvPr id="14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39" name="Rectangle 1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1041273" y="6039326"/>
              <a:ext cx="6879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趟做完就结束，不需要检查是否已经有序。基数排序的趟数只由位数决定，与数据无关。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5" name="TextBox 14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9660" cy="909257"/>
            <a:chOff x="520446" y="342900"/>
            <a:chExt cx="6299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9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基数排序的 C 实现：每趟做一次计数排序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294698"/>
            <a:chOff x="533400" y="1524000"/>
            <a:chExt cx="6276022" cy="32946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294698"/>
            </a:xfrm>
            <a:prstGeom prst="roundRect">
              <a:avLst>
                <a:gd name="adj" fmla="val 28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基于计数排序的基数排序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613785" cy="2790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RADIX 10            /* 基数 r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MAXN  2000          /* 元素个数上限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RadixSort(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d)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每个元素含 d 位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B[MAXN+1], K[MAXN+1];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K 存放当前位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cnt[RADIX];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base = 1, k, i;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1; k &lt;= d; k++) {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对第 k 位排序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RADIX; i++) cnt[i] = 0;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K[i] = (R[i]/base) % RADIX;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cnt[K[i]]++;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 RADIX; i++) cnt[i] += cnt[i-1];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n; i &gt;= 1; i--) B[cnt[K[i]]--] = R[i];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R[i] = B[i];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base *= RADIX;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988242"/>
            <a:ext cx="6276022" cy="712470"/>
            <a:chOff x="533400" y="4988242"/>
            <a:chExt cx="6276022" cy="712470"/>
          </a:xfrm>
        </p:grpSpPr>
        <p:sp>
          <p:nvSpPr>
            <p:cNvPr id="11" name="Rectangle 11"/>
            <p:cNvSpPr/>
            <p:nvPr/>
          </p:nvSpPr>
          <p:spPr>
            <a:xfrm>
              <a:off x="533400" y="4988242"/>
              <a:ext cx="6276022" cy="712470"/>
            </a:xfrm>
            <a:prstGeom prst="roundRect">
              <a:avLst>
                <a:gd name="adj" fmla="val 1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121592"/>
              <a:ext cx="47625" cy="4457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517493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6811" y="520779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不变式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8562" y="5210175"/>
              <a:ext cx="4381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趟结束后，R 已按低 k 位有序；k = d 时排序完成</a:t>
              </a:r>
            </a:p>
          </p:txBody>
        </p:sp>
      </p:grpSp>
      <p:grpSp>
        <p:nvGrpSpPr>
          <p:cNvPr id="23" name="c2-bullets-1"/>
          <p:cNvGrpSpPr/>
          <p:nvPr/>
        </p:nvGrpSpPr>
        <p:grpSpPr>
          <a:xfrm>
            <a:off x="7123748" y="1542574"/>
            <a:ext cx="4464400" cy="973455"/>
            <a:chOff x="7123748" y="1542574"/>
            <a:chExt cx="4464400" cy="973455"/>
          </a:xfrm>
        </p:grpSpPr>
        <p:sp>
          <p:nvSpPr>
            <p:cNvPr id="17" name="Ellipse 17"/>
            <p:cNvSpPr/>
            <p:nvPr/>
          </p:nvSpPr>
          <p:spPr>
            <a:xfrm>
              <a:off x="7123748" y="15849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79958" y="1542574"/>
              <a:ext cx="4308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(R[i]/base) % RADIX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取出第 k 位：base 依次是 1、10、100。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23748" y="18554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79958" y="1812131"/>
              <a:ext cx="4150614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回填用的是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K[i]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定位、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R[i]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赋值，两者不能混。只按 K 搬 K 会丢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掉整个元素。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23748" y="23393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79958" y="2296001"/>
              <a:ext cx="2893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最后一行把 B 抄回 R，下一趟才能接着排。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7114222" y="2642235"/>
            <a:ext cx="4544378" cy="3058478"/>
            <a:chOff x="7114222" y="2642235"/>
            <a:chExt cx="4544378" cy="3058478"/>
          </a:xfrm>
        </p:grpSpPr>
        <p:sp>
          <p:nvSpPr>
            <p:cNvPr id="24" name="Rectangle 24"/>
            <p:cNvSpPr/>
            <p:nvPr/>
          </p:nvSpPr>
          <p:spPr>
            <a:xfrm>
              <a:off x="7114222" y="2642235"/>
              <a:ext cx="4544378" cy="3058478"/>
            </a:xfrm>
            <a:prstGeom prst="roundRect">
              <a:avLst>
                <a:gd name="adj" fmla="val 4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3748" y="2775585"/>
              <a:ext cx="47625" cy="27917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39012" y="28289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30732" y="28617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04607" y="2864168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91 页的两处漏写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39012" y="317754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94691" y="32159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8857" y="3189922"/>
              <a:ext cx="32884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B[N]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从未定义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，编译报 use of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undeclared identifier。已改为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MAXN+1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339012" y="373475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94691" y="37731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8857" y="3747135"/>
              <a:ext cx="364717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存放当前位的数组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从未声明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，同样编译不过。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已补上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K[MAXN+1];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39012" y="429196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94691" y="4331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8857" y="4304348"/>
              <a:ext cx="35370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const int r=10;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再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cnt[r]={0};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与第 38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页同一个问题，已改用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#define RADIX 10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33298" y="4858226"/>
              <a:ext cx="3887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实测：原样抄录的版本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zig cc -std=c99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报 7 个错误；改正版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编译零告警，与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qsort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随机对拍 600 轮一致。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0" name="Rectangle 4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8373"/>
              <a:ext cx="792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 要按最大元素的位数取。若不确定，可先扫一遍求出最大值 max，再取满足 rᵈ &gt; max 的最小 d。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4245" cy="909257"/>
            <a:chOff x="520446" y="342900"/>
            <a:chExt cx="77442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42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基数排序的复杂度：O(d(n+r))，与值域大小无关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8066" y="1524000"/>
            <a:ext cx="5631752" cy="1128332"/>
            <a:chOff x="528066" y="1524000"/>
            <a:chExt cx="5631752" cy="11283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108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18004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3724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9228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6534" y="2076450"/>
              <a:ext cx="855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74364" y="2076450"/>
              <a:ext cx="588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O(n+r)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32045" y="1958340"/>
              <a:ext cx="121920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25009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1524000"/>
              <a:ext cx="5626418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79282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67112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17758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8066" y="2446973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基数排序总结（最好、平均、最坏三种情况相同）</a:t>
              </a:r>
            </a:p>
          </p:txBody>
        </p:sp>
      </p:grpSp>
      <p:grpSp>
        <p:nvGrpSpPr>
          <p:cNvPr id="31" name="c1-kv-2"/>
          <p:cNvGrpSpPr/>
          <p:nvPr/>
        </p:nvGrpSpPr>
        <p:grpSpPr>
          <a:xfrm>
            <a:off x="526161" y="2815114"/>
            <a:ext cx="5633657" cy="1646492"/>
            <a:chOff x="526161" y="2815114"/>
            <a:chExt cx="5633657" cy="1646492"/>
          </a:xfrm>
        </p:grpSpPr>
        <p:sp>
          <p:nvSpPr>
            <p:cNvPr id="23" name="TextBox 23"/>
            <p:cNvSpPr txBox="1"/>
            <p:nvPr/>
          </p:nvSpPr>
          <p:spPr>
            <a:xfrm>
              <a:off x="526161" y="281511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7691" y="2815114"/>
              <a:ext cx="361226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每趟一次计数排序是 O(n+r)，共 d 趟，合计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O(d(n+r))。三种情况相同。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861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161" y="34990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37691" y="3499009"/>
              <a:ext cx="442379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与 K 各占 n，cnt 占 r，合计 O(n+r)。用链式桶实现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时同样是 O(n+r)。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0700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161" y="41829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37691" y="418290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每趟都稳定，整体稳定。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4586288"/>
            <a:ext cx="5626418" cy="1093470"/>
            <a:chOff x="533400" y="4586288"/>
            <a:chExt cx="5626418" cy="1093470"/>
          </a:xfrm>
        </p:grpSpPr>
        <p:sp>
          <p:nvSpPr>
            <p:cNvPr id="32" name="Rectangle 32"/>
            <p:cNvSpPr/>
            <p:nvPr/>
          </p:nvSpPr>
          <p:spPr>
            <a:xfrm>
              <a:off x="533400" y="4586288"/>
              <a:ext cx="5626418" cy="1093470"/>
            </a:xfrm>
            <a:prstGeom prst="roundRect">
              <a:avLst>
                <a:gd name="adj" fmla="val 1045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033012"/>
              <a:ext cx="200023" cy="200023"/>
              <a:chOff x="738188" y="5033012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0330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0996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033486"/>
              <a:ext cx="44257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d 与 r 都是常数，时空复杂度就是线性的 O(n)。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524000"/>
            <a:ext cx="5193982" cy="3218498"/>
            <a:chOff x="6464618" y="1524000"/>
            <a:chExt cx="5193982" cy="3218498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3218498"/>
            </a:xfrm>
            <a:prstGeom prst="roundRect">
              <a:avLst>
                <a:gd name="adj" fmla="val 4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1657350"/>
              <a:ext cx="47625" cy="29517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84148" y="1756886"/>
              <a:ext cx="26496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线性成立的条件与 d、r 的取舍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08458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65048" y="2100739"/>
              <a:ext cx="433362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与 r 不是独立的：值域为 [0, m) 时，d 是满足 rᵈ 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的最小整数。r 取大则 d 变小、cnt 变长；r 取小则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08458" y="30213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65048" y="2961799"/>
              <a:ext cx="39549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 取到与 n 同阶（例如按 8 位二进制分组，r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256）通常最快，这时 d 只有两三趟。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08458" y="36109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65048" y="355044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适合关键词包含固定位数、或可以拆分为多位的场合：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学号、日期、定长字符串、定宽整数。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4742" y="4135755"/>
              <a:ext cx="4561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若关键词长度差别很大（任意长字符串），d 取最大长度会让短元素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白跑很多趟。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4922520"/>
            <a:ext cx="5193982" cy="756285"/>
            <a:chOff x="6464618" y="4922520"/>
            <a:chExt cx="5193982" cy="756285"/>
          </a:xfrm>
        </p:grpSpPr>
        <p:sp>
          <p:nvSpPr>
            <p:cNvPr id="51" name="Rectangle 51"/>
            <p:cNvSpPr/>
            <p:nvPr/>
          </p:nvSpPr>
          <p:spPr>
            <a:xfrm>
              <a:off x="6464618" y="492252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5200650"/>
              <a:ext cx="200026" cy="200026"/>
              <a:chOff x="6669405" y="520065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52006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5267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58305" y="53006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729" y="5070634"/>
              <a:ext cx="422541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基数排序是三者中唯一一个空间不随值域 m 增长的：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变大只让 d 增加一两趟，cnt 始终只有 r 个位置。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11704"/>
              <a:ext cx="7677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写复杂度时 d 和 r 都要写出来。只写 O(n) 而不说明 d、r 是常数，在考试里是要扣分的。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04604" cy="909257"/>
            <a:chOff x="520446" y="342900"/>
            <a:chExt cx="41046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基数排序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046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补充：LSD 与 MSD 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755636" cy="293370"/>
            <a:chOff x="525780" y="1548765"/>
            <a:chExt cx="775563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755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源课件只讲了自低位向高位的 LSD，考试和实际实现里还会遇到自高位向低位的 MSD。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54530"/>
            <a:ext cx="5410200" cy="3438525"/>
            <a:chOff x="533400" y="1954530"/>
            <a:chExt cx="5410200" cy="343852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97350" y="2085975"/>
              <a:ext cx="1600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LSD（自低位向高位）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43507" y="2085975"/>
              <a:ext cx="1636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MSD（自高位向低位）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趟的顺序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0787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最低位排到最高位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486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最高位排到最低位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30527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0787" y="305276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整个序列一起排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84866" y="294608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上一趟分出的每个组各自递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53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5899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是否要递归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20787" y="3589972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不要，d 层循环即可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84866" y="358997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要，按组递归或用显式栈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83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88810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40195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子过程要求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624965" y="3897630"/>
              <a:ext cx="21450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20787" y="40195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必须稳定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84866" y="40195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组内独立，不要求稳定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3138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4450080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能否提前结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20787" y="45567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不能，必须做满 d 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789045" y="4328160"/>
              <a:ext cx="2145030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84866" y="4556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组内只剩一个元素就可停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9577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96252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509301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实现难度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20787" y="509301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84866" y="509301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较复杂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54530"/>
              <a:ext cx="5410200" cy="3437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10678" y="1954530"/>
              <a:ext cx="9525" cy="3437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774758" y="1954530"/>
              <a:ext cx="9525" cy="3437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1"/>
          <p:cNvGrpSpPr/>
          <p:nvPr/>
        </p:nvGrpSpPr>
        <p:grpSpPr>
          <a:xfrm>
            <a:off x="6248400" y="1954530"/>
            <a:ext cx="5410200" cy="2757488"/>
            <a:chOff x="6248400" y="1954530"/>
            <a:chExt cx="5410200" cy="2757488"/>
          </a:xfrm>
        </p:grpSpPr>
        <p:sp>
          <p:nvSpPr>
            <p:cNvPr id="45" name="Rectangle 45"/>
            <p:cNvSpPr/>
            <p:nvPr/>
          </p:nvSpPr>
          <p:spPr>
            <a:xfrm>
              <a:off x="6248400" y="1954530"/>
              <a:ext cx="5410200" cy="2757488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2087880"/>
              <a:ext cx="47625" cy="24907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80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1744" y="2197894"/>
              <a:ext cx="2285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MSD 不能照搬 LSD 的写法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3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若按高位到低位的顺序对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整个序列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反复排序，后一趟会把前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一趟的结果全部覆盖掉。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7955" y="320135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54546" y="3141821"/>
              <a:ext cx="445084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29、257、658、839、236、720、155 依次按百位、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十位、个位整体排，得到 720、155、236、257、658、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29、839。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97955" y="40643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54546" y="400478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这恰好等于只按个位排了一趟的结果，前两趟完全白做。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4239" y="4320540"/>
              <a:ext cx="4417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复核脚本验证了这一点。MSD 必须分组递归，不能整体重排。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248400" y="4897755"/>
            <a:ext cx="5410200" cy="756285"/>
            <a:chOff x="6248400" y="4897755"/>
            <a:chExt cx="5410200" cy="756285"/>
          </a:xfrm>
        </p:grpSpPr>
        <p:sp>
          <p:nvSpPr>
            <p:cNvPr id="57" name="Rectangle 57"/>
            <p:cNvSpPr/>
            <p:nvPr/>
          </p:nvSpPr>
          <p:spPr>
            <a:xfrm>
              <a:off x="6248400" y="489775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175885"/>
              <a:ext cx="200026" cy="200025"/>
              <a:chOff x="6453188" y="517588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1758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492926" y="52203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27642" y="53314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511" y="5044916"/>
              <a:ext cx="443280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本课程按源课件只要求掌握 LSD。记住一条：说“基数排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序”而不加限定时，指的就是 LSD。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6004084"/>
              <a:ext cx="77243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LSD 靠稳定性把低位的结果传给高位，MSD 靠分组把高位的结果隔离开，两条路都能走通。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三者对比与选型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同样的十个数，三种算法的开销可以差十几倍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85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用源课件第 41 页的例子逐项算一遍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分布排序与比较排序的完整对照表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21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n、m、d 选算法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0105" cy="909257"/>
            <a:chOff x="520446" y="342900"/>
            <a:chExt cx="75901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三者对比与选型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01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 10 个数、值域 [0, 1000)：基数排序省在哪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719316" cy="293370"/>
            <a:chOff x="525780" y="1548765"/>
            <a:chExt cx="671931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719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待排序：29、257、658、839、236、720、56、237、999、155。n = 10。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7685" y="1954530"/>
            <a:ext cx="6281737" cy="2656047"/>
            <a:chOff x="527685" y="1954530"/>
            <a:chExt cx="6281737" cy="2656047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345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598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13760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需要的辅助结构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6262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6222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94142" y="2515552"/>
              <a:ext cx="545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m=1000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23807" y="2622232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个桶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61585" y="2394585"/>
              <a:ext cx="1738312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57406" y="2622232"/>
              <a:ext cx="1490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 = O(1010)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232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27998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2661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4142" y="3159442"/>
              <a:ext cx="545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m=1000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23807" y="3266122"/>
              <a:ext cx="1635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1000 的 cnt 数组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61585" y="3037522"/>
              <a:ext cx="1738312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57406" y="3266122"/>
              <a:ext cx="1490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 = O(1010)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6671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9100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94142" y="3803332"/>
              <a:ext cx="812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n=10, d=3,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r=10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927985" y="3681412"/>
              <a:ext cx="2114550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23807" y="3803332"/>
              <a:ext cx="13990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个桶或长度 10 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cnt，但要做 3 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61585" y="3681412"/>
              <a:ext cx="1738312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57406" y="3910012"/>
              <a:ext cx="1540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 = O(60)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54530"/>
              <a:ext cx="6276022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784032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13698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47298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439054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三种分布排序在同一组数据上的开销</a:t>
              </a:r>
            </a:p>
          </p:txBody>
        </p:sp>
      </p:grpSp>
      <p:grpSp>
        <p:nvGrpSpPr>
          <p:cNvPr id="70" name="c1-cells-2"/>
          <p:cNvGrpSpPr/>
          <p:nvPr/>
        </p:nvGrpSpPr>
        <p:grpSpPr>
          <a:xfrm>
            <a:off x="527304" y="4752022"/>
            <a:ext cx="5561076" cy="638175"/>
            <a:chOff x="527304" y="4752022"/>
            <a:chExt cx="5561076" cy="638175"/>
          </a:xfrm>
        </p:grpSpPr>
        <p:sp>
          <p:nvSpPr>
            <p:cNvPr id="39" name="TextBox 39"/>
            <p:cNvSpPr txBox="1"/>
            <p:nvPr/>
          </p:nvSpPr>
          <p:spPr>
            <a:xfrm>
              <a:off x="527304" y="4880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28385" y="4880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83042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39877" y="4880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994535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04724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506980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616217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018472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27709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529965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640154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041458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151647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658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52950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63139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65395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74632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76888" y="4752022"/>
              <a:ext cx="5114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86124" y="4880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89692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01184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212677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724169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235662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748107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259599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771092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82584" y="52139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60758" y="521398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7" name="c2-bullets-1"/>
          <p:cNvGrpSpPr/>
          <p:nvPr/>
        </p:nvGrpSpPr>
        <p:grpSpPr>
          <a:xfrm>
            <a:off x="7114222" y="1977866"/>
            <a:ext cx="4315397" cy="1752219"/>
            <a:chOff x="7114222" y="1977866"/>
            <a:chExt cx="4315397" cy="1752219"/>
          </a:xfrm>
        </p:grpSpPr>
        <p:sp>
          <p:nvSpPr>
            <p:cNvPr id="71" name="Freeform 71"/>
            <p:cNvSpPr/>
            <p:nvPr/>
          </p:nvSpPr>
          <p:spPr>
            <a:xfrm>
              <a:off x="7114222" y="2007870"/>
              <a:ext cx="136208" cy="111442"/>
            </a:xfrm>
            <a:custGeom>
              <a:avLst/>
              <a:gdLst/>
              <a:ahLst/>
              <a:cxnLst/>
              <a:rect l="l" t="t" r="r" b="b"/>
              <a:pathLst>
                <a:path w="136208" h="111442">
                  <a:moveTo>
                    <a:pt x="0" y="59055"/>
                  </a:moveTo>
                  <a:lnTo>
                    <a:pt x="52388" y="111442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57491" y="1977866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 ÷ 60 ≈ 16.8，基数排序的基本操作数不到前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两者的十七分之一。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7114222" y="260889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9055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57491" y="2578894"/>
              <a:ext cx="40721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辅助结构从 1000 个位置降到 10 个，降了两个数量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级。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7114222" y="3209925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357491" y="3179921"/>
              <a:ext cx="40090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代价是元素被搬进搬出 3 次，而桶排序和计数排序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各只搬 1 次。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7114222" y="3858578"/>
            <a:ext cx="4544378" cy="1795462"/>
            <a:chOff x="7114222" y="3858578"/>
            <a:chExt cx="4544378" cy="1795462"/>
          </a:xfrm>
        </p:grpSpPr>
        <p:sp>
          <p:nvSpPr>
            <p:cNvPr id="78" name="Rectangle 78"/>
            <p:cNvSpPr/>
            <p:nvPr/>
          </p:nvSpPr>
          <p:spPr>
            <a:xfrm>
              <a:off x="7114222" y="3858578"/>
              <a:ext cx="4544378" cy="1795462"/>
            </a:xfrm>
            <a:prstGeom prst="roundRect">
              <a:avLst>
                <a:gd name="adj" fmla="val 742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18058" y="40624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08266" y="40981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18514" y="4102894"/>
              <a:ext cx="253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把一个大值域拆成 d 个小值域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10818" y="445436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= 1000 时开 1000 个桶；改成 r = 10、d = 3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后，1000 = 10³ 被拆成三位，每位只要 10 个桶。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11962" y="5042535"/>
              <a:ext cx="3227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这就是为什么基数排序的空间是 O(n+r) 而不是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O(n+m)。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5" name="Rectangle 8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0511" y="6004084"/>
              <a:ext cx="7096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这三个数字（1010、1010、60）已用脚本核算，见 decks/ds/ds_l21_verify.py。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三者对比与选型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三种分布排序总表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28066" y="1524000"/>
            <a:ext cx="11130534" cy="2057971"/>
            <a:chOff x="528066" y="1524000"/>
            <a:chExt cx="11130534" cy="205797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5588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5948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3970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1992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82787" y="165163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44747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270" y="20964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7309" y="2096452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37532" y="2096452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7754" y="2096452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7024" y="2096452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999345" y="1978342"/>
              <a:ext cx="1649730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88690" y="20964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57309" y="2541270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7532" y="2541270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7754" y="2541270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97024" y="2541270"/>
              <a:ext cx="698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999345" y="2423160"/>
              <a:ext cx="1649730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88690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2270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7309" y="2986088"/>
              <a:ext cx="962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37532" y="2986088"/>
              <a:ext cx="962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7754" y="2986088"/>
              <a:ext cx="962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07680" y="2867025"/>
              <a:ext cx="1872615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97024" y="2986088"/>
              <a:ext cx="661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O(n+r)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999345" y="2867025"/>
              <a:ext cx="1649730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88690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17783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53678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533900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14122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93392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985058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066" y="3376612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分布排序总结（源课件第 94 页）</a:t>
              </a:r>
            </a:p>
          </p:txBody>
        </p:sp>
      </p:grpSp>
      <p:grpSp>
        <p:nvGrpSpPr>
          <p:cNvPr id="55" name="c1-kv-2"/>
          <p:cNvGrpSpPr/>
          <p:nvPr/>
        </p:nvGrpSpPr>
        <p:grpSpPr>
          <a:xfrm>
            <a:off x="526542" y="3738562"/>
            <a:ext cx="11132058" cy="1059371"/>
            <a:chOff x="526542" y="3738562"/>
            <a:chExt cx="11132058" cy="1059371"/>
          </a:xfrm>
        </p:grpSpPr>
        <p:sp>
          <p:nvSpPr>
            <p:cNvPr id="47" name="TextBox 47"/>
            <p:cNvSpPr txBox="1"/>
            <p:nvPr/>
          </p:nvSpPr>
          <p:spPr>
            <a:xfrm>
              <a:off x="526542" y="37385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符号含义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88567" y="3738562"/>
              <a:ext cx="8764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是元素个数；m 是值域大小，即关键词取自 [0, m)；d 是关键词的位数；r 是基数，即每一位的取值个数。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0271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542" y="41367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共同特点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88567" y="4136708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三者都不比较关键词，都稳定，最好与最坏情况完全相同，与初始排列无关。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4253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542" y="4533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共同前提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88567" y="4533900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必须提前知道元素的分布规律：要么知道值域 m，要么知道位数 d 与基数 r。</a:t>
              </a:r>
            </a:p>
          </p:txBody>
        </p:sp>
      </p:grpSp>
      <p:grpSp>
        <p:nvGrpSpPr>
          <p:cNvPr id="62" name="c1-callout-3"/>
          <p:cNvGrpSpPr/>
          <p:nvPr/>
        </p:nvGrpSpPr>
        <p:grpSpPr>
          <a:xfrm>
            <a:off x="533400" y="4919662"/>
            <a:ext cx="11125200" cy="782002"/>
            <a:chOff x="533400" y="4919662"/>
            <a:chExt cx="11125200" cy="782002"/>
          </a:xfrm>
        </p:grpSpPr>
        <p:sp>
          <p:nvSpPr>
            <p:cNvPr id="56" name="Rectangle 56"/>
            <p:cNvSpPr/>
            <p:nvPr/>
          </p:nvSpPr>
          <p:spPr>
            <a:xfrm>
              <a:off x="533400" y="4919662"/>
              <a:ext cx="11125200" cy="782002"/>
            </a:xfrm>
            <a:prstGeom prst="roundRect">
              <a:avLst>
                <a:gd name="adj" fmla="val 1461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207436"/>
              <a:ext cx="224134" cy="192560"/>
              <a:chOff x="726129" y="520743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52778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2074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53555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5216842"/>
              <a:ext cx="102273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三行的“最好”与“最坏”完全一样，这在前四讲的比较排序里是没有的。分布排序的代价只由 n、m、d、r 决定，不由数据决定。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75273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线性时间不是无条件的：m 远大于 n 时前两行退化成 O(m)，d 很大时第三行退化成 O(dn)。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14074" cy="909257"/>
            <a:chOff x="520446" y="342900"/>
            <a:chExt cx="57140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三者对比与选型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140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排序算法全景：第 17 到 21 讲一张表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2" name="c1-table-1"/>
          <p:cNvGrpSpPr/>
          <p:nvPr/>
        </p:nvGrpSpPr>
        <p:grpSpPr>
          <a:xfrm>
            <a:off x="533400" y="1524000"/>
            <a:ext cx="11125200" cy="4194810"/>
            <a:chOff x="533400" y="1524000"/>
            <a:chExt cx="11125200" cy="4194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77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451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6206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642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857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644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973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靠比较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30234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42754" y="2023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45861" y="2023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8016" y="2023110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05354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29316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30234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2754" y="2404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45861" y="2404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8016" y="2404110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05354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29316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30234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2754" y="2785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5861" y="2785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8016" y="2785110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05354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29316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30234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42754" y="3167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与增量序列有关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45861" y="3167062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48016" y="3167062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05354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29316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7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30234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42754" y="3548062"/>
              <a:ext cx="716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45861" y="3548062"/>
              <a:ext cx="716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8016" y="3548062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05354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29316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8078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30234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742754" y="3930015"/>
              <a:ext cx="716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45861" y="3930015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48016" y="3930015"/>
              <a:ext cx="596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05354" y="3930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29316" y="3930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8078" y="4311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630234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742754" y="4311015"/>
              <a:ext cx="716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45861" y="4311015"/>
              <a:ext cx="716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48016" y="4311015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305354" y="4311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529316" y="4311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4570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33400" y="457485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8078" y="4692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630234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742754" y="4692015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745861" y="4692015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48016" y="4692015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220200" y="4584382"/>
              <a:ext cx="120491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305354" y="4692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444162" y="4584382"/>
              <a:ext cx="120491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529316" y="4692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" y="4952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28078" y="5073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630234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742754" y="5073968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745861" y="5073968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48016" y="5073968"/>
              <a:ext cx="543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220200" y="4966335"/>
              <a:ext cx="120491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305354" y="50739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444162" y="4966335"/>
              <a:ext cx="120491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529316" y="50739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5333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533400" y="533781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8078" y="5454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630234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742754" y="5454968"/>
              <a:ext cx="748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745861" y="5454968"/>
              <a:ext cx="748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748016" y="5454968"/>
              <a:ext cx="51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O(n+r)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220200" y="5347335"/>
              <a:ext cx="120491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305354" y="54549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0444162" y="5347335"/>
              <a:ext cx="120491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10529316" y="54549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33400" y="1524000"/>
              <a:ext cx="11125200" cy="4194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253079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364331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5646420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648575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920591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0429875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3" name="Rectangle 11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6039326"/>
              <a:ext cx="76809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最后三行的“靠比较”一栏是否，所以它们不受 Ω(n log n) 下界约束；代价是空间跟着值域或位数走。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 · 三者对比与选型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拿到一个排序任务，按这个顺序问自己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957855" cy="264033"/>
            <a:chOff x="526542" y="1545907"/>
            <a:chExt cx="29578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每个菱形向右是“是”，向下是“否”。</a:t>
              </a:r>
            </a:p>
          </p:txBody>
        </p:sp>
      </p:grpSp>
      <p:grpSp>
        <p:nvGrpSpPr>
          <p:cNvPr id="45" name="c1-flow-1"/>
          <p:cNvGrpSpPr/>
          <p:nvPr/>
        </p:nvGrpSpPr>
        <p:grpSpPr>
          <a:xfrm>
            <a:off x="805815" y="2108835"/>
            <a:ext cx="5434965" cy="3371849"/>
            <a:chOff x="805815" y="2108835"/>
            <a:chExt cx="5434965" cy="3371849"/>
          </a:xfrm>
        </p:grpSpPr>
        <p:sp>
          <p:nvSpPr>
            <p:cNvPr id="9" name="Freeform 9"/>
            <p:cNvSpPr/>
            <p:nvPr/>
          </p:nvSpPr>
          <p:spPr>
            <a:xfrm>
              <a:off x="2481262" y="2494598"/>
              <a:ext cx="9525" cy="64770"/>
            </a:xfrm>
            <a:custGeom>
              <a:avLst/>
              <a:gdLst/>
              <a:ahLst/>
              <a:cxnLst/>
              <a:rect l="l" t="t" r="r" b="b"/>
              <a:pathLst>
                <a:path w="9525" h="64770">
                  <a:moveTo>
                    <a:pt x="0" y="0"/>
                  </a:moveTo>
                  <a:lnTo>
                    <a:pt x="0" y="64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28875" y="25593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55758" y="3048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60558" y="2995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81262" y="3402330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3048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28875" y="34023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5758" y="379476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60558" y="37423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81262" y="4052888"/>
              <a:ext cx="9525" cy="29528"/>
            </a:xfrm>
            <a:custGeom>
              <a:avLst/>
              <a:gdLst/>
              <a:ahLst/>
              <a:cxnLst/>
              <a:rect l="l" t="t" r="r" b="b"/>
              <a:pathLst>
                <a:path w="9525" h="29528">
                  <a:moveTo>
                    <a:pt x="0" y="29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28875" y="40528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55758" y="454152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60558" y="44891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481262" y="4925378"/>
              <a:ext cx="9525" cy="64770"/>
            </a:xfrm>
            <a:custGeom>
              <a:avLst/>
              <a:gdLst/>
              <a:ahLst/>
              <a:cxnLst/>
              <a:rect l="l" t="t" r="r" b="b"/>
              <a:pathLst>
                <a:path w="9525" h="64770">
                  <a:moveTo>
                    <a:pt x="0" y="0"/>
                  </a:moveTo>
                  <a:lnTo>
                    <a:pt x="0" y="64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428875" y="49901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5815" y="2108835"/>
              <a:ext cx="3349942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05815" y="2664142"/>
              <a:ext cx="3349943" cy="768667"/>
            </a:xfrm>
            <a:custGeom>
              <a:avLst/>
              <a:gdLst/>
              <a:ahLst/>
              <a:cxnLst/>
              <a:rect l="l" t="t" r="r" b="b"/>
              <a:pathLst>
                <a:path w="3349943" h="768667">
                  <a:moveTo>
                    <a:pt x="1675448" y="0"/>
                  </a:moveTo>
                  <a:lnTo>
                    <a:pt x="3349943" y="383858"/>
                  </a:lnTo>
                  <a:lnTo>
                    <a:pt x="1675448" y="768667"/>
                  </a:lnTo>
                  <a:lnTo>
                    <a:pt x="0" y="38385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65332" y="2759392"/>
              <a:ext cx="1675448" cy="578168"/>
            </a:xfrm>
            <a:prstGeom prst="roundRect">
              <a:avLst>
                <a:gd name="adj" fmla="val 4991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05815" y="3507105"/>
              <a:ext cx="3349943" cy="575310"/>
            </a:xfrm>
            <a:custGeom>
              <a:avLst/>
              <a:gdLst/>
              <a:ahLst/>
              <a:cxnLst/>
              <a:rect l="l" t="t" r="r" b="b"/>
              <a:pathLst>
                <a:path w="3349943" h="575310">
                  <a:moveTo>
                    <a:pt x="1675448" y="0"/>
                  </a:moveTo>
                  <a:lnTo>
                    <a:pt x="3349943" y="287655"/>
                  </a:lnTo>
                  <a:lnTo>
                    <a:pt x="1675448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65332" y="3506152"/>
              <a:ext cx="1675448" cy="578168"/>
            </a:xfrm>
            <a:prstGeom prst="roundRect">
              <a:avLst>
                <a:gd name="adj" fmla="val 16474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05815" y="4157662"/>
              <a:ext cx="3349943" cy="767715"/>
            </a:xfrm>
            <a:custGeom>
              <a:avLst/>
              <a:gdLst/>
              <a:ahLst/>
              <a:cxnLst/>
              <a:rect l="l" t="t" r="r" b="b"/>
              <a:pathLst>
                <a:path w="3349943" h="767715">
                  <a:moveTo>
                    <a:pt x="1675448" y="0"/>
                  </a:moveTo>
                  <a:lnTo>
                    <a:pt x="3349943" y="383858"/>
                  </a:lnTo>
                  <a:lnTo>
                    <a:pt x="1675448" y="767715"/>
                  </a:lnTo>
                  <a:lnTo>
                    <a:pt x="0" y="38385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65332" y="4252912"/>
              <a:ext cx="1675448" cy="578168"/>
            </a:xfrm>
            <a:prstGeom prst="roundRect">
              <a:avLst>
                <a:gd name="adj" fmla="val 16474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5815" y="5094922"/>
              <a:ext cx="3349942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47837" y="222361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待排序的关键词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79868" y="2873216"/>
              <a:ext cx="20027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关键词是浮点数、任意长字符串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或自定义比较规则？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87367" y="2873216"/>
              <a:ext cx="1230427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用比较排序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（第 17 到 20 讲）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34756" y="3716179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值域 m 与 n 同阶？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27905" y="3619976"/>
              <a:ext cx="11493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桶排序或计数排序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24800" y="4366736"/>
              <a:ext cx="131292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能拆成 d 位、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每位取值只有 r 种？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30597" y="4366736"/>
              <a:ext cx="74396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O(d(n+r))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23224" y="52096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回到比较排序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255770" y="285178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95204" y="287464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255770" y="359854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95204" y="362140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255770" y="434530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95204" y="436816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680835" y="1928812"/>
            <a:ext cx="4977765" cy="2060258"/>
            <a:chOff x="6680835" y="1928812"/>
            <a:chExt cx="4977765" cy="2060258"/>
          </a:xfrm>
        </p:grpSpPr>
        <p:sp>
          <p:nvSpPr>
            <p:cNvPr id="46" name="Rectangle 46"/>
            <p:cNvSpPr/>
            <p:nvPr/>
          </p:nvSpPr>
          <p:spPr>
            <a:xfrm>
              <a:off x="6680835" y="1928812"/>
              <a:ext cx="4977765" cy="2060258"/>
            </a:xfrm>
            <a:prstGeom prst="roundRect">
              <a:avLst>
                <a:gd name="adj" fmla="val 647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67525" y="21155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48996" y="21483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三个判断点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7452" y="215074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每一步在问什么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67525" y="246411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23203" y="2502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48322" y="247650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关键词类型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：浮点数、任意长字符串、自定义比较规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则，都先排除分布排序。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67525" y="302133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3203" y="30597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48322" y="3033712"/>
              <a:ext cx="4193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m 与 n 的关系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：m = O(n) 时一趟分配收集最省事。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67525" y="332136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23203" y="33607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48322" y="3333750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能否拆位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：m 很大但位数固定时，基数排序把 m 换成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与 r。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680835" y="4158615"/>
            <a:ext cx="4977765" cy="1503045"/>
            <a:chOff x="6680835" y="4158615"/>
            <a:chExt cx="4977765" cy="1503045"/>
          </a:xfrm>
        </p:grpSpPr>
        <p:sp>
          <p:nvSpPr>
            <p:cNvPr id="60" name="Rectangle 60"/>
            <p:cNvSpPr/>
            <p:nvPr/>
          </p:nvSpPr>
          <p:spPr>
            <a:xfrm>
              <a:off x="6680835" y="4158615"/>
              <a:ext cx="4977765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90360" y="4291965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5625" y="43453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98297" y="43781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72172" y="43805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两条常见的工程做法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14198" y="47625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70217" y="4706302"/>
              <a:ext cx="41456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关键词不是从 0 开始时，先减去最小值，值域变成 [0,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max−min+1)。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914198" y="53197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70217" y="526351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含负数时整体平移，或按符号分成两段分别排。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0" name="Rectangle 7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选型的第一问永远是关键词类型，不是数据规模。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558034" cy="264033"/>
            <a:chOff x="526542" y="1545907"/>
            <a:chExt cx="25580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先把答案写在纸上，再看解答。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743075"/>
            <a:chOff x="533400" y="1928812"/>
            <a:chExt cx="3505200" cy="17430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3024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分布排序为什么能突破 O(n log n)？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28512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那条下界只约束“仅靠比较决定次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序”的算法。分布排序拿关键词的值直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接算位置，不在它的适用范围内。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41432"/>
            <a:ext cx="3505200" cy="2514600"/>
            <a:chOff x="533400" y="3841432"/>
            <a:chExt cx="3505200" cy="2514600"/>
          </a:xfrm>
        </p:grpSpPr>
        <p:sp>
          <p:nvSpPr>
            <p:cNvPr id="15" name="Rectangle 15"/>
            <p:cNvSpPr/>
            <p:nvPr/>
          </p:nvSpPr>
          <p:spPr>
            <a:xfrm>
              <a:off x="533400" y="3841432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37292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基数排序为什么必须从最低位开始，且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每趟都要稳定？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4930140"/>
              <a:ext cx="29540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位相等的元素靠上一趟排好的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低位次序定先后，这要求本趟不打乱它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们。反例见 21 12 11 22 那一页。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000250"/>
            <a:chOff x="4343400" y="1928812"/>
            <a:chExt cx="35052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桶排序的桶为什么必须是队列而不能是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016568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队列先进先出，同桶元素保持入桶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顺序，算法稳定。用栈会把同桶元素倒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序，基数排序拿它当子过程会排错。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98608"/>
            <a:ext cx="3505200" cy="2257425"/>
            <a:chOff x="4343400" y="4098608"/>
            <a:chExt cx="3505200" cy="22574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630102"/>
              <a:ext cx="2852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n=10、值域 [0, 1000)，三种分布排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序各要多少空间和时间？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8940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桶排序与计数排序都要 1000 个位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置，O(n+m)=O(1010)；基数排序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d=3、r=10 只要 10 个位置做 3 趟，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O(60)。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743075"/>
            <a:chOff x="8153400" y="1928812"/>
            <a:chExt cx="3505200" cy="174307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3140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计数排序第 ③ 步为什么从右往左扫描？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275939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cnt[K] 指向值 K 在 B 中的最后一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个位置，从右往左取元素正好由后往前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铺。从左往右会把同值元素整段倒置。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3841432"/>
            <a:ext cx="3505200" cy="2514600"/>
            <a:chOff x="8153400" y="3841432"/>
            <a:chExt cx="3505200" cy="2514600"/>
          </a:xfrm>
        </p:grpSpPr>
        <p:sp>
          <p:nvSpPr>
            <p:cNvPr id="39" name="Rectangle 39"/>
            <p:cNvSpPr/>
            <p:nvPr/>
          </p:nvSpPr>
          <p:spPr>
            <a:xfrm>
              <a:off x="8153400" y="3841432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37292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分布排序能对任意关键词排序吗？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4672965"/>
              <a:ext cx="296265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不能。关键词必须是有界非负整数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或能映射成整数，且要提前知道 m 或 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r。浮点数、任意长字符串要先转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第21讲 分布排序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778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6910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9271" y="202311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不比较关键词，按值分派位置，三种都稳定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9271" y="2404110"/>
              <a:ext cx="2571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个链式队列，分配 O(n) 加收集 O(m)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计数排序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9271" y="2785110"/>
              <a:ext cx="22397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计数、前缀和、倒着回填，O(n+m)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49271" y="3167062"/>
              <a:ext cx="2607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自低位向高位 d 趟稳定排序，O(d(n+r))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9271" y="3548062"/>
              <a:ext cx="2484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先看关键词类型，再看 m 与 n 是否同阶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4983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3976688"/>
            <a:ext cx="5842635" cy="1563052"/>
            <a:chOff x="533400" y="3976688"/>
            <a:chExt cx="5842635" cy="1563052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563052"/>
            </a:xfrm>
            <a:prstGeom prst="roundRect">
              <a:avLst>
                <a:gd name="adj" fmla="val 85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963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946" y="4190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91830" y="41981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50342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5390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514374"/>
              <a:ext cx="4979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91 页 RadixSort 用到未声明的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；第 38、91 页用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const int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作数组长度。标准 C 下都编不过，已改正。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503110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50667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5042059"/>
              <a:ext cx="4777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 LSD 的归纳证明、不稳定反例、MSD 对比与选型流程图。</a:t>
              </a:r>
            </a:p>
          </p:txBody>
        </p:sp>
      </p:grpSp>
      <p:grpSp>
        <p:nvGrpSpPr>
          <p:cNvPr id="56" name="c2-bullets-1"/>
          <p:cNvGrpSpPr/>
          <p:nvPr/>
        </p:nvGrpSpPr>
        <p:grpSpPr>
          <a:xfrm>
            <a:off x="6681788" y="1533525"/>
            <a:ext cx="4935169" cy="1918620"/>
            <a:chOff x="6681788" y="1533525"/>
            <a:chExt cx="4935169" cy="1918620"/>
          </a:xfrm>
        </p:grpSpPr>
        <p:sp>
          <p:nvSpPr>
            <p:cNvPr id="41" name="Ellipse 41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545431"/>
              <a:ext cx="43533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三种算法的最好与最坏情况完全相同，代价只由 n、m、d、r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08073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稳定性在这一讲不是附带性质，而是基数排序正确性的前提。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3631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374106"/>
              <a:ext cx="45275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前缀和把“有几个”变成“排第几”，是计数排序的关键一步。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667476"/>
              <a:ext cx="44752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基数排序用 d 趟小值域换掉一趟大值域，空间从 O(n+m) 降到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O(n+r)。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51536" y="32027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线性时间的前提是提前知道元素的分布规律。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680835" y="3567112"/>
            <a:ext cx="4977765" cy="1973580"/>
            <a:chOff x="6680835" y="3567112"/>
            <a:chExt cx="4977765" cy="1973580"/>
          </a:xfrm>
        </p:grpSpPr>
        <p:sp>
          <p:nvSpPr>
            <p:cNvPr id="57" name="Rectangle 57"/>
            <p:cNvSpPr/>
            <p:nvPr/>
          </p:nvSpPr>
          <p:spPr>
            <a:xfrm>
              <a:off x="6680835" y="3567112"/>
              <a:ext cx="4977765" cy="1973580"/>
            </a:xfrm>
            <a:prstGeom prst="roundRect">
              <a:avLst>
                <a:gd name="adj" fmla="val 67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61810" y="3748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47332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7341" y="37876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三步自查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62762" y="409289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14669" y="41285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2511" y="4104799"/>
              <a:ext cx="40525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手算 9 6 3 5 2 0 1 5* 的桶排序和 2 5 3 0 2 0 3* 3# 的计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数排序，与本讲第 7、13、15 页对照。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62762" y="462153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14669" y="4656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32511" y="4632484"/>
              <a:ext cx="4185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默写三段 C 代码，重点检查回填那一行的下标与减号。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862762" y="49063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14669" y="4941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2511" y="4917281"/>
              <a:ext cx="40281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对着本讲第 33 页的全景表说出每种算法是否稳定、是否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靠比较。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8042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下一讲：第22讲 线性结构查找。从“把数据排好”转到“在数据里找东西”，顺序查找与折半查找的判定树。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第21讲 分布排序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21">
  <a:themeElements>
    <a:clrScheme name="ds_l2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2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2026-09-19T14:38:26Z</dcterms:created>
  <dcterms:modified xsi:type="dcterms:W3CDTF">2026-09-19T14:38:26Z</dcterms:modified>
  <cp:category/>
  <cp:contentStatus/>
</cp:coreProperties>
</file>