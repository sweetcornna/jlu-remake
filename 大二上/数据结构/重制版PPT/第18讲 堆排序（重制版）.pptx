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34efbd8ca8428d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099cb0c9ddb41f0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feafc939c849aa.png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91784" cy="3799713"/>
            <a:chOff x="666750" y="1619250"/>
            <a:chExt cx="5891784" cy="379971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第18讲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88187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用一棵完全二叉树反复取最大值，时间 O(nlogn)，额外空</a:t>
              </a:r>
              <a:br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 O(1)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433863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42833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胜者树与锦标赛排序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62915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5739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上浮与下沉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91966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864418"/>
              <a:ext cx="2123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Floyd 建堆为什么是 O(n)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521017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5154930"/>
              <a:ext cx="1627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优先级队列与 Top K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18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从选择排序说起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18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每趟选最大要 O(n) 次比较，上一趟的结果全扔了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锦标赛排序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941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用胜者树留住比较结果，代价是 2n−1 个结点的空间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堆与两个基本操作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682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完全二叉树 + 堆序性；上浮与下沉都是 O(logn)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建堆与堆排序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83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Floyd 自底向上建堆 O(n)，选择阶段 O(nlogn)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优先级队列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789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插入、删除堆顶，用来优化 Huffman 与 Dijkstra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325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 K 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328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个元素的小根堆，O(nlogk)，适合数据流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说出堆的结构性与堆序性，并判断一棵给定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的二叉树是不是堆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给定数组手推 Floyd 建堆的全过程，写出每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一步下沉后的序列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ShiftUp、ShiftDown、BuildHeap、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HeapSort 四段 C 代码并说清每个参数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解释建堆为什么是 O(n) 而堆排序整体是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数出一次插入、一次删除堆顶的关键词比较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次数，并会用堆做 Top K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锦标赛排序：先把比较结果存下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堆的前身，理解它就能看清堆到底省掉了什么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直接选择排序的浪费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胜者树的结构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k 大只重赛一条路径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空间换时间的代价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锦标赛排序：先把比较结果存下来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直接选择排序的浪费：比较结果用完就扔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672876" cy="308039"/>
            <a:chOff x="525399" y="1550194"/>
            <a:chExt cx="867287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67287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17 讲的直接选择排序每趟都从头比一遍，上一趟辛辛苦苦比出来的大小关系一点没留下。</a:t>
              </a:r>
            </a:p>
          </p:txBody>
        </p:sp>
      </p:grpSp>
      <p:grpSp>
        <p:nvGrpSpPr>
          <p:cNvPr id="28" name="c1-cells-1"/>
          <p:cNvGrpSpPr/>
          <p:nvPr/>
        </p:nvGrpSpPr>
        <p:grpSpPr>
          <a:xfrm>
            <a:off x="527685" y="1967865"/>
            <a:ext cx="2735580" cy="634841"/>
            <a:chOff x="527685" y="1967865"/>
            <a:chExt cx="2735580" cy="634841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86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89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677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80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868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471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059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662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25065" y="19678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853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441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04464" y="2107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30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21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612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03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94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185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42" name="c1-steps-2"/>
          <p:cNvGrpSpPr/>
          <p:nvPr/>
        </p:nvGrpSpPr>
        <p:grpSpPr>
          <a:xfrm>
            <a:off x="533400" y="2767965"/>
            <a:ext cx="5353746" cy="2112930"/>
            <a:chOff x="533400" y="2767965"/>
            <a:chExt cx="5353746" cy="2112930"/>
          </a:xfrm>
        </p:grpSpPr>
        <p:sp>
          <p:nvSpPr>
            <p:cNvPr id="29" name="Rectangle 29"/>
            <p:cNvSpPr/>
            <p:nvPr/>
          </p:nvSpPr>
          <p:spPr>
            <a:xfrm>
              <a:off x="666750" y="291084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33400" y="27679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024" y="28417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3400" y="34185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024" y="3492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3400" y="43033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7024" y="43772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4880" y="280225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023" y="3095149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6 个元素里挑最大的 9，比较 5 次；把 9 换到末尾。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4880" y="345281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023" y="3745706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在剩下 5 个元素里重新挑最大的 7，又比较 4 次。第 1 趟已经知道 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3、7 &gt; 2、7 &gt; 5，这些结论被丢掉了。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4880" y="43376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6023" y="4631531"/>
              <a:ext cx="4941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+ 4 + 3 + 2 + 1 = 15 次比较，即 n(n−1)/2，与初始排列无关。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464618" y="1967865"/>
            <a:ext cx="5193982" cy="2291715"/>
            <a:chOff x="6464618" y="1967865"/>
            <a:chExt cx="5193982" cy="2291715"/>
          </a:xfrm>
        </p:grpSpPr>
        <p:sp>
          <p:nvSpPr>
            <p:cNvPr id="43" name="Rectangle 43"/>
            <p:cNvSpPr/>
            <p:nvPr/>
          </p:nvSpPr>
          <p:spPr>
            <a:xfrm>
              <a:off x="6464618" y="1967865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210121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症结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3295" y="2212658"/>
              <a:ext cx="2704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 O(n)，n 趟就是 O(n²)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04648" y="2573655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挑最大值这件事本身没法低于 n−1 次比较（每个落选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者至少要输一次）。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7983" y="3257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6098" y="3194685"/>
              <a:ext cx="4316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但第 2 趟只换掉了 1 个元素，却重新比了一整遍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7983" y="35928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6098" y="352996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如果能把第 1 趟的比较结果记在某种结构里，第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趟就只需要更新受影响的那一小部分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464618" y="4450080"/>
            <a:ext cx="5193982" cy="782955"/>
            <a:chOff x="6464618" y="4450080"/>
            <a:chExt cx="5193982" cy="782955"/>
          </a:xfrm>
        </p:grpSpPr>
        <p:sp>
          <p:nvSpPr>
            <p:cNvPr id="54" name="Rectangle 54"/>
            <p:cNvSpPr/>
            <p:nvPr/>
          </p:nvSpPr>
          <p:spPr>
            <a:xfrm>
              <a:off x="6464618" y="445008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69405" y="4741547"/>
              <a:ext cx="200023" cy="200023"/>
              <a:chOff x="6669405" y="4741547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4741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802755" y="4808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348" y="4598670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把“谁打赢了谁”记成一棵树，下一轮只重赛冠军走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过的那条路。这就是锦标赛排序。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991225"/>
              <a:ext cx="9697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n−1 次比较降不下去，能降的是趟与趟之间的重复；这一条思路在归并排序（第 20 讲）里还会再用一次。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锦标赛排序：先把比较结果存下来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胜者树：叶子放数据，内结点放上一轮的胜者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747712" y="1950720"/>
            <a:ext cx="5847398" cy="3985260"/>
            <a:chOff x="747712" y="1950720"/>
            <a:chExt cx="5847398" cy="3985260"/>
          </a:xfrm>
        </p:grpSpPr>
        <p:sp>
          <p:nvSpPr>
            <p:cNvPr id="7" name="Freeform 7"/>
            <p:cNvSpPr/>
            <p:nvPr/>
          </p:nvSpPr>
          <p:spPr>
            <a:xfrm>
              <a:off x="925830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392430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18260" y="4548188"/>
              <a:ext cx="391477" cy="1209675"/>
            </a:xfrm>
            <a:custGeom>
              <a:avLst/>
              <a:gdLst/>
              <a:ahLst/>
              <a:cxnLst/>
              <a:rect l="l" t="t" r="r" b="b"/>
              <a:pathLst>
                <a:path w="391477" h="1209675">
                  <a:moveTo>
                    <a:pt x="0" y="0"/>
                  </a:moveTo>
                  <a:lnTo>
                    <a:pt x="391477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494598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392430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87028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0" y="0"/>
                  </a:moveTo>
                  <a:lnTo>
                    <a:pt x="39243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18260" y="3338512"/>
              <a:ext cx="783907" cy="1209675"/>
            </a:xfrm>
            <a:custGeom>
              <a:avLst/>
              <a:gdLst/>
              <a:ahLst/>
              <a:cxnLst/>
              <a:rect l="l" t="t" r="r" b="b"/>
              <a:pathLst>
                <a:path w="783907" h="1209675">
                  <a:moveTo>
                    <a:pt x="783907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02168" y="3338512"/>
              <a:ext cx="784860" cy="1209675"/>
            </a:xfrm>
            <a:custGeom>
              <a:avLst/>
              <a:gdLst/>
              <a:ahLst/>
              <a:cxnLst/>
              <a:rect l="l" t="t" r="r" b="b"/>
              <a:pathLst>
                <a:path w="784860" h="1209675">
                  <a:moveTo>
                    <a:pt x="0" y="0"/>
                  </a:moveTo>
                  <a:lnTo>
                    <a:pt x="78486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063365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392430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55795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0" y="0"/>
                  </a:moveTo>
                  <a:lnTo>
                    <a:pt x="39243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632132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392430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024562" y="4548188"/>
              <a:ext cx="392430" cy="1209675"/>
            </a:xfrm>
            <a:custGeom>
              <a:avLst/>
              <a:gdLst/>
              <a:ahLst/>
              <a:cxnLst/>
              <a:rect l="l" t="t" r="r" b="b"/>
              <a:pathLst>
                <a:path w="392430" h="1209675">
                  <a:moveTo>
                    <a:pt x="0" y="0"/>
                  </a:moveTo>
                  <a:lnTo>
                    <a:pt x="39243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55795" y="3338512"/>
              <a:ext cx="784860" cy="1209675"/>
            </a:xfrm>
            <a:custGeom>
              <a:avLst/>
              <a:gdLst/>
              <a:ahLst/>
              <a:cxnLst/>
              <a:rect l="l" t="t" r="r" b="b"/>
              <a:pathLst>
                <a:path w="784860" h="1209675">
                  <a:moveTo>
                    <a:pt x="784860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40655" y="3338512"/>
              <a:ext cx="783907" cy="1209675"/>
            </a:xfrm>
            <a:custGeom>
              <a:avLst/>
              <a:gdLst/>
              <a:ahLst/>
              <a:cxnLst/>
              <a:rect l="l" t="t" r="r" b="b"/>
              <a:pathLst>
                <a:path w="783907" h="1209675">
                  <a:moveTo>
                    <a:pt x="0" y="0"/>
                  </a:moveTo>
                  <a:lnTo>
                    <a:pt x="783907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102168" y="2128838"/>
              <a:ext cx="1568768" cy="1209675"/>
            </a:xfrm>
            <a:custGeom>
              <a:avLst/>
              <a:gdLst/>
              <a:ahLst/>
              <a:cxnLst/>
              <a:rect l="l" t="t" r="r" b="b"/>
              <a:pathLst>
                <a:path w="1568768" h="1209675">
                  <a:moveTo>
                    <a:pt x="1568768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70935" y="2128838"/>
              <a:ext cx="1569720" cy="1209675"/>
            </a:xfrm>
            <a:custGeom>
              <a:avLst/>
              <a:gdLst/>
              <a:ahLst/>
              <a:cxnLst/>
              <a:rect l="l" t="t" r="r" b="b"/>
              <a:pathLst>
                <a:path w="1569720" h="1209675">
                  <a:moveTo>
                    <a:pt x="0" y="0"/>
                  </a:moveTo>
                  <a:lnTo>
                    <a:pt x="156972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47712" y="557974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531620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140142" y="4370070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316480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101340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708910" y="43700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924050" y="3160395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885248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670108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277678" y="43700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454015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238875" y="55797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846445" y="43700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062538" y="316039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492818" y="1950720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8866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22773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31296" y="44824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07633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92493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00063" y="44824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15203" y="32727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76401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61261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68831" y="44824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45168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30028" y="56921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37598" y="44824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53691" y="32727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83971" y="20631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7114222" y="1524000"/>
            <a:ext cx="4544378" cy="2454592"/>
            <a:chOff x="7114222" y="1524000"/>
            <a:chExt cx="4544378" cy="2454592"/>
          </a:xfrm>
        </p:grpSpPr>
        <p:sp>
          <p:nvSpPr>
            <p:cNvPr id="52" name="Rectangle 52"/>
            <p:cNvSpPr/>
            <p:nvPr/>
          </p:nvSpPr>
          <p:spPr>
            <a:xfrm>
              <a:off x="7114222" y="1524000"/>
              <a:ext cx="4544378" cy="2454592"/>
            </a:xfrm>
            <a:prstGeom prst="roundRect">
              <a:avLst>
                <a:gd name="adj" fmla="val 54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3748" y="1657350"/>
              <a:ext cx="47625" cy="21878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99273" y="1744504"/>
              <a:ext cx="1926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胜者树（Winner Tree）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26820" y="20616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一棵满二叉树。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342822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98270" y="234648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叶结点存放待排序元素的关键词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342822" y="2684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98270" y="2631281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内结点存放两个孩子中较大的那个，也就是这一场的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42822" y="32118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98270" y="3158966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不是 2 的幂时把叶子补到 2ᵏ 个，补位放 −∞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27964" y="3440430"/>
              <a:ext cx="3955494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满二叉树有 n−1 个内结点，每个结点一场比赛，建树恰好 </a:t>
              </a:r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n−1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次关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键词比较，根就是最大值</a:t>
              </a:r>
            </a:p>
          </p:txBody>
        </p:sp>
      </p:grpSp>
      <p:grpSp>
        <p:nvGrpSpPr>
          <p:cNvPr id="68" name="c2-image-2"/>
          <p:cNvGrpSpPr/>
          <p:nvPr/>
        </p:nvGrpSpPr>
        <p:grpSpPr>
          <a:xfrm>
            <a:off x="8061706" y="4143375"/>
            <a:ext cx="2648458" cy="2226659"/>
            <a:chOff x="8061706" y="4143375"/>
            <a:chExt cx="2648458" cy="2226659"/>
          </a:xfrm>
        </p:grpSpPr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90535" y="4143375"/>
              <a:ext cx="2590800" cy="1943100"/>
            </a:xfrm>
            <a:prstGeom prst="roundRect">
              <a:avLst>
                <a:gd name="adj" fmla="val 6862"/>
              </a:avLst>
            </a:prstGeom>
          </p:spPr>
        </p:pic>
        <p:sp>
          <p:nvSpPr>
            <p:cNvPr id="67" name="TextBox 67"/>
            <p:cNvSpPr txBox="1"/>
            <p:nvPr/>
          </p:nvSpPr>
          <p:spPr>
            <a:xfrm>
              <a:off x="8061706" y="6179344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八个木块两两决出高者，一路顶到最上面一格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锦标赛排序：先把比较结果存下来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2 大：只重赛冠军走过的那条路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83667" cy="308039"/>
            <a:chOff x="525399" y="1550194"/>
            <a:chExt cx="818366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836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把冠军所在的叶子改成 −∞，然后沿这片叶子到根的路径逐层重赛，其余分支原封不动。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716280" y="2306955"/>
            <a:ext cx="5910262" cy="3715703"/>
            <a:chOff x="716280" y="2306955"/>
            <a:chExt cx="5910262" cy="3715703"/>
          </a:xfrm>
        </p:grpSpPr>
        <p:sp>
          <p:nvSpPr>
            <p:cNvPr id="9" name="Freeform 9"/>
            <p:cNvSpPr/>
            <p:nvPr/>
          </p:nvSpPr>
          <p:spPr>
            <a:xfrm>
              <a:off x="925830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39243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18260" y="4714875"/>
              <a:ext cx="391477" cy="1098232"/>
            </a:xfrm>
            <a:custGeom>
              <a:avLst/>
              <a:gdLst/>
              <a:ahLst/>
              <a:cxnLst/>
              <a:rect l="l" t="t" r="r" b="b"/>
              <a:pathLst>
                <a:path w="391477" h="1098232">
                  <a:moveTo>
                    <a:pt x="0" y="0"/>
                  </a:moveTo>
                  <a:lnTo>
                    <a:pt x="391477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94598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39243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87028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0" y="0"/>
                  </a:moveTo>
                  <a:lnTo>
                    <a:pt x="39243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318260" y="3615690"/>
              <a:ext cx="783907" cy="1099185"/>
            </a:xfrm>
            <a:custGeom>
              <a:avLst/>
              <a:gdLst/>
              <a:ahLst/>
              <a:cxnLst/>
              <a:rect l="l" t="t" r="r" b="b"/>
              <a:pathLst>
                <a:path w="783907" h="1099185">
                  <a:moveTo>
                    <a:pt x="783907" y="0"/>
                  </a:moveTo>
                  <a:lnTo>
                    <a:pt x="0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02168" y="3615690"/>
              <a:ext cx="784860" cy="1099185"/>
            </a:xfrm>
            <a:custGeom>
              <a:avLst/>
              <a:gdLst/>
              <a:ahLst/>
              <a:cxnLst/>
              <a:rect l="l" t="t" r="r" b="b"/>
              <a:pathLst>
                <a:path w="784860" h="1099185">
                  <a:moveTo>
                    <a:pt x="0" y="0"/>
                  </a:moveTo>
                  <a:lnTo>
                    <a:pt x="784860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063365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39243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55795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0" y="0"/>
                  </a:moveTo>
                  <a:lnTo>
                    <a:pt x="39243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632132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392430" y="0"/>
                  </a:moveTo>
                  <a:lnTo>
                    <a:pt x="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24562" y="4714875"/>
              <a:ext cx="392430" cy="1098232"/>
            </a:xfrm>
            <a:custGeom>
              <a:avLst/>
              <a:gdLst/>
              <a:ahLst/>
              <a:cxnLst/>
              <a:rect l="l" t="t" r="r" b="b"/>
              <a:pathLst>
                <a:path w="392430" h="1098232">
                  <a:moveTo>
                    <a:pt x="0" y="0"/>
                  </a:moveTo>
                  <a:lnTo>
                    <a:pt x="392430" y="10982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55795" y="3615690"/>
              <a:ext cx="784860" cy="1099185"/>
            </a:xfrm>
            <a:custGeom>
              <a:avLst/>
              <a:gdLst/>
              <a:ahLst/>
              <a:cxnLst/>
              <a:rect l="l" t="t" r="r" b="b"/>
              <a:pathLst>
                <a:path w="784860" h="1099185">
                  <a:moveTo>
                    <a:pt x="784860" y="0"/>
                  </a:moveTo>
                  <a:lnTo>
                    <a:pt x="0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40655" y="3615690"/>
              <a:ext cx="783907" cy="1099185"/>
            </a:xfrm>
            <a:custGeom>
              <a:avLst/>
              <a:gdLst/>
              <a:ahLst/>
              <a:cxnLst/>
              <a:rect l="l" t="t" r="r" b="b"/>
              <a:pathLst>
                <a:path w="783907" h="1099185">
                  <a:moveTo>
                    <a:pt x="0" y="0"/>
                  </a:moveTo>
                  <a:lnTo>
                    <a:pt x="783907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102168" y="2516505"/>
              <a:ext cx="1568768" cy="1099185"/>
            </a:xfrm>
            <a:custGeom>
              <a:avLst/>
              <a:gdLst/>
              <a:ahLst/>
              <a:cxnLst/>
              <a:rect l="l" t="t" r="r" b="b"/>
              <a:pathLst>
                <a:path w="1568768" h="1099185">
                  <a:moveTo>
                    <a:pt x="1568768" y="0"/>
                  </a:moveTo>
                  <a:lnTo>
                    <a:pt x="0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70935" y="2516505"/>
              <a:ext cx="1569720" cy="1099185"/>
            </a:xfrm>
            <a:custGeom>
              <a:avLst/>
              <a:gdLst/>
              <a:ahLst/>
              <a:cxnLst/>
              <a:rect l="l" t="t" r="r" b="b"/>
              <a:pathLst>
                <a:path w="1569720" h="1099185">
                  <a:moveTo>
                    <a:pt x="0" y="0"/>
                  </a:moveTo>
                  <a:lnTo>
                    <a:pt x="1569720" y="10991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16280" y="5603558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500188" y="5603558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108710" y="4505325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85048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069908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677478" y="45053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892618" y="340614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853815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638675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246245" y="45053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422582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207442" y="56035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815012" y="45053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031105" y="34061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461385" y="2306955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442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−∞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10350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18872" y="463962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95210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80070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87640" y="463962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02780" y="35413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63977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8837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56407" y="463962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32745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17605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25175" y="463962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41267" y="354139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71547" y="24422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  <p:grpSp>
        <p:nvGrpSpPr>
          <p:cNvPr id="67" name="c2-steps-1"/>
          <p:cNvGrpSpPr/>
          <p:nvPr/>
        </p:nvGrpSpPr>
        <p:grpSpPr>
          <a:xfrm>
            <a:off x="7114222" y="1977390"/>
            <a:ext cx="3587533" cy="1878615"/>
            <a:chOff x="7114222" y="1977390"/>
            <a:chExt cx="3587533" cy="1878615"/>
          </a:xfrm>
        </p:grpSpPr>
        <p:sp>
          <p:nvSpPr>
            <p:cNvPr id="54" name="Rectangle 54"/>
            <p:cNvSpPr/>
            <p:nvPr/>
          </p:nvSpPr>
          <p:spPr>
            <a:xfrm>
              <a:off x="7247572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114222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07846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14222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7846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14222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07846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25702" y="201168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26846" y="2304574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−∞ 对 59，59 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25702" y="2662238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6846" y="2955131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 对 58，59 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25702" y="3312795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26846" y="3606641"/>
              <a:ext cx="3174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 对 49，59 胜，新的根就是第 2 大的数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7114222" y="4033838"/>
            <a:ext cx="4544378" cy="2202180"/>
            <a:chOff x="7114222" y="4033838"/>
            <a:chExt cx="4544378" cy="2202180"/>
          </a:xfrm>
        </p:grpSpPr>
        <p:sp>
          <p:nvSpPr>
            <p:cNvPr id="68" name="Rectangle 68"/>
            <p:cNvSpPr/>
            <p:nvPr/>
          </p:nvSpPr>
          <p:spPr>
            <a:xfrm>
              <a:off x="7114222" y="4033838"/>
              <a:ext cx="4544378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23748" y="4167188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61872" y="42433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52081" y="42791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61948" y="4278630"/>
              <a:ext cx="2893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每取出一个数只要 log₂n 次比较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54252" y="4639628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路径长度就是树高 log₂n，每层一场比赛。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367588" y="503777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25702" y="4974908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取全部 n 个数：(n−1) + (n−1)·log₂n 次比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较，即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55396" y="5592604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本讲义脚本按 8 个叶子实算：建树 7 次，之后 7 轮各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次，共 28 次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锦标赛排序：先把比较结果存下来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锦标赛排序的账：时间省下来了，空间赔进去了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842635" cy="2400300"/>
            <a:chOff x="533400" y="1524000"/>
            <a:chExt cx="5842635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32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1419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1824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锦标赛排序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选第 1 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83155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次比较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70070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 次比较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选第 k 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83155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n−k 次比较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0070" y="2445544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 次比较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83155" y="28455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82440" y="2733675"/>
              <a:ext cx="208407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70070" y="2845594"/>
              <a:ext cx="70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55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95525" y="3133725"/>
              <a:ext cx="196786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83155" y="324564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0070" y="3245644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2n−1 个结点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关键词移动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83155" y="364569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 1 次交换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0070" y="36456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只改路径上的值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84263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28123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6815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093845"/>
            <a:ext cx="5842635" cy="1587818"/>
            <a:chOff x="533400" y="4093845"/>
            <a:chExt cx="5842635" cy="1587818"/>
          </a:xfrm>
        </p:grpSpPr>
        <p:sp>
          <p:nvSpPr>
            <p:cNvPr id="38" name="Rectangle 38"/>
            <p:cNvSpPr/>
            <p:nvPr/>
          </p:nvSpPr>
          <p:spPr>
            <a:xfrm>
              <a:off x="533400" y="4093845"/>
              <a:ext cx="5842635" cy="1587818"/>
            </a:xfrm>
            <a:prstGeom prst="roundRect">
              <a:avLst>
                <a:gd name="adj" fmla="val 71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4784526"/>
              <a:ext cx="224134" cy="192560"/>
              <a:chOff x="726129" y="478452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48548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47845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49326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669155"/>
              <a:ext cx="49429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2n−1 个结点里有 n−1 个只是复制品，存的都是叶子里已经有的关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键词。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680835" y="1524000"/>
            <a:ext cx="4977765" cy="1760220"/>
            <a:chOff x="6680835" y="1524000"/>
            <a:chExt cx="4977765" cy="1760220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67525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33743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接下来要解决的问题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4657" y="1745932"/>
              <a:ext cx="2442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能不能不额外开这 n−1 个结点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0667" y="2071688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胜者树把“谁比谁大”记成了一棵树，但它记得太细：每一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场的胜者都单独占一个结点。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60667" y="2628900"/>
              <a:ext cx="42399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堆换了个记法，只保留“父亲不小于孩子”这一条约束，n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个元素就用 n 个结点，而且能直接摆在原数组里。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453765"/>
            <a:ext cx="4977765" cy="2228850"/>
            <a:chOff x="6680835" y="3453765"/>
            <a:chExt cx="4977765" cy="2228850"/>
          </a:xfrm>
        </p:grpSpPr>
        <p:sp>
          <p:nvSpPr>
            <p:cNvPr id="52" name="Rectangle 52"/>
            <p:cNvSpPr/>
            <p:nvPr/>
          </p:nvSpPr>
          <p:spPr>
            <a:xfrm>
              <a:off x="6680835" y="3453765"/>
              <a:ext cx="4977765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3587115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5625" y="364045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87096" y="36733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一句话对比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45552" y="3675698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 n 个数，两种记法的开销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14198" y="40576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70217" y="4001452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胜者树：内结点是孩子的副本，要 2n−1 个结点，另开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一块空间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14198" y="46148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70217" y="455866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堆：n 个数就 n 个结点，直接摆在原数组里，额外空间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9910" y="5112544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代价是堆不保存“谁赢过谁”的细节，只保证根是最大值，所以取走根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之后要花 O(logn) 重新整理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8492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17 讲的平方阶排序和这里的锦标赛排序，都在“选最大”上做文章；堆把这件事做到了额外空间 O(1)。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堆：完全二叉树加上一条父子约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定义、顺序存储，以及支撑一切操作的上浮与下沉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结构性与堆序性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下标算术代替指针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219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 ShiftUp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482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 ShiftDown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6083" cy="909257"/>
            <a:chOff x="520446" y="342900"/>
            <a:chExt cx="83860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60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我们要的是：反复取最大，每次 O(logn)，不另开空间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681162"/>
            <a:chOff x="533400" y="1524000"/>
            <a:chExt cx="5410200" cy="16811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81162"/>
            </a:xfrm>
            <a:prstGeom prst="roundRect">
              <a:avLst>
                <a:gd name="adj" fmla="val 7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144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在若干元素中反复找最大的元素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3041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时间：每取一次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581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额外空间：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，结构就摆在原数组里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2797016"/>
              <a:ext cx="3420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锦标赛排序达到了时间要求，但空间是 O(n)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395662"/>
            <a:ext cx="5410200" cy="1956435"/>
            <a:chOff x="533400" y="3395662"/>
            <a:chExt cx="5410200" cy="1956435"/>
          </a:xfrm>
        </p:grpSpPr>
        <p:sp>
          <p:nvSpPr>
            <p:cNvPr id="18" name="Rectangle 18"/>
            <p:cNvSpPr/>
            <p:nvPr/>
          </p:nvSpPr>
          <p:spPr>
            <a:xfrm>
              <a:off x="533400" y="3395662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29012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052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36409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来历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2078" y="3640455"/>
              <a:ext cx="26269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Williams 与 Floyd，1964 年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398811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403040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4001452"/>
              <a:ext cx="4786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J. W. J. Williams 提出 Heapsort（ACM 算法 232）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1050" y="4323398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899" y="436568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040" y="4336732"/>
              <a:ext cx="4330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W. Floyd 在 Treesort 3（ACM 算法 245）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里给出自底向上的建堆方法，也就是今天的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BuildHeap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527935"/>
            <a:chOff x="6248400" y="1524000"/>
            <a:chExt cx="5410200" cy="252793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7078" y="1768792"/>
              <a:ext cx="30007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14 页的文献页码写错了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29790"/>
              <a:ext cx="404098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Communications of the ACM,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7(6):378-348, 1964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，起始页比结束页还大。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2750820"/>
              <a:ext cx="463105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正确页码是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7(6):347-348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。这一点在同一张幻灯片贴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 Floyd 原文扫描件里就能查到：Floyd 引用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Williams 时写的是 “Alg. 232, Comm. ACM 7 (June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1964), 347”。</a:t>
              </a:r>
            </a:p>
          </p:txBody>
        </p:sp>
      </p:grpSp>
      <p:grpSp>
        <p:nvGrpSpPr>
          <p:cNvPr id="43" name="c2-kv-2"/>
          <p:cNvGrpSpPr/>
          <p:nvPr/>
        </p:nvGrpSpPr>
        <p:grpSpPr>
          <a:xfrm>
            <a:off x="6240780" y="4267200"/>
            <a:ext cx="5417820" cy="1015365"/>
            <a:chOff x="6240780" y="4267200"/>
            <a:chExt cx="5417820" cy="1015365"/>
          </a:xfrm>
        </p:grpSpPr>
        <p:sp>
          <p:nvSpPr>
            <p:cNvPr id="38" name="TextBox 38"/>
            <p:cNvSpPr txBox="1"/>
            <p:nvPr/>
          </p:nvSpPr>
          <p:spPr>
            <a:xfrm>
              <a:off x="6240780" y="4267200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Heapsort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81900" y="4267200"/>
              <a:ext cx="36156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J. W. J. Williams, CACM 7(6):347-348,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8691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40780" y="4989195"/>
              <a:ext cx="11362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Treesort 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81900" y="4989195"/>
              <a:ext cx="3998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W. Floyd, CACM 7(12):701, 1964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9188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这两篇都只有一两页，Floyd 那篇正文里就写着“比 HEAPSORT 更短、比较次数更少、只用一次除法”。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堆的定义：一个结构条件加一个序条件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842635" cy="1933575"/>
            <a:chOff x="533400" y="1524000"/>
            <a:chExt cx="5842635" cy="1933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33575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68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最大堆（大根堆）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一棵完全二叉树，其中任意结点的关键词大于等于它的两个孩子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的关键词。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5335" y="26984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36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228" y="27112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：必须是完全二叉树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5335" y="301847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680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6228" y="3031331"/>
              <a:ext cx="3866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堆序性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：任意结点的关键词 ≥ 其孩子的关键词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42360"/>
            <a:ext cx="5842635" cy="1293495"/>
            <a:chOff x="533400" y="3642360"/>
            <a:chExt cx="5842635" cy="1293495"/>
          </a:xfrm>
        </p:grpSpPr>
        <p:sp>
          <p:nvSpPr>
            <p:cNvPr id="20" name="Rectangle 20"/>
            <p:cNvSpPr/>
            <p:nvPr/>
          </p:nvSpPr>
          <p:spPr>
            <a:xfrm>
              <a:off x="533400" y="364236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77571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5543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76744" y="388667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最小堆（小根堆）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23814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一棵完全二叉树，其中任意结点的关键词小于等于它的两个孩子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的关键词。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121592"/>
            <a:ext cx="5842635" cy="1152525"/>
            <a:chOff x="533400" y="5121592"/>
            <a:chExt cx="5842635" cy="1152525"/>
          </a:xfrm>
        </p:grpSpPr>
        <p:sp>
          <p:nvSpPr>
            <p:cNvPr id="27" name="Rectangle 27"/>
            <p:cNvSpPr/>
            <p:nvPr/>
          </p:nvSpPr>
          <p:spPr>
            <a:xfrm>
              <a:off x="533400" y="5121592"/>
              <a:ext cx="5842635" cy="1152525"/>
            </a:xfrm>
            <a:prstGeom prst="roundRect">
              <a:avLst>
                <a:gd name="adj" fmla="val 991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597845"/>
              <a:ext cx="200023" cy="200023"/>
              <a:chOff x="738188" y="5597845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5978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664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46687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最大堆的根是全体元素的最大者，最小堆的根是最小者。这就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是堆唯一保证的事。</a:t>
              </a:r>
            </a:p>
          </p:txBody>
        </p:sp>
      </p:grpSp>
      <p:grpSp>
        <p:nvGrpSpPr>
          <p:cNvPr id="59" name="c2-tree-1"/>
          <p:cNvGrpSpPr/>
          <p:nvPr/>
        </p:nvGrpSpPr>
        <p:grpSpPr>
          <a:xfrm>
            <a:off x="6789420" y="1656397"/>
            <a:ext cx="4450080" cy="2414588"/>
            <a:chOff x="6789420" y="1656397"/>
            <a:chExt cx="4450080" cy="2414588"/>
          </a:xfrm>
        </p:grpSpPr>
        <p:sp>
          <p:nvSpPr>
            <p:cNvPr id="33" name="Freeform 33"/>
            <p:cNvSpPr/>
            <p:nvPr/>
          </p:nvSpPr>
          <p:spPr>
            <a:xfrm>
              <a:off x="6992302" y="3198495"/>
              <a:ext cx="311467" cy="669608"/>
            </a:xfrm>
            <a:custGeom>
              <a:avLst/>
              <a:gdLst/>
              <a:ahLst/>
              <a:cxnLst/>
              <a:rect l="l" t="t" r="r" b="b"/>
              <a:pathLst>
                <a:path w="311467" h="669608">
                  <a:moveTo>
                    <a:pt x="311467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303770" y="3198495"/>
              <a:ext cx="310515" cy="669608"/>
            </a:xfrm>
            <a:custGeom>
              <a:avLst/>
              <a:gdLst/>
              <a:ahLst/>
              <a:cxnLst/>
              <a:rect l="l" t="t" r="r" b="b"/>
              <a:pathLst>
                <a:path w="310515" h="669608">
                  <a:moveTo>
                    <a:pt x="0" y="0"/>
                  </a:moveTo>
                  <a:lnTo>
                    <a:pt x="310515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03770" y="2528888"/>
              <a:ext cx="621983" cy="669608"/>
            </a:xfrm>
            <a:custGeom>
              <a:avLst/>
              <a:gdLst/>
              <a:ahLst/>
              <a:cxnLst/>
              <a:rect l="l" t="t" r="r" b="b"/>
              <a:pathLst>
                <a:path w="621983" h="669608">
                  <a:moveTo>
                    <a:pt x="621983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925752" y="2528888"/>
              <a:ext cx="621982" cy="669608"/>
            </a:xfrm>
            <a:custGeom>
              <a:avLst/>
              <a:gdLst/>
              <a:ahLst/>
              <a:cxnLst/>
              <a:rect l="l" t="t" r="r" b="b"/>
              <a:pathLst>
                <a:path w="621982" h="669608">
                  <a:moveTo>
                    <a:pt x="0" y="0"/>
                  </a:moveTo>
                  <a:lnTo>
                    <a:pt x="621982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791700" y="2528888"/>
              <a:ext cx="622935" cy="669608"/>
            </a:xfrm>
            <a:custGeom>
              <a:avLst/>
              <a:gdLst/>
              <a:ahLst/>
              <a:cxnLst/>
              <a:rect l="l" t="t" r="r" b="b"/>
              <a:pathLst>
                <a:path w="622935" h="669608">
                  <a:moveTo>
                    <a:pt x="622935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414635" y="2528888"/>
              <a:ext cx="621982" cy="669608"/>
            </a:xfrm>
            <a:custGeom>
              <a:avLst/>
              <a:gdLst/>
              <a:ahLst/>
              <a:cxnLst/>
              <a:rect l="l" t="t" r="r" b="b"/>
              <a:pathLst>
                <a:path w="621982" h="669608">
                  <a:moveTo>
                    <a:pt x="0" y="0"/>
                  </a:moveTo>
                  <a:lnTo>
                    <a:pt x="621982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925752" y="1859280"/>
              <a:ext cx="1243965" cy="669608"/>
            </a:xfrm>
            <a:custGeom>
              <a:avLst/>
              <a:gdLst/>
              <a:ahLst/>
              <a:cxnLst/>
              <a:rect l="l" t="t" r="r" b="b"/>
              <a:pathLst>
                <a:path w="1243965" h="669608">
                  <a:moveTo>
                    <a:pt x="1243965" y="0"/>
                  </a:moveTo>
                  <a:lnTo>
                    <a:pt x="0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169718" y="1859280"/>
              <a:ext cx="1244918" cy="669608"/>
            </a:xfrm>
            <a:custGeom>
              <a:avLst/>
              <a:gdLst/>
              <a:ahLst/>
              <a:cxnLst/>
              <a:rect l="l" t="t" r="r" b="b"/>
              <a:pathLst>
                <a:path w="1244918" h="669608">
                  <a:moveTo>
                    <a:pt x="0" y="0"/>
                  </a:moveTo>
                  <a:lnTo>
                    <a:pt x="1244918" y="6696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789420" y="366522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411402" y="366522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100888" y="299561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344852" y="299561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722870" y="23260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9588818" y="299561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833735" y="299561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211753" y="232600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966835" y="1656397"/>
              <a:ext cx="405765" cy="40576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92915" y="37938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14897" y="379380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4382" y="31242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48347" y="31242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26365" y="24536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38958" y="31242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37230" y="312420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15247" y="245364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70330" y="178403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4389120"/>
            <a:ext cx="4977765" cy="1884998"/>
            <a:chOff x="6680835" y="4389120"/>
            <a:chExt cx="4977765" cy="1884998"/>
          </a:xfrm>
        </p:grpSpPr>
        <p:sp>
          <p:nvSpPr>
            <p:cNvPr id="60" name="Rectangle 60"/>
            <p:cNvSpPr/>
            <p:nvPr/>
          </p:nvSpPr>
          <p:spPr>
            <a:xfrm>
              <a:off x="6680835" y="4389120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90360" y="452247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22770" y="45929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05079" y="46286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容易想歪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08976" y="463248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堆只约束父子，不约束兄弟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15531" y="4983956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上图里 39 比它的兄弟 65 小，照样是合法的最大堆；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同一层的 65 和 9 之间也没有任何关系。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15531" y="557545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所以堆的中序遍历不是有序序列，堆里查一个指定的值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仍然要 O(n)。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哪些不是堆：结构性坏了，或者堆序性坏了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ree-1"/>
          <p:cNvGrpSpPr/>
          <p:nvPr/>
        </p:nvGrpSpPr>
        <p:grpSpPr>
          <a:xfrm>
            <a:off x="1024890" y="1573530"/>
            <a:ext cx="3750945" cy="1308735"/>
            <a:chOff x="1024890" y="1573530"/>
            <a:chExt cx="3750945" cy="1308735"/>
          </a:xfrm>
        </p:grpSpPr>
        <p:sp>
          <p:nvSpPr>
            <p:cNvPr id="7" name="Freeform 7"/>
            <p:cNvSpPr/>
            <p:nvPr/>
          </p:nvSpPr>
          <p:spPr>
            <a:xfrm>
              <a:off x="1209675" y="2227898"/>
              <a:ext cx="676275" cy="469582"/>
            </a:xfrm>
            <a:custGeom>
              <a:avLst/>
              <a:gdLst/>
              <a:ahLst/>
              <a:cxnLst/>
              <a:rect l="l" t="t" r="r" b="b"/>
              <a:pathLst>
                <a:path w="676275" h="469582">
                  <a:moveTo>
                    <a:pt x="676275" y="0"/>
                  </a:moveTo>
                  <a:lnTo>
                    <a:pt x="0" y="4695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14775" y="2227898"/>
              <a:ext cx="676275" cy="469582"/>
            </a:xfrm>
            <a:custGeom>
              <a:avLst/>
              <a:gdLst/>
              <a:ahLst/>
              <a:cxnLst/>
              <a:rect l="l" t="t" r="r" b="b"/>
              <a:pathLst>
                <a:path w="676275" h="469582">
                  <a:moveTo>
                    <a:pt x="676275" y="0"/>
                  </a:moveTo>
                  <a:lnTo>
                    <a:pt x="0" y="4695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1758315"/>
              <a:ext cx="1352550" cy="469583"/>
            </a:xfrm>
            <a:custGeom>
              <a:avLst/>
              <a:gdLst/>
              <a:ahLst/>
              <a:cxnLst/>
              <a:rect l="l" t="t" r="r" b="b"/>
              <a:pathLst>
                <a:path w="1352550" h="469583">
                  <a:moveTo>
                    <a:pt x="1352550" y="0"/>
                  </a:moveTo>
                  <a:lnTo>
                    <a:pt x="0" y="469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1758315"/>
              <a:ext cx="1352550" cy="469583"/>
            </a:xfrm>
            <a:custGeom>
              <a:avLst/>
              <a:gdLst/>
              <a:ahLst/>
              <a:cxnLst/>
              <a:rect l="l" t="t" r="r" b="b"/>
              <a:pathLst>
                <a:path w="1352550" h="469583">
                  <a:moveTo>
                    <a:pt x="0" y="0"/>
                  </a:moveTo>
                  <a:lnTo>
                    <a:pt x="1352550" y="469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24890" y="251269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701165" y="2043112"/>
              <a:ext cx="369570" cy="36957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729990" y="251269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406265" y="2043112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53715" y="157353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4944" y="264128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11219" y="2171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75028" y="26412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16319" y="21717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63769" y="17030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102292"/>
            <a:ext cx="5410200" cy="729615"/>
            <a:chOff x="533400" y="3102292"/>
            <a:chExt cx="5410200" cy="729615"/>
          </a:xfrm>
        </p:grpSpPr>
        <p:sp>
          <p:nvSpPr>
            <p:cNvPr id="22" name="Rectangle 22"/>
            <p:cNvSpPr/>
            <p:nvPr/>
          </p:nvSpPr>
          <p:spPr>
            <a:xfrm>
              <a:off x="533400" y="310229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3363396"/>
              <a:ext cx="224134" cy="192560"/>
              <a:chOff x="726129" y="3363396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34337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33633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3511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3248025"/>
              <a:ext cx="45228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不满足结构性：层序编号第 5 号位空着而第 6 号位有值，不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是完全二叉树。</a:t>
              </a:r>
            </a:p>
          </p:txBody>
        </p:sp>
      </p:grpSp>
      <p:grpSp>
        <p:nvGrpSpPr>
          <p:cNvPr id="46" name="c1-tree-3"/>
          <p:cNvGrpSpPr/>
          <p:nvPr/>
        </p:nvGrpSpPr>
        <p:grpSpPr>
          <a:xfrm>
            <a:off x="1024890" y="4050982"/>
            <a:ext cx="3750945" cy="1308736"/>
            <a:chOff x="1024890" y="4050982"/>
            <a:chExt cx="3750945" cy="1308736"/>
          </a:xfrm>
        </p:grpSpPr>
        <p:sp>
          <p:nvSpPr>
            <p:cNvPr id="29" name="Freeform 29"/>
            <p:cNvSpPr/>
            <p:nvPr/>
          </p:nvSpPr>
          <p:spPr>
            <a:xfrm>
              <a:off x="1209675" y="4705350"/>
              <a:ext cx="676275" cy="469582"/>
            </a:xfrm>
            <a:custGeom>
              <a:avLst/>
              <a:gdLst/>
              <a:ahLst/>
              <a:cxnLst/>
              <a:rect l="l" t="t" r="r" b="b"/>
              <a:pathLst>
                <a:path w="676275" h="469582">
                  <a:moveTo>
                    <a:pt x="676275" y="0"/>
                  </a:moveTo>
                  <a:lnTo>
                    <a:pt x="0" y="4695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85950" y="4705350"/>
              <a:ext cx="676275" cy="469582"/>
            </a:xfrm>
            <a:custGeom>
              <a:avLst/>
              <a:gdLst/>
              <a:ahLst/>
              <a:cxnLst/>
              <a:rect l="l" t="t" r="r" b="b"/>
              <a:pathLst>
                <a:path w="676275" h="469582">
                  <a:moveTo>
                    <a:pt x="0" y="0"/>
                  </a:moveTo>
                  <a:lnTo>
                    <a:pt x="676275" y="4695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914775" y="4705350"/>
              <a:ext cx="676275" cy="469582"/>
            </a:xfrm>
            <a:custGeom>
              <a:avLst/>
              <a:gdLst/>
              <a:ahLst/>
              <a:cxnLst/>
              <a:rect l="l" t="t" r="r" b="b"/>
              <a:pathLst>
                <a:path w="676275" h="469582">
                  <a:moveTo>
                    <a:pt x="676275" y="0"/>
                  </a:moveTo>
                  <a:lnTo>
                    <a:pt x="0" y="4695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885950" y="4235768"/>
              <a:ext cx="1352550" cy="469583"/>
            </a:xfrm>
            <a:custGeom>
              <a:avLst/>
              <a:gdLst/>
              <a:ahLst/>
              <a:cxnLst/>
              <a:rect l="l" t="t" r="r" b="b"/>
              <a:pathLst>
                <a:path w="1352550" h="469583">
                  <a:moveTo>
                    <a:pt x="1352550" y="0"/>
                  </a:moveTo>
                  <a:lnTo>
                    <a:pt x="0" y="469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238500" y="4235768"/>
              <a:ext cx="1352550" cy="469583"/>
            </a:xfrm>
            <a:custGeom>
              <a:avLst/>
              <a:gdLst/>
              <a:ahLst/>
              <a:cxnLst/>
              <a:rect l="l" t="t" r="r" b="b"/>
              <a:pathLst>
                <a:path w="1352550" h="469583">
                  <a:moveTo>
                    <a:pt x="0" y="0"/>
                  </a:moveTo>
                  <a:lnTo>
                    <a:pt x="1352550" y="46958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24890" y="499014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377440" y="4990148"/>
              <a:ext cx="369570" cy="36957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701165" y="45205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729990" y="499014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4406265" y="45205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053715" y="4050982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4944" y="51187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87494" y="51187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11219" y="46491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40044" y="51187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16319" y="46491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98753" y="41805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3" name="c1-callout-4"/>
          <p:cNvGrpSpPr/>
          <p:nvPr/>
        </p:nvGrpSpPr>
        <p:grpSpPr>
          <a:xfrm>
            <a:off x="533400" y="5579745"/>
            <a:ext cx="5410200" cy="749618"/>
            <a:chOff x="533400" y="5579745"/>
            <a:chExt cx="5410200" cy="749618"/>
          </a:xfrm>
        </p:grpSpPr>
        <p:sp>
          <p:nvSpPr>
            <p:cNvPr id="47" name="Rectangle 47"/>
            <p:cNvSpPr/>
            <p:nvPr/>
          </p:nvSpPr>
          <p:spPr>
            <a:xfrm>
              <a:off x="533400" y="5579745"/>
              <a:ext cx="5410200" cy="749618"/>
            </a:xfrm>
            <a:prstGeom prst="roundRect">
              <a:avLst>
                <a:gd name="adj" fmla="val 1524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26129" y="5850373"/>
              <a:ext cx="224134" cy="192560"/>
              <a:chOff x="726129" y="5850373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" y="59207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6129" y="58503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9985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735955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不满足堆序性：按小根堆看，15 比父亲 16 还小。根 5 仍是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全树最小，光看根判断不出问题。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248400" y="1524000"/>
            <a:ext cx="5410200" cy="1503045"/>
            <a:chOff x="6248400" y="1524000"/>
            <a:chExt cx="5410200" cy="1503045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165735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3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7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判别顺序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88339" y="17459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先数结构，再查父子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73190" y="205930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28868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53987" y="2071688"/>
              <a:ext cx="4384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按层序给结点编号 1, 2, …, n，看编号是否连续无空缺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73190" y="23593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28868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53987" y="2371725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i ≤ ⌊n/2⌋，检查 R[i] 与 R[2i]、R[2i+1] 的大小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248400" y="3196590"/>
            <a:ext cx="5410200" cy="1760220"/>
            <a:chOff x="6248400" y="3196590"/>
            <a:chExt cx="5410200" cy="1760220"/>
          </a:xfrm>
        </p:grpSpPr>
        <p:sp>
          <p:nvSpPr>
            <p:cNvPr id="66" name="Rectangle 66"/>
            <p:cNvSpPr/>
            <p:nvPr/>
          </p:nvSpPr>
          <p:spPr>
            <a:xfrm>
              <a:off x="6248400" y="319659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57925" y="332994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73190" y="338328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50609" y="341614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另外两个反例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36942" y="341852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课件同一页的右半边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481762" y="38004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37782" y="3744277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结点 21 只挂了一个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右孩子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10：左孩子空着，不是完全二叉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81762" y="43576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37782" y="4301490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小根堆里根写 37、孩子写 19 和 30：根反而最大，第一层就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坏了</a:t>
              </a:r>
            </a:p>
          </p:txBody>
        </p:sp>
      </p:grpSp>
      <p:grpSp>
        <p:nvGrpSpPr>
          <p:cNvPr id="83" name="c2-card-3"/>
          <p:cNvGrpSpPr/>
          <p:nvPr/>
        </p:nvGrpSpPr>
        <p:grpSpPr>
          <a:xfrm>
            <a:off x="6248400" y="5126355"/>
            <a:ext cx="5410200" cy="1202055"/>
            <a:chOff x="6248400" y="5126355"/>
            <a:chExt cx="5410200" cy="1202055"/>
          </a:xfrm>
        </p:grpSpPr>
        <p:sp>
          <p:nvSpPr>
            <p:cNvPr id="76" name="Rectangle 76"/>
            <p:cNvSpPr/>
            <p:nvPr/>
          </p:nvSpPr>
          <p:spPr>
            <a:xfrm>
              <a:off x="6248400" y="5126355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7925" y="525970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73190" y="531304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50609" y="534590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反过来也成立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36942" y="53482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合法的例子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481762" y="57302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637782" y="5674042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最大堆 56（19, 40）、19（18, 9）、40（3）：只有一个孩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子时挂左边是允许的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堆的顺序存储：下标算术代替指针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完全二叉树的层序编号连续，所以父子关系可以直接算出来，不必存指针。</a:t>
              </a:r>
            </a:p>
          </p:txBody>
        </p:sp>
      </p:grpSp>
      <p:grpSp>
        <p:nvGrpSpPr>
          <p:cNvPr id="44" name="c1-tree-1"/>
          <p:cNvGrpSpPr/>
          <p:nvPr/>
        </p:nvGrpSpPr>
        <p:grpSpPr>
          <a:xfrm>
            <a:off x="734378" y="2217420"/>
            <a:ext cx="5278755" cy="3154680"/>
            <a:chOff x="734378" y="2217420"/>
            <a:chExt cx="5278755" cy="3154680"/>
          </a:xfrm>
        </p:grpSpPr>
        <p:sp>
          <p:nvSpPr>
            <p:cNvPr id="9" name="Freeform 9"/>
            <p:cNvSpPr/>
            <p:nvPr/>
          </p:nvSpPr>
          <p:spPr>
            <a:xfrm>
              <a:off x="912495" y="4261485"/>
              <a:ext cx="378142" cy="932497"/>
            </a:xfrm>
            <a:custGeom>
              <a:avLst/>
              <a:gdLst/>
              <a:ahLst/>
              <a:cxnLst/>
              <a:rect l="l" t="t" r="r" b="b"/>
              <a:pathLst>
                <a:path w="378142" h="932497">
                  <a:moveTo>
                    <a:pt x="378142" y="0"/>
                  </a:moveTo>
                  <a:lnTo>
                    <a:pt x="0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90638" y="4261485"/>
              <a:ext cx="379095" cy="932497"/>
            </a:xfrm>
            <a:custGeom>
              <a:avLst/>
              <a:gdLst/>
              <a:ahLst/>
              <a:cxnLst/>
              <a:rect l="l" t="t" r="r" b="b"/>
              <a:pathLst>
                <a:path w="379095" h="932497">
                  <a:moveTo>
                    <a:pt x="0" y="0"/>
                  </a:moveTo>
                  <a:lnTo>
                    <a:pt x="379095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426970" y="4261485"/>
              <a:ext cx="379095" cy="932497"/>
            </a:xfrm>
            <a:custGeom>
              <a:avLst/>
              <a:gdLst/>
              <a:ahLst/>
              <a:cxnLst/>
              <a:rect l="l" t="t" r="r" b="b"/>
              <a:pathLst>
                <a:path w="379095" h="932497">
                  <a:moveTo>
                    <a:pt x="379095" y="0"/>
                  </a:moveTo>
                  <a:lnTo>
                    <a:pt x="0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06065" y="4261485"/>
              <a:ext cx="378142" cy="932497"/>
            </a:xfrm>
            <a:custGeom>
              <a:avLst/>
              <a:gdLst/>
              <a:ahLst/>
              <a:cxnLst/>
              <a:rect l="l" t="t" r="r" b="b"/>
              <a:pathLst>
                <a:path w="378142" h="932497">
                  <a:moveTo>
                    <a:pt x="0" y="0"/>
                  </a:moveTo>
                  <a:lnTo>
                    <a:pt x="378142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90638" y="3328035"/>
              <a:ext cx="757238" cy="933450"/>
            </a:xfrm>
            <a:custGeom>
              <a:avLst/>
              <a:gdLst/>
              <a:ahLst/>
              <a:cxnLst/>
              <a:rect l="l" t="t" r="r" b="b"/>
              <a:pathLst>
                <a:path w="757238" h="933450">
                  <a:moveTo>
                    <a:pt x="757238" y="0"/>
                  </a:moveTo>
                  <a:lnTo>
                    <a:pt x="0" y="933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47875" y="3328035"/>
              <a:ext cx="758190" cy="933450"/>
            </a:xfrm>
            <a:custGeom>
              <a:avLst/>
              <a:gdLst/>
              <a:ahLst/>
              <a:cxnLst/>
              <a:rect l="l" t="t" r="r" b="b"/>
              <a:pathLst>
                <a:path w="758190" h="933450">
                  <a:moveTo>
                    <a:pt x="0" y="0"/>
                  </a:moveTo>
                  <a:lnTo>
                    <a:pt x="758190" y="933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41445" y="4261485"/>
              <a:ext cx="379095" cy="932497"/>
            </a:xfrm>
            <a:custGeom>
              <a:avLst/>
              <a:gdLst/>
              <a:ahLst/>
              <a:cxnLst/>
              <a:rect l="l" t="t" r="r" b="b"/>
              <a:pathLst>
                <a:path w="379095" h="932497">
                  <a:moveTo>
                    <a:pt x="379095" y="0"/>
                  </a:moveTo>
                  <a:lnTo>
                    <a:pt x="0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20540" y="3328035"/>
              <a:ext cx="757238" cy="933450"/>
            </a:xfrm>
            <a:custGeom>
              <a:avLst/>
              <a:gdLst/>
              <a:ahLst/>
              <a:cxnLst/>
              <a:rect l="l" t="t" r="r" b="b"/>
              <a:pathLst>
                <a:path w="757238" h="933450">
                  <a:moveTo>
                    <a:pt x="757238" y="0"/>
                  </a:moveTo>
                  <a:lnTo>
                    <a:pt x="0" y="933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077778" y="3328035"/>
              <a:ext cx="757238" cy="933450"/>
            </a:xfrm>
            <a:custGeom>
              <a:avLst/>
              <a:gdLst/>
              <a:ahLst/>
              <a:cxnLst/>
              <a:rect l="l" t="t" r="r" b="b"/>
              <a:pathLst>
                <a:path w="757238" h="933450">
                  <a:moveTo>
                    <a:pt x="0" y="0"/>
                  </a:moveTo>
                  <a:lnTo>
                    <a:pt x="757238" y="933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47875" y="2395538"/>
              <a:ext cx="1515428" cy="932497"/>
            </a:xfrm>
            <a:custGeom>
              <a:avLst/>
              <a:gdLst/>
              <a:ahLst/>
              <a:cxnLst/>
              <a:rect l="l" t="t" r="r" b="b"/>
              <a:pathLst>
                <a:path w="1515428" h="932497">
                  <a:moveTo>
                    <a:pt x="1515428" y="0"/>
                  </a:moveTo>
                  <a:lnTo>
                    <a:pt x="0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563302" y="2395538"/>
              <a:ext cx="1514475" cy="932497"/>
            </a:xfrm>
            <a:custGeom>
              <a:avLst/>
              <a:gdLst/>
              <a:ahLst/>
              <a:cxnLst/>
              <a:rect l="l" t="t" r="r" b="b"/>
              <a:pathLst>
                <a:path w="1514475" h="932497">
                  <a:moveTo>
                    <a:pt x="0" y="0"/>
                  </a:moveTo>
                  <a:lnTo>
                    <a:pt x="1514475" y="9324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34378" y="50158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491615" y="50158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112520" y="40833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248852" y="50158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006090" y="50158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627948" y="40833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869758" y="314991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763328" y="50158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142423" y="40833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656898" y="40833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899660" y="314991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385185" y="221742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7764" y="51377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5001" y="51377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5906" y="42052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52239" y="51377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09476" y="51377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31334" y="42052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73144" y="327183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6714" y="51377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45809" y="42052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60284" y="42052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03046" y="327183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88571" y="23393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</p:grpSp>
      <p:grpSp>
        <p:nvGrpSpPr>
          <p:cNvPr id="82" name="c1-cells-2"/>
          <p:cNvGrpSpPr/>
          <p:nvPr/>
        </p:nvGrpSpPr>
        <p:grpSpPr>
          <a:xfrm>
            <a:off x="528638" y="5825490"/>
            <a:ext cx="5233034" cy="571976"/>
            <a:chOff x="528638" y="5825490"/>
            <a:chExt cx="5233034" cy="571976"/>
          </a:xfrm>
        </p:grpSpPr>
        <p:sp>
          <p:nvSpPr>
            <p:cNvPr id="45" name="TextBox 45"/>
            <p:cNvSpPr txBox="1"/>
            <p:nvPr/>
          </p:nvSpPr>
          <p:spPr>
            <a:xfrm>
              <a:off x="528638" y="59474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2472" y="582549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72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515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863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706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7054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9897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245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4088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5436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279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9627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470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3818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6661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8009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0852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2200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5043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391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9234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0582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42572" y="58254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77391" y="5947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69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260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451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1642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33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0024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4215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8406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259703" y="62355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648446" y="62355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067546" y="62355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86646" y="62355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93" name="c2-card-1"/>
          <p:cNvGrpSpPr/>
          <p:nvPr/>
        </p:nvGrpSpPr>
        <p:grpSpPr>
          <a:xfrm>
            <a:off x="6898005" y="1928812"/>
            <a:ext cx="4760595" cy="1642110"/>
            <a:chOff x="6898005" y="1928812"/>
            <a:chExt cx="4760595" cy="1642110"/>
          </a:xfrm>
        </p:grpSpPr>
        <p:sp>
          <p:nvSpPr>
            <p:cNvPr id="83" name="Rectangle 83"/>
            <p:cNvSpPr/>
            <p:nvPr/>
          </p:nvSpPr>
          <p:spPr>
            <a:xfrm>
              <a:off x="6898005" y="1928812"/>
              <a:ext cx="4760595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907530" y="2062162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117080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201649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下标关系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931658" y="2149316"/>
              <a:ext cx="2249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根放在 R[1]，从 1 开始编号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126605" y="2518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82053" y="2465546"/>
              <a:ext cx="4180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左孩子（若有）在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R[2i]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，右孩子（若有）在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R[2i+1]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126605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82053" y="2751296"/>
              <a:ext cx="32491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父结点在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R[⌊i/2⌋]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，整数除法自动取下整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111746" y="3031808"/>
              <a:ext cx="40111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R[0] 起编号则是孩子 2i+1、2i+2，父亲 ⌊(i−1)/2⌋，两套不能混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</p:grpSp>
      <p:grpSp>
        <p:nvGrpSpPr>
          <p:cNvPr id="101" name="c2-card-2"/>
          <p:cNvGrpSpPr/>
          <p:nvPr/>
        </p:nvGrpSpPr>
        <p:grpSpPr>
          <a:xfrm>
            <a:off x="6898005" y="3735705"/>
            <a:ext cx="4760595" cy="1687830"/>
            <a:chOff x="6898005" y="3735705"/>
            <a:chExt cx="4760595" cy="1687830"/>
          </a:xfrm>
        </p:grpSpPr>
        <p:sp>
          <p:nvSpPr>
            <p:cNvPr id="94" name="Rectangle 94"/>
            <p:cNvSpPr/>
            <p:nvPr/>
          </p:nvSpPr>
          <p:spPr>
            <a:xfrm>
              <a:off x="6898005" y="3735705"/>
              <a:ext cx="476059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907530" y="386905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7117080" y="391668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194499" y="394954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怎么读这张图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181213" y="3956209"/>
              <a:ext cx="1508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5 的结点是 85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110603" y="4272439"/>
              <a:ext cx="3475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孩子在 R[10]=58 和 R[11]=10，父亲在 R[⌊5/2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⌋]=R[2]=93，和图里对得上。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110603" y="4800124"/>
              <a:ext cx="4101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n=12 时最后一个非叶结点是 R[6]=44，R[7] 往后全是叶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子。</a:t>
              </a:r>
            </a:p>
          </p:txBody>
        </p:sp>
      </p:grpSp>
      <p:grpSp>
        <p:nvGrpSpPr>
          <p:cNvPr id="108" name="c2-callout-3"/>
          <p:cNvGrpSpPr/>
          <p:nvPr/>
        </p:nvGrpSpPr>
        <p:grpSpPr>
          <a:xfrm>
            <a:off x="6898005" y="5588318"/>
            <a:ext cx="4760595" cy="702945"/>
            <a:chOff x="6898005" y="5588318"/>
            <a:chExt cx="4760595" cy="702945"/>
          </a:xfrm>
        </p:grpSpPr>
        <p:sp>
          <p:nvSpPr>
            <p:cNvPr id="102" name="Rectangle 102"/>
            <p:cNvSpPr/>
            <p:nvPr/>
          </p:nvSpPr>
          <p:spPr>
            <a:xfrm>
              <a:off x="6898005" y="5588318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090734" y="5836086"/>
              <a:ext cx="224134" cy="192560"/>
              <a:chOff x="7090734" y="5836086"/>
              <a:chExt cx="224134" cy="19256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7202805" y="59064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090734" y="58360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202805" y="59842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7405878" y="5733574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这套算术只对完全二叉树成立。一般二叉树按层序摆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进数组会留下大量空洞，最坏要 2ʰ⁺¹−1 个单元。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上浮：结点变大了，就往上走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150558" cy="308039"/>
            <a:chOff x="525399" y="1550194"/>
            <a:chExt cx="815055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1505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大根堆里只有 R[i] 变大时才会破坏堆序性，而且只可能在 R[i] 到根这条路径上破坏。</a:t>
              </a:r>
            </a:p>
          </p:txBody>
        </p:sp>
      </p:grpSp>
      <p:grpSp>
        <p:nvGrpSpPr>
          <p:cNvPr id="35" name="c1-tree-1"/>
          <p:cNvGrpSpPr/>
          <p:nvPr/>
        </p:nvGrpSpPr>
        <p:grpSpPr>
          <a:xfrm>
            <a:off x="635318" y="2091690"/>
            <a:ext cx="4462462" cy="2419350"/>
            <a:chOff x="635318" y="2091690"/>
            <a:chExt cx="4462462" cy="2419350"/>
          </a:xfrm>
        </p:grpSpPr>
        <p:sp>
          <p:nvSpPr>
            <p:cNvPr id="9" name="Freeform 9"/>
            <p:cNvSpPr/>
            <p:nvPr/>
          </p:nvSpPr>
          <p:spPr>
            <a:xfrm>
              <a:off x="844868" y="3634740"/>
              <a:ext cx="310515" cy="666750"/>
            </a:xfrm>
            <a:custGeom>
              <a:avLst/>
              <a:gdLst/>
              <a:ahLst/>
              <a:cxnLst/>
              <a:rect l="l" t="t" r="r" b="b"/>
              <a:pathLst>
                <a:path w="310515" h="666750">
                  <a:moveTo>
                    <a:pt x="310515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5382" y="3634740"/>
              <a:ext cx="311468" cy="666750"/>
            </a:xfrm>
            <a:custGeom>
              <a:avLst/>
              <a:gdLst/>
              <a:ahLst/>
              <a:cxnLst/>
              <a:rect l="l" t="t" r="r" b="b"/>
              <a:pathLst>
                <a:path w="311468" h="666750">
                  <a:moveTo>
                    <a:pt x="0" y="0"/>
                  </a:moveTo>
                  <a:lnTo>
                    <a:pt x="311468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5382" y="2967990"/>
              <a:ext cx="621982" cy="666750"/>
            </a:xfrm>
            <a:custGeom>
              <a:avLst/>
              <a:gdLst/>
              <a:ahLst/>
              <a:cxnLst/>
              <a:rect l="l" t="t" r="r" b="b"/>
              <a:pathLst>
                <a:path w="621982" h="666750">
                  <a:moveTo>
                    <a:pt x="621982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7365" y="2967990"/>
              <a:ext cx="622935" cy="666750"/>
            </a:xfrm>
            <a:custGeom>
              <a:avLst/>
              <a:gdLst/>
              <a:ahLst/>
              <a:cxnLst/>
              <a:rect l="l" t="t" r="r" b="b"/>
              <a:pathLst>
                <a:path w="622935" h="666750">
                  <a:moveTo>
                    <a:pt x="0" y="0"/>
                  </a:moveTo>
                  <a:lnTo>
                    <a:pt x="62293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4265" y="2967990"/>
              <a:ext cx="621982" cy="666750"/>
            </a:xfrm>
            <a:custGeom>
              <a:avLst/>
              <a:gdLst/>
              <a:ahLst/>
              <a:cxnLst/>
              <a:rect l="l" t="t" r="r" b="b"/>
              <a:pathLst>
                <a:path w="621982" h="666750">
                  <a:moveTo>
                    <a:pt x="621982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66248" y="2967990"/>
              <a:ext cx="621983" cy="666750"/>
            </a:xfrm>
            <a:custGeom>
              <a:avLst/>
              <a:gdLst/>
              <a:ahLst/>
              <a:cxnLst/>
              <a:rect l="l" t="t" r="r" b="b"/>
              <a:pathLst>
                <a:path w="621983" h="666750">
                  <a:moveTo>
                    <a:pt x="0" y="0"/>
                  </a:moveTo>
                  <a:lnTo>
                    <a:pt x="621983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2301240"/>
              <a:ext cx="1244918" cy="666750"/>
            </a:xfrm>
            <a:custGeom>
              <a:avLst/>
              <a:gdLst/>
              <a:ahLst/>
              <a:cxnLst/>
              <a:rect l="l" t="t" r="r" b="b"/>
              <a:pathLst>
                <a:path w="1244918" h="666750">
                  <a:moveTo>
                    <a:pt x="1244918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22282" y="2301240"/>
              <a:ext cx="1243965" cy="666750"/>
            </a:xfrm>
            <a:custGeom>
              <a:avLst/>
              <a:gdLst/>
              <a:ahLst/>
              <a:cxnLst/>
              <a:rect l="l" t="t" r="r" b="b"/>
              <a:pathLst>
                <a:path w="1243965" h="666750">
                  <a:moveTo>
                    <a:pt x="0" y="0"/>
                  </a:moveTo>
                  <a:lnTo>
                    <a:pt x="124396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35318" y="40919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57300" y="40919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45832" y="342519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190750" y="34251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567815" y="275844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434715" y="34251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678680" y="34251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056698" y="27584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812732" y="209169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5480" y="4226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7462" y="42262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5995" y="35594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00912" y="35594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7977" y="28927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91523" y="35594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88842" y="35594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6860" y="289274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22895" y="222599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825365"/>
            <a:ext cx="4977765" cy="1352550"/>
            <a:chOff x="533400" y="4825365"/>
            <a:chExt cx="4977765" cy="1352550"/>
          </a:xfrm>
        </p:grpSpPr>
        <p:sp>
          <p:nvSpPr>
            <p:cNvPr id="36" name="Rectangle 36"/>
            <p:cNvSpPr/>
            <p:nvPr/>
          </p:nvSpPr>
          <p:spPr>
            <a:xfrm>
              <a:off x="533400" y="4825365"/>
              <a:ext cx="4977765" cy="1352550"/>
            </a:xfrm>
            <a:prstGeom prst="roundRect">
              <a:avLst>
                <a:gd name="adj" fmla="val 845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400675"/>
              <a:ext cx="200026" cy="200025"/>
              <a:chOff x="738188" y="540067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4006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4451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5562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119688"/>
              <a:ext cx="4082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R[8] 从 17 改成 80 之后的样子。80 一路换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到了下标 2，原来在下标 2、4 的 78、39 各下移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一层。</a:t>
              </a:r>
            </a:p>
          </p:txBody>
        </p:sp>
      </p:grpSp>
      <p:grpSp>
        <p:nvGrpSpPr>
          <p:cNvPr id="127" name="c2-cells-1"/>
          <p:cNvGrpSpPr/>
          <p:nvPr/>
        </p:nvGrpSpPr>
        <p:grpSpPr>
          <a:xfrm>
            <a:off x="5810631" y="1967865"/>
            <a:ext cx="4310634" cy="2177891"/>
            <a:chOff x="5810631" y="1967865"/>
            <a:chExt cx="4310634" cy="2177891"/>
          </a:xfrm>
        </p:grpSpPr>
        <p:sp>
          <p:nvSpPr>
            <p:cNvPr id="43" name="TextBox 43"/>
            <p:cNvSpPr txBox="1"/>
            <p:nvPr/>
          </p:nvSpPr>
          <p:spPr>
            <a:xfrm>
              <a:off x="5810631" y="21116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493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19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684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10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875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101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066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292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0257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483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448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08266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639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865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83065" y="1967865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056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02165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24751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237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428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619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810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001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192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383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574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76596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10631" y="28832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改后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3493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719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684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910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875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101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6066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7292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0257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483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4448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608266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8639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865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283065" y="273939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4056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702165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824751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5237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9428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619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810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001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6192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383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4574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876596" y="32123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810631" y="365474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上浮完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3493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4719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768465" y="351091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8910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1875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3101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6066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7292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0257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1483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4448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608266" y="36547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8639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9865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2830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4056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9702165" y="3510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824751" y="36547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5237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9428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3619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7810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2001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6192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0383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4574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876596" y="39838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41" name="c2-steps-2"/>
          <p:cNvGrpSpPr/>
          <p:nvPr/>
        </p:nvGrpSpPr>
        <p:grpSpPr>
          <a:xfrm>
            <a:off x="5815965" y="4311015"/>
            <a:ext cx="4819574" cy="1878615"/>
            <a:chOff x="5815965" y="4311015"/>
            <a:chExt cx="4819574" cy="1878615"/>
          </a:xfrm>
        </p:grpSpPr>
        <p:sp>
          <p:nvSpPr>
            <p:cNvPr id="128" name="Rectangle 128"/>
            <p:cNvSpPr/>
            <p:nvPr/>
          </p:nvSpPr>
          <p:spPr>
            <a:xfrm>
              <a:off x="5949315" y="445389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5815965" y="43110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909589" y="43848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Ellipse 131"/>
            <p:cNvSpPr/>
            <p:nvPr/>
          </p:nvSpPr>
          <p:spPr>
            <a:xfrm>
              <a:off x="5815965" y="49615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909589" y="50353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3" name="Ellipse 133"/>
            <p:cNvSpPr/>
            <p:nvPr/>
          </p:nvSpPr>
          <p:spPr>
            <a:xfrm>
              <a:off x="5815965" y="56121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5909589" y="5685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6227445" y="4345305"/>
              <a:ext cx="160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R[8] 与 R[4]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6228588" y="4638199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&gt; 39，交换；i 变成 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227445" y="4995862"/>
              <a:ext cx="160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R[4] 与 R[2]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228588" y="5288756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&gt; 78，交换；i 变成 2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227445" y="5646420"/>
              <a:ext cx="1606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R[2] 与 R[1]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228588" y="5940266"/>
              <a:ext cx="4406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&lt; 87，堆序性已满足，停。整条路径共 3 次关键词比较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2" name="TextBox 14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4456" cy="909257"/>
            <a:chOff x="520446" y="342900"/>
            <a:chExt cx="6634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4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ShiftUp：每层只比一次，最多 ⌊log₂n⌋ 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088832"/>
            <a:chOff x="533400" y="1524000"/>
            <a:chExt cx="605980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65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上浮操作（也叫 Swim 或 PercolateUp）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191762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swap(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*b) {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*a; *a = *b; *b = 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堆元素 R[i] 上浮，R[] 存储堆，n 为堆包含的元素个数 */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ShiftUp(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&gt; 1 &amp;&amp; R[i] &gt; R[i / 2])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R[i] 比父亲大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swap(&amp;R[i], &amp;R[i / 2]);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交换 R[i] 和父亲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/= 2;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结点 i 继续上浮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782378"/>
            <a:ext cx="6059805" cy="729615"/>
            <a:chOff x="533400" y="3782378"/>
            <a:chExt cx="6059805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3782378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047173"/>
              <a:ext cx="200026" cy="200026"/>
              <a:chOff x="738188" y="404717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0471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4113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41471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3929062"/>
              <a:ext cx="50972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 n 在上浮里其实用不到，保留它是为了和 ShiftDown 的参数表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一致，调用时不用记两套。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681538"/>
            <a:ext cx="6059805" cy="1618298"/>
            <a:chOff x="533400" y="4681538"/>
            <a:chExt cx="6059805" cy="1618298"/>
          </a:xfrm>
        </p:grpSpPr>
        <p:sp>
          <p:nvSpPr>
            <p:cNvPr id="18" name="Rectangle 18"/>
            <p:cNvSpPr/>
            <p:nvPr/>
          </p:nvSpPr>
          <p:spPr>
            <a:xfrm>
              <a:off x="533400" y="4681538"/>
              <a:ext cx="6059805" cy="1618298"/>
            </a:xfrm>
            <a:prstGeom prst="roundRect">
              <a:avLst>
                <a:gd name="adj" fmla="val 8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814888"/>
              <a:ext cx="47625" cy="13515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86822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8459" y="49010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它会在哪里被调用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70544" y="49034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上浮只有两个用武之地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8190" y="521779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3868" y="52561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8987" y="5229225"/>
              <a:ext cx="3539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堆的插入：新元素放在 R[n+1]（第 33 页）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8190" y="55178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3868" y="55562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8987" y="5530215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DecreaseKey：某结点的关键词朝“更该在上面”的方向变（第 39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6898005" y="1533525"/>
            <a:ext cx="3253897" cy="1685449"/>
            <a:chOff x="6898005" y="1533525"/>
            <a:chExt cx="3253897" cy="1685449"/>
          </a:xfrm>
        </p:grpSpPr>
        <p:sp>
          <p:nvSpPr>
            <p:cNvPr id="30" name="Rectangle 30"/>
            <p:cNvSpPr/>
            <p:nvPr/>
          </p:nvSpPr>
          <p:spPr>
            <a:xfrm>
              <a:off x="7031355" y="1676400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98005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62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898005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9162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0247" y="1564957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1390" y="1833086"/>
              <a:ext cx="2198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R[i] 与父结点 R[⌊i/2⌋] 比较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10247" y="214788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1390" y="2416016"/>
              <a:ext cx="2840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R[i] ≤ R[⌊i/2⌋]，堆序性已满足，结束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0247" y="27308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1390" y="299894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否则交换二者，令 i ← ⌊i/2⌋，回到 ①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898005" y="3382328"/>
            <a:ext cx="4760595" cy="1545908"/>
            <a:chOff x="6898005" y="3382328"/>
            <a:chExt cx="4760595" cy="1545908"/>
          </a:xfrm>
        </p:grpSpPr>
        <p:sp>
          <p:nvSpPr>
            <p:cNvPr id="44" name="Rectangle 44"/>
            <p:cNvSpPr/>
            <p:nvPr/>
          </p:nvSpPr>
          <p:spPr>
            <a:xfrm>
              <a:off x="6898005" y="3382328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3515678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2795" y="356901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00214" y="360187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复杂度与前提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6547" y="3604260"/>
              <a:ext cx="7470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5937" y="3930015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循环次数不超过树高 ⌊log₂n⌋。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31367" y="42862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87387" y="4230052"/>
              <a:ext cx="3258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前提：随机访问与关键词比较都是 O(1)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31367" y="45872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87387" y="4531042"/>
              <a:ext cx="3761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前提：调用前除 R[i] 外其余部分已是合法的堆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6898005" y="5097780"/>
            <a:ext cx="4760595" cy="1202055"/>
            <a:chOff x="6898005" y="5097780"/>
            <a:chExt cx="4760595" cy="1202055"/>
          </a:xfrm>
        </p:grpSpPr>
        <p:sp>
          <p:nvSpPr>
            <p:cNvPr id="55" name="Rectangle 55"/>
            <p:cNvSpPr/>
            <p:nvPr/>
          </p:nvSpPr>
          <p:spPr>
            <a:xfrm>
              <a:off x="6898005" y="5097780"/>
              <a:ext cx="4760595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523113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22795" y="528447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7364" y="531733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36992" y="5319712"/>
              <a:ext cx="1921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课件用的是 C++ 的交换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5937" y="5645468"/>
              <a:ext cx="40856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`void swap(int &amp;a, int &amp;b)`。标准 C 没有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引用，这里改成指针传参，逻辑一行未动。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下沉：结点变小了，就往下走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28720" cy="264033"/>
            <a:chOff x="526542" y="1545907"/>
            <a:chExt cx="712872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下沉要先在两个孩子里挑出大的那个，再拿它和自己比，所以每层最多 2 次关键词比较。</a:t>
              </a:r>
            </a:p>
          </p:txBody>
        </p:sp>
      </p:grpSp>
      <p:grpSp>
        <p:nvGrpSpPr>
          <p:cNvPr id="35" name="c1-tree-1"/>
          <p:cNvGrpSpPr/>
          <p:nvPr/>
        </p:nvGrpSpPr>
        <p:grpSpPr>
          <a:xfrm>
            <a:off x="666750" y="2033588"/>
            <a:ext cx="4399598" cy="2056447"/>
            <a:chOff x="666750" y="2033588"/>
            <a:chExt cx="4399598" cy="2056447"/>
          </a:xfrm>
        </p:grpSpPr>
        <p:sp>
          <p:nvSpPr>
            <p:cNvPr id="9" name="Freeform 9"/>
            <p:cNvSpPr/>
            <p:nvPr/>
          </p:nvSpPr>
          <p:spPr>
            <a:xfrm>
              <a:off x="844868" y="3345180"/>
              <a:ext cx="310515" cy="566738"/>
            </a:xfrm>
            <a:custGeom>
              <a:avLst/>
              <a:gdLst/>
              <a:ahLst/>
              <a:cxnLst/>
              <a:rect l="l" t="t" r="r" b="b"/>
              <a:pathLst>
                <a:path w="310515" h="566738">
                  <a:moveTo>
                    <a:pt x="310515" y="0"/>
                  </a:moveTo>
                  <a:lnTo>
                    <a:pt x="0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5382" y="3345180"/>
              <a:ext cx="311468" cy="566738"/>
            </a:xfrm>
            <a:custGeom>
              <a:avLst/>
              <a:gdLst/>
              <a:ahLst/>
              <a:cxnLst/>
              <a:rect l="l" t="t" r="r" b="b"/>
              <a:pathLst>
                <a:path w="311468" h="566738">
                  <a:moveTo>
                    <a:pt x="0" y="0"/>
                  </a:moveTo>
                  <a:lnTo>
                    <a:pt x="311468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5382" y="2778442"/>
              <a:ext cx="621982" cy="566738"/>
            </a:xfrm>
            <a:custGeom>
              <a:avLst/>
              <a:gdLst/>
              <a:ahLst/>
              <a:cxnLst/>
              <a:rect l="l" t="t" r="r" b="b"/>
              <a:pathLst>
                <a:path w="621982" h="566738">
                  <a:moveTo>
                    <a:pt x="621982" y="0"/>
                  </a:moveTo>
                  <a:lnTo>
                    <a:pt x="0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7365" y="2778442"/>
              <a:ext cx="622935" cy="566738"/>
            </a:xfrm>
            <a:custGeom>
              <a:avLst/>
              <a:gdLst/>
              <a:ahLst/>
              <a:cxnLst/>
              <a:rect l="l" t="t" r="r" b="b"/>
              <a:pathLst>
                <a:path w="622935" h="566738">
                  <a:moveTo>
                    <a:pt x="0" y="0"/>
                  </a:moveTo>
                  <a:lnTo>
                    <a:pt x="622935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4265" y="2778442"/>
              <a:ext cx="621982" cy="566738"/>
            </a:xfrm>
            <a:custGeom>
              <a:avLst/>
              <a:gdLst/>
              <a:ahLst/>
              <a:cxnLst/>
              <a:rect l="l" t="t" r="r" b="b"/>
              <a:pathLst>
                <a:path w="621982" h="566738">
                  <a:moveTo>
                    <a:pt x="621982" y="0"/>
                  </a:moveTo>
                  <a:lnTo>
                    <a:pt x="0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66248" y="2778442"/>
              <a:ext cx="621983" cy="566738"/>
            </a:xfrm>
            <a:custGeom>
              <a:avLst/>
              <a:gdLst/>
              <a:ahLst/>
              <a:cxnLst/>
              <a:rect l="l" t="t" r="r" b="b"/>
              <a:pathLst>
                <a:path w="621983" h="566738">
                  <a:moveTo>
                    <a:pt x="0" y="0"/>
                  </a:moveTo>
                  <a:lnTo>
                    <a:pt x="621983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2211705"/>
              <a:ext cx="1244918" cy="566738"/>
            </a:xfrm>
            <a:custGeom>
              <a:avLst/>
              <a:gdLst/>
              <a:ahLst/>
              <a:cxnLst/>
              <a:rect l="l" t="t" r="r" b="b"/>
              <a:pathLst>
                <a:path w="1244918" h="566738">
                  <a:moveTo>
                    <a:pt x="1244918" y="0"/>
                  </a:moveTo>
                  <a:lnTo>
                    <a:pt x="0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22282" y="2211705"/>
              <a:ext cx="1243965" cy="566738"/>
            </a:xfrm>
            <a:custGeom>
              <a:avLst/>
              <a:gdLst/>
              <a:ahLst/>
              <a:cxnLst/>
              <a:rect l="l" t="t" r="r" b="b"/>
              <a:pathLst>
                <a:path w="1243965" h="566738">
                  <a:moveTo>
                    <a:pt x="0" y="0"/>
                  </a:moveTo>
                  <a:lnTo>
                    <a:pt x="1243965" y="5667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66750" y="373380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88732" y="3733800"/>
              <a:ext cx="356235" cy="3562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77265" y="3167062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222182" y="316706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599248" y="2600325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466148" y="316706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710113" y="316706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088130" y="26003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844165" y="2033588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7903" y="3847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79886" y="3847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8418" y="32804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13336" y="32804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90401" y="271367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98116" y="32804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01266" y="32804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9283" y="271367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5318" y="21469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360545"/>
            <a:ext cx="4977765" cy="1791652"/>
            <a:chOff x="533400" y="4360545"/>
            <a:chExt cx="4977765" cy="1791652"/>
          </a:xfrm>
        </p:grpSpPr>
        <p:sp>
          <p:nvSpPr>
            <p:cNvPr id="36" name="Rectangle 36"/>
            <p:cNvSpPr/>
            <p:nvPr/>
          </p:nvSpPr>
          <p:spPr>
            <a:xfrm>
              <a:off x="533400" y="4360545"/>
              <a:ext cx="4977765" cy="1791652"/>
            </a:xfrm>
            <a:prstGeom prst="roundRect">
              <a:avLst>
                <a:gd name="adj" fmla="val 638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156835"/>
              <a:ext cx="200026" cy="200025"/>
              <a:chOff x="738188" y="515683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1273" y="5049679"/>
              <a:ext cx="3849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R[1] 从 87 改成 20 之后的样子。20 一路沉到下标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9，路径上的 78、65、23 各上移一层。</a:t>
              </a:r>
            </a:p>
          </p:txBody>
        </p:sp>
      </p:grpSp>
      <p:grpSp>
        <p:nvGrpSpPr>
          <p:cNvPr id="127" name="c2-cells-1"/>
          <p:cNvGrpSpPr/>
          <p:nvPr/>
        </p:nvGrpSpPr>
        <p:grpSpPr>
          <a:xfrm>
            <a:off x="5811202" y="1928812"/>
            <a:ext cx="4252913" cy="1937862"/>
            <a:chOff x="5811202" y="1928812"/>
            <a:chExt cx="4252913" cy="1937862"/>
          </a:xfrm>
        </p:grpSpPr>
        <p:sp>
          <p:nvSpPr>
            <p:cNvPr id="43" name="TextBox 43"/>
            <p:cNvSpPr txBox="1"/>
            <p:nvPr/>
          </p:nvSpPr>
          <p:spPr>
            <a:xfrm>
              <a:off x="5811202" y="20507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92215" y="192881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270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113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61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304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652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5495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843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9686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034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877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57518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068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416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2259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607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645015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79834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66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857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048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239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430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621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812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003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19446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11202" y="273367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改后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92215" y="261175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270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113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461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304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2652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5495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6843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9686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034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3877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57518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8068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416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2259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3607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645015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779834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666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857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3048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7239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1430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621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9812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4003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819446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811202" y="341661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下沉完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2922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4270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7113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8461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1304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2652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5495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6843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9686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1034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3877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557518" y="34166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8068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9416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225915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3607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9645015" y="329469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779834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4666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8857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3048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7239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1430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5621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9812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4003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9819446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45" name="c2-steps-2"/>
          <p:cNvGrpSpPr/>
          <p:nvPr/>
        </p:nvGrpSpPr>
        <p:grpSpPr>
          <a:xfrm>
            <a:off x="5815965" y="4006215"/>
            <a:ext cx="5612016" cy="2149412"/>
            <a:chOff x="5815965" y="4006215"/>
            <a:chExt cx="5612016" cy="2149412"/>
          </a:xfrm>
        </p:grpSpPr>
        <p:sp>
          <p:nvSpPr>
            <p:cNvPr id="128" name="Rectangle 128"/>
            <p:cNvSpPr/>
            <p:nvPr/>
          </p:nvSpPr>
          <p:spPr>
            <a:xfrm>
              <a:off x="5949315" y="414909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5815965" y="40062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5909589" y="40800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Ellipse 131"/>
            <p:cNvSpPr/>
            <p:nvPr/>
          </p:nvSpPr>
          <p:spPr>
            <a:xfrm>
              <a:off x="5815965" y="45586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909589" y="4632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3" name="Ellipse 133"/>
            <p:cNvSpPr/>
            <p:nvPr/>
          </p:nvSpPr>
          <p:spPr>
            <a:xfrm>
              <a:off x="5815965" y="51120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5909589" y="51858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5" name="Ellipse 135"/>
            <p:cNvSpPr/>
            <p:nvPr/>
          </p:nvSpPr>
          <p:spPr>
            <a:xfrm>
              <a:off x="5815965" y="56654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909589" y="57392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228588" y="403621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229731" y="4291012"/>
              <a:ext cx="4385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78、53，大的是 78（1 次比较）；20 &lt; 78，交换（1 次比较）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228588" y="458962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229731" y="4844415"/>
              <a:ext cx="273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65、39，大的是 65；20 &lt; 65，交换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228588" y="514302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6229731" y="5396865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17、23，大的是 23；20 &lt; 23，交换，i 变成 9，已是叶子，停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6228588" y="56954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229731" y="5950268"/>
              <a:ext cx="5198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 3 层，共 3 × 2 = 6 次关键词比较；根在 9 个结点的完全二叉树里高度正好是 3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43171" cy="909257"/>
            <a:chOff x="520446" y="342900"/>
            <a:chExt cx="60431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431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ShiftDown 的两种写法，效果完全一样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936558"/>
            <a:chOff x="533400" y="1524000"/>
            <a:chExt cx="5410200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写法一（源课件第 42 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563110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ShiftDown(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maxchd;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R[i] 最大孩子的下标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n / 2) {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最多下行到最后一个非叶结点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((2 * i + 1 &lt;= n) &amp;&amp; (R[2 * i] &lt; R[2 * i + 1]))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maxchd = 2 * i + 1;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有右孩子且右孩子更大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maxchd = 2 * i;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&gt; R[maxchd])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已满足堆序性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swap(&amp;R[maxchd], &amp;R[i]);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= maxchd;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继续下沉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51058"/>
            <a:ext cx="5410200" cy="1461135"/>
            <a:chOff x="533400" y="4651058"/>
            <a:chExt cx="5410200" cy="1461135"/>
          </a:xfrm>
        </p:grpSpPr>
        <p:sp>
          <p:nvSpPr>
            <p:cNvPr id="11" name="Rectangle 11"/>
            <p:cNvSpPr/>
            <p:nvPr/>
          </p:nvSpPr>
          <p:spPr>
            <a:xfrm>
              <a:off x="533400" y="4651058"/>
              <a:ext cx="5410200" cy="1461135"/>
            </a:xfrm>
            <a:prstGeom prst="roundRect">
              <a:avLst>
                <a:gd name="adj" fmla="val 78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281613"/>
              <a:ext cx="200026" cy="200026"/>
              <a:chOff x="738188" y="528161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816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348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3816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138738"/>
              <a:ext cx="4272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 i ≤ ⌊n/2⌋ 保证 R[i] 至少有左孩子，所以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R[2i] 一定存在，不必另外判越界。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530792"/>
            <a:chOff x="6248400" y="1524000"/>
            <a:chExt cx="5410200" cy="253079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1564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写法二（源课件第 43 页）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035" y="1937861"/>
              <a:ext cx="4392422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ShiftDown(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n / 2)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maxchd = 2 * i;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先假定最大孩子是左孩子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(maxchd &lt; n &amp;&amp; R[maxchd] &lt; R[maxchd + 1])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maxchd++;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右孩子存在且更大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&gt; R[maxchd])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swap(&amp;R[maxchd], &amp;R[i]);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= maxchd;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4245292"/>
            <a:ext cx="5410200" cy="1866900"/>
            <a:chOff x="6248400" y="4245292"/>
            <a:chExt cx="5410200" cy="1866900"/>
          </a:xfrm>
        </p:grpSpPr>
        <p:sp>
          <p:nvSpPr>
            <p:cNvPr id="22" name="Rectangle 22"/>
            <p:cNvSpPr/>
            <p:nvPr/>
          </p:nvSpPr>
          <p:spPr>
            <a:xfrm>
              <a:off x="6248400" y="4245292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4378642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445484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8359" y="44905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两者等价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0923" y="4490085"/>
              <a:ext cx="2873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差别只在“有没有右孩子”怎么判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4851082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写法一判 2i+1 ≤ n，写法二判 2i &lt; n，两个条件是同一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件事。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468779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本讲义用 zig cc 编译两份代码，在 2 万组随机数据上对拍，建出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的堆逐位相同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堆：完全二叉树加上一条父子约束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上浮与下沉对照：方向、比较次数、适用场合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059805" cy="2840355"/>
            <a:chOff x="533400" y="1524000"/>
            <a:chExt cx="6059805" cy="2840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36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8295" y="1648301"/>
              <a:ext cx="940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上浮 ShiftUp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68351" y="1648301"/>
              <a:ext cx="1146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下沉 ShiftDown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7880" y="2054066"/>
              <a:ext cx="661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 变大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0072" y="2054066"/>
              <a:ext cx="661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 变小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7880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唯一的父亲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0072" y="24598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先在两个孩子里挑大的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每层比较次数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97392" y="2750820"/>
              <a:ext cx="228314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87880" y="2865596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99585" y="2750820"/>
              <a:ext cx="228314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90072" y="2865596"/>
              <a:ext cx="645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最多 2 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87880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&gt;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0072" y="327136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≤ ⌊n/2⌋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480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最坏比较次数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87880" y="3677126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⌊log₂n⌋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0072" y="367712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2⌊log₂n⌋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538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95859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87880" y="4082891"/>
              <a:ext cx="1837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插入新元素、DecreaseKey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90072" y="408289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建堆、删除堆顶、堆排序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05980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8310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28529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539615"/>
            <a:ext cx="6059805" cy="1786890"/>
            <a:chOff x="533400" y="4539615"/>
            <a:chExt cx="6059805" cy="1786890"/>
          </a:xfrm>
        </p:grpSpPr>
        <p:sp>
          <p:nvSpPr>
            <p:cNvPr id="43" name="Rectangle 43"/>
            <p:cNvSpPr/>
            <p:nvPr/>
          </p:nvSpPr>
          <p:spPr>
            <a:xfrm>
              <a:off x="533400" y="4539615"/>
              <a:ext cx="605980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67296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3905" y="47320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5342" y="47663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为什么下沉更贵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14347" y="477202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父亲只有一个，孩子有两个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7047" y="510540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上浮只需和唯一的父亲比一次就知道要不要换；下沉得先在左右孩子里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选出大的（1 次），再拿它和自己比（1 次）。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7047" y="5665470"/>
              <a:ext cx="53543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这也是 d 堆里删除堆顶变成 O(d·logn/logd) 的原因：孩子越多，选最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大越贵（本讲第 42 页）。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898005" y="1524000"/>
            <a:ext cx="4760595" cy="2346008"/>
            <a:chOff x="6898005" y="1524000"/>
            <a:chExt cx="4760595" cy="2346008"/>
          </a:xfrm>
        </p:grpSpPr>
        <p:sp>
          <p:nvSpPr>
            <p:cNvPr id="51" name="Rectangle 51"/>
            <p:cNvSpPr/>
            <p:nvPr/>
          </p:nvSpPr>
          <p:spPr>
            <a:xfrm>
              <a:off x="6898005" y="1524000"/>
              <a:ext cx="4760595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165735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8510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03948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三个常见错误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45602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写代码时最容易踩的坑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27558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83236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08354" y="209073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下沉时先和左孩子比，比不过就停：漏掉了右孩子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更大的情况，堆会建错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27558" y="26374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83236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08354" y="2649855"/>
              <a:ext cx="38627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下沉写成 `while(2*i&lt;=n)` 但忘了 n 是当前堆的规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模：堆排序里每轮 n 都在缩小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27558" y="31975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83236" y="3235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08354" y="3209925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数组从 0 开始却仍用 2i、⌊i/2⌋：R[0] 的孩子会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算成 R[0] 自己，死循环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898005" y="4045268"/>
            <a:ext cx="4760595" cy="729615"/>
            <a:chOff x="6898005" y="4045268"/>
            <a:chExt cx="4760595" cy="729615"/>
          </a:xfrm>
        </p:grpSpPr>
        <p:sp>
          <p:nvSpPr>
            <p:cNvPr id="66" name="Rectangle 66"/>
            <p:cNvSpPr/>
            <p:nvPr/>
          </p:nvSpPr>
          <p:spPr>
            <a:xfrm>
              <a:off x="6898005" y="404526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102793" y="4310065"/>
              <a:ext cx="200023" cy="200023"/>
              <a:chOff x="7102793" y="431006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43100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36143" y="4376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405497" y="4191000"/>
              <a:ext cx="38799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堆的全部操作都是这两个的组合，记住“变大上浮、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变小下沉”就够了。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684206" cy="3351847"/>
            <a:chOff x="667512" y="1835468"/>
            <a:chExt cx="568420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建堆与堆排序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74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自底向上建堆只要 O(n)，随后的选择阶段才是 O(nlogn)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两种建堆思路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005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建堆的完整过程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高度之和小于 n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堆排序与稳定性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初始建堆：自顶向下递归，还是自底向上扫一遍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410200" cy="2016442"/>
            <a:chOff x="533400" y="1524000"/>
            <a:chExt cx="5410200" cy="2016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递归，自顶向下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1472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 T 的左子堆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1472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 T 的右子堆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1270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把结点 T 下沉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13229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先递归到底再回头处理，本质上仍然是先把下层弄成堆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730942"/>
            <a:ext cx="5410200" cy="2291715"/>
            <a:chOff x="533400" y="3730942"/>
            <a:chExt cx="5410200" cy="2291715"/>
          </a:xfrm>
        </p:grpSpPr>
        <p:sp>
          <p:nvSpPr>
            <p:cNvPr id="23" name="Rectangle 23"/>
            <p:cNvSpPr/>
            <p:nvPr/>
          </p:nvSpPr>
          <p:spPr>
            <a:xfrm>
              <a:off x="533400" y="3730942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64292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94049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7308" y="397621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思路二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24000" y="39757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自底向上，一个循环搞定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433673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从最后一个非叶结点开始，依次建立以每个非叶结点为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根的子堆，也就是依次下沉 ⌊n/2⌋, ⌊n/2⌋−1, …, 1。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02062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95776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叶结点本身就是合法的子堆，不用处理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35590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293042"/>
              <a:ext cx="4568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轮到结点 i 时，它的两棵子树已经是堆，正好满足下沉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的前提</a:t>
              </a:r>
            </a:p>
          </p:txBody>
        </p:sp>
      </p:grpSp>
      <p:grpSp>
        <p:nvGrpSpPr>
          <p:cNvPr id="58" name="c2-flow-1"/>
          <p:cNvGrpSpPr/>
          <p:nvPr/>
        </p:nvGrpSpPr>
        <p:grpSpPr>
          <a:xfrm>
            <a:off x="6437948" y="1948815"/>
            <a:ext cx="5031105" cy="3096578"/>
            <a:chOff x="6437948" y="1948815"/>
            <a:chExt cx="5031105" cy="3096578"/>
          </a:xfrm>
        </p:grpSpPr>
        <p:sp>
          <p:nvSpPr>
            <p:cNvPr id="34" name="Freeform 34"/>
            <p:cNvSpPr/>
            <p:nvPr/>
          </p:nvSpPr>
          <p:spPr>
            <a:xfrm>
              <a:off x="7600950" y="2386965"/>
              <a:ext cx="9525" cy="650557"/>
            </a:xfrm>
            <a:custGeom>
              <a:avLst/>
              <a:gdLst/>
              <a:ahLst/>
              <a:cxnLst/>
              <a:rect l="l" t="t" r="r" b="b"/>
              <a:pathLst>
                <a:path w="9525" h="650557">
                  <a:moveTo>
                    <a:pt x="0" y="0"/>
                  </a:moveTo>
                  <a:lnTo>
                    <a:pt x="0" y="6505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48562" y="3037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600950" y="3770948"/>
              <a:ext cx="9525" cy="650558"/>
            </a:xfrm>
            <a:custGeom>
              <a:avLst/>
              <a:gdLst/>
              <a:ahLst/>
              <a:cxnLst/>
              <a:rect l="l" t="t" r="r" b="b"/>
              <a:pathLst>
                <a:path w="9525" h="650558">
                  <a:moveTo>
                    <a:pt x="0" y="0"/>
                  </a:moveTo>
                  <a:lnTo>
                    <a:pt x="0" y="6505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48562" y="4421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763952" y="474535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38272" y="4692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868728" y="2219325"/>
              <a:ext cx="1437322" cy="2225040"/>
            </a:xfrm>
            <a:custGeom>
              <a:avLst/>
              <a:gdLst/>
              <a:ahLst/>
              <a:cxnLst/>
              <a:rect l="l" t="t" r="r" b="b"/>
              <a:pathLst>
                <a:path w="1437322" h="2225040">
                  <a:moveTo>
                    <a:pt x="1437322" y="2225040"/>
                  </a:moveTo>
                  <a:lnTo>
                    <a:pt x="1437322" y="2015490"/>
                  </a:lnTo>
                  <a:lnTo>
                    <a:pt x="1437322" y="0"/>
                  </a:lnTo>
                  <a:lnTo>
                    <a:pt x="1437322" y="1237297"/>
                  </a:lnTo>
                  <a:lnTo>
                    <a:pt x="104775" y="1237297"/>
                  </a:lnTo>
                  <a:lnTo>
                    <a:pt x="0" y="12372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763952" y="3404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06050" y="2491740"/>
              <a:ext cx="9525" cy="1952625"/>
            </a:xfrm>
            <a:custGeom>
              <a:avLst/>
              <a:gdLst/>
              <a:ahLst/>
              <a:cxnLst/>
              <a:rect l="l" t="t" r="r" b="b"/>
              <a:pathLst>
                <a:path w="9525" h="1952625">
                  <a:moveTo>
                    <a:pt x="0" y="19526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253662" y="23869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37948" y="1948815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37948" y="3142298"/>
              <a:ext cx="232600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37948" y="452628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43048" y="4444365"/>
              <a:ext cx="2326005" cy="601028"/>
            </a:xfrm>
            <a:custGeom>
              <a:avLst/>
              <a:gdLst/>
              <a:ahLst/>
              <a:cxnLst/>
              <a:rect l="l" t="t" r="r" b="b"/>
              <a:pathLst>
                <a:path w="2326005" h="601028">
                  <a:moveTo>
                    <a:pt x="1163003" y="0"/>
                  </a:moveTo>
                  <a:lnTo>
                    <a:pt x="2326005" y="300990"/>
                  </a:lnTo>
                  <a:lnTo>
                    <a:pt x="1163003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43048" y="1948815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14522" y="2078831"/>
              <a:ext cx="772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⌊n/2⌋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36105" y="3258026"/>
              <a:ext cx="132969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下沉结点 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(左右子树已成堆)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7232" y="4656296"/>
              <a:ext cx="6074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← i − 1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54026" y="4656296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≥ 1 ?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68789" y="20788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整棵树成堆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34625" y="313563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357866" y="31623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334625" y="33242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57866" y="33508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248400" y="5579745"/>
            <a:ext cx="5410200" cy="782955"/>
            <a:chOff x="6248400" y="5579745"/>
            <a:chExt cx="5410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6248400" y="55797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871212"/>
              <a:ext cx="200023" cy="200023"/>
              <a:chOff x="6453188" y="587121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86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130" y="572833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两种思路做的事一样，自底向上省掉了递归栈，一层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 循环就是全部代码。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2357" cy="909257"/>
            <a:chOff x="520446" y="342900"/>
            <a:chExt cx="68823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2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建堆（上）：从最后一个非叶结点开始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788366" cy="308039"/>
            <a:chOff x="525399" y="1550194"/>
            <a:chExt cx="778836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78836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15，最后一个非叶结点是 R[7]。依次下沉 i = 7, 6, 5，每次只动一棵小子树。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648652" y="2115502"/>
            <a:ext cx="4963478" cy="2562226"/>
            <a:chOff x="648652" y="2115502"/>
            <a:chExt cx="4963478" cy="2562226"/>
          </a:xfrm>
        </p:grpSpPr>
        <p:sp>
          <p:nvSpPr>
            <p:cNvPr id="9" name="Freeform 9"/>
            <p:cNvSpPr/>
            <p:nvPr/>
          </p:nvSpPr>
          <p:spPr>
            <a:xfrm>
              <a:off x="858202" y="3753802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83005" y="3753802"/>
              <a:ext cx="323850" cy="714375"/>
            </a:xfrm>
            <a:custGeom>
              <a:avLst/>
              <a:gdLst/>
              <a:ahLst/>
              <a:cxnLst/>
              <a:rect l="l" t="t" r="r" b="b"/>
              <a:pathLst>
                <a:path w="323850" h="714375">
                  <a:moveTo>
                    <a:pt x="0" y="0"/>
                  </a:moveTo>
                  <a:lnTo>
                    <a:pt x="32385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6460" y="3753802"/>
              <a:ext cx="324802" cy="714375"/>
            </a:xfrm>
            <a:custGeom>
              <a:avLst/>
              <a:gdLst/>
              <a:ahLst/>
              <a:cxnLst/>
              <a:rect l="l" t="t" r="r" b="b"/>
              <a:pathLst>
                <a:path w="324802" h="714375">
                  <a:moveTo>
                    <a:pt x="324802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81262" y="3753802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0" y="0"/>
                  </a:moveTo>
                  <a:lnTo>
                    <a:pt x="32480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83005" y="3039428"/>
              <a:ext cx="648653" cy="714375"/>
            </a:xfrm>
            <a:custGeom>
              <a:avLst/>
              <a:gdLst/>
              <a:ahLst/>
              <a:cxnLst/>
              <a:rect l="l" t="t" r="r" b="b"/>
              <a:pathLst>
                <a:path w="648653" h="714375">
                  <a:moveTo>
                    <a:pt x="64865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31658" y="3039428"/>
              <a:ext cx="649605" cy="714375"/>
            </a:xfrm>
            <a:custGeom>
              <a:avLst/>
              <a:gdLst/>
              <a:ahLst/>
              <a:cxnLst/>
              <a:rect l="l" t="t" r="r" b="b"/>
              <a:pathLst>
                <a:path w="649605" h="714375">
                  <a:moveTo>
                    <a:pt x="0" y="0"/>
                  </a:moveTo>
                  <a:lnTo>
                    <a:pt x="64960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454718" y="3753802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79520" y="3753802"/>
              <a:ext cx="324802" cy="714375"/>
            </a:xfrm>
            <a:custGeom>
              <a:avLst/>
              <a:gdLst/>
              <a:ahLst/>
              <a:cxnLst/>
              <a:rect l="l" t="t" r="r" b="b"/>
              <a:pathLst>
                <a:path w="324802" h="714375">
                  <a:moveTo>
                    <a:pt x="0" y="0"/>
                  </a:moveTo>
                  <a:lnTo>
                    <a:pt x="324802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752975" y="3753802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77778" y="3753802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0" y="0"/>
                  </a:moveTo>
                  <a:lnTo>
                    <a:pt x="32480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779520" y="3039428"/>
              <a:ext cx="649605" cy="714375"/>
            </a:xfrm>
            <a:custGeom>
              <a:avLst/>
              <a:gdLst/>
              <a:ahLst/>
              <a:cxnLst/>
              <a:rect l="l" t="t" r="r" b="b"/>
              <a:pathLst>
                <a:path w="649605" h="714375">
                  <a:moveTo>
                    <a:pt x="64960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29125" y="3039428"/>
              <a:ext cx="648653" cy="714375"/>
            </a:xfrm>
            <a:custGeom>
              <a:avLst/>
              <a:gdLst/>
              <a:ahLst/>
              <a:cxnLst/>
              <a:rect l="l" t="t" r="r" b="b"/>
              <a:pathLst>
                <a:path w="648653" h="714375">
                  <a:moveTo>
                    <a:pt x="0" y="0"/>
                  </a:moveTo>
                  <a:lnTo>
                    <a:pt x="64865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31658" y="2325052"/>
              <a:ext cx="1298258" cy="714375"/>
            </a:xfrm>
            <a:custGeom>
              <a:avLst/>
              <a:gdLst/>
              <a:ahLst/>
              <a:cxnLst/>
              <a:rect l="l" t="t" r="r" b="b"/>
              <a:pathLst>
                <a:path w="1298258" h="714375">
                  <a:moveTo>
                    <a:pt x="1298258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29915" y="2325052"/>
              <a:ext cx="1299210" cy="714375"/>
            </a:xfrm>
            <a:custGeom>
              <a:avLst/>
              <a:gdLst/>
              <a:ahLst/>
              <a:cxnLst/>
              <a:rect l="l" t="t" r="r" b="b"/>
              <a:pathLst>
                <a:path w="1299210" h="714375">
                  <a:moveTo>
                    <a:pt x="0" y="0"/>
                  </a:moveTo>
                  <a:lnTo>
                    <a:pt x="129921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48652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297305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73455" y="354425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946910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596515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271712" y="354425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622108" y="28298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245168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3894772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569970" y="354425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543425" y="42586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193030" y="4258628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868228" y="3544252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219575" y="28298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2920365" y="211550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7061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25714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1864" y="36923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13413" y="44067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24924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00121" y="36923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50516" y="29779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73576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23181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98379" y="36923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709928" y="44067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21439" y="44067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34730" y="36923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47984" y="297799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48774" y="22636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  <p:grpSp>
        <p:nvGrpSpPr>
          <p:cNvPr id="60" name="c1-callout-2"/>
          <p:cNvGrpSpPr/>
          <p:nvPr/>
        </p:nvGrpSpPr>
        <p:grpSpPr>
          <a:xfrm>
            <a:off x="533400" y="5015865"/>
            <a:ext cx="5193982" cy="782955"/>
            <a:chOff x="533400" y="5015865"/>
            <a:chExt cx="5193982" cy="782955"/>
          </a:xfrm>
        </p:grpSpPr>
        <p:sp>
          <p:nvSpPr>
            <p:cNvPr id="54" name="Rectangle 54"/>
            <p:cNvSpPr/>
            <p:nvPr/>
          </p:nvSpPr>
          <p:spPr>
            <a:xfrm>
              <a:off x="533400" y="501586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307330"/>
              <a:ext cx="200026" cy="200026"/>
              <a:chOff x="738188" y="5307330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3073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53740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54073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164455"/>
              <a:ext cx="4196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初始序列 50 13 91 89 25 16 5 23 78 6 39 53 20 9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30，图中高亮的是第一次要下沉的 R[7]=5。</a:t>
              </a:r>
            </a:p>
          </p:txBody>
        </p:sp>
      </p:grpSp>
      <p:grpSp>
        <p:nvGrpSpPr>
          <p:cNvPr id="74" name="c2-steps-1"/>
          <p:cNvGrpSpPr/>
          <p:nvPr/>
        </p:nvGrpSpPr>
        <p:grpSpPr>
          <a:xfrm>
            <a:off x="6032182" y="1977390"/>
            <a:ext cx="5375530" cy="2582514"/>
            <a:chOff x="6032182" y="1977390"/>
            <a:chExt cx="5375530" cy="2582514"/>
          </a:xfrm>
        </p:grpSpPr>
        <p:sp>
          <p:nvSpPr>
            <p:cNvPr id="61" name="Rectangle 61"/>
            <p:cNvSpPr/>
            <p:nvPr/>
          </p:nvSpPr>
          <p:spPr>
            <a:xfrm>
              <a:off x="6165532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032182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5806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032182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25806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032182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25806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3662" y="2011680"/>
              <a:ext cx="122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7，下沉 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4806" y="2304574"/>
              <a:ext cx="494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R[14]=9 和 R[15]=30，大的是 30；5 &lt; 30，交换。序列变成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50 13 91 89 25 16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23 78 6 39 53 20 9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3662" y="2896552"/>
              <a:ext cx="1341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6，下沉 16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4806" y="3190399"/>
              <a:ext cx="4962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R[12]=53 和 R[13]=20，大的是 53；16 &lt; 53，交换。序列变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50 13 91 89 25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30 23 78 6 39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20 9 5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3662" y="3782378"/>
              <a:ext cx="1341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5，下沉 25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44806" y="4076224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R[10]=6 和 R[11]=39，大的是 39；25 &lt; 39，交换。序列变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50 13 91 89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39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53 30 23 78 6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16 20 9 5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6032182" y="4738688"/>
            <a:ext cx="5626418" cy="1060132"/>
            <a:chOff x="6032182" y="4738688"/>
            <a:chExt cx="5626418" cy="1060132"/>
          </a:xfrm>
        </p:grpSpPr>
        <p:sp>
          <p:nvSpPr>
            <p:cNvPr id="75" name="Rectangle 75"/>
            <p:cNvSpPr/>
            <p:nvPr/>
          </p:nvSpPr>
          <p:spPr>
            <a:xfrm>
              <a:off x="6032182" y="4738688"/>
              <a:ext cx="5626418" cy="1060132"/>
            </a:xfrm>
            <a:prstGeom prst="roundRect">
              <a:avLst>
                <a:gd name="adj" fmla="val 107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236970" y="5168265"/>
              <a:ext cx="200026" cy="200025"/>
              <a:chOff x="6236970" y="5168265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236970" y="51682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276709" y="52127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311424" y="53238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538912" y="50253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这三步各自只走了一层，因为被下沉的结点高度都是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39076" cy="909257"/>
            <a:chOff x="520446" y="342900"/>
            <a:chExt cx="6539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39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建堆（下）：越往上走，下沉得越深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648652" y="1671638"/>
            <a:ext cx="4963478" cy="2562224"/>
            <a:chOff x="648652" y="1671638"/>
            <a:chExt cx="4963478" cy="2562224"/>
          </a:xfrm>
        </p:grpSpPr>
        <p:sp>
          <p:nvSpPr>
            <p:cNvPr id="7" name="Freeform 7"/>
            <p:cNvSpPr/>
            <p:nvPr/>
          </p:nvSpPr>
          <p:spPr>
            <a:xfrm>
              <a:off x="858202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3005" y="3309938"/>
              <a:ext cx="323850" cy="714375"/>
            </a:xfrm>
            <a:custGeom>
              <a:avLst/>
              <a:gdLst/>
              <a:ahLst/>
              <a:cxnLst/>
              <a:rect l="l" t="t" r="r" b="b"/>
              <a:pathLst>
                <a:path w="323850" h="714375">
                  <a:moveTo>
                    <a:pt x="0" y="0"/>
                  </a:moveTo>
                  <a:lnTo>
                    <a:pt x="32385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56460" y="3309938"/>
              <a:ext cx="324802" cy="714375"/>
            </a:xfrm>
            <a:custGeom>
              <a:avLst/>
              <a:gdLst/>
              <a:ahLst/>
              <a:cxnLst/>
              <a:rect l="l" t="t" r="r" b="b"/>
              <a:pathLst>
                <a:path w="324802" h="714375">
                  <a:moveTo>
                    <a:pt x="324802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81262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0" y="0"/>
                  </a:moveTo>
                  <a:lnTo>
                    <a:pt x="32480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3005" y="2595562"/>
              <a:ext cx="648653" cy="714375"/>
            </a:xfrm>
            <a:custGeom>
              <a:avLst/>
              <a:gdLst/>
              <a:ahLst/>
              <a:cxnLst/>
              <a:rect l="l" t="t" r="r" b="b"/>
              <a:pathLst>
                <a:path w="648653" h="714375">
                  <a:moveTo>
                    <a:pt x="64865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31658" y="2595562"/>
              <a:ext cx="649605" cy="714375"/>
            </a:xfrm>
            <a:custGeom>
              <a:avLst/>
              <a:gdLst/>
              <a:ahLst/>
              <a:cxnLst/>
              <a:rect l="l" t="t" r="r" b="b"/>
              <a:pathLst>
                <a:path w="649605" h="714375">
                  <a:moveTo>
                    <a:pt x="0" y="0"/>
                  </a:moveTo>
                  <a:lnTo>
                    <a:pt x="64960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54718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79520" y="3309938"/>
              <a:ext cx="324802" cy="714375"/>
            </a:xfrm>
            <a:custGeom>
              <a:avLst/>
              <a:gdLst/>
              <a:ahLst/>
              <a:cxnLst/>
              <a:rect l="l" t="t" r="r" b="b"/>
              <a:pathLst>
                <a:path w="324802" h="714375">
                  <a:moveTo>
                    <a:pt x="0" y="0"/>
                  </a:moveTo>
                  <a:lnTo>
                    <a:pt x="324802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52975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77778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0" y="0"/>
                  </a:moveTo>
                  <a:lnTo>
                    <a:pt x="32480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779520" y="2595562"/>
              <a:ext cx="649605" cy="714375"/>
            </a:xfrm>
            <a:custGeom>
              <a:avLst/>
              <a:gdLst/>
              <a:ahLst/>
              <a:cxnLst/>
              <a:rect l="l" t="t" r="r" b="b"/>
              <a:pathLst>
                <a:path w="649605" h="714375">
                  <a:moveTo>
                    <a:pt x="64960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429125" y="2595562"/>
              <a:ext cx="648653" cy="714375"/>
            </a:xfrm>
            <a:custGeom>
              <a:avLst/>
              <a:gdLst/>
              <a:ahLst/>
              <a:cxnLst/>
              <a:rect l="l" t="t" r="r" b="b"/>
              <a:pathLst>
                <a:path w="648653" h="714375">
                  <a:moveTo>
                    <a:pt x="0" y="0"/>
                  </a:moveTo>
                  <a:lnTo>
                    <a:pt x="64865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31658" y="1881188"/>
              <a:ext cx="1298258" cy="714375"/>
            </a:xfrm>
            <a:custGeom>
              <a:avLst/>
              <a:gdLst/>
              <a:ahLst/>
              <a:cxnLst/>
              <a:rect l="l" t="t" r="r" b="b"/>
              <a:pathLst>
                <a:path w="1298258" h="714375">
                  <a:moveTo>
                    <a:pt x="1298258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29915" y="1881188"/>
              <a:ext cx="1299210" cy="714375"/>
            </a:xfrm>
            <a:custGeom>
              <a:avLst/>
              <a:gdLst/>
              <a:ahLst/>
              <a:cxnLst/>
              <a:rect l="l" t="t" r="r" b="b"/>
              <a:pathLst>
                <a:path w="1299210" h="714375">
                  <a:moveTo>
                    <a:pt x="0" y="0"/>
                  </a:moveTo>
                  <a:lnTo>
                    <a:pt x="129921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8652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297305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73455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946910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596515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271712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622108" y="2386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245168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894772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569970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543425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193030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868228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219575" y="2386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920365" y="1671638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7061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25714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864" y="32494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3413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24924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00121" y="32494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50516" y="2535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73576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23181" y="39638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98379" y="32494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09928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59533" y="3963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96636" y="324945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47984" y="253507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8774" y="182070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</p:grpSp>
      <p:grpSp>
        <p:nvGrpSpPr>
          <p:cNvPr id="57" name="c1-callout-2"/>
          <p:cNvGrpSpPr/>
          <p:nvPr/>
        </p:nvGrpSpPr>
        <p:grpSpPr>
          <a:xfrm>
            <a:off x="533400" y="4572000"/>
            <a:ext cx="5193982" cy="1059180"/>
            <a:chOff x="533400" y="4572000"/>
            <a:chExt cx="5193982" cy="1059180"/>
          </a:xfrm>
        </p:grpSpPr>
        <p:sp>
          <p:nvSpPr>
            <p:cNvPr id="52" name="Rectangle 52"/>
            <p:cNvSpPr/>
            <p:nvPr/>
          </p:nvSpPr>
          <p:spPr>
            <a:xfrm>
              <a:off x="533400" y="457200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001578"/>
              <a:ext cx="200026" cy="200026"/>
              <a:chOff x="738188" y="500157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0015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04863" y="50793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4720590"/>
              <a:ext cx="41109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最终堆 91 89 53 78 39 50 30 23 13 6 25 16 20 9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5。全程 20 次关键词比较，脚本与 C 程序结果一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75" name="c2-steps-1"/>
          <p:cNvGrpSpPr/>
          <p:nvPr/>
        </p:nvGrpSpPr>
        <p:grpSpPr>
          <a:xfrm>
            <a:off x="6032182" y="1533525"/>
            <a:ext cx="5286122" cy="2998756"/>
            <a:chOff x="6032182" y="1533525"/>
            <a:chExt cx="5286122" cy="2998756"/>
          </a:xfrm>
        </p:grpSpPr>
        <p:sp>
          <p:nvSpPr>
            <p:cNvPr id="58" name="Rectangle 58"/>
            <p:cNvSpPr/>
            <p:nvPr/>
          </p:nvSpPr>
          <p:spPr>
            <a:xfrm>
              <a:off x="6165532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032182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580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032182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25806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32182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25806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3662" y="1567815"/>
              <a:ext cx="1341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4，89 不动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4806" y="1861661"/>
              <a:ext cx="3778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23 和 78，大的是 78；89 &gt; 78，直接返回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3662" y="2218372"/>
              <a:ext cx="1341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3，91 不动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4806" y="2512219"/>
              <a:ext cx="3778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孩子是 53 和 30，大的是 53；91 &gt; 53，直接返回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3662" y="2868930"/>
              <a:ext cx="1745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2，13 下沉两层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4806" y="3162776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先和 89 换（13 到下标 4），再和 78 换（13 到下标 8）。序列变成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50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89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91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39 53 30 23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6 25 16 20 9 5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43662" y="3754755"/>
              <a:ext cx="1745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1，50 下沉两层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44806" y="4048601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先和 91 换（50 到下标 3），再和 53 换（50 到下标 6）；到了下标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6，孩子是 16、20，50 更大，停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6032182" y="4711065"/>
            <a:ext cx="5626418" cy="920115"/>
            <a:chOff x="6032182" y="4711065"/>
            <a:chExt cx="5626418" cy="920115"/>
          </a:xfrm>
        </p:grpSpPr>
        <p:sp>
          <p:nvSpPr>
            <p:cNvPr id="76" name="Rectangle 76"/>
            <p:cNvSpPr/>
            <p:nvPr/>
          </p:nvSpPr>
          <p:spPr>
            <a:xfrm>
              <a:off x="6032182" y="4711065"/>
              <a:ext cx="5626418" cy="920115"/>
            </a:xfrm>
            <a:prstGeom prst="roundRect">
              <a:avLst>
                <a:gd name="adj" fmla="val 1242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224912" y="5067418"/>
              <a:ext cx="224134" cy="192560"/>
              <a:chOff x="6224912" y="5067418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336983" y="51377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224912" y="50674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336983" y="5215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538912" y="4928235"/>
              <a:ext cx="4596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别把“不用下沉”当成“可以跳过”：i = 4、3 这两步仍各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做了 2 次关键词比较，只是没发生交换。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39593" cy="909257"/>
            <a:chOff x="520446" y="342900"/>
            <a:chExt cx="47395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395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BuildHeap：一个倒着走的循环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516380"/>
            <a:chOff x="533400" y="1524000"/>
            <a:chExt cx="5842635" cy="15163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29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Floyd 建堆算法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24307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从最后一个非叶结点开始，依次下沉 n/2, n/2-1, ..., 1 */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BuildHeap(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n / 2; i &gt;= 1; i--)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ShiftDown(R, n, i);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建立以 i 为根的堆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30880"/>
            <a:ext cx="5842635" cy="1956435"/>
            <a:chOff x="533400" y="3230880"/>
            <a:chExt cx="5842635" cy="1956435"/>
          </a:xfrm>
        </p:grpSpPr>
        <p:sp>
          <p:nvSpPr>
            <p:cNvPr id="11" name="Rectangle 11"/>
            <p:cNvSpPr/>
            <p:nvPr/>
          </p:nvSpPr>
          <p:spPr>
            <a:xfrm>
              <a:off x="533400" y="3230880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36423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44043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655" y="34761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为什么必须倒着走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5518" y="347567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下沉的前提是左右子树已经是堆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383667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正着从 i = 1 走到 ⌊n/2⌋，下沉 R[1] 时它的子树还是乱的，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换上来的未必是整棵树的最大值，一趟扫描建不成堆。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457700"/>
              <a:ext cx="5082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倒着走时，轮到 i 的那一刻，2i 和 2i+1 为根的子树都已经处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理完，前提天然成立。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680835" y="1524000"/>
            <a:ext cx="4977765" cy="2577465"/>
            <a:chOff x="6680835" y="1524000"/>
            <a:chExt cx="4977765" cy="2577465"/>
          </a:xfrm>
        </p:grpSpPr>
        <p:sp>
          <p:nvSpPr>
            <p:cNvPr id="19" name="Rectangle 19"/>
            <p:cNvSpPr/>
            <p:nvPr/>
          </p:nvSpPr>
          <p:spPr>
            <a:xfrm>
              <a:off x="6680835" y="1524000"/>
              <a:ext cx="4977765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三个细节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1431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读代码时要盯住的地方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28485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033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475" y="212979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循环从 ⌊n/2⌋ 开始：叶结点（下标 &gt; ⌊n/2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⌋）本身就是堆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28485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0334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29475" y="2750820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每次调用传的都是 n，不是 i：堆的规模始终是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整个数组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28485" y="33585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0334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29475" y="337185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建堆只用下沉，不用上浮；用上浮也能建堆，但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那样是 O(nlogn)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680835" y="4291965"/>
            <a:ext cx="4977765" cy="895350"/>
            <a:chOff x="6680835" y="4291965"/>
            <a:chExt cx="4977765" cy="895350"/>
          </a:xfrm>
        </p:grpSpPr>
        <p:sp>
          <p:nvSpPr>
            <p:cNvPr id="34" name="Rectangle 34"/>
            <p:cNvSpPr/>
            <p:nvPr/>
          </p:nvSpPr>
          <p:spPr>
            <a:xfrm>
              <a:off x="6680835" y="4291965"/>
              <a:ext cx="4977765" cy="895350"/>
            </a:xfrm>
            <a:prstGeom prst="roundRect">
              <a:avLst>
                <a:gd name="adj" fmla="val 127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85623" y="4639630"/>
              <a:ext cx="200023" cy="200023"/>
              <a:chOff x="6885623" y="463963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85623" y="46396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8973" y="4706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87565" y="449675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从最后一个非叶结点倒着下沉，这一句话就是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Floyd 建堆的全部内容。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7803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课件在这里先问了一句“最坏时间复杂度 O(nlogn)？”，答案见下一页：其实是 O(n)。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52403" cy="909257"/>
            <a:chOff x="520446" y="342900"/>
            <a:chExt cx="54524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524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建堆是 O(n)：因为高度之和小于 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29300" cy="264033"/>
            <a:chOff x="526542" y="1545907"/>
            <a:chExt cx="58293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下沉一个结点的代价取决于它的高度，而不是树高；高度大的结点极少。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8066" y="1945957"/>
            <a:ext cx="4387615" cy="205359"/>
            <a:chOff x="528066" y="1945957"/>
            <a:chExt cx="4387615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1945957"/>
              <a:ext cx="4387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把高度为 h 的结点数记作约 n/2ʰ⁺¹，总代价 T 就是各结点高度之和：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26"/>
              <p:cNvSpPr txBox="1">
                <a:spLocks noGrp="1"/>
              </p:cNvSpPr>
              <p:nvPr/>
            </p:nvSpPr>
            <p:spPr>
              <a:xfrm>
                <a:off x="533400" y="2274570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7"/>
              <p:cNvSpPr txBox="1">
                <a:spLocks noGrp="1"/>
              </p:cNvSpPr>
              <p:nvPr/>
            </p:nvSpPr>
            <p:spPr>
              <a:xfrm>
                <a:off x="533400" y="2850832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2T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16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8"/>
              <p:cNvSpPr txBox="1">
                <a:spLocks noGrp="1"/>
              </p:cNvSpPr>
              <p:nvPr/>
            </p:nvSpPr>
            <p:spPr>
              <a:xfrm>
                <a:off x="533400" y="3427095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llout-5"/>
          <p:cNvGrpSpPr/>
          <p:nvPr/>
        </p:nvGrpSpPr>
        <p:grpSpPr>
          <a:xfrm>
            <a:off x="533400" y="4003358"/>
            <a:ext cx="5410200" cy="702945"/>
            <a:chOff x="533400" y="4003358"/>
            <a:chExt cx="5410200" cy="702945"/>
          </a:xfrm>
        </p:grpSpPr>
        <p:sp>
          <p:nvSpPr>
            <p:cNvPr id="14" name="Rectangle 14"/>
            <p:cNvSpPr/>
            <p:nvPr/>
          </p:nvSpPr>
          <p:spPr>
            <a:xfrm>
              <a:off x="533400" y="400335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254818"/>
              <a:ext cx="200026" cy="200026"/>
              <a:chOff x="738188" y="4254818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2548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43326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4148614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各结点的高度之和小于 n，所以初始建堆的最坏情况时间复杂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度是 O(n)。</a:t>
              </a:r>
            </a:p>
          </p:txBody>
        </p:sp>
      </p:grpSp>
      <p:grpSp>
        <p:nvGrpSpPr>
          <p:cNvPr id="26" name="c1-card-6"/>
          <p:cNvGrpSpPr/>
          <p:nvPr/>
        </p:nvGrpSpPr>
        <p:grpSpPr>
          <a:xfrm>
            <a:off x="533400" y="4871085"/>
            <a:ext cx="5410200" cy="1184910"/>
            <a:chOff x="533400" y="4871085"/>
            <a:chExt cx="5410200" cy="1184910"/>
          </a:xfrm>
        </p:grpSpPr>
        <p:sp>
          <p:nvSpPr>
            <p:cNvPr id="20" name="Rectangle 20"/>
            <p:cNvSpPr/>
            <p:nvPr/>
          </p:nvSpPr>
          <p:spPr>
            <a:xfrm>
              <a:off x="533400" y="4871085"/>
              <a:ext cx="5410200" cy="1184910"/>
            </a:xfrm>
            <a:prstGeom prst="roundRect">
              <a:avLst>
                <a:gd name="adj" fmla="val 11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5004435"/>
              <a:ext cx="47625" cy="9182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505206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2744" y="508492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第一行是怎么来的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65210" y="5091589"/>
              <a:ext cx="2477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h 的结点约有 n/2ʰ⁺¹ 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5408771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叶结点约占一半（n/2 个，高度 0），再往上每层减半。把“个数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高度”逐层相加，就得到上面第一行。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3447" y="1928812"/>
            <a:ext cx="5415153" cy="2552414"/>
            <a:chOff x="6243447" y="1928812"/>
            <a:chExt cx="5415153" cy="2552414"/>
          </a:xfrm>
        </p:grpSpPr>
        <p:sp>
          <p:nvSpPr>
            <p:cNvPr id="27" name="Rectangle 27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1582" y="204597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高度 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57045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69430" y="2045970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贡献 h × 结点数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43079" y="2426970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0（叶）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992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89198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3079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992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89198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3079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992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89198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3571875"/>
              <a:ext cx="516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3（根）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4992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9198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3952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9921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04045" y="3845242"/>
              <a:ext cx="21450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89198" y="3952875"/>
              <a:ext cx="507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 &lt; 15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928812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5048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8975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43447" y="4290536"/>
              <a:ext cx="23977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15 的满二叉树：高度越大，结点越少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248400" y="4607242"/>
            <a:ext cx="5410200" cy="1448752"/>
            <a:chOff x="6248400" y="4607242"/>
            <a:chExt cx="5410200" cy="1448752"/>
          </a:xfrm>
        </p:grpSpPr>
        <p:sp>
          <p:nvSpPr>
            <p:cNvPr id="58" name="Rectangle 58"/>
            <p:cNvSpPr/>
            <p:nvPr/>
          </p:nvSpPr>
          <p:spPr>
            <a:xfrm>
              <a:off x="6248400" y="4607242"/>
              <a:ext cx="5410200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257925" y="4740592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7475" y="47882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60147" y="48210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33451" y="4827746"/>
              <a:ext cx="1949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O(n) 什么时候成立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77000" y="5196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32448" y="5144929"/>
              <a:ext cx="49116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只对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自底向上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Floyd 建堆成立；逐个插入再上浮是 O(nlogn)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77000" y="54816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32448" y="5429726"/>
              <a:ext cx="2799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关键词比较与数组访问都按 O(1) 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2141" y="5711190"/>
              <a:ext cx="5085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脚本对 n = 1023、2047、4095 实测：比较次数 / n 始终小于 4，确实与 n 成正比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46513" cy="909257"/>
            <a:chOff x="520446" y="342900"/>
            <a:chExt cx="88465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465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例题：把 (42, 13, 91, 23, 24, 16, 5, 88) 建成大根堆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55489" cy="264033"/>
            <a:chOff x="526542" y="1545907"/>
            <a:chExt cx="82554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5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吉林大学 21 级期末考试题。n = 8，从 i = 4 开始依次下沉 4、3、2、1；i = 3 没发生交换，表里略去。</a:t>
              </a:r>
            </a:p>
          </p:txBody>
        </p:sp>
      </p:grpSp>
      <p:grpSp>
        <p:nvGrpSpPr>
          <p:cNvPr id="109" name="c1-cells-1"/>
          <p:cNvGrpSpPr/>
          <p:nvPr/>
        </p:nvGrpSpPr>
        <p:grpSpPr>
          <a:xfrm>
            <a:off x="528638" y="1928812"/>
            <a:ext cx="3719512" cy="2620804"/>
            <a:chOff x="528638" y="1928812"/>
            <a:chExt cx="3719512" cy="2620804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07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01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144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492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335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683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526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874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717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065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908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256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099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797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290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638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97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88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079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270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461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652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843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034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638" y="2733675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53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01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144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492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335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8683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152650" y="261175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2874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5717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065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908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256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099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797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290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638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97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888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079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3270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461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652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843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034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8638" y="3416618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953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301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314450" y="329469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4492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7335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8683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1526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2874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5717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7065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9908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1256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4099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579753" y="34166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8290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638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697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4888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9079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3270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7461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1652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5843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0034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28638" y="4099560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95350" y="397764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301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3144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4492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7335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8683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1526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2874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5717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7065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29908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1256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34099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3579753" y="4099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38290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39638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697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4888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9079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3270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7461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31652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5843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0034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33" name="c1-tree-2"/>
          <p:cNvGrpSpPr/>
          <p:nvPr/>
        </p:nvGrpSpPr>
        <p:grpSpPr>
          <a:xfrm>
            <a:off x="706755" y="4688205"/>
            <a:ext cx="4928235" cy="1480185"/>
            <a:chOff x="706755" y="4688205"/>
            <a:chExt cx="4928235" cy="1480185"/>
          </a:xfrm>
        </p:grpSpPr>
        <p:sp>
          <p:nvSpPr>
            <p:cNvPr id="110" name="Freeform 110"/>
            <p:cNvSpPr/>
            <p:nvPr/>
          </p:nvSpPr>
          <p:spPr>
            <a:xfrm>
              <a:off x="884872" y="5615940"/>
              <a:ext cx="351473" cy="374332"/>
            </a:xfrm>
            <a:custGeom>
              <a:avLst/>
              <a:gdLst/>
              <a:ahLst/>
              <a:cxnLst/>
              <a:rect l="l" t="t" r="r" b="b"/>
              <a:pathLst>
                <a:path w="351473" h="374332">
                  <a:moveTo>
                    <a:pt x="351473" y="0"/>
                  </a:moveTo>
                  <a:lnTo>
                    <a:pt x="0" y="3743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1236345" y="5240655"/>
              <a:ext cx="703897" cy="375285"/>
            </a:xfrm>
            <a:custGeom>
              <a:avLst/>
              <a:gdLst/>
              <a:ahLst/>
              <a:cxnLst/>
              <a:rect l="l" t="t" r="r" b="b"/>
              <a:pathLst>
                <a:path w="703897" h="375285">
                  <a:moveTo>
                    <a:pt x="703897" y="0"/>
                  </a:moveTo>
                  <a:lnTo>
                    <a:pt x="0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1940242" y="5240655"/>
              <a:ext cx="702945" cy="375285"/>
            </a:xfrm>
            <a:custGeom>
              <a:avLst/>
              <a:gdLst/>
              <a:ahLst/>
              <a:cxnLst/>
              <a:rect l="l" t="t" r="r" b="b"/>
              <a:pathLst>
                <a:path w="702945" h="375285">
                  <a:moveTo>
                    <a:pt x="0" y="0"/>
                  </a:moveTo>
                  <a:lnTo>
                    <a:pt x="702945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4050030" y="5240655"/>
              <a:ext cx="702945" cy="375285"/>
            </a:xfrm>
            <a:custGeom>
              <a:avLst/>
              <a:gdLst/>
              <a:ahLst/>
              <a:cxnLst/>
              <a:rect l="l" t="t" r="r" b="b"/>
              <a:pathLst>
                <a:path w="702945" h="375285">
                  <a:moveTo>
                    <a:pt x="702945" y="0"/>
                  </a:moveTo>
                  <a:lnTo>
                    <a:pt x="0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4752975" y="5240655"/>
              <a:ext cx="703897" cy="375285"/>
            </a:xfrm>
            <a:custGeom>
              <a:avLst/>
              <a:gdLst/>
              <a:ahLst/>
              <a:cxnLst/>
              <a:rect l="l" t="t" r="r" b="b"/>
              <a:pathLst>
                <a:path w="703897" h="375285">
                  <a:moveTo>
                    <a:pt x="0" y="0"/>
                  </a:moveTo>
                  <a:lnTo>
                    <a:pt x="703897" y="3752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1940242" y="4866322"/>
              <a:ext cx="1406842" cy="374333"/>
            </a:xfrm>
            <a:custGeom>
              <a:avLst/>
              <a:gdLst/>
              <a:ahLst/>
              <a:cxnLst/>
              <a:rect l="l" t="t" r="r" b="b"/>
              <a:pathLst>
                <a:path w="1406842" h="374333">
                  <a:moveTo>
                    <a:pt x="1406842" y="0"/>
                  </a:moveTo>
                  <a:lnTo>
                    <a:pt x="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3347085" y="4866322"/>
              <a:ext cx="1405890" cy="374333"/>
            </a:xfrm>
            <a:custGeom>
              <a:avLst/>
              <a:gdLst/>
              <a:ahLst/>
              <a:cxnLst/>
              <a:rect l="l" t="t" r="r" b="b"/>
              <a:pathLst>
                <a:path w="1405890" h="374333">
                  <a:moveTo>
                    <a:pt x="0" y="0"/>
                  </a:moveTo>
                  <a:lnTo>
                    <a:pt x="1405890" y="3743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7" name="Ellipse 117"/>
            <p:cNvSpPr/>
            <p:nvPr/>
          </p:nvSpPr>
          <p:spPr>
            <a:xfrm>
              <a:off x="706755" y="581215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1058228" y="543782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2465070" y="543782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0" name="Ellipse 120"/>
            <p:cNvSpPr/>
            <p:nvPr/>
          </p:nvSpPr>
          <p:spPr>
            <a:xfrm>
              <a:off x="1762125" y="50625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1" name="Ellipse 121"/>
            <p:cNvSpPr/>
            <p:nvPr/>
          </p:nvSpPr>
          <p:spPr>
            <a:xfrm>
              <a:off x="3871912" y="543782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2" name="Ellipse 122"/>
            <p:cNvSpPr/>
            <p:nvPr/>
          </p:nvSpPr>
          <p:spPr>
            <a:xfrm>
              <a:off x="5278755" y="543782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3" name="Ellipse 123"/>
            <p:cNvSpPr/>
            <p:nvPr/>
          </p:nvSpPr>
          <p:spPr>
            <a:xfrm>
              <a:off x="4574858" y="506253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3168968" y="468820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810141" y="5934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61614" y="55597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568456" y="55597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865511" y="5185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3975299" y="55597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5417126" y="55597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4678244" y="51854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272354" y="48110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</p:grpSp>
      <p:grpSp>
        <p:nvGrpSpPr>
          <p:cNvPr id="151" name="c2-steps-1"/>
          <p:cNvGrpSpPr/>
          <p:nvPr/>
        </p:nvGrpSpPr>
        <p:grpSpPr>
          <a:xfrm>
            <a:off x="6464618" y="1938338"/>
            <a:ext cx="4464939" cy="2149411"/>
            <a:chOff x="6464618" y="1938338"/>
            <a:chExt cx="4464939" cy="2149411"/>
          </a:xfrm>
        </p:grpSpPr>
        <p:sp>
          <p:nvSpPr>
            <p:cNvPr id="134" name="Rectangle 134"/>
            <p:cNvSpPr/>
            <p:nvPr/>
          </p:nvSpPr>
          <p:spPr>
            <a:xfrm>
              <a:off x="6597968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7" name="Ellipse 137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6464618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558241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1" name="Ellipse 141"/>
            <p:cNvSpPr/>
            <p:nvPr/>
          </p:nvSpPr>
          <p:spPr>
            <a:xfrm>
              <a:off x="6464618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558241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6877241" y="196834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878384" y="2223135"/>
              <a:ext cx="299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R[4]=23 只有左孩子 R[8]=88；23 &lt; 88，交换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6877241" y="252174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6878384" y="2776538"/>
              <a:ext cx="26588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R[3]=91 的孩子是 16、5；91 更大，不动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6877241" y="3075146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6878384" y="3328988"/>
              <a:ext cx="3895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R[2]=13 与大孩子 88 换到下标 4，再与 R[8]=23 换到下标 8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6877241" y="3627596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878384" y="3882390"/>
              <a:ext cx="40511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R[1]=42 与大孩子 91 换到下标 3；再和 16、5 比，42 更大，停</a:t>
              </a:r>
            </a:p>
          </p:txBody>
        </p:sp>
      </p:grpSp>
      <p:grpSp>
        <p:nvGrpSpPr>
          <p:cNvPr id="163" name="c2-card-2"/>
          <p:cNvGrpSpPr/>
          <p:nvPr/>
        </p:nvGrpSpPr>
        <p:grpSpPr>
          <a:xfrm>
            <a:off x="6464618" y="4249102"/>
            <a:ext cx="5193982" cy="1973580"/>
            <a:chOff x="6464618" y="4249102"/>
            <a:chExt cx="5193982" cy="1973580"/>
          </a:xfrm>
        </p:grpSpPr>
        <p:sp>
          <p:nvSpPr>
            <p:cNvPr id="152" name="Rectangle 152"/>
            <p:cNvSpPr/>
            <p:nvPr/>
          </p:nvSpPr>
          <p:spPr>
            <a:xfrm>
              <a:off x="6464618" y="4249102"/>
              <a:ext cx="5193982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6474142" y="438245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6683692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776364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7250620" y="4469606"/>
              <a:ext cx="3089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D：91, 88, 42, 23, 24, 16, 5, 13</a:t>
              </a:r>
            </a:p>
          </p:txBody>
        </p:sp>
        <p:sp>
          <p:nvSpPr>
            <p:cNvPr id="157" name="Ellipse 157"/>
            <p:cNvSpPr/>
            <p:nvPr/>
          </p:nvSpPr>
          <p:spPr>
            <a:xfrm>
              <a:off x="6693218" y="48387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848666" y="4786789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把 88 放在下标 3，等于把 42 和 88 直接比了，可它们不是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父子</a:t>
              </a:r>
            </a:p>
          </p:txBody>
        </p:sp>
        <p:sp>
          <p:nvSpPr>
            <p:cNvPr id="159" name="Ellipse 159"/>
            <p:cNvSpPr/>
            <p:nvPr/>
          </p:nvSpPr>
          <p:spPr>
            <a:xfrm>
              <a:off x="6693218" y="53663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6848666" y="5314474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在下标 4、5 写 24、23，顺序反了：24 本来就在 R[5]，没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被碰过</a:t>
              </a:r>
            </a:p>
          </p:txBody>
        </p:sp>
        <p:sp>
          <p:nvSpPr>
            <p:cNvPr id="161" name="Ellipse 161"/>
            <p:cNvSpPr/>
            <p:nvPr/>
          </p:nvSpPr>
          <p:spPr>
            <a:xfrm>
              <a:off x="6693218" y="58950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6848666" y="5842159"/>
              <a:ext cx="3243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把 16 和 5 对调，同样是无中生有的交换</a:t>
              </a:r>
            </a:p>
          </p:txBody>
        </p:sp>
      </p:grpSp>
      <p:grpSp>
        <p:nvGrpSpPr>
          <p:cNvPr id="1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4" name="TextBox 164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7301" cy="909257"/>
            <a:chOff x="520446" y="342900"/>
            <a:chExt cx="83273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7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例题：写出 (6, 1, 5, 9, 8, 4, 7) 建堆时的序列变化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437467" cy="278702"/>
            <a:chOff x="526161" y="1547336"/>
            <a:chExt cx="643746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4374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2018 年考研题全国卷。选项按“每发生一次交换就记一个序列”的粒度给出。</a:t>
              </a:r>
            </a:p>
          </p:txBody>
        </p:sp>
      </p:grpSp>
      <p:grpSp>
        <p:nvGrpSpPr>
          <p:cNvPr id="119" name="c1-cells-1"/>
          <p:cNvGrpSpPr/>
          <p:nvPr/>
        </p:nvGrpSpPr>
        <p:grpSpPr>
          <a:xfrm>
            <a:off x="528447" y="1941195"/>
            <a:ext cx="3570161" cy="3471386"/>
            <a:chOff x="528447" y="1941195"/>
            <a:chExt cx="3570161" cy="3471386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712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649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14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840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505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31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696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222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887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413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78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604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69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79508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460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93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584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775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966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57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348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539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447" y="2790349"/>
              <a:ext cx="3773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i=3 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649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314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840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505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03108" y="2660332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696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222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887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8413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78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604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4269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679508" y="266033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460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393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584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775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966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157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348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539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447" y="3508534"/>
              <a:ext cx="3773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i=2 换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649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314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584008" y="3378518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7505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0031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1696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4222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5887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8413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078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2604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4269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679508" y="337851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8460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393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7584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1775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5966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157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4348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8539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8447" y="4226719"/>
              <a:ext cx="3773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i=1 换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164908" y="4096702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3314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5840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7505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0031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21696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4222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5887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28413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0078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32604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4269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679508" y="4096702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846010" y="42267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3393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584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1775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5966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0157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4348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853938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28447" y="49449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继续下沉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1649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3314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584008" y="4814888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7505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20031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21696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24222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25887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8413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0078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32604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4269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3679508" y="48148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3846010" y="49449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3393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7584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21775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25966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30157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34348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3853938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125" name="c1-callout-2"/>
          <p:cNvGrpSpPr/>
          <p:nvPr/>
        </p:nvGrpSpPr>
        <p:grpSpPr>
          <a:xfrm>
            <a:off x="533400" y="5552122"/>
            <a:ext cx="5842635" cy="729615"/>
            <a:chOff x="533400" y="5552122"/>
            <a:chExt cx="5842635" cy="729615"/>
          </a:xfrm>
        </p:grpSpPr>
        <p:sp>
          <p:nvSpPr>
            <p:cNvPr id="120" name="Rectangle 120"/>
            <p:cNvSpPr/>
            <p:nvPr/>
          </p:nvSpPr>
          <p:spPr>
            <a:xfrm>
              <a:off x="533400" y="555212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5816918"/>
              <a:ext cx="200026" cy="200026"/>
              <a:chOff x="738188" y="5816918"/>
              <a:chExt cx="200026" cy="200026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38188" y="5816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04863" y="58947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0892" y="5698808"/>
              <a:ext cx="45828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答案选 A：6 1 7 9 8 4 5 → 6 9 7 1 8 4 5 → 9 6 7 1 8 4 5 → 9 8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 1 6 4 5。</a:t>
              </a:r>
            </a:p>
          </p:txBody>
        </p:sp>
      </p:grpSp>
      <p:grpSp>
        <p:nvGrpSpPr>
          <p:cNvPr id="139" name="c2-steps-1"/>
          <p:cNvGrpSpPr/>
          <p:nvPr/>
        </p:nvGrpSpPr>
        <p:grpSpPr>
          <a:xfrm>
            <a:off x="6680835" y="1950720"/>
            <a:ext cx="4692015" cy="2316003"/>
            <a:chOff x="6680835" y="1950720"/>
            <a:chExt cx="4692015" cy="2316003"/>
          </a:xfrm>
        </p:grpSpPr>
        <p:sp>
          <p:nvSpPr>
            <p:cNvPr id="126" name="Rectangle 126"/>
            <p:cNvSpPr/>
            <p:nvPr/>
          </p:nvSpPr>
          <p:spPr>
            <a:xfrm>
              <a:off x="6814185" y="209359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6680835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774459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9" name="Ellipse 129"/>
            <p:cNvSpPr/>
            <p:nvPr/>
          </p:nvSpPr>
          <p:spPr>
            <a:xfrm>
              <a:off x="6680835" y="27451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774459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1" name="Ellipse 131"/>
            <p:cNvSpPr/>
            <p:nvPr/>
          </p:nvSpPr>
          <p:spPr>
            <a:xfrm>
              <a:off x="6680835" y="35394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774459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093077" y="1983105"/>
              <a:ext cx="1361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起手必须是 i = 3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094220" y="2250281"/>
              <a:ext cx="40581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7，⌊n/2⌋ = 3，第一个被下沉的是 R[3]=5。它的孩子是 4 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7，7 更大，于是 5 与 7 交换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093077" y="2777490"/>
              <a:ext cx="997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再处理 i = 2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094220" y="3044666"/>
              <a:ext cx="42572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R[2]=1 的孩子是 9、8，9 更大，1 与 9 交换；1 落到下标 4 已是叶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子，本轮结束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7093077" y="3570922"/>
              <a:ext cx="816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 i = 1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094220" y="3839051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R[1]=6 的孩子是 9、7，与 9 交换到下标 2；在下标 2 上孩子是 1、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8，再与 8 交换，6 落到下标 5</a:t>
              </a:r>
            </a:p>
          </p:txBody>
        </p:sp>
      </p:grpSp>
      <p:grpSp>
        <p:nvGrpSpPr>
          <p:cNvPr id="149" name="c2-card-2"/>
          <p:cNvGrpSpPr/>
          <p:nvPr/>
        </p:nvGrpSpPr>
        <p:grpSpPr>
          <a:xfrm>
            <a:off x="6680835" y="4434840"/>
            <a:ext cx="4977765" cy="1846898"/>
            <a:chOff x="6680835" y="4434840"/>
            <a:chExt cx="4977765" cy="1846898"/>
          </a:xfrm>
        </p:grpSpPr>
        <p:sp>
          <p:nvSpPr>
            <p:cNvPr id="140" name="Rectangle 140"/>
            <p:cNvSpPr/>
            <p:nvPr/>
          </p:nvSpPr>
          <p:spPr>
            <a:xfrm>
              <a:off x="6680835" y="4434840"/>
              <a:ext cx="4977765" cy="1846898"/>
            </a:xfrm>
            <a:prstGeom prst="roundRect">
              <a:avLst>
                <a:gd name="adj" fmla="val 7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6690360" y="4568190"/>
              <a:ext cx="47625" cy="15801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6911340" y="462724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6998780" y="46615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错在哪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7628382" y="4667250"/>
              <a:ext cx="1679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 的共同毛病</a:t>
              </a:r>
            </a:p>
          </p:txBody>
        </p:sp>
        <p:sp>
          <p:nvSpPr>
            <p:cNvPr id="145" name="Ellipse 145"/>
            <p:cNvSpPr/>
            <p:nvPr/>
          </p:nvSpPr>
          <p:spPr>
            <a:xfrm>
              <a:off x="6919912" y="50577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075932" y="5001578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 的第一个序列是 6 9 5 1 8 4 7，说明它们先动了 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2，违反“从最后一个非叶结点开始”</a:t>
              </a:r>
            </a:p>
          </p:txBody>
        </p:sp>
        <p:sp>
          <p:nvSpPr>
            <p:cNvPr id="147" name="Ellipse 147"/>
            <p:cNvSpPr/>
            <p:nvPr/>
          </p:nvSpPr>
          <p:spPr>
            <a:xfrm>
              <a:off x="6919912" y="56168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075932" y="5560695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的第一步对，第二步却把根 6 和 R[3]=7 交换，可这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时该处理的是 i = 2</a:t>
              </a:r>
            </a:p>
          </p:txBody>
        </p:sp>
      </p:grpSp>
      <p:grpSp>
        <p:nvGrpSpPr>
          <p:cNvPr id="1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0" name="TextBox 150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两道判断与分析题：建堆到底要多少时间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3169920"/>
            <a:chOff x="533400" y="1524000"/>
            <a:chExt cx="5410200" cy="3169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69920"/>
            </a:xfrm>
            <a:prstGeom prst="roundRect">
              <a:avLst>
                <a:gd name="adj" fmla="val 42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032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清华大学考研题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64392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判断：把 n 个元素建成一个堆，至少需要 O(nlogn) 时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22245"/>
              <a:ext cx="3974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答案：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。Floyd 自底向上建堆只要 O(n)。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1203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5752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“至少需要 O(nlogn)”是在给下界，而 O(n) 的算法真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实存在，所以命题不成立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7414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678555"/>
              <a:ext cx="4530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如果改成“把 n 个元素排成有序序列至少需要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Ω(nlogn) 次比较”，那才是对的（第 20 讲的比较排序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下界）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884420"/>
            <a:ext cx="5410200" cy="995362"/>
            <a:chOff x="533400" y="4884420"/>
            <a:chExt cx="5410200" cy="995362"/>
          </a:xfrm>
        </p:grpSpPr>
        <p:sp>
          <p:nvSpPr>
            <p:cNvPr id="18" name="Rectangle 18"/>
            <p:cNvSpPr/>
            <p:nvPr/>
          </p:nvSpPr>
          <p:spPr>
            <a:xfrm>
              <a:off x="533400" y="4884420"/>
              <a:ext cx="5410200" cy="995362"/>
            </a:xfrm>
            <a:prstGeom prst="roundRect">
              <a:avLst>
                <a:gd name="adj" fmla="val 1148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282565"/>
              <a:ext cx="200026" cy="200025"/>
              <a:chOff x="738188" y="528256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2825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3270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4381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51396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分清两件事：建堆只要求父子有序，排序要求全体有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序。前者 O(n)，后者有 Ω(nlogn) 的下界。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1675924"/>
              <a:ext cx="28064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吉林大学 21 级期末考试题：sum++ 执行多少次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6797" y="1935956"/>
              <a:ext cx="2405761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0, sum = 0, i, j;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n; i &gt; 1; i /= 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t * i; j++)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sum++;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627120"/>
            <a:ext cx="5410200" cy="2252662"/>
            <a:chOff x="6248400" y="3627120"/>
            <a:chExt cx="5410200" cy="2252662"/>
          </a:xfrm>
        </p:grpSpPr>
        <p:sp>
          <p:nvSpPr>
            <p:cNvPr id="29" name="Rectangle 29"/>
            <p:cNvSpPr/>
            <p:nvPr/>
          </p:nvSpPr>
          <p:spPr>
            <a:xfrm>
              <a:off x="6248400" y="3627120"/>
              <a:ext cx="54102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376047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38366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6258" y="3872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7078" y="3871912"/>
              <a:ext cx="11327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D：O(n)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423291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外层第 k 次迭代时 i = n/2ᵏ⁻¹、t = k，内层执行 k·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n/2ᵏ⁻¹ 次。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4853940"/>
              <a:ext cx="472154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总次数 = n·Σ k/2ᵏ⁻¹ =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，与上一页建堆的求和是同一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个级数。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5471636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脚本对 n = 2¹⁰ 到 2²² 实测，次数 / n 稳定在 4.0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堆排序：取走堆顶，换到队尾，再把堆补好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31689" cy="2998756"/>
            <a:chOff x="533400" y="1533525"/>
            <a:chExt cx="5131689" cy="2998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688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BuildHeap 把待排序数组 R 建成一个大根堆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n 个元素的最大者就是 R[1]，把它与 R[n] 交换，R[n] 就位；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再下沉 R[1]，使 R[1]…R[n−1] 重新成堆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365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在前 n−1 个元素的堆里重复同样的动作，让 R[n−1] 就位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调整范围只剩 R[1] 为止。此时 R[1] 是最小的，整个数组已按递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增排列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711065"/>
            <a:ext cx="5410200" cy="1348740"/>
            <a:chOff x="533400" y="4711065"/>
            <a:chExt cx="5410200" cy="1348740"/>
          </a:xfrm>
        </p:grpSpPr>
        <p:sp>
          <p:nvSpPr>
            <p:cNvPr id="25" name="Rectangle 25"/>
            <p:cNvSpPr/>
            <p:nvPr/>
          </p:nvSpPr>
          <p:spPr>
            <a:xfrm>
              <a:off x="533400" y="4711065"/>
              <a:ext cx="5410200" cy="1348740"/>
            </a:xfrm>
            <a:prstGeom prst="roundRect">
              <a:avLst>
                <a:gd name="adj" fmla="val 847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285425"/>
              <a:ext cx="200023" cy="200023"/>
              <a:chOff x="738188" y="5285425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2854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3520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14254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数组的右端在长大，左端的堆在缩小，两者共用同一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块内存，所以额外空间是 O(1)。</a:t>
              </a:r>
            </a:p>
          </p:txBody>
        </p:sp>
      </p:grpSp>
      <p:grpSp>
        <p:nvGrpSpPr>
          <p:cNvPr id="81" name="c2-cells-1"/>
          <p:cNvGrpSpPr/>
          <p:nvPr/>
        </p:nvGrpSpPr>
        <p:grpSpPr>
          <a:xfrm>
            <a:off x="6243066" y="1524000"/>
            <a:ext cx="3891534" cy="1406366"/>
            <a:chOff x="6243066" y="1524000"/>
            <a:chExt cx="3891534" cy="1406366"/>
          </a:xfrm>
        </p:grpSpPr>
        <p:sp>
          <p:nvSpPr>
            <p:cNvPr id="31" name="TextBox 31"/>
            <p:cNvSpPr txBox="1"/>
            <p:nvPr/>
          </p:nvSpPr>
          <p:spPr>
            <a:xfrm>
              <a:off x="6243066" y="16678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原数组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818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043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009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234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25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391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616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4582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807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773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998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964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59801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1550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38086" y="16678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62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753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944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35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326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517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08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9931" y="19969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3066" y="2439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建堆后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1800" y="2295525"/>
              <a:ext cx="41910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043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2009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234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200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425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391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616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4582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807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773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998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2964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9801" y="24393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715500" y="229552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838086" y="24393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562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753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944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135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326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517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708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89931" y="2768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05" name="c2-tree-2"/>
          <p:cNvGrpSpPr/>
          <p:nvPr/>
        </p:nvGrpSpPr>
        <p:grpSpPr>
          <a:xfrm>
            <a:off x="6376988" y="3126105"/>
            <a:ext cx="4814887" cy="1920240"/>
            <a:chOff x="6376988" y="3126105"/>
            <a:chExt cx="4814887" cy="1920240"/>
          </a:xfrm>
        </p:grpSpPr>
        <p:sp>
          <p:nvSpPr>
            <p:cNvPr id="82" name="Freeform 82"/>
            <p:cNvSpPr/>
            <p:nvPr/>
          </p:nvSpPr>
          <p:spPr>
            <a:xfrm>
              <a:off x="6586538" y="4335780"/>
              <a:ext cx="338138" cy="501015"/>
            </a:xfrm>
            <a:custGeom>
              <a:avLst/>
              <a:gdLst/>
              <a:ahLst/>
              <a:cxnLst/>
              <a:rect l="l" t="t" r="r" b="b"/>
              <a:pathLst>
                <a:path w="338138" h="501015">
                  <a:moveTo>
                    <a:pt x="338138" y="0"/>
                  </a:moveTo>
                  <a:lnTo>
                    <a:pt x="0" y="501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6924675" y="3836670"/>
              <a:ext cx="676275" cy="499110"/>
            </a:xfrm>
            <a:custGeom>
              <a:avLst/>
              <a:gdLst/>
              <a:ahLst/>
              <a:cxnLst/>
              <a:rect l="l" t="t" r="r" b="b"/>
              <a:pathLst>
                <a:path w="676275" h="499110">
                  <a:moveTo>
                    <a:pt x="676275" y="0"/>
                  </a:moveTo>
                  <a:lnTo>
                    <a:pt x="0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7600950" y="3836670"/>
              <a:ext cx="676275" cy="499110"/>
            </a:xfrm>
            <a:custGeom>
              <a:avLst/>
              <a:gdLst/>
              <a:ahLst/>
              <a:cxnLst/>
              <a:rect l="l" t="t" r="r" b="b"/>
              <a:pathLst>
                <a:path w="676275" h="499110">
                  <a:moveTo>
                    <a:pt x="0" y="0"/>
                  </a:moveTo>
                  <a:lnTo>
                    <a:pt x="676275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9629775" y="3836670"/>
              <a:ext cx="676275" cy="499110"/>
            </a:xfrm>
            <a:custGeom>
              <a:avLst/>
              <a:gdLst/>
              <a:ahLst/>
              <a:cxnLst/>
              <a:rect l="l" t="t" r="r" b="b"/>
              <a:pathLst>
                <a:path w="676275" h="499110">
                  <a:moveTo>
                    <a:pt x="676275" y="0"/>
                  </a:moveTo>
                  <a:lnTo>
                    <a:pt x="0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306050" y="3836670"/>
              <a:ext cx="676275" cy="499110"/>
            </a:xfrm>
            <a:custGeom>
              <a:avLst/>
              <a:gdLst/>
              <a:ahLst/>
              <a:cxnLst/>
              <a:rect l="l" t="t" r="r" b="b"/>
              <a:pathLst>
                <a:path w="676275" h="499110">
                  <a:moveTo>
                    <a:pt x="0" y="0"/>
                  </a:moveTo>
                  <a:lnTo>
                    <a:pt x="676275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7600950" y="3335655"/>
              <a:ext cx="1352550" cy="501015"/>
            </a:xfrm>
            <a:custGeom>
              <a:avLst/>
              <a:gdLst/>
              <a:ahLst/>
              <a:cxnLst/>
              <a:rect l="l" t="t" r="r" b="b"/>
              <a:pathLst>
                <a:path w="1352550" h="501015">
                  <a:moveTo>
                    <a:pt x="1352550" y="0"/>
                  </a:moveTo>
                  <a:lnTo>
                    <a:pt x="0" y="501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8953500" y="3335655"/>
              <a:ext cx="1352550" cy="501015"/>
            </a:xfrm>
            <a:custGeom>
              <a:avLst/>
              <a:gdLst/>
              <a:ahLst/>
              <a:cxnLst/>
              <a:rect l="l" t="t" r="r" b="b"/>
              <a:pathLst>
                <a:path w="1352550" h="501015">
                  <a:moveTo>
                    <a:pt x="0" y="0"/>
                  </a:moveTo>
                  <a:lnTo>
                    <a:pt x="1352550" y="501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6376988" y="46272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6715125" y="41262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8067675" y="41262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7391400" y="362712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9420225" y="41262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10772775" y="41262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10096500" y="362712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8743950" y="3126105"/>
              <a:ext cx="419100" cy="4191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499573" y="47710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37711" y="4271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190261" y="4271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513986" y="37709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542811" y="42710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936176" y="42710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219086" y="37709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866536" y="32708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  <p:grpSp>
        <p:nvGrpSpPr>
          <p:cNvPr id="112" name="c2-callout-3"/>
          <p:cNvGrpSpPr/>
          <p:nvPr/>
        </p:nvGrpSpPr>
        <p:grpSpPr>
          <a:xfrm>
            <a:off x="6248400" y="5276850"/>
            <a:ext cx="5410200" cy="782955"/>
            <a:chOff x="6248400" y="5276850"/>
            <a:chExt cx="5410200" cy="782955"/>
          </a:xfrm>
        </p:grpSpPr>
        <p:sp>
          <p:nvSpPr>
            <p:cNvPr id="106" name="Rectangle 106"/>
            <p:cNvSpPr/>
            <p:nvPr/>
          </p:nvSpPr>
          <p:spPr>
            <a:xfrm>
              <a:off x="6248400" y="52768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6453188" y="5568315"/>
              <a:ext cx="200026" cy="200026"/>
              <a:chOff x="6453188" y="5568315"/>
              <a:chExt cx="200026" cy="200026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6453188" y="5568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6553200" y="56349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6542088" y="56683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6755130" y="542544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操作的虽然是数组，背后的形状始终是这棵完全二叉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堆排序全过程：8 个元素，每轮两个动作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659630" cy="293370"/>
            <a:chOff x="525780" y="1548765"/>
            <a:chExt cx="46596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绿色是已经就位的后缀，它们不再参与后面的下沉。</a:t>
              </a:r>
            </a:p>
          </p:txBody>
        </p:sp>
      </p:grpSp>
      <p:grpSp>
        <p:nvGrpSpPr>
          <p:cNvPr id="159" name="c1-cells-1"/>
          <p:cNvGrpSpPr/>
          <p:nvPr/>
        </p:nvGrpSpPr>
        <p:grpSpPr>
          <a:xfrm>
            <a:off x="528447" y="1954530"/>
            <a:ext cx="3922585" cy="4391501"/>
            <a:chOff x="528447" y="1954530"/>
            <a:chExt cx="3922585" cy="4391501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969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建堆后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982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266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173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457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364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648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555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839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746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30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937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221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128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79335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3193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60341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6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917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08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299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90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681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72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636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2851309"/>
              <a:ext cx="4119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换 1↔8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982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266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173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457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364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648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555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9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7746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030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937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221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612832" y="27079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79335" y="28513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031932" y="2707958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60341" y="28513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26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917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108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299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9490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681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872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06363" y="3168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8447" y="3604736"/>
              <a:ext cx="478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 R1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982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266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5173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6457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9364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0648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3555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4839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7746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9030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31937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3221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612832" y="346233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779335" y="360473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4031932" y="3462338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160341" y="36047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726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6917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1108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5299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9490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3681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7872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206363" y="3922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28447" y="4358164"/>
              <a:ext cx="4119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换 1↔7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982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264735" y="43581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5173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6457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9364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0648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3555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4839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7746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9030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3193732" y="421576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3221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3612832" y="4215765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37412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4031932" y="4215765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4160341" y="43581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2726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6917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21108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5299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9490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33681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7872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4206363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28447" y="5112544"/>
              <a:ext cx="4786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 R1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10982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2266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5173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6457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9364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20648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23555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24839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27746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29030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3193732" y="49701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3360235" y="51125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3612832" y="4970145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37412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4031932" y="4970145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4160341" y="511254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2726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6917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21108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25299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9490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33681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37872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4206363" y="54297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528447" y="5865971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再 5 轮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10982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1264735" y="58659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15173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16457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19364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20648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23555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24839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27746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29030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31937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33221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36128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37412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4031932" y="572357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4160341" y="58659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2726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6917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21108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25299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29490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33681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37872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4206363" y="61841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73" name="c2-steps-1"/>
          <p:cNvGrpSpPr/>
          <p:nvPr/>
        </p:nvGrpSpPr>
        <p:grpSpPr>
          <a:xfrm>
            <a:off x="6898005" y="1964055"/>
            <a:ext cx="4574667" cy="2232089"/>
            <a:chOff x="6898005" y="1964055"/>
            <a:chExt cx="4574667" cy="2232089"/>
          </a:xfrm>
        </p:grpSpPr>
        <p:sp>
          <p:nvSpPr>
            <p:cNvPr id="160" name="Rectangle 160"/>
            <p:cNvSpPr/>
            <p:nvPr/>
          </p:nvSpPr>
          <p:spPr>
            <a:xfrm>
              <a:off x="7031355" y="210693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6898005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6991629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3" name="Ellipse 163"/>
            <p:cNvSpPr/>
            <p:nvPr/>
          </p:nvSpPr>
          <p:spPr>
            <a:xfrm>
              <a:off x="6898005" y="25850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991629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5" name="Ellipse 165"/>
            <p:cNvSpPr/>
            <p:nvPr/>
          </p:nvSpPr>
          <p:spPr>
            <a:xfrm>
              <a:off x="6898005" y="34270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6991629" y="35009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7309866" y="1996916"/>
              <a:ext cx="59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 1↔8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7311009" y="2277428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就位，13 被扔到堆顶，堆序性只在根这一处坏掉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7309866" y="2617946"/>
              <a:ext cx="16289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 R1（范围 7）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311009" y="2898457"/>
              <a:ext cx="4035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和 56、30 中的 56 换，再和 23、13 中的 23 换，最后停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在下标 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309866" y="3459956"/>
              <a:ext cx="59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 1↔7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7311009" y="3740468"/>
              <a:ext cx="4161663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56 就位。注意下沉时传的 n 是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，被排好的 56、60 已经不在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堆里</a:t>
              </a:r>
            </a:p>
          </p:txBody>
        </p:sp>
      </p:grpSp>
      <p:grpSp>
        <p:nvGrpSpPr>
          <p:cNvPr id="180" name="c2-card-2"/>
          <p:cNvGrpSpPr/>
          <p:nvPr/>
        </p:nvGrpSpPr>
        <p:grpSpPr>
          <a:xfrm>
            <a:off x="6898005" y="4371975"/>
            <a:ext cx="4760595" cy="1939290"/>
            <a:chOff x="6898005" y="4371975"/>
            <a:chExt cx="4760595" cy="1939290"/>
          </a:xfrm>
        </p:grpSpPr>
        <p:sp>
          <p:nvSpPr>
            <p:cNvPr id="174" name="Rectangle 174"/>
            <p:cNvSpPr/>
            <p:nvPr/>
          </p:nvSpPr>
          <p:spPr>
            <a:xfrm>
              <a:off x="6898005" y="4371975"/>
              <a:ext cx="4760595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6907530" y="450532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7139940" y="457581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7" name="TextBox 177"/>
            <p:cNvSpPr txBox="1"/>
            <p:nvPr/>
          </p:nvSpPr>
          <p:spPr>
            <a:xfrm>
              <a:off x="7204545" y="46115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最容易写错的一行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8593836" y="4616291"/>
              <a:ext cx="22157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ShiftDown(R, i − 1, 1)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7132701" y="4967764"/>
              <a:ext cx="40721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交换之后堆的规模已经从 i 变成 i−1，传 i 会把刚就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位的元素又拉回堆里，排序结果会乱。</a:t>
              </a:r>
            </a:p>
          </p:txBody>
        </p:sp>
      </p:grpSp>
      <p:grpSp>
        <p:nvGrpSpPr>
          <p:cNvPr id="1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1" name="TextBox 181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3659" cy="909257"/>
            <a:chOff x="520446" y="342900"/>
            <a:chExt cx="38036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36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HeapSort 代码与复杂度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829752"/>
            <a:chOff x="533400" y="1524000"/>
            <a:chExt cx="5842635" cy="1829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603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堆排序 R[1]…R[n]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5144643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HeapSort(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BuildHeap(R, n);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先把 R 建成大根堆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i = n; i &gt; 1; i--) { /* i 为当前堆的堆尾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swap(&amp;R[1], &amp;R[i]);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最大者 R[1] 与 R[i] 交换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ShiftDown(R, i - 1, 1);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下沉 R[1]，重建前 i-1 个元素的堆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3533775"/>
            <a:ext cx="5842635" cy="756285"/>
            <a:chOff x="533400" y="3533775"/>
            <a:chExt cx="5842635" cy="756285"/>
          </a:xfrm>
        </p:grpSpPr>
        <p:sp>
          <p:nvSpPr>
            <p:cNvPr id="11" name="Rectangle 11"/>
            <p:cNvSpPr/>
            <p:nvPr/>
          </p:nvSpPr>
          <p:spPr>
            <a:xfrm>
              <a:off x="533400" y="353377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3811905"/>
              <a:ext cx="200026" cy="200026"/>
              <a:chOff x="738188" y="381190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8119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38896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3680936"/>
              <a:ext cx="477545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全部代码就是一次建堆加一个循环。本讲义用 zig cc 编译运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行，并在 2 万组随机数据上与标准库排序对拍通过。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70082"/>
            <a:ext cx="5842635" cy="1819275"/>
            <a:chOff x="533400" y="4470082"/>
            <a:chExt cx="5842635" cy="1819275"/>
          </a:xfrm>
        </p:grpSpPr>
        <p:sp>
          <p:nvSpPr>
            <p:cNvPr id="17" name="Rectangle 17"/>
            <p:cNvSpPr/>
            <p:nvPr/>
          </p:nvSpPr>
          <p:spPr>
            <a:xfrm>
              <a:off x="533400" y="4470082"/>
              <a:ext cx="5842635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603432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466820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056" y="470249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想得到递减序列怎么办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9731" y="470296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把大根堆换成小根堆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5046821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ShiftDown 里两处比较取反（挑最小的孩子、自己比孩子小就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停），建出来的是小根堆。每轮把最小的换到队尾，最终数组就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递减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524" y="5903595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大根堆排出递增、小根堆排出递减，方向正好相反，考试里最容易记反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680835" y="1524000"/>
            <a:ext cx="4977765" cy="1697355"/>
            <a:chOff x="6680835" y="1524000"/>
            <a:chExt cx="4977765" cy="1697355"/>
          </a:xfrm>
        </p:grpSpPr>
        <p:sp>
          <p:nvSpPr>
            <p:cNvPr id="25" name="Rectangle 25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6089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580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891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每次代价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937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3324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777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73134" y="207645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67581" y="207645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2367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0835" y="237267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3324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77772" y="250126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3134" y="250126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67581" y="2501265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27927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3324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77772" y="29260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3134" y="2926080"/>
              <a:ext cx="633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274618" y="2807018"/>
              <a:ext cx="137445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67581" y="2926080"/>
              <a:ext cx="7570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1524000"/>
              <a:ext cx="497776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7052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6588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60330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680835" y="3402330"/>
            <a:ext cx="4977765" cy="2887028"/>
            <a:chOff x="6680835" y="3402330"/>
            <a:chExt cx="4977765" cy="2887028"/>
          </a:xfrm>
        </p:grpSpPr>
        <p:sp>
          <p:nvSpPr>
            <p:cNvPr id="51" name="Rectangle 51"/>
            <p:cNvSpPr/>
            <p:nvPr/>
          </p:nvSpPr>
          <p:spPr>
            <a:xfrm>
              <a:off x="6680835" y="3402330"/>
              <a:ext cx="4977765" cy="2887028"/>
            </a:xfrm>
            <a:prstGeom prst="roundRect">
              <a:avLst>
                <a:gd name="adj" fmla="val 4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3535680"/>
              <a:ext cx="47625" cy="262032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17055" y="360045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2493" y="36347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复杂度与前提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33766" y="3635216"/>
              <a:ext cx="28682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最好、平均、最坏都是 O(nlogn)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24675" y="40386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81266" y="397906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即使输入已经有序，选择阶段每轮仍要把堆尾元素从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根沉下去，所以下界也是 Θ(nlogn)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924675" y="462819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1266" y="4567714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前提：顺序存储、随机访问 O(1)；数据在外存时这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个结论不成立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924675" y="52168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1266" y="5157311"/>
              <a:ext cx="4000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 O(1)：只有 swap 里的一个临时变量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46354" cy="909257"/>
            <a:chOff x="520446" y="342900"/>
            <a:chExt cx="52463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463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堆排序不稳定：一个 6 元素的反例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527082" cy="278702"/>
            <a:chOff x="526161" y="1547336"/>
            <a:chExt cx="752708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527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 与 15* 关键词相同，15 原本排在 15* 前面。跟着走一遍就能看到它们被换了个个儿。</a:t>
              </a:r>
            </a:p>
          </p:txBody>
        </p:sp>
      </p:grpSp>
      <p:grpSp>
        <p:nvGrpSpPr>
          <p:cNvPr id="123" name="c1-cells-1"/>
          <p:cNvGrpSpPr/>
          <p:nvPr/>
        </p:nvGrpSpPr>
        <p:grpSpPr>
          <a:xfrm>
            <a:off x="528638" y="1941195"/>
            <a:ext cx="3208972" cy="4189571"/>
            <a:chOff x="528638" y="1941195"/>
            <a:chExt cx="3208972" cy="4189571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7645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2990" y="1941195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11144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08760" y="1941195"/>
              <a:ext cx="44577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6914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54530" y="1941195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02684" y="20764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00300" y="1941195"/>
              <a:ext cx="44577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13469" y="207645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46070" y="1941195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29208" y="20764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91840" y="1941195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74978" y="20764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075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9652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422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8806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383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7960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2794635"/>
              <a:ext cx="378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换 1↔6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62990" y="266033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46128" y="27946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08760" y="266033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56914" y="2794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54530" y="266033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02684" y="2794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00300" y="266033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13469" y="279463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846070" y="266033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29208" y="27946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91840" y="2660332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39994" y="279463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5075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9652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4229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806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3383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7960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8638" y="3512820"/>
              <a:ext cx="4400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 R1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62990" y="337851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11144" y="35128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8760" y="337851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621929" y="351282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954530" y="337851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02684" y="35128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400300" y="337851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583438" y="35128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46070" y="337851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029208" y="35128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291840" y="3378518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39994" y="35128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5075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69652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14229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8806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3383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47960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8638" y="4231005"/>
              <a:ext cx="378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换 1↔5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62990" y="409670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246128" y="42310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508760" y="409670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621929" y="423100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954530" y="409670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102684" y="423100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400300" y="409670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583438" y="42310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846070" y="4096702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994224" y="423100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291840" y="4096702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439994" y="423100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25075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69652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14229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806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03383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479606" y="453151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28638" y="4950142"/>
              <a:ext cx="4400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 R1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62990" y="481488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176159" y="495014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508760" y="481488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691898" y="49501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954530" y="481488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102684" y="49501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2400300" y="4814888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2583438" y="49501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2846070" y="4814888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2994224" y="49501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291840" y="4814888"/>
              <a:ext cx="44577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439994" y="49501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25075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69652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14229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258806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303383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3479606" y="5250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28638" y="5668327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最终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062990" y="553307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246128" y="566832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508760" y="553307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691898" y="566832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1954530" y="553307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2102684" y="5668327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2400300" y="5533072"/>
              <a:ext cx="44577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2513469" y="566832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15*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2846070" y="5533072"/>
              <a:ext cx="44577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2994224" y="5668327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291840" y="5533072"/>
              <a:ext cx="4457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439994" y="5668327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25075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69652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14229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258806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303383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3479606" y="5968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29" name="c2-card-1"/>
          <p:cNvGrpSpPr/>
          <p:nvPr/>
        </p:nvGrpSpPr>
        <p:grpSpPr>
          <a:xfrm>
            <a:off x="6898005" y="1941195"/>
            <a:ext cx="4760595" cy="1483995"/>
            <a:chOff x="6898005" y="1941195"/>
            <a:chExt cx="4760595" cy="1483995"/>
          </a:xfrm>
        </p:grpSpPr>
        <p:sp>
          <p:nvSpPr>
            <p:cNvPr id="124" name="Rectangle 124"/>
            <p:cNvSpPr/>
            <p:nvPr/>
          </p:nvSpPr>
          <p:spPr>
            <a:xfrm>
              <a:off x="6898005" y="1941195"/>
              <a:ext cx="4760595" cy="1483995"/>
            </a:xfrm>
            <a:prstGeom prst="roundRect">
              <a:avLst>
                <a:gd name="adj" fmla="val 898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7090410" y="213360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7169848" y="21678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关键的一步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074152" y="2173605"/>
              <a:ext cx="2565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下沉时把 15* 换到了 15 前面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083552" y="2507932"/>
              <a:ext cx="41885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 1↔6 之后堆顶是 6，下沉时先与 15 交换，6 落到下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 2；再与下标 4 的 15* 比较，6 更小，于是 15* 升到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 2，跑到了 15 的前面。</a:t>
              </a:r>
            </a:p>
          </p:txBody>
        </p:sp>
      </p:grpSp>
      <p:grpSp>
        <p:nvGrpSpPr>
          <p:cNvPr id="137" name="c2-card-2"/>
          <p:cNvGrpSpPr/>
          <p:nvPr/>
        </p:nvGrpSpPr>
        <p:grpSpPr>
          <a:xfrm>
            <a:off x="6898005" y="3600450"/>
            <a:ext cx="4760595" cy="1747838"/>
            <a:chOff x="6898005" y="3600450"/>
            <a:chExt cx="4760595" cy="1747838"/>
          </a:xfrm>
        </p:grpSpPr>
        <p:sp>
          <p:nvSpPr>
            <p:cNvPr id="130" name="Rectangle 130"/>
            <p:cNvSpPr/>
            <p:nvPr/>
          </p:nvSpPr>
          <p:spPr>
            <a:xfrm>
              <a:off x="6898005" y="3600450"/>
              <a:ext cx="4760595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6907530" y="373380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128510" y="37928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219950" y="38271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7712202" y="383286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只要找到一个反例就够了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121652" y="4167188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更短的反例是 (1, 2, 2*)：完整调用 HeapSort 后结果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1, 2*, 2。脚本穷举了长度 2 到 6 的全部三值序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列，这是最短的一个。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122795" y="4980146"/>
              <a:ext cx="3969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上面这个 6 元素例子是从“初始堆”开始演示的，与课件一致</a:t>
              </a:r>
            </a:p>
          </p:txBody>
        </p:sp>
      </p:grpSp>
      <p:grpSp>
        <p:nvGrpSpPr>
          <p:cNvPr id="144" name="c2-callout-3"/>
          <p:cNvGrpSpPr/>
          <p:nvPr/>
        </p:nvGrpSpPr>
        <p:grpSpPr>
          <a:xfrm>
            <a:off x="6898005" y="5523548"/>
            <a:ext cx="4760595" cy="729615"/>
            <a:chOff x="6898005" y="5523548"/>
            <a:chExt cx="4760595" cy="729615"/>
          </a:xfrm>
        </p:grpSpPr>
        <p:sp>
          <p:nvSpPr>
            <p:cNvPr id="138" name="Rectangle 138"/>
            <p:cNvSpPr/>
            <p:nvPr/>
          </p:nvSpPr>
          <p:spPr>
            <a:xfrm>
              <a:off x="6898005" y="552354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090734" y="5784651"/>
              <a:ext cx="224134" cy="192560"/>
              <a:chOff x="7090734" y="5784651"/>
              <a:chExt cx="224134" cy="19256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7202805" y="58550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7090734" y="57846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7202805" y="59328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7405497" y="566928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不稳定的根源：交换发生在相距很远的两个位置之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间，同样关键词的相对次序没人维护。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建堆与堆排序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堆排序放在几种排序里看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33400" y="1524000"/>
            <a:ext cx="11125200" cy="2400300"/>
            <a:chOff x="533400" y="1524000"/>
            <a:chExt cx="11125200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5009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144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9469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7491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3225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564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78480" y="2045494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57750" y="20454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37972" y="20454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8195" y="2045494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3600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78480" y="244554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57750" y="244554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37972" y="244554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18195" y="2445544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53600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78480" y="2845594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57750" y="28455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37972" y="28455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8195" y="2845594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53600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锦标赛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8480" y="324564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7750" y="324564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37972" y="324564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8195" y="3245644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3600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55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78480" y="364569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57750" y="364569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37972" y="3645694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330565" y="3533775"/>
              <a:ext cx="131635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18195" y="364569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53600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11125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97656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75583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3605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1627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5168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allout-2"/>
          <p:cNvGrpSpPr/>
          <p:nvPr/>
        </p:nvGrpSpPr>
        <p:grpSpPr>
          <a:xfrm>
            <a:off x="533400" y="4093845"/>
            <a:ext cx="11125200" cy="481012"/>
            <a:chOff x="533400" y="4093845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4093845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4234815"/>
              <a:ext cx="200026" cy="200026"/>
              <a:chOff x="738188" y="423481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42348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43014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43348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4240530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前三行来自第 17 讲，锦标赛排序来自本讲第一部分，放在一起是为了对照记忆。</a:t>
              </a:r>
            </a:p>
          </p:txBody>
        </p:sp>
      </p:grpSp>
      <p:grpSp>
        <p:nvGrpSpPr>
          <p:cNvPr id="76" name="c1-card-3"/>
          <p:cNvGrpSpPr/>
          <p:nvPr/>
        </p:nvGrpSpPr>
        <p:grpSpPr>
          <a:xfrm>
            <a:off x="533400" y="4745355"/>
            <a:ext cx="11125200" cy="1617345"/>
            <a:chOff x="533400" y="4745355"/>
            <a:chExt cx="11125200" cy="1617345"/>
          </a:xfrm>
        </p:grpSpPr>
        <p:sp>
          <p:nvSpPr>
            <p:cNvPr id="65" name="Rectangle 65"/>
            <p:cNvSpPr/>
            <p:nvPr/>
          </p:nvSpPr>
          <p:spPr>
            <a:xfrm>
              <a:off x="533400" y="4745355"/>
              <a:ext cx="11125200" cy="1617345"/>
            </a:xfrm>
            <a:prstGeom prst="roundRect">
              <a:avLst>
                <a:gd name="adj" fmla="val 8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2925" y="4878705"/>
              <a:ext cx="47625" cy="13506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58190" y="493204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35609" y="496490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堆排序的位置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821942" y="4966335"/>
              <a:ext cx="4116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唯一一个 O(nlogn) 又只用 O(1) 空间的经典算法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66762" y="53492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2782" y="5293042"/>
              <a:ext cx="6281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快速排序平均 O(nlogn) 但最坏 O(n²)，还要 O(logn) 的递归栈（第 19 讲）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66762" y="56492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82" y="5593080"/>
              <a:ext cx="5916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归并排序稳定且最坏也是 O(nlogn)，但要 O(n) 的辅助数组（第 20 讲）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66762" y="59493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22782" y="5893118"/>
              <a:ext cx="9199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堆排序三项复杂度都是 O(nlogn)，空间 O(1)；代价是不稳定、常数较大、访存跳跃不连续，实测常慢于快速排序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938450" cy="3351847"/>
            <a:chOff x="667512" y="1835468"/>
            <a:chExt cx="593845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堆与优先级队列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928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插入与删除堆顶，以及它们在 Huffman、Dijkstra 里的用法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插入放堆尾再上浮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删除把堆尾搬到根再下沉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优先级队列的类结构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堆与复杂度对照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堆的插入：放在堆尾，再让它上浮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98819" cy="264033"/>
            <a:chOff x="526542" y="1545907"/>
            <a:chExt cx="60988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98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(R₁, …, Rₙ) 是一个堆，插入新元素 Rₙ₊₁，要让 (R₁, …, Rₙ₊₁) 仍是堆。</a:t>
              </a:r>
            </a:p>
          </p:txBody>
        </p:sp>
      </p:grpSp>
      <p:grpSp>
        <p:nvGrpSpPr>
          <p:cNvPr id="94" name="c1-cells-1"/>
          <p:cNvGrpSpPr/>
          <p:nvPr/>
        </p:nvGrpSpPr>
        <p:grpSpPr>
          <a:xfrm>
            <a:off x="528638" y="1928812"/>
            <a:ext cx="3529012" cy="2620804"/>
            <a:chOff x="528638" y="1928812"/>
            <a:chExt cx="3529012" cy="2620804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07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39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87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430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78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621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969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12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510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003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701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194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892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983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4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65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56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47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938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273367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放堆尾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239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587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430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778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621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969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3812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510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8003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701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194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892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38550" y="261175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733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983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174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365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556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747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938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129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638" y="341661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上浮一层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1239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587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5430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6778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962150" y="3294698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0969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3812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51053" y="34166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8003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970153" y="34166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2194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389253" y="341661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638550" y="32946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773369" y="34166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983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7174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1365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5556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9747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3938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12981" y="3704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28638" y="409956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再上浮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23950" y="397764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587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5430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6778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9621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0969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23812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551053" y="4099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8003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970153" y="4099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2194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389253" y="4099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638550" y="39776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773369" y="4099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2983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7174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1365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25556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29747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3938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3812981" y="4387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98" name="c1-code-2"/>
          <p:cNvGrpSpPr/>
          <p:nvPr/>
        </p:nvGrpSpPr>
        <p:grpSpPr>
          <a:xfrm>
            <a:off x="533400" y="4679632"/>
            <a:ext cx="5410200" cy="1209675"/>
            <a:chOff x="533400" y="4679632"/>
            <a:chExt cx="5410200" cy="1209675"/>
          </a:xfrm>
        </p:grpSpPr>
        <p:sp>
          <p:nvSpPr>
            <p:cNvPr id="95" name="Rectangle 95"/>
            <p:cNvSpPr/>
            <p:nvPr/>
          </p:nvSpPr>
          <p:spPr>
            <a:xfrm>
              <a:off x="533400" y="4679632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61797" y="4831556"/>
              <a:ext cx="787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堆尾插入值 x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61797" y="5091589"/>
              <a:ext cx="4141978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R[++(*n)] = x;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 放在 R[n+1] 处，元素个数加 1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ShiftUp(R, *n, *n);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元素 R[n] 上浮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9" name="c2-tree-1"/>
          <p:cNvGrpSpPr/>
          <p:nvPr/>
        </p:nvGrpSpPr>
        <p:grpSpPr>
          <a:xfrm>
            <a:off x="6746558" y="2040255"/>
            <a:ext cx="4413885" cy="1517332"/>
            <a:chOff x="6746558" y="2040255"/>
            <a:chExt cx="4413885" cy="1517332"/>
          </a:xfrm>
        </p:grpSpPr>
        <p:sp>
          <p:nvSpPr>
            <p:cNvPr id="99" name="Freeform 99"/>
            <p:cNvSpPr/>
            <p:nvPr/>
          </p:nvSpPr>
          <p:spPr>
            <a:xfrm>
              <a:off x="6924675" y="2799398"/>
              <a:ext cx="676275" cy="580073"/>
            </a:xfrm>
            <a:custGeom>
              <a:avLst/>
              <a:gdLst/>
              <a:ahLst/>
              <a:cxnLst/>
              <a:rect l="l" t="t" r="r" b="b"/>
              <a:pathLst>
                <a:path w="676275" h="580073">
                  <a:moveTo>
                    <a:pt x="676275" y="0"/>
                  </a:moveTo>
                  <a:lnTo>
                    <a:pt x="0" y="5800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7600950" y="2799398"/>
              <a:ext cx="676275" cy="580073"/>
            </a:xfrm>
            <a:custGeom>
              <a:avLst/>
              <a:gdLst/>
              <a:ahLst/>
              <a:cxnLst/>
              <a:rect l="l" t="t" r="r" b="b"/>
              <a:pathLst>
                <a:path w="676275" h="580073">
                  <a:moveTo>
                    <a:pt x="0" y="0"/>
                  </a:moveTo>
                  <a:lnTo>
                    <a:pt x="676275" y="5800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629775" y="2799398"/>
              <a:ext cx="676275" cy="580073"/>
            </a:xfrm>
            <a:custGeom>
              <a:avLst/>
              <a:gdLst/>
              <a:ahLst/>
              <a:cxnLst/>
              <a:rect l="l" t="t" r="r" b="b"/>
              <a:pathLst>
                <a:path w="676275" h="580073">
                  <a:moveTo>
                    <a:pt x="676275" y="0"/>
                  </a:moveTo>
                  <a:lnTo>
                    <a:pt x="0" y="5800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10306050" y="2799398"/>
              <a:ext cx="676275" cy="580073"/>
            </a:xfrm>
            <a:custGeom>
              <a:avLst/>
              <a:gdLst/>
              <a:ahLst/>
              <a:cxnLst/>
              <a:rect l="l" t="t" r="r" b="b"/>
              <a:pathLst>
                <a:path w="676275" h="580073">
                  <a:moveTo>
                    <a:pt x="0" y="0"/>
                  </a:moveTo>
                  <a:lnTo>
                    <a:pt x="676275" y="5800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7600950" y="2218372"/>
              <a:ext cx="1352550" cy="581025"/>
            </a:xfrm>
            <a:custGeom>
              <a:avLst/>
              <a:gdLst/>
              <a:ahLst/>
              <a:cxnLst/>
              <a:rect l="l" t="t" r="r" b="b"/>
              <a:pathLst>
                <a:path w="1352550" h="581025">
                  <a:moveTo>
                    <a:pt x="1352550" y="0"/>
                  </a:moveTo>
                  <a:lnTo>
                    <a:pt x="0" y="5810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8953500" y="2218372"/>
              <a:ext cx="1352550" cy="581025"/>
            </a:xfrm>
            <a:custGeom>
              <a:avLst/>
              <a:gdLst/>
              <a:ahLst/>
              <a:cxnLst/>
              <a:rect l="l" t="t" r="r" b="b"/>
              <a:pathLst>
                <a:path w="1352550" h="581025">
                  <a:moveTo>
                    <a:pt x="0" y="0"/>
                  </a:moveTo>
                  <a:lnTo>
                    <a:pt x="1352550" y="5810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5" name="Ellipse 105"/>
            <p:cNvSpPr/>
            <p:nvPr/>
          </p:nvSpPr>
          <p:spPr>
            <a:xfrm>
              <a:off x="6746558" y="32013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8099108" y="32013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7422832" y="262128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9451658" y="32013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9" name="Ellipse 109"/>
            <p:cNvSpPr/>
            <p:nvPr/>
          </p:nvSpPr>
          <p:spPr>
            <a:xfrm>
              <a:off x="10804208" y="320135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0" name="Ellipse 110"/>
            <p:cNvSpPr/>
            <p:nvPr/>
          </p:nvSpPr>
          <p:spPr>
            <a:xfrm>
              <a:off x="10127932" y="2621280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11" name="Ellipse 111"/>
            <p:cNvSpPr/>
            <p:nvPr/>
          </p:nvSpPr>
          <p:spPr>
            <a:xfrm>
              <a:off x="8775382" y="2040255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884928" y="33232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237478" y="33232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526219" y="27432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590028" y="33232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907594" y="332327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231319" y="27432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878769" y="21631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  <p:grpSp>
        <p:nvGrpSpPr>
          <p:cNvPr id="126" name="c2-card-2"/>
          <p:cNvGrpSpPr/>
          <p:nvPr/>
        </p:nvGrpSpPr>
        <p:grpSpPr>
          <a:xfrm>
            <a:off x="6248400" y="3833812"/>
            <a:ext cx="5410200" cy="1160145"/>
            <a:chOff x="6248400" y="3833812"/>
            <a:chExt cx="5410200" cy="1160145"/>
          </a:xfrm>
        </p:grpSpPr>
        <p:sp>
          <p:nvSpPr>
            <p:cNvPr id="120" name="Rectangle 120"/>
            <p:cNvSpPr/>
            <p:nvPr/>
          </p:nvSpPr>
          <p:spPr>
            <a:xfrm>
              <a:off x="6248400" y="383381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6257925" y="3967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467475" y="40147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544894" y="4047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为什么放堆尾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531608" y="405526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堆尾是唯一不破坏结构性的位置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460998" y="4371499"/>
              <a:ext cx="4824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完全二叉树的层序编号必须连续，新结点只能接在 R[n+1]。位置定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死之后，唯一可能坏掉的是它与父亲的大小关系，交给上浮处理。</a:t>
              </a:r>
            </a:p>
          </p:txBody>
        </p:sp>
      </p:grpSp>
      <p:grpSp>
        <p:nvGrpSpPr>
          <p:cNvPr id="133" name="c2-card-3"/>
          <p:cNvGrpSpPr/>
          <p:nvPr/>
        </p:nvGrpSpPr>
        <p:grpSpPr>
          <a:xfrm>
            <a:off x="6248400" y="5159692"/>
            <a:ext cx="5410200" cy="1160145"/>
            <a:chOff x="6248400" y="5159692"/>
            <a:chExt cx="5410200" cy="1160145"/>
          </a:xfrm>
        </p:grpSpPr>
        <p:sp>
          <p:nvSpPr>
            <p:cNvPr id="127" name="Rectangle 127"/>
            <p:cNvSpPr/>
            <p:nvPr/>
          </p:nvSpPr>
          <p:spPr>
            <a:xfrm>
              <a:off x="6248400" y="5159692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6257925" y="529304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6467475" y="534066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552044" y="537352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283006" y="538019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元素个数要带回去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460998" y="5696426"/>
              <a:ext cx="4735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课件写 `int &amp;n`，标准 C 用 `int *n`。调用时写 `Insert(R, &amp;n,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25)`，函数里对 `*n` 的修改才能传回调用者。</a:t>
              </a:r>
            </a:p>
          </p:txBody>
        </p:sp>
      </p:grpSp>
      <p:grpSp>
        <p:nvGrpSpPr>
          <p:cNvPr id="1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4" name="TextBox 134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9095" cy="909257"/>
            <a:chOff x="520446" y="342900"/>
            <a:chExt cx="79290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90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例题：往 (25, 13, 10, 12, 9) 插入 18，比较几次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考研题全国卷。问的是关键词之间的比较次数，不是交换次数。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973455" y="2067878"/>
            <a:ext cx="3665220" cy="1657350"/>
            <a:chOff x="973455" y="2067878"/>
            <a:chExt cx="3665220" cy="1657350"/>
          </a:xfrm>
        </p:grpSpPr>
        <p:sp>
          <p:nvSpPr>
            <p:cNvPr id="9" name="Freeform 9"/>
            <p:cNvSpPr/>
            <p:nvPr/>
          </p:nvSpPr>
          <p:spPr>
            <a:xfrm>
              <a:off x="1183005" y="2896552"/>
              <a:ext cx="648653" cy="619125"/>
            </a:xfrm>
            <a:custGeom>
              <a:avLst/>
              <a:gdLst/>
              <a:ahLst/>
              <a:cxnLst/>
              <a:rect l="l" t="t" r="r" b="b"/>
              <a:pathLst>
                <a:path w="648653" h="619125">
                  <a:moveTo>
                    <a:pt x="648653" y="0"/>
                  </a:moveTo>
                  <a:lnTo>
                    <a:pt x="0" y="6191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1658" y="2896552"/>
              <a:ext cx="649605" cy="619125"/>
            </a:xfrm>
            <a:custGeom>
              <a:avLst/>
              <a:gdLst/>
              <a:ahLst/>
              <a:cxnLst/>
              <a:rect l="l" t="t" r="r" b="b"/>
              <a:pathLst>
                <a:path w="649605" h="619125">
                  <a:moveTo>
                    <a:pt x="0" y="0"/>
                  </a:moveTo>
                  <a:lnTo>
                    <a:pt x="649605" y="6191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2896552"/>
              <a:ext cx="649605" cy="619125"/>
            </a:xfrm>
            <a:custGeom>
              <a:avLst/>
              <a:gdLst/>
              <a:ahLst/>
              <a:cxnLst/>
              <a:rect l="l" t="t" r="r" b="b"/>
              <a:pathLst>
                <a:path w="649605" h="619125">
                  <a:moveTo>
                    <a:pt x="649605" y="0"/>
                  </a:moveTo>
                  <a:lnTo>
                    <a:pt x="0" y="6191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31658" y="2277428"/>
              <a:ext cx="1298258" cy="619125"/>
            </a:xfrm>
            <a:custGeom>
              <a:avLst/>
              <a:gdLst/>
              <a:ahLst/>
              <a:cxnLst/>
              <a:rect l="l" t="t" r="r" b="b"/>
              <a:pathLst>
                <a:path w="1298258" h="619125">
                  <a:moveTo>
                    <a:pt x="1298258" y="0"/>
                  </a:moveTo>
                  <a:lnTo>
                    <a:pt x="0" y="6191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2277428"/>
              <a:ext cx="1299210" cy="619125"/>
            </a:xfrm>
            <a:custGeom>
              <a:avLst/>
              <a:gdLst/>
              <a:ahLst/>
              <a:cxnLst/>
              <a:rect l="l" t="t" r="r" b="b"/>
              <a:pathLst>
                <a:path w="1299210" h="619125">
                  <a:moveTo>
                    <a:pt x="0" y="0"/>
                  </a:moveTo>
                  <a:lnTo>
                    <a:pt x="1299210" y="6191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73455" y="33061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271712" y="33061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622108" y="268700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69970" y="3306128"/>
              <a:ext cx="419100" cy="4191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219575" y="2687002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20365" y="20678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6041" y="34499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35113" y="34499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4693" y="28308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92556" y="34499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42161" y="28308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2951" y="22117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  <p:grpSp>
        <p:nvGrpSpPr>
          <p:cNvPr id="65" name="c1-cells-2"/>
          <p:cNvGrpSpPr/>
          <p:nvPr/>
        </p:nvGrpSpPr>
        <p:grpSpPr>
          <a:xfrm>
            <a:off x="528066" y="4015740"/>
            <a:ext cx="3053334" cy="1406366"/>
            <a:chOff x="528066" y="4015740"/>
            <a:chExt cx="3053334" cy="1406366"/>
          </a:xfrm>
        </p:grpSpPr>
        <p:sp>
          <p:nvSpPr>
            <p:cNvPr id="27" name="TextBox 27"/>
            <p:cNvSpPr txBox="1"/>
            <p:nvPr/>
          </p:nvSpPr>
          <p:spPr>
            <a:xfrm>
              <a:off x="528066" y="41595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放堆尾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66800" y="40157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89386" y="41595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85900" y="40157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608486" y="41595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05000" y="40157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27586" y="41595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324100" y="40157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46686" y="41595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43200" y="40157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06601" y="41595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162300" y="401574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84886" y="41595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12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603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794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985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176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36731" y="4488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066" y="493109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调整后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66800" y="47872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89386" y="4931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485900" y="47872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608486" y="4931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905000" y="47872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27586" y="4931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324100" y="47872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46686" y="4931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43200" y="47872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06601" y="49310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162300" y="47872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84886" y="49310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412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603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794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985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9176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36731" y="52601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79" name="c2-steps-1"/>
          <p:cNvGrpSpPr/>
          <p:nvPr/>
        </p:nvGrpSpPr>
        <p:grpSpPr>
          <a:xfrm>
            <a:off x="6032182" y="1977390"/>
            <a:ext cx="5670251" cy="1878615"/>
            <a:chOff x="6032182" y="1977390"/>
            <a:chExt cx="5670251" cy="1878615"/>
          </a:xfrm>
        </p:grpSpPr>
        <p:sp>
          <p:nvSpPr>
            <p:cNvPr id="66" name="Rectangle 66"/>
            <p:cNvSpPr/>
            <p:nvPr/>
          </p:nvSpPr>
          <p:spPr>
            <a:xfrm>
              <a:off x="6165532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6032182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25806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32182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25806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032182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25806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43662" y="2011680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次比较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44806" y="2304574"/>
              <a:ext cx="5014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放在 R[6]，父结点是 R[3]=10。18 &gt; 10，交换，18 到下标 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43662" y="2662238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次比较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44806" y="2955131"/>
              <a:ext cx="5257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R[3]=18 与父结点 R[1]=25 比。18 &lt; 25，堆序性已满足，循环结束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43662" y="33127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44806" y="3606641"/>
              <a:ext cx="2121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共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次关键词比较，选 [B]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032182" y="4033838"/>
            <a:ext cx="5626418" cy="1956435"/>
            <a:chOff x="6032182" y="4033838"/>
            <a:chExt cx="5626418" cy="1956435"/>
          </a:xfrm>
        </p:grpSpPr>
        <p:sp>
          <p:nvSpPr>
            <p:cNvPr id="80" name="Rectangle 80"/>
            <p:cNvSpPr/>
            <p:nvPr/>
          </p:nvSpPr>
          <p:spPr>
            <a:xfrm>
              <a:off x="6032182" y="4033838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41708" y="4167188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79832" y="424338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61189" y="42791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两个陷阱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64705" y="4278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别多数也别少数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285548" y="470249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43662" y="4639628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上浮只和父亲比，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不和兄弟比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。R[6]=18 和 R[5]=9 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一次比较都没有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285548" y="532352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443662" y="5260658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最后那次“比不过就停”也算一次比较。只数交换次数会得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1，正好落进选项 [A]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堆的删除：只能删堆顶，用堆尾去补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92774" cy="264033"/>
            <a:chOff x="526542" y="1545907"/>
            <a:chExt cx="6192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从堆中删除并返回堆顶（堆内最大的元素），删除后剩下的元素仍要构成堆。</a:t>
              </a:r>
            </a:p>
          </p:txBody>
        </p:sp>
      </p:grpSp>
      <p:grpSp>
        <p:nvGrpSpPr>
          <p:cNvPr id="76" name="c1-cells-1"/>
          <p:cNvGrpSpPr/>
          <p:nvPr/>
        </p:nvGrpSpPr>
        <p:grpSpPr>
          <a:xfrm>
            <a:off x="528638" y="1928812"/>
            <a:ext cx="3109912" cy="2686527"/>
            <a:chOff x="528638" y="1928812"/>
            <a:chExt cx="3109912" cy="2686527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74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3950" y="1928812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8769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430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7869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621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96969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12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51053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003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70153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194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89253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983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4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65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56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47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93881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275748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堆尾补根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23950" y="2628900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93753" y="27574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43050" y="26289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77869" y="27574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62150" y="26289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96969" y="27574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381250" y="26289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51053" y="27574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800350" y="26289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970153" y="27574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9838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1748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3658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5568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74781" y="3052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638" y="34585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下沉一层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23950" y="33299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769" y="34585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543050" y="33299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712853" y="34585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62150" y="33299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96969" y="34585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381250" y="33299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51053" y="34585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00350" y="33299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70153" y="34585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98381" y="3752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17481" y="3752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36581" y="3752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55681" y="3752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74781" y="37523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638" y="415861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再下沉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123950" y="403098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58769" y="41586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543050" y="403098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712853" y="41586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962150" y="403098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096969" y="41586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381250" y="403098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551053" y="41586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800350" y="403098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970153" y="41586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98381" y="4453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17481" y="4453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136581" y="4453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55681" y="4453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974781" y="44534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80" name="c1-code-2"/>
          <p:cNvGrpSpPr/>
          <p:nvPr/>
        </p:nvGrpSpPr>
        <p:grpSpPr>
          <a:xfrm>
            <a:off x="533400" y="4750118"/>
            <a:ext cx="5410200" cy="1561148"/>
            <a:chOff x="533400" y="4750118"/>
            <a:chExt cx="5410200" cy="1561148"/>
          </a:xfrm>
        </p:grpSpPr>
        <p:sp>
          <p:nvSpPr>
            <p:cNvPr id="77" name="Rectangle 77"/>
            <p:cNvSpPr/>
            <p:nvPr/>
          </p:nvSpPr>
          <p:spPr>
            <a:xfrm>
              <a:off x="533400" y="4750118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1797" y="490204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删除并返回堆顶，假设堆非空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1797" y="5163026"/>
              <a:ext cx="3967734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DelMax(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MaxKey = R[1];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暂存堆顶元素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R[1] = R[(*n)--];       /* 堆尾移到堆顶，元素个数减 1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ShiftDown(R, *n, 1);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新堆顶 R[1] 下沉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MaxKey;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8" name="c2-card-1"/>
          <p:cNvGrpSpPr/>
          <p:nvPr/>
        </p:nvGrpSpPr>
        <p:grpSpPr>
          <a:xfrm>
            <a:off x="6248400" y="1928812"/>
            <a:ext cx="5410200" cy="1760220"/>
            <a:chOff x="6248400" y="1928812"/>
            <a:chExt cx="5410200" cy="1760220"/>
          </a:xfrm>
        </p:grpSpPr>
        <p:sp>
          <p:nvSpPr>
            <p:cNvPr id="81" name="Rectangle 81"/>
            <p:cNvSpPr/>
            <p:nvPr/>
          </p:nvSpPr>
          <p:spPr>
            <a:xfrm>
              <a:off x="6248400" y="1928812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57925" y="206216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73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57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常见疑问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288339" y="215074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为什么不把较大的孩子直接提上来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66332" y="247650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提孩子会在树的中间留下一个空位，后面的结点得整体往前挪，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数组里就出现了空洞，完全二叉树的结构性立刻就坏了。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66332" y="303371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把堆尾搬到根只动两个位置：堆尾消失、根被替换，结构性天然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保持，代价 O(logn)。</a:t>
              </a:r>
            </a:p>
          </p:txBody>
        </p:sp>
      </p:grpSp>
      <p:grpSp>
        <p:nvGrpSpPr>
          <p:cNvPr id="99" name="c2-card-2"/>
          <p:cNvGrpSpPr/>
          <p:nvPr/>
        </p:nvGrpSpPr>
        <p:grpSpPr>
          <a:xfrm>
            <a:off x="6248400" y="3858578"/>
            <a:ext cx="5410200" cy="1506855"/>
            <a:chOff x="6248400" y="3858578"/>
            <a:chExt cx="5410200" cy="1506855"/>
          </a:xfrm>
        </p:grpSpPr>
        <p:sp>
          <p:nvSpPr>
            <p:cNvPr id="89" name="Rectangle 89"/>
            <p:cNvSpPr/>
            <p:nvPr/>
          </p:nvSpPr>
          <p:spPr>
            <a:xfrm>
              <a:off x="6248400" y="3858578"/>
              <a:ext cx="5410200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257925" y="3991928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473190" y="404526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561811" y="40781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163562" y="4080510"/>
              <a:ext cx="2077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插入与删除都是 O(logn)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481762" y="44624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637782" y="4406265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插入：一次上浮，最多 ⌊log₂n⌋ 次比较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481762" y="47625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637782" y="4706302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删除：一次下沉，最多 2⌊log₂n⌋ 次比较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67475" y="500300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删除比插入贵一倍，因为每层要先在两个孩子里挑大的</a:t>
              </a:r>
            </a:p>
          </p:txBody>
        </p:sp>
      </p:grpSp>
      <p:grpSp>
        <p:nvGrpSpPr>
          <p:cNvPr id="105" name="c2-callout-3"/>
          <p:cNvGrpSpPr/>
          <p:nvPr/>
        </p:nvGrpSpPr>
        <p:grpSpPr>
          <a:xfrm>
            <a:off x="6248400" y="5534978"/>
            <a:ext cx="5410200" cy="776288"/>
            <a:chOff x="6248400" y="5534978"/>
            <a:chExt cx="5410200" cy="776288"/>
          </a:xfrm>
        </p:grpSpPr>
        <p:sp>
          <p:nvSpPr>
            <p:cNvPr id="100" name="Rectangle 100"/>
            <p:cNvSpPr/>
            <p:nvPr/>
          </p:nvSpPr>
          <p:spPr>
            <a:xfrm>
              <a:off x="6248400" y="5534978"/>
              <a:ext cx="5410200" cy="776288"/>
            </a:xfrm>
            <a:prstGeom prst="roundRect">
              <a:avLst>
                <a:gd name="adj" fmla="val 1472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6453188" y="5823587"/>
              <a:ext cx="200023" cy="200023"/>
              <a:chOff x="6453188" y="5823587"/>
              <a:chExt cx="200023" cy="200023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6453188" y="58235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6586538" y="58902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6755892" y="5704523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堆不支持删除任意元素，除非另外维护“元素 → 下标”的映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射，这正是后面 DecreaseKey 要解决的问题。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23148" cy="909257"/>
            <a:chOff x="520446" y="342900"/>
            <a:chExt cx="9823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23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例题：小根堆 (8, 15, 10, 21, 34, 16, 12) 删掉 8，比较几次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75070" cy="293370"/>
            <a:chOff x="525780" y="1548765"/>
            <a:chExt cx="62750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考研题全国卷。小根堆删的是最小值，重建时用的是小根堆版的下沉。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980122" y="2051685"/>
            <a:ext cx="3651885" cy="1606868"/>
            <a:chOff x="980122" y="2051685"/>
            <a:chExt cx="3651885" cy="1606868"/>
          </a:xfrm>
        </p:grpSpPr>
        <p:sp>
          <p:nvSpPr>
            <p:cNvPr id="9" name="Freeform 9"/>
            <p:cNvSpPr/>
            <p:nvPr/>
          </p:nvSpPr>
          <p:spPr>
            <a:xfrm>
              <a:off x="1183005" y="2855595"/>
              <a:ext cx="648653" cy="600075"/>
            </a:xfrm>
            <a:custGeom>
              <a:avLst/>
              <a:gdLst/>
              <a:ahLst/>
              <a:cxnLst/>
              <a:rect l="l" t="t" r="r" b="b"/>
              <a:pathLst>
                <a:path w="648653" h="600075">
                  <a:moveTo>
                    <a:pt x="648653" y="0"/>
                  </a:moveTo>
                  <a:lnTo>
                    <a:pt x="0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1658" y="2855595"/>
              <a:ext cx="649605" cy="600075"/>
            </a:xfrm>
            <a:custGeom>
              <a:avLst/>
              <a:gdLst/>
              <a:ahLst/>
              <a:cxnLst/>
              <a:rect l="l" t="t" r="r" b="b"/>
              <a:pathLst>
                <a:path w="649605" h="600075">
                  <a:moveTo>
                    <a:pt x="0" y="0"/>
                  </a:moveTo>
                  <a:lnTo>
                    <a:pt x="649605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2855595"/>
              <a:ext cx="649605" cy="600075"/>
            </a:xfrm>
            <a:custGeom>
              <a:avLst/>
              <a:gdLst/>
              <a:ahLst/>
              <a:cxnLst/>
              <a:rect l="l" t="t" r="r" b="b"/>
              <a:pathLst>
                <a:path w="649605" h="600075">
                  <a:moveTo>
                    <a:pt x="649605" y="0"/>
                  </a:moveTo>
                  <a:lnTo>
                    <a:pt x="0" y="600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31658" y="2254568"/>
              <a:ext cx="1298258" cy="601028"/>
            </a:xfrm>
            <a:custGeom>
              <a:avLst/>
              <a:gdLst/>
              <a:ahLst/>
              <a:cxnLst/>
              <a:rect l="l" t="t" r="r" b="b"/>
              <a:pathLst>
                <a:path w="1298258" h="601028">
                  <a:moveTo>
                    <a:pt x="1298258" y="0"/>
                  </a:moveTo>
                  <a:lnTo>
                    <a:pt x="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2254568"/>
              <a:ext cx="1299210" cy="601028"/>
            </a:xfrm>
            <a:custGeom>
              <a:avLst/>
              <a:gdLst/>
              <a:ahLst/>
              <a:cxnLst/>
              <a:rect l="l" t="t" r="r" b="b"/>
              <a:pathLst>
                <a:path w="1299210" h="601028">
                  <a:moveTo>
                    <a:pt x="0" y="0"/>
                  </a:moveTo>
                  <a:lnTo>
                    <a:pt x="129921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80122" y="325278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278380" y="325278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628775" y="2652712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76638" y="325278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226242" y="2652712"/>
              <a:ext cx="405765" cy="4057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27032" y="2051685"/>
              <a:ext cx="405765" cy="40576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6041" y="3390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94298" y="3390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4693" y="278987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92556" y="339090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42161" y="278987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2951" y="21897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87" name="c1-cells-2"/>
          <p:cNvGrpSpPr/>
          <p:nvPr/>
        </p:nvGrpSpPr>
        <p:grpSpPr>
          <a:xfrm>
            <a:off x="528066" y="3941445"/>
            <a:ext cx="3535299" cy="2130266"/>
            <a:chOff x="528066" y="3941445"/>
            <a:chExt cx="3535299" cy="2130266"/>
          </a:xfrm>
        </p:grpSpPr>
        <p:sp>
          <p:nvSpPr>
            <p:cNvPr id="27" name="TextBox 27"/>
            <p:cNvSpPr txBox="1"/>
            <p:nvPr/>
          </p:nvSpPr>
          <p:spPr>
            <a:xfrm>
              <a:off x="528066" y="40795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原堆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29665" y="3941445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93066" y="4079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487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6713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678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904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3869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095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060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286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251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477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644265" y="3941445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766851" y="4079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040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231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422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613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804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995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18696" y="44019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066" y="483298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12 补根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29665" y="469487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522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548765" y="469487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6713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967865" y="469487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0904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386965" y="469487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5095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806065" y="469487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9286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225165" y="469487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347751" y="48329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040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231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1422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5613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9804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399596" y="51554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8066" y="55873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重建后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129665" y="54492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2522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548765" y="54492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6713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967865" y="54492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0904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386965" y="54492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5095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806065" y="54492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9286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225165" y="544925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347751" y="5587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3040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7231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1422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5613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9804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399596" y="59097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01" name="c2-steps-1"/>
          <p:cNvGrpSpPr/>
          <p:nvPr/>
        </p:nvGrpSpPr>
        <p:grpSpPr>
          <a:xfrm>
            <a:off x="6032182" y="1964055"/>
            <a:ext cx="5370576" cy="2232089"/>
            <a:chOff x="6032182" y="1964055"/>
            <a:chExt cx="5370576" cy="2232089"/>
          </a:xfrm>
        </p:grpSpPr>
        <p:sp>
          <p:nvSpPr>
            <p:cNvPr id="88" name="Rectangle 88"/>
            <p:cNvSpPr/>
            <p:nvPr/>
          </p:nvSpPr>
          <p:spPr>
            <a:xfrm>
              <a:off x="6165532" y="2106930"/>
              <a:ext cx="19050" cy="1684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6032182" y="19640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125806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032182" y="28060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125806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032182" y="36480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125806" y="3721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444044" y="1996916"/>
              <a:ext cx="13115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1、2 次比较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445186" y="2277428"/>
              <a:ext cx="49575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堆尾 12 移到根，堆里剩 6 个元素。根的孩子是 R[2]=15 和 R[3]=10，挑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小的一次比较；12 &gt; 10，再一次比较后交换，12 落到下标 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444044" y="2838926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次比较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45186" y="3119438"/>
              <a:ext cx="4942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3 的孩子只有 R[6]=16（2×3=6 就是最后一个元素，没有右孩子，不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必挑）。12 &lt; 16，停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444044" y="36809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45186" y="3961448"/>
              <a:ext cx="1989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共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次关键词比较，选 [C]</a:t>
              </a:r>
            </a:p>
          </p:txBody>
        </p:sp>
      </p:grpSp>
      <p:grpSp>
        <p:nvGrpSpPr>
          <p:cNvPr id="109" name="c2-card-2"/>
          <p:cNvGrpSpPr/>
          <p:nvPr/>
        </p:nvGrpSpPr>
        <p:grpSpPr>
          <a:xfrm>
            <a:off x="6032182" y="4371975"/>
            <a:ext cx="5626418" cy="1664970"/>
            <a:chOff x="6032182" y="4371975"/>
            <a:chExt cx="5626418" cy="1664970"/>
          </a:xfrm>
        </p:grpSpPr>
        <p:sp>
          <p:nvSpPr>
            <p:cNvPr id="102" name="Rectangle 102"/>
            <p:cNvSpPr/>
            <p:nvPr/>
          </p:nvSpPr>
          <p:spPr>
            <a:xfrm>
              <a:off x="6032182" y="4371975"/>
              <a:ext cx="5626418" cy="1664970"/>
            </a:xfrm>
            <a:prstGeom prst="roundRect">
              <a:avLst>
                <a:gd name="adj" fmla="val 80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041708" y="4505325"/>
              <a:ext cx="47625" cy="13982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274118" y="457581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338722" y="461152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数比较次数的口诀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728014" y="4616291"/>
              <a:ext cx="35346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有两个孩子记 2 次，只有一个孩子记 1 次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266879" y="4967764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挑大（小）孩子 1 次 + 与该孩子比 1 次 = 每层 2 次；最后一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层若只有左孩子，就只剩 1 次。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268022" y="5554980"/>
              <a:ext cx="3630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本题下降 1 层（2 次）+ 末层单孩子（1 次）= 3 次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优先级队列：出队顺序由关键词说了算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2341245"/>
            <a:chOff x="533400" y="1524000"/>
            <a:chExt cx="5193982" cy="23412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957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优先级队列（Priority Queue）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为每个元素设置一个优先级，出队时优先级高的先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出，与入队先后无关。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用堆实现：优先级就是关键词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2475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 = 堆的插入，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21380"/>
              <a:ext cx="2475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 = 堆的删除，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</p:grpSp>
      <p:grpSp>
        <p:nvGrpSpPr>
          <p:cNvPr id="31" name="c1-kv-2"/>
          <p:cNvGrpSpPr/>
          <p:nvPr/>
        </p:nvGrpSpPr>
        <p:grpSpPr>
          <a:xfrm>
            <a:off x="525780" y="4080510"/>
            <a:ext cx="5201602" cy="1613535"/>
            <a:chOff x="525780" y="4080510"/>
            <a:chExt cx="5201602" cy="1613535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0805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普通队列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2175" y="408051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先进先出，出队看到达时间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005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45205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优先级队列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62175" y="45205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出队看关键词大小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8406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49606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最大优先级队列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62175" y="49606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用最大堆，出队最大者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2806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54006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最小优先级队列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62175" y="54006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用最小堆，出队最小者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6032182" y="1524000"/>
            <a:ext cx="5626418" cy="3143250"/>
            <a:chOff x="6032182" y="1524000"/>
            <a:chExt cx="5626418" cy="3143250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0580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把堆包成一个类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0580" y="1935956"/>
              <a:ext cx="2467991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maxsize = 1e5 + 10;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template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&lt;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T&gt;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PriorityQueue {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Insert(T item);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DelMin();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Empty();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...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ShiftUp(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ShiftDown(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R[maxsize];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存储堆的数组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当前元素个数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...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032182" y="4857750"/>
            <a:ext cx="5626418" cy="1335405"/>
            <a:chOff x="6032182" y="4857750"/>
            <a:chExt cx="5626418" cy="1335405"/>
          </a:xfrm>
        </p:grpSpPr>
        <p:sp>
          <p:nvSpPr>
            <p:cNvPr id="36" name="Rectangle 36"/>
            <p:cNvSpPr/>
            <p:nvPr/>
          </p:nvSpPr>
          <p:spPr>
            <a:xfrm>
              <a:off x="6032182" y="4857750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41708" y="499110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79832" y="5067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70041" y="5103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9908" y="5102542"/>
              <a:ext cx="42354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95 页把 template 写成了 Template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2212" y="5463540"/>
              <a:ext cx="487108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Template&lt;class T&gt;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，C++ 的关键字是全小写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template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，大写开头编译不过。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61779" cy="909257"/>
            <a:chOff x="520446" y="342900"/>
            <a:chExt cx="44617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61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用最小堆优化 Huffman 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998344" cy="293370"/>
            <a:chOff x="525780" y="1548765"/>
            <a:chExt cx="799834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9983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11 讲建 Huffman 树时每次都要线性扫一遍找两个最小权值，换成堆就降到 O(logn)。</a:t>
              </a:r>
            </a:p>
          </p:txBody>
        </p:sp>
      </p:grpSp>
      <p:grpSp>
        <p:nvGrpSpPr>
          <p:cNvPr id="25" name="c1-cells-1"/>
          <p:cNvGrpSpPr/>
          <p:nvPr/>
        </p:nvGrpSpPr>
        <p:grpSpPr>
          <a:xfrm>
            <a:off x="528066" y="1954530"/>
            <a:ext cx="2311336" cy="622459"/>
            <a:chOff x="528066" y="1954530"/>
            <a:chExt cx="2311336" cy="62245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926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3902" y="1954530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303" y="20926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6300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6403" y="20926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8210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45503" y="20926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0120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64603" y="20926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420302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83703" y="20926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833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3743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5653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7563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94733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40" name="c1-tree-2"/>
          <p:cNvGrpSpPr/>
          <p:nvPr/>
        </p:nvGrpSpPr>
        <p:grpSpPr>
          <a:xfrm>
            <a:off x="1006792" y="2808922"/>
            <a:ext cx="3787141" cy="1545908"/>
            <a:chOff x="1006792" y="2808922"/>
            <a:chExt cx="3787141" cy="1545908"/>
          </a:xfrm>
        </p:grpSpPr>
        <p:sp>
          <p:nvSpPr>
            <p:cNvPr id="26" name="Freeform 26"/>
            <p:cNvSpPr/>
            <p:nvPr/>
          </p:nvSpPr>
          <p:spPr>
            <a:xfrm>
              <a:off x="1209675" y="3582352"/>
              <a:ext cx="676275" cy="569595"/>
            </a:xfrm>
            <a:custGeom>
              <a:avLst/>
              <a:gdLst/>
              <a:ahLst/>
              <a:cxnLst/>
              <a:rect l="l" t="t" r="r" b="b"/>
              <a:pathLst>
                <a:path w="676275" h="569595">
                  <a:moveTo>
                    <a:pt x="676275" y="0"/>
                  </a:moveTo>
                  <a:lnTo>
                    <a:pt x="0" y="5695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885950" y="3582352"/>
              <a:ext cx="676275" cy="569595"/>
            </a:xfrm>
            <a:custGeom>
              <a:avLst/>
              <a:gdLst/>
              <a:ahLst/>
              <a:cxnLst/>
              <a:rect l="l" t="t" r="r" b="b"/>
              <a:pathLst>
                <a:path w="676275" h="569595">
                  <a:moveTo>
                    <a:pt x="0" y="0"/>
                  </a:moveTo>
                  <a:lnTo>
                    <a:pt x="676275" y="5695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885950" y="3011805"/>
              <a:ext cx="1352550" cy="570548"/>
            </a:xfrm>
            <a:custGeom>
              <a:avLst/>
              <a:gdLst/>
              <a:ahLst/>
              <a:cxnLst/>
              <a:rect l="l" t="t" r="r" b="b"/>
              <a:pathLst>
                <a:path w="1352550" h="570548">
                  <a:moveTo>
                    <a:pt x="1352550" y="0"/>
                  </a:moveTo>
                  <a:lnTo>
                    <a:pt x="0" y="5705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238500" y="3011805"/>
              <a:ext cx="1352550" cy="570548"/>
            </a:xfrm>
            <a:custGeom>
              <a:avLst/>
              <a:gdLst/>
              <a:ahLst/>
              <a:cxnLst/>
              <a:rect l="l" t="t" r="r" b="b"/>
              <a:pathLst>
                <a:path w="1352550" h="570548">
                  <a:moveTo>
                    <a:pt x="0" y="0"/>
                  </a:moveTo>
                  <a:lnTo>
                    <a:pt x="1352550" y="5705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06792" y="394906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359342" y="394906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683068" y="337947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388168" y="337947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035618" y="2808922"/>
              <a:ext cx="405765" cy="40576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63526" y="40862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16076" y="40862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9801" y="35166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44901" y="35166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92351" y="29470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1" name="c1-card-3"/>
          <p:cNvGrpSpPr/>
          <p:nvPr/>
        </p:nvGrpSpPr>
        <p:grpSpPr>
          <a:xfrm>
            <a:off x="533400" y="4621530"/>
            <a:ext cx="5410200" cy="1725930"/>
            <a:chOff x="533400" y="4621530"/>
            <a:chExt cx="5410200" cy="1725930"/>
          </a:xfrm>
        </p:grpSpPr>
        <p:sp>
          <p:nvSpPr>
            <p:cNvPr id="41" name="Rectangle 41"/>
            <p:cNvSpPr/>
            <p:nvPr/>
          </p:nvSpPr>
          <p:spPr>
            <a:xfrm>
              <a:off x="533400" y="4621530"/>
              <a:ext cx="5410200" cy="1725930"/>
            </a:xfrm>
            <a:prstGeom prst="roundRect">
              <a:avLst>
                <a:gd name="adj" fmla="val 7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754880"/>
              <a:ext cx="47625" cy="14592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75335" y="482536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4842" y="486108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堆里存的是什么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87309" y="486584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结点指针，不是权值本身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82955" y="52778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9546" y="5217319"/>
              <a:ext cx="48635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堆的元素：Huffman 树的结点指针（`HuffmanNode*`）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82955" y="55978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9546" y="5537359"/>
              <a:ext cx="34696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堆元素 R[i] 的关键词：`R[i]-&gt;weight`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9239" y="5854065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比较时比的是指针指向的 weight，交换时换的是指针</a:t>
              </a:r>
            </a:p>
          </p:txBody>
        </p:sp>
      </p:grpSp>
      <p:grpSp>
        <p:nvGrpSpPr>
          <p:cNvPr id="55" name="c2-code-1"/>
          <p:cNvGrpSpPr/>
          <p:nvPr/>
        </p:nvGrpSpPr>
        <p:grpSpPr>
          <a:xfrm>
            <a:off x="6248400" y="1954530"/>
            <a:ext cx="5410200" cy="2042160"/>
            <a:chOff x="6248400" y="1954530"/>
            <a:chExt cx="5410200" cy="2042160"/>
          </a:xfrm>
        </p:grpSpPr>
        <p:sp>
          <p:nvSpPr>
            <p:cNvPr id="52" name="Rectangle 52"/>
            <p:cNvSpPr/>
            <p:nvPr/>
          </p:nvSpPr>
          <p:spPr>
            <a:xfrm>
              <a:off x="6248400" y="1954530"/>
              <a:ext cx="5410200" cy="2042160"/>
            </a:xfrm>
            <a:prstGeom prst="roundRect">
              <a:avLst>
                <a:gd name="adj" fmla="val 46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76797" y="2106454"/>
              <a:ext cx="1450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 Huffman 树的主循环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76949" y="2366867"/>
              <a:ext cx="3358210" cy="1548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MinPriorityQueue PQ;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基于最小堆的优先级队列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... 把 n 个叶结点指针逐个 Insert 进 PQ ...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 - 1; i++)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HuffmanNode* t 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HuffmanNode;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t-&gt;left  = PQ.DelMin();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取出权值最小的结点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t-&gt;right = PQ.DelMin();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再取次小的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t-&gt;weight = t-&gt;left-&gt;weight + t-&gt;right-&gt;weight;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PQ.Insert(t);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新结点插回堆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248400" y="4181475"/>
            <a:ext cx="5410200" cy="2165985"/>
            <a:chOff x="6248400" y="4181475"/>
            <a:chExt cx="5410200" cy="2165985"/>
          </a:xfrm>
        </p:grpSpPr>
        <p:sp>
          <p:nvSpPr>
            <p:cNvPr id="56" name="Rectangle 56"/>
            <p:cNvSpPr/>
            <p:nvPr/>
          </p:nvSpPr>
          <p:spPr>
            <a:xfrm>
              <a:off x="6248400" y="4181475"/>
              <a:ext cx="5410200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4314825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90335" y="438531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76593" y="44210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33666" y="4425791"/>
              <a:ext cx="22628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O(n²) 降到 O(nlogn)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3096" y="4777264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 n−1 次，每次 2 次 DelMin + 1 次 Insert，各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97955" y="54292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54546" y="5368766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更正：源课件这段里把结点类型写成了 `Node*`，与上一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页的 `HuffmanNode*` 不一致，应统一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4239" y="5956935"/>
              <a:ext cx="4225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本讲义用权值 3, 5, 6, 8, 9 实跑，WPL = 70，与手算一致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97267" cy="909257"/>
            <a:chOff x="520446" y="342900"/>
            <a:chExt cx="81972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972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用最小堆优化 Dijkstra：堆里存顶点，关键词是 dist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cells-1"/>
          <p:cNvGrpSpPr/>
          <p:nvPr/>
        </p:nvGrpSpPr>
        <p:grpSpPr>
          <a:xfrm>
            <a:off x="528447" y="1524000"/>
            <a:ext cx="2560511" cy="1315879"/>
            <a:chOff x="528447" y="1524000"/>
            <a:chExt cx="2560511" cy="1315879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540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3458" y="1524000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59960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1255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9060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3165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98160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5075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17260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9858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36360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78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869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060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51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42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447" y="2372201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index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3458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59960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412558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79060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831658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98160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50758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17260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669858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36360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67888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86988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06088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25188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44288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50" name="c1-card-2"/>
          <p:cNvGrpSpPr/>
          <p:nvPr/>
        </p:nvGrpSpPr>
        <p:grpSpPr>
          <a:xfrm>
            <a:off x="533400" y="2979420"/>
            <a:ext cx="5410200" cy="1831658"/>
            <a:chOff x="533400" y="2979420"/>
            <a:chExt cx="5410200" cy="1831658"/>
          </a:xfrm>
        </p:grpSpPr>
        <p:sp>
          <p:nvSpPr>
            <p:cNvPr id="40" name="Rectangle 40"/>
            <p:cNvSpPr/>
            <p:nvPr/>
          </p:nvSpPr>
          <p:spPr>
            <a:xfrm>
              <a:off x="533400" y="297942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311277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3905" y="3171825"/>
              <a:ext cx="86868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3774" y="3206115"/>
              <a:ext cx="7089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index 数组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40027" y="3211830"/>
              <a:ext cx="3329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index[i] = 编号为 i 的顶点在堆中的下标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7047" y="3546158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堆里 R[1]=3，所以顶点 3 在下标 1，即 index[3]=1；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R[2]=1，所以 index[1]=2，依此类推。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72478" y="41624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8497" y="4106227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顶点在堆中上浮、下沉时，它的 index 值必须同步更新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72478" y="44643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497" y="4408170"/>
              <a:ext cx="4967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有了 index，DecreaseKey 才能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O(1) 定位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再 O(logn) 上浮</a:t>
              </a:r>
            </a:p>
          </p:txBody>
        </p:sp>
      </p:grpSp>
      <p:grpSp>
        <p:nvGrpSpPr>
          <p:cNvPr id="57" name="c1-callout-3"/>
          <p:cNvGrpSpPr/>
          <p:nvPr/>
        </p:nvGrpSpPr>
        <p:grpSpPr>
          <a:xfrm>
            <a:off x="533400" y="4986338"/>
            <a:ext cx="5410200" cy="1292542"/>
            <a:chOff x="533400" y="4986338"/>
            <a:chExt cx="5410200" cy="1292542"/>
          </a:xfrm>
        </p:grpSpPr>
        <p:sp>
          <p:nvSpPr>
            <p:cNvPr id="51" name="Rectangle 51"/>
            <p:cNvSpPr/>
            <p:nvPr/>
          </p:nvSpPr>
          <p:spPr>
            <a:xfrm>
              <a:off x="533400" y="4986338"/>
              <a:ext cx="5410200" cy="1292542"/>
            </a:xfrm>
            <a:prstGeom prst="roundRect">
              <a:avLst>
                <a:gd name="adj" fmla="val 884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5529381"/>
              <a:ext cx="224134" cy="192560"/>
              <a:chOff x="726129" y="552938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55997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55293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56775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414962"/>
              <a:ext cx="44028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堆的顺序由 dist[R[i]] 决定，不是由顶点编号决定；图里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写的数字是顶点号，别读成关键词。</a:t>
              </a:r>
            </a:p>
          </p:txBody>
        </p:sp>
      </p:grpSp>
      <p:grpSp>
        <p:nvGrpSpPr>
          <p:cNvPr id="61" name="c2-code-1"/>
          <p:cNvGrpSpPr/>
          <p:nvPr/>
        </p:nvGrpSpPr>
        <p:grpSpPr>
          <a:xfrm>
            <a:off x="6248400" y="1524000"/>
            <a:ext cx="5410200" cy="2748915"/>
            <a:chOff x="6248400" y="1524000"/>
            <a:chExt cx="5410200" cy="2748915"/>
          </a:xfrm>
        </p:grpSpPr>
        <p:sp>
          <p:nvSpPr>
            <p:cNvPr id="58" name="Rectangle 58"/>
            <p:cNvSpPr/>
            <p:nvPr/>
          </p:nvSpPr>
          <p:spPr>
            <a:xfrm>
              <a:off x="6248400" y="1524000"/>
              <a:ext cx="5410200" cy="2748915"/>
            </a:xfrm>
            <a:prstGeom prst="roundRect">
              <a:avLst>
                <a:gd name="adj" fmla="val 34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76797" y="1675924"/>
              <a:ext cx="2377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1：带 DecreaseKey 的优先级队列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76988" y="1935194"/>
              <a:ext cx="3390265" cy="2253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MinPriorityQueue PQ;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PQ.Insert(u, 0);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(!PQ.Empty())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PQ.DelMin();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选 dist 最小的顶点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S[v] = 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(Edge* p = Head[v].adjacent; p; p = p-&gt;link)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p-&gt;VerAdj;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(S[w] == 0 &amp;&amp; dist[v] + p-&gt;cost &lt; dist[w])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dist[w] = dist[v] + p-&gt;cost;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(!PQ.contain(w)) PQ.Insert(w, dist[w]);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PQ.DecreaseKey(w, dist[w]);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248400" y="4448175"/>
            <a:ext cx="5410200" cy="1831658"/>
            <a:chOff x="6248400" y="4448175"/>
            <a:chExt cx="5410200" cy="1831658"/>
          </a:xfrm>
        </p:grpSpPr>
        <p:sp>
          <p:nvSpPr>
            <p:cNvPr id="62" name="Rectangle 62"/>
            <p:cNvSpPr/>
            <p:nvPr/>
          </p:nvSpPr>
          <p:spPr>
            <a:xfrm>
              <a:off x="6248400" y="4448175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4581525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8905" y="464058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66345" y="46748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95947" y="4679632"/>
              <a:ext cx="2364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O((n+e)logn)，适合稀疏图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72047" y="5013960"/>
              <a:ext cx="4622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总代价 = n·T(DelMin) + e·T(Insert / DecreaseKey)。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87478" y="5373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43497" y="5316855"/>
              <a:ext cx="3520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堆里最多 n 个顶点，所以每次操作 O(logn)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487478" y="56749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43497" y="5618798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 e ≈ n² 时反而退化成 O(n²logn)，不如第 15 讲不用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 O(n²)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9666" cy="909257"/>
            <a:chOff x="520446" y="342900"/>
            <a:chExt cx="7819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9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2 与 STL 写法：不删旧值，见到过期的就跳过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985135"/>
            <a:chOff x="533400" y="1524000"/>
            <a:chExt cx="5626418" cy="2985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85135"/>
            </a:xfrm>
            <a:prstGeom prst="roundRect">
              <a:avLst>
                <a:gd name="adj" fmla="val 31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582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C++ STL 实现堆优化的 Dijkstra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3313430" cy="2482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priority_queue&lt;pair&lt;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&gt;&gt; PQ;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默认最大堆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&lt;= n; i++) dist[i] = INF;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dist[u]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PQ.push(make_pair(0, u));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(PQ.size())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PQ.top().second;  PQ.pop();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(S[v] == 1)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过期的副本，直接丢掉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S[v] = 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(Edge* p = Head[v].adjacent; p; p = p-&gt;link)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p-&gt;VerAdj;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(S[w] == 0 &amp;&amp; dist[v] + p-&gt;cost &lt; dist[w])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dist[w] = dist[v] + p-&gt;cost;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PQ.push(make_pair(-dist[w], w));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678680"/>
            <a:ext cx="5626418" cy="1674495"/>
            <a:chOff x="533400" y="4678680"/>
            <a:chExt cx="5626418" cy="1674495"/>
          </a:xfrm>
        </p:grpSpPr>
        <p:sp>
          <p:nvSpPr>
            <p:cNvPr id="11" name="Rectangle 11"/>
            <p:cNvSpPr/>
            <p:nvPr/>
          </p:nvSpPr>
          <p:spPr>
            <a:xfrm>
              <a:off x="533400" y="4678680"/>
              <a:ext cx="5626418" cy="1674495"/>
            </a:xfrm>
            <a:prstGeom prst="roundRect">
              <a:avLst>
                <a:gd name="adj" fmla="val 79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812030"/>
              <a:ext cx="47625" cy="1407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86537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89823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3784" y="4900612"/>
              <a:ext cx="3614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104 页写作 PQ.top().second()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5226368"/>
              <a:ext cx="40513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`second` 是 pair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成员变量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，不是成员函数，写成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`.second()` 编译不过，应为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PQ.top().second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1760220"/>
            <a:chOff x="6464618" y="1524000"/>
            <a:chExt cx="5193982" cy="1760220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89408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66827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两个关键技巧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160" y="17459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取负号，以及跳过过期副本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689408" y="205930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45086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70204" y="2071688"/>
              <a:ext cx="430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`priority_queue` 默认最大堆，关键词取负即最小堆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89408" y="23593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45086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70204" y="2371725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 DecreaseKey，每次更新都 push 新副本；弹出时顶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点已在 S 中就丢掉。省掉 index 数组，代码短一半，竞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赛里几乎都这么写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464618" y="3453765"/>
            <a:ext cx="5193982" cy="2000250"/>
            <a:chOff x="6464618" y="3453765"/>
            <a:chExt cx="5193982" cy="2000250"/>
          </a:xfrm>
        </p:grpSpPr>
        <p:sp>
          <p:nvSpPr>
            <p:cNvPr id="30" name="Rectangle 30"/>
            <p:cNvSpPr/>
            <p:nvPr/>
          </p:nvSpPr>
          <p:spPr>
            <a:xfrm>
              <a:off x="6464618" y="3453765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32016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49386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22966" y="3575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1772" y="3975259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push()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08595" y="39752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把元素插入堆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97465" y="3975259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42491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425386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1772" y="437530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8595" y="43753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删除堆顶元素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97465" y="4375309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46491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61772" y="477535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8595" y="47753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返回堆顶元素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97465" y="4775359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50492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5053965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1772" y="5175409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08595" y="517540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返回堆元素个数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97465" y="5175409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453765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06678" y="345376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95548" y="345376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3"/>
          <p:cNvGrpSpPr/>
          <p:nvPr/>
        </p:nvGrpSpPr>
        <p:grpSpPr>
          <a:xfrm>
            <a:off x="6464618" y="5623560"/>
            <a:ext cx="5193982" cy="729615"/>
            <a:chOff x="6464618" y="5623560"/>
            <a:chExt cx="5193982" cy="729615"/>
          </a:xfrm>
        </p:grpSpPr>
        <p:sp>
          <p:nvSpPr>
            <p:cNvPr id="55" name="Rectangle 55"/>
            <p:cNvSpPr/>
            <p:nvPr/>
          </p:nvSpPr>
          <p:spPr>
            <a:xfrm>
              <a:off x="6464618" y="562356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5888357"/>
              <a:ext cx="200023" cy="200023"/>
              <a:chOff x="6669405" y="5888357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58883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802755" y="59550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2110" y="5770245"/>
              <a:ext cx="41113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 O(eloge)：堆内最多 e 个元素。因为 e &lt; n²，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loge &lt; 2logn，与 O(elogn) 同阶。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图搜索的统一框架：换个容器就换一种策略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453640"/>
            <a:chOff x="533400" y="1524000"/>
            <a:chExt cx="6059805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52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在图 G 中以 u 为起点进行某种搜索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144139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GraphSearch(Graph G,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visited[N] = {0};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CONTAINER container;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定义一个容器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container.push(u);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把起点放入容器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(!container.Empty())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 = container.pop();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从容器中取出点 v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(visited[v] == 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visit(v);  visited[v]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(each w in neighbours(v))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(visited[w] == 0 &amp;&amp;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满足某些条件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container.push(w);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142422"/>
            <a:ext cx="6059805" cy="2067878"/>
            <a:chOff x="533400" y="4142422"/>
            <a:chExt cx="6059805" cy="2067878"/>
          </a:xfrm>
        </p:grpSpPr>
        <p:sp>
          <p:nvSpPr>
            <p:cNvPr id="11" name="Rectangle 11"/>
            <p:cNvSpPr/>
            <p:nvPr/>
          </p:nvSpPr>
          <p:spPr>
            <a:xfrm>
              <a:off x="533400" y="4142422"/>
              <a:ext cx="6059805" cy="2067878"/>
            </a:xfrm>
            <a:prstGeom prst="roundRect">
              <a:avLst>
                <a:gd name="adj" fmla="val 6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75772"/>
              <a:ext cx="47625" cy="18011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323398"/>
              <a:ext cx="230409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9711" y="4356259"/>
              <a:ext cx="22305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为什么出容器时还要再判一次 visited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64395" y="436292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同一个顶点可能被压进容器好几次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4679156"/>
              <a:ext cx="5271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w 只要有一个已访问的邻居，就会被放进容器一次；有三个这样的邻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居，它就在容器里躺着三份。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5206841"/>
              <a:ext cx="5052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第一次取出时把它标成已访问，后面取出的那几份都是过期副本，必须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`continue` 丢掉。第 40 页 STL 版 Dijkstra 里的 `if (S[v] == 1)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continue;` 就是同一件事。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898005" y="1524000"/>
            <a:ext cx="4760595" cy="1525905"/>
            <a:chOff x="6898005" y="1524000"/>
            <a:chExt cx="4760595" cy="1525905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47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4739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搜索策略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8399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出现在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92684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0481" y="2023110"/>
              <a:ext cx="867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深度优先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39731" y="2023110"/>
              <a:ext cx="533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 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2684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0481" y="2404110"/>
              <a:ext cx="8673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广度优先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39731" y="2404110"/>
              <a:ext cx="533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 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07530" y="2677478"/>
              <a:ext cx="140970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2684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优先级队列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0481" y="2785110"/>
              <a:ext cx="1008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PFS 优先级优先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39731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32104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940290" y="152400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2"/>
          <p:cNvGrpSpPr/>
          <p:nvPr/>
        </p:nvGrpSpPr>
        <p:grpSpPr>
          <a:xfrm>
            <a:off x="6898005" y="3214688"/>
            <a:ext cx="4760595" cy="2127885"/>
            <a:chOff x="6898005" y="3214688"/>
            <a:chExt cx="4760595" cy="2127885"/>
          </a:xfrm>
        </p:grpSpPr>
        <p:sp>
          <p:nvSpPr>
            <p:cNvPr id="40" name="Rectangle 40"/>
            <p:cNvSpPr/>
            <p:nvPr/>
          </p:nvSpPr>
          <p:spPr>
            <a:xfrm>
              <a:off x="6898005" y="3214688"/>
              <a:ext cx="4760595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3348038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7080" y="3395662"/>
              <a:ext cx="108680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2527" y="3428524"/>
              <a:ext cx="954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PFS 的两个实例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0753" y="34351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优先级选得不一样，算法就不一样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26605" y="38042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82053" y="3751421"/>
              <a:ext cx="39302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Dijkstra 算法：优先级是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dist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，每次取 dist 最小的顶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点（第 15 讲）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26605" y="43319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82053" y="4279106"/>
              <a:ext cx="391480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Prim 算法：优先级是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Lowcost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，每次取到树的代价最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小的顶点（第 16 讲）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1746" y="4803458"/>
              <a:ext cx="41111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用邻接表 + 堆实现的 Prim 同样是 O((n+e)logn)，适合稀疏图，但实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际不如 Kruskal 方便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898005" y="5506402"/>
            <a:ext cx="4760595" cy="702945"/>
            <a:chOff x="6898005" y="5506402"/>
            <a:chExt cx="4760595" cy="702945"/>
          </a:xfrm>
        </p:grpSpPr>
        <p:sp>
          <p:nvSpPr>
            <p:cNvPr id="51" name="Rectangle 51"/>
            <p:cNvSpPr/>
            <p:nvPr/>
          </p:nvSpPr>
          <p:spPr>
            <a:xfrm>
              <a:off x="6898005" y="550640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02793" y="5757865"/>
              <a:ext cx="200023" cy="200023"/>
              <a:chOff x="7102793" y="575786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102793" y="57578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36143" y="5824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05878" y="5651659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三种搜索的骨架完全相同，差别只有一行：容器是什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么。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09451" cy="909257"/>
            <a:chOff x="520446" y="342900"/>
            <a:chExt cx="52094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094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堆：把二叉改成 d 叉，树就更矮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52650"/>
            <a:chOff x="533400" y="1524000"/>
            <a:chExt cx="5410200" cy="2152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堆的操作全都取决于树高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762976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同样的结点数，分支越多树越矮。完全 d 叉树的高度是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以 d 为底的 logn，按换底公式写成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logn/logd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，d = 4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比二叉堆矮一半。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3695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堆由 Donald B. Johnson 提出（达特茅斯学院教授，1933—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1994）</a:t>
              </a:r>
            </a:p>
          </p:txBody>
        </p:sp>
      </p:grpSp>
      <p:grpSp>
        <p:nvGrpSpPr>
          <p:cNvPr id="30" name="c1-graph-2"/>
          <p:cNvGrpSpPr/>
          <p:nvPr/>
        </p:nvGrpSpPr>
        <p:grpSpPr>
          <a:xfrm>
            <a:off x="902970" y="3990022"/>
            <a:ext cx="4562475" cy="2042160"/>
            <a:chOff x="902970" y="3990022"/>
            <a:chExt cx="4562475" cy="2042160"/>
          </a:xfrm>
        </p:grpSpPr>
        <p:sp>
          <p:nvSpPr>
            <p:cNvPr id="15" name="Freeform 15"/>
            <p:cNvSpPr/>
            <p:nvPr/>
          </p:nvSpPr>
          <p:spPr>
            <a:xfrm>
              <a:off x="3238500" y="4313872"/>
              <a:ext cx="9525" cy="423862"/>
            </a:xfrm>
            <a:custGeom>
              <a:avLst/>
              <a:gdLst/>
              <a:ahLst/>
              <a:cxnLst/>
              <a:rect l="l" t="t" r="r" b="b"/>
              <a:pathLst>
                <a:path w="9525" h="423862">
                  <a:moveTo>
                    <a:pt x="0" y="423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37335" y="5023485"/>
              <a:ext cx="1520190" cy="722947"/>
            </a:xfrm>
            <a:custGeom>
              <a:avLst/>
              <a:gdLst/>
              <a:ahLst/>
              <a:cxnLst/>
              <a:rect l="l" t="t" r="r" b="b"/>
              <a:pathLst>
                <a:path w="1520190" h="722947">
                  <a:moveTo>
                    <a:pt x="1520190" y="0"/>
                  </a:moveTo>
                  <a:lnTo>
                    <a:pt x="0" y="7229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594610" y="5093970"/>
              <a:ext cx="519112" cy="652462"/>
            </a:xfrm>
            <a:custGeom>
              <a:avLst/>
              <a:gdLst/>
              <a:ahLst/>
              <a:cxnLst/>
              <a:rect l="l" t="t" r="r" b="b"/>
              <a:pathLst>
                <a:path w="519112" h="652462">
                  <a:moveTo>
                    <a:pt x="519112" y="0"/>
                  </a:moveTo>
                  <a:lnTo>
                    <a:pt x="0" y="6524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17570" y="5027295"/>
              <a:ext cx="1430655" cy="719138"/>
            </a:xfrm>
            <a:custGeom>
              <a:avLst/>
              <a:gdLst/>
              <a:ahLst/>
              <a:cxnLst/>
              <a:rect l="l" t="t" r="r" b="b"/>
              <a:pathLst>
                <a:path w="1430655" h="719138">
                  <a:moveTo>
                    <a:pt x="0" y="0"/>
                  </a:moveTo>
                  <a:lnTo>
                    <a:pt x="1430655" y="7191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714625" y="3990022"/>
              <a:ext cx="10477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048000" y="474726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02970" y="5746432"/>
              <a:ext cx="66675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147888" y="5746432"/>
              <a:ext cx="66675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798695" y="5746432"/>
              <a:ext cx="66675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08016" y="4091464"/>
              <a:ext cx="660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⌊(i−1)/d⌋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12768" y="4876324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6331" y="582787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di+1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41249" y="582787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di+2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36473" y="58278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92056" y="5827871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di+d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2251710"/>
            <a:chOff x="6248400" y="1524000"/>
            <a:chExt cx="5410200" cy="225171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251710"/>
            </a:xfrm>
            <a:prstGeom prst="roundRect">
              <a:avLst>
                <a:gd name="adj" fmla="val 5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9850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数组存储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80923" y="1768792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按层序摆，下标从 0 开始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129790"/>
              <a:ext cx="139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根结点下标为 0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501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9880" y="2465070"/>
              <a:ext cx="4137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结点 i 的 d 个子结点下标是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d·i+j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 ≤ j ≤ d）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501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9880" y="2800350"/>
              <a:ext cx="3071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结点 i 的父结点下标是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⌊(i−1)/d⌋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573" y="3132296"/>
              <a:ext cx="45971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2 时就退化成 2i+1、2i+2 和 ⌊(i−1)/2⌋，与 0 起点的二叉堆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248400" y="3966210"/>
            <a:ext cx="5410200" cy="1346835"/>
            <a:chOff x="6248400" y="3966210"/>
            <a:chExt cx="5410200" cy="1346835"/>
          </a:xfrm>
        </p:grpSpPr>
        <p:sp>
          <p:nvSpPr>
            <p:cNvPr id="44" name="Rectangle 44"/>
            <p:cNvSpPr/>
            <p:nvPr/>
          </p:nvSpPr>
          <p:spPr>
            <a:xfrm>
              <a:off x="6248400" y="396621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51649" y="41009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04770" y="41009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23249" y="4100989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6223" y="4550569"/>
              <a:ext cx="1673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/ DecreaseKey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20303" y="4550569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36480" y="4424362"/>
              <a:ext cx="17125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034778" y="4550569"/>
              <a:ext cx="1159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O(logn/logd)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8587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486346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56223" y="49991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删除堆顶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20303" y="4999196"/>
              <a:ext cx="675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36480" y="4872990"/>
              <a:ext cx="17125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34778" y="4999196"/>
              <a:ext cx="13594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O(d·logn/logd)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966210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407718" y="39662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922192" y="39662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llout-3"/>
          <p:cNvGrpSpPr/>
          <p:nvPr/>
        </p:nvGrpSpPr>
        <p:grpSpPr>
          <a:xfrm>
            <a:off x="6248400" y="5502592"/>
            <a:ext cx="5410200" cy="782955"/>
            <a:chOff x="6248400" y="5502592"/>
            <a:chExt cx="5410200" cy="782955"/>
          </a:xfrm>
        </p:grpSpPr>
        <p:sp>
          <p:nvSpPr>
            <p:cNvPr id="62" name="Rectangle 62"/>
            <p:cNvSpPr/>
            <p:nvPr/>
          </p:nvSpPr>
          <p:spPr>
            <a:xfrm>
              <a:off x="6248400" y="550259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41129" y="5790366"/>
              <a:ext cx="224134" cy="192560"/>
              <a:chOff x="6441129" y="579036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53200" y="58607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41129" y="57903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53200" y="59385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130" y="5651182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上浮只和父亲比，变矮就是赚；下沉要在 d 个孩子里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挑最大，每层从 2 次变成 d 次，反而更贵。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92197" cy="909257"/>
            <a:chOff x="520446" y="342900"/>
            <a:chExt cx="5092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堆与优先级队列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92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三种堆下 Dijkstra 的复杂度对照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66686" cy="264033"/>
            <a:chOff x="526542" y="1545907"/>
            <a:chExt cx="71666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66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总代价 = n·T(DelMin) + e·T(Insert / DecreaseKey)，把各自的单次代价代进去即可。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28812"/>
            <a:ext cx="6276022" cy="1525905"/>
            <a:chOff x="533400" y="1928812"/>
            <a:chExt cx="6276022" cy="1525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935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95735" y="2045970"/>
              <a:ext cx="464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DelMin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80917" y="2045970"/>
              <a:ext cx="467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78814" y="2045970"/>
              <a:ext cx="917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DecreaseKey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90630" y="2045970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8078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2014" y="2426970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13138" y="2426970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05668" y="2426970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60111" y="2426970"/>
              <a:ext cx="944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O((n+e)logn)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2808923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32014" y="2808923"/>
              <a:ext cx="1062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O(d·logn/logd)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3138" y="2808923"/>
              <a:ext cx="90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O(logn/logd)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5668" y="2808923"/>
              <a:ext cx="90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O(logn/logd)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0111" y="2808923"/>
              <a:ext cx="1062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O(e·logn/logd)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8078" y="3189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斐波那契堆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32014" y="3189923"/>
              <a:ext cx="553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13138" y="3189923"/>
              <a:ext cx="696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 O(1)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05668" y="3189923"/>
              <a:ext cx="696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 O(1)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74958" y="3082290"/>
              <a:ext cx="142398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60111" y="3189923"/>
              <a:ext cx="8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O(nlogn+e)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28812"/>
              <a:ext cx="627602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532572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1369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0622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60670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1-table-2"/>
          <p:cNvGrpSpPr/>
          <p:nvPr/>
        </p:nvGrpSpPr>
        <p:grpSpPr>
          <a:xfrm>
            <a:off x="528447" y="3618548"/>
            <a:ext cx="6280975" cy="1789461"/>
            <a:chOff x="528447" y="3618548"/>
            <a:chExt cx="6280975" cy="1789461"/>
          </a:xfrm>
        </p:grpSpPr>
        <p:sp>
          <p:nvSpPr>
            <p:cNvPr id="40" name="Rectangle 40"/>
            <p:cNvSpPr/>
            <p:nvPr/>
          </p:nvSpPr>
          <p:spPr>
            <a:xfrm>
              <a:off x="533400" y="3618548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7165" y="3736658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96884" y="37366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32732" y="3736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稀疏图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38634" y="3736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稠密图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8078" y="4117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09204" y="4117658"/>
              <a:ext cx="593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O(n²+e)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91344" y="4117658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97246" y="4117658"/>
              <a:ext cx="43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376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381500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8078" y="44986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09204" y="4498658"/>
              <a:ext cx="944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O((n+e)logn)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891344" y="4498658"/>
              <a:ext cx="662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97246" y="4498658"/>
              <a:ext cx="744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O(n²logn)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7586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8078" y="4880610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009204" y="4880610"/>
              <a:ext cx="1374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O((nd+e)logn/logd)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891344" y="4880610"/>
              <a:ext cx="662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12092" y="4772978"/>
              <a:ext cx="148685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397246" y="4880610"/>
              <a:ext cx="460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618548"/>
              <a:ext cx="6276022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909762" y="361854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91902" y="361854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297805" y="361854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8447" y="5217319"/>
              <a:ext cx="3057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logn/logd 就是以 d 为底的对数；d 堆取 d ≈ e/n + 1</a:t>
              </a:r>
            </a:p>
          </p:txBody>
        </p:sp>
      </p:grpSp>
      <p:grpSp>
        <p:nvGrpSpPr>
          <p:cNvPr id="77" name="c2-card-1"/>
          <p:cNvGrpSpPr/>
          <p:nvPr/>
        </p:nvGrpSpPr>
        <p:grpSpPr>
          <a:xfrm>
            <a:off x="7114222" y="1928812"/>
            <a:ext cx="4544378" cy="1973580"/>
            <a:chOff x="7114222" y="1928812"/>
            <a:chExt cx="4544378" cy="1973580"/>
          </a:xfrm>
        </p:grpSpPr>
        <p:sp>
          <p:nvSpPr>
            <p:cNvPr id="67" name="Rectangle 67"/>
            <p:cNvSpPr/>
            <p:nvPr/>
          </p:nvSpPr>
          <p:spPr>
            <a:xfrm>
              <a:off x="7114222" y="1928812"/>
              <a:ext cx="4544378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23748" y="2062162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33298" y="2109788"/>
              <a:ext cx="69437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18290" y="2142649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怎么选 d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34541" y="2149316"/>
              <a:ext cx="2305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≈ e/n + 1，也就是平均度数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26820" y="2465546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代入后总代价是 O(e·logn/log(e/n+1))，全式里唯一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的自由量就是底数 d。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342822" y="3046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498270" y="2994184"/>
              <a:ext cx="3104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稀疏图 e ≈ n：底数 ≈ 2，代价 O(nlogn)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342822" y="33308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98270" y="3278981"/>
              <a:ext cx="3418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稠密图 e ≈ n²：底数 ≈ n，logn/logn = 1，代价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O(n²)，把二叉堆多出来的那个 logn 消掉了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7114222" y="4066222"/>
            <a:ext cx="4544378" cy="1406842"/>
            <a:chOff x="7114222" y="4066222"/>
            <a:chExt cx="4544378" cy="1406842"/>
          </a:xfrm>
        </p:grpSpPr>
        <p:sp>
          <p:nvSpPr>
            <p:cNvPr id="78" name="Rectangle 78"/>
            <p:cNvSpPr/>
            <p:nvPr/>
          </p:nvSpPr>
          <p:spPr>
            <a:xfrm>
              <a:off x="7114222" y="4066222"/>
              <a:ext cx="4544378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123748" y="419957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333298" y="424719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13816" y="428005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斐波那契堆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72653" y="4287679"/>
              <a:ext cx="2387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Tarjan 与 Fredman，1984 年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26820" y="4603909"/>
              <a:ext cx="3841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DecreaseKey 降到均摊 O(1)，Dijkstra 因此变成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O(nlogn+e)，这是目前基于比较的最好结果。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27964" y="5128260"/>
              <a:ext cx="3263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Robert Tarjan 是图灵奖获得者、普林斯顿大学教授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7114222" y="5637848"/>
            <a:ext cx="4544378" cy="702945"/>
            <a:chOff x="7114222" y="5637848"/>
            <a:chExt cx="4544378" cy="702945"/>
          </a:xfrm>
        </p:grpSpPr>
        <p:sp>
          <p:nvSpPr>
            <p:cNvPr id="86" name="Rectangle 86"/>
            <p:cNvSpPr/>
            <p:nvPr/>
          </p:nvSpPr>
          <p:spPr>
            <a:xfrm>
              <a:off x="7114222" y="563784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19010" y="5889310"/>
              <a:ext cx="200023" cy="200023"/>
              <a:chOff x="7319010" y="5889310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19010" y="58893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452360" y="59559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622096" y="5783104"/>
              <a:ext cx="3158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图越稠密，DecreaseKey 的次数越多，优化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DecreaseKey 的收益就越大。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7098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 K 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个元素里挑最大的 k 个，堆给出两条不同量级的路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三种想法的代价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个元素的小根堆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590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堆顶就是第 k 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对顶堆处理 k 会变的情形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7481" cy="909257"/>
            <a:chOff x="520446" y="342900"/>
            <a:chExt cx="65874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12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243" y="407194"/>
              <a:ext cx="1931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Top K 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74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Top K：数组有 n 个元素，挑出最大的 k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55355" cy="264033"/>
            <a:chOff x="526542" y="1545907"/>
            <a:chExt cx="85553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华为、腾讯、字节跳动、阿里、京东、美团、苹果、微软、谷歌都考过这道题，热搜榜就是它的日常版本。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28812"/>
            <a:ext cx="5842635" cy="2093595"/>
            <a:chOff x="533400" y="1928812"/>
            <a:chExt cx="5842635" cy="209359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533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647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5610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5608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什么时候合适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6276" y="2426970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全部递减排序后取前 k 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49396" y="2426970"/>
              <a:ext cx="662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8634" y="2426970"/>
              <a:ext cx="533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接近 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02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6276" y="2808923"/>
              <a:ext cx="176422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借直接选择排序的思想选 k 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49396" y="2902268"/>
              <a:ext cx="435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O(nk)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8634" y="290226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是小常数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54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766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6276" y="337661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建大根堆后取 k 次堆顶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464242" y="3268980"/>
              <a:ext cx="150018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49396" y="3376612"/>
              <a:ext cx="826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O(n+klogn)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68634" y="337661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数据一次给全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35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64045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3758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46276" y="3758565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个元素的小根堆扫一遍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64242" y="3649980"/>
              <a:ext cx="150018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49396" y="3758565"/>
              <a:ext cx="662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O(nlogk)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68634" y="3758565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数据流、n 极大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28812"/>
              <a:ext cx="5842635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46835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449955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69192" y="1928812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rd-2"/>
          <p:cNvGrpSpPr/>
          <p:nvPr/>
        </p:nvGrpSpPr>
        <p:grpSpPr>
          <a:xfrm>
            <a:off x="533400" y="4187190"/>
            <a:ext cx="5842635" cy="2166938"/>
            <a:chOff x="533400" y="4187190"/>
            <a:chExt cx="5842635" cy="2166938"/>
          </a:xfrm>
        </p:grpSpPr>
        <p:sp>
          <p:nvSpPr>
            <p:cNvPr id="42" name="Rectangle 42"/>
            <p:cNvSpPr/>
            <p:nvPr/>
          </p:nvSpPr>
          <p:spPr>
            <a:xfrm>
              <a:off x="533400" y="4187190"/>
              <a:ext cx="5842635" cy="2166938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2925" y="4320540"/>
              <a:ext cx="47625" cy="19002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2475" y="436816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5843" y="440102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算一组具体数字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41386" y="4407694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10⁸、k = 100 时四种做法的量级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2000" y="47767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7448" y="4723924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想法 1 是 2.7×10⁹，想法 2 是 10¹⁰，最慢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2000" y="50615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7448" y="5009674"/>
              <a:ext cx="389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想法 3 是 1.0×10⁸，最快，但 10⁸ 个数要全进内存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62000" y="53463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7448" y="5294471"/>
              <a:ext cx="338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想法 4 是 6.6×10⁸，只占 100 个元素的空间</a:t>
              </a:r>
            </a:p>
          </p:txBody>
        </p:sp>
      </p:grpSp>
      <p:grpSp>
        <p:nvGrpSpPr>
          <p:cNvPr id="56" name="c2-image-1"/>
          <p:cNvGrpSpPr/>
          <p:nvPr/>
        </p:nvGrpSpPr>
        <p:grpSpPr>
          <a:xfrm>
            <a:off x="7647597" y="1928812"/>
            <a:ext cx="3044241" cy="2306669"/>
            <a:chOff x="7647597" y="1928812"/>
            <a:chExt cx="3044241" cy="2306669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rcRect l="6" t="0" r="6" b="0"/>
            <a:stretch>
              <a:fillRect/>
            </a:stretch>
          </p:blipFill>
          <p:spPr>
            <a:xfrm>
              <a:off x="7820978" y="1928812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7647597" y="4044791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篮子只装得下五个，来了更大的就把最小的那个扔掉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4381500"/>
            <a:ext cx="4977765" cy="1973580"/>
            <a:chOff x="6680835" y="4381500"/>
            <a:chExt cx="4977765" cy="1973580"/>
          </a:xfrm>
        </p:grpSpPr>
        <p:sp>
          <p:nvSpPr>
            <p:cNvPr id="57" name="Rectangle 57"/>
            <p:cNvSpPr/>
            <p:nvPr/>
          </p:nvSpPr>
          <p:spPr>
            <a:xfrm>
              <a:off x="6680835" y="4381500"/>
              <a:ext cx="4977765" cy="1973580"/>
            </a:xfrm>
            <a:prstGeom prst="roundRect">
              <a:avLst>
                <a:gd name="adj" fmla="val 67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861810" y="45624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47332" y="45953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挑哪一个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77341" y="4602004"/>
              <a:ext cx="190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 n + klogn 与 nlogk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9710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918234"/>
              <a:ext cx="3076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很小时两者都接近 O(n)，想法 3 略优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871335" y="52558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26783" y="5203031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接近 n 时想法 3 是 O(nlogn)，想法 4 也是 O(nlogn)，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打平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871335" y="578358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26783" y="5731669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真正的分水岭是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数据能不能全部装进内存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：装不下就只能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用想法 4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0883" cy="909257"/>
            <a:chOff x="520446" y="342900"/>
            <a:chExt cx="5940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12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243" y="407194"/>
              <a:ext cx="1931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Top K 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0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 个元素的小根堆维护当前的 Top 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29345" cy="264033"/>
            <a:chOff x="526542" y="1545907"/>
            <a:chExt cx="572934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29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堆里始终只放 k 个数，堆顶是这 k 个里最小的，也就是目前的第 k 大。</a:t>
              </a:r>
            </a:p>
          </p:txBody>
        </p:sp>
      </p:grpSp>
      <p:grpSp>
        <p:nvGrpSpPr>
          <p:cNvPr id="23" name="c1-tree-1"/>
          <p:cNvGrpSpPr/>
          <p:nvPr/>
        </p:nvGrpSpPr>
        <p:grpSpPr>
          <a:xfrm>
            <a:off x="1004888" y="1982153"/>
            <a:ext cx="3602355" cy="1284922"/>
            <a:chOff x="1004888" y="1982153"/>
            <a:chExt cx="3602355" cy="1284922"/>
          </a:xfrm>
        </p:grpSpPr>
        <p:sp>
          <p:nvSpPr>
            <p:cNvPr id="9" name="Freeform 9"/>
            <p:cNvSpPr/>
            <p:nvPr/>
          </p:nvSpPr>
          <p:spPr>
            <a:xfrm>
              <a:off x="1183005" y="2625090"/>
              <a:ext cx="648653" cy="463867"/>
            </a:xfrm>
            <a:custGeom>
              <a:avLst/>
              <a:gdLst/>
              <a:ahLst/>
              <a:cxnLst/>
              <a:rect l="l" t="t" r="r" b="b"/>
              <a:pathLst>
                <a:path w="648653" h="463867">
                  <a:moveTo>
                    <a:pt x="648653" y="0"/>
                  </a:moveTo>
                  <a:lnTo>
                    <a:pt x="0" y="4638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1658" y="2625090"/>
              <a:ext cx="649605" cy="463867"/>
            </a:xfrm>
            <a:custGeom>
              <a:avLst/>
              <a:gdLst/>
              <a:ahLst/>
              <a:cxnLst/>
              <a:rect l="l" t="t" r="r" b="b"/>
              <a:pathLst>
                <a:path w="649605" h="463867">
                  <a:moveTo>
                    <a:pt x="0" y="0"/>
                  </a:moveTo>
                  <a:lnTo>
                    <a:pt x="649605" y="4638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2160270"/>
              <a:ext cx="1298258" cy="464820"/>
            </a:xfrm>
            <a:custGeom>
              <a:avLst/>
              <a:gdLst/>
              <a:ahLst/>
              <a:cxnLst/>
              <a:rect l="l" t="t" r="r" b="b"/>
              <a:pathLst>
                <a:path w="1298258" h="464820">
                  <a:moveTo>
                    <a:pt x="1298258" y="0"/>
                  </a:moveTo>
                  <a:lnTo>
                    <a:pt x="0" y="464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9915" y="2160270"/>
              <a:ext cx="1299210" cy="464820"/>
            </a:xfrm>
            <a:custGeom>
              <a:avLst/>
              <a:gdLst/>
              <a:ahLst/>
              <a:cxnLst/>
              <a:rect l="l" t="t" r="r" b="b"/>
              <a:pathLst>
                <a:path w="1299210" h="464820">
                  <a:moveTo>
                    <a:pt x="0" y="0"/>
                  </a:moveTo>
                  <a:lnTo>
                    <a:pt x="1299210" y="464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04888" y="29108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303145" y="29108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53540" y="244697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251008" y="244697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951798" y="1982153"/>
              <a:ext cx="356235" cy="356235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3258" y="30327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41516" y="30327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1911" y="25688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89378" y="25688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90168" y="210502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71" name="c1-cells-2"/>
          <p:cNvGrpSpPr/>
          <p:nvPr/>
        </p:nvGrpSpPr>
        <p:grpSpPr>
          <a:xfrm>
            <a:off x="528638" y="3486150"/>
            <a:ext cx="4672012" cy="1254919"/>
            <a:chOff x="528638" y="3486150"/>
            <a:chExt cx="4672012" cy="1254919"/>
          </a:xfrm>
        </p:grpSpPr>
        <p:sp>
          <p:nvSpPr>
            <p:cNvPr id="24" name="TextBox 24"/>
            <p:cNvSpPr txBox="1"/>
            <p:nvPr/>
          </p:nvSpPr>
          <p:spPr>
            <a:xfrm>
              <a:off x="528638" y="36080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原数组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09650" y="34861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794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428750" y="34861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985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47850" y="34861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176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266950" y="34861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4367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686050" y="34861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8558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105150" y="34861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2749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524250" y="34861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659069" y="36080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43350" y="34861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131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62450" y="34861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7269" y="36080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781550" y="34861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951353" y="3608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840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031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222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413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8604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2795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986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177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36881" y="38962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25624" y="389620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638" y="429101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建堆后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09650" y="4169092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79453" y="42910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428750" y="41690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98553" y="42910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847850" y="41690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17653" y="42910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266950" y="41690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436753" y="42910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686050" y="416909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855853" y="42910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84081" y="4579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603181" y="4579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022281" y="4579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441381" y="4579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860481" y="45791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78" name="c1-callout-3"/>
          <p:cNvGrpSpPr/>
          <p:nvPr/>
        </p:nvGrpSpPr>
        <p:grpSpPr>
          <a:xfrm>
            <a:off x="533400" y="4871085"/>
            <a:ext cx="5193982" cy="732472"/>
            <a:chOff x="533400" y="4871085"/>
            <a:chExt cx="5193982" cy="732472"/>
          </a:xfrm>
        </p:grpSpPr>
        <p:sp>
          <p:nvSpPr>
            <p:cNvPr id="72" name="Rectangle 72"/>
            <p:cNvSpPr/>
            <p:nvPr/>
          </p:nvSpPr>
          <p:spPr>
            <a:xfrm>
              <a:off x="533400" y="4871085"/>
              <a:ext cx="5193982" cy="732472"/>
            </a:xfrm>
            <a:prstGeom prst="roundRect">
              <a:avLst>
                <a:gd name="adj" fmla="val 1560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26129" y="5133141"/>
              <a:ext cx="224134" cy="192560"/>
              <a:chOff x="726129" y="5133141"/>
              <a:chExt cx="224134" cy="19256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838200" y="52035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26129" y="51331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52812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5030629"/>
              <a:ext cx="43045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课件那张图里数组格子画的是原始的前 k 个元素 9 5 8 3 6，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树画的却是建堆之后的 3 5 8 9 6。</a:t>
              </a:r>
            </a:p>
          </p:txBody>
        </p:sp>
      </p:grpSp>
      <p:grpSp>
        <p:nvGrpSpPr>
          <p:cNvPr id="92" name="c2-steps-1"/>
          <p:cNvGrpSpPr/>
          <p:nvPr/>
        </p:nvGrpSpPr>
        <p:grpSpPr>
          <a:xfrm>
            <a:off x="6032182" y="1938338"/>
            <a:ext cx="4141965" cy="1596009"/>
            <a:chOff x="6032182" y="1938338"/>
            <a:chExt cx="4141965" cy="1596009"/>
          </a:xfrm>
        </p:grpSpPr>
        <p:sp>
          <p:nvSpPr>
            <p:cNvPr id="79" name="Rectangle 79"/>
            <p:cNvSpPr/>
            <p:nvPr/>
          </p:nvSpPr>
          <p:spPr>
            <a:xfrm>
              <a:off x="6165532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6032182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25806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032182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125806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032182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125806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4806" y="19683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5948" y="2223135"/>
              <a:ext cx="3728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用前 k 个元素建小根堆，堆里就是已扫描元素中最大的 k 个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44806" y="252174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 ②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45948" y="2776538"/>
              <a:ext cx="36433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扫描剩余元素，x 大于堆顶就替换堆顶并下沉 x，否则不动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44806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445948" y="3328988"/>
              <a:ext cx="314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堆里的 k 个数就是全数组的 Top k，堆顶是第 k 大</a:t>
              </a:r>
            </a:p>
          </p:txBody>
        </p:sp>
      </p:grpSp>
      <p:grpSp>
        <p:nvGrpSpPr>
          <p:cNvPr id="119" name="c2-table-2"/>
          <p:cNvGrpSpPr/>
          <p:nvPr/>
        </p:nvGrpSpPr>
        <p:grpSpPr>
          <a:xfrm>
            <a:off x="6032182" y="3696652"/>
            <a:ext cx="5626418" cy="1906905"/>
            <a:chOff x="6032182" y="3696652"/>
            <a:chExt cx="5626418" cy="1906905"/>
          </a:xfrm>
        </p:grpSpPr>
        <p:sp>
          <p:nvSpPr>
            <p:cNvPr id="93" name="Rectangle 93"/>
            <p:cNvSpPr/>
            <p:nvPr/>
          </p:nvSpPr>
          <p:spPr>
            <a:xfrm>
              <a:off x="6032182" y="369665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335078" y="3813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扫到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75779" y="3813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与堆顶比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738932" y="3813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堆的内容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126861" y="4194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026974" y="419481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&lt; 3，跳过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490014" y="419481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3 5 8 9 6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032182" y="44538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032182" y="445865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126861" y="45767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026974" y="4576762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&gt; 3，替换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8404860" y="4468178"/>
              <a:ext cx="324421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490014" y="457676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5 6 8 9 12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032182" y="48358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126861" y="49577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026974" y="495776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&lt; 5，跳过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490014" y="495776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5 6 8 9 12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032182" y="52168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032182" y="522160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126861" y="53387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026974" y="5338762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&gt; 5，替换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8404860" y="5231130"/>
              <a:ext cx="324421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8490014" y="533876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6 9 8 11 12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032182" y="3696652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927532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8390572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20" name="Rectangle 12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1273" y="6039326"/>
              <a:ext cx="6616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O(nlogk)，额外空间 O(k)；n 可以大到放不进内存，因为每个元素只被读一次。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32749" cy="909257"/>
            <a:chOff x="520446" y="342900"/>
            <a:chExt cx="58327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12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243" y="407194"/>
              <a:ext cx="1931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 · Top K 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327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 Top K：k 也会变的时候用对顶堆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graph-1"/>
          <p:cNvGrpSpPr/>
          <p:nvPr/>
        </p:nvGrpSpPr>
        <p:grpSpPr>
          <a:xfrm>
            <a:off x="1203960" y="1790224"/>
            <a:ext cx="3852862" cy="1355407"/>
            <a:chOff x="1203960" y="1790224"/>
            <a:chExt cx="3852862" cy="1355407"/>
          </a:xfrm>
        </p:grpSpPr>
        <p:sp>
          <p:nvSpPr>
            <p:cNvPr id="7" name="Freeform 7"/>
            <p:cNvSpPr/>
            <p:nvPr/>
          </p:nvSpPr>
          <p:spPr>
            <a:xfrm>
              <a:off x="2645092" y="1804035"/>
              <a:ext cx="1051560" cy="242888"/>
            </a:xfrm>
            <a:custGeom>
              <a:avLst/>
              <a:gdLst/>
              <a:ahLst/>
              <a:cxnLst/>
              <a:rect l="l" t="t" r="r" b="b"/>
              <a:pathLst>
                <a:path w="1051560" h="242888">
                  <a:moveTo>
                    <a:pt x="1051560" y="242888"/>
                  </a:moveTo>
                  <a:cubicBezTo>
                    <a:pt x="673735" y="16192"/>
                    <a:pt x="323215" y="0"/>
                    <a:pt x="0" y="19431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64130" y="195738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89535"/>
                  </a:moveTo>
                  <a:lnTo>
                    <a:pt x="57150" y="0"/>
                  </a:lnTo>
                  <a:lnTo>
                    <a:pt x="105728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564130" y="2863215"/>
              <a:ext cx="1050608" cy="242888"/>
            </a:xfrm>
            <a:custGeom>
              <a:avLst/>
              <a:gdLst/>
              <a:ahLst/>
              <a:cxnLst/>
              <a:rect l="l" t="t" r="r" b="b"/>
              <a:pathLst>
                <a:path w="1050608" h="242888">
                  <a:moveTo>
                    <a:pt x="0" y="0"/>
                  </a:moveTo>
                  <a:cubicBezTo>
                    <a:pt x="377190" y="226695"/>
                    <a:pt x="727393" y="242888"/>
                    <a:pt x="1050608" y="4857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590925" y="286321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0"/>
                  </a:moveTo>
                  <a:lnTo>
                    <a:pt x="48578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203960" y="1936432"/>
              <a:ext cx="1360170" cy="1036320"/>
            </a:xfrm>
            <a:prstGeom prst="roundRect">
              <a:avLst>
                <a:gd name="adj" fmla="val 919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696652" y="1936432"/>
              <a:ext cx="1360170" cy="1036320"/>
            </a:xfrm>
            <a:prstGeom prst="roundRect">
              <a:avLst>
                <a:gd name="adj" fmla="val 9191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7546" y="232791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小根堆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4637" y="2470785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31559" y="1790224"/>
              <a:ext cx="7049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堆顶 = 第 k 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90238" y="232791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大根堆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87360" y="2470785"/>
              <a:ext cx="378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n−k 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63538" y="1790224"/>
              <a:ext cx="8263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堆顶 = 第 k+1 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951798" y="1798320"/>
              <a:ext cx="35718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76128" y="1827371"/>
              <a:ext cx="3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加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951798" y="2954655"/>
              <a:ext cx="35718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976128" y="2983706"/>
              <a:ext cx="3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减 1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3712845"/>
            <a:ext cx="5193982" cy="702945"/>
            <a:chOff x="533400" y="3712845"/>
            <a:chExt cx="5193982" cy="702945"/>
          </a:xfrm>
        </p:grpSpPr>
        <p:sp>
          <p:nvSpPr>
            <p:cNvPr id="24" name="Rectangle 24"/>
            <p:cNvSpPr/>
            <p:nvPr/>
          </p:nvSpPr>
          <p:spPr>
            <a:xfrm>
              <a:off x="533400" y="371284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3964305"/>
              <a:ext cx="200026" cy="200026"/>
              <a:chOff x="738188" y="3964305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39643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40309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40643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1273" y="3858101"/>
              <a:ext cx="4166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 k 个是前 k 大的元素，右边 n−k 个是其余元素，两个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堆的堆顶正好夹在“第 k 名”这条线两侧。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580572"/>
            <a:ext cx="5193982" cy="1769745"/>
            <a:chOff x="533400" y="4580572"/>
            <a:chExt cx="5193982" cy="1769745"/>
          </a:xfrm>
        </p:grpSpPr>
        <p:sp>
          <p:nvSpPr>
            <p:cNvPr id="31" name="Rectangle 31"/>
            <p:cNvSpPr/>
            <p:nvPr/>
          </p:nvSpPr>
          <p:spPr>
            <a:xfrm>
              <a:off x="533400" y="4580572"/>
              <a:ext cx="5193982" cy="1769745"/>
            </a:xfrm>
            <a:prstGeom prst="roundRect">
              <a:avLst>
                <a:gd name="adj" fmla="val 75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713922"/>
              <a:ext cx="47625" cy="15030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7615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7044" y="47944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68006" y="480107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排行榜的名次线会来回挪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117306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观众一会儿想看前 20 名，一会儿又想看前 50 名，k 一直在变。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名次线挪一格，就在两个堆之间搬一个堆顶，代价 O(logn)。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032182" y="1524000"/>
            <a:ext cx="5626418" cy="1487805"/>
            <a:chOff x="6032182" y="1524000"/>
            <a:chExt cx="5626418" cy="1487805"/>
          </a:xfrm>
        </p:grpSpPr>
        <p:sp>
          <p:nvSpPr>
            <p:cNvPr id="38" name="Rectangle 38"/>
            <p:cNvSpPr/>
            <p:nvPr/>
          </p:nvSpPr>
          <p:spPr>
            <a:xfrm>
              <a:off x="6032182" y="1524000"/>
              <a:ext cx="5626418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41708" y="1657350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1258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9878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对顶堆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42011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一个小根堆加一个大根堆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60782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6230" y="2061686"/>
              <a:ext cx="32179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小根堆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维护前 k 大的元素，堆顶是第 k 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60782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6230" y="2346484"/>
              <a:ext cx="3597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大根堆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维护其余 n−k 个元素，堆顶是第 k+1 大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60782" y="2684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6230" y="2631281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两个堆之间的分界线就是“第 k 名”这条线</a:t>
              </a:r>
            </a:p>
          </p:txBody>
        </p:sp>
      </p:grpSp>
      <p:grpSp>
        <p:nvGrpSpPr>
          <p:cNvPr id="63" name="c2-steps-2"/>
          <p:cNvGrpSpPr/>
          <p:nvPr/>
        </p:nvGrpSpPr>
        <p:grpSpPr>
          <a:xfrm>
            <a:off x="6032182" y="3186112"/>
            <a:ext cx="3229265" cy="1596009"/>
            <a:chOff x="6032182" y="3186112"/>
            <a:chExt cx="3229265" cy="1596009"/>
          </a:xfrm>
        </p:grpSpPr>
        <p:sp>
          <p:nvSpPr>
            <p:cNvPr id="50" name="Rectangle 50"/>
            <p:cNvSpPr/>
            <p:nvPr/>
          </p:nvSpPr>
          <p:spPr>
            <a:xfrm>
              <a:off x="6165532" y="332898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032182" y="31861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806" y="3259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32182" y="37385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5806" y="38123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32182" y="42919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25806" y="43657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806" y="321611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查询第 k 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5948" y="3470910"/>
              <a:ext cx="1923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直接返回小根堆的堆顶，O(1)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4806" y="3769519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加 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5948" y="4024312"/>
              <a:ext cx="2815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把大根堆的堆顶取出，插入小根堆，O(logn)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4806" y="4321969"/>
              <a:ext cx="49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减 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45948" y="4576762"/>
              <a:ext cx="2815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把小根堆的堆顶取出，插入大根堆，O(logn)</a:t>
              </a:r>
            </a:p>
          </p:txBody>
        </p:sp>
      </p:grpSp>
      <p:grpSp>
        <p:nvGrpSpPr>
          <p:cNvPr id="71" name="c2-card-3"/>
          <p:cNvGrpSpPr/>
          <p:nvPr/>
        </p:nvGrpSpPr>
        <p:grpSpPr>
          <a:xfrm>
            <a:off x="6032182" y="4943475"/>
            <a:ext cx="5626418" cy="1406842"/>
            <a:chOff x="6032182" y="4943475"/>
            <a:chExt cx="5626418" cy="1406842"/>
          </a:xfrm>
        </p:grpSpPr>
        <p:sp>
          <p:nvSpPr>
            <p:cNvPr id="64" name="Rectangle 64"/>
            <p:cNvSpPr/>
            <p:nvPr/>
          </p:nvSpPr>
          <p:spPr>
            <a:xfrm>
              <a:off x="6032182" y="4943475"/>
              <a:ext cx="5626418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41708" y="5076825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1258" y="51244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35827" y="51573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课下思考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65836" y="5164931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挑出最小的 k 个怎么办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44780" y="5481161"/>
              <a:ext cx="478287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把所有比较反向即可：用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个元素的大根堆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，堆顶是这 k 个里最大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的，扫到比堆顶小的就替换。时间同样是 O(nlogk)。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45924" y="6005512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也可以把每个元素取负后原样套用求最大 k 个的算法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99769" cy="909257"/>
            <a:chOff x="520446" y="342900"/>
            <a:chExt cx="1199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09831" cy="264033"/>
            <a:chOff x="526542" y="1545907"/>
            <a:chExt cx="87098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09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先自己写出答案再看解答。另外自问两题：为什么删除堆顶要用堆尾去补？d 堆的删除为什么比二叉堆还慢？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堆和二叉查找树都要求父子之间有序，区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别在哪里？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堆只约束父子，兄弟之间没有关系，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中序遍历不是有序序列，查任意值要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O(n)；二叉查找树约束左 &lt; 根 &lt; 右。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上浮一次和下沉一次的关键词比较次数各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82524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上浮每层只和父亲比 1 次，最多 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log₂n⌋ 次；下沉每层先挑大孩子（1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次）再与它比（1 次），最多 2⌊log₂n⌋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次，末层单孩子只需 1 次。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85856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BuildHeap 为什么必须从 ⌊n/2⌋ 倒着下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沉，正着走行不行？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87401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不行。下沉的前提是左右子树已是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堆。倒着走时轮到 i，两棵子树都处理完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了；正着走时 R[1] 的子树还乱着。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776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堆排序为什么不稳定？举一个最短的反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交换发生在相距很远的两个位置之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间，相同关键词的相对次序没人维护。最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短反例 (1, 2, 2*)，排完变成 1, 2*, 2。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89311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建堆是 O(n)，堆排序却是 O(nlogn)，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差别从哪来？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建堆下沉的是各个结点，代价是高度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之和，小于 n；排序阶段每轮下沉的都是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根，高度约 log₂n，还要做 n−1 轮。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49118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求最大的 k 个数，O(n+klogn) 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O(nlogk) 两种做法怎么选？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47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数据一次全部装进内存时用大根堆，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n+klogn 通常更小；流式到来或 n 装不下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时只能用 k 个元素的小根堆，只需 O(k)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8681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337" y="407194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第18讲 堆排序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胜者树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4442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满二叉树，内结点存胜者；建树 n−1 次比较，之后每取一个数 log₂n 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3127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 + 堆序性；孩子 2i、2i+1，父亲 ⌊i/2⌋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 / 下沉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34449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变大上浮、变小下沉；每次 O(logn)，下沉每层比 2 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713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 建堆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3095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⌊n/2⌋ 倒着下沉；高度之和 &lt; n，所以是 O(n)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4172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 + n−1 轮“换到队尾再下沉”；O(nlogn)、O(1) 空间、不稳定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62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 3 处：第 14 页文献页码 378-348 应为 347-348；第 95 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Template 应为 template；第 104 页 `.second()` 应为 `.second`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澄清 2 处：第 97 页 Node* 与 HuffmanNode* 不一致；第 116 页数组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画的是建堆前、树画的是建堆后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5012710" cy="2161508"/>
            <a:chOff x="6681788" y="1533525"/>
            <a:chExt cx="5012710" cy="2161508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742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看到“反复取最大或最小”“第 k 大”“按优先级出队”，先想到堆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堆的一切操作都是上浮和下沉的组合，先把这两段代码写熟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45158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每个复杂度都要跟一句前提：顺序存储、随机访问 O(1)、调用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前除 R[i] 外已是堆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67476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建堆 O(n) 只对自底向上的 Floyd 算法成立，逐个插入是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3202781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数比较次数时，上浮按每层 1 次数，下沉按每层 2 次数，末层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单孩子只算 1 次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810000"/>
            <a:ext cx="4977765" cy="1839278"/>
            <a:chOff x="6680835" y="3810000"/>
            <a:chExt cx="4977765" cy="1839278"/>
          </a:xfrm>
        </p:grpSpPr>
        <p:sp>
          <p:nvSpPr>
            <p:cNvPr id="54" name="Rectangle 54"/>
            <p:cNvSpPr/>
            <p:nvPr/>
          </p:nvSpPr>
          <p:spPr>
            <a:xfrm>
              <a:off x="6680835" y="3810000"/>
              <a:ext cx="4977765" cy="1839278"/>
            </a:xfrm>
            <a:prstGeom prst="roundRect">
              <a:avLst>
                <a:gd name="adj" fmla="val 72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990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4023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383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331494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随手写 8 到 15 个数，手推 Floyd 建堆的每一步，再和脚本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跑出来的序列对一遍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911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859179"/>
              <a:ext cx="4068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ShiftUp、ShiftDown、BuildHeap、HeapSort 默写一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遍，重点盯 ShiftDown(R, i−1, 1) 里的 i−1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10065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下一讲讲快速排序。它同样是 O(nlogn) 量级，但靠的是划分而不是堆，最坏情况会退化到 O(n²)，正好和本讲的堆排序形成对照。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第18讲 堆排序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8">
  <a:themeElements>
    <a:clrScheme name="ds_l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2026-09-19T14:11:41Z</dcterms:created>
  <dcterms:modified xsi:type="dcterms:W3CDTF">2026-09-19T14:11:41Z</dcterms:modified>
  <cp:category/>
  <cp:contentStatus/>
</cp:coreProperties>
</file>