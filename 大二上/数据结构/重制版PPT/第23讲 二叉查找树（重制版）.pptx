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2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2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8a752100d1185a8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38e271bf537016a.png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2963c4941dc2d84.png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16830" cy="3437763"/>
            <a:chOff x="666750" y="1619250"/>
            <a:chExt cx="511683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61734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2921" y="1718310"/>
              <a:ext cx="1363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第23讲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二叉查找树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让插入、删除、查找都落在一条根到叶的路径上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定义与三种核心操作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78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AVL 树与四种旋转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红黑树的五条性质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伸展树与时间局部性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29995" cy="205359"/>
            <a:chOff x="680466" y="6192202"/>
            <a:chExt cx="42299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29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23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8681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337" y="407194"/>
              <a:ext cx="986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有序数组能二分查找，却经不起插入删除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二叉查找树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4206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中根序列递增；查找、插入、删除都是 O(h)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高度平衡树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2610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左右子树高度差不超过 1，用四种旋转维持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红黑树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进一步放宽平衡条件，换来更低的维护成本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伸展树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不限制形状，把刚访问过的结点转到根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平衡度与维护成本之间的取舍，以及工业界的用法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说出二叉查找树的定义，并判断一棵给定的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二叉树是不是二叉查找树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手推插入与三种情况的删除过程，写出对应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C++ 代码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给定失衡的 AVL 树，认出 LL / RR / LR / RL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并画出旋转后的树形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520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 AVL 树插入最多 1 次调整、删除最多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 次旋转的原因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25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比较二叉查找树、AVL 树、红黑树、伸展树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的复杂度与适用场景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802761" cy="2997517"/>
            <a:chOff x="667512" y="1835468"/>
            <a:chExt cx="380276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二叉查找树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把二分查找的判定过程真的存成一棵树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定义就是一句话：中根序列递增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查找、插入、删除都沿一条路径走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三种情况的删除是本讲第一个考点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二叉查找树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有序数组能二分查找，却经不起插入删除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887401" cy="278702"/>
            <a:chOff x="526161" y="1547336"/>
            <a:chExt cx="788740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8874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第22讲的二分查找要求数组有序。一旦允许动态插入、删除，维持有序本身就要 O(n) 时间。</a:t>
              </a:r>
            </a:p>
          </p:txBody>
        </p:sp>
      </p:grpSp>
      <p:grpSp>
        <p:nvGrpSpPr>
          <p:cNvPr id="34" name="c1-table-1"/>
          <p:cNvGrpSpPr/>
          <p:nvPr/>
        </p:nvGrpSpPr>
        <p:grpSpPr>
          <a:xfrm>
            <a:off x="533400" y="1941195"/>
            <a:ext cx="6276022" cy="1823085"/>
            <a:chOff x="533400" y="1941195"/>
            <a:chExt cx="6276022" cy="182308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27602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79564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存储结构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4764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61236" y="2065496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插入 / 删除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72494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瓶颈在哪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24712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有序数组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39315" y="2471261"/>
              <a:ext cx="6198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68980" y="2471261"/>
              <a:ext cx="4021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50105" y="247126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插入要腾位置，删除要补空位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479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5272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770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无序链表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39315" y="2877026"/>
              <a:ext cx="4021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68980" y="2877026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0105" y="287702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改指针很快，但先得找到位置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537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168015"/>
              <a:ext cx="1486852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338280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二叉查找树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39315" y="3382804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68980" y="3382804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0105" y="3282791"/>
              <a:ext cx="18534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是树高，平均 O(logn)，最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坏 O(n)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941195"/>
              <a:ext cx="6276022" cy="18230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034540" y="194119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164205" y="194119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545330" y="194119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rd-2"/>
          <p:cNvGrpSpPr/>
          <p:nvPr/>
        </p:nvGrpSpPr>
        <p:grpSpPr>
          <a:xfrm>
            <a:off x="533400" y="3939540"/>
            <a:ext cx="6276022" cy="1226820"/>
            <a:chOff x="533400" y="3939540"/>
            <a:chExt cx="6276022" cy="1226820"/>
          </a:xfrm>
        </p:grpSpPr>
        <p:sp>
          <p:nvSpPr>
            <p:cNvPr id="35" name="Rectangle 35"/>
            <p:cNvSpPr/>
            <p:nvPr/>
          </p:nvSpPr>
          <p:spPr>
            <a:xfrm>
              <a:off x="533400" y="3939540"/>
              <a:ext cx="6276022" cy="1226820"/>
            </a:xfrm>
            <a:prstGeom prst="roundRect">
              <a:avLst>
                <a:gd name="adj" fmla="val 1087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5805" y="41319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7245" y="41662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09497" y="4171950"/>
              <a:ext cx="29857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插入、删除、查找都不超过 O(logn)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8947" y="4506278"/>
              <a:ext cx="56715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把二分查找每次比较的那个中间元素做成结点，比较的先后关系做成父子关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系，这棵树就能一边查一边改。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7114222" y="1941195"/>
            <a:ext cx="4544378" cy="2049780"/>
            <a:chOff x="7114222" y="1941195"/>
            <a:chExt cx="4544378" cy="2049780"/>
          </a:xfrm>
        </p:grpSpPr>
        <p:sp>
          <p:nvSpPr>
            <p:cNvPr id="41" name="Rectangle 41"/>
            <p:cNvSpPr/>
            <p:nvPr/>
          </p:nvSpPr>
          <p:spPr>
            <a:xfrm>
              <a:off x="7114222" y="1941195"/>
              <a:ext cx="4544378" cy="2049780"/>
            </a:xfrm>
            <a:prstGeom prst="roundRect">
              <a:avLst>
                <a:gd name="adj" fmla="val 65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23748" y="2074545"/>
              <a:ext cx="47625" cy="17830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344728" y="21336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32167" y="21678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容易混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61770" y="2173605"/>
              <a:ext cx="21554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二叉查找树 vs 二叉判定树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353300" y="25641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09320" y="2507932"/>
              <a:ext cx="36656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二叉判定树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只是用来描述查找过程的示意图，数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据实际存在数组里，它是扩充二叉树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353300" y="31242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09320" y="3068002"/>
              <a:ext cx="34941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二叉查找树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是真的把数据存进了二叉树的结点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里，不是扩充二叉树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39012" y="3623786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第22讲折半查找的判定树属于前者，本讲讲的是后者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7114222" y="4167188"/>
            <a:ext cx="4544378" cy="1000125"/>
            <a:chOff x="7114222" y="4167188"/>
            <a:chExt cx="4544378" cy="1000125"/>
          </a:xfrm>
        </p:grpSpPr>
        <p:sp>
          <p:nvSpPr>
            <p:cNvPr id="52" name="Rectangle 52"/>
            <p:cNvSpPr/>
            <p:nvPr/>
          </p:nvSpPr>
          <p:spPr>
            <a:xfrm>
              <a:off x="7114222" y="4167188"/>
              <a:ext cx="4544378" cy="1000125"/>
            </a:xfrm>
            <a:prstGeom prst="roundRect">
              <a:avLst>
                <a:gd name="adj" fmla="val 1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19010" y="4566285"/>
              <a:ext cx="200026" cy="200025"/>
              <a:chOff x="7319010" y="4566285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19010" y="45662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358749" y="46107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393464" y="47218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7621714" y="4323398"/>
              <a:ext cx="363131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判定树的结点是“数组下标”，查找树的结点是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“数据本身”，后者才能在不挪动数据的前提下插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入和删除。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9" name="Rectangle 5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6023610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评价一种动态查找结构，要同时看查得快不快、改完之后还快不快。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二叉查找树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二叉查找树：中根序列必须递增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621155"/>
            <a:chOff x="533400" y="1524000"/>
            <a:chExt cx="5193982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943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二叉查找树（Binary Search Tree, BST）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453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二叉查找树是一棵二叉树，其各结点的关键词互异，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且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中根序列按关键词递增排列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。亦称二叉搜索树、二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叉排序树。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335655"/>
            <a:ext cx="5193982" cy="2203132"/>
            <a:chOff x="533400" y="3335655"/>
            <a:chExt cx="5193982" cy="2203132"/>
          </a:xfrm>
        </p:grpSpPr>
        <p:sp>
          <p:nvSpPr>
            <p:cNvPr id="14" name="Rectangle 14"/>
            <p:cNvSpPr/>
            <p:nvPr/>
          </p:nvSpPr>
          <p:spPr>
            <a:xfrm>
              <a:off x="533400" y="3335655"/>
              <a:ext cx="5193982" cy="2203132"/>
            </a:xfrm>
            <a:prstGeom prst="roundRect">
              <a:avLst>
                <a:gd name="adj" fmla="val 60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69005"/>
              <a:ext cx="47625" cy="193643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54520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3359" y="35809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等价描述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65922" y="358044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逐结点看的局部条件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3941445"/>
              <a:ext cx="45586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对树中任一结点 P，左子树中所有结点的关键词都小于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Key(P)，右子树中所有结点的关键词都大于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Key(P)，并且 P 的左、右子树本身也都是二叉查找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4573" y="513064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两种说法完全等价，做题时用哪个方便就用哪个</a:t>
              </a:r>
            </a:p>
          </p:txBody>
        </p:sp>
      </p:grpSp>
      <p:grpSp>
        <p:nvGrpSpPr>
          <p:cNvPr id="48" name="c2-tree-1"/>
          <p:cNvGrpSpPr/>
          <p:nvPr/>
        </p:nvGrpSpPr>
        <p:grpSpPr>
          <a:xfrm>
            <a:off x="6385560" y="1709738"/>
            <a:ext cx="4919662" cy="2788920"/>
            <a:chOff x="6385560" y="1709738"/>
            <a:chExt cx="4919662" cy="2788920"/>
          </a:xfrm>
        </p:grpSpPr>
        <p:sp>
          <p:nvSpPr>
            <p:cNvPr id="22" name="Freeform 22"/>
            <p:cNvSpPr/>
            <p:nvPr/>
          </p:nvSpPr>
          <p:spPr>
            <a:xfrm>
              <a:off x="7720012" y="3499485"/>
              <a:ext cx="562928" cy="789623"/>
            </a:xfrm>
            <a:custGeom>
              <a:avLst/>
              <a:gdLst/>
              <a:ahLst/>
              <a:cxnLst/>
              <a:rect l="l" t="t" r="r" b="b"/>
              <a:pathLst>
                <a:path w="562928" h="789623">
                  <a:moveTo>
                    <a:pt x="562928" y="0"/>
                  </a:moveTo>
                  <a:lnTo>
                    <a:pt x="0" y="78962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282940" y="3499485"/>
              <a:ext cx="561975" cy="789623"/>
            </a:xfrm>
            <a:custGeom>
              <a:avLst/>
              <a:gdLst/>
              <a:ahLst/>
              <a:cxnLst/>
              <a:rect l="l" t="t" r="r" b="b"/>
              <a:pathLst>
                <a:path w="561975" h="789623">
                  <a:moveTo>
                    <a:pt x="0" y="0"/>
                  </a:moveTo>
                  <a:lnTo>
                    <a:pt x="561975" y="78962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595110" y="2708910"/>
              <a:ext cx="1124903" cy="790575"/>
            </a:xfrm>
            <a:custGeom>
              <a:avLst/>
              <a:gdLst/>
              <a:ahLst/>
              <a:cxnLst/>
              <a:rect l="l" t="t" r="r" b="b"/>
              <a:pathLst>
                <a:path w="1124903" h="790575">
                  <a:moveTo>
                    <a:pt x="1124903" y="0"/>
                  </a:moveTo>
                  <a:lnTo>
                    <a:pt x="0" y="790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720012" y="2708910"/>
              <a:ext cx="562928" cy="790575"/>
            </a:xfrm>
            <a:custGeom>
              <a:avLst/>
              <a:gdLst/>
              <a:ahLst/>
              <a:cxnLst/>
              <a:rect l="l" t="t" r="r" b="b"/>
              <a:pathLst>
                <a:path w="562928" h="790575">
                  <a:moveTo>
                    <a:pt x="0" y="0"/>
                  </a:moveTo>
                  <a:lnTo>
                    <a:pt x="562928" y="790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970770" y="2708910"/>
              <a:ext cx="562928" cy="790575"/>
            </a:xfrm>
            <a:custGeom>
              <a:avLst/>
              <a:gdLst/>
              <a:ahLst/>
              <a:cxnLst/>
              <a:rect l="l" t="t" r="r" b="b"/>
              <a:pathLst>
                <a:path w="562928" h="790575">
                  <a:moveTo>
                    <a:pt x="562928" y="0"/>
                  </a:moveTo>
                  <a:lnTo>
                    <a:pt x="0" y="790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0533698" y="2708910"/>
              <a:ext cx="561975" cy="790575"/>
            </a:xfrm>
            <a:custGeom>
              <a:avLst/>
              <a:gdLst/>
              <a:ahLst/>
              <a:cxnLst/>
              <a:rect l="l" t="t" r="r" b="b"/>
              <a:pathLst>
                <a:path w="561975" h="790575">
                  <a:moveTo>
                    <a:pt x="0" y="0"/>
                  </a:moveTo>
                  <a:lnTo>
                    <a:pt x="561975" y="790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720012" y="1919288"/>
              <a:ext cx="1124903" cy="789622"/>
            </a:xfrm>
            <a:custGeom>
              <a:avLst/>
              <a:gdLst/>
              <a:ahLst/>
              <a:cxnLst/>
              <a:rect l="l" t="t" r="r" b="b"/>
              <a:pathLst>
                <a:path w="1124903" h="789622">
                  <a:moveTo>
                    <a:pt x="1124903" y="0"/>
                  </a:moveTo>
                  <a:lnTo>
                    <a:pt x="0" y="78962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844915" y="1919288"/>
              <a:ext cx="1688783" cy="789622"/>
            </a:xfrm>
            <a:custGeom>
              <a:avLst/>
              <a:gdLst/>
              <a:ahLst/>
              <a:cxnLst/>
              <a:rect l="l" t="t" r="r" b="b"/>
              <a:pathLst>
                <a:path w="1688783" h="789622">
                  <a:moveTo>
                    <a:pt x="0" y="0"/>
                  </a:moveTo>
                  <a:lnTo>
                    <a:pt x="1688783" y="78962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6385560" y="328993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7510462" y="407955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635365" y="407955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8073390" y="328993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7510462" y="249936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9761220" y="328993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0886122" y="328993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0324148" y="249936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635365" y="170973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95722" y="342423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20625" y="421481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45527" y="421481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83552" y="342423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625" y="26346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71382" y="342423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996285" y="342423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434310" y="26346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45527" y="184404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  <p:grpSp>
        <p:nvGrpSpPr>
          <p:cNvPr id="54" name="c2-callout-2"/>
          <p:cNvGrpSpPr/>
          <p:nvPr/>
        </p:nvGrpSpPr>
        <p:grpSpPr>
          <a:xfrm>
            <a:off x="6032182" y="4874895"/>
            <a:ext cx="5626418" cy="782955"/>
            <a:chOff x="6032182" y="4874895"/>
            <a:chExt cx="5626418" cy="782955"/>
          </a:xfrm>
        </p:grpSpPr>
        <p:sp>
          <p:nvSpPr>
            <p:cNvPr id="49" name="Rectangle 49"/>
            <p:cNvSpPr/>
            <p:nvPr/>
          </p:nvSpPr>
          <p:spPr>
            <a:xfrm>
              <a:off x="6032182" y="4874895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236970" y="5166362"/>
              <a:ext cx="200023" cy="200023"/>
              <a:chOff x="6236970" y="5166362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236970" y="51663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370320" y="52330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538912" y="5023485"/>
              <a:ext cx="47015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中根遍历这棵树得到 10 15 20 25 30 35 39 50 55，确实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递增，所以它是二叉查找树。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5" name="Rectangle 5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130" y="5991225"/>
              <a:ext cx="91222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关键词互异是定义的一部分；允许重复时要么不插入，要么另开计数域，本讲采用“已存在就不插入”。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二叉查找树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判别时只看父子关系会出错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748569" cy="278702"/>
            <a:chOff x="526161" y="1547336"/>
            <a:chExt cx="574856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7485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定义要求的是“左子树的全部结点”都小于 P，不是“左孩子”小于 P。</a:t>
              </a:r>
            </a:p>
          </p:txBody>
        </p:sp>
      </p:grpSp>
      <p:grpSp>
        <p:nvGrpSpPr>
          <p:cNvPr id="24" name="c1-tree-1"/>
          <p:cNvGrpSpPr/>
          <p:nvPr/>
        </p:nvGrpSpPr>
        <p:grpSpPr>
          <a:xfrm>
            <a:off x="1172528" y="2198370"/>
            <a:ext cx="3699510" cy="2387441"/>
            <a:chOff x="1172528" y="2198370"/>
            <a:chExt cx="3699510" cy="2387441"/>
          </a:xfrm>
        </p:grpSpPr>
        <p:sp>
          <p:nvSpPr>
            <p:cNvPr id="9" name="Freeform 9"/>
            <p:cNvSpPr/>
            <p:nvPr/>
          </p:nvSpPr>
          <p:spPr>
            <a:xfrm>
              <a:off x="3022282" y="3284220"/>
              <a:ext cx="829627" cy="894397"/>
            </a:xfrm>
            <a:custGeom>
              <a:avLst/>
              <a:gdLst/>
              <a:ahLst/>
              <a:cxnLst/>
              <a:rect l="l" t="t" r="r" b="b"/>
              <a:pathLst>
                <a:path w="829627" h="894397">
                  <a:moveTo>
                    <a:pt x="829627" y="0"/>
                  </a:moveTo>
                  <a:lnTo>
                    <a:pt x="0" y="8943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51910" y="3284220"/>
              <a:ext cx="829628" cy="894397"/>
            </a:xfrm>
            <a:custGeom>
              <a:avLst/>
              <a:gdLst/>
              <a:ahLst/>
              <a:cxnLst/>
              <a:rect l="l" t="t" r="r" b="b"/>
              <a:pathLst>
                <a:path w="829628" h="894397">
                  <a:moveTo>
                    <a:pt x="0" y="0"/>
                  </a:moveTo>
                  <a:lnTo>
                    <a:pt x="829628" y="8943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63028" y="2388870"/>
              <a:ext cx="1659255" cy="895350"/>
            </a:xfrm>
            <a:custGeom>
              <a:avLst/>
              <a:gdLst/>
              <a:ahLst/>
              <a:cxnLst/>
              <a:rect l="l" t="t" r="r" b="b"/>
              <a:pathLst>
                <a:path w="1659255" h="895350">
                  <a:moveTo>
                    <a:pt x="1659255" y="0"/>
                  </a:moveTo>
                  <a:lnTo>
                    <a:pt x="0" y="8953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22282" y="2388870"/>
              <a:ext cx="829627" cy="895350"/>
            </a:xfrm>
            <a:custGeom>
              <a:avLst/>
              <a:gdLst/>
              <a:ahLst/>
              <a:cxnLst/>
              <a:rect l="l" t="t" r="r" b="b"/>
              <a:pathLst>
                <a:path w="829627" h="895350">
                  <a:moveTo>
                    <a:pt x="0" y="0"/>
                  </a:moveTo>
                  <a:lnTo>
                    <a:pt x="829627" y="8953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172528" y="309372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831782" y="3988118"/>
              <a:ext cx="381000" cy="3810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491038" y="398811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661410" y="309372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831782" y="219837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13776" y="32142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73031" y="41086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58107" y="4423886"/>
              <a:ext cx="5283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比根 10 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88750" y="41086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59123" y="321421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29495" y="23188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973002"/>
            <a:ext cx="4977765" cy="729615"/>
            <a:chOff x="533400" y="4973002"/>
            <a:chExt cx="4977765" cy="729615"/>
          </a:xfrm>
        </p:grpSpPr>
        <p:sp>
          <p:nvSpPr>
            <p:cNvPr id="25" name="Rectangle 25"/>
            <p:cNvSpPr/>
            <p:nvPr/>
          </p:nvSpPr>
          <p:spPr>
            <a:xfrm>
              <a:off x="533400" y="4973002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26129" y="5234106"/>
              <a:ext cx="224134" cy="192560"/>
              <a:chOff x="726129" y="5234106"/>
              <a:chExt cx="224134" cy="1925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38200" y="53044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6129" y="52341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53822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892" y="5118735"/>
              <a:ext cx="394849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每一对父子都满足“左小右大”，但 6 落在了 10 的右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子树里，中根序列是 5 10 6 20，不递增。</a:t>
              </a:r>
            </a:p>
          </p:txBody>
        </p:sp>
      </p:grpSp>
      <p:grpSp>
        <p:nvGrpSpPr>
          <p:cNvPr id="45" name="c2-steps-1"/>
          <p:cNvGrpSpPr/>
          <p:nvPr/>
        </p:nvGrpSpPr>
        <p:grpSpPr>
          <a:xfrm>
            <a:off x="5815965" y="1950720"/>
            <a:ext cx="5852693" cy="2108359"/>
            <a:chOff x="5815965" y="1950720"/>
            <a:chExt cx="5852693" cy="2108359"/>
          </a:xfrm>
        </p:grpSpPr>
        <p:sp>
          <p:nvSpPr>
            <p:cNvPr id="32" name="Rectangle 32"/>
            <p:cNvSpPr/>
            <p:nvPr/>
          </p:nvSpPr>
          <p:spPr>
            <a:xfrm>
              <a:off x="5949315" y="2093595"/>
              <a:ext cx="19050" cy="15878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815965" y="19507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09589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815965" y="27451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09589" y="28189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815965" y="35394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09589" y="36133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28207" y="198310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方法一：中根遍历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9350" y="2250281"/>
              <a:ext cx="51320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遍历一遍，边走边和上一个输出的关键词比较，只要出现一次不递增就判否。一趟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O(n)，最稳妥。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8207" y="277749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方法二：带区间递归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29350" y="3044666"/>
              <a:ext cx="521030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检查结点 P 时把允许的取值区间传下去，进入左子树区间收紧为 (lo, Key(P))，进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入右子树收紧为 (Key(P), hi)。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28207" y="357092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考试写法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29350" y="3839051"/>
              <a:ext cx="5439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手工判别时先写出中根序列，再看是不是严格递增，比逐个结点看快也不容易漏。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5815965" y="4227195"/>
            <a:ext cx="5842635" cy="1226820"/>
            <a:chOff x="5815965" y="4227195"/>
            <a:chExt cx="5842635" cy="1226820"/>
          </a:xfrm>
        </p:grpSpPr>
        <p:sp>
          <p:nvSpPr>
            <p:cNvPr id="46" name="Rectangle 46"/>
            <p:cNvSpPr/>
            <p:nvPr/>
          </p:nvSpPr>
          <p:spPr>
            <a:xfrm>
              <a:off x="5815965" y="4227195"/>
              <a:ext cx="584263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825490" y="436054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46470" y="4419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137910" y="4453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30162" y="445960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只比较结点与它的两个孩子是不够的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39612" y="4793932"/>
              <a:ext cx="51229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左图就是反例。常见的错误判别法“对每个结点检查 left.key &lt; key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right.key”会把它判成二叉查找树。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3" name="Rectangle 5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6023610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判别二叉查找树的等价条件是中根序列严格递增，不是每一对父子的大小关系。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二叉查找树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结点结构：一个关键词加两个孩子指针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912620"/>
            <a:chOff x="533400" y="1524000"/>
            <a:chExt cx="5626418" cy="19126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结点定义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152521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BSTnode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key;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关键词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BSTnode *left, *right;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左右孩子指针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BSTnode(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key = K;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left = right = NULL;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3601402"/>
            <a:ext cx="5626418" cy="702945"/>
            <a:chOff x="533400" y="3601402"/>
            <a:chExt cx="5626418" cy="702945"/>
          </a:xfrm>
        </p:grpSpPr>
        <p:sp>
          <p:nvSpPr>
            <p:cNvPr id="11" name="Rectangle 11"/>
            <p:cNvSpPr/>
            <p:nvPr/>
          </p:nvSpPr>
          <p:spPr>
            <a:xfrm>
              <a:off x="533400" y="3601402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3852863"/>
              <a:ext cx="200026" cy="200026"/>
              <a:chOff x="738188" y="3852863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38528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39195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39528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1273" y="3746659"/>
              <a:ext cx="42882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源课件全程用 C++ 写法（构造函数、new / delete、引用参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数），本讲义照原样保留，便于和课件、考题对照。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469130"/>
            <a:ext cx="5626418" cy="1236345"/>
            <a:chOff x="533400" y="4469130"/>
            <a:chExt cx="5626418" cy="1236345"/>
          </a:xfrm>
        </p:grpSpPr>
        <p:sp>
          <p:nvSpPr>
            <p:cNvPr id="18" name="Rectangle 18"/>
            <p:cNvSpPr/>
            <p:nvPr/>
          </p:nvSpPr>
          <p:spPr>
            <a:xfrm>
              <a:off x="533400" y="4469130"/>
              <a:ext cx="5626418" cy="1236345"/>
            </a:xfrm>
            <a:prstGeom prst="roundRect">
              <a:avLst>
                <a:gd name="adj" fmla="val 107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602480"/>
              <a:ext cx="47625" cy="9696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2475" y="465010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5147" y="46829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18450" y="468963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结点里没有指向父亲的指针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5998" y="5005864"/>
              <a:ext cx="49222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要回到父结点只能靠递归返回，或者在迭代时自己用变量记住上一个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结点。后面 AVL 树的“沿插入点向上找 A”正是靠递归的回溯实现的。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6464618" y="1524000"/>
            <a:ext cx="5193982" cy="2856548"/>
            <a:chOff x="6464618" y="1524000"/>
            <a:chExt cx="5193982" cy="2856548"/>
          </a:xfrm>
        </p:grpSpPr>
        <p:sp>
          <p:nvSpPr>
            <p:cNvPr id="25" name="Rectangle 25"/>
            <p:cNvSpPr/>
            <p:nvPr/>
          </p:nvSpPr>
          <p:spPr>
            <a:xfrm>
              <a:off x="6464618" y="1524000"/>
              <a:ext cx="519398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9325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1922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4041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59296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09941" y="20231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从根开始按大小往下走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10278" y="2023110"/>
              <a:ext cx="359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64618" y="2282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64618" y="228695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59296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09941" y="240411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查找失败的位置就是新结点的位置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10278" y="2404110"/>
              <a:ext cx="359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2663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9296" y="28784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09941" y="2785110"/>
              <a:ext cx="231762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分无孩子 / 一个孩子 / 两个孩子三种情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610278" y="2878455"/>
              <a:ext cx="359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32318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64618" y="323659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9296" y="33537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09941" y="33537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从空树开始逐个插入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610278" y="3353752"/>
              <a:ext cx="4355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O(nh)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36128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59296" y="37347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09941" y="37347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中根遍历一次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610278" y="3734752"/>
              <a:ext cx="359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39938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64618" y="399859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59296" y="4116705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找最小 / 最大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09941" y="4116705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一路向左 / 一路向右走到底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610278" y="4116705"/>
              <a:ext cx="359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1524000"/>
              <a:ext cx="5193982" cy="2856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810500" y="1524000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510838" y="1524000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ard-2"/>
          <p:cNvGrpSpPr/>
          <p:nvPr/>
        </p:nvGrpSpPr>
        <p:grpSpPr>
          <a:xfrm>
            <a:off x="6464618" y="4545330"/>
            <a:ext cx="5193982" cy="1160145"/>
            <a:chOff x="6464618" y="4545330"/>
            <a:chExt cx="5193982" cy="1160145"/>
          </a:xfrm>
        </p:grpSpPr>
        <p:sp>
          <p:nvSpPr>
            <p:cNvPr id="59" name="Rectangle 59"/>
            <p:cNvSpPr/>
            <p:nvPr/>
          </p:nvSpPr>
          <p:spPr>
            <a:xfrm>
              <a:off x="6464618" y="4545330"/>
              <a:ext cx="5193982" cy="1160145"/>
            </a:xfrm>
            <a:prstGeom prst="roundRect">
              <a:avLst>
                <a:gd name="adj" fmla="val 1149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45592" y="472630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38264" y="47591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12520" y="4765834"/>
              <a:ext cx="17214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一切代价都写成 O(h)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39116" y="5082064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 是树高。这一讲后面所有的工作，都是想办法把 h 压到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O(logn)。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5" name="Rectangle 6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1273" y="6039326"/>
              <a:ext cx="84324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查找、插入、删除都只走一条从根往下的路径，代价是 O(h) 而不是 O(n)：这是二叉查找树的全部价值所在。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二叉查找树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查找：比根小往左走，比根大往右走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469557" cy="308039"/>
            <a:chOff x="525399" y="1550194"/>
            <a:chExt cx="846955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46955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递归版和迭代版做的事完全一样，迭代版省掉了函数调用栈，大厂面试题 LeetCode 700。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410200" cy="2125028"/>
            <a:chOff x="533400" y="1967865"/>
            <a:chExt cx="5410200" cy="212502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3062478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BSTnode* Search(BSTnode* root,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(root == NULL || root-&gt;key == K)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root-&gt;key)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Search(root-&gt;left, K);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Search(root-&gt;right, K);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283392"/>
            <a:ext cx="5410200" cy="985838"/>
            <a:chOff x="533400" y="4283392"/>
            <a:chExt cx="5410200" cy="985838"/>
          </a:xfrm>
        </p:grpSpPr>
        <p:sp>
          <p:nvSpPr>
            <p:cNvPr id="13" name="Rectangle 13"/>
            <p:cNvSpPr/>
            <p:nvPr/>
          </p:nvSpPr>
          <p:spPr>
            <a:xfrm>
              <a:off x="533400" y="4283392"/>
              <a:ext cx="5410200" cy="985838"/>
            </a:xfrm>
            <a:prstGeom prst="roundRect">
              <a:avLst>
                <a:gd name="adj" fmla="val 1159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675823"/>
              <a:ext cx="200026" cy="200026"/>
              <a:chOff x="738188" y="4675823"/>
              <a:chExt cx="200026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6758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47424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27088" y="47758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4532948"/>
              <a:ext cx="45205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NULL 表示树里没有 K，返回非空指针表示找到了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这个结点。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248400" y="1967865"/>
            <a:ext cx="5410200" cy="2327910"/>
            <a:chOff x="6248400" y="1967865"/>
            <a:chExt cx="5410200" cy="2327910"/>
          </a:xfrm>
        </p:grpSpPr>
        <p:sp>
          <p:nvSpPr>
            <p:cNvPr id="20" name="Rectangle 20"/>
            <p:cNvSpPr/>
            <p:nvPr/>
          </p:nvSpPr>
          <p:spPr>
            <a:xfrm>
              <a:off x="6248400" y="1967865"/>
              <a:ext cx="5410200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211978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迭代版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6035" y="2381726"/>
              <a:ext cx="3297174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BSTnode* Search2(BSTnode* root,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BSTnode* p = root;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!= NULL)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p-&gt;key) p = p-&gt;left;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&gt; p-&gt;key) p = p-&gt;right;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NULL;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2-callout-2"/>
          <p:cNvGrpSpPr/>
          <p:nvPr/>
        </p:nvGrpSpPr>
        <p:grpSpPr>
          <a:xfrm>
            <a:off x="6248400" y="4486275"/>
            <a:ext cx="5410200" cy="782955"/>
            <a:chOff x="6248400" y="4486275"/>
            <a:chExt cx="5410200" cy="782955"/>
          </a:xfrm>
        </p:grpSpPr>
        <p:sp>
          <p:nvSpPr>
            <p:cNvPr id="24" name="Rectangle 24"/>
            <p:cNvSpPr/>
            <p:nvPr/>
          </p:nvSpPr>
          <p:spPr>
            <a:xfrm>
              <a:off x="6248400" y="448627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453188" y="4777742"/>
              <a:ext cx="200023" cy="200023"/>
              <a:chOff x="6453188" y="4777742"/>
              <a:chExt cx="200023" cy="20002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453188" y="47777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86538" y="48444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755130" y="4634865"/>
              <a:ext cx="3930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时间复杂度 O(h)，h 为树高。前提是每次比较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O(1)、指针访问 O(1)。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二叉查找树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查找过程：成功停在结点上，失败停在空指针上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ree-1"/>
          <p:cNvGrpSpPr/>
          <p:nvPr/>
        </p:nvGrpSpPr>
        <p:grpSpPr>
          <a:xfrm>
            <a:off x="841058" y="1855470"/>
            <a:ext cx="4362450" cy="3514725"/>
            <a:chOff x="841058" y="1855470"/>
            <a:chExt cx="4362450" cy="3514725"/>
          </a:xfrm>
        </p:grpSpPr>
        <p:sp>
          <p:nvSpPr>
            <p:cNvPr id="7" name="Freeform 7"/>
            <p:cNvSpPr/>
            <p:nvPr/>
          </p:nvSpPr>
          <p:spPr>
            <a:xfrm>
              <a:off x="2026920" y="4135755"/>
              <a:ext cx="497205" cy="1043940"/>
            </a:xfrm>
            <a:custGeom>
              <a:avLst/>
              <a:gdLst/>
              <a:ahLst/>
              <a:cxnLst/>
              <a:rect l="l" t="t" r="r" b="b"/>
              <a:pathLst>
                <a:path w="497205" h="1043940">
                  <a:moveTo>
                    <a:pt x="497205" y="0"/>
                  </a:moveTo>
                  <a:lnTo>
                    <a:pt x="0" y="10439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24125" y="4135755"/>
              <a:ext cx="498158" cy="1043940"/>
            </a:xfrm>
            <a:custGeom>
              <a:avLst/>
              <a:gdLst/>
              <a:ahLst/>
              <a:cxnLst/>
              <a:rect l="l" t="t" r="r" b="b"/>
              <a:pathLst>
                <a:path w="498158" h="1043940">
                  <a:moveTo>
                    <a:pt x="0" y="0"/>
                  </a:moveTo>
                  <a:lnTo>
                    <a:pt x="498158" y="10439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031558" y="3090862"/>
              <a:ext cx="995363" cy="1044892"/>
            </a:xfrm>
            <a:custGeom>
              <a:avLst/>
              <a:gdLst/>
              <a:ahLst/>
              <a:cxnLst/>
              <a:rect l="l" t="t" r="r" b="b"/>
              <a:pathLst>
                <a:path w="995363" h="1044892">
                  <a:moveTo>
                    <a:pt x="995363" y="0"/>
                  </a:moveTo>
                  <a:lnTo>
                    <a:pt x="0" y="10448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026920" y="3090862"/>
              <a:ext cx="497205" cy="1044892"/>
            </a:xfrm>
            <a:custGeom>
              <a:avLst/>
              <a:gdLst/>
              <a:ahLst/>
              <a:cxnLst/>
              <a:rect l="l" t="t" r="r" b="b"/>
              <a:pathLst>
                <a:path w="497205" h="1044892">
                  <a:moveTo>
                    <a:pt x="0" y="0"/>
                  </a:moveTo>
                  <a:lnTo>
                    <a:pt x="497205" y="10448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017645" y="3090862"/>
              <a:ext cx="497205" cy="1044892"/>
            </a:xfrm>
            <a:custGeom>
              <a:avLst/>
              <a:gdLst/>
              <a:ahLst/>
              <a:cxnLst/>
              <a:rect l="l" t="t" r="r" b="b"/>
              <a:pathLst>
                <a:path w="497205" h="1044892">
                  <a:moveTo>
                    <a:pt x="497205" y="0"/>
                  </a:moveTo>
                  <a:lnTo>
                    <a:pt x="0" y="10448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14850" y="3090862"/>
              <a:ext cx="498157" cy="1044892"/>
            </a:xfrm>
            <a:custGeom>
              <a:avLst/>
              <a:gdLst/>
              <a:ahLst/>
              <a:cxnLst/>
              <a:rect l="l" t="t" r="r" b="b"/>
              <a:pathLst>
                <a:path w="498157" h="1044892">
                  <a:moveTo>
                    <a:pt x="0" y="0"/>
                  </a:moveTo>
                  <a:lnTo>
                    <a:pt x="498157" y="10448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026920" y="2045970"/>
              <a:ext cx="995362" cy="1044892"/>
            </a:xfrm>
            <a:custGeom>
              <a:avLst/>
              <a:gdLst/>
              <a:ahLst/>
              <a:cxnLst/>
              <a:rect l="l" t="t" r="r" b="b"/>
              <a:pathLst>
                <a:path w="995362" h="1044892">
                  <a:moveTo>
                    <a:pt x="995362" y="0"/>
                  </a:moveTo>
                  <a:lnTo>
                    <a:pt x="0" y="10448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022282" y="2045970"/>
              <a:ext cx="1492568" cy="1044892"/>
            </a:xfrm>
            <a:custGeom>
              <a:avLst/>
              <a:gdLst/>
              <a:ahLst/>
              <a:cxnLst/>
              <a:rect l="l" t="t" r="r" b="b"/>
              <a:pathLst>
                <a:path w="1492568" h="1044892">
                  <a:moveTo>
                    <a:pt x="0" y="0"/>
                  </a:moveTo>
                  <a:lnTo>
                    <a:pt x="1492568" y="10448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41058" y="394525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836420" y="498919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831782" y="4989195"/>
              <a:ext cx="381000" cy="3810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333625" y="3945255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836420" y="290036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827145" y="3945255"/>
              <a:ext cx="381000" cy="3810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822508" y="394525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324350" y="290036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831782" y="185547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8770" y="40657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34133" y="510968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29495" y="510968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31338" y="40657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34133" y="302085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24858" y="40657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20220" y="40657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22063" y="302085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29495" y="19759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  <p:grpSp>
        <p:nvGrpSpPr>
          <p:cNvPr id="64" name="c2-table-1"/>
          <p:cNvGrpSpPr/>
          <p:nvPr/>
        </p:nvGrpSpPr>
        <p:grpSpPr>
          <a:xfrm>
            <a:off x="5815965" y="1524000"/>
            <a:ext cx="5842635" cy="2434590"/>
            <a:chOff x="5815965" y="1524000"/>
            <a:chExt cx="5842635" cy="2434590"/>
          </a:xfrm>
        </p:grpSpPr>
        <p:sp>
          <p:nvSpPr>
            <p:cNvPr id="34" name="Rectangle 34"/>
            <p:cNvSpPr/>
            <p:nvPr/>
          </p:nvSpPr>
          <p:spPr>
            <a:xfrm>
              <a:off x="5815965" y="1524000"/>
              <a:ext cx="584263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4335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58977" y="1648301"/>
              <a:ext cx="986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 30（成功）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96412" y="1648301"/>
              <a:ext cx="986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 40（失败）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15978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83742" y="2054066"/>
              <a:ext cx="968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 &lt; 35，往左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21178" y="2054066"/>
              <a:ext cx="968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&gt; 35，往右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2330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15965" y="233553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15978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83742" y="2459831"/>
              <a:ext cx="968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 &gt; 15，往右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21178" y="2459831"/>
              <a:ext cx="968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&lt; 50，往左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27365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15978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83742" y="2865596"/>
              <a:ext cx="968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 &gt; 25，往右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21178" y="2865596"/>
              <a:ext cx="968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&gt; 39，往右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3142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15965" y="314706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15978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993255" y="3156585"/>
              <a:ext cx="231838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83742" y="3271361"/>
              <a:ext cx="976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 30，命中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330690" y="3156585"/>
              <a:ext cx="2318385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421178" y="327136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右指针为空，失败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815965" y="35480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15978" y="36771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83742" y="367712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次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421178" y="367712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次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815965" y="1524000"/>
              <a:ext cx="5842635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978968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31640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card-2"/>
          <p:cNvGrpSpPr/>
          <p:nvPr/>
        </p:nvGrpSpPr>
        <p:grpSpPr>
          <a:xfrm>
            <a:off x="5815965" y="4133850"/>
            <a:ext cx="5842635" cy="1272540"/>
            <a:chOff x="5815965" y="4133850"/>
            <a:chExt cx="5842635" cy="1272540"/>
          </a:xfrm>
        </p:grpSpPr>
        <p:sp>
          <p:nvSpPr>
            <p:cNvPr id="65" name="Rectangle 65"/>
            <p:cNvSpPr/>
            <p:nvPr/>
          </p:nvSpPr>
          <p:spPr>
            <a:xfrm>
              <a:off x="5815965" y="4133850"/>
              <a:ext cx="5842635" cy="1272540"/>
            </a:xfrm>
            <a:prstGeom prst="roundRect">
              <a:avLst>
                <a:gd name="adj" fmla="val 1047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008370" y="432625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091809" y="436054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两条结论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858762" y="436626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比较次数等于结点所在的层数加一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016942" y="475583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172962" y="4699635"/>
              <a:ext cx="45026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查找成功的比较次数 = 该结点的深度 + 1，最多 h + 1 次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016942" y="505872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172962" y="5002530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查找失败时停在某个空指针上，这个位置正是后面插入要用的位置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4" name="Rectangle 7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0892" y="6023610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记住失败停下来的那个空位置，插入算法就是在这个位置挂一个新结点。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二叉查找树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插入：查找失败的位置就是新结点的位置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417145" cy="308039"/>
            <a:chOff x="525399" y="1550194"/>
            <a:chExt cx="741714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41714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在树中插入关键词 K，插入后仍是二叉查找树；若树中已有 K，则不重复插入。</a:t>
              </a:r>
            </a:p>
          </p:txBody>
        </p:sp>
      </p:grpSp>
      <p:grpSp>
        <p:nvGrpSpPr>
          <p:cNvPr id="10" name="c1-text-1"/>
          <p:cNvGrpSpPr/>
          <p:nvPr/>
        </p:nvGrpSpPr>
        <p:grpSpPr>
          <a:xfrm>
            <a:off x="526923" y="1988344"/>
            <a:ext cx="910277" cy="249364"/>
            <a:chOff x="526923" y="1988344"/>
            <a:chExt cx="910277" cy="249364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88344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 8 之前</a:t>
              </a:r>
            </a:p>
          </p:txBody>
        </p:sp>
      </p:grpSp>
      <p:grpSp>
        <p:nvGrpSpPr>
          <p:cNvPr id="28" name="c1-tree-2"/>
          <p:cNvGrpSpPr/>
          <p:nvPr/>
        </p:nvGrpSpPr>
        <p:grpSpPr>
          <a:xfrm>
            <a:off x="1119188" y="2594610"/>
            <a:ext cx="3920490" cy="2123122"/>
            <a:chOff x="1119188" y="2594610"/>
            <a:chExt cx="3920490" cy="2123122"/>
          </a:xfrm>
        </p:grpSpPr>
        <p:sp>
          <p:nvSpPr>
            <p:cNvPr id="11" name="Freeform 11"/>
            <p:cNvSpPr/>
            <p:nvPr/>
          </p:nvSpPr>
          <p:spPr>
            <a:xfrm>
              <a:off x="1328738" y="3655695"/>
              <a:ext cx="796290" cy="852488"/>
            </a:xfrm>
            <a:custGeom>
              <a:avLst/>
              <a:gdLst/>
              <a:ahLst/>
              <a:cxnLst/>
              <a:rect l="l" t="t" r="r" b="b"/>
              <a:pathLst>
                <a:path w="796290" h="852488">
                  <a:moveTo>
                    <a:pt x="796290" y="0"/>
                  </a:moveTo>
                  <a:lnTo>
                    <a:pt x="0" y="8524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125028" y="3655695"/>
              <a:ext cx="795338" cy="852488"/>
            </a:xfrm>
            <a:custGeom>
              <a:avLst/>
              <a:gdLst/>
              <a:ahLst/>
              <a:cxnLst/>
              <a:rect l="l" t="t" r="r" b="b"/>
              <a:pathLst>
                <a:path w="795338" h="852488">
                  <a:moveTo>
                    <a:pt x="0" y="0"/>
                  </a:moveTo>
                  <a:lnTo>
                    <a:pt x="795338" y="8524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511040" y="3655695"/>
              <a:ext cx="319088" cy="852488"/>
            </a:xfrm>
            <a:custGeom>
              <a:avLst/>
              <a:gdLst/>
              <a:ahLst/>
              <a:cxnLst/>
              <a:rect l="l" t="t" r="r" b="b"/>
              <a:pathLst>
                <a:path w="319088" h="852488">
                  <a:moveTo>
                    <a:pt x="319088" y="0"/>
                  </a:moveTo>
                  <a:lnTo>
                    <a:pt x="0" y="8524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125028" y="2804160"/>
              <a:ext cx="1113472" cy="851535"/>
            </a:xfrm>
            <a:custGeom>
              <a:avLst/>
              <a:gdLst/>
              <a:ahLst/>
              <a:cxnLst/>
              <a:rect l="l" t="t" r="r" b="b"/>
              <a:pathLst>
                <a:path w="1113472" h="851535">
                  <a:moveTo>
                    <a:pt x="1113472" y="0"/>
                  </a:moveTo>
                  <a:lnTo>
                    <a:pt x="0" y="8515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238500" y="2804160"/>
              <a:ext cx="1591628" cy="851535"/>
            </a:xfrm>
            <a:custGeom>
              <a:avLst/>
              <a:gdLst/>
              <a:ahLst/>
              <a:cxnLst/>
              <a:rect l="l" t="t" r="r" b="b"/>
              <a:pathLst>
                <a:path w="1591628" h="851535">
                  <a:moveTo>
                    <a:pt x="0" y="0"/>
                  </a:moveTo>
                  <a:lnTo>
                    <a:pt x="1591628" y="8515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119188" y="429863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710815" y="4298632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915478" y="344614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301490" y="429863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620578" y="344614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028950" y="259461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75996" y="44329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67623" y="44329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72286" y="35814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11652" y="44329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30740" y="358140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39112" y="272986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35" name="c1-callout-3"/>
          <p:cNvGrpSpPr/>
          <p:nvPr/>
        </p:nvGrpSpPr>
        <p:grpSpPr>
          <a:xfrm>
            <a:off x="533400" y="5124450"/>
            <a:ext cx="5410200" cy="533400"/>
            <a:chOff x="533400" y="5124450"/>
            <a:chExt cx="5410200" cy="533400"/>
          </a:xfrm>
        </p:grpSpPr>
        <p:sp>
          <p:nvSpPr>
            <p:cNvPr id="29" name="Rectangle 29"/>
            <p:cNvSpPr/>
            <p:nvPr/>
          </p:nvSpPr>
          <p:spPr>
            <a:xfrm>
              <a:off x="533400" y="5124450"/>
              <a:ext cx="5410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291138"/>
              <a:ext cx="200026" cy="200026"/>
              <a:chOff x="738188" y="5291138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2911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3578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088" y="53911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286375"/>
              <a:ext cx="44778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 8 的路径是 10 → 5 → 9，在 9 的左指针处失败。</a:t>
              </a:r>
            </a:p>
          </p:txBody>
        </p:sp>
      </p:grpSp>
      <p:grpSp>
        <p:nvGrpSpPr>
          <p:cNvPr id="37" name="c2-text-1"/>
          <p:cNvGrpSpPr/>
          <p:nvPr/>
        </p:nvGrpSpPr>
        <p:grpSpPr>
          <a:xfrm>
            <a:off x="6241923" y="1988344"/>
            <a:ext cx="910277" cy="249364"/>
            <a:chOff x="6241923" y="1988344"/>
            <a:chExt cx="910277" cy="249364"/>
          </a:xfrm>
        </p:grpSpPr>
        <p:sp>
          <p:nvSpPr>
            <p:cNvPr id="36" name="TextBox 36"/>
            <p:cNvSpPr txBox="1"/>
            <p:nvPr/>
          </p:nvSpPr>
          <p:spPr>
            <a:xfrm>
              <a:off x="6241923" y="1988344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 8 之后</a:t>
              </a:r>
            </a:p>
          </p:txBody>
        </p:sp>
      </p:grpSp>
      <p:grpSp>
        <p:nvGrpSpPr>
          <p:cNvPr id="58" name="c2-tree-2"/>
          <p:cNvGrpSpPr/>
          <p:nvPr/>
        </p:nvGrpSpPr>
        <p:grpSpPr>
          <a:xfrm>
            <a:off x="6750368" y="2456498"/>
            <a:ext cx="4121467" cy="2148840"/>
            <a:chOff x="6750368" y="2456498"/>
            <a:chExt cx="4121467" cy="2148840"/>
          </a:xfrm>
        </p:grpSpPr>
        <p:sp>
          <p:nvSpPr>
            <p:cNvPr id="38" name="Freeform 38"/>
            <p:cNvSpPr/>
            <p:nvPr/>
          </p:nvSpPr>
          <p:spPr>
            <a:xfrm>
              <a:off x="8383905" y="3819525"/>
              <a:ext cx="284797" cy="576262"/>
            </a:xfrm>
            <a:custGeom>
              <a:avLst/>
              <a:gdLst/>
              <a:ahLst/>
              <a:cxnLst/>
              <a:rect l="l" t="t" r="r" b="b"/>
              <a:pathLst>
                <a:path w="284797" h="576262">
                  <a:moveTo>
                    <a:pt x="284797" y="0"/>
                  </a:moveTo>
                  <a:lnTo>
                    <a:pt x="0" y="5762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959918" y="3243262"/>
              <a:ext cx="997267" cy="576262"/>
            </a:xfrm>
            <a:custGeom>
              <a:avLst/>
              <a:gdLst/>
              <a:ahLst/>
              <a:cxnLst/>
              <a:rect l="l" t="t" r="r" b="b"/>
              <a:pathLst>
                <a:path w="997267" h="576262">
                  <a:moveTo>
                    <a:pt x="997267" y="0"/>
                  </a:moveTo>
                  <a:lnTo>
                    <a:pt x="0" y="5762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957185" y="3243262"/>
              <a:ext cx="711518" cy="576262"/>
            </a:xfrm>
            <a:custGeom>
              <a:avLst/>
              <a:gdLst/>
              <a:ahLst/>
              <a:cxnLst/>
              <a:rect l="l" t="t" r="r" b="b"/>
              <a:pathLst>
                <a:path w="711518" h="576262">
                  <a:moveTo>
                    <a:pt x="0" y="0"/>
                  </a:moveTo>
                  <a:lnTo>
                    <a:pt x="711518" y="5762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377488" y="3243262"/>
              <a:ext cx="284798" cy="576262"/>
            </a:xfrm>
            <a:custGeom>
              <a:avLst/>
              <a:gdLst/>
              <a:ahLst/>
              <a:cxnLst/>
              <a:rect l="l" t="t" r="r" b="b"/>
              <a:pathLst>
                <a:path w="284798" h="576262">
                  <a:moveTo>
                    <a:pt x="284798" y="0"/>
                  </a:moveTo>
                  <a:lnTo>
                    <a:pt x="0" y="5762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957185" y="2666048"/>
              <a:ext cx="996315" cy="577215"/>
            </a:xfrm>
            <a:custGeom>
              <a:avLst/>
              <a:gdLst/>
              <a:ahLst/>
              <a:cxnLst/>
              <a:rect l="l" t="t" r="r" b="b"/>
              <a:pathLst>
                <a:path w="996315" h="577215">
                  <a:moveTo>
                    <a:pt x="996315" y="0"/>
                  </a:moveTo>
                  <a:lnTo>
                    <a:pt x="0" y="5772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953500" y="2666048"/>
              <a:ext cx="1708785" cy="577215"/>
            </a:xfrm>
            <a:custGeom>
              <a:avLst/>
              <a:gdLst/>
              <a:ahLst/>
              <a:cxnLst/>
              <a:rect l="l" t="t" r="r" b="b"/>
              <a:pathLst>
                <a:path w="1708785" h="577215">
                  <a:moveTo>
                    <a:pt x="0" y="0"/>
                  </a:moveTo>
                  <a:lnTo>
                    <a:pt x="1708785" y="5772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750368" y="360997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174355" y="4186238"/>
              <a:ext cx="419100" cy="4191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8459152" y="360997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7747635" y="303371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10167938" y="360997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10452735" y="303371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743950" y="245649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07176" y="37452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31163" y="43214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15961" y="37452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04443" y="31680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78100" y="374523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562897" y="31680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854112" y="259175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64" name="c2-callout-3"/>
          <p:cNvGrpSpPr/>
          <p:nvPr/>
        </p:nvGrpSpPr>
        <p:grpSpPr>
          <a:xfrm>
            <a:off x="6248400" y="4874895"/>
            <a:ext cx="5410200" cy="782955"/>
            <a:chOff x="6248400" y="4874895"/>
            <a:chExt cx="5410200" cy="782955"/>
          </a:xfrm>
        </p:grpSpPr>
        <p:sp>
          <p:nvSpPr>
            <p:cNvPr id="59" name="Rectangle 59"/>
            <p:cNvSpPr/>
            <p:nvPr/>
          </p:nvSpPr>
          <p:spPr>
            <a:xfrm>
              <a:off x="6248400" y="487489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453188" y="5166362"/>
              <a:ext cx="200023" cy="200023"/>
              <a:chOff x="6453188" y="5166362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53188" y="51663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586538" y="52330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755130" y="502348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新结点一定是叶结点，插入只改一个指针，其余结点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的关系全不变。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5" name="Rectangle 6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130" y="5991225"/>
              <a:ext cx="99300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插入不会改变已有结点的相对次序，所以插完仍然是二叉查找树：这是“在失败处插入”这个做法的正确性来源。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二叉查找树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插入要改根指针，所以不能按值传参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454277" cy="293370"/>
            <a:chOff x="525780" y="1548765"/>
            <a:chExt cx="9454277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454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查找不改树形，插入和删除会改。函数里对根指针的修改必须能带回调用处，大厂面试题 LeetCode 701。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5626418" cy="1450658"/>
            <a:chOff x="533400" y="1954530"/>
            <a:chExt cx="5626418" cy="145065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626418" cy="1450658"/>
            </a:xfrm>
            <a:prstGeom prst="roundRect">
              <a:avLst>
                <a:gd name="adj" fmla="val 65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20020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方案 1 · 引用参数（本课程采用）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67915"/>
              <a:ext cx="3751136" cy="963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Insert(BSTnode* &amp;root,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(root == NULL) root =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BSTnode(K);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root-&gt;key) Insert(root-&gt;left, K);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&gt; root-&gt;key) Insert(root-&gt;right, K);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585210"/>
            <a:ext cx="5626418" cy="2019300"/>
            <a:chOff x="533400" y="3585210"/>
            <a:chExt cx="5626418" cy="2019300"/>
          </a:xfrm>
        </p:grpSpPr>
        <p:sp>
          <p:nvSpPr>
            <p:cNvPr id="13" name="Rectangle 13"/>
            <p:cNvSpPr/>
            <p:nvPr/>
          </p:nvSpPr>
          <p:spPr>
            <a:xfrm>
              <a:off x="533400" y="3585210"/>
              <a:ext cx="5626418" cy="2019300"/>
            </a:xfrm>
            <a:prstGeom prst="roundRect">
              <a:avLst>
                <a:gd name="adj" fmla="val 47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737134"/>
              <a:ext cx="17381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方案 2 · 把新的根指针返回去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416" y="3998595"/>
              <a:ext cx="3384423" cy="1532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BSTnode* Insert2(BSTnode* root,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(root == NULL) root =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BSTnode(K);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root-&gt;key)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root-&gt;left = Insert2(root-&gt;left, K);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&gt; root-&gt;key)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root-&gt;right = Insert2(root-&gt;right, K);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464618" y="1954530"/>
            <a:ext cx="5193982" cy="2453640"/>
            <a:chOff x="6464618" y="1954530"/>
            <a:chExt cx="5193982" cy="2453640"/>
          </a:xfrm>
        </p:grpSpPr>
        <p:sp>
          <p:nvSpPr>
            <p:cNvPr id="17" name="Rectangle 17"/>
            <p:cNvSpPr/>
            <p:nvPr/>
          </p:nvSpPr>
          <p:spPr>
            <a:xfrm>
              <a:off x="6464618" y="1954530"/>
              <a:ext cx="5193982" cy="2453640"/>
            </a:xfrm>
            <a:prstGeom prst="roundRect">
              <a:avLst>
                <a:gd name="adj" fmla="val 54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74142" y="2087880"/>
              <a:ext cx="47625" cy="21869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700838" y="215265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84277" y="21869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错误方案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0848" y="2187416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按值传指针，函数退出后树还是空的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93598" y="2531269"/>
              <a:ext cx="448691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形参 root 只是实参的一份副本，函数里让副本指向新结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点，实参没有任何变化。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700838" y="3096578"/>
              <a:ext cx="4759642" cy="1095375"/>
            </a:xfrm>
            <a:prstGeom prst="roundRect">
              <a:avLst>
                <a:gd name="adj" fmla="val 869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29234" y="3248501"/>
              <a:ext cx="10511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类比：给变量加 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29425" y="3507295"/>
              <a:ext cx="2879598" cy="599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55"/>
                </a:lnSpc>
              </a:pPr>
              <a:r>
                <a:rPr lang="en-US" sz="8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increase(</a:t>
              </a:r>
              <a:r>
                <a:rPr lang="en-US" sz="8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x) { x++; }      </a:t>
              </a:r>
              <a:r>
                <a:rPr lang="zh-CN" sz="81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错：改的是副本</a:t>
              </a:r>
              <a:br/>
              <a:r>
                <a:rPr lang="en-US" sz="8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increase(</a:t>
              </a:r>
              <a:r>
                <a:rPr lang="en-US" sz="8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&amp;x) { x++; }     </a:t>
              </a:r>
              <a:r>
                <a:rPr lang="zh-CN" sz="81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方案1：引用</a:t>
              </a:r>
              <a:br/>
              <a:r>
                <a:rPr lang="en-US" sz="8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increase(</a:t>
              </a:r>
              <a:r>
                <a:rPr lang="en-US" sz="8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x) { x++;        </a:t>
              </a:r>
              <a:r>
                <a:rPr lang="zh-CN" sz="81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方案2：返回</a:t>
              </a:r>
              <a:br/>
              <a:r>
                <a:rPr lang="zh-CN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</a:t>
              </a:r>
              <a:r>
                <a:rPr lang="en-US" sz="8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x; }</a:t>
              </a:r>
            </a:p>
          </p:txBody>
        </p:sp>
      </p:grpSp>
      <p:grpSp>
        <p:nvGrpSpPr>
          <p:cNvPr id="32" name="c2-callout-2"/>
          <p:cNvGrpSpPr/>
          <p:nvPr/>
        </p:nvGrpSpPr>
        <p:grpSpPr>
          <a:xfrm>
            <a:off x="6464618" y="4589145"/>
            <a:ext cx="5193982" cy="1015365"/>
            <a:chOff x="6464618" y="4589145"/>
            <a:chExt cx="5193982" cy="1015365"/>
          </a:xfrm>
        </p:grpSpPr>
        <p:sp>
          <p:nvSpPr>
            <p:cNvPr id="27" name="Rectangle 27"/>
            <p:cNvSpPr/>
            <p:nvPr/>
          </p:nvSpPr>
          <p:spPr>
            <a:xfrm>
              <a:off x="6464618" y="4589145"/>
              <a:ext cx="5193982" cy="1015365"/>
            </a:xfrm>
            <a:prstGeom prst="roundRect">
              <a:avLst>
                <a:gd name="adj" fmla="val 11257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669405" y="4996817"/>
              <a:ext cx="200023" cy="200023"/>
              <a:chOff x="6669405" y="4996817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669405" y="49968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802755" y="50634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971729" y="4865846"/>
              <a:ext cx="418033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判断标准很简单：这个函数会不会改变“谁是根”。会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改就必须用引用参数或者返回新的根指针。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3" name="Rectangle 33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511" y="6011704"/>
              <a:ext cx="91694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实测：值传递版本插入后树仍为 NULL，引用版与返回版都正确，验证代码见 decks/ds/ds_l23_code.cpp。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二叉查找树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删除（一）：叶结点直接摘，独生子女顶班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126590" cy="308039"/>
            <a:chOff x="525399" y="1550194"/>
            <a:chExt cx="71265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1265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删除关键词为 K 的结点，删完仍是二叉查找树；树中没有 K 时什么也不做。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67865"/>
            <a:ext cx="5410200" cy="1335405"/>
            <a:chOff x="533400" y="1967865"/>
            <a:chExt cx="5410200" cy="133540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7793" y="221313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情况 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08760" y="2212658"/>
              <a:ext cx="20230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没有孩子，直接删掉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663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把父结点指向它的那个指针置空，再释放结点。删除 12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之后，15 的左指针变为空。</a:t>
              </a:r>
            </a:p>
          </p:txBody>
        </p:sp>
      </p:grpSp>
      <p:grpSp>
        <p:nvGrpSpPr>
          <p:cNvPr id="34" name="c1-tree-2"/>
          <p:cNvGrpSpPr/>
          <p:nvPr/>
        </p:nvGrpSpPr>
        <p:grpSpPr>
          <a:xfrm>
            <a:off x="1119188" y="3615690"/>
            <a:ext cx="3920490" cy="1979294"/>
            <a:chOff x="1119188" y="3615690"/>
            <a:chExt cx="3920490" cy="1979294"/>
          </a:xfrm>
        </p:grpSpPr>
        <p:sp>
          <p:nvSpPr>
            <p:cNvPr id="16" name="Freeform 16"/>
            <p:cNvSpPr/>
            <p:nvPr/>
          </p:nvSpPr>
          <p:spPr>
            <a:xfrm>
              <a:off x="1328738" y="4490085"/>
              <a:ext cx="796290" cy="663893"/>
            </a:xfrm>
            <a:custGeom>
              <a:avLst/>
              <a:gdLst/>
              <a:ahLst/>
              <a:cxnLst/>
              <a:rect l="l" t="t" r="r" b="b"/>
              <a:pathLst>
                <a:path w="796290" h="663893">
                  <a:moveTo>
                    <a:pt x="796290" y="0"/>
                  </a:moveTo>
                  <a:lnTo>
                    <a:pt x="0" y="6638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125028" y="4490085"/>
              <a:ext cx="795338" cy="663893"/>
            </a:xfrm>
            <a:custGeom>
              <a:avLst/>
              <a:gdLst/>
              <a:ahLst/>
              <a:cxnLst/>
              <a:rect l="l" t="t" r="r" b="b"/>
              <a:pathLst>
                <a:path w="795338" h="663893">
                  <a:moveTo>
                    <a:pt x="0" y="0"/>
                  </a:moveTo>
                  <a:lnTo>
                    <a:pt x="795338" y="6638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511040" y="4490085"/>
              <a:ext cx="319088" cy="663893"/>
            </a:xfrm>
            <a:custGeom>
              <a:avLst/>
              <a:gdLst/>
              <a:ahLst/>
              <a:cxnLst/>
              <a:rect l="l" t="t" r="r" b="b"/>
              <a:pathLst>
                <a:path w="319088" h="663893">
                  <a:moveTo>
                    <a:pt x="319088" y="0"/>
                  </a:moveTo>
                  <a:lnTo>
                    <a:pt x="0" y="6638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125028" y="3825240"/>
              <a:ext cx="1113472" cy="664845"/>
            </a:xfrm>
            <a:custGeom>
              <a:avLst/>
              <a:gdLst/>
              <a:ahLst/>
              <a:cxnLst/>
              <a:rect l="l" t="t" r="r" b="b"/>
              <a:pathLst>
                <a:path w="1113472" h="664845">
                  <a:moveTo>
                    <a:pt x="1113472" y="0"/>
                  </a:moveTo>
                  <a:lnTo>
                    <a:pt x="0" y="6648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238500" y="3825240"/>
              <a:ext cx="1591628" cy="664845"/>
            </a:xfrm>
            <a:custGeom>
              <a:avLst/>
              <a:gdLst/>
              <a:ahLst/>
              <a:cxnLst/>
              <a:rect l="l" t="t" r="r" b="b"/>
              <a:pathLst>
                <a:path w="1591628" h="664845">
                  <a:moveTo>
                    <a:pt x="0" y="0"/>
                  </a:moveTo>
                  <a:lnTo>
                    <a:pt x="1591628" y="6648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119188" y="494442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2710815" y="494442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915478" y="428053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301490" y="4944428"/>
              <a:ext cx="419100" cy="4191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620578" y="428053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3028950" y="361569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75996" y="50796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67623" y="50796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72286" y="441483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11652" y="507968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85120" y="541877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要删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30740" y="441483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39112" y="375094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248400" y="1967865"/>
            <a:ext cx="5410200" cy="1335405"/>
            <a:chOff x="6248400" y="1967865"/>
            <a:chExt cx="5410200" cy="1335405"/>
          </a:xfrm>
        </p:grpSpPr>
        <p:sp>
          <p:nvSpPr>
            <p:cNvPr id="35" name="Rectangle 35"/>
            <p:cNvSpPr/>
            <p:nvPr/>
          </p:nvSpPr>
          <p:spPr>
            <a:xfrm>
              <a:off x="6248400" y="1967865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2101215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96050" y="217741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82793" y="221313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情况 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23760" y="2212658"/>
              <a:ext cx="2468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只有 1 个孩子，子承父业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88430" y="2573655"/>
              <a:ext cx="4634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让这个唯一的孩子顶替 K 的位置。删除 15 之后，10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右孩子变成 12，12 的左孩子仍是 11。</a:t>
              </a:r>
            </a:p>
          </p:txBody>
        </p:sp>
      </p:grpSp>
      <p:grpSp>
        <p:nvGrpSpPr>
          <p:cNvPr id="62" name="c2-tree-2"/>
          <p:cNvGrpSpPr/>
          <p:nvPr/>
        </p:nvGrpSpPr>
        <p:grpSpPr>
          <a:xfrm>
            <a:off x="6750368" y="3554730"/>
            <a:ext cx="3836670" cy="2042160"/>
            <a:chOff x="6750368" y="3554730"/>
            <a:chExt cx="3836670" cy="2042160"/>
          </a:xfrm>
        </p:grpSpPr>
        <p:sp>
          <p:nvSpPr>
            <p:cNvPr id="42" name="Freeform 42"/>
            <p:cNvSpPr/>
            <p:nvPr/>
          </p:nvSpPr>
          <p:spPr>
            <a:xfrm>
              <a:off x="6959918" y="4305300"/>
              <a:ext cx="712470" cy="541020"/>
            </a:xfrm>
            <a:custGeom>
              <a:avLst/>
              <a:gdLst/>
              <a:ahLst/>
              <a:cxnLst/>
              <a:rect l="l" t="t" r="r" b="b"/>
              <a:pathLst>
                <a:path w="712470" h="541020">
                  <a:moveTo>
                    <a:pt x="712470" y="0"/>
                  </a:moveTo>
                  <a:lnTo>
                    <a:pt x="0" y="5410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672388" y="4305300"/>
              <a:ext cx="711518" cy="541020"/>
            </a:xfrm>
            <a:custGeom>
              <a:avLst/>
              <a:gdLst/>
              <a:ahLst/>
              <a:cxnLst/>
              <a:rect l="l" t="t" r="r" b="b"/>
              <a:pathLst>
                <a:path w="711518" h="541020">
                  <a:moveTo>
                    <a:pt x="0" y="0"/>
                  </a:moveTo>
                  <a:lnTo>
                    <a:pt x="711518" y="5410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807892" y="4846320"/>
              <a:ext cx="284797" cy="541020"/>
            </a:xfrm>
            <a:custGeom>
              <a:avLst/>
              <a:gdLst/>
              <a:ahLst/>
              <a:cxnLst/>
              <a:rect l="l" t="t" r="r" b="b"/>
              <a:pathLst>
                <a:path w="284797" h="541020">
                  <a:moveTo>
                    <a:pt x="284797" y="0"/>
                  </a:moveTo>
                  <a:lnTo>
                    <a:pt x="0" y="5410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092690" y="4305300"/>
              <a:ext cx="284798" cy="541020"/>
            </a:xfrm>
            <a:custGeom>
              <a:avLst/>
              <a:gdLst/>
              <a:ahLst/>
              <a:cxnLst/>
              <a:rect l="l" t="t" r="r" b="b"/>
              <a:pathLst>
                <a:path w="284798" h="541020">
                  <a:moveTo>
                    <a:pt x="284798" y="0"/>
                  </a:moveTo>
                  <a:lnTo>
                    <a:pt x="0" y="5410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672388" y="3764280"/>
              <a:ext cx="1281112" cy="541020"/>
            </a:xfrm>
            <a:custGeom>
              <a:avLst/>
              <a:gdLst/>
              <a:ahLst/>
              <a:cxnLst/>
              <a:rect l="l" t="t" r="r" b="b"/>
              <a:pathLst>
                <a:path w="1281112" h="541020">
                  <a:moveTo>
                    <a:pt x="1281112" y="0"/>
                  </a:moveTo>
                  <a:lnTo>
                    <a:pt x="0" y="5410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953500" y="3764280"/>
              <a:ext cx="1423988" cy="541020"/>
            </a:xfrm>
            <a:custGeom>
              <a:avLst/>
              <a:gdLst/>
              <a:ahLst/>
              <a:cxnLst/>
              <a:rect l="l" t="t" r="r" b="b"/>
              <a:pathLst>
                <a:path w="1423988" h="541020">
                  <a:moveTo>
                    <a:pt x="0" y="0"/>
                  </a:moveTo>
                  <a:lnTo>
                    <a:pt x="1423988" y="5410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750368" y="46367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8174355" y="46367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7462838" y="409575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9598342" y="517779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9883140" y="4636770"/>
              <a:ext cx="419100" cy="4191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10167938" y="4095750"/>
              <a:ext cx="419100" cy="4191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8743950" y="355473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907176" y="477107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31163" y="477107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19646" y="42300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708505" y="531304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93302" y="477107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78100" y="423005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854112" y="368903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3" name="Rectangle 6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130" y="5991225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这两种情况都只改一个指针。子树内部的次序没动过，所以删完自然还是二叉查找树。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二叉查找树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删除（二）：有两个孩子时，用中根后继顶上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008981" cy="308039"/>
            <a:chOff x="525399" y="1550194"/>
            <a:chExt cx="900898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00898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 K 的右子树里找关键词最小的结点 s，把 s 的关键词搬到 K 的位置上，再回去删掉原来的 s。</a:t>
              </a:r>
            </a:p>
          </p:txBody>
        </p:sp>
      </p:grpSp>
      <p:grpSp>
        <p:nvGrpSpPr>
          <p:cNvPr id="10" name="c1-text-1"/>
          <p:cNvGrpSpPr/>
          <p:nvPr/>
        </p:nvGrpSpPr>
        <p:grpSpPr>
          <a:xfrm>
            <a:off x="526923" y="1988344"/>
            <a:ext cx="1009788" cy="249364"/>
            <a:chOff x="526923" y="1988344"/>
            <a:chExt cx="1009788" cy="249364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88344"/>
              <a:ext cx="1009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 10 之前</a:t>
              </a:r>
            </a:p>
          </p:txBody>
        </p:sp>
      </p:grpSp>
      <p:grpSp>
        <p:nvGrpSpPr>
          <p:cNvPr id="37" name="c1-tree-2"/>
          <p:cNvGrpSpPr/>
          <p:nvPr/>
        </p:nvGrpSpPr>
        <p:grpSpPr>
          <a:xfrm>
            <a:off x="887730" y="2424112"/>
            <a:ext cx="4701540" cy="2464118"/>
            <a:chOff x="887730" y="2424112"/>
            <a:chExt cx="4701540" cy="2464118"/>
          </a:xfrm>
        </p:grpSpPr>
        <p:sp>
          <p:nvSpPr>
            <p:cNvPr id="11" name="Freeform 11"/>
            <p:cNvSpPr/>
            <p:nvPr/>
          </p:nvSpPr>
          <p:spPr>
            <a:xfrm>
              <a:off x="1097280" y="3145155"/>
              <a:ext cx="562928" cy="510540"/>
            </a:xfrm>
            <a:custGeom>
              <a:avLst/>
              <a:gdLst/>
              <a:ahLst/>
              <a:cxnLst/>
              <a:rect l="l" t="t" r="r" b="b"/>
              <a:pathLst>
                <a:path w="562928" h="510540">
                  <a:moveTo>
                    <a:pt x="562928" y="0"/>
                  </a:moveTo>
                  <a:lnTo>
                    <a:pt x="0" y="5105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60208" y="3145155"/>
              <a:ext cx="563880" cy="510540"/>
            </a:xfrm>
            <a:custGeom>
              <a:avLst/>
              <a:gdLst/>
              <a:ahLst/>
              <a:cxnLst/>
              <a:rect l="l" t="t" r="r" b="b"/>
              <a:pathLst>
                <a:path w="563880" h="510540">
                  <a:moveTo>
                    <a:pt x="0" y="0"/>
                  </a:moveTo>
                  <a:lnTo>
                    <a:pt x="563880" y="5105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576638" y="4167188"/>
              <a:ext cx="225742" cy="511492"/>
            </a:xfrm>
            <a:custGeom>
              <a:avLst/>
              <a:gdLst/>
              <a:ahLst/>
              <a:cxnLst/>
              <a:rect l="l" t="t" r="r" b="b"/>
              <a:pathLst>
                <a:path w="225742" h="511492">
                  <a:moveTo>
                    <a:pt x="0" y="0"/>
                  </a:moveTo>
                  <a:lnTo>
                    <a:pt x="225742" y="5114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576638" y="3655695"/>
              <a:ext cx="225742" cy="511492"/>
            </a:xfrm>
            <a:custGeom>
              <a:avLst/>
              <a:gdLst/>
              <a:ahLst/>
              <a:cxnLst/>
              <a:rect l="l" t="t" r="r" b="b"/>
              <a:pathLst>
                <a:path w="225742" h="511492">
                  <a:moveTo>
                    <a:pt x="225742" y="0"/>
                  </a:moveTo>
                  <a:lnTo>
                    <a:pt x="0" y="5114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02380" y="3145155"/>
              <a:ext cx="562928" cy="510540"/>
            </a:xfrm>
            <a:custGeom>
              <a:avLst/>
              <a:gdLst/>
              <a:ahLst/>
              <a:cxnLst/>
              <a:rect l="l" t="t" r="r" b="b"/>
              <a:pathLst>
                <a:path w="562928" h="510540">
                  <a:moveTo>
                    <a:pt x="562928" y="0"/>
                  </a:moveTo>
                  <a:lnTo>
                    <a:pt x="0" y="5105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365308" y="3145155"/>
              <a:ext cx="1014412" cy="510540"/>
            </a:xfrm>
            <a:custGeom>
              <a:avLst/>
              <a:gdLst/>
              <a:ahLst/>
              <a:cxnLst/>
              <a:rect l="l" t="t" r="r" b="b"/>
              <a:pathLst>
                <a:path w="1014412" h="510540">
                  <a:moveTo>
                    <a:pt x="0" y="0"/>
                  </a:moveTo>
                  <a:lnTo>
                    <a:pt x="1014412" y="5105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660208" y="2633662"/>
              <a:ext cx="1578292" cy="511492"/>
            </a:xfrm>
            <a:custGeom>
              <a:avLst/>
              <a:gdLst/>
              <a:ahLst/>
              <a:cxnLst/>
              <a:rect l="l" t="t" r="r" b="b"/>
              <a:pathLst>
                <a:path w="1578292" h="511492">
                  <a:moveTo>
                    <a:pt x="1578292" y="0"/>
                  </a:moveTo>
                  <a:lnTo>
                    <a:pt x="0" y="5114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238500" y="2633662"/>
              <a:ext cx="1126808" cy="511492"/>
            </a:xfrm>
            <a:custGeom>
              <a:avLst/>
              <a:gdLst/>
              <a:ahLst/>
              <a:cxnLst/>
              <a:rect l="l" t="t" r="r" b="b"/>
              <a:pathLst>
                <a:path w="1126808" h="511492">
                  <a:moveTo>
                    <a:pt x="0" y="0"/>
                  </a:moveTo>
                  <a:lnTo>
                    <a:pt x="1126808" y="5114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87730" y="344614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014538" y="344614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450658" y="293560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592830" y="446913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367088" y="3957638"/>
              <a:ext cx="419100" cy="4191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592830" y="344614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170170" y="344614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4155758" y="293560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3028950" y="242411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44538" y="35814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71346" y="35814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07466" y="306990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02992" y="460343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77250" y="40928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02992" y="358140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80332" y="358140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65920" y="306990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39112" y="25593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44" name="c1-callout-3"/>
          <p:cNvGrpSpPr/>
          <p:nvPr/>
        </p:nvGrpSpPr>
        <p:grpSpPr>
          <a:xfrm>
            <a:off x="533400" y="5124450"/>
            <a:ext cx="5410200" cy="533400"/>
            <a:chOff x="533400" y="5124450"/>
            <a:chExt cx="5410200" cy="533400"/>
          </a:xfrm>
        </p:grpSpPr>
        <p:sp>
          <p:nvSpPr>
            <p:cNvPr id="38" name="Rectangle 38"/>
            <p:cNvSpPr/>
            <p:nvPr/>
          </p:nvSpPr>
          <p:spPr>
            <a:xfrm>
              <a:off x="533400" y="5124450"/>
              <a:ext cx="5410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291138"/>
              <a:ext cx="200026" cy="200026"/>
              <a:chOff x="738188" y="5291138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2911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53578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27088" y="53911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5286375"/>
              <a:ext cx="4417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的中根后继是右子树里一路向左走到底的 12。</a:t>
              </a:r>
            </a:p>
          </p:txBody>
        </p:sp>
      </p:grpSp>
      <p:grpSp>
        <p:nvGrpSpPr>
          <p:cNvPr id="46" name="c2-text-1"/>
          <p:cNvGrpSpPr/>
          <p:nvPr/>
        </p:nvGrpSpPr>
        <p:grpSpPr>
          <a:xfrm>
            <a:off x="6241923" y="1988344"/>
            <a:ext cx="1009788" cy="249364"/>
            <a:chOff x="6241923" y="1988344"/>
            <a:chExt cx="1009788" cy="249364"/>
          </a:xfrm>
        </p:grpSpPr>
        <p:sp>
          <p:nvSpPr>
            <p:cNvPr id="45" name="TextBox 45"/>
            <p:cNvSpPr txBox="1"/>
            <p:nvPr/>
          </p:nvSpPr>
          <p:spPr>
            <a:xfrm>
              <a:off x="6241923" y="1988344"/>
              <a:ext cx="1009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 10 之后</a:t>
              </a:r>
            </a:p>
          </p:txBody>
        </p:sp>
      </p:grpSp>
      <p:grpSp>
        <p:nvGrpSpPr>
          <p:cNvPr id="70" name="c2-tree-2"/>
          <p:cNvGrpSpPr/>
          <p:nvPr/>
        </p:nvGrpSpPr>
        <p:grpSpPr>
          <a:xfrm>
            <a:off x="6653212" y="2456498"/>
            <a:ext cx="4600576" cy="2148840"/>
            <a:chOff x="6653212" y="2456498"/>
            <a:chExt cx="4600576" cy="2148840"/>
          </a:xfrm>
        </p:grpSpPr>
        <p:sp>
          <p:nvSpPr>
            <p:cNvPr id="47" name="Freeform 47"/>
            <p:cNvSpPr/>
            <p:nvPr/>
          </p:nvSpPr>
          <p:spPr>
            <a:xfrm>
              <a:off x="6862762" y="3243262"/>
              <a:ext cx="615315" cy="576262"/>
            </a:xfrm>
            <a:custGeom>
              <a:avLst/>
              <a:gdLst/>
              <a:ahLst/>
              <a:cxnLst/>
              <a:rect l="l" t="t" r="r" b="b"/>
              <a:pathLst>
                <a:path w="615315" h="576262">
                  <a:moveTo>
                    <a:pt x="615315" y="0"/>
                  </a:moveTo>
                  <a:lnTo>
                    <a:pt x="0" y="5762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478078" y="3243262"/>
              <a:ext cx="614362" cy="576262"/>
            </a:xfrm>
            <a:custGeom>
              <a:avLst/>
              <a:gdLst/>
              <a:ahLst/>
              <a:cxnLst/>
              <a:rect l="l" t="t" r="r" b="b"/>
              <a:pathLst>
                <a:path w="614362" h="576262">
                  <a:moveTo>
                    <a:pt x="0" y="0"/>
                  </a:moveTo>
                  <a:lnTo>
                    <a:pt x="614362" y="5762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322118" y="3819525"/>
              <a:ext cx="245745" cy="576262"/>
            </a:xfrm>
            <a:custGeom>
              <a:avLst/>
              <a:gdLst/>
              <a:ahLst/>
              <a:cxnLst/>
              <a:rect l="l" t="t" r="r" b="b"/>
              <a:pathLst>
                <a:path w="245745" h="576262">
                  <a:moveTo>
                    <a:pt x="245745" y="0"/>
                  </a:moveTo>
                  <a:lnTo>
                    <a:pt x="0" y="5762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567862" y="3243262"/>
              <a:ext cx="615315" cy="576262"/>
            </a:xfrm>
            <a:custGeom>
              <a:avLst/>
              <a:gdLst/>
              <a:ahLst/>
              <a:cxnLst/>
              <a:rect l="l" t="t" r="r" b="b"/>
              <a:pathLst>
                <a:path w="615315" h="576262">
                  <a:moveTo>
                    <a:pt x="615315" y="0"/>
                  </a:moveTo>
                  <a:lnTo>
                    <a:pt x="0" y="5762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183178" y="3243262"/>
              <a:ext cx="861060" cy="576262"/>
            </a:xfrm>
            <a:custGeom>
              <a:avLst/>
              <a:gdLst/>
              <a:ahLst/>
              <a:cxnLst/>
              <a:rect l="l" t="t" r="r" b="b"/>
              <a:pathLst>
                <a:path w="861060" h="576262">
                  <a:moveTo>
                    <a:pt x="0" y="0"/>
                  </a:moveTo>
                  <a:lnTo>
                    <a:pt x="861060" y="5762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478078" y="2666048"/>
              <a:ext cx="1475422" cy="577215"/>
            </a:xfrm>
            <a:custGeom>
              <a:avLst/>
              <a:gdLst/>
              <a:ahLst/>
              <a:cxnLst/>
              <a:rect l="l" t="t" r="r" b="b"/>
              <a:pathLst>
                <a:path w="1475422" h="577215">
                  <a:moveTo>
                    <a:pt x="1475422" y="0"/>
                  </a:moveTo>
                  <a:lnTo>
                    <a:pt x="0" y="5772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8953500" y="2666048"/>
              <a:ext cx="1229677" cy="577215"/>
            </a:xfrm>
            <a:custGeom>
              <a:avLst/>
              <a:gdLst/>
              <a:ahLst/>
              <a:cxnLst/>
              <a:rect l="l" t="t" r="r" b="b"/>
              <a:pathLst>
                <a:path w="1229677" h="577215">
                  <a:moveTo>
                    <a:pt x="0" y="0"/>
                  </a:moveTo>
                  <a:lnTo>
                    <a:pt x="1229677" y="5772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6653212" y="360997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7882890" y="360997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7268528" y="303371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9112568" y="4186238"/>
              <a:ext cx="419100" cy="4191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9358312" y="360997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10834688" y="360997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9973628" y="303371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8743950" y="245649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10021" y="37452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39698" y="37452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25336" y="31680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222730" y="43214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468475" y="374523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944850" y="374523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083790" y="31680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854112" y="259175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  <p:grpSp>
        <p:nvGrpSpPr>
          <p:cNvPr id="76" name="c2-callout-3"/>
          <p:cNvGrpSpPr/>
          <p:nvPr/>
        </p:nvGrpSpPr>
        <p:grpSpPr>
          <a:xfrm>
            <a:off x="6248400" y="4874895"/>
            <a:ext cx="5410200" cy="782955"/>
            <a:chOff x="6248400" y="4874895"/>
            <a:chExt cx="5410200" cy="782955"/>
          </a:xfrm>
        </p:grpSpPr>
        <p:sp>
          <p:nvSpPr>
            <p:cNvPr id="71" name="Rectangle 71"/>
            <p:cNvSpPr/>
            <p:nvPr/>
          </p:nvSpPr>
          <p:spPr>
            <a:xfrm>
              <a:off x="6248400" y="487489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453188" y="5166362"/>
              <a:ext cx="200023" cy="200023"/>
              <a:chOff x="6453188" y="5166362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453188" y="51663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586538" y="52330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755130" y="5023485"/>
              <a:ext cx="4225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原来的 12 只有一个右孩子 13，删它就退化成情况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2，由 13 顶上去。</a:t>
              </a:r>
            </a:p>
          </p:txBody>
        </p:sp>
      </p:grpSp>
      <p:grpSp>
        <p:nvGrpSpPr>
          <p:cNvPr id="8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7" name="Rectangle 7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040130" y="5991225"/>
              <a:ext cx="9505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中根后继一路向左走到底，所以它必然没有左孩子，第二次删除一定落进情况 1 或情况 2，不会无限递归。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98881" cy="909257"/>
            <a:chOff x="520446" y="342900"/>
            <a:chExt cx="65988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二叉查找树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988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删除算法：三种情况写在一个 if-else 链里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ode-1"/>
          <p:cNvGrpSpPr/>
          <p:nvPr/>
        </p:nvGrpSpPr>
        <p:grpSpPr>
          <a:xfrm>
            <a:off x="533400" y="1524000"/>
            <a:ext cx="6059805" cy="3533775"/>
            <a:chOff x="533400" y="1524000"/>
            <a:chExt cx="6059805" cy="35337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533775"/>
            </a:xfrm>
            <a:prstGeom prst="roundRect">
              <a:avLst>
                <a:gd name="adj" fmla="val 26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296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删除（LeetCode 450）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844165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033712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223260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411855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" y="3601402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52450" y="3790950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416" y="1937385"/>
              <a:ext cx="4631246" cy="30485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remove(BSTnode* &amp;root,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(root == NULL)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root-&gt;key) remove(root-&gt;left, K);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&gt; root-&gt;key) remove(root-&gt;right, K);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(root-&gt;left != NULL &amp;&amp; root-&gt;right != NULL)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BSTnode *s = root-&gt;right;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(s-&gt;left != NULL) s = s-&gt;left;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root-&gt;key = s-&gt;key;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remove(root-&gt;right, s-&gt;key);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BSTnode* oldroot = root;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root = (root-&gt;left != NULL) ? root-&gt;left : root-&gt;right;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delete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oldroot;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7" name="c2-table-1"/>
          <p:cNvGrpSpPr/>
          <p:nvPr/>
        </p:nvGrpSpPr>
        <p:grpSpPr>
          <a:xfrm>
            <a:off x="6898005" y="1524000"/>
            <a:ext cx="4760595" cy="1623060"/>
            <a:chOff x="6898005" y="1524000"/>
            <a:chExt cx="4760595" cy="1623060"/>
          </a:xfrm>
        </p:grpSpPr>
        <p:sp>
          <p:nvSpPr>
            <p:cNvPr id="17" name="Rectangle 17"/>
            <p:cNvSpPr/>
            <p:nvPr/>
          </p:nvSpPr>
          <p:spPr>
            <a:xfrm>
              <a:off x="6898005" y="1524000"/>
              <a:ext cx="476059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1206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5191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对应情况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36098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98017" y="2054066"/>
              <a:ext cx="645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前两个 if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40065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还没找到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78315" y="205406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往左或往右继续找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8005" y="233076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98005" y="233553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907530" y="2345055"/>
              <a:ext cx="112395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98017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高亮的块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40065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两个孩子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78315" y="2459831"/>
              <a:ext cx="1798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搬关键词，再回右子树删 s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98005" y="273653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98017" y="2865596"/>
              <a:ext cx="819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最后的 else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40065" y="28655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或 1 个孩子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78315" y="286559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用非空的那个孩子顶替，再释放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98005" y="1524000"/>
              <a:ext cx="4760595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03529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27354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rd-2"/>
          <p:cNvGrpSpPr/>
          <p:nvPr/>
        </p:nvGrpSpPr>
        <p:grpSpPr>
          <a:xfrm>
            <a:off x="6898005" y="3322320"/>
            <a:ext cx="4760595" cy="2346008"/>
            <a:chOff x="6898005" y="3322320"/>
            <a:chExt cx="4760595" cy="2346008"/>
          </a:xfrm>
        </p:grpSpPr>
        <p:sp>
          <p:nvSpPr>
            <p:cNvPr id="38" name="Rectangle 38"/>
            <p:cNvSpPr/>
            <p:nvPr/>
          </p:nvSpPr>
          <p:spPr>
            <a:xfrm>
              <a:off x="6898005" y="3322320"/>
              <a:ext cx="4760595" cy="2346008"/>
            </a:xfrm>
            <a:prstGeom prst="roundRect">
              <a:avLst>
                <a:gd name="adj" fmla="val 56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07530" y="3455670"/>
              <a:ext cx="47625" cy="20793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128510" y="351472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11949" y="35490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三个细节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78902" y="355473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为什么搬的是关键词而不是指针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137082" y="394430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93102" y="3888105"/>
              <a:ext cx="38113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搬关键词只要一条赋值；改指针要同时照顾 s 的父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亲、s 的右孩子和 K 的两个孩子，容易写错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137082" y="450437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93102" y="4448175"/>
              <a:ext cx="39399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最后的 else 同时处理了 0 个孩子（两边都空，root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被置为 NULL）和 1 个孩子两种情况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137082" y="506444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93102" y="5008245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换成中根前驱（左子树中一路向右走到底）顶替也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对，只是树形不同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0" name="Rectangle 5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892" y="6023610"/>
              <a:ext cx="8372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时间复杂度 O(h)：找到 K 走一条路径，再找中根后继又走一段，两段加起来仍在同一条根到叶的路上。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74442" cy="909257"/>
            <a:chOff x="520446" y="342900"/>
            <a:chExt cx="64744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二叉查找树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744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练习（一）：从空树开始插入 12 个关键词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cells-1"/>
          <p:cNvGrpSpPr/>
          <p:nvPr/>
        </p:nvGrpSpPr>
        <p:grpSpPr>
          <a:xfrm>
            <a:off x="526923" y="1524000"/>
            <a:ext cx="5474779" cy="1009650"/>
            <a:chOff x="526923" y="1524000"/>
            <a:chExt cx="5474779" cy="1009650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6540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插入序列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317308" y="1524000"/>
              <a:ext cx="7810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01844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097405" y="1524000"/>
              <a:ext cx="7810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81942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878455" y="1524000"/>
              <a:ext cx="7810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162992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59505" y="1524000"/>
              <a:ext cx="7810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944042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439602" y="1524000"/>
              <a:ext cx="7810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24139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220652" y="1524000"/>
              <a:ext cx="7810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505189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6923" y="224456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（续）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317308" y="2114550"/>
              <a:ext cx="7810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51600" y="224456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097405" y="2114550"/>
              <a:ext cx="7810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431697" y="224456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878455" y="2114550"/>
              <a:ext cx="78105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162992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659505" y="2114550"/>
              <a:ext cx="7810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944042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439602" y="2114550"/>
              <a:ext cx="7810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24139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220652" y="2114550"/>
              <a:ext cx="7810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505189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  <p:grpSp>
        <p:nvGrpSpPr>
          <p:cNvPr id="66" name="c1-tree-2"/>
          <p:cNvGrpSpPr/>
          <p:nvPr/>
        </p:nvGrpSpPr>
        <p:grpSpPr>
          <a:xfrm>
            <a:off x="812482" y="2783205"/>
            <a:ext cx="4910138" cy="2566035"/>
            <a:chOff x="812482" y="2783205"/>
            <a:chExt cx="4910138" cy="2566035"/>
          </a:xfrm>
        </p:grpSpPr>
        <p:sp>
          <p:nvSpPr>
            <p:cNvPr id="34" name="Freeform 34"/>
            <p:cNvSpPr/>
            <p:nvPr/>
          </p:nvSpPr>
          <p:spPr>
            <a:xfrm>
              <a:off x="1022032" y="4066222"/>
              <a:ext cx="195262" cy="537210"/>
            </a:xfrm>
            <a:custGeom>
              <a:avLst/>
              <a:gdLst/>
              <a:ahLst/>
              <a:cxnLst/>
              <a:rect l="l" t="t" r="r" b="b"/>
              <a:pathLst>
                <a:path w="195262" h="537210">
                  <a:moveTo>
                    <a:pt x="195262" y="0"/>
                  </a:moveTo>
                  <a:lnTo>
                    <a:pt x="0" y="5372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217295" y="3529012"/>
              <a:ext cx="195263" cy="537210"/>
            </a:xfrm>
            <a:custGeom>
              <a:avLst/>
              <a:gdLst/>
              <a:ahLst/>
              <a:cxnLst/>
              <a:rect l="l" t="t" r="r" b="b"/>
              <a:pathLst>
                <a:path w="195263" h="537210">
                  <a:moveTo>
                    <a:pt x="195263" y="0"/>
                  </a:moveTo>
                  <a:lnTo>
                    <a:pt x="0" y="5372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169920" y="4603432"/>
              <a:ext cx="487680" cy="536258"/>
            </a:xfrm>
            <a:custGeom>
              <a:avLst/>
              <a:gdLst/>
              <a:ahLst/>
              <a:cxnLst/>
              <a:rect l="l" t="t" r="r" b="b"/>
              <a:pathLst>
                <a:path w="487680" h="536258">
                  <a:moveTo>
                    <a:pt x="487680" y="0"/>
                  </a:moveTo>
                  <a:lnTo>
                    <a:pt x="0" y="536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3657600" y="4603432"/>
              <a:ext cx="488633" cy="536258"/>
            </a:xfrm>
            <a:custGeom>
              <a:avLst/>
              <a:gdLst/>
              <a:ahLst/>
              <a:cxnLst/>
              <a:rect l="l" t="t" r="r" b="b"/>
              <a:pathLst>
                <a:path w="488633" h="536258">
                  <a:moveTo>
                    <a:pt x="0" y="0"/>
                  </a:moveTo>
                  <a:lnTo>
                    <a:pt x="488633" y="536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3462338" y="4066222"/>
              <a:ext cx="195262" cy="537210"/>
            </a:xfrm>
            <a:custGeom>
              <a:avLst/>
              <a:gdLst/>
              <a:ahLst/>
              <a:cxnLst/>
              <a:rect l="l" t="t" r="r" b="b"/>
              <a:pathLst>
                <a:path w="195262" h="537210">
                  <a:moveTo>
                    <a:pt x="0" y="0"/>
                  </a:moveTo>
                  <a:lnTo>
                    <a:pt x="195262" y="5372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5317808" y="4066222"/>
              <a:ext cx="195262" cy="537210"/>
            </a:xfrm>
            <a:custGeom>
              <a:avLst/>
              <a:gdLst/>
              <a:ahLst/>
              <a:cxnLst/>
              <a:rect l="l" t="t" r="r" b="b"/>
              <a:pathLst>
                <a:path w="195262" h="537210">
                  <a:moveTo>
                    <a:pt x="0" y="0"/>
                  </a:moveTo>
                  <a:lnTo>
                    <a:pt x="195262" y="5372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3462338" y="3529012"/>
              <a:ext cx="683895" cy="537210"/>
            </a:xfrm>
            <a:custGeom>
              <a:avLst/>
              <a:gdLst/>
              <a:ahLst/>
              <a:cxnLst/>
              <a:rect l="l" t="t" r="r" b="b"/>
              <a:pathLst>
                <a:path w="683895" h="537210">
                  <a:moveTo>
                    <a:pt x="683895" y="0"/>
                  </a:moveTo>
                  <a:lnTo>
                    <a:pt x="0" y="5372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4146232" y="3529012"/>
              <a:ext cx="1171575" cy="537210"/>
            </a:xfrm>
            <a:custGeom>
              <a:avLst/>
              <a:gdLst/>
              <a:ahLst/>
              <a:cxnLst/>
              <a:rect l="l" t="t" r="r" b="b"/>
              <a:pathLst>
                <a:path w="1171575" h="537210">
                  <a:moveTo>
                    <a:pt x="0" y="0"/>
                  </a:moveTo>
                  <a:lnTo>
                    <a:pt x="1171575" y="5372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412558" y="2992755"/>
              <a:ext cx="1854518" cy="536258"/>
            </a:xfrm>
            <a:custGeom>
              <a:avLst/>
              <a:gdLst/>
              <a:ahLst/>
              <a:cxnLst/>
              <a:rect l="l" t="t" r="r" b="b"/>
              <a:pathLst>
                <a:path w="1854518" h="536258">
                  <a:moveTo>
                    <a:pt x="1854518" y="0"/>
                  </a:moveTo>
                  <a:lnTo>
                    <a:pt x="0" y="536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3267075" y="2992755"/>
              <a:ext cx="879158" cy="536258"/>
            </a:xfrm>
            <a:custGeom>
              <a:avLst/>
              <a:gdLst/>
              <a:ahLst/>
              <a:cxnLst/>
              <a:rect l="l" t="t" r="r" b="b"/>
              <a:pathLst>
                <a:path w="879158" h="536258">
                  <a:moveTo>
                    <a:pt x="0" y="0"/>
                  </a:moveTo>
                  <a:lnTo>
                    <a:pt x="879158" y="536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812482" y="439388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1007745" y="385667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1203008" y="331946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2960370" y="493014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3936682" y="493014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3448050" y="439388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3252788" y="385667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5303520" y="439388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5108258" y="385667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3936682" y="331946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3057525" y="278320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82286" y="45472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77548" y="401002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337826" y="347376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095189" y="508349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071501" y="508349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582869" y="454723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387606" y="401002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438339" y="454723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243076" y="401002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071501" y="347376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192344" y="293655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  <p:grpSp>
        <p:nvGrpSpPr>
          <p:cNvPr id="92" name="c2-table-1"/>
          <p:cNvGrpSpPr/>
          <p:nvPr/>
        </p:nvGrpSpPr>
        <p:grpSpPr>
          <a:xfrm>
            <a:off x="6306502" y="1524000"/>
            <a:ext cx="2524125" cy="3368040"/>
            <a:chOff x="6306502" y="1524000"/>
            <a:chExt cx="2524125" cy="3368040"/>
          </a:xfrm>
        </p:grpSpPr>
        <p:sp>
          <p:nvSpPr>
            <p:cNvPr id="67" name="Rectangle 67"/>
            <p:cNvSpPr/>
            <p:nvPr/>
          </p:nvSpPr>
          <p:spPr>
            <a:xfrm>
              <a:off x="6306502" y="1524000"/>
              <a:ext cx="2524125" cy="67532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440360" y="1659731"/>
              <a:ext cx="3380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词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261885" y="177307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比较路径与落点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14326" y="233505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020116" y="233505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空树，成为根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306502" y="2643188"/>
              <a:ext cx="25241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306502" y="2647950"/>
              <a:ext cx="252412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414326" y="278368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020116" y="2783681"/>
              <a:ext cx="11846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17，挂 17 的右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306502" y="3092768"/>
              <a:ext cx="25241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414326" y="323230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020116" y="3232309"/>
              <a:ext cx="11846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17，挂 17 的左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306502" y="3541395"/>
              <a:ext cx="25241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306502" y="3546158"/>
              <a:ext cx="252412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414326" y="368093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020116" y="3680936"/>
              <a:ext cx="14259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31，挂 31 的左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306502" y="3990022"/>
              <a:ext cx="25241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414326" y="41305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020116" y="4130516"/>
              <a:ext cx="14259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31，挂 31 的右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306502" y="4438650"/>
              <a:ext cx="25241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306502" y="4443412"/>
              <a:ext cx="252412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414326" y="457914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020116" y="4579144"/>
              <a:ext cx="16671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31 20，挂 20 的右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306502" y="1524000"/>
              <a:ext cx="2524125" cy="33680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6907530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9" name="c3-table-1"/>
          <p:cNvGrpSpPr/>
          <p:nvPr/>
        </p:nvGrpSpPr>
        <p:grpSpPr>
          <a:xfrm>
            <a:off x="9134475" y="1524000"/>
            <a:ext cx="2524125" cy="3821430"/>
            <a:chOff x="9134475" y="1524000"/>
            <a:chExt cx="2524125" cy="3821430"/>
          </a:xfrm>
        </p:grpSpPr>
        <p:sp>
          <p:nvSpPr>
            <p:cNvPr id="93" name="Rectangle 93"/>
            <p:cNvSpPr/>
            <p:nvPr/>
          </p:nvSpPr>
          <p:spPr>
            <a:xfrm>
              <a:off x="9134475" y="1524000"/>
              <a:ext cx="2524125" cy="67532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9268333" y="1659731"/>
              <a:ext cx="3380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词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089858" y="177307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比较路径与落点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242298" y="233505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848088" y="2335054"/>
              <a:ext cx="14259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13，挂 13 的左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9134475" y="2643188"/>
              <a:ext cx="25241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9134475" y="2647950"/>
              <a:ext cx="252412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9242298" y="27836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848088" y="2783681"/>
              <a:ext cx="14776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13 8，挂 8 的左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9134475" y="3092768"/>
              <a:ext cx="25241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9242298" y="323230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9749790" y="3107055"/>
              <a:ext cx="189928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9848088" y="3232309"/>
              <a:ext cx="16499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13，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已存在，不插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9134475" y="3541395"/>
              <a:ext cx="25241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9134475" y="3546158"/>
              <a:ext cx="252412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9242298" y="379428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848088" y="3680936"/>
              <a:ext cx="14272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31 20 25，挂 25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的左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9134475" y="4216718"/>
              <a:ext cx="25241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9242298" y="4357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9848088" y="4357211"/>
              <a:ext cx="16671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31 35，挂 35 的右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9134475" y="4665345"/>
              <a:ext cx="25241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9134475" y="4670108"/>
              <a:ext cx="252412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9242298" y="49191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9848088" y="4805839"/>
              <a:ext cx="14272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31 20 25，挂 25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的右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9134475" y="1524000"/>
              <a:ext cx="2524125" cy="38214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9735502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26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120" name="Rectangle 120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24" name="Group 124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23" name="Freeform 123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25" name="TextBox 125"/>
            <p:cNvSpPr txBox="1"/>
            <p:nvPr/>
          </p:nvSpPr>
          <p:spPr>
            <a:xfrm>
              <a:off x="1040130" y="5728335"/>
              <a:ext cx="9889808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更正：源课件第 15 页题面写作 17, 31, 13, 20, 35,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25, 8, 4, 13, 24, 40, 27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，而第 16 至 32 页的解答用的是 8,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5, 13, 23, 39, 27，两者不一致。本讲义按解答页的序列讲。</a:t>
              </a:r>
            </a:p>
          </p:txBody>
        </p:sp>
      </p:grpSp>
      <p:grpSp>
        <p:nvGrpSpPr>
          <p:cNvPr id="12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7" name="TextBox 127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56281" cy="909257"/>
            <a:chOff x="520446" y="342900"/>
            <a:chExt cx="49562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二叉查找树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562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练习（二）：插入 9，再删除 17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7304" y="1544002"/>
            <a:ext cx="734294" cy="234696"/>
            <a:chOff x="527304" y="1544002"/>
            <a:chExt cx="734294" cy="234696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544002"/>
              <a:ext cx="734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1）插入 9</a:t>
              </a:r>
            </a:p>
          </p:txBody>
        </p:sp>
      </p:grpSp>
      <p:grpSp>
        <p:nvGrpSpPr>
          <p:cNvPr id="44" name="c1-tree-2"/>
          <p:cNvGrpSpPr/>
          <p:nvPr/>
        </p:nvGrpSpPr>
        <p:grpSpPr>
          <a:xfrm>
            <a:off x="766762" y="1995488"/>
            <a:ext cx="4943476" cy="2657475"/>
            <a:chOff x="766762" y="1995488"/>
            <a:chExt cx="4943476" cy="2657475"/>
          </a:xfrm>
        </p:grpSpPr>
        <p:sp>
          <p:nvSpPr>
            <p:cNvPr id="9" name="Freeform 9"/>
            <p:cNvSpPr/>
            <p:nvPr/>
          </p:nvSpPr>
          <p:spPr>
            <a:xfrm>
              <a:off x="969645" y="3324225"/>
              <a:ext cx="436245" cy="562928"/>
            </a:xfrm>
            <a:custGeom>
              <a:avLst/>
              <a:gdLst/>
              <a:ahLst/>
              <a:cxnLst/>
              <a:rect l="l" t="t" r="r" b="b"/>
              <a:pathLst>
                <a:path w="436245" h="562928">
                  <a:moveTo>
                    <a:pt x="436245" y="0"/>
                  </a:moveTo>
                  <a:lnTo>
                    <a:pt x="0" y="5629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405890" y="3324225"/>
              <a:ext cx="436245" cy="562928"/>
            </a:xfrm>
            <a:custGeom>
              <a:avLst/>
              <a:gdLst/>
              <a:ahLst/>
              <a:cxnLst/>
              <a:rect l="l" t="t" r="r" b="b"/>
              <a:pathLst>
                <a:path w="436245" h="562928">
                  <a:moveTo>
                    <a:pt x="0" y="0"/>
                  </a:moveTo>
                  <a:lnTo>
                    <a:pt x="436245" y="5629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405890" y="2761298"/>
              <a:ext cx="174308" cy="562928"/>
            </a:xfrm>
            <a:custGeom>
              <a:avLst/>
              <a:gdLst/>
              <a:ahLst/>
              <a:cxnLst/>
              <a:rect l="l" t="t" r="r" b="b"/>
              <a:pathLst>
                <a:path w="174308" h="562928">
                  <a:moveTo>
                    <a:pt x="174308" y="0"/>
                  </a:moveTo>
                  <a:lnTo>
                    <a:pt x="0" y="5629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412808" y="3887152"/>
              <a:ext cx="436245" cy="562927"/>
            </a:xfrm>
            <a:custGeom>
              <a:avLst/>
              <a:gdLst/>
              <a:ahLst/>
              <a:cxnLst/>
              <a:rect l="l" t="t" r="r" b="b"/>
              <a:pathLst>
                <a:path w="436245" h="562927">
                  <a:moveTo>
                    <a:pt x="436245" y="0"/>
                  </a:moveTo>
                  <a:lnTo>
                    <a:pt x="0" y="5629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849052" y="3887152"/>
              <a:ext cx="436245" cy="562927"/>
            </a:xfrm>
            <a:custGeom>
              <a:avLst/>
              <a:gdLst/>
              <a:ahLst/>
              <a:cxnLst/>
              <a:rect l="l" t="t" r="r" b="b"/>
              <a:pathLst>
                <a:path w="436245" h="562927">
                  <a:moveTo>
                    <a:pt x="0" y="0"/>
                  </a:moveTo>
                  <a:lnTo>
                    <a:pt x="436245" y="5629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674745" y="3324225"/>
              <a:ext cx="174308" cy="562928"/>
            </a:xfrm>
            <a:custGeom>
              <a:avLst/>
              <a:gdLst/>
              <a:ahLst/>
              <a:cxnLst/>
              <a:rect l="l" t="t" r="r" b="b"/>
              <a:pathLst>
                <a:path w="174308" h="562928">
                  <a:moveTo>
                    <a:pt x="0" y="0"/>
                  </a:moveTo>
                  <a:lnTo>
                    <a:pt x="174308" y="5629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333048" y="3324225"/>
              <a:ext cx="174308" cy="562928"/>
            </a:xfrm>
            <a:custGeom>
              <a:avLst/>
              <a:gdLst/>
              <a:ahLst/>
              <a:cxnLst/>
              <a:rect l="l" t="t" r="r" b="b"/>
              <a:pathLst>
                <a:path w="174308" h="562928">
                  <a:moveTo>
                    <a:pt x="0" y="0"/>
                  </a:moveTo>
                  <a:lnTo>
                    <a:pt x="174308" y="5629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674745" y="2761298"/>
              <a:ext cx="610552" cy="562928"/>
            </a:xfrm>
            <a:custGeom>
              <a:avLst/>
              <a:gdLst/>
              <a:ahLst/>
              <a:cxnLst/>
              <a:rect l="l" t="t" r="r" b="b"/>
              <a:pathLst>
                <a:path w="610552" h="562928">
                  <a:moveTo>
                    <a:pt x="610552" y="0"/>
                  </a:moveTo>
                  <a:lnTo>
                    <a:pt x="0" y="5629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285298" y="2761298"/>
              <a:ext cx="1047750" cy="562928"/>
            </a:xfrm>
            <a:custGeom>
              <a:avLst/>
              <a:gdLst/>
              <a:ahLst/>
              <a:cxnLst/>
              <a:rect l="l" t="t" r="r" b="b"/>
              <a:pathLst>
                <a:path w="1047750" h="562928">
                  <a:moveTo>
                    <a:pt x="0" y="0"/>
                  </a:moveTo>
                  <a:lnTo>
                    <a:pt x="1047750" y="5629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580198" y="2198370"/>
              <a:ext cx="1658302" cy="562927"/>
            </a:xfrm>
            <a:custGeom>
              <a:avLst/>
              <a:gdLst/>
              <a:ahLst/>
              <a:cxnLst/>
              <a:rect l="l" t="t" r="r" b="b"/>
              <a:pathLst>
                <a:path w="1658302" h="562927">
                  <a:moveTo>
                    <a:pt x="1658302" y="0"/>
                  </a:moveTo>
                  <a:lnTo>
                    <a:pt x="0" y="5629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238500" y="2198370"/>
              <a:ext cx="1046797" cy="562927"/>
            </a:xfrm>
            <a:custGeom>
              <a:avLst/>
              <a:gdLst/>
              <a:ahLst/>
              <a:cxnLst/>
              <a:rect l="l" t="t" r="r" b="b"/>
              <a:pathLst>
                <a:path w="1046797" h="562927">
                  <a:moveTo>
                    <a:pt x="0" y="0"/>
                  </a:moveTo>
                  <a:lnTo>
                    <a:pt x="1046797" y="5629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66762" y="368427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639252" y="3684270"/>
              <a:ext cx="405765" cy="405765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203008" y="3121342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377315" y="255841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209925" y="424719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082415" y="424719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3646170" y="368427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3471862" y="3121342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5304473" y="368427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5130165" y="3121342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4082415" y="255841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3035618" y="199548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6598" y="38257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99088" y="38257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62843" y="32627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99056" y="269986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31666" y="438864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04156" y="438864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67911" y="38257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93604" y="326278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26214" y="38257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51906" y="326278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04156" y="269986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57359" y="213693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  <p:grpSp>
        <p:nvGrpSpPr>
          <p:cNvPr id="51" name="c1-callout-3"/>
          <p:cNvGrpSpPr/>
          <p:nvPr/>
        </p:nvGrpSpPr>
        <p:grpSpPr>
          <a:xfrm>
            <a:off x="533400" y="4916805"/>
            <a:ext cx="5410200" cy="756285"/>
            <a:chOff x="533400" y="4916805"/>
            <a:chExt cx="5410200" cy="756285"/>
          </a:xfrm>
        </p:grpSpPr>
        <p:sp>
          <p:nvSpPr>
            <p:cNvPr id="45" name="Rectangle 45"/>
            <p:cNvSpPr/>
            <p:nvPr/>
          </p:nvSpPr>
          <p:spPr>
            <a:xfrm>
              <a:off x="533400" y="4916805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194935"/>
              <a:ext cx="200026" cy="200026"/>
              <a:chOff x="738188" y="5194935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1949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52616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7088" y="52949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511" y="5063966"/>
              <a:ext cx="425246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 9 的路径 17 → 13 → 8，在 8 的右指针处失败，9 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在这里。</a:t>
              </a:r>
            </a:p>
          </p:txBody>
        </p:sp>
      </p:grpSp>
      <p:grpSp>
        <p:nvGrpSpPr>
          <p:cNvPr id="53" name="c2-text-1"/>
          <p:cNvGrpSpPr/>
          <p:nvPr/>
        </p:nvGrpSpPr>
        <p:grpSpPr>
          <a:xfrm>
            <a:off x="6242304" y="1544002"/>
            <a:ext cx="1796849" cy="234696"/>
            <a:chOff x="6242304" y="1544002"/>
            <a:chExt cx="1796849" cy="234696"/>
          </a:xfrm>
        </p:grpSpPr>
        <p:sp>
          <p:nvSpPr>
            <p:cNvPr id="52" name="TextBox 52"/>
            <p:cNvSpPr txBox="1"/>
            <p:nvPr/>
          </p:nvSpPr>
          <p:spPr>
            <a:xfrm>
              <a:off x="6242304" y="1544002"/>
              <a:ext cx="17968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2）删除 17（两个孩子）</a:t>
              </a:r>
            </a:p>
          </p:txBody>
        </p:sp>
      </p:grpSp>
      <p:grpSp>
        <p:nvGrpSpPr>
          <p:cNvPr id="86" name="c2-tree-2"/>
          <p:cNvGrpSpPr/>
          <p:nvPr/>
        </p:nvGrpSpPr>
        <p:grpSpPr>
          <a:xfrm>
            <a:off x="6512242" y="1985962"/>
            <a:ext cx="4882515" cy="2041208"/>
            <a:chOff x="6512242" y="1985962"/>
            <a:chExt cx="4882515" cy="2041208"/>
          </a:xfrm>
        </p:grpSpPr>
        <p:sp>
          <p:nvSpPr>
            <p:cNvPr id="54" name="Freeform 54"/>
            <p:cNvSpPr/>
            <p:nvPr/>
          </p:nvSpPr>
          <p:spPr>
            <a:xfrm>
              <a:off x="6715125" y="3279458"/>
              <a:ext cx="465772" cy="544830"/>
            </a:xfrm>
            <a:custGeom>
              <a:avLst/>
              <a:gdLst/>
              <a:ahLst/>
              <a:cxnLst/>
              <a:rect l="l" t="t" r="r" b="b"/>
              <a:pathLst>
                <a:path w="465772" h="544830">
                  <a:moveTo>
                    <a:pt x="465772" y="0"/>
                  </a:moveTo>
                  <a:lnTo>
                    <a:pt x="0" y="5448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180898" y="3279458"/>
              <a:ext cx="466725" cy="544830"/>
            </a:xfrm>
            <a:custGeom>
              <a:avLst/>
              <a:gdLst/>
              <a:ahLst/>
              <a:cxnLst/>
              <a:rect l="l" t="t" r="r" b="b"/>
              <a:pathLst>
                <a:path w="466725" h="544830">
                  <a:moveTo>
                    <a:pt x="0" y="0"/>
                  </a:moveTo>
                  <a:lnTo>
                    <a:pt x="466725" y="5448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7180898" y="2734628"/>
              <a:ext cx="186690" cy="544830"/>
            </a:xfrm>
            <a:custGeom>
              <a:avLst/>
              <a:gdLst/>
              <a:ahLst/>
              <a:cxnLst/>
              <a:rect l="l" t="t" r="r" b="b"/>
              <a:pathLst>
                <a:path w="186690" h="544830">
                  <a:moveTo>
                    <a:pt x="186690" y="0"/>
                  </a:moveTo>
                  <a:lnTo>
                    <a:pt x="0" y="5448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953500" y="3279458"/>
              <a:ext cx="466725" cy="544830"/>
            </a:xfrm>
            <a:custGeom>
              <a:avLst/>
              <a:gdLst/>
              <a:ahLst/>
              <a:cxnLst/>
              <a:rect l="l" t="t" r="r" b="b"/>
              <a:pathLst>
                <a:path w="466725" h="544830">
                  <a:moveTo>
                    <a:pt x="466725" y="0"/>
                  </a:moveTo>
                  <a:lnTo>
                    <a:pt x="0" y="5448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9420225" y="3279458"/>
              <a:ext cx="465773" cy="544830"/>
            </a:xfrm>
            <a:custGeom>
              <a:avLst/>
              <a:gdLst/>
              <a:ahLst/>
              <a:cxnLst/>
              <a:rect l="l" t="t" r="r" b="b"/>
              <a:pathLst>
                <a:path w="465773" h="544830">
                  <a:moveTo>
                    <a:pt x="0" y="0"/>
                  </a:moveTo>
                  <a:lnTo>
                    <a:pt x="465773" y="5448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1005185" y="3279458"/>
              <a:ext cx="186690" cy="544830"/>
            </a:xfrm>
            <a:custGeom>
              <a:avLst/>
              <a:gdLst/>
              <a:ahLst/>
              <a:cxnLst/>
              <a:rect l="l" t="t" r="r" b="b"/>
              <a:pathLst>
                <a:path w="186690" h="544830">
                  <a:moveTo>
                    <a:pt x="0" y="0"/>
                  </a:moveTo>
                  <a:lnTo>
                    <a:pt x="186690" y="5448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9420225" y="2734628"/>
              <a:ext cx="652462" cy="544830"/>
            </a:xfrm>
            <a:custGeom>
              <a:avLst/>
              <a:gdLst/>
              <a:ahLst/>
              <a:cxnLst/>
              <a:rect l="l" t="t" r="r" b="b"/>
              <a:pathLst>
                <a:path w="652462" h="544830">
                  <a:moveTo>
                    <a:pt x="652462" y="0"/>
                  </a:moveTo>
                  <a:lnTo>
                    <a:pt x="0" y="5448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10072688" y="2734628"/>
              <a:ext cx="932498" cy="544830"/>
            </a:xfrm>
            <a:custGeom>
              <a:avLst/>
              <a:gdLst/>
              <a:ahLst/>
              <a:cxnLst/>
              <a:rect l="l" t="t" r="r" b="b"/>
              <a:pathLst>
                <a:path w="932498" h="544830">
                  <a:moveTo>
                    <a:pt x="0" y="0"/>
                  </a:moveTo>
                  <a:lnTo>
                    <a:pt x="932498" y="5448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7367588" y="2188845"/>
              <a:ext cx="1585912" cy="545783"/>
            </a:xfrm>
            <a:custGeom>
              <a:avLst/>
              <a:gdLst/>
              <a:ahLst/>
              <a:cxnLst/>
              <a:rect l="l" t="t" r="r" b="b"/>
              <a:pathLst>
                <a:path w="1585912" h="545783">
                  <a:moveTo>
                    <a:pt x="1585912" y="0"/>
                  </a:moveTo>
                  <a:lnTo>
                    <a:pt x="0" y="5457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8953500" y="2188845"/>
              <a:ext cx="1119188" cy="545783"/>
            </a:xfrm>
            <a:custGeom>
              <a:avLst/>
              <a:gdLst/>
              <a:ahLst/>
              <a:cxnLst/>
              <a:rect l="l" t="t" r="r" b="b"/>
              <a:pathLst>
                <a:path w="1119188" h="545783">
                  <a:moveTo>
                    <a:pt x="0" y="0"/>
                  </a:moveTo>
                  <a:lnTo>
                    <a:pt x="1119188" y="5457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6512242" y="362140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7444740" y="362140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6978015" y="307657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7164705" y="253174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8750618" y="362140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9683115" y="362140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9217342" y="3076575"/>
              <a:ext cx="405765" cy="405765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10988992" y="362140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10802303" y="307657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9869805" y="253174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8750618" y="1985962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672078" y="376380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604575" y="376380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137850" y="32189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286446" y="267319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872359" y="376380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804856" y="376380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339084" y="321897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110734" y="376380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924044" y="321897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991546" y="267319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872359" y="212836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  <p:grpSp>
        <p:nvGrpSpPr>
          <p:cNvPr id="96" name="c2-steps-3"/>
          <p:cNvGrpSpPr/>
          <p:nvPr/>
        </p:nvGrpSpPr>
        <p:grpSpPr>
          <a:xfrm>
            <a:off x="6248400" y="4291965"/>
            <a:ext cx="5279593" cy="1390078"/>
            <a:chOff x="6248400" y="4291965"/>
            <a:chExt cx="5279593" cy="1390078"/>
          </a:xfrm>
        </p:grpSpPr>
        <p:sp>
          <p:nvSpPr>
            <p:cNvPr id="87" name="Rectangle 87"/>
            <p:cNvSpPr/>
            <p:nvPr/>
          </p:nvSpPr>
          <p:spPr>
            <a:xfrm>
              <a:off x="6381750" y="4434840"/>
              <a:ext cx="19050" cy="6210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6248400" y="42919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342024" y="43657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6248400" y="491299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342024" y="49868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660261" y="432482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找中根后继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661404" y="4605338"/>
              <a:ext cx="4866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的右子树是 31 为根的子树，一路向左走到 20，所以 s 就是 20。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660261" y="4945856"/>
              <a:ext cx="13320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搬关键词再删 s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661404" y="5226367"/>
              <a:ext cx="46756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根的关键词改成 20；原来的 20 只有右孩子 25，由 25 顶替，成为 31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的左孩子。</a:t>
              </a:r>
            </a:p>
          </p:txBody>
        </p:sp>
      </p:grpSp>
      <p:grpSp>
        <p:nvGrpSpPr>
          <p:cNvPr id="10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97" name="Rectangle 9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1" name="Group 101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2" name="TextBox 102"/>
            <p:cNvSpPr txBox="1"/>
            <p:nvPr/>
          </p:nvSpPr>
          <p:spPr>
            <a:xfrm>
              <a:off x="1040511" y="6004084"/>
              <a:ext cx="57015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删完检查一遍中根序列 5 8 9 13 20 23 25 27 31 35 39，仍然递增。</a:t>
              </a:r>
            </a:p>
          </p:txBody>
        </p:sp>
      </p:grpSp>
      <p:grpSp>
        <p:nvGrpSpPr>
          <p:cNvPr id="10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4" name="TextBox 104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66308" cy="909257"/>
            <a:chOff x="520446" y="342900"/>
            <a:chExt cx="63663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二叉查找树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663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练习（三）：再删除 13，并复盘三次操作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ree-1"/>
          <p:cNvGrpSpPr/>
          <p:nvPr/>
        </p:nvGrpSpPr>
        <p:grpSpPr>
          <a:xfrm>
            <a:off x="791528" y="1722120"/>
            <a:ext cx="4461509" cy="2810827"/>
            <a:chOff x="791528" y="1722120"/>
            <a:chExt cx="4461509" cy="2810827"/>
          </a:xfrm>
        </p:grpSpPr>
        <p:sp>
          <p:nvSpPr>
            <p:cNvPr id="7" name="Freeform 7"/>
            <p:cNvSpPr/>
            <p:nvPr/>
          </p:nvSpPr>
          <p:spPr>
            <a:xfrm>
              <a:off x="994410" y="2727008"/>
              <a:ext cx="461010" cy="801052"/>
            </a:xfrm>
            <a:custGeom>
              <a:avLst/>
              <a:gdLst/>
              <a:ahLst/>
              <a:cxnLst/>
              <a:rect l="l" t="t" r="r" b="b"/>
              <a:pathLst>
                <a:path w="461010" h="801052">
                  <a:moveTo>
                    <a:pt x="461010" y="0"/>
                  </a:moveTo>
                  <a:lnTo>
                    <a:pt x="0" y="8010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55420" y="2727008"/>
              <a:ext cx="461010" cy="801052"/>
            </a:xfrm>
            <a:custGeom>
              <a:avLst/>
              <a:gdLst/>
              <a:ahLst/>
              <a:cxnLst/>
              <a:rect l="l" t="t" r="r" b="b"/>
              <a:pathLst>
                <a:path w="461010" h="801052">
                  <a:moveTo>
                    <a:pt x="0" y="0"/>
                  </a:moveTo>
                  <a:lnTo>
                    <a:pt x="461010" y="8010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837498" y="3528060"/>
              <a:ext cx="461010" cy="802005"/>
            </a:xfrm>
            <a:custGeom>
              <a:avLst/>
              <a:gdLst/>
              <a:ahLst/>
              <a:cxnLst/>
              <a:rect l="l" t="t" r="r" b="b"/>
              <a:pathLst>
                <a:path w="461010" h="802005">
                  <a:moveTo>
                    <a:pt x="461010" y="0"/>
                  </a:moveTo>
                  <a:lnTo>
                    <a:pt x="0" y="8020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98508" y="3528060"/>
              <a:ext cx="461010" cy="802005"/>
            </a:xfrm>
            <a:custGeom>
              <a:avLst/>
              <a:gdLst/>
              <a:ahLst/>
              <a:cxnLst/>
              <a:rect l="l" t="t" r="r" b="b"/>
              <a:pathLst>
                <a:path w="461010" h="802005">
                  <a:moveTo>
                    <a:pt x="0" y="0"/>
                  </a:moveTo>
                  <a:lnTo>
                    <a:pt x="461010" y="8020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865370" y="3528060"/>
              <a:ext cx="184785" cy="802005"/>
            </a:xfrm>
            <a:custGeom>
              <a:avLst/>
              <a:gdLst/>
              <a:ahLst/>
              <a:cxnLst/>
              <a:rect l="l" t="t" r="r" b="b"/>
              <a:pathLst>
                <a:path w="184785" h="802005">
                  <a:moveTo>
                    <a:pt x="0" y="0"/>
                  </a:moveTo>
                  <a:lnTo>
                    <a:pt x="184785" y="8020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298508" y="2727008"/>
              <a:ext cx="645795" cy="801052"/>
            </a:xfrm>
            <a:custGeom>
              <a:avLst/>
              <a:gdLst/>
              <a:ahLst/>
              <a:cxnLst/>
              <a:rect l="l" t="t" r="r" b="b"/>
              <a:pathLst>
                <a:path w="645795" h="801052">
                  <a:moveTo>
                    <a:pt x="645795" y="0"/>
                  </a:moveTo>
                  <a:lnTo>
                    <a:pt x="0" y="8010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944302" y="2727008"/>
              <a:ext cx="921067" cy="801052"/>
            </a:xfrm>
            <a:custGeom>
              <a:avLst/>
              <a:gdLst/>
              <a:ahLst/>
              <a:cxnLst/>
              <a:rect l="l" t="t" r="r" b="b"/>
              <a:pathLst>
                <a:path w="921067" h="801052">
                  <a:moveTo>
                    <a:pt x="0" y="0"/>
                  </a:moveTo>
                  <a:lnTo>
                    <a:pt x="921067" y="8010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455420" y="1925002"/>
              <a:ext cx="1566862" cy="802005"/>
            </a:xfrm>
            <a:custGeom>
              <a:avLst/>
              <a:gdLst/>
              <a:ahLst/>
              <a:cxnLst/>
              <a:rect l="l" t="t" r="r" b="b"/>
              <a:pathLst>
                <a:path w="1566862" h="802005">
                  <a:moveTo>
                    <a:pt x="1566862" y="0"/>
                  </a:moveTo>
                  <a:lnTo>
                    <a:pt x="0" y="8020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022282" y="1925002"/>
              <a:ext cx="922020" cy="802005"/>
            </a:xfrm>
            <a:custGeom>
              <a:avLst/>
              <a:gdLst/>
              <a:ahLst/>
              <a:cxnLst/>
              <a:rect l="l" t="t" r="r" b="b"/>
              <a:pathLst>
                <a:path w="922020" h="802005">
                  <a:moveTo>
                    <a:pt x="0" y="0"/>
                  </a:moveTo>
                  <a:lnTo>
                    <a:pt x="922020" y="8020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791528" y="3325177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713547" y="3325177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252538" y="2524125"/>
              <a:ext cx="405765" cy="405765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634615" y="4127182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556635" y="4127182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095625" y="3325177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847272" y="4127182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662488" y="3325177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741420" y="252412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819400" y="172212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1668" y="34537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63688" y="34537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02678" y="26517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38110" y="42557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60130" y="42557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99120" y="345376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50767" y="42557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65982" y="345376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44915" y="26517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22895" y="18497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  <p:grpSp>
        <p:nvGrpSpPr>
          <p:cNvPr id="42" name="c1-callout-2"/>
          <p:cNvGrpSpPr/>
          <p:nvPr/>
        </p:nvGrpSpPr>
        <p:grpSpPr>
          <a:xfrm>
            <a:off x="533400" y="4916805"/>
            <a:ext cx="4977765" cy="756285"/>
            <a:chOff x="533400" y="4916805"/>
            <a:chExt cx="4977765" cy="756285"/>
          </a:xfrm>
        </p:grpSpPr>
        <p:sp>
          <p:nvSpPr>
            <p:cNvPr id="37" name="Rectangle 37"/>
            <p:cNvSpPr/>
            <p:nvPr/>
          </p:nvSpPr>
          <p:spPr>
            <a:xfrm>
              <a:off x="533400" y="4916805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194937"/>
              <a:ext cx="200023" cy="200023"/>
              <a:chOff x="738188" y="5194937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1949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52616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511" y="5063966"/>
              <a:ext cx="402704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 只有左孩子 8，属于情况 2，由 8 整棵子树顶替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 的位置。</a:t>
              </a:r>
            </a:p>
          </p:txBody>
        </p:sp>
      </p:grpSp>
      <p:grpSp>
        <p:nvGrpSpPr>
          <p:cNvPr id="62" name="c2-table-1"/>
          <p:cNvGrpSpPr/>
          <p:nvPr/>
        </p:nvGrpSpPr>
        <p:grpSpPr>
          <a:xfrm>
            <a:off x="5815965" y="1524000"/>
            <a:ext cx="5842635" cy="1720215"/>
            <a:chOff x="5815965" y="1524000"/>
            <a:chExt cx="5842635" cy="1720215"/>
          </a:xfrm>
        </p:grpSpPr>
        <p:sp>
          <p:nvSpPr>
            <p:cNvPr id="43" name="Rectangle 43"/>
            <p:cNvSpPr/>
            <p:nvPr/>
          </p:nvSpPr>
          <p:spPr>
            <a:xfrm>
              <a:off x="5815965" y="1524000"/>
              <a:ext cx="584263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9031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70254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属于哪种情况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29406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树形怎么变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21312" y="2085022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 9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06234" y="208502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在失败处挂叶结点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25472" y="2085022"/>
              <a:ext cx="12560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的右孩子变成 9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23793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15965" y="2384108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21312" y="2515552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 17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06234" y="2515552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 3：两个孩子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725472" y="2515552"/>
              <a:ext cx="27907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根的关键词换成 20，25 顶替原来的 20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15965" y="28098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21312" y="2946082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 13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06234" y="2946082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 2：一个孩子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25472" y="2946082"/>
              <a:ext cx="2314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连同它的两个孩子整体顶替 13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815965" y="1524000"/>
              <a:ext cx="5842635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096125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615362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2-card-2"/>
          <p:cNvGrpSpPr/>
          <p:nvPr/>
        </p:nvGrpSpPr>
        <p:grpSpPr>
          <a:xfrm>
            <a:off x="5815965" y="3429952"/>
            <a:ext cx="5842635" cy="2165985"/>
            <a:chOff x="5815965" y="3429952"/>
            <a:chExt cx="5842635" cy="2165985"/>
          </a:xfrm>
        </p:grpSpPr>
        <p:sp>
          <p:nvSpPr>
            <p:cNvPr id="63" name="Rectangle 63"/>
            <p:cNvSpPr/>
            <p:nvPr/>
          </p:nvSpPr>
          <p:spPr>
            <a:xfrm>
              <a:off x="5815965" y="3429952"/>
              <a:ext cx="5842635" cy="2165985"/>
            </a:xfrm>
            <a:prstGeom prst="roundRect">
              <a:avLst>
                <a:gd name="adj" fmla="val 615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019800" y="363378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110008" y="36695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20256" y="367331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最终树形与两条检查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027420" y="4085273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184011" y="4025741"/>
              <a:ext cx="489267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最终的中根序列是 5 8 9 20 23 25 27 31 35 39，共 10 个关键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词，仍严格递增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027420" y="467677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184011" y="4617244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树高从 4 降到 3，因为删掉的是靠近根的结点，而顶替上来的子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树更矮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013704" y="5204460"/>
              <a:ext cx="4858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三步的每个中间树形都用程序比对过课件第 26、28、30、32 页的图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3" name="Rectangle 7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511" y="6004084"/>
              <a:ext cx="89990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考试里这类题最容易错在第二步：删有两个孩子的结点时，别忘了还要回去把顶替者原来的位置也处理掉。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11344" cy="909257"/>
            <a:chOff x="520446" y="342900"/>
            <a:chExt cx="65113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二叉查找树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113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个关键词能排出多少棵不同的二叉查找树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952690" cy="264033"/>
            <a:chOff x="526542" y="1545907"/>
            <a:chExt cx="895269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9526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关键词一旦固定为 1 到 n，形状定了树就定了，所以问题等价于数二叉树的形态数，大厂面试题 LeetCode 96。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3"/>
              <p:cNvSpPr txBox="1">
                <a:spLocks noGrp="1"/>
              </p:cNvSpPr>
              <p:nvPr/>
            </p:nvSpPr>
            <p:spPr>
              <a:xfrm>
                <a:off x="533400" y="1928812"/>
                <a:ext cx="5626418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Catalan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2n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4"/>
              <p:cNvSpPr txBox="1">
                <a:spLocks noGrp="1"/>
              </p:cNvSpPr>
              <p:nvPr/>
            </p:nvSpPr>
            <p:spPr>
              <a:xfrm>
                <a:off x="533400" y="2659380"/>
                <a:ext cx="5626418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Catalan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2n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Catalan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 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Catalan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6" name="c1-table-3"/>
          <p:cNvGrpSpPr/>
          <p:nvPr/>
        </p:nvGrpSpPr>
        <p:grpSpPr>
          <a:xfrm>
            <a:off x="533400" y="3338512"/>
            <a:ext cx="5626418" cy="762952"/>
            <a:chOff x="533400" y="3338512"/>
            <a:chExt cx="5626418" cy="762952"/>
          </a:xfrm>
        </p:grpSpPr>
        <p:sp>
          <p:nvSpPr>
            <p:cNvPr id="11" name="Rectangle 11"/>
            <p:cNvSpPr/>
            <p:nvPr/>
          </p:nvSpPr>
          <p:spPr>
            <a:xfrm>
              <a:off x="533400" y="3338512"/>
              <a:ext cx="562641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7783" y="34556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25501" y="34556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99871" y="34556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75193" y="34556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50516" y="34556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25838" y="34556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01161" y="34556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76483" y="34556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8078" y="38366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棵数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28191" y="38366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03514" y="38366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78836" y="38366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54158" y="383667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29481" y="383667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03851" y="383667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79174" y="383667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429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338512"/>
              <a:ext cx="5626418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428750" y="333851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104072" y="333851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779395" y="333851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454718" y="333851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130040" y="333851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804410" y="333851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79732" y="333851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llout-4"/>
          <p:cNvGrpSpPr/>
          <p:nvPr/>
        </p:nvGrpSpPr>
        <p:grpSpPr>
          <a:xfrm>
            <a:off x="533400" y="4266248"/>
            <a:ext cx="5626418" cy="1362075"/>
            <a:chOff x="533400" y="4266248"/>
            <a:chExt cx="5626418" cy="1362075"/>
          </a:xfrm>
        </p:grpSpPr>
        <p:sp>
          <p:nvSpPr>
            <p:cNvPr id="37" name="Rectangle 37"/>
            <p:cNvSpPr/>
            <p:nvPr/>
          </p:nvSpPr>
          <p:spPr>
            <a:xfrm>
              <a:off x="533400" y="4266248"/>
              <a:ext cx="5626418" cy="1362075"/>
            </a:xfrm>
            <a:prstGeom prst="roundRect">
              <a:avLst>
                <a:gd name="adj" fmla="val 8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4847273"/>
              <a:ext cx="200026" cy="200026"/>
              <a:chOff x="738188" y="4847273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48472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49139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27088" y="49472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1273" y="4740116"/>
              <a:ext cx="46784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第7讲数过的二叉树形态数就是同一个数列。把 n 个结点的左右子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树规模枚举一遍，就得到上面的递推式。</a:t>
              </a:r>
            </a:p>
          </p:txBody>
        </p:sp>
      </p:grpSp>
      <p:grpSp>
        <p:nvGrpSpPr>
          <p:cNvPr id="47" name="c2-code-1"/>
          <p:cNvGrpSpPr/>
          <p:nvPr/>
        </p:nvGrpSpPr>
        <p:grpSpPr>
          <a:xfrm>
            <a:off x="6464618" y="1928812"/>
            <a:ext cx="5193982" cy="1561148"/>
            <a:chOff x="6464618" y="1928812"/>
            <a:chExt cx="5193982" cy="1561148"/>
          </a:xfrm>
        </p:grpSpPr>
        <p:sp>
          <p:nvSpPr>
            <p:cNvPr id="44" name="Rectangle 44"/>
            <p:cNvSpPr/>
            <p:nvPr/>
          </p:nvSpPr>
          <p:spPr>
            <a:xfrm>
              <a:off x="6464618" y="1928812"/>
              <a:ext cx="5193982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93015" y="20807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按递推式迭代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93015" y="2340769"/>
              <a:ext cx="2884932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numofBST(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=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2; i &lt;= n;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 = C * 2 * (2 * i - 1) / (i + 1);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464618" y="3654742"/>
            <a:ext cx="5193982" cy="1973580"/>
            <a:chOff x="6464618" y="3654742"/>
            <a:chExt cx="5193982" cy="1973580"/>
          </a:xfrm>
        </p:grpSpPr>
        <p:sp>
          <p:nvSpPr>
            <p:cNvPr id="48" name="Rectangle 48"/>
            <p:cNvSpPr/>
            <p:nvPr/>
          </p:nvSpPr>
          <p:spPr>
            <a:xfrm>
              <a:off x="6464618" y="3654742"/>
              <a:ext cx="5193982" cy="1973580"/>
            </a:xfrm>
            <a:prstGeom prst="roundRect">
              <a:avLst>
                <a:gd name="adj" fmla="val 67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4142" y="3788092"/>
              <a:ext cx="47625" cy="170688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83692" y="383571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76364" y="38685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50620" y="3875246"/>
              <a:ext cx="21789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这份实现只在 n ≤ 16 时正确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77216" y="4191476"/>
              <a:ext cx="37193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17 时中间乘积 C×2×(2i−1) = 35357670×2×33 =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2333606220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，已经超出 int 的上限 2147483647。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693218" y="477202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48666" y="4720114"/>
              <a:ext cx="39025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实测回绕成 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−108964504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，正确答案是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129644790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693218" y="505682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48666" y="5004911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改成 long long 即可；实测 n = 19 得到 1767263190，与理论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值一致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9" name="Rectangle 5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1273" y="6039326"/>
              <a:ext cx="6733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先乘后除的写法本身是对的（每一步的商都是整数），出问题的是中间乘积的取值范围。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二叉查找树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二叉查找树的性能：平均很好，最坏很糟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ree-1"/>
          <p:cNvGrpSpPr/>
          <p:nvPr/>
        </p:nvGrpSpPr>
        <p:grpSpPr>
          <a:xfrm>
            <a:off x="2627948" y="1662112"/>
            <a:ext cx="1799166" cy="3099912"/>
            <a:chOff x="2627948" y="1662112"/>
            <a:chExt cx="1799166" cy="3099912"/>
          </a:xfrm>
        </p:grpSpPr>
        <p:sp>
          <p:nvSpPr>
            <p:cNvPr id="7" name="Freeform 7"/>
            <p:cNvSpPr/>
            <p:nvPr/>
          </p:nvSpPr>
          <p:spPr>
            <a:xfrm>
              <a:off x="3854768" y="3736658"/>
              <a:ext cx="349567" cy="631508"/>
            </a:xfrm>
            <a:custGeom>
              <a:avLst/>
              <a:gdLst/>
              <a:ahLst/>
              <a:cxnLst/>
              <a:rect l="l" t="t" r="r" b="b"/>
              <a:pathLst>
                <a:path w="349567" h="631508">
                  <a:moveTo>
                    <a:pt x="0" y="0"/>
                  </a:moveTo>
                  <a:lnTo>
                    <a:pt x="349567" y="631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505200" y="3104198"/>
              <a:ext cx="349567" cy="632460"/>
            </a:xfrm>
            <a:custGeom>
              <a:avLst/>
              <a:gdLst/>
              <a:ahLst/>
              <a:cxnLst/>
              <a:rect l="l" t="t" r="r" b="b"/>
              <a:pathLst>
                <a:path w="349567" h="632460">
                  <a:moveTo>
                    <a:pt x="0" y="0"/>
                  </a:moveTo>
                  <a:lnTo>
                    <a:pt x="349567" y="6324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155632" y="2471738"/>
              <a:ext cx="349567" cy="632460"/>
            </a:xfrm>
            <a:custGeom>
              <a:avLst/>
              <a:gdLst/>
              <a:ahLst/>
              <a:cxnLst/>
              <a:rect l="l" t="t" r="r" b="b"/>
              <a:pathLst>
                <a:path w="349567" h="632460">
                  <a:moveTo>
                    <a:pt x="0" y="0"/>
                  </a:moveTo>
                  <a:lnTo>
                    <a:pt x="349567" y="6324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06065" y="1840230"/>
              <a:ext cx="349567" cy="631508"/>
            </a:xfrm>
            <a:custGeom>
              <a:avLst/>
              <a:gdLst/>
              <a:ahLst/>
              <a:cxnLst/>
              <a:rect l="l" t="t" r="r" b="b"/>
              <a:pathLst>
                <a:path w="349567" h="631508">
                  <a:moveTo>
                    <a:pt x="0" y="0"/>
                  </a:moveTo>
                  <a:lnTo>
                    <a:pt x="349567" y="631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4026218" y="4190048"/>
              <a:ext cx="356235" cy="35623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3676650" y="355854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327082" y="292608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977515" y="229362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2627948" y="166211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158186" y="43033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81555" y="4600099"/>
              <a:ext cx="4455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高度 n−1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8618" y="36709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59051" y="30384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09483" y="24069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59916" y="17745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5020628"/>
            <a:ext cx="4544378" cy="702945"/>
            <a:chOff x="533400" y="5020628"/>
            <a:chExt cx="4544378" cy="702945"/>
          </a:xfrm>
        </p:grpSpPr>
        <p:sp>
          <p:nvSpPr>
            <p:cNvPr id="23" name="Rectangle 23"/>
            <p:cNvSpPr/>
            <p:nvPr/>
          </p:nvSpPr>
          <p:spPr>
            <a:xfrm>
              <a:off x="533400" y="5020628"/>
              <a:ext cx="4544378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26129" y="5268396"/>
              <a:ext cx="224134" cy="192560"/>
              <a:chOff x="726129" y="5268396"/>
              <a:chExt cx="224134" cy="19256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38200" y="53387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26129" y="52683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8200" y="54165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1273" y="5165884"/>
              <a:ext cx="36786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按 1 2 3 4 5 的顺序插入，树退化成一条单链，查找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变成顺序查找。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5382578" y="1524000"/>
            <a:ext cx="6276022" cy="1712595"/>
            <a:chOff x="5382578" y="1524000"/>
            <a:chExt cx="6276022" cy="1712595"/>
          </a:xfrm>
        </p:grpSpPr>
        <p:sp>
          <p:nvSpPr>
            <p:cNvPr id="30" name="Rectangle 30"/>
            <p:cNvSpPr/>
            <p:nvPr/>
          </p:nvSpPr>
          <p:spPr>
            <a:xfrm>
              <a:off x="5382578" y="1524000"/>
              <a:ext cx="627602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2645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44502" y="1641157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树高 h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60099" y="1641157"/>
              <a:ext cx="1200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 / 插入 / 删除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288143" y="1641157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什么时候出现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77256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58381" y="2023110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⌊log₂n⌋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38554" y="2023110"/>
              <a:ext cx="5810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70186" y="2023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完全二叉树形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82578" y="22821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82578" y="2286952"/>
              <a:ext cx="6276022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477256" y="24974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58381" y="2497455"/>
              <a:ext cx="5252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Θ(logn)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38554" y="2497455"/>
              <a:ext cx="5810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70186" y="2404110"/>
              <a:ext cx="159086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个互异关键词随机排列插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82578" y="284988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477256" y="2971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773228" y="2864168"/>
              <a:ext cx="136207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58381" y="297180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38554" y="2971800"/>
              <a:ext cx="376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70186" y="29718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按有序或逆序插入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82578" y="1524000"/>
              <a:ext cx="6276022" cy="1712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758940" y="1524000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139112" y="1524000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770745" y="1524000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card-2"/>
          <p:cNvGrpSpPr/>
          <p:nvPr/>
        </p:nvGrpSpPr>
        <p:grpSpPr>
          <a:xfrm>
            <a:off x="5382578" y="3401378"/>
            <a:ext cx="6276022" cy="1406842"/>
            <a:chOff x="5382578" y="3401378"/>
            <a:chExt cx="6276022" cy="1406842"/>
          </a:xfrm>
        </p:grpSpPr>
        <p:sp>
          <p:nvSpPr>
            <p:cNvPr id="56" name="Rectangle 56"/>
            <p:cNvSpPr/>
            <p:nvPr/>
          </p:nvSpPr>
          <p:spPr>
            <a:xfrm>
              <a:off x="5382578" y="3401378"/>
              <a:ext cx="6276022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392102" y="3534728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601652" y="358235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694324" y="36152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68580" y="3621881"/>
              <a:ext cx="33112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随机生成的二叉查找树平均高度是 Θ(logn)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595176" y="3938111"/>
              <a:ext cx="51579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n 个互异关键词随机排列生成的二叉查找树，期望高度约为 4.31 ln 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（Reed, JACM 2003），仍是 O(logn) 量级。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596319" y="4462462"/>
              <a:ext cx="57141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 n = 1000 时 60 次随机试验的平均高度是 21.4，而 log₂1000 ≈ 10，最坏情况则是 999</a:t>
              </a:r>
            </a:p>
          </p:txBody>
        </p:sp>
      </p:grpSp>
      <p:grpSp>
        <p:nvGrpSpPr>
          <p:cNvPr id="69" name="c2-callout-3"/>
          <p:cNvGrpSpPr/>
          <p:nvPr/>
        </p:nvGrpSpPr>
        <p:grpSpPr>
          <a:xfrm>
            <a:off x="5382578" y="4972050"/>
            <a:ext cx="6276022" cy="702945"/>
            <a:chOff x="5382578" y="4972050"/>
            <a:chExt cx="6276022" cy="702945"/>
          </a:xfrm>
        </p:grpSpPr>
        <p:sp>
          <p:nvSpPr>
            <p:cNvPr id="64" name="Rectangle 64"/>
            <p:cNvSpPr/>
            <p:nvPr/>
          </p:nvSpPr>
          <p:spPr>
            <a:xfrm>
              <a:off x="5382578" y="4972050"/>
              <a:ext cx="6276022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5587365" y="5223512"/>
              <a:ext cx="200023" cy="200023"/>
              <a:chOff x="5587365" y="5223512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5587365" y="52235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5720715" y="52901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5890451" y="5117306"/>
              <a:ext cx="52798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 O(logn) 的前提是插入顺序随机。实际数据常常是按时间或编号递增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到来的，恰好命中最坏情况。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0" name="Rectangle 7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1273" y="6039326"/>
              <a:ext cx="66072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正因为“最坏 O(n)”在真实数据里并不罕见，才有了后面的 AVL 树、红黑树和伸展树。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二叉查找树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两道课下思考题的答案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2115502"/>
            <a:chOff x="533400" y="1524000"/>
            <a:chExt cx="4977765" cy="21155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115502"/>
            </a:xfrm>
            <a:prstGeom prst="roundRect">
              <a:avLst>
                <a:gd name="adj" fmla="val 63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488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741" y="1763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阿里笔试题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二叉查找树里查询一个关键词的最坏时间复杂度是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439829"/>
              <a:ext cx="383588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A. O(n)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　　B. O(nlogn)　　C. O(n²)　　D.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O(n³)　　E. O(logn)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9239" y="3027045"/>
              <a:ext cx="4077843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选 </a:t>
              </a:r>
              <a:r>
                <a:rPr lang="en-US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。最坏情况下树退化成单链，高度 n−1，查一次要比较 n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次。选 E 的人把平均情况当成了最坏情况。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3825240"/>
            <a:ext cx="4977765" cy="1388745"/>
            <a:chOff x="533400" y="3825240"/>
            <a:chExt cx="4977765" cy="1388745"/>
          </a:xfrm>
        </p:grpSpPr>
        <p:sp>
          <p:nvSpPr>
            <p:cNvPr id="15" name="Rectangle 15"/>
            <p:cNvSpPr/>
            <p:nvPr/>
          </p:nvSpPr>
          <p:spPr>
            <a:xfrm>
              <a:off x="533400" y="3825240"/>
              <a:ext cx="4977765" cy="1388745"/>
            </a:xfrm>
            <a:prstGeom prst="roundRect">
              <a:avLst>
                <a:gd name="adj" fmla="val 823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418648"/>
              <a:ext cx="200026" cy="200026"/>
              <a:chOff x="738188" y="4418648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44186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" y="44853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7088" y="45186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511" y="4288631"/>
              <a:ext cx="399999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题干问的是“最坏”，只要能构造出一种插入顺序使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代价达到 O(n) 就够了，不必是常见情形。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5815965" y="1524000"/>
            <a:ext cx="5842635" cy="2747962"/>
            <a:chOff x="5815965" y="1524000"/>
            <a:chExt cx="5842635" cy="2747962"/>
          </a:xfrm>
        </p:grpSpPr>
        <p:sp>
          <p:nvSpPr>
            <p:cNvPr id="22" name="Rectangle 22"/>
            <p:cNvSpPr/>
            <p:nvPr/>
          </p:nvSpPr>
          <p:spPr>
            <a:xfrm>
              <a:off x="5815965" y="1524000"/>
              <a:ext cx="5842635" cy="2747962"/>
            </a:xfrm>
            <a:prstGeom prst="roundRect">
              <a:avLst>
                <a:gd name="adj" fmla="val 48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825490" y="1657350"/>
              <a:ext cx="47625" cy="24812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57900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39256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课下思考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43154" y="1767364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给一个二叉查找树的先序序列，能唯一确定这棵树吗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50661" y="2119789"/>
              <a:ext cx="50639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。先序序列的第一个元素是根，其后第一段连续的比根小的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元素构成左子树的先序序列，剩下的构成右子树的先序序列，递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归下去即可。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065520" y="304228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22111" y="2982754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更省事的做法：把先序序列按原顺序逐个插入空树，得到的就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是原树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065520" y="363378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22111" y="3574256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后序序列同理也能唯一确定；</a:t>
              </a:r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中根序列不行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，它只告诉你排好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序的关键词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5815965" y="4456748"/>
            <a:ext cx="5842635" cy="756285"/>
            <a:chOff x="5815965" y="4456748"/>
            <a:chExt cx="5842635" cy="756285"/>
          </a:xfrm>
        </p:grpSpPr>
        <p:sp>
          <p:nvSpPr>
            <p:cNvPr id="33" name="Rectangle 33"/>
            <p:cNvSpPr/>
            <p:nvPr/>
          </p:nvSpPr>
          <p:spPr>
            <a:xfrm>
              <a:off x="5815965" y="4456748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020753" y="4734880"/>
              <a:ext cx="200023" cy="200023"/>
              <a:chOff x="6020753" y="4734880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020753" y="47348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154103" y="48015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323076" y="4604861"/>
              <a:ext cx="484759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随机对拍 2000 组：先序重建的树形与原树逐结点一致。中根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序列 1 2 3 对应 5 棵不同的二叉查找树。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9" name="Rectangle 3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6004084"/>
              <a:ext cx="67242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一句话记法：先序和后序记录了“谁先被选作根”，中根序列只记录了大小次序。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962083" cy="2997517"/>
            <a:chOff x="667512" y="1835468"/>
            <a:chExt cx="496208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96208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高度平衡树（AVL 树）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6032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用四种旋转把树高强行压在 O(logn)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13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任一结点左右子树高度差不超过 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303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失衡只有 LL、RR、LR、RL 四种形状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插入最多调整一次，删除可能一路转到根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59792" cy="909257"/>
            <a:chOff x="520446" y="342900"/>
            <a:chExt cx="45597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79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217" y="407194"/>
              <a:ext cx="2701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高度平衡树（AVL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597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想让 h 小，就得让树长得矮胖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439458" cy="278702"/>
            <a:chOff x="526161" y="1547336"/>
            <a:chExt cx="843945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4394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二叉查找树的所有操作都是 O(h)，最坏时 h 可以到 n。于是目标变成：随时把 h 控制在 O(logn)。</a:t>
              </a:r>
            </a:p>
          </p:txBody>
        </p:sp>
      </p:grpSp>
      <p:grpSp>
        <p:nvGrpSpPr>
          <p:cNvPr id="11" name="c1-image-1"/>
          <p:cNvGrpSpPr/>
          <p:nvPr/>
        </p:nvGrpSpPr>
        <p:grpSpPr>
          <a:xfrm>
            <a:off x="1183576" y="1941195"/>
            <a:ext cx="4109847" cy="2336102"/>
            <a:chOff x="1183576" y="1941195"/>
            <a:chExt cx="4109847" cy="2336102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6" r="0" b="6"/>
            <a:stretch>
              <a:fillRect/>
            </a:stretch>
          </p:blipFill>
          <p:spPr>
            <a:xfrm>
              <a:off x="1880235" y="1941195"/>
              <a:ext cx="2715578" cy="2036445"/>
            </a:xfrm>
            <a:prstGeom prst="roundRect">
              <a:avLst>
                <a:gd name="adj" fmla="val 6548"/>
              </a:avLst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183576" y="4071938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同样多的积木，堆成细长一柱够不着顶，摊成矮胖一堆一伸手就到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430078"/>
            <a:ext cx="5410200" cy="1789748"/>
            <a:chOff x="533400" y="4430078"/>
            <a:chExt cx="5410200" cy="1789748"/>
          </a:xfrm>
        </p:grpSpPr>
        <p:sp>
          <p:nvSpPr>
            <p:cNvPr id="12" name="Rectangle 12"/>
            <p:cNvSpPr/>
            <p:nvPr/>
          </p:nvSpPr>
          <p:spPr>
            <a:xfrm>
              <a:off x="533400" y="4430078"/>
              <a:ext cx="5410200" cy="1789748"/>
            </a:xfrm>
            <a:prstGeom prst="roundRect">
              <a:avLst>
                <a:gd name="adj" fmla="val 638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225417"/>
              <a:ext cx="200023" cy="200023"/>
              <a:chOff x="738188" y="5225417"/>
              <a:chExt cx="200023" cy="20002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52254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71538" y="52920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5106352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让每个结点的左右子树高度尽可能接近，树自然就矮胖，这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种状态称为平衡。</a:t>
              </a:r>
            </a:p>
          </p:txBody>
        </p:sp>
      </p:grpSp>
      <p:grpSp>
        <p:nvGrpSpPr>
          <p:cNvPr id="38" name="c2-table-1"/>
          <p:cNvGrpSpPr/>
          <p:nvPr/>
        </p:nvGrpSpPr>
        <p:grpSpPr>
          <a:xfrm>
            <a:off x="6248400" y="1941195"/>
            <a:ext cx="5410200" cy="1217295"/>
            <a:chOff x="6248400" y="1941195"/>
            <a:chExt cx="5410200" cy="1217295"/>
          </a:xfrm>
        </p:grpSpPr>
        <p:sp>
          <p:nvSpPr>
            <p:cNvPr id="18" name="Rectangle 18"/>
            <p:cNvSpPr/>
            <p:nvPr/>
          </p:nvSpPr>
          <p:spPr>
            <a:xfrm>
              <a:off x="6248400" y="1941195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36449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平衡标准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0169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66283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5250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48412" y="24712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理想平衡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39038" y="247126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满二叉树或完全二叉树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78315" y="2471261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⌊log₂n⌋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60355" y="24712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维护成本极高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48400" y="27479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48400" y="275272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8412" y="28770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渐近平衡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39038" y="2877026"/>
              <a:ext cx="15869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树高是 O(logn) 就接受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78315" y="2877026"/>
              <a:ext cx="590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369868" y="2762250"/>
              <a:ext cx="127920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460355" y="28770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可以维护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1941195"/>
              <a:ext cx="541020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434262" y="194119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273540" y="194119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355580" y="194119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2-card-2"/>
          <p:cNvGrpSpPr/>
          <p:nvPr/>
        </p:nvGrpSpPr>
        <p:grpSpPr>
          <a:xfrm>
            <a:off x="6248400" y="3333750"/>
            <a:ext cx="5410200" cy="1483995"/>
            <a:chOff x="6248400" y="3333750"/>
            <a:chExt cx="5410200" cy="1483995"/>
          </a:xfrm>
        </p:grpSpPr>
        <p:sp>
          <p:nvSpPr>
            <p:cNvPr id="39" name="Rectangle 39"/>
            <p:cNvSpPr/>
            <p:nvPr/>
          </p:nvSpPr>
          <p:spPr>
            <a:xfrm>
              <a:off x="6248400" y="3333750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346710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8905" y="352615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70345" y="35604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取舍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62597" y="356616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为什么不追求理想平衡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72047" y="3900488"/>
              <a:ext cx="47114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完全二叉树对形状的要求太死，插入一个结点常常要动一大片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结点才能恢复。放宽到 O(logn) 之后，每次插入只要局部转一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两下。</a:t>
              </a:r>
            </a:p>
          </p:txBody>
        </p:sp>
      </p:grpSp>
      <p:grpSp>
        <p:nvGrpSpPr>
          <p:cNvPr id="51" name="c2-card-3"/>
          <p:cNvGrpSpPr/>
          <p:nvPr/>
        </p:nvGrpSpPr>
        <p:grpSpPr>
          <a:xfrm>
            <a:off x="6248400" y="4993005"/>
            <a:ext cx="5410200" cy="1226820"/>
            <a:chOff x="6248400" y="4993005"/>
            <a:chExt cx="5410200" cy="1226820"/>
          </a:xfrm>
        </p:grpSpPr>
        <p:sp>
          <p:nvSpPr>
            <p:cNvPr id="46" name="Rectangle 46"/>
            <p:cNvSpPr/>
            <p:nvPr/>
          </p:nvSpPr>
          <p:spPr>
            <a:xfrm>
              <a:off x="6248400" y="4993005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40805" y="518541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24244" y="52197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本节目标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91197" y="5225415"/>
              <a:ext cx="3372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O(h) = O(logn) 的前提下还能快速改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33947" y="5559742"/>
              <a:ext cx="47885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只要树高是 O(logn)，查找、插入、删除就都是 O(logn)。AVL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树、红黑树、伸展树是三种不同的实现路线。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67435" cy="909257"/>
            <a:chOff x="520446" y="342900"/>
            <a:chExt cx="65674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79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217" y="407194"/>
              <a:ext cx="2701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高度平衡树（AVL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674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AVL 树：任一结点左右子树高度差不超过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613535"/>
            <a:chOff x="533400" y="1524000"/>
            <a:chExt cx="5410200" cy="16135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13535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4683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31042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高度平衡树（AVL 树、平衡二叉树）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5742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高度平衡树是一棵满足如下条件的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二叉查找树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：任意结点的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左子树与右子树的高度最多相差 1。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711291"/>
              <a:ext cx="50279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即对任意结点 P，|P 的左子树高度 − P 的右子树高度| ≤ 1。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322320"/>
            <a:ext cx="5410200" cy="2283142"/>
            <a:chOff x="533400" y="3322320"/>
            <a:chExt cx="5410200" cy="2283142"/>
          </a:xfrm>
        </p:grpSpPr>
        <p:sp>
          <p:nvSpPr>
            <p:cNvPr id="15" name="Rectangle 15"/>
            <p:cNvSpPr/>
            <p:nvPr/>
          </p:nvSpPr>
          <p:spPr>
            <a:xfrm>
              <a:off x="533400" y="3322320"/>
              <a:ext cx="5410200" cy="2283142"/>
            </a:xfrm>
            <a:prstGeom prst="roundRect">
              <a:avLst>
                <a:gd name="adj" fmla="val 58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455670"/>
              <a:ext cx="47625" cy="201644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352615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7644" y="35618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平衡系数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60588" y="356663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左子树高度减去右子树高度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8096" y="3918109"/>
              <a:ext cx="473036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 P 的平衡系数 = P 的左子树高度 − P 的右子树高度。由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定义，AVL 树中每个结点的平衡系数只能是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−1、0、1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三个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值之一。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9239" y="4777740"/>
              <a:ext cx="3606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规定空树的高度为 −1，只有一个结点的树高度为 0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248400" y="1524000"/>
            <a:ext cx="5410200" cy="1293495"/>
            <a:chOff x="6248400" y="1524000"/>
            <a:chExt cx="5410200" cy="129349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0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80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人名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91744" y="1767364"/>
              <a:ext cx="24028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Adelson-Velsky 与 Landis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3096" y="2119789"/>
              <a:ext cx="465823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两位前苏联数学家 1962 年提出这种结构，AVL 就取自他们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姓氏的首字母。这是历史上第一种自平衡二叉查找树。</a:t>
              </a:r>
            </a:p>
          </p:txBody>
        </p:sp>
      </p:grpSp>
      <p:grpSp>
        <p:nvGrpSpPr>
          <p:cNvPr id="36" name="c2-callout-2"/>
          <p:cNvGrpSpPr/>
          <p:nvPr/>
        </p:nvGrpSpPr>
        <p:grpSpPr>
          <a:xfrm>
            <a:off x="6248400" y="3002280"/>
            <a:ext cx="5410200" cy="756285"/>
            <a:chOff x="6248400" y="3002280"/>
            <a:chExt cx="5410200" cy="756285"/>
          </a:xfrm>
        </p:grpSpPr>
        <p:sp>
          <p:nvSpPr>
            <p:cNvPr id="30" name="Rectangle 30"/>
            <p:cNvSpPr/>
            <p:nvPr/>
          </p:nvSpPr>
          <p:spPr>
            <a:xfrm>
              <a:off x="6248400" y="300228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441129" y="3276718"/>
              <a:ext cx="224134" cy="192560"/>
              <a:chOff x="6441129" y="3276718"/>
              <a:chExt cx="224134" cy="19256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553200" y="33470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441129" y="32767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553200" y="34248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755511" y="3150394"/>
              <a:ext cx="451396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AVL 树首先得是二叉查找树。只满足高度条件、中根序列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却不递增的树不是 AVL 树。</a:t>
              </a:r>
            </a:p>
          </p:txBody>
        </p:sp>
      </p:grpSp>
      <p:grpSp>
        <p:nvGrpSpPr>
          <p:cNvPr id="47" name="c2-card-3"/>
          <p:cNvGrpSpPr/>
          <p:nvPr/>
        </p:nvGrpSpPr>
        <p:grpSpPr>
          <a:xfrm>
            <a:off x="6248400" y="3944302"/>
            <a:ext cx="5410200" cy="1662112"/>
            <a:chOff x="6248400" y="3944302"/>
            <a:chExt cx="5410200" cy="1662112"/>
          </a:xfrm>
        </p:grpSpPr>
        <p:sp>
          <p:nvSpPr>
            <p:cNvPr id="37" name="Rectangle 37"/>
            <p:cNvSpPr/>
            <p:nvPr/>
          </p:nvSpPr>
          <p:spPr>
            <a:xfrm>
              <a:off x="6248400" y="3944302"/>
              <a:ext cx="5410200" cy="1662112"/>
            </a:xfrm>
            <a:prstGeom prst="roundRect">
              <a:avLst>
                <a:gd name="adj" fmla="val 80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52235" y="414813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38493" y="41838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95566" y="418766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自底向上一层一层算高度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59855" y="459962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16446" y="4540091"/>
              <a:ext cx="25473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叶结点高度 0，空子树高度 −1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59855" y="491966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16446" y="4860131"/>
              <a:ext cx="39619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结点高度 = max(左子树高度, 右子树高度) + 1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59855" y="523970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16446" y="5180171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算完高度再做减法，就得到每个结点的平衡系数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8" name="Rectangle 4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511" y="6004084"/>
              <a:ext cx="74859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判别时从最底层往上算，每个结点只算一次，一趟 O(n) 就能给所有结点标出平衡系数。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58906" cy="909257"/>
            <a:chOff x="520446" y="342900"/>
            <a:chExt cx="46589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79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217" y="407194"/>
              <a:ext cx="2701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高度平衡树（AVL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589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判别练习：哪两棵不是 AVL 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989195" cy="264033"/>
            <a:chOff x="526542" y="1545907"/>
            <a:chExt cx="498919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989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四棵树都是二叉查找树，按平衡系数判断它们是不是 AVL 树。</a:t>
              </a:r>
            </a:p>
          </p:txBody>
        </p:sp>
      </p:grpSp>
      <p:grpSp>
        <p:nvGrpSpPr>
          <p:cNvPr id="20" name="c1-tree-1"/>
          <p:cNvGrpSpPr/>
          <p:nvPr/>
        </p:nvGrpSpPr>
        <p:grpSpPr>
          <a:xfrm>
            <a:off x="1530668" y="2022158"/>
            <a:ext cx="3415664" cy="1159763"/>
            <a:chOff x="1530668" y="2022158"/>
            <a:chExt cx="3415664" cy="1159763"/>
          </a:xfrm>
        </p:grpSpPr>
        <p:sp>
          <p:nvSpPr>
            <p:cNvPr id="9" name="Freeform 9"/>
            <p:cNvSpPr/>
            <p:nvPr/>
          </p:nvSpPr>
          <p:spPr>
            <a:xfrm>
              <a:off x="1660208" y="2596515"/>
              <a:ext cx="451485" cy="445770"/>
            </a:xfrm>
            <a:custGeom>
              <a:avLst/>
              <a:gdLst/>
              <a:ahLst/>
              <a:cxnLst/>
              <a:rect l="l" t="t" r="r" b="b"/>
              <a:pathLst>
                <a:path w="451485" h="445770">
                  <a:moveTo>
                    <a:pt x="451485" y="0"/>
                  </a:moveTo>
                  <a:lnTo>
                    <a:pt x="0" y="4457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11692" y="2151698"/>
              <a:ext cx="1126808" cy="444818"/>
            </a:xfrm>
            <a:custGeom>
              <a:avLst/>
              <a:gdLst/>
              <a:ahLst/>
              <a:cxnLst/>
              <a:rect l="l" t="t" r="r" b="b"/>
              <a:pathLst>
                <a:path w="1126808" h="444818">
                  <a:moveTo>
                    <a:pt x="1126808" y="0"/>
                  </a:moveTo>
                  <a:lnTo>
                    <a:pt x="0" y="4448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238500" y="2151698"/>
              <a:ext cx="1578292" cy="444818"/>
            </a:xfrm>
            <a:custGeom>
              <a:avLst/>
              <a:gdLst/>
              <a:ahLst/>
              <a:cxnLst/>
              <a:rect l="l" t="t" r="r" b="b"/>
              <a:pathLst>
                <a:path w="1578292" h="444818">
                  <a:moveTo>
                    <a:pt x="0" y="0"/>
                  </a:moveTo>
                  <a:lnTo>
                    <a:pt x="1578292" y="4448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530668" y="2912745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982152" y="2466975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687252" y="2466975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108960" y="2022158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14058" y="29765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65543" y="25307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70643" y="25307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92351" y="20859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22" name="c1-text-2"/>
          <p:cNvGrpSpPr/>
          <p:nvPr/>
        </p:nvGrpSpPr>
        <p:grpSpPr>
          <a:xfrm>
            <a:off x="528066" y="3447098"/>
            <a:ext cx="3027978" cy="205359"/>
            <a:chOff x="528066" y="3447098"/>
            <a:chExt cx="3027978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528066" y="3447098"/>
              <a:ext cx="30279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 AVL 树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　根的平衡系数 1，其余都是 0 或 1。</a:t>
              </a:r>
            </a:p>
          </p:txBody>
        </p:sp>
      </p:grpSp>
      <p:grpSp>
        <p:nvGrpSpPr>
          <p:cNvPr id="43" name="c1-tree-3"/>
          <p:cNvGrpSpPr/>
          <p:nvPr/>
        </p:nvGrpSpPr>
        <p:grpSpPr>
          <a:xfrm>
            <a:off x="1115378" y="3832860"/>
            <a:ext cx="3961447" cy="1393127"/>
            <a:chOff x="1115378" y="3832860"/>
            <a:chExt cx="3961447" cy="1393127"/>
          </a:xfrm>
        </p:grpSpPr>
        <p:sp>
          <p:nvSpPr>
            <p:cNvPr id="23" name="Freeform 23"/>
            <p:cNvSpPr/>
            <p:nvPr/>
          </p:nvSpPr>
          <p:spPr>
            <a:xfrm>
              <a:off x="2668905" y="4712018"/>
              <a:ext cx="284798" cy="374333"/>
            </a:xfrm>
            <a:custGeom>
              <a:avLst/>
              <a:gdLst/>
              <a:ahLst/>
              <a:cxnLst/>
              <a:rect l="l" t="t" r="r" b="b"/>
              <a:pathLst>
                <a:path w="284798" h="374333">
                  <a:moveTo>
                    <a:pt x="284798" y="0"/>
                  </a:moveTo>
                  <a:lnTo>
                    <a:pt x="0" y="3743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244918" y="4336732"/>
              <a:ext cx="997268" cy="375285"/>
            </a:xfrm>
            <a:custGeom>
              <a:avLst/>
              <a:gdLst/>
              <a:ahLst/>
              <a:cxnLst/>
              <a:rect l="l" t="t" r="r" b="b"/>
              <a:pathLst>
                <a:path w="997268" h="375285">
                  <a:moveTo>
                    <a:pt x="997268" y="0"/>
                  </a:moveTo>
                  <a:lnTo>
                    <a:pt x="0" y="3752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2242185" y="4336732"/>
              <a:ext cx="711518" cy="375285"/>
            </a:xfrm>
            <a:custGeom>
              <a:avLst/>
              <a:gdLst/>
              <a:ahLst/>
              <a:cxnLst/>
              <a:rect l="l" t="t" r="r" b="b"/>
              <a:pathLst>
                <a:path w="711518" h="375285">
                  <a:moveTo>
                    <a:pt x="0" y="0"/>
                  </a:moveTo>
                  <a:lnTo>
                    <a:pt x="711518" y="3752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662488" y="4336732"/>
              <a:ext cx="284797" cy="375285"/>
            </a:xfrm>
            <a:custGeom>
              <a:avLst/>
              <a:gdLst/>
              <a:ahLst/>
              <a:cxnLst/>
              <a:rect l="l" t="t" r="r" b="b"/>
              <a:pathLst>
                <a:path w="284797" h="375285">
                  <a:moveTo>
                    <a:pt x="284797" y="0"/>
                  </a:moveTo>
                  <a:lnTo>
                    <a:pt x="0" y="3752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2242185" y="3962400"/>
              <a:ext cx="996315" cy="374333"/>
            </a:xfrm>
            <a:custGeom>
              <a:avLst/>
              <a:gdLst/>
              <a:ahLst/>
              <a:cxnLst/>
              <a:rect l="l" t="t" r="r" b="b"/>
              <a:pathLst>
                <a:path w="996315" h="374333">
                  <a:moveTo>
                    <a:pt x="996315" y="0"/>
                  </a:moveTo>
                  <a:lnTo>
                    <a:pt x="0" y="3743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3238500" y="3962400"/>
              <a:ext cx="1708785" cy="374333"/>
            </a:xfrm>
            <a:custGeom>
              <a:avLst/>
              <a:gdLst/>
              <a:ahLst/>
              <a:cxnLst/>
              <a:rect l="l" t="t" r="r" b="b"/>
              <a:pathLst>
                <a:path w="1708785" h="374333">
                  <a:moveTo>
                    <a:pt x="0" y="0"/>
                  </a:moveTo>
                  <a:lnTo>
                    <a:pt x="1708785" y="3743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115378" y="4582478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2539365" y="4956810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2824162" y="4582478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2112645" y="420719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532948" y="4582478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4817745" y="420719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3108960" y="3832860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98768" y="46462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22756" y="50206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07553" y="46462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96036" y="42719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16338" y="46462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01136" y="42719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192351" y="38976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45" name="c1-text-4"/>
          <p:cNvGrpSpPr/>
          <p:nvPr/>
        </p:nvGrpSpPr>
        <p:grpSpPr>
          <a:xfrm>
            <a:off x="528066" y="5454968"/>
            <a:ext cx="3126924" cy="205359"/>
            <a:chOff x="528066" y="5454968"/>
            <a:chExt cx="3126924" cy="205359"/>
          </a:xfrm>
        </p:grpSpPr>
        <p:sp>
          <p:nvSpPr>
            <p:cNvPr id="44" name="TextBox 44"/>
            <p:cNvSpPr txBox="1"/>
            <p:nvPr/>
          </p:nvSpPr>
          <p:spPr>
            <a:xfrm>
              <a:off x="528066" y="5454968"/>
              <a:ext cx="3126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 AVL 树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　根的左子树高 2、右子树高 1，差 1。</a:t>
              </a:r>
            </a:p>
          </p:txBody>
        </p:sp>
      </p:grpSp>
      <p:grpSp>
        <p:nvGrpSpPr>
          <p:cNvPr id="60" name="c2-tree-1"/>
          <p:cNvGrpSpPr/>
          <p:nvPr/>
        </p:nvGrpSpPr>
        <p:grpSpPr>
          <a:xfrm>
            <a:off x="7084695" y="1965960"/>
            <a:ext cx="3737610" cy="1271207"/>
            <a:chOff x="7084695" y="1965960"/>
            <a:chExt cx="3737610" cy="1271207"/>
          </a:xfrm>
        </p:grpSpPr>
        <p:sp>
          <p:nvSpPr>
            <p:cNvPr id="46" name="Freeform 46"/>
            <p:cNvSpPr/>
            <p:nvPr/>
          </p:nvSpPr>
          <p:spPr>
            <a:xfrm>
              <a:off x="7214235" y="2763202"/>
              <a:ext cx="386715" cy="334327"/>
            </a:xfrm>
            <a:custGeom>
              <a:avLst/>
              <a:gdLst/>
              <a:ahLst/>
              <a:cxnLst/>
              <a:rect l="l" t="t" r="r" b="b"/>
              <a:pathLst>
                <a:path w="386715" h="334327">
                  <a:moveTo>
                    <a:pt x="386715" y="0"/>
                  </a:moveTo>
                  <a:lnTo>
                    <a:pt x="0" y="3343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600950" y="2429828"/>
              <a:ext cx="386715" cy="333375"/>
            </a:xfrm>
            <a:custGeom>
              <a:avLst/>
              <a:gdLst/>
              <a:ahLst/>
              <a:cxnLst/>
              <a:rect l="l" t="t" r="r" b="b"/>
              <a:pathLst>
                <a:path w="386715" h="333375">
                  <a:moveTo>
                    <a:pt x="386715" y="0"/>
                  </a:moveTo>
                  <a:lnTo>
                    <a:pt x="0" y="333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987665" y="2095500"/>
              <a:ext cx="965835" cy="334327"/>
            </a:xfrm>
            <a:custGeom>
              <a:avLst/>
              <a:gdLst/>
              <a:ahLst/>
              <a:cxnLst/>
              <a:rect l="l" t="t" r="r" b="b"/>
              <a:pathLst>
                <a:path w="965835" h="334327">
                  <a:moveTo>
                    <a:pt x="965835" y="0"/>
                  </a:moveTo>
                  <a:lnTo>
                    <a:pt x="0" y="3343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953500" y="2095500"/>
              <a:ext cx="1739265" cy="334327"/>
            </a:xfrm>
            <a:custGeom>
              <a:avLst/>
              <a:gdLst/>
              <a:ahLst/>
              <a:cxnLst/>
              <a:rect l="l" t="t" r="r" b="b"/>
              <a:pathLst>
                <a:path w="1739265" h="334327">
                  <a:moveTo>
                    <a:pt x="0" y="0"/>
                  </a:moveTo>
                  <a:lnTo>
                    <a:pt x="1739265" y="3343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7084695" y="2967990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7471410" y="263366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7858125" y="2300288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10563225" y="2300288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8823960" y="1965960"/>
              <a:ext cx="259080" cy="25908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68086" y="303180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54801" y="269843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41516" y="2364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646616" y="2364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07351" y="20307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62" name="c2-text-2"/>
          <p:cNvGrpSpPr/>
          <p:nvPr/>
        </p:nvGrpSpPr>
        <p:grpSpPr>
          <a:xfrm>
            <a:off x="6243066" y="3447098"/>
            <a:ext cx="3692328" cy="205359"/>
            <a:chOff x="6243066" y="3447098"/>
            <a:chExt cx="3692328" cy="205359"/>
          </a:xfrm>
        </p:grpSpPr>
        <p:sp>
          <p:nvSpPr>
            <p:cNvPr id="61" name="TextBox 61"/>
            <p:cNvSpPr txBox="1"/>
            <p:nvPr/>
          </p:nvSpPr>
          <p:spPr>
            <a:xfrm>
              <a:off x="6243066" y="3447098"/>
              <a:ext cx="3692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不是 AVL 树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　根的左子树高 2、右子树高 0，平衡系数 2。</a:t>
              </a:r>
            </a:p>
          </p:txBody>
        </p:sp>
      </p:grpSp>
      <p:grpSp>
        <p:nvGrpSpPr>
          <p:cNvPr id="83" name="c2-tree-3"/>
          <p:cNvGrpSpPr/>
          <p:nvPr/>
        </p:nvGrpSpPr>
        <p:grpSpPr>
          <a:xfrm>
            <a:off x="6795135" y="3832860"/>
            <a:ext cx="4316730" cy="1393127"/>
            <a:chOff x="6795135" y="3832860"/>
            <a:chExt cx="4316730" cy="1393127"/>
          </a:xfrm>
        </p:grpSpPr>
        <p:sp>
          <p:nvSpPr>
            <p:cNvPr id="63" name="Freeform 63"/>
            <p:cNvSpPr/>
            <p:nvPr/>
          </p:nvSpPr>
          <p:spPr>
            <a:xfrm>
              <a:off x="8277225" y="4712018"/>
              <a:ext cx="676275" cy="374333"/>
            </a:xfrm>
            <a:custGeom>
              <a:avLst/>
              <a:gdLst/>
              <a:ahLst/>
              <a:cxnLst/>
              <a:rect l="l" t="t" r="r" b="b"/>
              <a:pathLst>
                <a:path w="676275" h="374333">
                  <a:moveTo>
                    <a:pt x="676275" y="0"/>
                  </a:moveTo>
                  <a:lnTo>
                    <a:pt x="0" y="3743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8953500" y="4712018"/>
              <a:ext cx="676275" cy="374333"/>
            </a:xfrm>
            <a:custGeom>
              <a:avLst/>
              <a:gdLst/>
              <a:ahLst/>
              <a:cxnLst/>
              <a:rect l="l" t="t" r="r" b="b"/>
              <a:pathLst>
                <a:path w="676275" h="374333">
                  <a:moveTo>
                    <a:pt x="0" y="0"/>
                  </a:moveTo>
                  <a:lnTo>
                    <a:pt x="676275" y="3743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6924675" y="4336732"/>
              <a:ext cx="1352550" cy="375285"/>
            </a:xfrm>
            <a:custGeom>
              <a:avLst/>
              <a:gdLst/>
              <a:ahLst/>
              <a:cxnLst/>
              <a:rect l="l" t="t" r="r" b="b"/>
              <a:pathLst>
                <a:path w="1352550" h="375285">
                  <a:moveTo>
                    <a:pt x="1352550" y="0"/>
                  </a:moveTo>
                  <a:lnTo>
                    <a:pt x="0" y="3752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8277225" y="4336732"/>
              <a:ext cx="676275" cy="375285"/>
            </a:xfrm>
            <a:custGeom>
              <a:avLst/>
              <a:gdLst/>
              <a:ahLst/>
              <a:cxnLst/>
              <a:rect l="l" t="t" r="r" b="b"/>
              <a:pathLst>
                <a:path w="676275" h="375285">
                  <a:moveTo>
                    <a:pt x="0" y="0"/>
                  </a:moveTo>
                  <a:lnTo>
                    <a:pt x="676275" y="3752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8277225" y="3962400"/>
              <a:ext cx="676275" cy="374333"/>
            </a:xfrm>
            <a:custGeom>
              <a:avLst/>
              <a:gdLst/>
              <a:ahLst/>
              <a:cxnLst/>
              <a:rect l="l" t="t" r="r" b="b"/>
              <a:pathLst>
                <a:path w="676275" h="374333">
                  <a:moveTo>
                    <a:pt x="676275" y="0"/>
                  </a:moveTo>
                  <a:lnTo>
                    <a:pt x="0" y="3743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8953500" y="3962400"/>
              <a:ext cx="2028825" cy="374333"/>
            </a:xfrm>
            <a:custGeom>
              <a:avLst/>
              <a:gdLst/>
              <a:ahLst/>
              <a:cxnLst/>
              <a:rect l="l" t="t" r="r" b="b"/>
              <a:pathLst>
                <a:path w="2028825" h="374333">
                  <a:moveTo>
                    <a:pt x="0" y="0"/>
                  </a:moveTo>
                  <a:lnTo>
                    <a:pt x="2028825" y="3743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6795135" y="4582478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8147685" y="4956810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9500235" y="4956810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8823960" y="4582478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8147685" y="420719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10852785" y="420719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8823960" y="3832860"/>
              <a:ext cx="259080" cy="25908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878526" y="46462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231076" y="50206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583626" y="50206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907351" y="46462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231076" y="42719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936176" y="42719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907351" y="38976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85" name="c2-text-4"/>
          <p:cNvGrpSpPr/>
          <p:nvPr/>
        </p:nvGrpSpPr>
        <p:grpSpPr>
          <a:xfrm>
            <a:off x="6243066" y="5454968"/>
            <a:ext cx="3692328" cy="205359"/>
            <a:chOff x="6243066" y="5454968"/>
            <a:chExt cx="3692328" cy="205359"/>
          </a:xfrm>
        </p:grpSpPr>
        <p:sp>
          <p:nvSpPr>
            <p:cNvPr id="84" name="TextBox 84"/>
            <p:cNvSpPr txBox="1"/>
            <p:nvPr/>
          </p:nvSpPr>
          <p:spPr>
            <a:xfrm>
              <a:off x="6243066" y="5454968"/>
              <a:ext cx="3692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不是 AVL 树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　根的左子树高 2、右子树高 0，平衡系数 2。</a:t>
              </a:r>
            </a:p>
          </p:txBody>
        </p:sp>
      </p:grpSp>
      <p:grpSp>
        <p:nvGrpSpPr>
          <p:cNvPr id="9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6" name="Rectangle 8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1041273" y="6039326"/>
              <a:ext cx="60697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只要找到一个平衡系数的绝对值大于 1 的结点就能判否，不必把整棵树都算完。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10180" cy="909257"/>
            <a:chOff x="520446" y="342900"/>
            <a:chExt cx="58101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79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217" y="407194"/>
              <a:ext cx="2701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高度平衡树（AVL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101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AVL 树的高度一定是 O(logn)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847131" cy="264033"/>
            <a:chOff x="526542" y="1545907"/>
            <a:chExt cx="584713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847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反过来问：高度为 h 的 AVL 树最少能有多少个结点？记这个数为 F(h)。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35"/>
              <p:cNvSpPr txBox="1">
                <a:spLocks noGrp="1"/>
              </p:cNvSpPr>
              <p:nvPr/>
            </p:nvSpPr>
            <p:spPr>
              <a:xfrm>
                <a:off x="533400" y="1928812"/>
                <a:ext cx="5410200" cy="1150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≥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6" name="c1-card-2"/>
          <p:cNvGrpSpPr/>
          <p:nvPr/>
        </p:nvGrpSpPr>
        <p:grpSpPr>
          <a:xfrm>
            <a:off x="533400" y="3248978"/>
            <a:ext cx="5410200" cy="1459230"/>
            <a:chOff x="533400" y="3248978"/>
            <a:chExt cx="5410200" cy="1459230"/>
          </a:xfrm>
        </p:grpSpPr>
        <p:sp>
          <p:nvSpPr>
            <p:cNvPr id="10" name="Rectangle 10"/>
            <p:cNvSpPr/>
            <p:nvPr/>
          </p:nvSpPr>
          <p:spPr>
            <a:xfrm>
              <a:off x="533400" y="3248978"/>
              <a:ext cx="5410200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3382328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58190" y="343566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5609" y="346852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递推怎么来的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21942" y="3470910"/>
              <a:ext cx="22847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最省结点的 AVL 树长什么样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332" y="3796665"/>
              <a:ext cx="474573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要让高度为 h 的树结点最少，两棵子树的高度必须一个是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h−1、另一个是 h−2（再矮就违反平衡条件），而且两棵子树各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自也要最省。加上根结点，就得到上面的递推式。</a:t>
              </a:r>
            </a:p>
          </p:txBody>
        </p:sp>
      </p:grpSp>
      <p:grpSp>
        <p:nvGrpSpPr>
          <p:cNvPr id="45" name="c1-table-3"/>
          <p:cNvGrpSpPr/>
          <p:nvPr/>
        </p:nvGrpSpPr>
        <p:grpSpPr>
          <a:xfrm>
            <a:off x="533400" y="4878705"/>
            <a:ext cx="5410200" cy="800100"/>
            <a:chOff x="533400" y="4878705"/>
            <a:chExt cx="5410200" cy="800100"/>
          </a:xfrm>
        </p:grpSpPr>
        <p:sp>
          <p:nvSpPr>
            <p:cNvPr id="17" name="Rectangle 17"/>
            <p:cNvSpPr/>
            <p:nvPr/>
          </p:nvSpPr>
          <p:spPr>
            <a:xfrm>
              <a:off x="533400" y="4878705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8951" y="5000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30934" y="5000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26246" y="5000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21559" y="5000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15919" y="5000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11231" y="5000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06544" y="5000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01856" y="5000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97169" y="5000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0555" y="5400199"/>
              <a:ext cx="369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F(h)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80160" y="540019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74520" y="540019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69832" y="540019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65145" y="540019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60457" y="540019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55770" y="540019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50130" y="540019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45442" y="540019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878705"/>
              <a:ext cx="5410200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178242" y="487870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772602" y="487870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67915" y="487870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963228" y="487870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558540" y="487870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53852" y="487870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748212" y="487870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43525" y="487870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formula36"/>
              <p:cNvSpPr txBox="1">
                <a:spLocks noGrp="1"/>
              </p:cNvSpPr>
              <p:nvPr/>
            </p:nvSpPr>
            <p:spPr>
              <a:xfrm>
                <a:off x="6248400" y="1928812"/>
                <a:ext cx="5410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≥⋯≥</m:t>
                      </m:r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formula37"/>
              <p:cNvSpPr txBox="1">
                <a:spLocks noGrp="1"/>
              </p:cNvSpPr>
              <p:nvPr/>
            </p:nvSpPr>
            <p:spPr>
              <a:xfrm>
                <a:off x="6248400" y="2498408"/>
                <a:ext cx="541020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s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⟹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func>
                        <m:funcPr/>
                        <m:fName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53" name="c2-card-3"/>
          <p:cNvGrpSpPr/>
          <p:nvPr/>
        </p:nvGrpSpPr>
        <p:grpSpPr>
          <a:xfrm>
            <a:off x="6248400" y="3107055"/>
            <a:ext cx="5410200" cy="1202055"/>
            <a:chOff x="6248400" y="3107055"/>
            <a:chExt cx="5410200" cy="1202055"/>
          </a:xfrm>
        </p:grpSpPr>
        <p:sp>
          <p:nvSpPr>
            <p:cNvPr id="48" name="Rectangle 48"/>
            <p:cNvSpPr/>
            <p:nvPr/>
          </p:nvSpPr>
          <p:spPr>
            <a:xfrm>
              <a:off x="6248400" y="3107055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35090" y="329374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27762" y="332660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00684" y="3328035"/>
              <a:ext cx="1838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高度 h 被 2log₂n 卡住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28232" y="3654742"/>
              <a:ext cx="47714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 n 个结点的 AVL 树，树高不超过 2log₂n，因此查找、插入、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删除的最坏时间复杂度都是 O(logn)。</a:t>
              </a:r>
            </a:p>
          </p:txBody>
        </p:sp>
      </p:grpSp>
      <p:grpSp>
        <p:nvGrpSpPr>
          <p:cNvPr id="60" name="c2-callout-4"/>
          <p:cNvGrpSpPr/>
          <p:nvPr/>
        </p:nvGrpSpPr>
        <p:grpSpPr>
          <a:xfrm>
            <a:off x="6248400" y="4478655"/>
            <a:ext cx="5410200" cy="1199198"/>
            <a:chOff x="6248400" y="4478655"/>
            <a:chExt cx="5410200" cy="1199198"/>
          </a:xfrm>
        </p:grpSpPr>
        <p:sp>
          <p:nvSpPr>
            <p:cNvPr id="54" name="Rectangle 54"/>
            <p:cNvSpPr/>
            <p:nvPr/>
          </p:nvSpPr>
          <p:spPr>
            <a:xfrm>
              <a:off x="6248400" y="4478655"/>
              <a:ext cx="5410200" cy="1199198"/>
            </a:xfrm>
            <a:prstGeom prst="roundRect">
              <a:avLst>
                <a:gd name="adj" fmla="val 953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453188" y="4978718"/>
              <a:ext cx="200026" cy="200026"/>
              <a:chOff x="6453188" y="4978718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453188" y="49787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53200" y="50453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542088" y="50787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755892" y="4735830"/>
              <a:ext cx="434282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推导里用了 F(h−1) ≥ F(h−2)，所以 F(h)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F(h−1)+F(h−2)+1 ≥ 2F(h−2)。每往下走两层，结点数至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少翻一倍。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1" name="Rectangle 6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6028373"/>
              <a:ext cx="64017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= 10⁶ 时这个界给出 h ≤ 40，已经够用了；下一页的精确界能把它收紧到 28。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36014" cy="909257"/>
            <a:chOff x="520446" y="342900"/>
            <a:chExt cx="70360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79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217" y="407194"/>
              <a:ext cx="2701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高度平衡树（AVL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360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更精确的上界：AVL 树最多比满二叉树高 44%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770698"/>
            <a:chOff x="533400" y="1524000"/>
            <a:chExt cx="5410200" cy="17706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70698"/>
            </a:xfrm>
            <a:prstGeom prst="roundRect">
              <a:avLst>
                <a:gd name="adj" fmla="val 75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0399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高度的精确上界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46"/>
                <p:cNvSpPr txBox="1">
                  <a:spLocks noGrp="1"/>
                </p:cNvSpPr>
                <p:nvPr/>
              </p:nvSpPr>
              <p:spPr>
                <a:xfrm>
                  <a:off x="763905" y="2067878"/>
                  <a:ext cx="498729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1.4404</m:t>
                        </m:r>
                        <m:func>
                          <m:funcPr/>
                          <m:fNam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0.3277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7047" y="2634615"/>
              <a:ext cx="47885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满二叉树的高度是 log₂(n+1) − 1，系数 1.4404 意味着 AVL 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最多比它高约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44%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469958"/>
            <a:ext cx="5410200" cy="2187892"/>
            <a:chOff x="533400" y="3469958"/>
            <a:chExt cx="5410200" cy="2187892"/>
          </a:xfrm>
        </p:grpSpPr>
        <p:sp>
          <p:nvSpPr>
            <p:cNvPr id="15" name="Rectangle 15"/>
            <p:cNvSpPr/>
            <p:nvPr/>
          </p:nvSpPr>
          <p:spPr>
            <a:xfrm>
              <a:off x="533400" y="3469958"/>
              <a:ext cx="5410200" cy="2187892"/>
            </a:xfrm>
            <a:prstGeom prst="roundRect">
              <a:avLst>
                <a:gd name="adj" fmla="val 60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603308"/>
              <a:ext cx="47625" cy="19211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66236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5345" y="36966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47597" y="3702368"/>
              <a:ext cx="2336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1.4404 这个常数是怎么来的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047" y="4035742"/>
              <a:ext cx="467715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最省结点的 AVL 树就是斐波那契树，可以验证 F(h)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Fib(h+3) − 1。由斐波那契数的通项，F(h) 大约按黄金比例 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1.618 增长。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47"/>
                <p:cNvSpPr txBox="1">
                  <a:spLocks noGrp="1"/>
                </p:cNvSpPr>
                <p:nvPr/>
              </p:nvSpPr>
              <p:spPr>
                <a:xfrm>
                  <a:off x="763905" y="4831080"/>
                  <a:ext cx="4987290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func>
                              <m:funcPr/>
                              <m:fName>
                                <m:sSub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</m:func>
                          </m:den>
                        </m:f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1.4404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4" name="c2-table-1"/>
          <p:cNvGrpSpPr/>
          <p:nvPr/>
        </p:nvGrpSpPr>
        <p:grpSpPr>
          <a:xfrm>
            <a:off x="6248400" y="1524000"/>
            <a:ext cx="5410200" cy="1823085"/>
            <a:chOff x="6248400" y="1524000"/>
            <a:chExt cx="5410200" cy="182308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60579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90260" y="1748314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结点数 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34516" y="174831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满二叉树高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98002" y="1648301"/>
              <a:ext cx="58714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AVL 最坏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15399" y="1648301"/>
              <a:ext cx="91643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 BST 平均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43227" y="1748314"/>
              <a:ext cx="840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 BST 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48412" y="225409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10³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30452" y="22540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03908" y="22540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78315" y="22540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≈21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67988" y="22540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999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25307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253555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8412" y="265985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30452" y="26598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≈13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03908" y="26598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78315" y="26598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≈31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67988" y="26598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9999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29365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8412" y="306562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30452" y="306562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≈19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313420" y="2950845"/>
              <a:ext cx="95440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03908" y="30656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78315" y="306562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≈52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477500" y="2950845"/>
              <a:ext cx="1171575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567988" y="306562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999999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1524000"/>
              <a:ext cx="5410200" cy="18230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325678" y="1524000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299132" y="1524000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273540" y="1524000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463212" y="1524000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2"/>
          <p:cNvGrpSpPr/>
          <p:nvPr/>
        </p:nvGrpSpPr>
        <p:grpSpPr>
          <a:xfrm>
            <a:off x="6248400" y="3522345"/>
            <a:ext cx="5410200" cy="2135505"/>
            <a:chOff x="6248400" y="3522345"/>
            <a:chExt cx="5410200" cy="2135505"/>
          </a:xfrm>
        </p:grpSpPr>
        <p:sp>
          <p:nvSpPr>
            <p:cNvPr id="55" name="Rectangle 55"/>
            <p:cNvSpPr/>
            <p:nvPr/>
          </p:nvSpPr>
          <p:spPr>
            <a:xfrm>
              <a:off x="6248400" y="3522345"/>
              <a:ext cx="5410200" cy="2135505"/>
            </a:xfrm>
            <a:prstGeom prst="roundRect">
              <a:avLst>
                <a:gd name="adj" fmla="val 624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40805" y="371475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28245" y="374904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57847" y="3754755"/>
              <a:ext cx="32756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一百万个结点，AVL 树最坏也只走 28 层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49378" y="4144327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05397" y="4088130"/>
              <a:ext cx="3205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理想：log₂n；AVL 最坏：约 1.44log₂n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449378" y="444722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05397" y="4391025"/>
              <a:ext cx="36897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 BST 平均：约 4.31 ln n，大致是 3log₂n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449378" y="475011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05397" y="4693920"/>
              <a:ext cx="3039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普通二叉查找树最坏：n−1，一百万层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6" name="Rectangle 6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892" y="6023610"/>
              <a:ext cx="10266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表中的随机 BST 平均高度来自 Reed 的渐近公式并做了实测：n = 1000 时 60 次试验的平均高度 21.4，与公式的 23.7 同量级。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79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217" y="407194"/>
              <a:ext cx="2701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高度平衡树（AVL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实现：每个结点多存一个高度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705092" cy="278702"/>
            <a:chOff x="526161" y="1547336"/>
            <a:chExt cx="670509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平衡系数可以由左右子树的高度现算，所以结点里存高度比存平衡系数更省事。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842635" cy="3723322"/>
            <a:chOff x="533400" y="1941195"/>
            <a:chExt cx="5842635" cy="372332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842635" cy="3723322"/>
            </a:xfrm>
            <a:prstGeom prst="roundRect">
              <a:avLst>
                <a:gd name="adj" fmla="val 255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结点与两个辅助函数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54580"/>
              <a:ext cx="4337876" cy="3238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AVLnode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key;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关键词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height;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以该结点为根的子树高度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AVLnode *left, *right;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AVLnode(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key = K; height = 0; left = right = NULL;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Height(AVLnode* t)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NULL) ? -1 : t-&gt;height;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b) {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 &gt; b) ? a : b;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UpdateHeight(AVLnode* t)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t-&gt;height = max(Height(t-&gt;left), Height(t-&gt;right)) + 1;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2-card-1"/>
          <p:cNvGrpSpPr/>
          <p:nvPr/>
        </p:nvGrpSpPr>
        <p:grpSpPr>
          <a:xfrm>
            <a:off x="6680835" y="1941195"/>
            <a:ext cx="4977765" cy="1226820"/>
            <a:chOff x="6680835" y="1941195"/>
            <a:chExt cx="4977765" cy="1226820"/>
          </a:xfrm>
        </p:grpSpPr>
        <p:sp>
          <p:nvSpPr>
            <p:cNvPr id="13" name="Rectangle 13"/>
            <p:cNvSpPr/>
            <p:nvPr/>
          </p:nvSpPr>
          <p:spPr>
            <a:xfrm>
              <a:off x="6680835" y="1941195"/>
              <a:ext cx="4977765" cy="1226820"/>
            </a:xfrm>
            <a:prstGeom prst="roundRect">
              <a:avLst>
                <a:gd name="adj" fmla="val 1087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873240" y="21336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56679" y="21678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关键约定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3632" y="2173605"/>
              <a:ext cx="19165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空子树的高度规定为 −1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66382" y="2507932"/>
              <a:ext cx="42742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有了这条约定，叶结点的高度自然是 max(−1, −1) + 1 =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0，UpdateHeight 不需要为叶结点单独写分支。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6680835" y="3343275"/>
            <a:ext cx="4977765" cy="1529715"/>
            <a:chOff x="6680835" y="3343275"/>
            <a:chExt cx="4977765" cy="1529715"/>
          </a:xfrm>
        </p:grpSpPr>
        <p:sp>
          <p:nvSpPr>
            <p:cNvPr id="19" name="Rectangle 19"/>
            <p:cNvSpPr/>
            <p:nvPr/>
          </p:nvSpPr>
          <p:spPr>
            <a:xfrm>
              <a:off x="6680835" y="3343275"/>
              <a:ext cx="4977765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90360" y="3476625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911340" y="353568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02780" y="3569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95032" y="3575685"/>
              <a:ext cx="3657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任何改动子树的操作之后都要 UpdateHeight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919912" y="396621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75932" y="391001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旋转函数里必须先更新下面的结点，再更新上面的结点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919912" y="42681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75932" y="4211955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顺序写反了，上面那个结点会读到旧高度，算出来的平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衡系数就是错的</a:t>
              </a:r>
            </a:p>
          </p:txBody>
        </p:sp>
      </p:grpSp>
      <p:grpSp>
        <p:nvGrpSpPr>
          <p:cNvPr id="35" name="c2-callout-3"/>
          <p:cNvGrpSpPr/>
          <p:nvPr/>
        </p:nvGrpSpPr>
        <p:grpSpPr>
          <a:xfrm>
            <a:off x="6680835" y="5048250"/>
            <a:ext cx="4977765" cy="978218"/>
            <a:chOff x="6680835" y="5048250"/>
            <a:chExt cx="4977765" cy="978218"/>
          </a:xfrm>
        </p:grpSpPr>
        <p:sp>
          <p:nvSpPr>
            <p:cNvPr id="29" name="Rectangle 29"/>
            <p:cNvSpPr/>
            <p:nvPr/>
          </p:nvSpPr>
          <p:spPr>
            <a:xfrm>
              <a:off x="6680835" y="5048250"/>
              <a:ext cx="4977765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885623" y="5436870"/>
              <a:ext cx="200026" cy="200026"/>
              <a:chOff x="6885623" y="5436870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885623" y="54368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985635" y="55035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974523" y="55368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188327" y="5193983"/>
              <a:ext cx="39570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也有实现直接在结点里存平衡系数，插入删除时增量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维护。存高度的写法代码短、不易错，代价是多一个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79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217" y="407194"/>
              <a:ext cx="2701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高度平衡树（AVL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插入之后：先找失衡的最小子树，再找祖孙三代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506238" cy="308039"/>
            <a:chOff x="525399" y="1550194"/>
            <a:chExt cx="750623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5062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插入新结点 X 后可能破坏若干结点的平衡性，只需要调整其中最靠下的那一棵。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77390"/>
            <a:ext cx="5343017" cy="2582514"/>
            <a:chOff x="533400" y="1977390"/>
            <a:chExt cx="5343017" cy="2582514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622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360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480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821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011680"/>
              <a:ext cx="12572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 · 找 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304574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沿着从插入点回到根的路径向上走，遇到的第一个平衡系数绝对值为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的结点就是 A，以 A 为根的子树是失去平衡的最小子树。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896552"/>
              <a:ext cx="1716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 · 找 B 和 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190399"/>
              <a:ext cx="49303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A 出发，沿刚才那条路径往下走两层，得到 B（A 的孩子）和 C（B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的孩子）。A、B、C 就是决定旋转类型的祖孙三代。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782378"/>
              <a:ext cx="1470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第三步 · 看形状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4076224"/>
              <a:ext cx="47190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A、B、C 在一条直线上就做单旋转，拐了一个弯（折线）就做双旋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转。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4738688"/>
            <a:ext cx="5626418" cy="782955"/>
            <a:chOff x="533400" y="4738688"/>
            <a:chExt cx="5626418" cy="782955"/>
          </a:xfrm>
        </p:grpSpPr>
        <p:sp>
          <p:nvSpPr>
            <p:cNvPr id="23" name="Rectangle 23"/>
            <p:cNvSpPr/>
            <p:nvPr/>
          </p:nvSpPr>
          <p:spPr>
            <a:xfrm>
              <a:off x="533400" y="4738688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030155"/>
              <a:ext cx="200023" cy="200023"/>
              <a:chOff x="738188" y="5030155"/>
              <a:chExt cx="200023" cy="20002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0301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1538" y="50968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4887278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只要把以 A 为根的这棵子树调平，A 以上的所有结点的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平衡性都会自动恢复，原因见第 33 页。</a:t>
              </a:r>
            </a:p>
          </p:txBody>
        </p:sp>
      </p:grpSp>
      <p:grpSp>
        <p:nvGrpSpPr>
          <p:cNvPr id="47" name="c2-tree-1"/>
          <p:cNvGrpSpPr/>
          <p:nvPr/>
        </p:nvGrpSpPr>
        <p:grpSpPr>
          <a:xfrm>
            <a:off x="7018972" y="2076450"/>
            <a:ext cx="4085273" cy="2559367"/>
            <a:chOff x="7018972" y="2076450"/>
            <a:chExt cx="4085273" cy="2559367"/>
          </a:xfrm>
        </p:grpSpPr>
        <p:sp>
          <p:nvSpPr>
            <p:cNvPr id="29" name="Freeform 29"/>
            <p:cNvSpPr/>
            <p:nvPr/>
          </p:nvSpPr>
          <p:spPr>
            <a:xfrm>
              <a:off x="9062085" y="3558540"/>
              <a:ext cx="304800" cy="636270"/>
            </a:xfrm>
            <a:custGeom>
              <a:avLst/>
              <a:gdLst/>
              <a:ahLst/>
              <a:cxnLst/>
              <a:rect l="l" t="t" r="r" b="b"/>
              <a:pathLst>
                <a:path w="304800" h="636270">
                  <a:moveTo>
                    <a:pt x="0" y="0"/>
                  </a:moveTo>
                  <a:lnTo>
                    <a:pt x="304800" y="6362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062085" y="2922270"/>
              <a:ext cx="762953" cy="636270"/>
            </a:xfrm>
            <a:custGeom>
              <a:avLst/>
              <a:gdLst/>
              <a:ahLst/>
              <a:cxnLst/>
              <a:rect l="l" t="t" r="r" b="b"/>
              <a:pathLst>
                <a:path w="762953" h="636270">
                  <a:moveTo>
                    <a:pt x="762953" y="0"/>
                  </a:moveTo>
                  <a:lnTo>
                    <a:pt x="0" y="6362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825038" y="2922270"/>
              <a:ext cx="1069657" cy="636270"/>
            </a:xfrm>
            <a:custGeom>
              <a:avLst/>
              <a:gdLst/>
              <a:ahLst/>
              <a:cxnLst/>
              <a:rect l="l" t="t" r="r" b="b"/>
              <a:pathLst>
                <a:path w="1069657" h="636270">
                  <a:moveTo>
                    <a:pt x="0" y="0"/>
                  </a:moveTo>
                  <a:lnTo>
                    <a:pt x="1069657" y="6362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228522" y="2286000"/>
              <a:ext cx="1833562" cy="636270"/>
            </a:xfrm>
            <a:custGeom>
              <a:avLst/>
              <a:gdLst/>
              <a:ahLst/>
              <a:cxnLst/>
              <a:rect l="l" t="t" r="r" b="b"/>
              <a:pathLst>
                <a:path w="1833562" h="636270">
                  <a:moveTo>
                    <a:pt x="1833562" y="0"/>
                  </a:moveTo>
                  <a:lnTo>
                    <a:pt x="0" y="6362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62085" y="2286000"/>
              <a:ext cx="762953" cy="636270"/>
            </a:xfrm>
            <a:custGeom>
              <a:avLst/>
              <a:gdLst/>
              <a:ahLst/>
              <a:cxnLst/>
              <a:rect l="l" t="t" r="r" b="b"/>
              <a:pathLst>
                <a:path w="762953" h="636270">
                  <a:moveTo>
                    <a:pt x="0" y="0"/>
                  </a:moveTo>
                  <a:lnTo>
                    <a:pt x="762953" y="6362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7018972" y="271272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9157335" y="3985260"/>
              <a:ext cx="419100" cy="4191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852535" y="334899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0685145" y="334899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9615488" y="271272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8852535" y="207645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75781" y="2847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67497" y="41205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65400" y="4459605"/>
              <a:ext cx="6029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新插入的 X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62697" y="34832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795307" y="34832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25650" y="284702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62697" y="221075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54" name="c2-callout-2"/>
          <p:cNvGrpSpPr/>
          <p:nvPr/>
        </p:nvGrpSpPr>
        <p:grpSpPr>
          <a:xfrm>
            <a:off x="6464618" y="4874895"/>
            <a:ext cx="5193982" cy="782955"/>
            <a:chOff x="6464618" y="4874895"/>
            <a:chExt cx="5193982" cy="782955"/>
          </a:xfrm>
        </p:grpSpPr>
        <p:sp>
          <p:nvSpPr>
            <p:cNvPr id="48" name="Rectangle 48"/>
            <p:cNvSpPr/>
            <p:nvPr/>
          </p:nvSpPr>
          <p:spPr>
            <a:xfrm>
              <a:off x="6464618" y="487489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669405" y="5166360"/>
              <a:ext cx="200026" cy="200026"/>
              <a:chOff x="6669405" y="5166360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669405" y="51663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769418" y="52330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758305" y="52663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971348" y="5023485"/>
              <a:ext cx="4272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 13 后：15 的平衡系数是 1，10 的平衡系数是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−2。所以 A = 10，B = 15，C = 12。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5" name="Rectangle 5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130" y="5991225"/>
              <a:ext cx="6658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一定是从插入点往上数第一个失衡的结点，不是最上面那个，也不是根。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21009" cy="909257"/>
            <a:chOff x="520446" y="342900"/>
            <a:chExt cx="58210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79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217" y="407194"/>
              <a:ext cx="2701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高度平衡树（AVL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210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失衡只有四种形状：LL、RR、LR、RL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620873" cy="278702"/>
            <a:chOff x="526161" y="1547336"/>
            <a:chExt cx="662087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620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名字的两个字母依次表示“X 插到了 A 的哪个孩子”和“插到了 B 的哪个子树”。</a:t>
              </a:r>
            </a:p>
          </p:txBody>
        </p:sp>
      </p:grpSp>
      <p:grpSp>
        <p:nvGrpSpPr>
          <p:cNvPr id="47" name="c1-table-1"/>
          <p:cNvGrpSpPr/>
          <p:nvPr/>
        </p:nvGrpSpPr>
        <p:grpSpPr>
          <a:xfrm>
            <a:off x="533400" y="1941195"/>
            <a:ext cx="5842635" cy="2228850"/>
            <a:chOff x="533400" y="1941195"/>
            <a:chExt cx="5842635" cy="222885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842635" cy="60579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27431" y="21655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07772" y="2165509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插在哪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36062" y="2065496"/>
              <a:ext cx="87162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A、B、C 的形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16171" y="21655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平衡系数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26786" y="21655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调整方案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412" y="267128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34452" y="2671286"/>
              <a:ext cx="1353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的左孩子的左子树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87052" y="26712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55770" y="2671286"/>
              <a:ext cx="4257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为 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100638" y="2556510"/>
              <a:ext cx="126682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91125" y="26712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右转一次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9479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295275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307705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34452" y="3077051"/>
              <a:ext cx="1353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的右孩子的右子树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87052" y="30770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55770" y="3077051"/>
              <a:ext cx="5087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为 −2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100638" y="2962275"/>
              <a:ext cx="126682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191125" y="30770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左转一次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3537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3412" y="348281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34452" y="3482816"/>
              <a:ext cx="1353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的左孩子的右子树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87052" y="34828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折线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55770" y="3482816"/>
              <a:ext cx="4257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为 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91125" y="348281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先左转再右转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7595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76428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3412" y="388858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34452" y="3888581"/>
              <a:ext cx="1353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的右孩子的左子树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87052" y="38885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折线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55770" y="3888581"/>
              <a:ext cx="5087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为 −2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91125" y="38885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先右转再左转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1941195"/>
              <a:ext cx="5842635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229678" y="194119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982278" y="194119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150995" y="194119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086350" y="194119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1-card-2"/>
          <p:cNvGrpSpPr/>
          <p:nvPr/>
        </p:nvGrpSpPr>
        <p:grpSpPr>
          <a:xfrm>
            <a:off x="533400" y="4345305"/>
            <a:ext cx="5842635" cy="1272540"/>
            <a:chOff x="533400" y="4345305"/>
            <a:chExt cx="5842635" cy="1272540"/>
          </a:xfrm>
        </p:grpSpPr>
        <p:sp>
          <p:nvSpPr>
            <p:cNvPr id="48" name="Rectangle 48"/>
            <p:cNvSpPr/>
            <p:nvPr/>
          </p:nvSpPr>
          <p:spPr>
            <a:xfrm>
              <a:off x="533400" y="4345305"/>
              <a:ext cx="5842635" cy="1272540"/>
            </a:xfrm>
            <a:prstGeom prst="roundRect">
              <a:avLst>
                <a:gd name="adj" fmla="val 1047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25805" y="453771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17245" y="45720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口诀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309497" y="457771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直线单旋，折线双旋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34378" y="496824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90397" y="4912042"/>
              <a:ext cx="46943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直线型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（LL / RR）：抓住中间的 B 往上拽，一次旋转搞定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34378" y="527018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90397" y="5213985"/>
              <a:ext cx="48369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折线型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（LR / RL）：先把折线掰成直线，再按直线型转一次</a:t>
              </a:r>
            </a:p>
          </p:txBody>
        </p:sp>
      </p:grpSp>
      <p:grpSp>
        <p:nvGrpSpPr>
          <p:cNvPr id="79" name="c2-graph-1"/>
          <p:cNvGrpSpPr/>
          <p:nvPr/>
        </p:nvGrpSpPr>
        <p:grpSpPr>
          <a:xfrm>
            <a:off x="6936105" y="1967865"/>
            <a:ext cx="4467225" cy="1403985"/>
            <a:chOff x="6936105" y="1967865"/>
            <a:chExt cx="4467225" cy="1403985"/>
          </a:xfrm>
        </p:grpSpPr>
        <p:sp>
          <p:nvSpPr>
            <p:cNvPr id="57" name="Freeform 57"/>
            <p:cNvSpPr/>
            <p:nvPr/>
          </p:nvSpPr>
          <p:spPr>
            <a:xfrm>
              <a:off x="7868602" y="2381250"/>
              <a:ext cx="287655" cy="233362"/>
            </a:xfrm>
            <a:custGeom>
              <a:avLst/>
              <a:gdLst/>
              <a:ahLst/>
              <a:cxnLst/>
              <a:rect l="l" t="t" r="r" b="b"/>
              <a:pathLst>
                <a:path w="287655" h="233362">
                  <a:moveTo>
                    <a:pt x="287655" y="0"/>
                  </a:moveTo>
                  <a:lnTo>
                    <a:pt x="0" y="2333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7795260" y="2577465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0" y="97155"/>
                  </a:moveTo>
                  <a:lnTo>
                    <a:pt x="43815" y="0"/>
                  </a:lnTo>
                  <a:lnTo>
                    <a:pt x="103822" y="742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7276148" y="2864168"/>
              <a:ext cx="280035" cy="214312"/>
            </a:xfrm>
            <a:custGeom>
              <a:avLst/>
              <a:gdLst/>
              <a:ahLst/>
              <a:cxnLst/>
              <a:rect l="l" t="t" r="r" b="b"/>
              <a:pathLst>
                <a:path w="280035" h="214312">
                  <a:moveTo>
                    <a:pt x="280035" y="0"/>
                  </a:moveTo>
                  <a:lnTo>
                    <a:pt x="0" y="2143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7199948" y="3040380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0" y="95250"/>
                  </a:moveTo>
                  <a:lnTo>
                    <a:pt x="46672" y="0"/>
                  </a:lnTo>
                  <a:lnTo>
                    <a:pt x="104775" y="7524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10184130" y="2381250"/>
              <a:ext cx="286702" cy="233362"/>
            </a:xfrm>
            <a:custGeom>
              <a:avLst/>
              <a:gdLst/>
              <a:ahLst/>
              <a:cxnLst/>
              <a:rect l="l" t="t" r="r" b="b"/>
              <a:pathLst>
                <a:path w="286702" h="233362">
                  <a:moveTo>
                    <a:pt x="0" y="0"/>
                  </a:moveTo>
                  <a:lnTo>
                    <a:pt x="286702" y="2333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10441305" y="2577465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103822" y="97155"/>
                  </a:moveTo>
                  <a:lnTo>
                    <a:pt x="0" y="74295"/>
                  </a:lnTo>
                  <a:lnTo>
                    <a:pt x="6000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10784205" y="2864168"/>
              <a:ext cx="280035" cy="214312"/>
            </a:xfrm>
            <a:custGeom>
              <a:avLst/>
              <a:gdLst/>
              <a:ahLst/>
              <a:cxnLst/>
              <a:rect l="l" t="t" r="r" b="b"/>
              <a:pathLst>
                <a:path w="280035" h="214312">
                  <a:moveTo>
                    <a:pt x="0" y="0"/>
                  </a:moveTo>
                  <a:lnTo>
                    <a:pt x="280035" y="2143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11034712" y="3040380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95250"/>
                  </a:moveTo>
                  <a:lnTo>
                    <a:pt x="0" y="75248"/>
                  </a:lnTo>
                  <a:lnTo>
                    <a:pt x="5810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8131492" y="214217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7534275" y="262794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6936105" y="308610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9923145" y="214217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10520362" y="262794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11117580" y="308610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32640" y="222885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635423" y="271462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037253" y="317277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024293" y="222885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621510" y="271462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218728" y="317277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378400" y="1967865"/>
              <a:ext cx="7956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LL 型：直线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165415" y="1967865"/>
              <a:ext cx="7956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RR 型：直线</a:t>
              </a:r>
            </a:p>
          </p:txBody>
        </p:sp>
      </p:grpSp>
      <p:grpSp>
        <p:nvGrpSpPr>
          <p:cNvPr id="102" name="c2-graph-2"/>
          <p:cNvGrpSpPr/>
          <p:nvPr/>
        </p:nvGrpSpPr>
        <p:grpSpPr>
          <a:xfrm>
            <a:off x="7235190" y="3573780"/>
            <a:ext cx="3869055" cy="1853565"/>
            <a:chOff x="7235190" y="3573780"/>
            <a:chExt cx="3869055" cy="1853565"/>
          </a:xfrm>
        </p:grpSpPr>
        <p:sp>
          <p:nvSpPr>
            <p:cNvPr id="80" name="Freeform 80"/>
            <p:cNvSpPr/>
            <p:nvPr/>
          </p:nvSpPr>
          <p:spPr>
            <a:xfrm>
              <a:off x="7569518" y="4107180"/>
              <a:ext cx="487680" cy="401955"/>
            </a:xfrm>
            <a:custGeom>
              <a:avLst/>
              <a:gdLst/>
              <a:ahLst/>
              <a:cxnLst/>
              <a:rect l="l" t="t" r="r" b="b"/>
              <a:pathLst>
                <a:path w="487680" h="401955">
                  <a:moveTo>
                    <a:pt x="487680" y="0"/>
                  </a:moveTo>
                  <a:lnTo>
                    <a:pt x="0" y="4019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7495222" y="4471988"/>
              <a:ext cx="103822" cy="98108"/>
            </a:xfrm>
            <a:custGeom>
              <a:avLst/>
              <a:gdLst/>
              <a:ahLst/>
              <a:cxnLst/>
              <a:rect l="l" t="t" r="r" b="b"/>
              <a:pathLst>
                <a:path w="103822" h="98108">
                  <a:moveTo>
                    <a:pt x="0" y="98108"/>
                  </a:moveTo>
                  <a:lnTo>
                    <a:pt x="43815" y="0"/>
                  </a:lnTo>
                  <a:lnTo>
                    <a:pt x="103822" y="742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2" name="Freeform 82"/>
            <p:cNvSpPr/>
            <p:nvPr/>
          </p:nvSpPr>
          <p:spPr>
            <a:xfrm>
              <a:off x="7498080" y="4759642"/>
              <a:ext cx="481012" cy="373380"/>
            </a:xfrm>
            <a:custGeom>
              <a:avLst/>
              <a:gdLst/>
              <a:ahLst/>
              <a:cxnLst/>
              <a:rect l="l" t="t" r="r" b="b"/>
              <a:pathLst>
                <a:path w="481012" h="373380">
                  <a:moveTo>
                    <a:pt x="0" y="0"/>
                  </a:moveTo>
                  <a:lnTo>
                    <a:pt x="481012" y="3733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7949565" y="5094922"/>
              <a:ext cx="104775" cy="96203"/>
            </a:xfrm>
            <a:custGeom>
              <a:avLst/>
              <a:gdLst/>
              <a:ahLst/>
              <a:cxnLst/>
              <a:rect l="l" t="t" r="r" b="b"/>
              <a:pathLst>
                <a:path w="104775" h="96203">
                  <a:moveTo>
                    <a:pt x="104775" y="96203"/>
                  </a:moveTo>
                  <a:lnTo>
                    <a:pt x="0" y="75247"/>
                  </a:lnTo>
                  <a:lnTo>
                    <a:pt x="5810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4" name="Freeform 84"/>
            <p:cNvSpPr/>
            <p:nvPr/>
          </p:nvSpPr>
          <p:spPr>
            <a:xfrm>
              <a:off x="10283190" y="4107180"/>
              <a:ext cx="487680" cy="401955"/>
            </a:xfrm>
            <a:custGeom>
              <a:avLst/>
              <a:gdLst/>
              <a:ahLst/>
              <a:cxnLst/>
              <a:rect l="l" t="t" r="r" b="b"/>
              <a:pathLst>
                <a:path w="487680" h="401955">
                  <a:moveTo>
                    <a:pt x="0" y="0"/>
                  </a:moveTo>
                  <a:lnTo>
                    <a:pt x="487680" y="4019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10740390" y="4471988"/>
              <a:ext cx="103823" cy="98108"/>
            </a:xfrm>
            <a:custGeom>
              <a:avLst/>
              <a:gdLst/>
              <a:ahLst/>
              <a:cxnLst/>
              <a:rect l="l" t="t" r="r" b="b"/>
              <a:pathLst>
                <a:path w="103823" h="98108">
                  <a:moveTo>
                    <a:pt x="103823" y="98108"/>
                  </a:moveTo>
                  <a:lnTo>
                    <a:pt x="0" y="74295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6" name="Freeform 86"/>
            <p:cNvSpPr/>
            <p:nvPr/>
          </p:nvSpPr>
          <p:spPr>
            <a:xfrm>
              <a:off x="10361295" y="4759642"/>
              <a:ext cx="480060" cy="373380"/>
            </a:xfrm>
            <a:custGeom>
              <a:avLst/>
              <a:gdLst/>
              <a:ahLst/>
              <a:cxnLst/>
              <a:rect l="l" t="t" r="r" b="b"/>
              <a:pathLst>
                <a:path w="480060" h="373380">
                  <a:moveTo>
                    <a:pt x="480060" y="0"/>
                  </a:moveTo>
                  <a:lnTo>
                    <a:pt x="0" y="3733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10286048" y="5094922"/>
              <a:ext cx="103822" cy="96203"/>
            </a:xfrm>
            <a:custGeom>
              <a:avLst/>
              <a:gdLst/>
              <a:ahLst/>
              <a:cxnLst/>
              <a:rect l="l" t="t" r="r" b="b"/>
              <a:pathLst>
                <a:path w="103822" h="96203">
                  <a:moveTo>
                    <a:pt x="0" y="96203"/>
                  </a:moveTo>
                  <a:lnTo>
                    <a:pt x="45720" y="0"/>
                  </a:lnTo>
                  <a:lnTo>
                    <a:pt x="103822" y="7524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8031480" y="38671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9" name="Ellipse 89"/>
            <p:cNvSpPr/>
            <p:nvPr/>
          </p:nvSpPr>
          <p:spPr>
            <a:xfrm>
              <a:off x="7235190" y="452342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0" name="Ellipse 90"/>
            <p:cNvSpPr/>
            <p:nvPr/>
          </p:nvSpPr>
          <p:spPr>
            <a:xfrm>
              <a:off x="8031480" y="51415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1" name="Ellipse 91"/>
            <p:cNvSpPr/>
            <p:nvPr/>
          </p:nvSpPr>
          <p:spPr>
            <a:xfrm>
              <a:off x="10022205" y="38671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2" name="Ellipse 92"/>
            <p:cNvSpPr/>
            <p:nvPr/>
          </p:nvSpPr>
          <p:spPr>
            <a:xfrm>
              <a:off x="10818495" y="452342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3" name="Ellipse 93"/>
            <p:cNvSpPr/>
            <p:nvPr/>
          </p:nvSpPr>
          <p:spPr>
            <a:xfrm>
              <a:off x="10022205" y="51415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132628" y="39538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336338" y="461105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132628" y="522827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123353" y="39538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919643" y="461105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123353" y="522827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378400" y="3573780"/>
              <a:ext cx="7956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LR 型：折线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165415" y="3573780"/>
              <a:ext cx="7956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RL 型：折线</a:t>
              </a:r>
            </a:p>
          </p:txBody>
        </p:sp>
      </p:grpSp>
      <p:grpSp>
        <p:nvGrpSpPr>
          <p:cNvPr id="10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03" name="Rectangle 10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7" name="Group 10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8" name="TextBox 108"/>
            <p:cNvSpPr txBox="1"/>
            <p:nvPr/>
          </p:nvSpPr>
          <p:spPr>
            <a:xfrm>
              <a:off x="1040892" y="6023610"/>
              <a:ext cx="77269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是 A 往下第二层的那个结点，不一定是新插入的 X 本身；X 可能挂在 C 的子树里更深的位置。</a:t>
              </a:r>
            </a:p>
          </p:txBody>
        </p:sp>
      </p:grpSp>
      <p:grpSp>
        <p:nvGrpSpPr>
          <p:cNvPr id="11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0" name="TextBox 110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79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217" y="407194"/>
              <a:ext cx="2701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高度平衡树（AVL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单旋转：左子树高就右转，右子树高就左转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087618" cy="293370"/>
            <a:chOff x="525780" y="1548765"/>
            <a:chExt cx="608761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087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 B 为轴把 A 转下去，BR（或 BL）换个父亲，其余子树原封不动。</a:t>
              </a:r>
            </a:p>
          </p:txBody>
        </p:sp>
      </p:grpSp>
      <p:grpSp>
        <p:nvGrpSpPr>
          <p:cNvPr id="10" name="c1-text-1"/>
          <p:cNvGrpSpPr/>
          <p:nvPr/>
        </p:nvGrpSpPr>
        <p:grpSpPr>
          <a:xfrm>
            <a:off x="527304" y="1974532"/>
            <a:ext cx="1967667" cy="234696"/>
            <a:chOff x="527304" y="1974532"/>
            <a:chExt cx="1967667" cy="234696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1974532"/>
              <a:ext cx="19676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 型：以 B 为轴将 A 右转</a:t>
              </a:r>
            </a:p>
          </p:txBody>
        </p:sp>
      </p:grpSp>
      <p:grpSp>
        <p:nvGrpSpPr>
          <p:cNvPr id="33" name="c1-graph-2"/>
          <p:cNvGrpSpPr/>
          <p:nvPr/>
        </p:nvGrpSpPr>
        <p:grpSpPr>
          <a:xfrm>
            <a:off x="841058" y="2471738"/>
            <a:ext cx="4254817" cy="2120264"/>
            <a:chOff x="841058" y="2471738"/>
            <a:chExt cx="4254817" cy="2120264"/>
          </a:xfrm>
        </p:grpSpPr>
        <p:sp>
          <p:nvSpPr>
            <p:cNvPr id="11" name="Freeform 11"/>
            <p:cNvSpPr/>
            <p:nvPr/>
          </p:nvSpPr>
          <p:spPr>
            <a:xfrm>
              <a:off x="2170748" y="2695575"/>
              <a:ext cx="1030605" cy="507683"/>
            </a:xfrm>
            <a:custGeom>
              <a:avLst/>
              <a:gdLst/>
              <a:ahLst/>
              <a:cxnLst/>
              <a:rect l="l" t="t" r="r" b="b"/>
              <a:pathLst>
                <a:path w="1030605" h="507683">
                  <a:moveTo>
                    <a:pt x="1030605" y="0"/>
                  </a:moveTo>
                  <a:lnTo>
                    <a:pt x="0" y="50768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085022" y="3161348"/>
              <a:ext cx="106680" cy="84773"/>
            </a:xfrm>
            <a:custGeom>
              <a:avLst/>
              <a:gdLst/>
              <a:ahLst/>
              <a:cxnLst/>
              <a:rect l="l" t="t" r="r" b="b"/>
              <a:pathLst>
                <a:path w="106680" h="84773">
                  <a:moveTo>
                    <a:pt x="0" y="84773"/>
                  </a:moveTo>
                  <a:lnTo>
                    <a:pt x="64770" y="0"/>
                  </a:lnTo>
                  <a:lnTo>
                    <a:pt x="106680" y="8477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471862" y="2727008"/>
              <a:ext cx="903922" cy="741997"/>
            </a:xfrm>
            <a:custGeom>
              <a:avLst/>
              <a:gdLst/>
              <a:ahLst/>
              <a:cxnLst/>
              <a:rect l="l" t="t" r="r" b="b"/>
              <a:pathLst>
                <a:path w="903922" h="741997">
                  <a:moveTo>
                    <a:pt x="0" y="0"/>
                  </a:moveTo>
                  <a:lnTo>
                    <a:pt x="903922" y="7419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345305" y="3432810"/>
              <a:ext cx="103823" cy="97155"/>
            </a:xfrm>
            <a:custGeom>
              <a:avLst/>
              <a:gdLst/>
              <a:ahLst/>
              <a:cxnLst/>
              <a:rect l="l" t="t" r="r" b="b"/>
              <a:pathLst>
                <a:path w="103823" h="97155">
                  <a:moveTo>
                    <a:pt x="103823" y="97155"/>
                  </a:moveTo>
                  <a:lnTo>
                    <a:pt x="0" y="73343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479232" y="3445192"/>
              <a:ext cx="360997" cy="461962"/>
            </a:xfrm>
            <a:custGeom>
              <a:avLst/>
              <a:gdLst/>
              <a:ahLst/>
              <a:cxnLst/>
              <a:rect l="l" t="t" r="r" b="b"/>
              <a:pathLst>
                <a:path w="360997" h="461962">
                  <a:moveTo>
                    <a:pt x="360997" y="0"/>
                  </a:moveTo>
                  <a:lnTo>
                    <a:pt x="0" y="4619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421130" y="3878580"/>
              <a:ext cx="95250" cy="103823"/>
            </a:xfrm>
            <a:custGeom>
              <a:avLst/>
              <a:gdLst/>
              <a:ahLst/>
              <a:cxnLst/>
              <a:rect l="l" t="t" r="r" b="b"/>
              <a:pathLst>
                <a:path w="95250" h="103823">
                  <a:moveTo>
                    <a:pt x="0" y="103823"/>
                  </a:moveTo>
                  <a:lnTo>
                    <a:pt x="20955" y="0"/>
                  </a:lnTo>
                  <a:lnTo>
                    <a:pt x="95250" y="5810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051685" y="3433762"/>
              <a:ext cx="557212" cy="581978"/>
            </a:xfrm>
            <a:custGeom>
              <a:avLst/>
              <a:gdLst/>
              <a:ahLst/>
              <a:cxnLst/>
              <a:rect l="l" t="t" r="r" b="b"/>
              <a:pathLst>
                <a:path w="557212" h="581978">
                  <a:moveTo>
                    <a:pt x="0" y="0"/>
                  </a:moveTo>
                  <a:lnTo>
                    <a:pt x="557212" y="5819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574608" y="3982402"/>
              <a:ext cx="100012" cy="101917"/>
            </a:xfrm>
            <a:custGeom>
              <a:avLst/>
              <a:gdLst/>
              <a:ahLst/>
              <a:cxnLst/>
              <a:rect l="l" t="t" r="r" b="b"/>
              <a:pathLst>
                <a:path w="100012" h="101917">
                  <a:moveTo>
                    <a:pt x="100012" y="101917"/>
                  </a:moveTo>
                  <a:lnTo>
                    <a:pt x="0" y="65722"/>
                  </a:lnTo>
                  <a:lnTo>
                    <a:pt x="6858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194685" y="2471738"/>
              <a:ext cx="304800" cy="3048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787842" y="316515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11980" y="3529965"/>
              <a:ext cx="683895" cy="499110"/>
            </a:xfrm>
            <a:prstGeom prst="roundRect">
              <a:avLst>
                <a:gd name="adj" fmla="val 1908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41058" y="3982402"/>
              <a:ext cx="683895" cy="609600"/>
            </a:xfrm>
            <a:prstGeom prst="roundRect">
              <a:avLst>
                <a:gd name="adj" fmla="val 15625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571750" y="4084320"/>
              <a:ext cx="683895" cy="499110"/>
            </a:xfrm>
            <a:prstGeom prst="roundRect">
              <a:avLst>
                <a:gd name="adj" fmla="val 1908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01882" y="256365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51872" y="2573179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系数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95039" y="325612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67521" y="364093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33740" y="379618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h−1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7551" y="41495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9958" y="43038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28244" y="419528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94462" y="435054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h−1</a:t>
              </a:r>
            </a:p>
          </p:txBody>
        </p:sp>
      </p:grpSp>
      <p:grpSp>
        <p:nvGrpSpPr>
          <p:cNvPr id="40" name="c1-callout-3"/>
          <p:cNvGrpSpPr/>
          <p:nvPr/>
        </p:nvGrpSpPr>
        <p:grpSpPr>
          <a:xfrm>
            <a:off x="533400" y="4842510"/>
            <a:ext cx="5410200" cy="756285"/>
            <a:chOff x="533400" y="4842510"/>
            <a:chExt cx="5410200" cy="756285"/>
          </a:xfrm>
        </p:grpSpPr>
        <p:sp>
          <p:nvSpPr>
            <p:cNvPr id="34" name="Rectangle 34"/>
            <p:cNvSpPr/>
            <p:nvPr/>
          </p:nvSpPr>
          <p:spPr>
            <a:xfrm>
              <a:off x="533400" y="484251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120640"/>
              <a:ext cx="200026" cy="200026"/>
              <a:chOff x="738188" y="5120640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1206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51873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52206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511" y="4989671"/>
              <a:ext cx="433362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插在 BL 里，使 BL 的高度变成 h，A 的平衡系数变成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2。</a:t>
              </a:r>
            </a:p>
          </p:txBody>
        </p:sp>
      </p:grpSp>
      <p:grpSp>
        <p:nvGrpSpPr>
          <p:cNvPr id="42" name="c2-text-1"/>
          <p:cNvGrpSpPr/>
          <p:nvPr/>
        </p:nvGrpSpPr>
        <p:grpSpPr>
          <a:xfrm>
            <a:off x="6242304" y="1974532"/>
            <a:ext cx="2264603" cy="234696"/>
            <a:chOff x="6242304" y="1974532"/>
            <a:chExt cx="2264603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6242304" y="1974532"/>
              <a:ext cx="22646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右转之后：B 成为这棵子树的根</a:t>
              </a:r>
            </a:p>
          </p:txBody>
        </p:sp>
      </p:grpSp>
      <p:grpSp>
        <p:nvGrpSpPr>
          <p:cNvPr id="65" name="c2-graph-2"/>
          <p:cNvGrpSpPr/>
          <p:nvPr/>
        </p:nvGrpSpPr>
        <p:grpSpPr>
          <a:xfrm>
            <a:off x="6880860" y="2471738"/>
            <a:ext cx="4362450" cy="2111692"/>
            <a:chOff x="6880860" y="2471738"/>
            <a:chExt cx="4362450" cy="2111692"/>
          </a:xfrm>
        </p:grpSpPr>
        <p:sp>
          <p:nvSpPr>
            <p:cNvPr id="43" name="Freeform 43"/>
            <p:cNvSpPr/>
            <p:nvPr/>
          </p:nvSpPr>
          <p:spPr>
            <a:xfrm>
              <a:off x="7648575" y="2698432"/>
              <a:ext cx="944880" cy="490538"/>
            </a:xfrm>
            <a:custGeom>
              <a:avLst/>
              <a:gdLst/>
              <a:ahLst/>
              <a:cxnLst/>
              <a:rect l="l" t="t" r="r" b="b"/>
              <a:pathLst>
                <a:path w="944880" h="490538">
                  <a:moveTo>
                    <a:pt x="944880" y="0"/>
                  </a:moveTo>
                  <a:lnTo>
                    <a:pt x="0" y="4905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563802" y="3146108"/>
              <a:ext cx="106680" cy="86677"/>
            </a:xfrm>
            <a:custGeom>
              <a:avLst/>
              <a:gdLst/>
              <a:ahLst/>
              <a:cxnLst/>
              <a:rect l="l" t="t" r="r" b="b"/>
              <a:pathLst>
                <a:path w="106680" h="86677">
                  <a:moveTo>
                    <a:pt x="0" y="86677"/>
                  </a:moveTo>
                  <a:lnTo>
                    <a:pt x="62865" y="0"/>
                  </a:lnTo>
                  <a:lnTo>
                    <a:pt x="106680" y="8477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878252" y="2704148"/>
              <a:ext cx="933450" cy="532448"/>
            </a:xfrm>
            <a:custGeom>
              <a:avLst/>
              <a:gdLst/>
              <a:ahLst/>
              <a:cxnLst/>
              <a:rect l="l" t="t" r="r" b="b"/>
              <a:pathLst>
                <a:path w="933450" h="532448">
                  <a:moveTo>
                    <a:pt x="0" y="0"/>
                  </a:moveTo>
                  <a:lnTo>
                    <a:pt x="933450" y="5324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788842" y="3194685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105727" y="88583"/>
                  </a:moveTo>
                  <a:lnTo>
                    <a:pt x="0" y="82868"/>
                  </a:lnTo>
                  <a:lnTo>
                    <a:pt x="4667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455468" y="3484245"/>
              <a:ext cx="472440" cy="528638"/>
            </a:xfrm>
            <a:custGeom>
              <a:avLst/>
              <a:gdLst/>
              <a:ahLst/>
              <a:cxnLst/>
              <a:rect l="l" t="t" r="r" b="b"/>
              <a:pathLst>
                <a:path w="472440" h="528638">
                  <a:moveTo>
                    <a:pt x="472440" y="0"/>
                  </a:moveTo>
                  <a:lnTo>
                    <a:pt x="0" y="5286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392602" y="3981450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0" y="102870"/>
                  </a:moveTo>
                  <a:lnTo>
                    <a:pt x="27622" y="0"/>
                  </a:lnTo>
                  <a:lnTo>
                    <a:pt x="99060" y="6286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0143172" y="3484245"/>
              <a:ext cx="472440" cy="528638"/>
            </a:xfrm>
            <a:custGeom>
              <a:avLst/>
              <a:gdLst/>
              <a:ahLst/>
              <a:cxnLst/>
              <a:rect l="l" t="t" r="r" b="b"/>
              <a:pathLst>
                <a:path w="472440" h="528638">
                  <a:moveTo>
                    <a:pt x="0" y="0"/>
                  </a:moveTo>
                  <a:lnTo>
                    <a:pt x="472440" y="5286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579418" y="3981450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99060" y="102870"/>
                  </a:moveTo>
                  <a:lnTo>
                    <a:pt x="0" y="62865"/>
                  </a:lnTo>
                  <a:lnTo>
                    <a:pt x="7143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584882" y="2471738"/>
              <a:ext cx="304800" cy="3048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80860" y="3105150"/>
              <a:ext cx="683895" cy="609600"/>
            </a:xfrm>
            <a:prstGeom prst="roundRect">
              <a:avLst>
                <a:gd name="adj" fmla="val 15625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9883140" y="321087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827770" y="4084320"/>
              <a:ext cx="683895" cy="499110"/>
            </a:xfrm>
            <a:prstGeom prst="roundRect">
              <a:avLst>
                <a:gd name="adj" fmla="val 1908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559415" y="4084320"/>
              <a:ext cx="683895" cy="499110"/>
            </a:xfrm>
            <a:prstGeom prst="roundRect">
              <a:avLst>
                <a:gd name="adj" fmla="val 1908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692079" y="256365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08363" y="2573179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系数 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36401" y="327136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78808" y="34266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90337" y="330279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084264" y="419528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050482" y="435054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h−1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815909" y="419528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782127" y="435054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h−1</a:t>
              </a:r>
            </a:p>
          </p:txBody>
        </p:sp>
      </p:grpSp>
      <p:grpSp>
        <p:nvGrpSpPr>
          <p:cNvPr id="71" name="c2-callout-3"/>
          <p:cNvGrpSpPr/>
          <p:nvPr/>
        </p:nvGrpSpPr>
        <p:grpSpPr>
          <a:xfrm>
            <a:off x="6248400" y="4842510"/>
            <a:ext cx="5410200" cy="756285"/>
            <a:chOff x="6248400" y="4842510"/>
            <a:chExt cx="5410200" cy="756285"/>
          </a:xfrm>
        </p:grpSpPr>
        <p:sp>
          <p:nvSpPr>
            <p:cNvPr id="66" name="Rectangle 66"/>
            <p:cNvSpPr/>
            <p:nvPr/>
          </p:nvSpPr>
          <p:spPr>
            <a:xfrm>
              <a:off x="6248400" y="484251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453188" y="5120642"/>
              <a:ext cx="200023" cy="200023"/>
              <a:chOff x="6453188" y="5120642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453188" y="51206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586538" y="51873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755511" y="4989671"/>
              <a:ext cx="451396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BL 与 AR 换了父亲吗？没有。只有 BR 从 B 的右子树变成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了 A 的左子树。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2" name="Rectangle 7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511" y="6004084"/>
              <a:ext cx="68421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RR 型完全对称：以 B 为轴把 A 左转，A 成为 B 的左孩子，BL 变成 A 的右子树。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79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217" y="407194"/>
              <a:ext cx="2701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高度平衡树（AVL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单旋转的代码：改三个指针，更新两个高度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019300"/>
            <a:chOff x="533400" y="1524000"/>
            <a:chExt cx="5410200" cy="20193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19300"/>
            </a:xfrm>
            <a:prstGeom prst="roundRect">
              <a:avLst>
                <a:gd name="adj" fmla="val 47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7425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LL 型：右转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524441" cy="1532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LL(AVLnode* &amp;A)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AVLnode *B = A-&gt;left;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A-&gt;left = B-&gt;right;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BR 挂到 A 的左边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B-&gt;right = A;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A 成为 B 的右孩子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UpdateHeight(A);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先更新下面的 A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UpdateHeight(B);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再更新上面的 B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 = B;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B 成为新的子树根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3723322"/>
            <a:ext cx="5410200" cy="1858328"/>
            <a:chOff x="533400" y="3723322"/>
            <a:chExt cx="5410200" cy="1858328"/>
          </a:xfrm>
        </p:grpSpPr>
        <p:sp>
          <p:nvSpPr>
            <p:cNvPr id="11" name="Rectangle 11"/>
            <p:cNvSpPr/>
            <p:nvPr/>
          </p:nvSpPr>
          <p:spPr>
            <a:xfrm>
              <a:off x="533400" y="3723322"/>
              <a:ext cx="5410200" cy="1858328"/>
            </a:xfrm>
            <a:prstGeom prst="roundRect">
              <a:avLst>
                <a:gd name="adj" fmla="val 615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26129" y="4548306"/>
              <a:ext cx="224134" cy="192560"/>
              <a:chOff x="726129" y="4548306"/>
              <a:chExt cx="224134" cy="1925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38200" y="46186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26129" y="45483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8200" y="46964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511" y="4421029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参数是引用，函数退出后调用者手里的指针已经指向新的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子树根 B。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248400" y="1524000"/>
            <a:ext cx="5410200" cy="2019300"/>
            <a:chOff x="6248400" y="1524000"/>
            <a:chExt cx="5410200" cy="2019300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2019300"/>
            </a:xfrm>
            <a:prstGeom prst="roundRect">
              <a:avLst>
                <a:gd name="adj" fmla="val 47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797" y="1675924"/>
              <a:ext cx="7425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RR 型：左转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76416" y="1937385"/>
              <a:ext cx="3524441" cy="1532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RR(AVLnode* &amp;A)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AVLnode *B = A-&gt;right;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A-&gt;right = B-&gt;left;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BL 挂到 A 的右边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B-&gt;left = A;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A 成为 B 的左孩子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UpdateHeight(A);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UpdateHeight(B);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 = B;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723322"/>
            <a:ext cx="5410200" cy="1858328"/>
            <a:chOff x="6248400" y="3723322"/>
            <a:chExt cx="5410200" cy="1858328"/>
          </a:xfrm>
        </p:grpSpPr>
        <p:sp>
          <p:nvSpPr>
            <p:cNvPr id="22" name="Rectangle 22"/>
            <p:cNvSpPr/>
            <p:nvPr/>
          </p:nvSpPr>
          <p:spPr>
            <a:xfrm>
              <a:off x="6248400" y="3723322"/>
              <a:ext cx="5410200" cy="1858328"/>
            </a:xfrm>
            <a:prstGeom prst="roundRect">
              <a:avLst>
                <a:gd name="adj" fmla="val 717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46520" y="392144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25958" y="395573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两条不变量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29881" y="3956209"/>
              <a:ext cx="36556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旋转前后中根序列不变，子树高度回到 h+1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454140" y="435959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10731" y="4300061"/>
              <a:ext cx="46492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旋转只在 A、B 及其子树之间重挂，中根序列一个字都不会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454140" y="494919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10731" y="4888706"/>
              <a:ext cx="450088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转完这棵子树的根平衡系数为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0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，高度与插入前相同，所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 A 以上的结点不受影响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1" name="Rectangle 3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511" y="6011704"/>
              <a:ext cx="80432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正因为子树高度恢复原样，插入一次最多做一处调整（单旋一次或双旋一次），不会往上连锁。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12470" cy="909257"/>
            <a:chOff x="520446" y="342900"/>
            <a:chExt cx="60124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79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217" y="407194"/>
              <a:ext cx="2701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高度平衡树（AVL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124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双旋转 LR：先把折线掰直，再按 LL 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507131" cy="308039"/>
            <a:chOff x="525399" y="1550194"/>
            <a:chExt cx="850713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50713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A、B、C 成折线时单转一次没用，要先以 C 为轴把 B 转成直线，再以 C 为轴把 A 转下去。</a:t>
              </a:r>
            </a:p>
          </p:txBody>
        </p:sp>
      </p:grpSp>
      <p:grpSp>
        <p:nvGrpSpPr>
          <p:cNvPr id="10" name="c1-text-1"/>
          <p:cNvGrpSpPr/>
          <p:nvPr/>
        </p:nvGrpSpPr>
        <p:grpSpPr>
          <a:xfrm>
            <a:off x="526923" y="1988344"/>
            <a:ext cx="1028312" cy="249364"/>
            <a:chOff x="526923" y="1988344"/>
            <a:chExt cx="1028312" cy="249364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88344"/>
              <a:ext cx="1028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插入后失衡</a:t>
              </a:r>
            </a:p>
          </p:txBody>
        </p:sp>
      </p:grpSp>
      <p:grpSp>
        <p:nvGrpSpPr>
          <p:cNvPr id="37" name="c1-graph-2"/>
          <p:cNvGrpSpPr/>
          <p:nvPr/>
        </p:nvGrpSpPr>
        <p:grpSpPr>
          <a:xfrm>
            <a:off x="575310" y="2530792"/>
            <a:ext cx="3028950" cy="2600326"/>
            <a:chOff x="575310" y="2530792"/>
            <a:chExt cx="3028950" cy="2600326"/>
          </a:xfrm>
        </p:grpSpPr>
        <p:sp>
          <p:nvSpPr>
            <p:cNvPr id="11" name="Freeform 11"/>
            <p:cNvSpPr/>
            <p:nvPr/>
          </p:nvSpPr>
          <p:spPr>
            <a:xfrm>
              <a:off x="1629728" y="2754630"/>
              <a:ext cx="545783" cy="444817"/>
            </a:xfrm>
            <a:custGeom>
              <a:avLst/>
              <a:gdLst/>
              <a:ahLst/>
              <a:cxnLst/>
              <a:rect l="l" t="t" r="r" b="b"/>
              <a:pathLst>
                <a:path w="545783" h="444817">
                  <a:moveTo>
                    <a:pt x="545783" y="0"/>
                  </a:moveTo>
                  <a:lnTo>
                    <a:pt x="0" y="4448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555432" y="3162300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0" y="97155"/>
                  </a:moveTo>
                  <a:lnTo>
                    <a:pt x="43815" y="0"/>
                  </a:lnTo>
                  <a:lnTo>
                    <a:pt x="103822" y="742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390775" y="2761298"/>
              <a:ext cx="629603" cy="581025"/>
            </a:xfrm>
            <a:custGeom>
              <a:avLst/>
              <a:gdLst/>
              <a:ahLst/>
              <a:cxnLst/>
              <a:rect l="l" t="t" r="r" b="b"/>
              <a:pathLst>
                <a:path w="629603" h="581025">
                  <a:moveTo>
                    <a:pt x="0" y="0"/>
                  </a:moveTo>
                  <a:lnTo>
                    <a:pt x="629603" y="5810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87992" y="3307080"/>
              <a:ext cx="101917" cy="100012"/>
            </a:xfrm>
            <a:custGeom>
              <a:avLst/>
              <a:gdLst/>
              <a:ahLst/>
              <a:cxnLst/>
              <a:rect l="l" t="t" r="r" b="b"/>
              <a:pathLst>
                <a:path w="101917" h="100012">
                  <a:moveTo>
                    <a:pt x="101917" y="100012"/>
                  </a:moveTo>
                  <a:lnTo>
                    <a:pt x="0" y="70485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012508" y="3467100"/>
              <a:ext cx="351472" cy="508635"/>
            </a:xfrm>
            <a:custGeom>
              <a:avLst/>
              <a:gdLst/>
              <a:ahLst/>
              <a:cxnLst/>
              <a:rect l="l" t="t" r="r" b="b"/>
              <a:pathLst>
                <a:path w="351472" h="508635">
                  <a:moveTo>
                    <a:pt x="351472" y="0"/>
                  </a:moveTo>
                  <a:lnTo>
                    <a:pt x="0" y="5086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958215" y="3949065"/>
              <a:ext cx="93345" cy="105727"/>
            </a:xfrm>
            <a:custGeom>
              <a:avLst/>
              <a:gdLst/>
              <a:ahLst/>
              <a:cxnLst/>
              <a:rect l="l" t="t" r="r" b="b"/>
              <a:pathLst>
                <a:path w="93345" h="105727">
                  <a:moveTo>
                    <a:pt x="0" y="105727"/>
                  </a:moveTo>
                  <a:lnTo>
                    <a:pt x="15240" y="0"/>
                  </a:lnTo>
                  <a:lnTo>
                    <a:pt x="93345" y="542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530668" y="3464242"/>
              <a:ext cx="331470" cy="438150"/>
            </a:xfrm>
            <a:custGeom>
              <a:avLst/>
              <a:gdLst/>
              <a:ahLst/>
              <a:cxnLst/>
              <a:rect l="l" t="t" r="r" b="b"/>
              <a:pathLst>
                <a:path w="331470" h="438150">
                  <a:moveTo>
                    <a:pt x="0" y="0"/>
                  </a:moveTo>
                  <a:lnTo>
                    <a:pt x="331470" y="4381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824038" y="3873818"/>
              <a:ext cx="95250" cy="104775"/>
            </a:xfrm>
            <a:custGeom>
              <a:avLst/>
              <a:gdLst/>
              <a:ahLst/>
              <a:cxnLst/>
              <a:rect l="l" t="t" r="r" b="b"/>
              <a:pathLst>
                <a:path w="95250" h="104775">
                  <a:moveTo>
                    <a:pt x="95250" y="104775"/>
                  </a:moveTo>
                  <a:lnTo>
                    <a:pt x="0" y="571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715452" y="4220528"/>
              <a:ext cx="227648" cy="462915"/>
            </a:xfrm>
            <a:custGeom>
              <a:avLst/>
              <a:gdLst/>
              <a:ahLst/>
              <a:cxnLst/>
              <a:rect l="l" t="t" r="r" b="b"/>
              <a:pathLst>
                <a:path w="227648" h="462915">
                  <a:moveTo>
                    <a:pt x="227648" y="0"/>
                  </a:moveTo>
                  <a:lnTo>
                    <a:pt x="0" y="4629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672590" y="4662488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952" y="106680"/>
                  </a:moveTo>
                  <a:lnTo>
                    <a:pt x="0" y="0"/>
                  </a:lnTo>
                  <a:lnTo>
                    <a:pt x="85725" y="4191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084070" y="4211955"/>
              <a:ext cx="311467" cy="477203"/>
            </a:xfrm>
            <a:custGeom>
              <a:avLst/>
              <a:gdLst/>
              <a:ahLst/>
              <a:cxnLst/>
              <a:rect l="l" t="t" r="r" b="b"/>
              <a:pathLst>
                <a:path w="311467" h="477203">
                  <a:moveTo>
                    <a:pt x="0" y="0"/>
                  </a:moveTo>
                  <a:lnTo>
                    <a:pt x="311467" y="4772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356485" y="4663440"/>
              <a:ext cx="91440" cy="105727"/>
            </a:xfrm>
            <a:custGeom>
              <a:avLst/>
              <a:gdLst/>
              <a:ahLst/>
              <a:cxnLst/>
              <a:rect l="l" t="t" r="r" b="b"/>
              <a:pathLst>
                <a:path w="91440" h="105727">
                  <a:moveTo>
                    <a:pt x="91440" y="105727"/>
                  </a:moveTo>
                  <a:lnTo>
                    <a:pt x="0" y="51435"/>
                  </a:lnTo>
                  <a:lnTo>
                    <a:pt x="7905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152650" y="2530792"/>
              <a:ext cx="266700" cy="2667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311592" y="321659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070860" y="3407092"/>
              <a:ext cx="533400" cy="457200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75310" y="4054792"/>
              <a:ext cx="4762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872615" y="395954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365885" y="4769168"/>
              <a:ext cx="43815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346960" y="4769168"/>
              <a:ext cx="43815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244273" y="260794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03215" y="329374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58868" y="357949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4743" y="420814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64238" y="40366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06268" y="489394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87343" y="489394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</a:t>
              </a:r>
            </a:p>
          </p:txBody>
        </p:sp>
      </p:grpSp>
      <p:grpSp>
        <p:nvGrpSpPr>
          <p:cNvPr id="39" name="c2-text-1"/>
          <p:cNvGrpSpPr/>
          <p:nvPr/>
        </p:nvGrpSpPr>
        <p:grpSpPr>
          <a:xfrm>
            <a:off x="4336923" y="1988344"/>
            <a:ext cx="1640318" cy="249364"/>
            <a:chOff x="4336923" y="1988344"/>
            <a:chExt cx="1640318" cy="249364"/>
          </a:xfrm>
        </p:grpSpPr>
        <p:sp>
          <p:nvSpPr>
            <p:cNvPr id="38" name="TextBox 38"/>
            <p:cNvSpPr txBox="1"/>
            <p:nvPr/>
          </p:nvSpPr>
          <p:spPr>
            <a:xfrm>
              <a:off x="4336923" y="1988344"/>
              <a:ext cx="1640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以 C 为轴将 B 左转</a:t>
              </a:r>
            </a:p>
          </p:txBody>
        </p:sp>
      </p:grpSp>
      <p:grpSp>
        <p:nvGrpSpPr>
          <p:cNvPr id="66" name="c2-graph-2"/>
          <p:cNvGrpSpPr/>
          <p:nvPr/>
        </p:nvGrpSpPr>
        <p:grpSpPr>
          <a:xfrm>
            <a:off x="4449128" y="2530792"/>
            <a:ext cx="3035617" cy="2647950"/>
            <a:chOff x="4449128" y="2530792"/>
            <a:chExt cx="3035617" cy="2647950"/>
          </a:xfrm>
        </p:grpSpPr>
        <p:sp>
          <p:nvSpPr>
            <p:cNvPr id="40" name="Freeform 40"/>
            <p:cNvSpPr/>
            <p:nvPr/>
          </p:nvSpPr>
          <p:spPr>
            <a:xfrm>
              <a:off x="5495925" y="2763202"/>
              <a:ext cx="497205" cy="478155"/>
            </a:xfrm>
            <a:custGeom>
              <a:avLst/>
              <a:gdLst/>
              <a:ahLst/>
              <a:cxnLst/>
              <a:rect l="l" t="t" r="r" b="b"/>
              <a:pathLst>
                <a:path w="497205" h="478155">
                  <a:moveTo>
                    <a:pt x="497205" y="0"/>
                  </a:moveTo>
                  <a:lnTo>
                    <a:pt x="0" y="4781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5427345" y="3207068"/>
              <a:ext cx="101918" cy="100965"/>
            </a:xfrm>
            <a:custGeom>
              <a:avLst/>
              <a:gdLst/>
              <a:ahLst/>
              <a:cxnLst/>
              <a:rect l="l" t="t" r="r" b="b"/>
              <a:pathLst>
                <a:path w="101918" h="100965">
                  <a:moveTo>
                    <a:pt x="0" y="100965"/>
                  </a:moveTo>
                  <a:lnTo>
                    <a:pt x="36195" y="0"/>
                  </a:lnTo>
                  <a:lnTo>
                    <a:pt x="101918" y="685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6203632" y="2757488"/>
              <a:ext cx="678180" cy="586740"/>
            </a:xfrm>
            <a:custGeom>
              <a:avLst/>
              <a:gdLst/>
              <a:ahLst/>
              <a:cxnLst/>
              <a:rect l="l" t="t" r="r" b="b"/>
              <a:pathLst>
                <a:path w="678180" h="586740">
                  <a:moveTo>
                    <a:pt x="0" y="0"/>
                  </a:moveTo>
                  <a:lnTo>
                    <a:pt x="678180" y="5867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6850380" y="3308985"/>
              <a:ext cx="103822" cy="98108"/>
            </a:xfrm>
            <a:custGeom>
              <a:avLst/>
              <a:gdLst/>
              <a:ahLst/>
              <a:cxnLst/>
              <a:rect l="l" t="t" r="r" b="b"/>
              <a:pathLst>
                <a:path w="103822" h="98108">
                  <a:moveTo>
                    <a:pt x="103822" y="98108"/>
                  </a:moveTo>
                  <a:lnTo>
                    <a:pt x="0" y="71438"/>
                  </a:lnTo>
                  <a:lnTo>
                    <a:pt x="6286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5014912" y="3533775"/>
              <a:ext cx="243840" cy="462915"/>
            </a:xfrm>
            <a:custGeom>
              <a:avLst/>
              <a:gdLst/>
              <a:ahLst/>
              <a:cxnLst/>
              <a:rect l="l" t="t" r="r" b="b"/>
              <a:pathLst>
                <a:path w="243840" h="462915">
                  <a:moveTo>
                    <a:pt x="243840" y="0"/>
                  </a:moveTo>
                  <a:lnTo>
                    <a:pt x="0" y="4629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4971098" y="3973830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0" y="106680"/>
                  </a:moveTo>
                  <a:lnTo>
                    <a:pt x="1905" y="0"/>
                  </a:lnTo>
                  <a:lnTo>
                    <a:pt x="85725" y="4476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5424488" y="3509010"/>
              <a:ext cx="497205" cy="505778"/>
            </a:xfrm>
            <a:custGeom>
              <a:avLst/>
              <a:gdLst/>
              <a:ahLst/>
              <a:cxnLst/>
              <a:rect l="l" t="t" r="r" b="b"/>
              <a:pathLst>
                <a:path w="497205" h="505778">
                  <a:moveTo>
                    <a:pt x="0" y="0"/>
                  </a:moveTo>
                  <a:lnTo>
                    <a:pt x="497205" y="5057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5887402" y="3981450"/>
              <a:ext cx="100965" cy="101917"/>
            </a:xfrm>
            <a:custGeom>
              <a:avLst/>
              <a:gdLst/>
              <a:ahLst/>
              <a:cxnLst/>
              <a:rect l="l" t="t" r="r" b="b"/>
              <a:pathLst>
                <a:path w="100965" h="101917">
                  <a:moveTo>
                    <a:pt x="100965" y="101917"/>
                  </a:moveTo>
                  <a:lnTo>
                    <a:pt x="0" y="66675"/>
                  </a:lnTo>
                  <a:lnTo>
                    <a:pt x="6858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4739640" y="4343400"/>
              <a:ext cx="122872" cy="401003"/>
            </a:xfrm>
            <a:custGeom>
              <a:avLst/>
              <a:gdLst/>
              <a:ahLst/>
              <a:cxnLst/>
              <a:rect l="l" t="t" r="r" b="b"/>
              <a:pathLst>
                <a:path w="122872" h="401003">
                  <a:moveTo>
                    <a:pt x="122872" y="0"/>
                  </a:moveTo>
                  <a:lnTo>
                    <a:pt x="0" y="4010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4693920" y="4731068"/>
              <a:ext cx="91440" cy="104775"/>
            </a:xfrm>
            <a:custGeom>
              <a:avLst/>
              <a:gdLst/>
              <a:ahLst/>
              <a:cxnLst/>
              <a:rect l="l" t="t" r="r" b="b"/>
              <a:pathLst>
                <a:path w="91440" h="104775">
                  <a:moveTo>
                    <a:pt x="17145" y="104775"/>
                  </a:moveTo>
                  <a:lnTo>
                    <a:pt x="0" y="0"/>
                  </a:lnTo>
                  <a:lnTo>
                    <a:pt x="91440" y="2762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4986338" y="4324350"/>
              <a:ext cx="303847" cy="433388"/>
            </a:xfrm>
            <a:custGeom>
              <a:avLst/>
              <a:gdLst/>
              <a:ahLst/>
              <a:cxnLst/>
              <a:rect l="l" t="t" r="r" b="b"/>
              <a:pathLst>
                <a:path w="303847" h="433388">
                  <a:moveTo>
                    <a:pt x="0" y="0"/>
                  </a:moveTo>
                  <a:lnTo>
                    <a:pt x="303847" y="4333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5251132" y="4730115"/>
              <a:ext cx="93345" cy="105727"/>
            </a:xfrm>
            <a:custGeom>
              <a:avLst/>
              <a:gdLst/>
              <a:ahLst/>
              <a:cxnLst/>
              <a:rect l="l" t="t" r="r" b="b"/>
              <a:pathLst>
                <a:path w="93345" h="105727">
                  <a:moveTo>
                    <a:pt x="93345" y="105727"/>
                  </a:moveTo>
                  <a:lnTo>
                    <a:pt x="0" y="55245"/>
                  </a:lnTo>
                  <a:lnTo>
                    <a:pt x="7810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5962650" y="2530792"/>
              <a:ext cx="266700" cy="2667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5191125" y="327374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51345" y="3407092"/>
              <a:ext cx="533400" cy="457200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4771072" y="407384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947410" y="4083368"/>
              <a:ext cx="43815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4449128" y="4835842"/>
              <a:ext cx="419100" cy="3429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255895" y="4835842"/>
              <a:ext cx="419100" cy="3429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054273" y="260794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282748" y="33508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39353" y="357949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862695" y="41509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87793" y="420814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579986" y="495109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386753" y="495109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</a:t>
              </a:r>
            </a:p>
          </p:txBody>
        </p:sp>
      </p:grpSp>
      <p:grpSp>
        <p:nvGrpSpPr>
          <p:cNvPr id="68" name="c3-text-1"/>
          <p:cNvGrpSpPr/>
          <p:nvPr/>
        </p:nvGrpSpPr>
        <p:grpSpPr>
          <a:xfrm>
            <a:off x="8146923" y="1988344"/>
            <a:ext cx="1640318" cy="249364"/>
            <a:chOff x="8146923" y="1988344"/>
            <a:chExt cx="1640318" cy="249364"/>
          </a:xfrm>
        </p:grpSpPr>
        <p:sp>
          <p:nvSpPr>
            <p:cNvPr id="67" name="TextBox 67"/>
            <p:cNvSpPr txBox="1"/>
            <p:nvPr/>
          </p:nvSpPr>
          <p:spPr>
            <a:xfrm>
              <a:off x="8146923" y="1988344"/>
              <a:ext cx="1640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以 C 为轴将 A 右转</a:t>
              </a:r>
            </a:p>
          </p:txBody>
        </p:sp>
      </p:grpSp>
      <p:grpSp>
        <p:nvGrpSpPr>
          <p:cNvPr id="95" name="c3-graph-2"/>
          <p:cNvGrpSpPr/>
          <p:nvPr/>
        </p:nvGrpSpPr>
        <p:grpSpPr>
          <a:xfrm>
            <a:off x="8364855" y="2587942"/>
            <a:ext cx="3082290" cy="2209800"/>
            <a:chOff x="8364855" y="2587942"/>
            <a:chExt cx="3082290" cy="2209800"/>
          </a:xfrm>
        </p:grpSpPr>
        <p:sp>
          <p:nvSpPr>
            <p:cNvPr id="69" name="Freeform 69"/>
            <p:cNvSpPr/>
            <p:nvPr/>
          </p:nvSpPr>
          <p:spPr>
            <a:xfrm>
              <a:off x="9231630" y="2823210"/>
              <a:ext cx="574357" cy="584835"/>
            </a:xfrm>
            <a:custGeom>
              <a:avLst/>
              <a:gdLst/>
              <a:ahLst/>
              <a:cxnLst/>
              <a:rect l="l" t="t" r="r" b="b"/>
              <a:pathLst>
                <a:path w="574357" h="584835">
                  <a:moveTo>
                    <a:pt x="574357" y="0"/>
                  </a:moveTo>
                  <a:lnTo>
                    <a:pt x="0" y="5848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9164955" y="3374708"/>
              <a:ext cx="100965" cy="101917"/>
            </a:xfrm>
            <a:custGeom>
              <a:avLst/>
              <a:gdLst/>
              <a:ahLst/>
              <a:cxnLst/>
              <a:rect l="l" t="t" r="r" b="b"/>
              <a:pathLst>
                <a:path w="100965" h="101917">
                  <a:moveTo>
                    <a:pt x="0" y="101917"/>
                  </a:moveTo>
                  <a:lnTo>
                    <a:pt x="32385" y="0"/>
                  </a:lnTo>
                  <a:lnTo>
                    <a:pt x="100965" y="6667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10006012" y="2823210"/>
              <a:ext cx="574357" cy="584835"/>
            </a:xfrm>
            <a:custGeom>
              <a:avLst/>
              <a:gdLst/>
              <a:ahLst/>
              <a:cxnLst/>
              <a:rect l="l" t="t" r="r" b="b"/>
              <a:pathLst>
                <a:path w="574357" h="584835">
                  <a:moveTo>
                    <a:pt x="0" y="0"/>
                  </a:moveTo>
                  <a:lnTo>
                    <a:pt x="574357" y="5848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10546080" y="3374708"/>
              <a:ext cx="100965" cy="101917"/>
            </a:xfrm>
            <a:custGeom>
              <a:avLst/>
              <a:gdLst/>
              <a:ahLst/>
              <a:cxnLst/>
              <a:rect l="l" t="t" r="r" b="b"/>
              <a:pathLst>
                <a:path w="100965" h="101917">
                  <a:moveTo>
                    <a:pt x="100965" y="101917"/>
                  </a:moveTo>
                  <a:lnTo>
                    <a:pt x="0" y="66675"/>
                  </a:lnTo>
                  <a:lnTo>
                    <a:pt x="6858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8705850" y="3707130"/>
              <a:ext cx="297180" cy="623888"/>
            </a:xfrm>
            <a:custGeom>
              <a:avLst/>
              <a:gdLst/>
              <a:ahLst/>
              <a:cxnLst/>
              <a:rect l="l" t="t" r="r" b="b"/>
              <a:pathLst>
                <a:path w="297180" h="623888">
                  <a:moveTo>
                    <a:pt x="297180" y="0"/>
                  </a:moveTo>
                  <a:lnTo>
                    <a:pt x="0" y="6238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8662988" y="4310062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1905" y="106680"/>
                  </a:moveTo>
                  <a:lnTo>
                    <a:pt x="0" y="0"/>
                  </a:lnTo>
                  <a:lnTo>
                    <a:pt x="85725" y="4095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5" name="Freeform 75"/>
            <p:cNvSpPr/>
            <p:nvPr/>
          </p:nvSpPr>
          <p:spPr>
            <a:xfrm>
              <a:off x="9119235" y="3710940"/>
              <a:ext cx="252412" cy="617220"/>
            </a:xfrm>
            <a:custGeom>
              <a:avLst/>
              <a:gdLst/>
              <a:ahLst/>
              <a:cxnLst/>
              <a:rect l="l" t="t" r="r" b="b"/>
              <a:pathLst>
                <a:path w="252412" h="617220">
                  <a:moveTo>
                    <a:pt x="0" y="0"/>
                  </a:moveTo>
                  <a:lnTo>
                    <a:pt x="252412" y="6172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9326880" y="4310062"/>
              <a:ext cx="88582" cy="106680"/>
            </a:xfrm>
            <a:custGeom>
              <a:avLst/>
              <a:gdLst/>
              <a:ahLst/>
              <a:cxnLst/>
              <a:rect l="l" t="t" r="r" b="b"/>
              <a:pathLst>
                <a:path w="88582" h="106680">
                  <a:moveTo>
                    <a:pt x="80962" y="106680"/>
                  </a:moveTo>
                  <a:lnTo>
                    <a:pt x="0" y="36195"/>
                  </a:lnTo>
                  <a:lnTo>
                    <a:pt x="885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7" name="Freeform 77"/>
            <p:cNvSpPr/>
            <p:nvPr/>
          </p:nvSpPr>
          <p:spPr>
            <a:xfrm>
              <a:off x="10440352" y="3710940"/>
              <a:ext cx="252412" cy="617220"/>
            </a:xfrm>
            <a:custGeom>
              <a:avLst/>
              <a:gdLst/>
              <a:ahLst/>
              <a:cxnLst/>
              <a:rect l="l" t="t" r="r" b="b"/>
              <a:pathLst>
                <a:path w="252412" h="617220">
                  <a:moveTo>
                    <a:pt x="252412" y="0"/>
                  </a:moveTo>
                  <a:lnTo>
                    <a:pt x="0" y="6172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10396538" y="4310062"/>
              <a:ext cx="88582" cy="106680"/>
            </a:xfrm>
            <a:custGeom>
              <a:avLst/>
              <a:gdLst/>
              <a:ahLst/>
              <a:cxnLst/>
              <a:rect l="l" t="t" r="r" b="b"/>
              <a:pathLst>
                <a:path w="88582" h="106680">
                  <a:moveTo>
                    <a:pt x="7620" y="106680"/>
                  </a:moveTo>
                  <a:lnTo>
                    <a:pt x="0" y="0"/>
                  </a:lnTo>
                  <a:lnTo>
                    <a:pt x="88582" y="361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9" name="Freeform 79"/>
            <p:cNvSpPr/>
            <p:nvPr/>
          </p:nvSpPr>
          <p:spPr>
            <a:xfrm>
              <a:off x="10808970" y="3707130"/>
              <a:ext cx="297180" cy="623888"/>
            </a:xfrm>
            <a:custGeom>
              <a:avLst/>
              <a:gdLst/>
              <a:ahLst/>
              <a:cxnLst/>
              <a:rect l="l" t="t" r="r" b="b"/>
              <a:pathLst>
                <a:path w="297180" h="623888">
                  <a:moveTo>
                    <a:pt x="0" y="0"/>
                  </a:moveTo>
                  <a:lnTo>
                    <a:pt x="297180" y="6238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11063288" y="4310062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3820" y="106680"/>
                  </a:moveTo>
                  <a:lnTo>
                    <a:pt x="0" y="40958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9772650" y="2587942"/>
              <a:ext cx="266700" cy="2667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8931592" y="344519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10613708" y="344519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8364855" y="4416742"/>
              <a:ext cx="41910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9275445" y="4416742"/>
              <a:ext cx="41910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10117455" y="4416742"/>
              <a:ext cx="41910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11028045" y="4416742"/>
              <a:ext cx="41910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864273" y="26650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023215" y="352234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705330" y="352234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495713" y="455104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406303" y="455104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248313" y="455104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158903" y="455104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</a:t>
              </a:r>
            </a:p>
          </p:txBody>
        </p:sp>
      </p:grpSp>
      <p:grpSp>
        <p:nvGrpSpPr>
          <p:cNvPr id="10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96" name="Rectangle 9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1040130" y="5991225"/>
              <a:ext cx="87447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两步都以 C 为轴。转完 C 当根，平衡系数为 0，子树高度回到插入前的 h+1，所以上层不受影响。</a:t>
              </a:r>
            </a:p>
          </p:txBody>
        </p:sp>
      </p:grpSp>
      <p:grpSp>
        <p:nvGrpSpPr>
          <p:cNvPr id="10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2" name="TextBox 102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19597" cy="909257"/>
            <a:chOff x="520446" y="342900"/>
            <a:chExt cx="34195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79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217" y="407194"/>
              <a:ext cx="2701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高度平衡树（AVL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195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双旋转 RL 与两段代码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388422" cy="1693069"/>
            <a:chOff x="533400" y="1533525"/>
            <a:chExt cx="5388422" cy="169306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070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1564957"/>
              <a:ext cx="10229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RL 型的形状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785" y="1833086"/>
              <a:ext cx="4939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插在 A 的右孩子 B 的左子树里，A 的平衡系数是 −2，A、B、C 呈折线。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2152650"/>
              <a:ext cx="23325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 · 以 C 为轴将 B 右转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419826"/>
              <a:ext cx="4648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的左子树高，所以右转，转完 A、B、C 成一条直线，形状变成 RR。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739390"/>
              <a:ext cx="23325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 · 以 C 为轴将 A 左转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006566"/>
              <a:ext cx="49750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RR 型处理，C 成为子树的根，A 成为 C 的左孩子，B 成为 C 的右孩子。</a:t>
              </a:r>
            </a:p>
          </p:txBody>
        </p:sp>
      </p:grpSp>
      <p:grpSp>
        <p:nvGrpSpPr>
          <p:cNvPr id="47" name="c1-graph-2"/>
          <p:cNvGrpSpPr/>
          <p:nvPr/>
        </p:nvGrpSpPr>
        <p:grpSpPr>
          <a:xfrm>
            <a:off x="948690" y="3529965"/>
            <a:ext cx="4579620" cy="1800225"/>
            <a:chOff x="948690" y="3529965"/>
            <a:chExt cx="4579620" cy="1800225"/>
          </a:xfrm>
        </p:grpSpPr>
        <p:sp>
          <p:nvSpPr>
            <p:cNvPr id="21" name="Freeform 21"/>
            <p:cNvSpPr/>
            <p:nvPr/>
          </p:nvSpPr>
          <p:spPr>
            <a:xfrm>
              <a:off x="2164080" y="3762375"/>
              <a:ext cx="933450" cy="530542"/>
            </a:xfrm>
            <a:custGeom>
              <a:avLst/>
              <a:gdLst/>
              <a:ahLst/>
              <a:cxnLst/>
              <a:rect l="l" t="t" r="r" b="b"/>
              <a:pathLst>
                <a:path w="933450" h="530542">
                  <a:moveTo>
                    <a:pt x="933450" y="0"/>
                  </a:moveTo>
                  <a:lnTo>
                    <a:pt x="0" y="5305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081212" y="4251008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0" y="88583"/>
                  </a:moveTo>
                  <a:lnTo>
                    <a:pt x="59055" y="0"/>
                  </a:lnTo>
                  <a:lnTo>
                    <a:pt x="105727" y="8286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379470" y="3762375"/>
              <a:ext cx="933450" cy="530542"/>
            </a:xfrm>
            <a:custGeom>
              <a:avLst/>
              <a:gdLst/>
              <a:ahLst/>
              <a:cxnLst/>
              <a:rect l="l" t="t" r="r" b="b"/>
              <a:pathLst>
                <a:path w="933450" h="530542">
                  <a:moveTo>
                    <a:pt x="0" y="0"/>
                  </a:moveTo>
                  <a:lnTo>
                    <a:pt x="933450" y="5305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290060" y="4251008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105728" y="88583"/>
                  </a:moveTo>
                  <a:lnTo>
                    <a:pt x="0" y="82867"/>
                  </a:lnTo>
                  <a:lnTo>
                    <a:pt x="4667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428750" y="4532948"/>
              <a:ext cx="395288" cy="383858"/>
            </a:xfrm>
            <a:custGeom>
              <a:avLst/>
              <a:gdLst/>
              <a:ahLst/>
              <a:cxnLst/>
              <a:rect l="l" t="t" r="r" b="b"/>
              <a:pathLst>
                <a:path w="395288" h="383858">
                  <a:moveTo>
                    <a:pt x="395288" y="0"/>
                  </a:moveTo>
                  <a:lnTo>
                    <a:pt x="0" y="3838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361122" y="488251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100965"/>
                  </a:moveTo>
                  <a:lnTo>
                    <a:pt x="34290" y="0"/>
                  </a:lnTo>
                  <a:lnTo>
                    <a:pt x="100965" y="685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2046922" y="4541520"/>
              <a:ext cx="326707" cy="370523"/>
            </a:xfrm>
            <a:custGeom>
              <a:avLst/>
              <a:gdLst/>
              <a:ahLst/>
              <a:cxnLst/>
              <a:rect l="l" t="t" r="r" b="b"/>
              <a:pathLst>
                <a:path w="326707" h="370523">
                  <a:moveTo>
                    <a:pt x="0" y="0"/>
                  </a:moveTo>
                  <a:lnTo>
                    <a:pt x="326707" y="3705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2338388" y="4880610"/>
              <a:ext cx="98108" cy="102870"/>
            </a:xfrm>
            <a:custGeom>
              <a:avLst/>
              <a:gdLst/>
              <a:ahLst/>
              <a:cxnLst/>
              <a:rect l="l" t="t" r="r" b="b"/>
              <a:pathLst>
                <a:path w="98108" h="102870">
                  <a:moveTo>
                    <a:pt x="98108" y="102870"/>
                  </a:moveTo>
                  <a:lnTo>
                    <a:pt x="0" y="62865"/>
                  </a:lnTo>
                  <a:lnTo>
                    <a:pt x="7143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4103370" y="4541520"/>
              <a:ext cx="326708" cy="370523"/>
            </a:xfrm>
            <a:custGeom>
              <a:avLst/>
              <a:gdLst/>
              <a:ahLst/>
              <a:cxnLst/>
              <a:rect l="l" t="t" r="r" b="b"/>
              <a:pathLst>
                <a:path w="326708" h="370523">
                  <a:moveTo>
                    <a:pt x="326708" y="0"/>
                  </a:moveTo>
                  <a:lnTo>
                    <a:pt x="0" y="3705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040505" y="4880610"/>
              <a:ext cx="98108" cy="102870"/>
            </a:xfrm>
            <a:custGeom>
              <a:avLst/>
              <a:gdLst/>
              <a:ahLst/>
              <a:cxnLst/>
              <a:rect l="l" t="t" r="r" b="b"/>
              <a:pathLst>
                <a:path w="98108" h="102870">
                  <a:moveTo>
                    <a:pt x="0" y="102870"/>
                  </a:moveTo>
                  <a:lnTo>
                    <a:pt x="26670" y="0"/>
                  </a:lnTo>
                  <a:lnTo>
                    <a:pt x="98108" y="6286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4652962" y="4532948"/>
              <a:ext cx="395288" cy="383858"/>
            </a:xfrm>
            <a:custGeom>
              <a:avLst/>
              <a:gdLst/>
              <a:ahLst/>
              <a:cxnLst/>
              <a:rect l="l" t="t" r="r" b="b"/>
              <a:pathLst>
                <a:path w="395288" h="383858">
                  <a:moveTo>
                    <a:pt x="0" y="0"/>
                  </a:moveTo>
                  <a:lnTo>
                    <a:pt x="395288" y="3838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5014912" y="488251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965" y="100965"/>
                  </a:moveTo>
                  <a:lnTo>
                    <a:pt x="0" y="6858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3086100" y="3529965"/>
              <a:ext cx="304800" cy="3048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787842" y="42672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4384358" y="42672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48690" y="4983480"/>
              <a:ext cx="467678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355532" y="4983480"/>
              <a:ext cx="467678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653790" y="4983480"/>
              <a:ext cx="467678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060632" y="4983480"/>
              <a:ext cx="467678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196773" y="362616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898515" y="436340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95030" y="436340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4313" y="510063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10203" y="510063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809413" y="510063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15303" y="510063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</a:t>
              </a:r>
            </a:p>
          </p:txBody>
        </p:sp>
      </p:grpSp>
      <p:grpSp>
        <p:nvGrpSpPr>
          <p:cNvPr id="51" name="c2-code-1"/>
          <p:cNvGrpSpPr/>
          <p:nvPr/>
        </p:nvGrpSpPr>
        <p:grpSpPr>
          <a:xfrm>
            <a:off x="6248400" y="1524000"/>
            <a:ext cx="5410200" cy="2207895"/>
            <a:chOff x="6248400" y="1524000"/>
            <a:chExt cx="5410200" cy="2207895"/>
          </a:xfrm>
        </p:grpSpPr>
        <p:sp>
          <p:nvSpPr>
            <p:cNvPr id="48" name="Rectangle 48"/>
            <p:cNvSpPr/>
            <p:nvPr/>
          </p:nvSpPr>
          <p:spPr>
            <a:xfrm>
              <a:off x="6248400" y="1524000"/>
              <a:ext cx="5410200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76797" y="16759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双旋转就是两次单旋转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76416" y="1937385"/>
              <a:ext cx="3084386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LR(AVLnode* &amp;A)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RR(A-&gt;left);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以 C 为轴将 B 左转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LL(A);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以 C 为轴将 A 右转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RL(AVLnode* &amp;A)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LL(A-&gt;right);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以 C 为轴将 B 右转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RR(A);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以 C 为轴将 A 左转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248400" y="3907155"/>
            <a:ext cx="5410200" cy="1483995"/>
            <a:chOff x="6248400" y="3907155"/>
            <a:chExt cx="5410200" cy="1483995"/>
          </a:xfrm>
        </p:grpSpPr>
        <p:sp>
          <p:nvSpPr>
            <p:cNvPr id="52" name="Rectangle 52"/>
            <p:cNvSpPr/>
            <p:nvPr/>
          </p:nvSpPr>
          <p:spPr>
            <a:xfrm>
              <a:off x="6248400" y="3907155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57925" y="404050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78905" y="40995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70345" y="41338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62597" y="4139565"/>
              <a:ext cx="28596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LR 里第一次调用的是 RR，不是 LL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72047" y="4473892"/>
              <a:ext cx="46600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第一步处理的是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 这棵子树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，它的右子树高，所以对 B 做左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转，也就是 RR(A-&gt;left)。第二步才轮到 A，此时 A 的左子树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高，做 LL(A)。</a:t>
              </a:r>
            </a:p>
          </p:txBody>
        </p:sp>
      </p:grpSp>
      <p:grpSp>
        <p:nvGrpSpPr>
          <p:cNvPr id="64" name="c2-callout-3"/>
          <p:cNvGrpSpPr/>
          <p:nvPr/>
        </p:nvGrpSpPr>
        <p:grpSpPr>
          <a:xfrm>
            <a:off x="6248400" y="5566410"/>
            <a:ext cx="5410200" cy="729615"/>
            <a:chOff x="6248400" y="5566410"/>
            <a:chExt cx="5410200" cy="729615"/>
          </a:xfrm>
        </p:grpSpPr>
        <p:sp>
          <p:nvSpPr>
            <p:cNvPr id="59" name="Rectangle 59"/>
            <p:cNvSpPr/>
            <p:nvPr/>
          </p:nvSpPr>
          <p:spPr>
            <a:xfrm>
              <a:off x="6248400" y="556641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453188" y="5831207"/>
              <a:ext cx="200023" cy="200023"/>
              <a:chOff x="6453188" y="5831207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53188" y="58312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586538" y="58978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755892" y="5712142"/>
              <a:ext cx="44971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记法：名字的第一个字母决定最后对 A 做哪种旋转的反向，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实际写代码时照着“先转 B 再转 A”推一遍更可靠。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92835" cy="909257"/>
            <a:chOff x="520446" y="342900"/>
            <a:chExt cx="67928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79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217" y="407194"/>
              <a:ext cx="2701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高度平衡树（AVL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928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例题：从空树开始插入 3, 2, 1, 4, 5, 6, 7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192551" cy="278702"/>
            <a:chOff x="526161" y="1547336"/>
            <a:chExt cx="719255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1925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全程只用到单旋转，一共转了 4 次。每次插入后先看有没有结点的平衡系数变成 ±2。</a:t>
              </a:r>
            </a:p>
          </p:txBody>
        </p:sp>
      </p:grpSp>
      <p:grpSp>
        <p:nvGrpSpPr>
          <p:cNvPr id="52" name="c1-table-1"/>
          <p:cNvGrpSpPr/>
          <p:nvPr/>
        </p:nvGrpSpPr>
        <p:grpSpPr>
          <a:xfrm>
            <a:off x="533400" y="1941195"/>
            <a:ext cx="5410200" cy="2840355"/>
            <a:chOff x="533400" y="1941195"/>
            <a:chExt cx="5410200" cy="284035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934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插入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23812" y="2065496"/>
              <a:ext cx="75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失衡结点 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4393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87494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旋转后的根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2471261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99235" y="24712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06077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95750" y="2471261"/>
              <a:ext cx="976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3（左孩子 2）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479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5272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770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99235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815590" y="2762250"/>
              <a:ext cx="117157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906077" y="287702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95750" y="2877026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2，左 1 右 3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1537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32827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99235" y="328279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06077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95750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559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56425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3412" y="3688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99235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06077" y="368855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95750" y="3688556"/>
              <a:ext cx="11271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2，右子树根变 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9652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3412" y="40943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99235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815590" y="3979545"/>
              <a:ext cx="117157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906077" y="4094321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95750" y="4094321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4，左 2 右 5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3710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37578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3412" y="4500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499235" y="45000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906077" y="450008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95750" y="4500086"/>
              <a:ext cx="11271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4，右子树根变 6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1941195"/>
              <a:ext cx="541020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394460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2801302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990975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1-callout-2"/>
          <p:cNvGrpSpPr/>
          <p:nvPr/>
        </p:nvGrpSpPr>
        <p:grpSpPr>
          <a:xfrm>
            <a:off x="533400" y="4956810"/>
            <a:ext cx="5410200" cy="729615"/>
            <a:chOff x="533400" y="4956810"/>
            <a:chExt cx="5410200" cy="729615"/>
          </a:xfrm>
        </p:grpSpPr>
        <p:sp>
          <p:nvSpPr>
            <p:cNvPr id="53" name="Rectangle 53"/>
            <p:cNvSpPr/>
            <p:nvPr/>
          </p:nvSpPr>
          <p:spPr>
            <a:xfrm>
              <a:off x="533400" y="495681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221605"/>
              <a:ext cx="200026" cy="200026"/>
              <a:chOff x="738188" y="5221605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2216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52882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27088" y="53216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892" y="5103495"/>
              <a:ext cx="44971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 6 时失衡的是根结点 2，注意 A 是从插入点往上数第一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个失衡的结点，这里恰好就是根。</a:t>
              </a:r>
            </a:p>
          </p:txBody>
        </p:sp>
      </p:grpSp>
      <p:grpSp>
        <p:nvGrpSpPr>
          <p:cNvPr id="61" name="c2-text-1"/>
          <p:cNvGrpSpPr/>
          <p:nvPr/>
        </p:nvGrpSpPr>
        <p:grpSpPr>
          <a:xfrm>
            <a:off x="6242685" y="1959769"/>
            <a:ext cx="2288123" cy="220028"/>
            <a:chOff x="6242685" y="1959769"/>
            <a:chExt cx="2288123" cy="220028"/>
          </a:xfrm>
        </p:grpSpPr>
        <p:sp>
          <p:nvSpPr>
            <p:cNvPr id="60" name="TextBox 60"/>
            <p:cNvSpPr txBox="1"/>
            <p:nvPr/>
          </p:nvSpPr>
          <p:spPr>
            <a:xfrm>
              <a:off x="6242685" y="1959769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最终结果（高度 2，共 7 个结点）</a:t>
              </a:r>
            </a:p>
          </p:txBody>
        </p:sp>
      </p:grpSp>
      <p:grpSp>
        <p:nvGrpSpPr>
          <p:cNvPr id="82" name="c2-tree-2"/>
          <p:cNvGrpSpPr/>
          <p:nvPr/>
        </p:nvGrpSpPr>
        <p:grpSpPr>
          <a:xfrm>
            <a:off x="6734175" y="2534602"/>
            <a:ext cx="4438650" cy="2039303"/>
            <a:chOff x="6734175" y="2534602"/>
            <a:chExt cx="4438650" cy="2039303"/>
          </a:xfrm>
        </p:grpSpPr>
        <p:sp>
          <p:nvSpPr>
            <p:cNvPr id="62" name="Freeform 62"/>
            <p:cNvSpPr/>
            <p:nvPr/>
          </p:nvSpPr>
          <p:spPr>
            <a:xfrm>
              <a:off x="6924675" y="3554730"/>
              <a:ext cx="676275" cy="828675"/>
            </a:xfrm>
            <a:custGeom>
              <a:avLst/>
              <a:gdLst/>
              <a:ahLst/>
              <a:cxnLst/>
              <a:rect l="l" t="t" r="r" b="b"/>
              <a:pathLst>
                <a:path w="676275" h="828675">
                  <a:moveTo>
                    <a:pt x="676275" y="0"/>
                  </a:moveTo>
                  <a:lnTo>
                    <a:pt x="0" y="828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7600950" y="3554730"/>
              <a:ext cx="676275" cy="828675"/>
            </a:xfrm>
            <a:custGeom>
              <a:avLst/>
              <a:gdLst/>
              <a:ahLst/>
              <a:cxnLst/>
              <a:rect l="l" t="t" r="r" b="b"/>
              <a:pathLst>
                <a:path w="676275" h="828675">
                  <a:moveTo>
                    <a:pt x="0" y="0"/>
                  </a:moveTo>
                  <a:lnTo>
                    <a:pt x="676275" y="828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9629775" y="3554730"/>
              <a:ext cx="676275" cy="828675"/>
            </a:xfrm>
            <a:custGeom>
              <a:avLst/>
              <a:gdLst/>
              <a:ahLst/>
              <a:cxnLst/>
              <a:rect l="l" t="t" r="r" b="b"/>
              <a:pathLst>
                <a:path w="676275" h="828675">
                  <a:moveTo>
                    <a:pt x="676275" y="0"/>
                  </a:moveTo>
                  <a:lnTo>
                    <a:pt x="0" y="828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10306050" y="3554730"/>
              <a:ext cx="676275" cy="828675"/>
            </a:xfrm>
            <a:custGeom>
              <a:avLst/>
              <a:gdLst/>
              <a:ahLst/>
              <a:cxnLst/>
              <a:rect l="l" t="t" r="r" b="b"/>
              <a:pathLst>
                <a:path w="676275" h="828675">
                  <a:moveTo>
                    <a:pt x="0" y="0"/>
                  </a:moveTo>
                  <a:lnTo>
                    <a:pt x="676275" y="828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7600950" y="2725102"/>
              <a:ext cx="1352550" cy="829627"/>
            </a:xfrm>
            <a:custGeom>
              <a:avLst/>
              <a:gdLst/>
              <a:ahLst/>
              <a:cxnLst/>
              <a:rect l="l" t="t" r="r" b="b"/>
              <a:pathLst>
                <a:path w="1352550" h="829627">
                  <a:moveTo>
                    <a:pt x="1352550" y="0"/>
                  </a:moveTo>
                  <a:lnTo>
                    <a:pt x="0" y="8296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8953500" y="2725102"/>
              <a:ext cx="1352550" cy="829627"/>
            </a:xfrm>
            <a:custGeom>
              <a:avLst/>
              <a:gdLst/>
              <a:ahLst/>
              <a:cxnLst/>
              <a:rect l="l" t="t" r="r" b="b"/>
              <a:pathLst>
                <a:path w="1352550" h="829627">
                  <a:moveTo>
                    <a:pt x="0" y="0"/>
                  </a:moveTo>
                  <a:lnTo>
                    <a:pt x="1352550" y="8296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6734175" y="419290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8086725" y="419290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7410450" y="336423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9439275" y="419290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10791825" y="419290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10115550" y="336423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8763000" y="253460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875424" y="43133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227974" y="43133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51699" y="34847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580524" y="43133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933074" y="43133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256799" y="34847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904249" y="26550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88" name="c2-callout-3"/>
          <p:cNvGrpSpPr/>
          <p:nvPr/>
        </p:nvGrpSpPr>
        <p:grpSpPr>
          <a:xfrm>
            <a:off x="6248400" y="4973002"/>
            <a:ext cx="5410200" cy="729615"/>
            <a:chOff x="6248400" y="4973002"/>
            <a:chExt cx="5410200" cy="729615"/>
          </a:xfrm>
        </p:grpSpPr>
        <p:sp>
          <p:nvSpPr>
            <p:cNvPr id="83" name="Rectangle 83"/>
            <p:cNvSpPr/>
            <p:nvPr/>
          </p:nvSpPr>
          <p:spPr>
            <a:xfrm>
              <a:off x="6248400" y="497300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6453188" y="5237800"/>
              <a:ext cx="200023" cy="200023"/>
              <a:chOff x="6453188" y="5237800"/>
              <a:chExt cx="200023" cy="200023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6453188" y="523780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586538" y="53044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6755892" y="5118735"/>
              <a:ext cx="452285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同样这七个数按 1 到 7 的顺序插入普通二叉查找树会得到一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条长度 7 的链；AVL 树把它压成了满二叉树。</a:t>
              </a:r>
            </a:p>
          </p:txBody>
        </p:sp>
      </p:grpSp>
      <p:grpSp>
        <p:nvGrpSpPr>
          <p:cNvPr id="9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89" name="Rectangle 8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1040892" y="6023610"/>
              <a:ext cx="63559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手推这类题的节奏是：插一个、从插入点往上找 A、认类型、转、再插下一个。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648624" cy="909257"/>
            <a:chOff x="520446" y="342900"/>
            <a:chExt cx="36486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79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217" y="407194"/>
              <a:ext cx="2701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高度平衡树（AVL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6486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例题：LR 型的完整过程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4988357" cy="308039"/>
            <a:chOff x="525399" y="1550194"/>
            <a:chExt cx="498835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498835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在下面这棵 AVL 树里插入 5。插入点是 6 的左孩子。</a:t>
              </a:r>
            </a:p>
          </p:txBody>
        </p:sp>
      </p:grpSp>
      <p:grpSp>
        <p:nvGrpSpPr>
          <p:cNvPr id="10" name="c1-text-1"/>
          <p:cNvGrpSpPr/>
          <p:nvPr/>
        </p:nvGrpSpPr>
        <p:grpSpPr>
          <a:xfrm>
            <a:off x="526923" y="1988344"/>
            <a:ext cx="1838828" cy="249364"/>
            <a:chOff x="526923" y="1988344"/>
            <a:chExt cx="1838828" cy="249364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88344"/>
              <a:ext cx="1838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插入 5 之后（A = 9）</a:t>
              </a:r>
            </a:p>
          </p:txBody>
        </p:sp>
      </p:grpSp>
      <p:grpSp>
        <p:nvGrpSpPr>
          <p:cNvPr id="40" name="c1-tree-2"/>
          <p:cNvGrpSpPr/>
          <p:nvPr/>
        </p:nvGrpSpPr>
        <p:grpSpPr>
          <a:xfrm>
            <a:off x="727710" y="2516505"/>
            <a:ext cx="3137535" cy="2550223"/>
            <a:chOff x="727710" y="2516505"/>
            <a:chExt cx="3137535" cy="2550223"/>
          </a:xfrm>
        </p:grpSpPr>
        <p:sp>
          <p:nvSpPr>
            <p:cNvPr id="11" name="Freeform 11"/>
            <p:cNvSpPr/>
            <p:nvPr/>
          </p:nvSpPr>
          <p:spPr>
            <a:xfrm>
              <a:off x="870585" y="3783330"/>
              <a:ext cx="134302" cy="561975"/>
            </a:xfrm>
            <a:custGeom>
              <a:avLst/>
              <a:gdLst/>
              <a:ahLst/>
              <a:cxnLst/>
              <a:rect l="l" t="t" r="r" b="b"/>
              <a:pathLst>
                <a:path w="134302" h="561975">
                  <a:moveTo>
                    <a:pt x="134302" y="0"/>
                  </a:moveTo>
                  <a:lnTo>
                    <a:pt x="0" y="561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14512" y="4345305"/>
              <a:ext cx="134302" cy="561975"/>
            </a:xfrm>
            <a:custGeom>
              <a:avLst/>
              <a:gdLst/>
              <a:ahLst/>
              <a:cxnLst/>
              <a:rect l="l" t="t" r="r" b="b"/>
              <a:pathLst>
                <a:path w="134302" h="561975">
                  <a:moveTo>
                    <a:pt x="134302" y="0"/>
                  </a:moveTo>
                  <a:lnTo>
                    <a:pt x="0" y="561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948815" y="3783330"/>
              <a:ext cx="337185" cy="561975"/>
            </a:xfrm>
            <a:custGeom>
              <a:avLst/>
              <a:gdLst/>
              <a:ahLst/>
              <a:cxnLst/>
              <a:rect l="l" t="t" r="r" b="b"/>
              <a:pathLst>
                <a:path w="337185" h="561975">
                  <a:moveTo>
                    <a:pt x="337185" y="0"/>
                  </a:moveTo>
                  <a:lnTo>
                    <a:pt x="0" y="561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286000" y="3783330"/>
              <a:ext cx="471488" cy="561975"/>
            </a:xfrm>
            <a:custGeom>
              <a:avLst/>
              <a:gdLst/>
              <a:ahLst/>
              <a:cxnLst/>
              <a:rect l="l" t="t" r="r" b="b"/>
              <a:pathLst>
                <a:path w="471488" h="561975">
                  <a:moveTo>
                    <a:pt x="0" y="0"/>
                  </a:moveTo>
                  <a:lnTo>
                    <a:pt x="471488" y="561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04888" y="3221355"/>
              <a:ext cx="809625" cy="561975"/>
            </a:xfrm>
            <a:custGeom>
              <a:avLst/>
              <a:gdLst/>
              <a:ahLst/>
              <a:cxnLst/>
              <a:rect l="l" t="t" r="r" b="b"/>
              <a:pathLst>
                <a:path w="809625" h="561975">
                  <a:moveTo>
                    <a:pt x="809625" y="0"/>
                  </a:moveTo>
                  <a:lnTo>
                    <a:pt x="0" y="561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814512" y="3221355"/>
              <a:ext cx="471488" cy="561975"/>
            </a:xfrm>
            <a:custGeom>
              <a:avLst/>
              <a:gdLst/>
              <a:ahLst/>
              <a:cxnLst/>
              <a:rect l="l" t="t" r="r" b="b"/>
              <a:pathLst>
                <a:path w="471488" h="561975">
                  <a:moveTo>
                    <a:pt x="0" y="0"/>
                  </a:moveTo>
                  <a:lnTo>
                    <a:pt x="471488" y="561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567112" y="3221355"/>
              <a:ext cx="134303" cy="561975"/>
            </a:xfrm>
            <a:custGeom>
              <a:avLst/>
              <a:gdLst/>
              <a:ahLst/>
              <a:cxnLst/>
              <a:rect l="l" t="t" r="r" b="b"/>
              <a:pathLst>
                <a:path w="134303" h="561975">
                  <a:moveTo>
                    <a:pt x="0" y="0"/>
                  </a:moveTo>
                  <a:lnTo>
                    <a:pt x="134303" y="561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814512" y="2659380"/>
              <a:ext cx="471488" cy="561975"/>
            </a:xfrm>
            <a:custGeom>
              <a:avLst/>
              <a:gdLst/>
              <a:ahLst/>
              <a:cxnLst/>
              <a:rect l="l" t="t" r="r" b="b"/>
              <a:pathLst>
                <a:path w="471488" h="561975">
                  <a:moveTo>
                    <a:pt x="471488" y="0"/>
                  </a:moveTo>
                  <a:lnTo>
                    <a:pt x="0" y="561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286000" y="2659380"/>
              <a:ext cx="1281112" cy="561975"/>
            </a:xfrm>
            <a:custGeom>
              <a:avLst/>
              <a:gdLst/>
              <a:ahLst/>
              <a:cxnLst/>
              <a:rect l="l" t="t" r="r" b="b"/>
              <a:pathLst>
                <a:path w="1281112" h="561975">
                  <a:moveTo>
                    <a:pt x="0" y="0"/>
                  </a:moveTo>
                  <a:lnTo>
                    <a:pt x="1281112" y="561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27710" y="420243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862012" y="364045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671638" y="4764405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805940" y="420243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614612" y="420243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143125" y="364045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671638" y="307848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3537585" y="3619500"/>
              <a:ext cx="327660" cy="3276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3403282" y="3057525"/>
              <a:ext cx="327660" cy="3276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2143125" y="251650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7843" y="427005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2146" y="3708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61771" y="483203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96073" y="427005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04746" y="427005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33258" y="3708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61771" y="314610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02027" y="370808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67725" y="314610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33258" y="258413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42" name="c2-text-1"/>
          <p:cNvGrpSpPr/>
          <p:nvPr/>
        </p:nvGrpSpPr>
        <p:grpSpPr>
          <a:xfrm>
            <a:off x="4336923" y="1988344"/>
            <a:ext cx="1616763" cy="249364"/>
            <a:chOff x="4336923" y="1988344"/>
            <a:chExt cx="1616763" cy="249364"/>
          </a:xfrm>
        </p:grpSpPr>
        <p:sp>
          <p:nvSpPr>
            <p:cNvPr id="41" name="TextBox 41"/>
            <p:cNvSpPr txBox="1"/>
            <p:nvPr/>
          </p:nvSpPr>
          <p:spPr>
            <a:xfrm>
              <a:off x="4336923" y="1988344"/>
              <a:ext cx="1616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以 7 为轴将 3 左转</a:t>
              </a:r>
            </a:p>
          </p:txBody>
        </p:sp>
      </p:grpSp>
      <p:grpSp>
        <p:nvGrpSpPr>
          <p:cNvPr id="72" name="c2-tree-2"/>
          <p:cNvGrpSpPr/>
          <p:nvPr/>
        </p:nvGrpSpPr>
        <p:grpSpPr>
          <a:xfrm>
            <a:off x="4537710" y="2516505"/>
            <a:ext cx="3137535" cy="2550223"/>
            <a:chOff x="4537710" y="2516505"/>
            <a:chExt cx="3137535" cy="2550223"/>
          </a:xfrm>
        </p:grpSpPr>
        <p:sp>
          <p:nvSpPr>
            <p:cNvPr id="43" name="Freeform 43"/>
            <p:cNvSpPr/>
            <p:nvPr/>
          </p:nvSpPr>
          <p:spPr>
            <a:xfrm>
              <a:off x="4680585" y="4345305"/>
              <a:ext cx="134303" cy="561975"/>
            </a:xfrm>
            <a:custGeom>
              <a:avLst/>
              <a:gdLst/>
              <a:ahLst/>
              <a:cxnLst/>
              <a:rect l="l" t="t" r="r" b="b"/>
              <a:pathLst>
                <a:path w="134303" h="561975">
                  <a:moveTo>
                    <a:pt x="134303" y="0"/>
                  </a:moveTo>
                  <a:lnTo>
                    <a:pt x="0" y="561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5624512" y="4345305"/>
              <a:ext cx="134303" cy="561975"/>
            </a:xfrm>
            <a:custGeom>
              <a:avLst/>
              <a:gdLst/>
              <a:ahLst/>
              <a:cxnLst/>
              <a:rect l="l" t="t" r="r" b="b"/>
              <a:pathLst>
                <a:path w="134303" h="561975">
                  <a:moveTo>
                    <a:pt x="134303" y="0"/>
                  </a:moveTo>
                  <a:lnTo>
                    <a:pt x="0" y="561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4814888" y="3783330"/>
              <a:ext cx="472440" cy="561975"/>
            </a:xfrm>
            <a:custGeom>
              <a:avLst/>
              <a:gdLst/>
              <a:ahLst/>
              <a:cxnLst/>
              <a:rect l="l" t="t" r="r" b="b"/>
              <a:pathLst>
                <a:path w="472440" h="561975">
                  <a:moveTo>
                    <a:pt x="472440" y="0"/>
                  </a:moveTo>
                  <a:lnTo>
                    <a:pt x="0" y="561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5287328" y="3783330"/>
              <a:ext cx="471488" cy="561975"/>
            </a:xfrm>
            <a:custGeom>
              <a:avLst/>
              <a:gdLst/>
              <a:ahLst/>
              <a:cxnLst/>
              <a:rect l="l" t="t" r="r" b="b"/>
              <a:pathLst>
                <a:path w="471488" h="561975">
                  <a:moveTo>
                    <a:pt x="0" y="0"/>
                  </a:moveTo>
                  <a:lnTo>
                    <a:pt x="471488" y="561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5287328" y="3221355"/>
              <a:ext cx="337185" cy="561975"/>
            </a:xfrm>
            <a:custGeom>
              <a:avLst/>
              <a:gdLst/>
              <a:ahLst/>
              <a:cxnLst/>
              <a:rect l="l" t="t" r="r" b="b"/>
              <a:pathLst>
                <a:path w="337185" h="561975">
                  <a:moveTo>
                    <a:pt x="337185" y="0"/>
                  </a:moveTo>
                  <a:lnTo>
                    <a:pt x="0" y="561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5624512" y="3221355"/>
              <a:ext cx="942975" cy="561975"/>
            </a:xfrm>
            <a:custGeom>
              <a:avLst/>
              <a:gdLst/>
              <a:ahLst/>
              <a:cxnLst/>
              <a:rect l="l" t="t" r="r" b="b"/>
              <a:pathLst>
                <a:path w="942975" h="561975">
                  <a:moveTo>
                    <a:pt x="0" y="0"/>
                  </a:moveTo>
                  <a:lnTo>
                    <a:pt x="942975" y="561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377112" y="3221355"/>
              <a:ext cx="134303" cy="561975"/>
            </a:xfrm>
            <a:custGeom>
              <a:avLst/>
              <a:gdLst/>
              <a:ahLst/>
              <a:cxnLst/>
              <a:rect l="l" t="t" r="r" b="b"/>
              <a:pathLst>
                <a:path w="134303" h="561975">
                  <a:moveTo>
                    <a:pt x="0" y="0"/>
                  </a:moveTo>
                  <a:lnTo>
                    <a:pt x="134303" y="561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5624512" y="2659380"/>
              <a:ext cx="471488" cy="561975"/>
            </a:xfrm>
            <a:custGeom>
              <a:avLst/>
              <a:gdLst/>
              <a:ahLst/>
              <a:cxnLst/>
              <a:rect l="l" t="t" r="r" b="b"/>
              <a:pathLst>
                <a:path w="471488" h="561975">
                  <a:moveTo>
                    <a:pt x="471488" y="0"/>
                  </a:moveTo>
                  <a:lnTo>
                    <a:pt x="0" y="561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6096000" y="2659380"/>
              <a:ext cx="1281112" cy="561975"/>
            </a:xfrm>
            <a:custGeom>
              <a:avLst/>
              <a:gdLst/>
              <a:ahLst/>
              <a:cxnLst/>
              <a:rect l="l" t="t" r="r" b="b"/>
              <a:pathLst>
                <a:path w="1281112" h="561975">
                  <a:moveTo>
                    <a:pt x="0" y="0"/>
                  </a:moveTo>
                  <a:lnTo>
                    <a:pt x="1281112" y="561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4537710" y="476440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4672012" y="420243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5481638" y="476440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5615940" y="420243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5144452" y="364045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6424612" y="364045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5481638" y="307848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7347585" y="3619500"/>
              <a:ext cx="327660" cy="3276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7213282" y="3057525"/>
              <a:ext cx="327660" cy="3276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5953125" y="251650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627843" y="483203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762146" y="427005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571771" y="483203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706073" y="427005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234586" y="3708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14746" y="3708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571771" y="314610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12027" y="370808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277725" y="314610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043258" y="258413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74" name="c3-text-1"/>
          <p:cNvGrpSpPr/>
          <p:nvPr/>
        </p:nvGrpSpPr>
        <p:grpSpPr>
          <a:xfrm>
            <a:off x="8146923" y="1988344"/>
            <a:ext cx="1616763" cy="249364"/>
            <a:chOff x="8146923" y="1988344"/>
            <a:chExt cx="1616763" cy="249364"/>
          </a:xfrm>
        </p:grpSpPr>
        <p:sp>
          <p:nvSpPr>
            <p:cNvPr id="73" name="TextBox 73"/>
            <p:cNvSpPr txBox="1"/>
            <p:nvPr/>
          </p:nvSpPr>
          <p:spPr>
            <a:xfrm>
              <a:off x="8146923" y="1988344"/>
              <a:ext cx="1616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以 7 为轴将 9 右转</a:t>
              </a:r>
            </a:p>
          </p:txBody>
        </p:sp>
      </p:grpSp>
      <p:grpSp>
        <p:nvGrpSpPr>
          <p:cNvPr id="104" name="c3-tree-2"/>
          <p:cNvGrpSpPr/>
          <p:nvPr/>
        </p:nvGrpSpPr>
        <p:grpSpPr>
          <a:xfrm>
            <a:off x="8347710" y="2586990"/>
            <a:ext cx="3137535" cy="2413635"/>
            <a:chOff x="8347710" y="2586990"/>
            <a:chExt cx="3137535" cy="2413635"/>
          </a:xfrm>
        </p:grpSpPr>
        <p:sp>
          <p:nvSpPr>
            <p:cNvPr id="75" name="Freeform 75"/>
            <p:cNvSpPr/>
            <p:nvPr/>
          </p:nvSpPr>
          <p:spPr>
            <a:xfrm>
              <a:off x="8490585" y="4134802"/>
              <a:ext cx="134303" cy="701992"/>
            </a:xfrm>
            <a:custGeom>
              <a:avLst/>
              <a:gdLst/>
              <a:ahLst/>
              <a:cxnLst/>
              <a:rect l="l" t="t" r="r" b="b"/>
              <a:pathLst>
                <a:path w="134303" h="701992">
                  <a:moveTo>
                    <a:pt x="134303" y="0"/>
                  </a:moveTo>
                  <a:lnTo>
                    <a:pt x="0" y="7019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9434512" y="4134802"/>
              <a:ext cx="134303" cy="701992"/>
            </a:xfrm>
            <a:custGeom>
              <a:avLst/>
              <a:gdLst/>
              <a:ahLst/>
              <a:cxnLst/>
              <a:rect l="l" t="t" r="r" b="b"/>
              <a:pathLst>
                <a:path w="134303" h="701992">
                  <a:moveTo>
                    <a:pt x="134303" y="0"/>
                  </a:moveTo>
                  <a:lnTo>
                    <a:pt x="0" y="7019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8624888" y="3431858"/>
              <a:ext cx="472440" cy="702945"/>
            </a:xfrm>
            <a:custGeom>
              <a:avLst/>
              <a:gdLst/>
              <a:ahLst/>
              <a:cxnLst/>
              <a:rect l="l" t="t" r="r" b="b"/>
              <a:pathLst>
                <a:path w="472440" h="702945">
                  <a:moveTo>
                    <a:pt x="472440" y="0"/>
                  </a:moveTo>
                  <a:lnTo>
                    <a:pt x="0" y="7029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9097328" y="3431858"/>
              <a:ext cx="471488" cy="702945"/>
            </a:xfrm>
            <a:custGeom>
              <a:avLst/>
              <a:gdLst/>
              <a:ahLst/>
              <a:cxnLst/>
              <a:rect l="l" t="t" r="r" b="b"/>
              <a:pathLst>
                <a:path w="471488" h="702945">
                  <a:moveTo>
                    <a:pt x="0" y="0"/>
                  </a:moveTo>
                  <a:lnTo>
                    <a:pt x="471488" y="7029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11187112" y="4134802"/>
              <a:ext cx="134302" cy="701992"/>
            </a:xfrm>
            <a:custGeom>
              <a:avLst/>
              <a:gdLst/>
              <a:ahLst/>
              <a:cxnLst/>
              <a:rect l="l" t="t" r="r" b="b"/>
              <a:pathLst>
                <a:path w="134302" h="701992">
                  <a:moveTo>
                    <a:pt x="0" y="0"/>
                  </a:moveTo>
                  <a:lnTo>
                    <a:pt x="134302" y="7019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10377488" y="3431858"/>
              <a:ext cx="472440" cy="702945"/>
            </a:xfrm>
            <a:custGeom>
              <a:avLst/>
              <a:gdLst/>
              <a:ahLst/>
              <a:cxnLst/>
              <a:rect l="l" t="t" r="r" b="b"/>
              <a:pathLst>
                <a:path w="472440" h="702945">
                  <a:moveTo>
                    <a:pt x="472440" y="0"/>
                  </a:moveTo>
                  <a:lnTo>
                    <a:pt x="0" y="7029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10849928" y="3431858"/>
              <a:ext cx="337185" cy="702945"/>
            </a:xfrm>
            <a:custGeom>
              <a:avLst/>
              <a:gdLst/>
              <a:ahLst/>
              <a:cxnLst/>
              <a:rect l="l" t="t" r="r" b="b"/>
              <a:pathLst>
                <a:path w="337185" h="702945">
                  <a:moveTo>
                    <a:pt x="0" y="0"/>
                  </a:moveTo>
                  <a:lnTo>
                    <a:pt x="337185" y="7029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9097328" y="2729865"/>
              <a:ext cx="808672" cy="701992"/>
            </a:xfrm>
            <a:custGeom>
              <a:avLst/>
              <a:gdLst/>
              <a:ahLst/>
              <a:cxnLst/>
              <a:rect l="l" t="t" r="r" b="b"/>
              <a:pathLst>
                <a:path w="808672" h="701992">
                  <a:moveTo>
                    <a:pt x="808672" y="0"/>
                  </a:moveTo>
                  <a:lnTo>
                    <a:pt x="0" y="7019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9906000" y="2729865"/>
              <a:ext cx="943927" cy="701992"/>
            </a:xfrm>
            <a:custGeom>
              <a:avLst/>
              <a:gdLst/>
              <a:ahLst/>
              <a:cxnLst/>
              <a:rect l="l" t="t" r="r" b="b"/>
              <a:pathLst>
                <a:path w="943927" h="701992">
                  <a:moveTo>
                    <a:pt x="0" y="0"/>
                  </a:moveTo>
                  <a:lnTo>
                    <a:pt x="943927" y="7019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8347710" y="469392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5" name="Ellipse 85"/>
            <p:cNvSpPr/>
            <p:nvPr/>
          </p:nvSpPr>
          <p:spPr>
            <a:xfrm>
              <a:off x="8482012" y="399192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6" name="Ellipse 86"/>
            <p:cNvSpPr/>
            <p:nvPr/>
          </p:nvSpPr>
          <p:spPr>
            <a:xfrm>
              <a:off x="9291638" y="469392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7" name="Ellipse 87"/>
            <p:cNvSpPr/>
            <p:nvPr/>
          </p:nvSpPr>
          <p:spPr>
            <a:xfrm>
              <a:off x="9425940" y="399192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8" name="Ellipse 88"/>
            <p:cNvSpPr/>
            <p:nvPr/>
          </p:nvSpPr>
          <p:spPr>
            <a:xfrm>
              <a:off x="8954452" y="328898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9" name="Ellipse 89"/>
            <p:cNvSpPr/>
            <p:nvPr/>
          </p:nvSpPr>
          <p:spPr>
            <a:xfrm>
              <a:off x="10234612" y="399192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0" name="Ellipse 90"/>
            <p:cNvSpPr/>
            <p:nvPr/>
          </p:nvSpPr>
          <p:spPr>
            <a:xfrm>
              <a:off x="11157585" y="4672965"/>
              <a:ext cx="327660" cy="3276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1" name="Ellipse 91"/>
            <p:cNvSpPr/>
            <p:nvPr/>
          </p:nvSpPr>
          <p:spPr>
            <a:xfrm>
              <a:off x="11023282" y="3970973"/>
              <a:ext cx="327660" cy="3276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2" name="Ellipse 92"/>
            <p:cNvSpPr/>
            <p:nvPr/>
          </p:nvSpPr>
          <p:spPr>
            <a:xfrm>
              <a:off x="10707052" y="328898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3" name="Ellipse 93"/>
            <p:cNvSpPr/>
            <p:nvPr/>
          </p:nvSpPr>
          <p:spPr>
            <a:xfrm>
              <a:off x="9763125" y="258699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437843" y="47625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572146" y="40595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381771" y="47625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516073" y="40595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044586" y="33575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324746" y="40595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222027" y="476250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087725" y="40595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797186" y="33575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9853258" y="26546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11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105" name="Rectangle 10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08" name="Group 10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9" name="TextBox 109"/>
            <p:cNvSpPr txBox="1"/>
            <p:nvPr/>
          </p:nvSpPr>
          <p:spPr>
            <a:xfrm>
              <a:off x="1040130" y="5991225"/>
              <a:ext cx="8527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= 9、B = 3、C = 7：5 插在 A 的左孩子 3 的右子树里，所以是 LR 型，两步都以 C = 7 为轴。</a:t>
              </a:r>
            </a:p>
          </p:txBody>
        </p:sp>
      </p:grpSp>
      <p:grpSp>
        <p:nvGrpSpPr>
          <p:cNvPr id="11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1" name="TextBox 111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44599" cy="909257"/>
            <a:chOff x="520446" y="342900"/>
            <a:chExt cx="54445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79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217" y="407194"/>
              <a:ext cx="2701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高度平衡树（AVL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445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考研真题：插入 23 之后根结点是谁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411751" cy="264033"/>
            <a:chOff x="526542" y="1545907"/>
            <a:chExt cx="441175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411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2021 年考研全国卷，也是吉林大学 21 级期末考试题。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5626418" cy="1245870"/>
            <a:chOff x="533400" y="1928812"/>
            <a:chExt cx="5626418" cy="124587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1245870"/>
            </a:xfrm>
            <a:prstGeom prst="roundRect">
              <a:avLst>
                <a:gd name="adj" fmla="val 107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9791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332" y="2459355"/>
              <a:ext cx="4789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给定下面的 AVL 树，插入关键字 23 后，根结点的关键字是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776538"/>
              <a:ext cx="3048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A. 16　　B. 20　　C. 23　　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D. 25</a:t>
              </a:r>
            </a:p>
          </p:txBody>
        </p:sp>
      </p:grpSp>
      <p:grpSp>
        <p:nvGrpSpPr>
          <p:cNvPr id="29" name="c1-steps-2"/>
          <p:cNvGrpSpPr/>
          <p:nvPr/>
        </p:nvGrpSpPr>
        <p:grpSpPr>
          <a:xfrm>
            <a:off x="533400" y="3353752"/>
            <a:ext cx="5317871" cy="1892142"/>
            <a:chOff x="533400" y="3353752"/>
            <a:chExt cx="5317871" cy="1892142"/>
          </a:xfrm>
        </p:grpSpPr>
        <p:sp>
          <p:nvSpPr>
            <p:cNvPr id="16" name="Rectangle 16"/>
            <p:cNvSpPr/>
            <p:nvPr/>
          </p:nvSpPr>
          <p:spPr>
            <a:xfrm>
              <a:off x="666750" y="3496628"/>
              <a:ext cx="19050" cy="1372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33400" y="335375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4275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14337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2171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7263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8001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642" y="338518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定位失衡结点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3653314"/>
              <a:ext cx="490448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 插在 25 的左边。往上看，25 的平衡系数是 1，30 的是 1，20 的是 −2，所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A = 20、B = 30、C = 25，属于 RL 型。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4175760"/>
              <a:ext cx="2517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 · 以 25 为轴将 30 右转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785" y="4442936"/>
              <a:ext cx="4881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 上提成为 20 的右孩子，30 成为 25 的右孩子，50 仍挂在 30 的右边。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642" y="4758690"/>
              <a:ext cx="2517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 · 以 25 为轴将 20 左转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785" y="5025866"/>
              <a:ext cx="3586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25 成为整棵树的根，20 成为它的左孩子。答案选 </a:t>
              </a:r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1" name="c2-text-1"/>
          <p:cNvGrpSpPr/>
          <p:nvPr/>
        </p:nvGrpSpPr>
        <p:grpSpPr>
          <a:xfrm>
            <a:off x="6458902" y="1947386"/>
            <a:ext cx="1486758" cy="220028"/>
            <a:chOff x="6458902" y="1947386"/>
            <a:chExt cx="1486758" cy="220028"/>
          </a:xfrm>
        </p:grpSpPr>
        <p:sp>
          <p:nvSpPr>
            <p:cNvPr id="30" name="TextBox 30"/>
            <p:cNvSpPr txBox="1"/>
            <p:nvPr/>
          </p:nvSpPr>
          <p:spPr>
            <a:xfrm>
              <a:off x="6458902" y="1947386"/>
              <a:ext cx="1486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 23 之后（失衡）</a:t>
              </a:r>
            </a:p>
          </p:txBody>
        </p:sp>
      </p:grpSp>
      <p:grpSp>
        <p:nvGrpSpPr>
          <p:cNvPr id="49" name="c2-tree-2"/>
          <p:cNvGrpSpPr/>
          <p:nvPr/>
        </p:nvGrpSpPr>
        <p:grpSpPr>
          <a:xfrm>
            <a:off x="7075170" y="2317432"/>
            <a:ext cx="3972877" cy="1375411"/>
            <a:chOff x="7075170" y="2317432"/>
            <a:chExt cx="3972877" cy="1375411"/>
          </a:xfrm>
        </p:grpSpPr>
        <p:sp>
          <p:nvSpPr>
            <p:cNvPr id="32" name="Freeform 32"/>
            <p:cNvSpPr/>
            <p:nvPr/>
          </p:nvSpPr>
          <p:spPr>
            <a:xfrm>
              <a:off x="8756332" y="3183255"/>
              <a:ext cx="305753" cy="356235"/>
            </a:xfrm>
            <a:custGeom>
              <a:avLst/>
              <a:gdLst/>
              <a:ahLst/>
              <a:cxnLst/>
              <a:rect l="l" t="t" r="r" b="b"/>
              <a:pathLst>
                <a:path w="305753" h="356235">
                  <a:moveTo>
                    <a:pt x="305753" y="0"/>
                  </a:moveTo>
                  <a:lnTo>
                    <a:pt x="0" y="3562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62085" y="2827020"/>
              <a:ext cx="762953" cy="356235"/>
            </a:xfrm>
            <a:custGeom>
              <a:avLst/>
              <a:gdLst/>
              <a:ahLst/>
              <a:cxnLst/>
              <a:rect l="l" t="t" r="r" b="b"/>
              <a:pathLst>
                <a:path w="762953" h="356235">
                  <a:moveTo>
                    <a:pt x="762953" y="0"/>
                  </a:moveTo>
                  <a:lnTo>
                    <a:pt x="0" y="3562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825038" y="2827020"/>
              <a:ext cx="1069657" cy="356235"/>
            </a:xfrm>
            <a:custGeom>
              <a:avLst/>
              <a:gdLst/>
              <a:ahLst/>
              <a:cxnLst/>
              <a:rect l="l" t="t" r="r" b="b"/>
              <a:pathLst>
                <a:path w="1069657" h="356235">
                  <a:moveTo>
                    <a:pt x="0" y="0"/>
                  </a:moveTo>
                  <a:lnTo>
                    <a:pt x="1069657" y="3562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228522" y="2470785"/>
              <a:ext cx="1833562" cy="356235"/>
            </a:xfrm>
            <a:custGeom>
              <a:avLst/>
              <a:gdLst/>
              <a:ahLst/>
              <a:cxnLst/>
              <a:rect l="l" t="t" r="r" b="b"/>
              <a:pathLst>
                <a:path w="1833562" h="356235">
                  <a:moveTo>
                    <a:pt x="1833562" y="0"/>
                  </a:moveTo>
                  <a:lnTo>
                    <a:pt x="0" y="3562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062085" y="2470785"/>
              <a:ext cx="762953" cy="356235"/>
            </a:xfrm>
            <a:custGeom>
              <a:avLst/>
              <a:gdLst/>
              <a:ahLst/>
              <a:cxnLst/>
              <a:rect l="l" t="t" r="r" b="b"/>
              <a:pathLst>
                <a:path w="762953" h="356235">
                  <a:moveTo>
                    <a:pt x="0" y="0"/>
                  </a:moveTo>
                  <a:lnTo>
                    <a:pt x="762953" y="3562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075170" y="2673668"/>
              <a:ext cx="306705" cy="3067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602980" y="3386138"/>
              <a:ext cx="306705" cy="30670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8908732" y="3029902"/>
              <a:ext cx="306705" cy="3067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0741342" y="3029902"/>
              <a:ext cx="306705" cy="3067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9671685" y="2673668"/>
              <a:ext cx="306705" cy="3067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908732" y="2317432"/>
              <a:ext cx="306705" cy="30670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41558" y="276225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69368" y="347472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75121" y="31184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07731" y="31184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38073" y="276225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975121" y="24060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  <p:grpSp>
        <p:nvGrpSpPr>
          <p:cNvPr id="51" name="c2-text-3"/>
          <p:cNvGrpSpPr/>
          <p:nvPr/>
        </p:nvGrpSpPr>
        <p:grpSpPr>
          <a:xfrm>
            <a:off x="6458902" y="3906679"/>
            <a:ext cx="916076" cy="220028"/>
            <a:chOff x="6458902" y="3906679"/>
            <a:chExt cx="916076" cy="220028"/>
          </a:xfrm>
        </p:grpSpPr>
        <p:sp>
          <p:nvSpPr>
            <p:cNvPr id="50" name="TextBox 50"/>
            <p:cNvSpPr txBox="1"/>
            <p:nvPr/>
          </p:nvSpPr>
          <p:spPr>
            <a:xfrm>
              <a:off x="6458902" y="390667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两次旋转之后</a:t>
              </a:r>
            </a:p>
          </p:txBody>
        </p:sp>
      </p:grpSp>
      <p:grpSp>
        <p:nvGrpSpPr>
          <p:cNvPr id="69" name="c2-tree-4"/>
          <p:cNvGrpSpPr/>
          <p:nvPr/>
        </p:nvGrpSpPr>
        <p:grpSpPr>
          <a:xfrm>
            <a:off x="7075170" y="4335780"/>
            <a:ext cx="3972877" cy="1257300"/>
            <a:chOff x="7075170" y="4335780"/>
            <a:chExt cx="3972877" cy="1257300"/>
          </a:xfrm>
        </p:grpSpPr>
        <p:sp>
          <p:nvSpPr>
            <p:cNvPr id="52" name="Freeform 52"/>
            <p:cNvSpPr/>
            <p:nvPr/>
          </p:nvSpPr>
          <p:spPr>
            <a:xfrm>
              <a:off x="7228522" y="4964430"/>
              <a:ext cx="763905" cy="475297"/>
            </a:xfrm>
            <a:custGeom>
              <a:avLst/>
              <a:gdLst/>
              <a:ahLst/>
              <a:cxnLst/>
              <a:rect l="l" t="t" r="r" b="b"/>
              <a:pathLst>
                <a:path w="763905" h="475297">
                  <a:moveTo>
                    <a:pt x="763905" y="0"/>
                  </a:moveTo>
                  <a:lnTo>
                    <a:pt x="0" y="4752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992428" y="4964430"/>
              <a:ext cx="763905" cy="475297"/>
            </a:xfrm>
            <a:custGeom>
              <a:avLst/>
              <a:gdLst/>
              <a:ahLst/>
              <a:cxnLst/>
              <a:rect l="l" t="t" r="r" b="b"/>
              <a:pathLst>
                <a:path w="763905" h="475297">
                  <a:moveTo>
                    <a:pt x="0" y="0"/>
                  </a:moveTo>
                  <a:lnTo>
                    <a:pt x="763905" y="4752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10588942" y="4964430"/>
              <a:ext cx="305752" cy="475297"/>
            </a:xfrm>
            <a:custGeom>
              <a:avLst/>
              <a:gdLst/>
              <a:ahLst/>
              <a:cxnLst/>
              <a:rect l="l" t="t" r="r" b="b"/>
              <a:pathLst>
                <a:path w="305752" h="475297">
                  <a:moveTo>
                    <a:pt x="0" y="0"/>
                  </a:moveTo>
                  <a:lnTo>
                    <a:pt x="305752" y="4752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992428" y="4489132"/>
              <a:ext cx="1069657" cy="475298"/>
            </a:xfrm>
            <a:custGeom>
              <a:avLst/>
              <a:gdLst/>
              <a:ahLst/>
              <a:cxnLst/>
              <a:rect l="l" t="t" r="r" b="b"/>
              <a:pathLst>
                <a:path w="1069657" h="475298">
                  <a:moveTo>
                    <a:pt x="1069657" y="0"/>
                  </a:moveTo>
                  <a:lnTo>
                    <a:pt x="0" y="47529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062085" y="4489132"/>
              <a:ext cx="1526858" cy="475298"/>
            </a:xfrm>
            <a:custGeom>
              <a:avLst/>
              <a:gdLst/>
              <a:ahLst/>
              <a:cxnLst/>
              <a:rect l="l" t="t" r="r" b="b"/>
              <a:pathLst>
                <a:path w="1526858" h="475298">
                  <a:moveTo>
                    <a:pt x="0" y="0"/>
                  </a:moveTo>
                  <a:lnTo>
                    <a:pt x="1526858" y="47529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7075170" y="5286375"/>
              <a:ext cx="306705" cy="3067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8602980" y="5286375"/>
              <a:ext cx="306705" cy="3067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7839075" y="4811078"/>
              <a:ext cx="306705" cy="3067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10741342" y="5286375"/>
              <a:ext cx="306705" cy="3067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10435590" y="4811078"/>
              <a:ext cx="306705" cy="3067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8908732" y="4335780"/>
              <a:ext cx="306705" cy="306705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141558" y="537400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669368" y="537400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05463" y="48987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807731" y="537400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501978" y="48987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975121" y="44243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0" name="Rectangle 7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892" y="6028373"/>
              <a:ext cx="9027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源课件在这里留了空。正确答案是 D（根结点为 25），程序复核：插入后树形为 25(20(16, 23), 30(−, 50))。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79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217" y="407194"/>
              <a:ext cx="2701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高度平衡树（AVL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两道课下思考题的答案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2291715"/>
            <a:chOff x="533400" y="1524000"/>
            <a:chExt cx="5410200" cy="2291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第一题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24873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依次插入 5, 4, 2, 8, 6, 9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4149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 2 时 5 失衡（LL），以 4 为轴将 5 右转，得到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4(2, 5)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50820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 6 时 5 失衡（RL），以 6 为轴先把 8 右转、再把 5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左转，得到 6(5, 8)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4347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371850"/>
              <a:ext cx="38039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 9 时 4 失衡（RR），以 6 为轴将 4 左转</a:t>
              </a:r>
            </a:p>
          </p:txBody>
        </p:sp>
      </p:grpSp>
      <p:grpSp>
        <p:nvGrpSpPr>
          <p:cNvPr id="36" name="c1-tree-2"/>
          <p:cNvGrpSpPr/>
          <p:nvPr/>
        </p:nvGrpSpPr>
        <p:grpSpPr>
          <a:xfrm>
            <a:off x="1176338" y="4115752"/>
            <a:ext cx="4124324" cy="1360552"/>
            <a:chOff x="1176338" y="4115752"/>
            <a:chExt cx="4124324" cy="1360552"/>
          </a:xfrm>
        </p:grpSpPr>
        <p:sp>
          <p:nvSpPr>
            <p:cNvPr id="19" name="Freeform 19"/>
            <p:cNvSpPr/>
            <p:nvPr/>
          </p:nvSpPr>
          <p:spPr>
            <a:xfrm>
              <a:off x="1328738" y="4792028"/>
              <a:ext cx="796290" cy="523875"/>
            </a:xfrm>
            <a:custGeom>
              <a:avLst/>
              <a:gdLst/>
              <a:ahLst/>
              <a:cxnLst/>
              <a:rect l="l" t="t" r="r" b="b"/>
              <a:pathLst>
                <a:path w="796290" h="523875">
                  <a:moveTo>
                    <a:pt x="796290" y="0"/>
                  </a:moveTo>
                  <a:lnTo>
                    <a:pt x="0" y="523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125028" y="4792028"/>
              <a:ext cx="795338" cy="523875"/>
            </a:xfrm>
            <a:custGeom>
              <a:avLst/>
              <a:gdLst/>
              <a:ahLst/>
              <a:cxnLst/>
              <a:rect l="l" t="t" r="r" b="b"/>
              <a:pathLst>
                <a:path w="795338" h="523875">
                  <a:moveTo>
                    <a:pt x="0" y="0"/>
                  </a:moveTo>
                  <a:lnTo>
                    <a:pt x="795338" y="523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830128" y="4792028"/>
              <a:ext cx="318135" cy="523875"/>
            </a:xfrm>
            <a:custGeom>
              <a:avLst/>
              <a:gdLst/>
              <a:ahLst/>
              <a:cxnLst/>
              <a:rect l="l" t="t" r="r" b="b"/>
              <a:pathLst>
                <a:path w="318135" h="523875">
                  <a:moveTo>
                    <a:pt x="0" y="0"/>
                  </a:moveTo>
                  <a:lnTo>
                    <a:pt x="318135" y="523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125028" y="4268152"/>
              <a:ext cx="1113472" cy="523875"/>
            </a:xfrm>
            <a:custGeom>
              <a:avLst/>
              <a:gdLst/>
              <a:ahLst/>
              <a:cxnLst/>
              <a:rect l="l" t="t" r="r" b="b"/>
              <a:pathLst>
                <a:path w="1113472" h="523875">
                  <a:moveTo>
                    <a:pt x="1113472" y="0"/>
                  </a:moveTo>
                  <a:lnTo>
                    <a:pt x="0" y="523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238500" y="4268152"/>
              <a:ext cx="1591628" cy="523875"/>
            </a:xfrm>
            <a:custGeom>
              <a:avLst/>
              <a:gdLst/>
              <a:ahLst/>
              <a:cxnLst/>
              <a:rect l="l" t="t" r="r" b="b"/>
              <a:pathLst>
                <a:path w="1591628" h="523875">
                  <a:moveTo>
                    <a:pt x="0" y="0"/>
                  </a:moveTo>
                  <a:lnTo>
                    <a:pt x="1591628" y="523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176338" y="51635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767965" y="51635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972628" y="463962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995862" y="51635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4677728" y="463962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086100" y="4115752"/>
              <a:ext cx="304800" cy="3048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75996" y="524160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67623" y="524160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72286" y="471773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95521" y="524160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77386" y="471773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85758" y="419385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248400" y="1524000"/>
            <a:ext cx="5410200" cy="2252662"/>
            <a:chOff x="6248400" y="1524000"/>
            <a:chExt cx="5410200" cy="2252662"/>
          </a:xfrm>
        </p:grpSpPr>
        <p:sp>
          <p:nvSpPr>
            <p:cNvPr id="37" name="Rectangle 37"/>
            <p:cNvSpPr/>
            <p:nvPr/>
          </p:nvSpPr>
          <p:spPr>
            <a:xfrm>
              <a:off x="6248400" y="1524000"/>
              <a:ext cx="5410200" cy="2252662"/>
            </a:xfrm>
            <a:prstGeom prst="roundRect">
              <a:avLst>
                <a:gd name="adj" fmla="val 5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1657350"/>
              <a:ext cx="47625" cy="19859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96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82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第二题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39000" y="1768792"/>
              <a:ext cx="3100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下面的 AVL 树插入 18 后长什么样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8430" y="2129790"/>
              <a:ext cx="47301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原树是 11(7(3, 9), 16(−, 26))。18 落在 26 的左边，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16 的平衡系数变成 −2，A = 16、B = 26、C = 18，是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RL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501765" y="30994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59880" y="3036570"/>
              <a:ext cx="4215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18 为轴将 26 右转，再以 18 为轴将 16 左转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89573" y="3368516"/>
              <a:ext cx="45474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根结点 11 的平衡系数一直是 −1，没有失衡，所以 A 不是根</a:t>
              </a:r>
            </a:p>
          </p:txBody>
        </p:sp>
      </p:grpSp>
      <p:grpSp>
        <p:nvGrpSpPr>
          <p:cNvPr id="67" name="c2-tree-2"/>
          <p:cNvGrpSpPr/>
          <p:nvPr/>
        </p:nvGrpSpPr>
        <p:grpSpPr>
          <a:xfrm>
            <a:off x="6772275" y="4065270"/>
            <a:ext cx="4373880" cy="1375410"/>
            <a:chOff x="6772275" y="4065270"/>
            <a:chExt cx="4373880" cy="1375410"/>
          </a:xfrm>
        </p:grpSpPr>
        <p:sp>
          <p:nvSpPr>
            <p:cNvPr id="47" name="Freeform 47"/>
            <p:cNvSpPr/>
            <p:nvPr/>
          </p:nvSpPr>
          <p:spPr>
            <a:xfrm>
              <a:off x="6924675" y="4752975"/>
              <a:ext cx="676275" cy="523875"/>
            </a:xfrm>
            <a:custGeom>
              <a:avLst/>
              <a:gdLst/>
              <a:ahLst/>
              <a:cxnLst/>
              <a:rect l="l" t="t" r="r" b="b"/>
              <a:pathLst>
                <a:path w="676275" h="523875">
                  <a:moveTo>
                    <a:pt x="676275" y="0"/>
                  </a:moveTo>
                  <a:lnTo>
                    <a:pt x="0" y="523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600950" y="4752975"/>
              <a:ext cx="676275" cy="523875"/>
            </a:xfrm>
            <a:custGeom>
              <a:avLst/>
              <a:gdLst/>
              <a:ahLst/>
              <a:cxnLst/>
              <a:rect l="l" t="t" r="r" b="b"/>
              <a:pathLst>
                <a:path w="676275" h="523875">
                  <a:moveTo>
                    <a:pt x="0" y="0"/>
                  </a:moveTo>
                  <a:lnTo>
                    <a:pt x="676275" y="523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629775" y="4752975"/>
              <a:ext cx="676275" cy="523875"/>
            </a:xfrm>
            <a:custGeom>
              <a:avLst/>
              <a:gdLst/>
              <a:ahLst/>
              <a:cxnLst/>
              <a:rect l="l" t="t" r="r" b="b"/>
              <a:pathLst>
                <a:path w="676275" h="523875">
                  <a:moveTo>
                    <a:pt x="676275" y="0"/>
                  </a:moveTo>
                  <a:lnTo>
                    <a:pt x="0" y="523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306050" y="4752975"/>
              <a:ext cx="676275" cy="523875"/>
            </a:xfrm>
            <a:custGeom>
              <a:avLst/>
              <a:gdLst/>
              <a:ahLst/>
              <a:cxnLst/>
              <a:rect l="l" t="t" r="r" b="b"/>
              <a:pathLst>
                <a:path w="676275" h="523875">
                  <a:moveTo>
                    <a:pt x="0" y="0"/>
                  </a:moveTo>
                  <a:lnTo>
                    <a:pt x="676275" y="523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600950" y="4229100"/>
              <a:ext cx="1352550" cy="523875"/>
            </a:xfrm>
            <a:custGeom>
              <a:avLst/>
              <a:gdLst/>
              <a:ahLst/>
              <a:cxnLst/>
              <a:rect l="l" t="t" r="r" b="b"/>
              <a:pathLst>
                <a:path w="1352550" h="523875">
                  <a:moveTo>
                    <a:pt x="1352550" y="0"/>
                  </a:moveTo>
                  <a:lnTo>
                    <a:pt x="0" y="523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953500" y="4229100"/>
              <a:ext cx="1352550" cy="523875"/>
            </a:xfrm>
            <a:custGeom>
              <a:avLst/>
              <a:gdLst/>
              <a:ahLst/>
              <a:cxnLst/>
              <a:rect l="l" t="t" r="r" b="b"/>
              <a:pathLst>
                <a:path w="1352550" h="523875">
                  <a:moveTo>
                    <a:pt x="0" y="0"/>
                  </a:moveTo>
                  <a:lnTo>
                    <a:pt x="1352550" y="523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6772275" y="51244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8124825" y="51244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7448550" y="460057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9465945" y="5113020"/>
              <a:ext cx="327660" cy="3276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10818495" y="5113020"/>
              <a:ext cx="327660" cy="3276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10142220" y="4589145"/>
              <a:ext cx="327660" cy="32766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8789670" y="4065270"/>
              <a:ext cx="327660" cy="3276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71933" y="52025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24483" y="52025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48208" y="46786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530387" y="52025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882937" y="52025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06662" y="467868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854112" y="41548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8" name="Rectangle 6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130" y="5991225"/>
              <a:ext cx="69616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两题的每一个中间树形都用程序复核过，与课件第 84 至 86 页给出的图一致。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79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217" y="407194"/>
              <a:ext cx="2701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高度平衡树（AVL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插入的实现：用递归的回溯过程自底向上检查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301370" cy="264033"/>
            <a:chOff x="526542" y="1545907"/>
            <a:chExt cx="730137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3013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难点是“怎么找到从插入点回到根的路径上第一个失衡的结点”。递归天然提供了这条路径。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2088832"/>
            <a:chOff x="533400" y="1928812"/>
            <a:chExt cx="5410200" cy="208883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插入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2474214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Insert(AVLnode* &amp;root,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(root == NULL)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root =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AVLnode(K);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root-&gt;key)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Insert(root-&gt;left, K);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&gt; root-&gt;key)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Insert(root-&gt;right, K);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Balance(root);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182428"/>
            <a:ext cx="5410200" cy="1487805"/>
            <a:chOff x="533400" y="4182428"/>
            <a:chExt cx="5410200" cy="1487805"/>
          </a:xfrm>
        </p:grpSpPr>
        <p:sp>
          <p:nvSpPr>
            <p:cNvPr id="13" name="Rectangle 13"/>
            <p:cNvSpPr/>
            <p:nvPr/>
          </p:nvSpPr>
          <p:spPr>
            <a:xfrm>
              <a:off x="533400" y="4182428"/>
              <a:ext cx="5410200" cy="1487805"/>
            </a:xfrm>
            <a:prstGeom prst="roundRect">
              <a:avLst>
                <a:gd name="adj" fmla="val 896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436340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8944" y="43962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调用顺序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29906" y="440293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递归下去是自顶向下，返回回来是自底向上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23900" y="477202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9348" y="4719161"/>
              <a:ext cx="32062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Insert 的调用顺序：根 → 插入点，找位置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23900" y="505682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9348" y="5003959"/>
              <a:ext cx="4000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Balance 的执行顺序：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插入点 → 根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，回溯时逐层检查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23900" y="534162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9348" y="5289709"/>
              <a:ext cx="44755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所以第一个被判定为失衡的结点，正好就是最靠下的那个 A</a:t>
              </a:r>
            </a:p>
          </p:txBody>
        </p:sp>
      </p:grpSp>
      <p:grpSp>
        <p:nvGrpSpPr>
          <p:cNvPr id="27" name="c2-code-1"/>
          <p:cNvGrpSpPr/>
          <p:nvPr/>
        </p:nvGrpSpPr>
        <p:grpSpPr>
          <a:xfrm>
            <a:off x="6248400" y="1928812"/>
            <a:ext cx="5410200" cy="2967990"/>
            <a:chOff x="6248400" y="1928812"/>
            <a:chExt cx="5410200" cy="2967990"/>
          </a:xfrm>
        </p:grpSpPr>
        <p:sp>
          <p:nvSpPr>
            <p:cNvPr id="24" name="Rectangle 24"/>
            <p:cNvSpPr/>
            <p:nvPr/>
          </p:nvSpPr>
          <p:spPr>
            <a:xfrm>
              <a:off x="6248400" y="1928812"/>
              <a:ext cx="5410200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797" y="208073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判断类型并调整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6797" y="2340769"/>
              <a:ext cx="4253992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Balance(AVLnode* &amp;t)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(Height(t-&gt;left) - Height(t-&gt;right) == 2)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(Height(t-&gt;left-&gt;left) &gt;= Height(t-&gt;left-&gt;right))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LL(t);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LR(t);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(Height(t-&gt;right) - Height(t-&gt;left) == 2)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(Height(t-&gt;right-&gt;right) &gt;= Height(t-&gt;right-&gt;left))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RR(t);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RL(t);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UpdateHeight(t);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4" name="c2-callout-2"/>
          <p:cNvGrpSpPr/>
          <p:nvPr/>
        </p:nvGrpSpPr>
        <p:grpSpPr>
          <a:xfrm>
            <a:off x="6248400" y="5061585"/>
            <a:ext cx="5410200" cy="608648"/>
            <a:chOff x="6248400" y="5061585"/>
            <a:chExt cx="5410200" cy="608648"/>
          </a:xfrm>
        </p:grpSpPr>
        <p:sp>
          <p:nvSpPr>
            <p:cNvPr id="28" name="Rectangle 28"/>
            <p:cNvSpPr/>
            <p:nvPr/>
          </p:nvSpPr>
          <p:spPr>
            <a:xfrm>
              <a:off x="6248400" y="5061585"/>
              <a:ext cx="5410200" cy="608648"/>
            </a:xfrm>
            <a:prstGeom prst="roundRect">
              <a:avLst>
                <a:gd name="adj" fmla="val 1877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453188" y="5265420"/>
              <a:ext cx="200026" cy="200026"/>
              <a:chOff x="6453188" y="5265420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453188" y="52654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553200" y="53320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42088" y="53654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756273" y="527637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比较两个孩子的高度就能分出直线型和折线型。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5" name="Rectangle 3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1273" y="6039326"/>
              <a:ext cx="81633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插入最多触发一次调整（单旋 1 次或双旋 2 次旋转），因为调整后子树高度回到插入前，上层不会再失衡。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22316" cy="909257"/>
            <a:chOff x="520446" y="342900"/>
            <a:chExt cx="71223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79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217" y="407194"/>
              <a:ext cx="2701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高度平衡树（AVL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223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删除：可能一路转到根，最多 O(logn) 次旋转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131611" cy="278702"/>
            <a:chOff x="526161" y="1547336"/>
            <a:chExt cx="613161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1316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先按二叉查找树的删除算法删，再沿实际删除点回到根的路径逐层平衡。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41195"/>
            <a:ext cx="5410200" cy="3533775"/>
            <a:chOff x="533400" y="1941195"/>
            <a:chExt cx="5410200" cy="353377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3533775"/>
            </a:xfrm>
            <a:prstGeom prst="roundRect">
              <a:avLst>
                <a:gd name="adj" fmla="val 26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删除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5154930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416" y="2354580"/>
              <a:ext cx="4631246" cy="30485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remove(AVLnode* &amp;root,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(root == NULL)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root-&gt;key) remove(root-&gt;left, K);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&gt; root-&gt;key) remove(root-&gt;right, K);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(root-&gt;left != NULL &amp;&amp; root-&gt;right != NULL)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AVLnode *s = root-&gt;right;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(s-&gt;left != NULL) s = s-&gt;left;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root-&gt;key = s-&gt;key;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remove(root-&gt;right, s-&gt;key);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AVLnode* oldroot = root;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root = (root-&gt;left != NULL) ? root-&gt;left : root-&gt;right;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delete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oldroot;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(root != NULL) Balance(root);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可能已被删空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4" name="c2-compare-1"/>
          <p:cNvGrpSpPr/>
          <p:nvPr/>
        </p:nvGrpSpPr>
        <p:grpSpPr>
          <a:xfrm>
            <a:off x="6248400" y="1941195"/>
            <a:ext cx="5410200" cy="2314575"/>
            <a:chOff x="6248400" y="1941195"/>
            <a:chExt cx="5410200" cy="2314575"/>
          </a:xfrm>
        </p:grpSpPr>
        <p:sp>
          <p:nvSpPr>
            <p:cNvPr id="14" name="Rectangle 14"/>
            <p:cNvSpPr/>
            <p:nvPr/>
          </p:nvSpPr>
          <p:spPr>
            <a:xfrm>
              <a:off x="6248400" y="1941195"/>
              <a:ext cx="2495550" cy="2314575"/>
            </a:xfrm>
            <a:prstGeom prst="roundRect">
              <a:avLst>
                <a:gd name="adj" fmla="val 5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57925" y="2074545"/>
              <a:ext cx="47625" cy="20478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2047" y="215646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487478" y="25326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43497" y="2476500"/>
              <a:ext cx="175393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调平 A 之后子树高度与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插入前相同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487478" y="309181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43497" y="3035618"/>
              <a:ext cx="17024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以上的结点完全不受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影响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487478" y="36518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43497" y="3595688"/>
              <a:ext cx="16253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最多一处调整，O(1)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次旋转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163050" y="1941195"/>
              <a:ext cx="2495550" cy="2314575"/>
            </a:xfrm>
            <a:prstGeom prst="roundRect">
              <a:avLst>
                <a:gd name="adj" fmla="val 5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9172575" y="2074545"/>
              <a:ext cx="47625" cy="20478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86697" y="215646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9402128" y="25326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558147" y="2476500"/>
              <a:ext cx="175393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调平 A 之后子树高度可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能变小 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9402128" y="309181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558147" y="3035618"/>
              <a:ext cx="17024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的父结点可能因此失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衡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9402128" y="36518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558147" y="3595688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要继续往上查，最多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 次旋转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8791575" y="293655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68046" y="30379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248400" y="4431030"/>
            <a:ext cx="5410200" cy="1226820"/>
            <a:chOff x="6248400" y="4431030"/>
            <a:chExt cx="5410200" cy="1226820"/>
          </a:xfrm>
        </p:grpSpPr>
        <p:sp>
          <p:nvSpPr>
            <p:cNvPr id="35" name="Rectangle 35"/>
            <p:cNvSpPr/>
            <p:nvPr/>
          </p:nvSpPr>
          <p:spPr>
            <a:xfrm>
              <a:off x="6248400" y="4431030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456438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8905" y="462343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70345" y="46577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62597" y="4663440"/>
              <a:ext cx="21554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93 页的一处笔误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2047" y="4997768"/>
              <a:ext cx="471873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课件写的是 </a:t>
              </a:r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AVLnNode* oldroot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，类型名多了一个 n，编译不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过，应为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AVLnode*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2" name="Rectangle 4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892" y="6023610"/>
              <a:ext cx="7201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实测：随机插入删除 300 组，单次删除最多观察到 6 次旋转；插入则从未超过 1 次调整。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800922" cy="909257"/>
            <a:chOff x="520446" y="342900"/>
            <a:chExt cx="28009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79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217" y="407194"/>
              <a:ext cx="2701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高度平衡树（AVL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9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AVL 树小结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5842635" cy="2248852"/>
            <a:chOff x="533400" y="1524000"/>
            <a:chExt cx="5842635" cy="22488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038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7679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最坏时间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7887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旋转次数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0473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92783" y="2221706"/>
              <a:ext cx="6751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78658" y="22217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97896" y="2108359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与普通二叉查找树完全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一样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47950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28970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92783" y="2897029"/>
              <a:ext cx="6751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78658" y="2897029"/>
              <a:ext cx="449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97896" y="2783681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最多一处调整，单旋或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双旋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194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4590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92783" y="3459004"/>
              <a:ext cx="6751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880360" y="3333750"/>
              <a:ext cx="150018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978658" y="3459004"/>
              <a:ext cx="6751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97896" y="34590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可能一路失衡到根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842635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80198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866072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85310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rd-2"/>
          <p:cNvGrpSpPr/>
          <p:nvPr/>
        </p:nvGrpSpPr>
        <p:grpSpPr>
          <a:xfrm>
            <a:off x="533400" y="3963352"/>
            <a:ext cx="5842635" cy="1956435"/>
            <a:chOff x="533400" y="3963352"/>
            <a:chExt cx="5842635" cy="1956435"/>
          </a:xfrm>
        </p:grpSpPr>
        <p:sp>
          <p:nvSpPr>
            <p:cNvPr id="33" name="Rectangle 33"/>
            <p:cNvSpPr/>
            <p:nvPr/>
          </p:nvSpPr>
          <p:spPr>
            <a:xfrm>
              <a:off x="533400" y="3963352"/>
              <a:ext cx="584263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4096702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81050" y="417290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3359" y="42086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均摊结果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65922" y="42081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连续删除其实没那么贵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86765" y="463200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44880" y="4569142"/>
              <a:ext cx="4720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对任意连续多次删除，每次删除的均摊旋转次数是 O(1)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（Tsakalidis, 1985）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86765" y="525303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4880" y="5190172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但插入和删除混合时，存在精心构造的序列使每次删除的均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摊旋转次数达到 O(logn)（Amani, Lai, Tarjan, 2016）</a:t>
              </a:r>
            </a:p>
          </p:txBody>
        </p:sp>
      </p:grpSp>
      <p:grpSp>
        <p:nvGrpSpPr>
          <p:cNvPr id="55" name="c2-bullets-1"/>
          <p:cNvGrpSpPr/>
          <p:nvPr/>
        </p:nvGrpSpPr>
        <p:grpSpPr>
          <a:xfrm>
            <a:off x="6680835" y="1535430"/>
            <a:ext cx="4697730" cy="1912620"/>
            <a:chOff x="6680835" y="1535430"/>
            <a:chExt cx="4697730" cy="1912620"/>
          </a:xfrm>
        </p:grpSpPr>
        <p:sp>
          <p:nvSpPr>
            <p:cNvPr id="43" name="Ellipse 43"/>
            <p:cNvSpPr/>
            <p:nvPr/>
          </p:nvSpPr>
          <p:spPr>
            <a:xfrm>
              <a:off x="6680835" y="153543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42684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81825" y="1548765"/>
              <a:ext cx="37509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平衡系数只能是 −1、0、1，超出就要调整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80835" y="18802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42684" y="1922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81825" y="189357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失衡只有 LL、RR、LR、RL 四种，直线单旋、折线双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680835" y="251079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42684" y="25530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81825" y="252412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旋转前后中根序列不变，这是所有旋转操作的正确性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80835" y="314134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42684" y="31836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81825" y="315468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插入调整后子树高度复原，删除调整后可能变矮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680835" y="3579495"/>
            <a:ext cx="4977765" cy="2340292"/>
            <a:chOff x="6680835" y="3579495"/>
            <a:chExt cx="4977765" cy="2340292"/>
          </a:xfrm>
        </p:grpSpPr>
        <p:sp>
          <p:nvSpPr>
            <p:cNvPr id="56" name="Rectangle 56"/>
            <p:cNvSpPr/>
            <p:nvPr/>
          </p:nvSpPr>
          <p:spPr>
            <a:xfrm>
              <a:off x="6680835" y="3579495"/>
              <a:ext cx="4977765" cy="2340292"/>
            </a:xfrm>
            <a:prstGeom prst="roundRect">
              <a:avLst>
                <a:gd name="adj" fmla="val 569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90385" y="37890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81546" y="38247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91412" y="3824288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为查找效率付出的是维护成本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82765" y="4185285"/>
              <a:ext cx="43872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AVL 树把高度压到 1.44log₂n，查找很快；代价是插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入删除都要维护高度、判类型、做旋转。下一节的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红黑树就是在这个位置上让步。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02758" cy="2997517"/>
            <a:chOff x="667512" y="1835468"/>
            <a:chExt cx="530275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红黑树简介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482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把平衡条件从“高度差 1”放宽成“黑高相等”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五条性质，非红即黑、根黑、外黑、红父黑子、黑高相等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1451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高度不超过 2log₂n，最多 3 次旋转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2022 年起进入考研大纲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红黑树简介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红黑树的五条性质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880860" cy="293370"/>
            <a:chOff x="525780" y="1548765"/>
            <a:chExt cx="688086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红黑树是一棵每个结点都染了颜色的二叉查找树，用颜色约束代替高度约束。</a:t>
              </a:r>
            </a:p>
          </p:txBody>
        </p:sp>
      </p:grpSp>
      <p:grpSp>
        <p:nvGrpSpPr>
          <p:cNvPr id="24" name="c1-bullets-1"/>
          <p:cNvGrpSpPr/>
          <p:nvPr/>
        </p:nvGrpSpPr>
        <p:grpSpPr>
          <a:xfrm>
            <a:off x="533400" y="1965960"/>
            <a:ext cx="5466702" cy="1879378"/>
            <a:chOff x="533400" y="1965960"/>
            <a:chExt cx="5466702" cy="1879378"/>
          </a:xfrm>
        </p:grpSpPr>
        <p:sp>
          <p:nvSpPr>
            <p:cNvPr id="9" name="Ellipse 9"/>
            <p:cNvSpPr/>
            <p:nvPr/>
          </p:nvSpPr>
          <p:spPr>
            <a:xfrm>
              <a:off x="533400" y="196596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1745" y="200534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4293" y="197786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每个结点是红色或黑色的（非红即黑）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29457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1745" y="233491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4293" y="230743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根结点为黑色（根黑）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2624138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1745" y="266447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4293" y="263699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外结点为黑色（外黑）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295370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1745" y="299404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4293" y="2965609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如果一个结点是红色，那么它的孩子必须是黑色（红父黑子）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3283268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1745" y="332265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4293" y="3295174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任一结点到外结点的每条路径上，包含相同数目的黑结点（黑高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相等）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3974782"/>
            <a:ext cx="5626418" cy="1574482"/>
            <a:chOff x="533400" y="3974782"/>
            <a:chExt cx="5626418" cy="1574482"/>
          </a:xfrm>
        </p:grpSpPr>
        <p:sp>
          <p:nvSpPr>
            <p:cNvPr id="25" name="Rectangle 25"/>
            <p:cNvSpPr/>
            <p:nvPr/>
          </p:nvSpPr>
          <p:spPr>
            <a:xfrm>
              <a:off x="533400" y="3974782"/>
              <a:ext cx="5626418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108132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75335" y="417861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1593" y="421433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黑高度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18666" y="421814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结点的黑高度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8096" y="4569619"/>
              <a:ext cx="485660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某结点到外结点的路径上包含的黑结点数目。由性质 ⑤，这个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数目与走哪条路径无关，所以“黑高度”这个说法才有意义。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9239" y="5157788"/>
              <a:ext cx="3745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外结点即 NIL 结点，是为了叙述方便补上的空叶结点</a:t>
              </a:r>
            </a:p>
          </p:txBody>
        </p:sp>
      </p:grpSp>
      <p:grpSp>
        <p:nvGrpSpPr>
          <p:cNvPr id="72" name="c2-graph-1"/>
          <p:cNvGrpSpPr/>
          <p:nvPr/>
        </p:nvGrpSpPr>
        <p:grpSpPr>
          <a:xfrm>
            <a:off x="6926580" y="2019300"/>
            <a:ext cx="4667250" cy="2247424"/>
            <a:chOff x="6926580" y="2019300"/>
            <a:chExt cx="4667250" cy="2247424"/>
          </a:xfrm>
        </p:grpSpPr>
        <p:sp>
          <p:nvSpPr>
            <p:cNvPr id="33" name="Freeform 33"/>
            <p:cNvSpPr/>
            <p:nvPr/>
          </p:nvSpPr>
          <p:spPr>
            <a:xfrm>
              <a:off x="8060055" y="2249805"/>
              <a:ext cx="844867" cy="367665"/>
            </a:xfrm>
            <a:custGeom>
              <a:avLst/>
              <a:gdLst/>
              <a:ahLst/>
              <a:cxnLst/>
              <a:rect l="l" t="t" r="r" b="b"/>
              <a:pathLst>
                <a:path w="844867" h="367665">
                  <a:moveTo>
                    <a:pt x="844867" y="0"/>
                  </a:moveTo>
                  <a:lnTo>
                    <a:pt x="0" y="3676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972425" y="2573655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0" y="81915"/>
                  </a:moveTo>
                  <a:lnTo>
                    <a:pt x="68580" y="0"/>
                  </a:lnTo>
                  <a:lnTo>
                    <a:pt x="106680" y="8763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9221152" y="2245042"/>
              <a:ext cx="943928" cy="380048"/>
            </a:xfrm>
            <a:custGeom>
              <a:avLst/>
              <a:gdLst/>
              <a:ahLst/>
              <a:cxnLst/>
              <a:rect l="l" t="t" r="r" b="b"/>
              <a:pathLst>
                <a:path w="943928" h="380048">
                  <a:moveTo>
                    <a:pt x="0" y="0"/>
                  </a:moveTo>
                  <a:lnTo>
                    <a:pt x="943928" y="3800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146982" y="2580322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105728" y="80010"/>
                  </a:moveTo>
                  <a:lnTo>
                    <a:pt x="0" y="88583"/>
                  </a:lnTo>
                  <a:lnTo>
                    <a:pt x="3524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289482" y="2836545"/>
              <a:ext cx="396240" cy="345758"/>
            </a:xfrm>
            <a:custGeom>
              <a:avLst/>
              <a:gdLst/>
              <a:ahLst/>
              <a:cxnLst/>
              <a:rect l="l" t="t" r="r" b="b"/>
              <a:pathLst>
                <a:path w="396240" h="345758">
                  <a:moveTo>
                    <a:pt x="396240" y="0"/>
                  </a:moveTo>
                  <a:lnTo>
                    <a:pt x="0" y="3457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217092" y="3147060"/>
              <a:ext cx="102870" cy="98108"/>
            </a:xfrm>
            <a:custGeom>
              <a:avLst/>
              <a:gdLst/>
              <a:ahLst/>
              <a:cxnLst/>
              <a:rect l="l" t="t" r="r" b="b"/>
              <a:pathLst>
                <a:path w="102870" h="98108">
                  <a:moveTo>
                    <a:pt x="0" y="98108"/>
                  </a:moveTo>
                  <a:lnTo>
                    <a:pt x="40957" y="0"/>
                  </a:lnTo>
                  <a:lnTo>
                    <a:pt x="102870" y="7143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944802" y="2836545"/>
              <a:ext cx="396240" cy="345758"/>
            </a:xfrm>
            <a:custGeom>
              <a:avLst/>
              <a:gdLst/>
              <a:ahLst/>
              <a:cxnLst/>
              <a:rect l="l" t="t" r="r" b="b"/>
              <a:pathLst>
                <a:path w="396240" h="345758">
                  <a:moveTo>
                    <a:pt x="0" y="0"/>
                  </a:moveTo>
                  <a:lnTo>
                    <a:pt x="396240" y="3457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309610" y="3147060"/>
              <a:ext cx="103822" cy="98108"/>
            </a:xfrm>
            <a:custGeom>
              <a:avLst/>
              <a:gdLst/>
              <a:ahLst/>
              <a:cxnLst/>
              <a:rect l="l" t="t" r="r" b="b"/>
              <a:pathLst>
                <a:path w="103822" h="98108">
                  <a:moveTo>
                    <a:pt x="103822" y="98108"/>
                  </a:moveTo>
                  <a:lnTo>
                    <a:pt x="0" y="71438"/>
                  </a:lnTo>
                  <a:lnTo>
                    <a:pt x="6286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9975532" y="2846070"/>
              <a:ext cx="316230" cy="321945"/>
            </a:xfrm>
            <a:custGeom>
              <a:avLst/>
              <a:gdLst/>
              <a:ahLst/>
              <a:cxnLst/>
              <a:rect l="l" t="t" r="r" b="b"/>
              <a:pathLst>
                <a:path w="316230" h="321945">
                  <a:moveTo>
                    <a:pt x="316230" y="0"/>
                  </a:moveTo>
                  <a:lnTo>
                    <a:pt x="0" y="3219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908858" y="3134678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100965"/>
                  </a:moveTo>
                  <a:lnTo>
                    <a:pt x="33338" y="0"/>
                  </a:lnTo>
                  <a:lnTo>
                    <a:pt x="100965" y="6667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10532745" y="2846070"/>
              <a:ext cx="315278" cy="321945"/>
            </a:xfrm>
            <a:custGeom>
              <a:avLst/>
              <a:gdLst/>
              <a:ahLst/>
              <a:cxnLst/>
              <a:rect l="l" t="t" r="r" b="b"/>
              <a:pathLst>
                <a:path w="315278" h="321945">
                  <a:moveTo>
                    <a:pt x="0" y="0"/>
                  </a:moveTo>
                  <a:lnTo>
                    <a:pt x="315278" y="3219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814685" y="3134678"/>
              <a:ext cx="100012" cy="100965"/>
            </a:xfrm>
            <a:custGeom>
              <a:avLst/>
              <a:gdLst/>
              <a:ahLst/>
              <a:cxnLst/>
              <a:rect l="l" t="t" r="r" b="b"/>
              <a:pathLst>
                <a:path w="100012" h="100965">
                  <a:moveTo>
                    <a:pt x="100012" y="100965"/>
                  </a:moveTo>
                  <a:lnTo>
                    <a:pt x="0" y="66675"/>
                  </a:lnTo>
                  <a:lnTo>
                    <a:pt x="6762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7197090" y="3490912"/>
              <a:ext cx="253365" cy="309562"/>
            </a:xfrm>
            <a:custGeom>
              <a:avLst/>
              <a:gdLst/>
              <a:ahLst/>
              <a:cxnLst/>
              <a:rect l="l" t="t" r="r" b="b"/>
              <a:pathLst>
                <a:path w="253365" h="309562">
                  <a:moveTo>
                    <a:pt x="0" y="0"/>
                  </a:moveTo>
                  <a:lnTo>
                    <a:pt x="253365" y="3095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413308" y="3769995"/>
              <a:ext cx="97155" cy="103822"/>
            </a:xfrm>
            <a:custGeom>
              <a:avLst/>
              <a:gdLst/>
              <a:ahLst/>
              <a:cxnLst/>
              <a:rect l="l" t="t" r="r" b="b"/>
              <a:pathLst>
                <a:path w="97155" h="103822">
                  <a:moveTo>
                    <a:pt x="97155" y="103822"/>
                  </a:moveTo>
                  <a:lnTo>
                    <a:pt x="0" y="60008"/>
                  </a:lnTo>
                  <a:lnTo>
                    <a:pt x="7429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10672762" y="3490912"/>
              <a:ext cx="254318" cy="309562"/>
            </a:xfrm>
            <a:custGeom>
              <a:avLst/>
              <a:gdLst/>
              <a:ahLst/>
              <a:cxnLst/>
              <a:rect l="l" t="t" r="r" b="b"/>
              <a:pathLst>
                <a:path w="254318" h="309562">
                  <a:moveTo>
                    <a:pt x="254318" y="0"/>
                  </a:moveTo>
                  <a:lnTo>
                    <a:pt x="0" y="3095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612755" y="3769995"/>
              <a:ext cx="97155" cy="103822"/>
            </a:xfrm>
            <a:custGeom>
              <a:avLst/>
              <a:gdLst/>
              <a:ahLst/>
              <a:cxnLst/>
              <a:rect l="l" t="t" r="r" b="b"/>
              <a:pathLst>
                <a:path w="97155" h="103822">
                  <a:moveTo>
                    <a:pt x="0" y="103822"/>
                  </a:moveTo>
                  <a:lnTo>
                    <a:pt x="23812" y="0"/>
                  </a:lnTo>
                  <a:lnTo>
                    <a:pt x="97155" y="6000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1129010" y="3501390"/>
              <a:ext cx="185738" cy="282892"/>
            </a:xfrm>
            <a:custGeom>
              <a:avLst/>
              <a:gdLst/>
              <a:ahLst/>
              <a:cxnLst/>
              <a:rect l="l" t="t" r="r" b="b"/>
              <a:pathLst>
                <a:path w="185738" h="282892">
                  <a:moveTo>
                    <a:pt x="0" y="0"/>
                  </a:moveTo>
                  <a:lnTo>
                    <a:pt x="185738" y="2828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1275695" y="3758565"/>
              <a:ext cx="91440" cy="105727"/>
            </a:xfrm>
            <a:custGeom>
              <a:avLst/>
              <a:gdLst/>
              <a:ahLst/>
              <a:cxnLst/>
              <a:rect l="l" t="t" r="r" b="b"/>
              <a:pathLst>
                <a:path w="91440" h="105727">
                  <a:moveTo>
                    <a:pt x="91440" y="105727"/>
                  </a:moveTo>
                  <a:lnTo>
                    <a:pt x="0" y="52388"/>
                  </a:lnTo>
                  <a:lnTo>
                    <a:pt x="7905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900160" y="2019300"/>
              <a:ext cx="323850" cy="3238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7653338" y="2562225"/>
              <a:ext cx="323850" cy="3238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10249852" y="2562225"/>
              <a:ext cx="323850" cy="3238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6926580" y="3195638"/>
              <a:ext cx="323850" cy="3238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8380095" y="3195638"/>
              <a:ext cx="323850" cy="3238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9626918" y="3195638"/>
              <a:ext cx="323850" cy="3238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10873740" y="3195638"/>
              <a:ext cx="323850" cy="3238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7464742" y="3849052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10372725" y="3849052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11308080" y="3849052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980944" y="211978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72215" y="26636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330636" y="266366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45458" y="32970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460879" y="329707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707701" y="329707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954524" y="329707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64570" y="393144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434459" y="393144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369814" y="393144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076336" y="404669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红圈为红结点，灰圈为黑结点</a:t>
              </a:r>
            </a:p>
          </p:txBody>
        </p:sp>
      </p:grpSp>
      <p:grpSp>
        <p:nvGrpSpPr>
          <p:cNvPr id="78" name="c2-callout-2"/>
          <p:cNvGrpSpPr/>
          <p:nvPr/>
        </p:nvGrpSpPr>
        <p:grpSpPr>
          <a:xfrm>
            <a:off x="6464618" y="4403408"/>
            <a:ext cx="5193982" cy="1145858"/>
            <a:chOff x="6464618" y="4403408"/>
            <a:chExt cx="5193982" cy="1145858"/>
          </a:xfrm>
        </p:grpSpPr>
        <p:sp>
          <p:nvSpPr>
            <p:cNvPr id="73" name="Rectangle 73"/>
            <p:cNvSpPr/>
            <p:nvPr/>
          </p:nvSpPr>
          <p:spPr>
            <a:xfrm>
              <a:off x="6464618" y="4403408"/>
              <a:ext cx="5193982" cy="1145858"/>
            </a:xfrm>
            <a:prstGeom prst="roundRect">
              <a:avLst>
                <a:gd name="adj" fmla="val 997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6669405" y="4875850"/>
              <a:ext cx="200023" cy="200023"/>
              <a:chOff x="6669405" y="4875850"/>
              <a:chExt cx="200023" cy="200023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6669405" y="48758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802755" y="49425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6971729" y="4614386"/>
              <a:ext cx="428853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检查一遍：根 13 是黑的，没有红结点的孩子是红的，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从根出发到每个空指针都恰好经过 3 个黑结点（含外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结点）。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9" name="Rectangle 7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0511" y="6004084"/>
              <a:ext cx="73645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 ④ 和 ⑤ 合起来的效果是：一条路径上红黑相间，最长路径最多是最短路径的 2 倍。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红黑树简介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五条性质推出来的结论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bullets-1"/>
          <p:cNvGrpSpPr/>
          <p:nvPr/>
        </p:nvGrpSpPr>
        <p:grpSpPr>
          <a:xfrm>
            <a:off x="542925" y="1545431"/>
            <a:ext cx="5061458" cy="1614297"/>
            <a:chOff x="542925" y="1545431"/>
            <a:chExt cx="5061458" cy="1614297"/>
          </a:xfrm>
        </p:grpSpPr>
        <p:sp>
          <p:nvSpPr>
            <p:cNvPr id="7" name="Ellipse 7"/>
            <p:cNvSpPr/>
            <p:nvPr/>
          </p:nvSpPr>
          <p:spPr>
            <a:xfrm>
              <a:off x="542925" y="159734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8373" y="154543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忽略红结点只看黑结点，这棵树是完全平衡的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2925" y="189071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8373" y="1837849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任何一条路径上不会出现两个连续的红结点，所以最长路径（红黑相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间）最多是最短路径（全黑）的 2 倍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2925" y="242697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8373" y="2374106"/>
              <a:ext cx="34678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个内结点的红黑树，高度 h 满足 h ≤ 2log₂n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2925" y="271938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8373" y="2667476"/>
              <a:ext cx="49060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查找、插入、删除的最坏时间复杂度都是 O(logn)，且每次调整最多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涉及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 次旋转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3273742"/>
            <a:ext cx="5410200" cy="702945"/>
            <a:chOff x="533400" y="3273742"/>
            <a:chExt cx="5410200" cy="702945"/>
          </a:xfrm>
        </p:grpSpPr>
        <p:sp>
          <p:nvSpPr>
            <p:cNvPr id="16" name="Rectangle 16"/>
            <p:cNvSpPr/>
            <p:nvPr/>
          </p:nvSpPr>
          <p:spPr>
            <a:xfrm>
              <a:off x="533400" y="327374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3525203"/>
              <a:ext cx="200026" cy="200026"/>
              <a:chOff x="738188" y="3525203"/>
              <a:chExt cx="200026" cy="2000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35252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35918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27088" y="36252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1273" y="3418999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插入和删除的具体调整规则（变色、旋转的若干种情况）超出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本课程要求，考研大纲只要求理解性质和复杂度。</a:t>
              </a:r>
            </a:p>
          </p:txBody>
        </p:sp>
      </p:grpSp>
      <p:grpSp>
        <p:nvGrpSpPr>
          <p:cNvPr id="29" name="c1-card-3"/>
          <p:cNvGrpSpPr/>
          <p:nvPr/>
        </p:nvGrpSpPr>
        <p:grpSpPr>
          <a:xfrm>
            <a:off x="533400" y="4141470"/>
            <a:ext cx="5410200" cy="1403032"/>
            <a:chOff x="533400" y="4141470"/>
            <a:chExt cx="5410200" cy="1403032"/>
          </a:xfrm>
        </p:grpSpPr>
        <p:sp>
          <p:nvSpPr>
            <p:cNvPr id="23" name="Rectangle 23"/>
            <p:cNvSpPr/>
            <p:nvPr/>
          </p:nvSpPr>
          <p:spPr>
            <a:xfrm>
              <a:off x="533400" y="4141470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27482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2475" y="432244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5147" y="435530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18450" y="4361974"/>
              <a:ext cx="26868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红黑树其实是 2-3-4 树的二叉表示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5998" y="4679156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把每个红结点和它的黑父亲合并成一个大结点，红黑树就变成一棵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所有叶结点等深的 2-3-4 树。性质 ⑤ 的“黑高相等”对应的正是 B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树里“所有叶结点都在同一层”，这是下一讲的内容。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6248400" y="1524000"/>
            <a:ext cx="5410200" cy="2669858"/>
            <a:chOff x="6248400" y="1524000"/>
            <a:chExt cx="5410200" cy="2669858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5895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08374" y="1641157"/>
              <a:ext cx="457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AVL 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67784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红黑树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43079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平衡条件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57554" y="2023110"/>
              <a:ext cx="675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高度差 ≤ 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05416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黑高相等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3079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最坏高度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57554" y="2404110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≈1.44log₂n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05416" y="2404110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≤2log₂n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3079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查找效率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57554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更高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05416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略低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48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3079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插入删除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57554" y="3167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失衡概率大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05416" y="3167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失衡概率小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43079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维护成本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57554" y="3548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805416" y="3548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3807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48400" y="3811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43079" y="393001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删除的旋转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57554" y="3930015"/>
              <a:ext cx="7381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 次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805416" y="3930015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≤3 次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1524000"/>
              <a:ext cx="5410200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758112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705975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c2-card-2"/>
          <p:cNvGrpSpPr/>
          <p:nvPr/>
        </p:nvGrpSpPr>
        <p:grpSpPr>
          <a:xfrm>
            <a:off x="6248400" y="4358640"/>
            <a:ext cx="5410200" cy="1185862"/>
            <a:chOff x="6248400" y="4358640"/>
            <a:chExt cx="5410200" cy="1185862"/>
          </a:xfrm>
        </p:grpSpPr>
        <p:sp>
          <p:nvSpPr>
            <p:cNvPr id="64" name="Rectangle 64"/>
            <p:cNvSpPr/>
            <p:nvPr/>
          </p:nvSpPr>
          <p:spPr>
            <a:xfrm>
              <a:off x="6248400" y="435864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29375" y="453961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17996" y="457247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20128" y="4579144"/>
              <a:ext cx="24535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查得多用 AVL，改得多用红黑树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22898" y="489537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红黑树平衡性更弱，树更高，查找略慢；但插入删除引起失衡的概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率小，维持平衡的成本低。通用容器几乎都选红黑树。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0" name="Rectangle 7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1273" y="6039326"/>
              <a:ext cx="92317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2022 年起红黑树进入全国考研大纲，也是各大公司面试的常考题，复习时至少要能背出五条性质并判断一棵树是否合法。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469130" cy="2997517"/>
            <a:chOff x="667512" y="1835468"/>
            <a:chExt cx="446913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8531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伸展树（Splay 树）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干脆不限制形状，让刚访问过的结点跑到根上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依据是时间局部性假设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每次访问都把目标结点旋转到根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73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各操作的均摊时间复杂度 O(logn)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08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832" y="407194"/>
              <a:ext cx="2521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伸展树（Splay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伸展树：不追求平衡，追求整体访问效率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1188669" y="1524000"/>
            <a:ext cx="4099662" cy="2144744"/>
            <a:chOff x="1188669" y="1524000"/>
            <a:chExt cx="4099662" cy="2144744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6" r="0" b="7"/>
            <a:stretch>
              <a:fillRect/>
            </a:stretch>
          </p:blipFill>
          <p:spPr>
            <a:xfrm>
              <a:off x="1997392" y="1524000"/>
              <a:ext cx="2483168" cy="1862138"/>
            </a:xfrm>
            <a:prstGeom prst="roundRect">
              <a:avLst>
                <a:gd name="adj" fmla="val 7161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188669" y="3478054"/>
              <a:ext cx="40996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刚从底层书架取出的书，随手放到与视线齐平的位置，下次再拿就顺手</a:t>
              </a:r>
            </a:p>
          </p:txBody>
        </p:sp>
      </p:grpSp>
      <p:grpSp>
        <p:nvGrpSpPr>
          <p:cNvPr id="15" name="c1-callout-2"/>
          <p:cNvGrpSpPr/>
          <p:nvPr/>
        </p:nvGrpSpPr>
        <p:grpSpPr>
          <a:xfrm>
            <a:off x="533400" y="3814762"/>
            <a:ext cx="5410200" cy="1770698"/>
            <a:chOff x="533400" y="3814762"/>
            <a:chExt cx="5410200" cy="1770698"/>
          </a:xfrm>
        </p:grpSpPr>
        <p:sp>
          <p:nvSpPr>
            <p:cNvPr id="10" name="Rectangle 10"/>
            <p:cNvSpPr/>
            <p:nvPr/>
          </p:nvSpPr>
          <p:spPr>
            <a:xfrm>
              <a:off x="533400" y="3814762"/>
              <a:ext cx="5410200" cy="1770698"/>
            </a:xfrm>
            <a:prstGeom prst="roundRect">
              <a:avLst>
                <a:gd name="adj" fmla="val 645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38188" y="4599625"/>
              <a:ext cx="200023" cy="200023"/>
              <a:chOff x="738188" y="4599625"/>
              <a:chExt cx="200023" cy="20002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38188" y="45996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71538" y="46662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041273" y="4493419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时间局部性假设：刚被访问的数据，极有可能很快再次被访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问。</a:t>
              </a:r>
            </a:p>
          </p:txBody>
        </p:sp>
      </p:grpSp>
      <p:grpSp>
        <p:nvGrpSpPr>
          <p:cNvPr id="33" name="c2-steps-1"/>
          <p:cNvGrpSpPr/>
          <p:nvPr/>
        </p:nvGrpSpPr>
        <p:grpSpPr>
          <a:xfrm>
            <a:off x="6248400" y="1533525"/>
            <a:ext cx="5178362" cy="2729484"/>
            <a:chOff x="6248400" y="1533525"/>
            <a:chExt cx="5178362" cy="2729484"/>
          </a:xfrm>
        </p:grpSpPr>
        <p:sp>
          <p:nvSpPr>
            <p:cNvPr id="16" name="Rectangle 16"/>
            <p:cNvSpPr/>
            <p:nvPr/>
          </p:nvSpPr>
          <p:spPr>
            <a:xfrm>
              <a:off x="6381750" y="1676400"/>
              <a:ext cx="19050" cy="20459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248400" y="22802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42024" y="23541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248400" y="283273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42024" y="29065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248400" y="357949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42024" y="36533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1023" y="1564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166" y="1818322"/>
              <a:ext cx="467791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不严格限制查找树的形状，而是假设数据访问具有局部性，让数据在访问后不久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再次被访问时变快。不一味追求平衡，追求的是整体访问效率。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1023" y="23102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62166" y="256508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把经常被访问的结点放到靠近根的地方。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1023" y="28636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2166" y="3118485"/>
              <a:ext cx="463791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每访问一个结点 X，就在保持二叉查找树有序性的前提下，通过一系列旋转把 X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调整到树根，这个过程称为伸展（Splay）操作。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1023" y="360949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2166" y="3864293"/>
              <a:ext cx="476459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Splay 树各操作的均摊时间复杂度是 O(logn)。单次操作可能是 O(n)，但连续 m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次操作的总代价是 O(mlogn)。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248400" y="4424362"/>
            <a:ext cx="5410200" cy="1160145"/>
            <a:chOff x="6248400" y="4424362"/>
            <a:chExt cx="5410200" cy="1160145"/>
          </a:xfrm>
        </p:grpSpPr>
        <p:sp>
          <p:nvSpPr>
            <p:cNvPr id="34" name="Rectangle 34"/>
            <p:cNvSpPr/>
            <p:nvPr/>
          </p:nvSpPr>
          <p:spPr>
            <a:xfrm>
              <a:off x="6248400" y="4424362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455771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67475" y="460533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0147" y="46381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33451" y="4645819"/>
              <a:ext cx="20787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Sleator 与 Tarjan，1985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0998" y="4962049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伸展树没有平衡系数、没有颜色，每个结点只存关键词和两个指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针，是这几种自平衡树里结构最简单的一种。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1" name="Rectangle 4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1273" y="6039326"/>
              <a:ext cx="77670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均摊分析看的是一串操作的总代价。偶尔一次很贵的操作会把树变矮，代价由后面变便宜的操作分担。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39076" cy="909257"/>
            <a:chOff x="520446" y="342900"/>
            <a:chExt cx="65390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08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832" y="407194"/>
              <a:ext cx="2521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伸展树（Splay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390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Splay 操作：按祖孙三代的形状分三种情况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338610" cy="264033"/>
            <a:chOff x="526542" y="1545907"/>
            <a:chExt cx="533861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338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对目标结点 x 取父结点 p 和爷爷结点 g，反复处理直到 x 成为根。</a:t>
              </a:r>
            </a:p>
          </p:txBody>
        </p:sp>
      </p:grpSp>
      <p:grpSp>
        <p:nvGrpSpPr>
          <p:cNvPr id="20" name="c1-card-1"/>
          <p:cNvGrpSpPr/>
          <p:nvPr/>
        </p:nvGrpSpPr>
        <p:grpSpPr>
          <a:xfrm>
            <a:off x="533400" y="1928812"/>
            <a:ext cx="3505200" cy="1976438"/>
            <a:chOff x="533400" y="1928812"/>
            <a:chExt cx="3505200" cy="19764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1976438"/>
            </a:xfrm>
            <a:prstGeom prst="roundRect">
              <a:avLst>
                <a:gd name="adj" fmla="val 67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70973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1519" y="2142649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情况 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29893" y="2149316"/>
              <a:ext cx="15149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折线型（LR / RL）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29878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是 p 的右孩子而 p 是 g 的左孩子（或完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全相反）。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30460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2994184"/>
              <a:ext cx="18493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先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以 x 为轴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p 转上来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2000" y="333089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7448" y="3278981"/>
              <a:ext cx="18493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再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以 x 为轴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g 转上来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7141" y="3560445"/>
              <a:ext cx="24611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 AVL 树的 LR、RL 处理方案完全一致</a:t>
              </a:r>
            </a:p>
          </p:txBody>
        </p:sp>
      </p:grpSp>
      <p:grpSp>
        <p:nvGrpSpPr>
          <p:cNvPr id="32" name="c1-graph-2"/>
          <p:cNvGrpSpPr/>
          <p:nvPr/>
        </p:nvGrpSpPr>
        <p:grpSpPr>
          <a:xfrm>
            <a:off x="1268172" y="4094321"/>
            <a:ext cx="1380730" cy="1276827"/>
            <a:chOff x="1268172" y="4094321"/>
            <a:chExt cx="1380730" cy="1276827"/>
          </a:xfrm>
        </p:grpSpPr>
        <p:sp>
          <p:nvSpPr>
            <p:cNvPr id="21" name="Freeform 21"/>
            <p:cNvSpPr/>
            <p:nvPr/>
          </p:nvSpPr>
          <p:spPr>
            <a:xfrm>
              <a:off x="1745932" y="4328160"/>
              <a:ext cx="604838" cy="296228"/>
            </a:xfrm>
            <a:custGeom>
              <a:avLst/>
              <a:gdLst/>
              <a:ahLst/>
              <a:cxnLst/>
              <a:rect l="l" t="t" r="r" b="b"/>
              <a:pathLst>
                <a:path w="604838" h="296228">
                  <a:moveTo>
                    <a:pt x="604838" y="0"/>
                  </a:moveTo>
                  <a:lnTo>
                    <a:pt x="0" y="2962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660208" y="4581525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84772"/>
                  </a:moveTo>
                  <a:lnTo>
                    <a:pt x="64770" y="0"/>
                  </a:lnTo>
                  <a:lnTo>
                    <a:pt x="106680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652588" y="4823460"/>
              <a:ext cx="415290" cy="259080"/>
            </a:xfrm>
            <a:custGeom>
              <a:avLst/>
              <a:gdLst/>
              <a:ahLst/>
              <a:cxnLst/>
              <a:rect l="l" t="t" r="r" b="b"/>
              <a:pathLst>
                <a:path w="415290" h="259080">
                  <a:moveTo>
                    <a:pt x="0" y="0"/>
                  </a:moveTo>
                  <a:lnTo>
                    <a:pt x="415290" y="2590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042160" y="5042535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106680" y="90488"/>
                  </a:moveTo>
                  <a:lnTo>
                    <a:pt x="0" y="80010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344102" y="410432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362075" y="458533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2133600" y="5066348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456756" y="420052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74728" y="468153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46253" y="516255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68172" y="4094321"/>
              <a:ext cx="9136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在折线的尽头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4343400" y="1928812"/>
            <a:ext cx="3505200" cy="1733550"/>
            <a:chOff x="4343400" y="1928812"/>
            <a:chExt cx="3505200" cy="1733550"/>
          </a:xfrm>
        </p:grpSpPr>
        <p:sp>
          <p:nvSpPr>
            <p:cNvPr id="33" name="Rectangle 33"/>
            <p:cNvSpPr/>
            <p:nvPr/>
          </p:nvSpPr>
          <p:spPr>
            <a:xfrm>
              <a:off x="4343400" y="1928812"/>
              <a:ext cx="3505200" cy="17335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352925" y="2062162"/>
              <a:ext cx="47625" cy="14668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562475" y="2109788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51519" y="2142649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情况 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39893" y="2149316"/>
              <a:ext cx="15149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直线型（LL / RR）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55998" y="2465546"/>
              <a:ext cx="1899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x、p、g 在一条直线上。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4572000" y="280320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727448" y="2751296"/>
              <a:ext cx="18493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先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以 p 为轴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g 转下去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4572000" y="308800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27448" y="3036094"/>
              <a:ext cx="18493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再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以 x 为轴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p 转下去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57141" y="3317558"/>
              <a:ext cx="2891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顺序和 AVL 的 LL 不同</a:t>
              </a: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：先动爷爷，后动父亲</a:t>
              </a:r>
            </a:p>
          </p:txBody>
        </p:sp>
      </p:grpSp>
      <p:grpSp>
        <p:nvGrpSpPr>
          <p:cNvPr id="56" name="c2-graph-2"/>
          <p:cNvGrpSpPr/>
          <p:nvPr/>
        </p:nvGrpSpPr>
        <p:grpSpPr>
          <a:xfrm>
            <a:off x="4944170" y="3851434"/>
            <a:ext cx="2075755" cy="1485424"/>
            <a:chOff x="4944170" y="3851434"/>
            <a:chExt cx="2075755" cy="1485424"/>
          </a:xfrm>
        </p:grpSpPr>
        <p:sp>
          <p:nvSpPr>
            <p:cNvPr id="45" name="Freeform 45"/>
            <p:cNvSpPr/>
            <p:nvPr/>
          </p:nvSpPr>
          <p:spPr>
            <a:xfrm>
              <a:off x="6302692" y="4144328"/>
              <a:ext cx="434340" cy="319088"/>
            </a:xfrm>
            <a:custGeom>
              <a:avLst/>
              <a:gdLst/>
              <a:ahLst/>
              <a:cxnLst/>
              <a:rect l="l" t="t" r="r" b="b"/>
              <a:pathLst>
                <a:path w="434340" h="319088">
                  <a:moveTo>
                    <a:pt x="434340" y="0"/>
                  </a:moveTo>
                  <a:lnTo>
                    <a:pt x="0" y="3190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6226492" y="4425315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0" y="95250"/>
                  </a:moveTo>
                  <a:lnTo>
                    <a:pt x="48577" y="0"/>
                  </a:lnTo>
                  <a:lnTo>
                    <a:pt x="104775" y="7715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5532120" y="4712018"/>
              <a:ext cx="433388" cy="320040"/>
            </a:xfrm>
            <a:custGeom>
              <a:avLst/>
              <a:gdLst/>
              <a:ahLst/>
              <a:cxnLst/>
              <a:rect l="l" t="t" r="r" b="b"/>
              <a:pathLst>
                <a:path w="433388" h="320040">
                  <a:moveTo>
                    <a:pt x="433388" y="0"/>
                  </a:moveTo>
                  <a:lnTo>
                    <a:pt x="0" y="3200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5454968" y="4993958"/>
              <a:ext cx="104775" cy="94298"/>
            </a:xfrm>
            <a:custGeom>
              <a:avLst/>
              <a:gdLst/>
              <a:ahLst/>
              <a:cxnLst/>
              <a:rect l="l" t="t" r="r" b="b"/>
              <a:pathLst>
                <a:path w="104775" h="94298">
                  <a:moveTo>
                    <a:pt x="0" y="94298"/>
                  </a:moveTo>
                  <a:lnTo>
                    <a:pt x="48577" y="0"/>
                  </a:lnTo>
                  <a:lnTo>
                    <a:pt x="104775" y="7620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715125" y="389572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5943600" y="446436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5172075" y="5032058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27778" y="39919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56253" y="45605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284728" y="51282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944170" y="3851434"/>
              <a:ext cx="13225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x、p、g 在一条直线上</a:t>
              </a:r>
            </a:p>
          </p:txBody>
        </p:sp>
      </p:grpSp>
      <p:grpSp>
        <p:nvGrpSpPr>
          <p:cNvPr id="66" name="c3-card-1"/>
          <p:cNvGrpSpPr/>
          <p:nvPr/>
        </p:nvGrpSpPr>
        <p:grpSpPr>
          <a:xfrm>
            <a:off x="8153400" y="1928812"/>
            <a:ext cx="3505200" cy="1448752"/>
            <a:chOff x="8153400" y="1928812"/>
            <a:chExt cx="3505200" cy="1448752"/>
          </a:xfrm>
        </p:grpSpPr>
        <p:sp>
          <p:nvSpPr>
            <p:cNvPr id="57" name="Rectangle 57"/>
            <p:cNvSpPr/>
            <p:nvPr/>
          </p:nvSpPr>
          <p:spPr>
            <a:xfrm>
              <a:off x="8153400" y="1928812"/>
              <a:ext cx="3505200" cy="1448752"/>
            </a:xfrm>
            <a:prstGeom prst="roundRect">
              <a:avLst>
                <a:gd name="adj" fmla="val 92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162925" y="2062162"/>
              <a:ext cx="47625" cy="118205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8372475" y="2109788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461519" y="2142649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情况 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049893" y="2149316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有父无爷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65998" y="2465546"/>
              <a:ext cx="1882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已经是根，只剩一步。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8382000" y="280320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537448" y="2751296"/>
              <a:ext cx="2451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x 为轴把 p 转下去，x 成为根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367141" y="3031808"/>
              <a:ext cx="31133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每次 splay 最多用到一次情况 3，出现在最后一步</a:t>
              </a:r>
            </a:p>
          </p:txBody>
        </p:sp>
      </p:grpSp>
      <p:grpSp>
        <p:nvGrpSpPr>
          <p:cNvPr id="74" name="c3-graph-2"/>
          <p:cNvGrpSpPr/>
          <p:nvPr/>
        </p:nvGrpSpPr>
        <p:grpSpPr>
          <a:xfrm>
            <a:off x="8756245" y="3580924"/>
            <a:ext cx="1723160" cy="1339691"/>
            <a:chOff x="8756245" y="3580924"/>
            <a:chExt cx="1723160" cy="1339691"/>
          </a:xfrm>
        </p:grpSpPr>
        <p:sp>
          <p:nvSpPr>
            <p:cNvPr id="67" name="Freeform 67"/>
            <p:cNvSpPr/>
            <p:nvPr/>
          </p:nvSpPr>
          <p:spPr>
            <a:xfrm>
              <a:off x="9548812" y="4110038"/>
              <a:ext cx="649605" cy="501015"/>
            </a:xfrm>
            <a:custGeom>
              <a:avLst/>
              <a:gdLst/>
              <a:ahLst/>
              <a:cxnLst/>
              <a:rect l="l" t="t" r="r" b="b"/>
              <a:pathLst>
                <a:path w="649605" h="501015">
                  <a:moveTo>
                    <a:pt x="649605" y="0"/>
                  </a:moveTo>
                  <a:lnTo>
                    <a:pt x="0" y="5010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9473565" y="4573905"/>
              <a:ext cx="103822" cy="95250"/>
            </a:xfrm>
            <a:custGeom>
              <a:avLst/>
              <a:gdLst/>
              <a:ahLst/>
              <a:cxnLst/>
              <a:rect l="l" t="t" r="r" b="b"/>
              <a:pathLst>
                <a:path w="103822" h="95250">
                  <a:moveTo>
                    <a:pt x="0" y="95250"/>
                  </a:moveTo>
                  <a:lnTo>
                    <a:pt x="45720" y="0"/>
                  </a:lnTo>
                  <a:lnTo>
                    <a:pt x="103822" y="7524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10174605" y="385857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9192578" y="4615815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287258" y="39547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305231" y="471201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756245" y="3580924"/>
              <a:ext cx="11774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 就是根，只剩一步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75" name="Rectangle 75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5911217"/>
              <a:ext cx="200023" cy="200023"/>
              <a:chOff x="738188" y="5911217"/>
              <a:chExt cx="200023" cy="20002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71538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1273" y="5805011"/>
              <a:ext cx="99941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直线型必须先转爷爷：这样做能把访问路径上所有结点的深度大约折半，均摊 O(logn) 的证明正依赖这一点。若先转父亲，长链的形状只会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原样往下平移。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765096" cy="909257"/>
            <a:chOff x="520446" y="342900"/>
            <a:chExt cx="37650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08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832" y="407194"/>
              <a:ext cx="2521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伸展树（Splay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7650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例子：在这棵树里访问 5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769214" cy="308039"/>
            <a:chOff x="525399" y="1550194"/>
            <a:chExt cx="676921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76921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= 5，p = 2，g = 7。5 是 2 的右孩子，2 是 7 的左孩子，属于折线型。</a:t>
              </a:r>
            </a:p>
          </p:txBody>
        </p:sp>
      </p:grpSp>
      <p:grpSp>
        <p:nvGrpSpPr>
          <p:cNvPr id="10" name="c1-text-1"/>
          <p:cNvGrpSpPr/>
          <p:nvPr/>
        </p:nvGrpSpPr>
        <p:grpSpPr>
          <a:xfrm>
            <a:off x="526923" y="1988344"/>
            <a:ext cx="1182102" cy="249364"/>
            <a:chOff x="526923" y="1988344"/>
            <a:chExt cx="1182102" cy="249364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88344"/>
              <a:ext cx="118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原树，访问 5</a:t>
              </a:r>
            </a:p>
          </p:txBody>
        </p:sp>
      </p:grpSp>
      <p:grpSp>
        <p:nvGrpSpPr>
          <p:cNvPr id="31" name="c1-tree-2"/>
          <p:cNvGrpSpPr/>
          <p:nvPr/>
        </p:nvGrpSpPr>
        <p:grpSpPr>
          <a:xfrm>
            <a:off x="809625" y="2555558"/>
            <a:ext cx="2952750" cy="2360294"/>
            <a:chOff x="809625" y="2555558"/>
            <a:chExt cx="2952750" cy="2360294"/>
          </a:xfrm>
        </p:grpSpPr>
        <p:sp>
          <p:nvSpPr>
            <p:cNvPr id="11" name="Freeform 11"/>
            <p:cNvSpPr/>
            <p:nvPr/>
          </p:nvSpPr>
          <p:spPr>
            <a:xfrm>
              <a:off x="1847850" y="4074795"/>
              <a:ext cx="438150" cy="679133"/>
            </a:xfrm>
            <a:custGeom>
              <a:avLst/>
              <a:gdLst/>
              <a:ahLst/>
              <a:cxnLst/>
              <a:rect l="l" t="t" r="r" b="b"/>
              <a:pathLst>
                <a:path w="438150" h="679133">
                  <a:moveTo>
                    <a:pt x="438150" y="0"/>
                  </a:moveTo>
                  <a:lnTo>
                    <a:pt x="0" y="6791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286000" y="4074795"/>
              <a:ext cx="438150" cy="679133"/>
            </a:xfrm>
            <a:custGeom>
              <a:avLst/>
              <a:gdLst/>
              <a:ahLst/>
              <a:cxnLst/>
              <a:rect l="l" t="t" r="r" b="b"/>
              <a:pathLst>
                <a:path w="438150" h="679133">
                  <a:moveTo>
                    <a:pt x="0" y="0"/>
                  </a:moveTo>
                  <a:lnTo>
                    <a:pt x="438150" y="6791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971550" y="3396615"/>
              <a:ext cx="876300" cy="678180"/>
            </a:xfrm>
            <a:custGeom>
              <a:avLst/>
              <a:gdLst/>
              <a:ahLst/>
              <a:cxnLst/>
              <a:rect l="l" t="t" r="r" b="b"/>
              <a:pathLst>
                <a:path w="876300" h="678180">
                  <a:moveTo>
                    <a:pt x="876300" y="0"/>
                  </a:moveTo>
                  <a:lnTo>
                    <a:pt x="0" y="6781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847850" y="3396615"/>
              <a:ext cx="438150" cy="678180"/>
            </a:xfrm>
            <a:custGeom>
              <a:avLst/>
              <a:gdLst/>
              <a:ahLst/>
              <a:cxnLst/>
              <a:rect l="l" t="t" r="r" b="b"/>
              <a:pathLst>
                <a:path w="438150" h="678180">
                  <a:moveTo>
                    <a:pt x="0" y="0"/>
                  </a:moveTo>
                  <a:lnTo>
                    <a:pt x="438150" y="6781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847850" y="2717482"/>
              <a:ext cx="438150" cy="679133"/>
            </a:xfrm>
            <a:custGeom>
              <a:avLst/>
              <a:gdLst/>
              <a:ahLst/>
              <a:cxnLst/>
              <a:rect l="l" t="t" r="r" b="b"/>
              <a:pathLst>
                <a:path w="438150" h="679133">
                  <a:moveTo>
                    <a:pt x="438150" y="0"/>
                  </a:moveTo>
                  <a:lnTo>
                    <a:pt x="0" y="6791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286000" y="2717482"/>
              <a:ext cx="1314450" cy="679133"/>
            </a:xfrm>
            <a:custGeom>
              <a:avLst/>
              <a:gdLst/>
              <a:ahLst/>
              <a:cxnLst/>
              <a:rect l="l" t="t" r="r" b="b"/>
              <a:pathLst>
                <a:path w="1314450" h="679133">
                  <a:moveTo>
                    <a:pt x="0" y="0"/>
                  </a:moveTo>
                  <a:lnTo>
                    <a:pt x="1314450" y="6791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809625" y="391287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685925" y="459200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562225" y="459200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124075" y="3912870"/>
              <a:ext cx="323850" cy="3238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685925" y="323469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438525" y="323469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124075" y="2555558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8808" y="40005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95108" y="46786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71408" y="46786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33258" y="40005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95108" y="33213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47708" y="33213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33258" y="26431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33" name="c2-text-1"/>
          <p:cNvGrpSpPr/>
          <p:nvPr/>
        </p:nvGrpSpPr>
        <p:grpSpPr>
          <a:xfrm>
            <a:off x="4336923" y="1988344"/>
            <a:ext cx="1616763" cy="249364"/>
            <a:chOff x="4336923" y="1988344"/>
            <a:chExt cx="1616763" cy="249364"/>
          </a:xfrm>
        </p:grpSpPr>
        <p:sp>
          <p:nvSpPr>
            <p:cNvPr id="32" name="TextBox 32"/>
            <p:cNvSpPr txBox="1"/>
            <p:nvPr/>
          </p:nvSpPr>
          <p:spPr>
            <a:xfrm>
              <a:off x="4336923" y="1988344"/>
              <a:ext cx="1616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以 5 为轴将 2 左转</a:t>
              </a:r>
            </a:p>
          </p:txBody>
        </p:sp>
      </p:grpSp>
      <p:grpSp>
        <p:nvGrpSpPr>
          <p:cNvPr id="54" name="c2-tree-2"/>
          <p:cNvGrpSpPr/>
          <p:nvPr/>
        </p:nvGrpSpPr>
        <p:grpSpPr>
          <a:xfrm>
            <a:off x="4619625" y="2555558"/>
            <a:ext cx="2952750" cy="2360294"/>
            <a:chOff x="4619625" y="2555558"/>
            <a:chExt cx="2952750" cy="2360294"/>
          </a:xfrm>
        </p:grpSpPr>
        <p:sp>
          <p:nvSpPr>
            <p:cNvPr id="34" name="Freeform 34"/>
            <p:cNvSpPr/>
            <p:nvPr/>
          </p:nvSpPr>
          <p:spPr>
            <a:xfrm>
              <a:off x="4781550" y="4074795"/>
              <a:ext cx="438150" cy="679133"/>
            </a:xfrm>
            <a:custGeom>
              <a:avLst/>
              <a:gdLst/>
              <a:ahLst/>
              <a:cxnLst/>
              <a:rect l="l" t="t" r="r" b="b"/>
              <a:pathLst>
                <a:path w="438150" h="679133">
                  <a:moveTo>
                    <a:pt x="438150" y="0"/>
                  </a:moveTo>
                  <a:lnTo>
                    <a:pt x="0" y="6791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5219700" y="4074795"/>
              <a:ext cx="438150" cy="679133"/>
            </a:xfrm>
            <a:custGeom>
              <a:avLst/>
              <a:gdLst/>
              <a:ahLst/>
              <a:cxnLst/>
              <a:rect l="l" t="t" r="r" b="b"/>
              <a:pathLst>
                <a:path w="438150" h="679133">
                  <a:moveTo>
                    <a:pt x="0" y="0"/>
                  </a:moveTo>
                  <a:lnTo>
                    <a:pt x="438150" y="6791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5219700" y="3396615"/>
              <a:ext cx="438150" cy="678180"/>
            </a:xfrm>
            <a:custGeom>
              <a:avLst/>
              <a:gdLst/>
              <a:ahLst/>
              <a:cxnLst/>
              <a:rect l="l" t="t" r="r" b="b"/>
              <a:pathLst>
                <a:path w="438150" h="678180">
                  <a:moveTo>
                    <a:pt x="438150" y="0"/>
                  </a:moveTo>
                  <a:lnTo>
                    <a:pt x="0" y="6781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5657850" y="3396615"/>
              <a:ext cx="876300" cy="678180"/>
            </a:xfrm>
            <a:custGeom>
              <a:avLst/>
              <a:gdLst/>
              <a:ahLst/>
              <a:cxnLst/>
              <a:rect l="l" t="t" r="r" b="b"/>
              <a:pathLst>
                <a:path w="876300" h="678180">
                  <a:moveTo>
                    <a:pt x="0" y="0"/>
                  </a:moveTo>
                  <a:lnTo>
                    <a:pt x="876300" y="6781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5657850" y="2717482"/>
              <a:ext cx="438150" cy="679133"/>
            </a:xfrm>
            <a:custGeom>
              <a:avLst/>
              <a:gdLst/>
              <a:ahLst/>
              <a:cxnLst/>
              <a:rect l="l" t="t" r="r" b="b"/>
              <a:pathLst>
                <a:path w="438150" h="679133">
                  <a:moveTo>
                    <a:pt x="438150" y="0"/>
                  </a:moveTo>
                  <a:lnTo>
                    <a:pt x="0" y="6791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096000" y="2717482"/>
              <a:ext cx="1314450" cy="679133"/>
            </a:xfrm>
            <a:custGeom>
              <a:avLst/>
              <a:gdLst/>
              <a:ahLst/>
              <a:cxnLst/>
              <a:rect l="l" t="t" r="r" b="b"/>
              <a:pathLst>
                <a:path w="1314450" h="679133">
                  <a:moveTo>
                    <a:pt x="0" y="0"/>
                  </a:moveTo>
                  <a:lnTo>
                    <a:pt x="1314450" y="6791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4619625" y="459200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5495925" y="459200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5057775" y="391287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372225" y="391287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5495925" y="323469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7248525" y="323469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5934075" y="2555558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728808" y="46786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05108" y="46786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166958" y="40005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81408" y="40005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05108" y="33213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57708" y="33213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43258" y="26431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56" name="c3-text-1"/>
          <p:cNvGrpSpPr/>
          <p:nvPr/>
        </p:nvGrpSpPr>
        <p:grpSpPr>
          <a:xfrm>
            <a:off x="8146923" y="1988344"/>
            <a:ext cx="1616763" cy="249364"/>
            <a:chOff x="8146923" y="1988344"/>
            <a:chExt cx="1616763" cy="249364"/>
          </a:xfrm>
        </p:grpSpPr>
        <p:sp>
          <p:nvSpPr>
            <p:cNvPr id="55" name="TextBox 55"/>
            <p:cNvSpPr txBox="1"/>
            <p:nvPr/>
          </p:nvSpPr>
          <p:spPr>
            <a:xfrm>
              <a:off x="8146923" y="1988344"/>
              <a:ext cx="1616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以 5 为轴将 7 右转</a:t>
              </a:r>
            </a:p>
          </p:txBody>
        </p:sp>
      </p:grpSp>
      <p:grpSp>
        <p:nvGrpSpPr>
          <p:cNvPr id="77" name="c3-tree-2"/>
          <p:cNvGrpSpPr/>
          <p:nvPr/>
        </p:nvGrpSpPr>
        <p:grpSpPr>
          <a:xfrm>
            <a:off x="8429625" y="2668905"/>
            <a:ext cx="2952750" cy="2133600"/>
            <a:chOff x="8429625" y="2668905"/>
            <a:chExt cx="2952750" cy="2133600"/>
          </a:xfrm>
        </p:grpSpPr>
        <p:sp>
          <p:nvSpPr>
            <p:cNvPr id="57" name="Freeform 57"/>
            <p:cNvSpPr/>
            <p:nvPr/>
          </p:nvSpPr>
          <p:spPr>
            <a:xfrm>
              <a:off x="8591550" y="3735705"/>
              <a:ext cx="438150" cy="904875"/>
            </a:xfrm>
            <a:custGeom>
              <a:avLst/>
              <a:gdLst/>
              <a:ahLst/>
              <a:cxnLst/>
              <a:rect l="l" t="t" r="r" b="b"/>
              <a:pathLst>
                <a:path w="438150" h="904875">
                  <a:moveTo>
                    <a:pt x="438150" y="0"/>
                  </a:moveTo>
                  <a:lnTo>
                    <a:pt x="0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9029700" y="3735705"/>
              <a:ext cx="438150" cy="904875"/>
            </a:xfrm>
            <a:custGeom>
              <a:avLst/>
              <a:gdLst/>
              <a:ahLst/>
              <a:cxnLst/>
              <a:rect l="l" t="t" r="r" b="b"/>
              <a:pathLst>
                <a:path w="438150" h="904875">
                  <a:moveTo>
                    <a:pt x="0" y="0"/>
                  </a:moveTo>
                  <a:lnTo>
                    <a:pt x="438150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0344150" y="3735705"/>
              <a:ext cx="438150" cy="904875"/>
            </a:xfrm>
            <a:custGeom>
              <a:avLst/>
              <a:gdLst/>
              <a:ahLst/>
              <a:cxnLst/>
              <a:rect l="l" t="t" r="r" b="b"/>
              <a:pathLst>
                <a:path w="438150" h="904875">
                  <a:moveTo>
                    <a:pt x="438150" y="0"/>
                  </a:moveTo>
                  <a:lnTo>
                    <a:pt x="0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0782300" y="3735705"/>
              <a:ext cx="438150" cy="904875"/>
            </a:xfrm>
            <a:custGeom>
              <a:avLst/>
              <a:gdLst/>
              <a:ahLst/>
              <a:cxnLst/>
              <a:rect l="l" t="t" r="r" b="b"/>
              <a:pathLst>
                <a:path w="438150" h="904875">
                  <a:moveTo>
                    <a:pt x="0" y="0"/>
                  </a:moveTo>
                  <a:lnTo>
                    <a:pt x="438150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9029700" y="2830830"/>
              <a:ext cx="876300" cy="904875"/>
            </a:xfrm>
            <a:custGeom>
              <a:avLst/>
              <a:gdLst/>
              <a:ahLst/>
              <a:cxnLst/>
              <a:rect l="l" t="t" r="r" b="b"/>
              <a:pathLst>
                <a:path w="876300" h="904875">
                  <a:moveTo>
                    <a:pt x="876300" y="0"/>
                  </a:moveTo>
                  <a:lnTo>
                    <a:pt x="0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9906000" y="2830830"/>
              <a:ext cx="876300" cy="904875"/>
            </a:xfrm>
            <a:custGeom>
              <a:avLst/>
              <a:gdLst/>
              <a:ahLst/>
              <a:cxnLst/>
              <a:rect l="l" t="t" r="r" b="b"/>
              <a:pathLst>
                <a:path w="876300" h="904875">
                  <a:moveTo>
                    <a:pt x="0" y="0"/>
                  </a:moveTo>
                  <a:lnTo>
                    <a:pt x="876300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8429625" y="447865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9305925" y="447865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8867775" y="357378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10182225" y="447865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11058525" y="447865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10620375" y="357378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9744075" y="2668905"/>
              <a:ext cx="323850" cy="3238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538808" y="456533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15108" y="456533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976958" y="366045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291408" y="456533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167708" y="456533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729558" y="366045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853258" y="27555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8" name="Rectangle 7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0130" y="5991225"/>
              <a:ext cx="76784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三棵树的中根序列都是 1 2 3 5 6 7 8。旋转只改变形状，从不改变关键词之间的次序。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94939" cy="909257"/>
            <a:chOff x="520446" y="342900"/>
            <a:chExt cx="47949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08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832" y="407194"/>
              <a:ext cx="2521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伸展树（Splay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949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课下验证：在一条长链上访问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703420" cy="264033"/>
            <a:chOff x="526542" y="1545907"/>
            <a:chExt cx="770342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7034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初始是一条左斜链 7-6-5-4-3-2-1，高度 6。访问最深的结点 1，连做三次直线型（LL）伸展。</a:t>
              </a:r>
            </a:p>
          </p:txBody>
        </p:sp>
      </p:grpSp>
      <p:grpSp>
        <p:nvGrpSpPr>
          <p:cNvPr id="29" name="c1-tree-1"/>
          <p:cNvGrpSpPr/>
          <p:nvPr/>
        </p:nvGrpSpPr>
        <p:grpSpPr>
          <a:xfrm>
            <a:off x="1726882" y="1965007"/>
            <a:ext cx="2874646" cy="1524572"/>
            <a:chOff x="1726882" y="1965007"/>
            <a:chExt cx="2874646" cy="1524572"/>
          </a:xfrm>
        </p:grpSpPr>
        <p:sp>
          <p:nvSpPr>
            <p:cNvPr id="9" name="Freeform 9"/>
            <p:cNvSpPr/>
            <p:nvPr/>
          </p:nvSpPr>
          <p:spPr>
            <a:xfrm>
              <a:off x="1848802" y="3033712"/>
              <a:ext cx="239077" cy="316230"/>
            </a:xfrm>
            <a:custGeom>
              <a:avLst/>
              <a:gdLst/>
              <a:ahLst/>
              <a:cxnLst/>
              <a:rect l="l" t="t" r="r" b="b"/>
              <a:pathLst>
                <a:path w="239077" h="316230">
                  <a:moveTo>
                    <a:pt x="0" y="0"/>
                  </a:moveTo>
                  <a:lnTo>
                    <a:pt x="239077" y="3162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48802" y="2718435"/>
              <a:ext cx="598170" cy="315278"/>
            </a:xfrm>
            <a:custGeom>
              <a:avLst/>
              <a:gdLst/>
              <a:ahLst/>
              <a:cxnLst/>
              <a:rect l="l" t="t" r="r" b="b"/>
              <a:pathLst>
                <a:path w="598170" h="315278">
                  <a:moveTo>
                    <a:pt x="598170" y="0"/>
                  </a:moveTo>
                  <a:lnTo>
                    <a:pt x="0" y="3152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446972" y="2718435"/>
              <a:ext cx="837248" cy="315278"/>
            </a:xfrm>
            <a:custGeom>
              <a:avLst/>
              <a:gdLst/>
              <a:ahLst/>
              <a:cxnLst/>
              <a:rect l="l" t="t" r="r" b="b"/>
              <a:pathLst>
                <a:path w="837248" h="315278">
                  <a:moveTo>
                    <a:pt x="0" y="0"/>
                  </a:moveTo>
                  <a:lnTo>
                    <a:pt x="837248" y="3152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446972" y="2402205"/>
              <a:ext cx="598170" cy="316230"/>
            </a:xfrm>
            <a:custGeom>
              <a:avLst/>
              <a:gdLst/>
              <a:ahLst/>
              <a:cxnLst/>
              <a:rect l="l" t="t" r="r" b="b"/>
              <a:pathLst>
                <a:path w="598170" h="316230">
                  <a:moveTo>
                    <a:pt x="598170" y="0"/>
                  </a:moveTo>
                  <a:lnTo>
                    <a:pt x="0" y="3162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045142" y="2402205"/>
              <a:ext cx="1434465" cy="316230"/>
            </a:xfrm>
            <a:custGeom>
              <a:avLst/>
              <a:gdLst/>
              <a:ahLst/>
              <a:cxnLst/>
              <a:rect l="l" t="t" r="r" b="b"/>
              <a:pathLst>
                <a:path w="1434465" h="316230">
                  <a:moveTo>
                    <a:pt x="0" y="0"/>
                  </a:moveTo>
                  <a:lnTo>
                    <a:pt x="1434465" y="3162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806065" y="2086928"/>
              <a:ext cx="239077" cy="315277"/>
            </a:xfrm>
            <a:custGeom>
              <a:avLst/>
              <a:gdLst/>
              <a:ahLst/>
              <a:cxnLst/>
              <a:rect l="l" t="t" r="r" b="b"/>
              <a:pathLst>
                <a:path w="239077" h="315277">
                  <a:moveTo>
                    <a:pt x="0" y="0"/>
                  </a:moveTo>
                  <a:lnTo>
                    <a:pt x="239077" y="3152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965960" y="3228022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726882" y="2911792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162300" y="2911792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325052" y="2596515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357688" y="2596515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923222" y="2280285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684145" y="1965007"/>
              <a:ext cx="243840" cy="24384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41731" y="328422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02653" y="29679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38071" y="29679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00823" y="26527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33458" y="26527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98993" y="23364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59916" y="20212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3671888"/>
            <a:ext cx="4544378" cy="702945"/>
            <a:chOff x="533400" y="3671888"/>
            <a:chExt cx="4544378" cy="702945"/>
          </a:xfrm>
        </p:grpSpPr>
        <p:sp>
          <p:nvSpPr>
            <p:cNvPr id="30" name="Rectangle 30"/>
            <p:cNvSpPr/>
            <p:nvPr/>
          </p:nvSpPr>
          <p:spPr>
            <a:xfrm>
              <a:off x="533400" y="3671888"/>
              <a:ext cx="4544378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3923350"/>
              <a:ext cx="200023" cy="200023"/>
              <a:chOff x="738188" y="3923350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39233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538" y="39900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1273" y="3817144"/>
              <a:ext cx="36136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 1 之后树高从 6 降到 4，路径上的结点深度大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约折半。</a:t>
              </a:r>
            </a:p>
          </p:txBody>
        </p:sp>
      </p:grpSp>
      <p:grpSp>
        <p:nvGrpSpPr>
          <p:cNvPr id="42" name="c1-card-3"/>
          <p:cNvGrpSpPr/>
          <p:nvPr/>
        </p:nvGrpSpPr>
        <p:grpSpPr>
          <a:xfrm>
            <a:off x="533400" y="4539615"/>
            <a:ext cx="4544378" cy="1160145"/>
            <a:chOff x="533400" y="4539615"/>
            <a:chExt cx="4544378" cy="1160145"/>
          </a:xfrm>
        </p:grpSpPr>
        <p:sp>
          <p:nvSpPr>
            <p:cNvPr id="36" name="Rectangle 36"/>
            <p:cNvSpPr/>
            <p:nvPr/>
          </p:nvSpPr>
          <p:spPr>
            <a:xfrm>
              <a:off x="533400" y="4539615"/>
              <a:ext cx="4544378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672965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52475" y="47205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147" y="47534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18450" y="476011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反复访问同一个结点才见效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5998" y="5077301"/>
              <a:ext cx="3955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连着访问 10 次结点 1，普通二叉查找树要走 60 层，伸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展树只要 6 层。</a:t>
              </a:r>
            </a:p>
          </p:txBody>
        </p:sp>
      </p:grpSp>
      <p:grpSp>
        <p:nvGrpSpPr>
          <p:cNvPr id="91" name="c2-table-1"/>
          <p:cNvGrpSpPr/>
          <p:nvPr/>
        </p:nvGrpSpPr>
        <p:grpSpPr>
          <a:xfrm>
            <a:off x="5382578" y="1928812"/>
            <a:ext cx="6276022" cy="3050858"/>
            <a:chOff x="5382578" y="1928812"/>
            <a:chExt cx="6276022" cy="3050858"/>
          </a:xfrm>
        </p:grpSpPr>
        <p:sp>
          <p:nvSpPr>
            <p:cNvPr id="43" name="Rectangle 43"/>
            <p:cNvSpPr/>
            <p:nvPr/>
          </p:nvSpPr>
          <p:spPr>
            <a:xfrm>
              <a:off x="5382578" y="1928812"/>
              <a:ext cx="627602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85104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依次访问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78980" y="20459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这次要走的层数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97862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累计层数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88143" y="2045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不伸展时要走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477256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773228" y="2319338"/>
              <a:ext cx="1612582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58381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9001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70186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82578" y="2687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382578" y="269176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477256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58381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49001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70186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82578" y="3068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477256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58381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90014" y="3189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70186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82578" y="3449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382578" y="345376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477256" y="3571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858381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90014" y="3571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870186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382578" y="38309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477256" y="3952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58381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490014" y="3952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870186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382578" y="42119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5382578" y="4216718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477256" y="4333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858381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490014" y="4333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870186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382578" y="459390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477256" y="4715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773228" y="4608195"/>
              <a:ext cx="161258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858381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490014" y="47158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870186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382578" y="1928812"/>
              <a:ext cx="6276022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6758940" y="1928812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8390572" y="1928812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9770745" y="1928812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2" name="Rectangle 9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1041273" y="6039326"/>
              <a:ext cx="7095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按顺序各访问一次是伸展树最不划算的情形（18 层对 21 层）。树形与层数都用程序复核过。</a:t>
              </a:r>
            </a:p>
          </p:txBody>
        </p:sp>
      </p:grpSp>
      <p:grpSp>
        <p:nvGrpSpPr>
          <p:cNvPr id="10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9" name="TextBox 99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08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832" y="407194"/>
              <a:ext cx="2521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伸展树（Splay 树）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伸展树的查找、插入与删除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594985" cy="2581561"/>
            <a:chOff x="533400" y="1533525"/>
            <a:chExt cx="5594985" cy="2581561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先执行普通二叉查找树的查找算法，然后把找到的结点伸展到根。查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找失败时，把查找路径上最后一个结点伸展到根。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4536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746534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先执行普通二叉查找树的插入算法，然后把新插入的结点伸展到根。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1041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397091"/>
              <a:ext cx="498729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找到待删结点 K，先把 K 伸展到根；删去 K 后树裂成左右两棵子树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TL 和 TR；在 TR 中找关键词最小的结点 m，把 m 伸展到 TR 的根；此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 m 没有左孩子，把 TL 接上去作为 m 的左子树。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294822"/>
            <a:ext cx="5626418" cy="1059180"/>
            <a:chOff x="533400" y="4294822"/>
            <a:chExt cx="5626418" cy="1059180"/>
          </a:xfrm>
        </p:grpSpPr>
        <p:sp>
          <p:nvSpPr>
            <p:cNvPr id="21" name="Rectangle 21"/>
            <p:cNvSpPr/>
            <p:nvPr/>
          </p:nvSpPr>
          <p:spPr>
            <a:xfrm>
              <a:off x="533400" y="4294822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724402"/>
              <a:ext cx="200023" cy="200023"/>
              <a:chOff x="738188" y="4724402"/>
              <a:chExt cx="200023" cy="20002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72440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1538" y="47910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4443412"/>
              <a:ext cx="45967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删除的最后一步之所以成立，是因为 m 是 TR 中的最小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值，伸展到根之后它的左子树必然为空，正好空出位置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 TL。</a:t>
              </a:r>
            </a:p>
          </p:txBody>
        </p:sp>
      </p:grpSp>
      <p:grpSp>
        <p:nvGrpSpPr>
          <p:cNvPr id="41" name="c2-flow-1"/>
          <p:cNvGrpSpPr/>
          <p:nvPr/>
        </p:nvGrpSpPr>
        <p:grpSpPr>
          <a:xfrm>
            <a:off x="6828472" y="1464945"/>
            <a:ext cx="4466273" cy="2069783"/>
            <a:chOff x="6828472" y="1464945"/>
            <a:chExt cx="4466273" cy="2069783"/>
          </a:xfrm>
        </p:grpSpPr>
        <p:sp>
          <p:nvSpPr>
            <p:cNvPr id="27" name="Freeform 27"/>
            <p:cNvSpPr/>
            <p:nvPr/>
          </p:nvSpPr>
          <p:spPr>
            <a:xfrm>
              <a:off x="6828472" y="1780222"/>
              <a:ext cx="4361498" cy="511492"/>
            </a:xfrm>
            <a:custGeom>
              <a:avLst/>
              <a:gdLst/>
              <a:ahLst/>
              <a:cxnLst/>
              <a:rect l="l" t="t" r="r" b="b"/>
              <a:pathLst>
                <a:path w="4361498" h="511492">
                  <a:moveTo>
                    <a:pt x="0" y="0"/>
                  </a:moveTo>
                  <a:lnTo>
                    <a:pt x="2233612" y="0"/>
                  </a:lnTo>
                  <a:lnTo>
                    <a:pt x="2233612" y="511492"/>
                  </a:lnTo>
                  <a:lnTo>
                    <a:pt x="4361498" y="5114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1189970" y="22393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828472" y="2291715"/>
              <a:ext cx="4361498" cy="512445"/>
            </a:xfrm>
            <a:custGeom>
              <a:avLst/>
              <a:gdLst/>
              <a:ahLst/>
              <a:cxnLst/>
              <a:rect l="l" t="t" r="r" b="b"/>
              <a:pathLst>
                <a:path w="4361498" h="512445">
                  <a:moveTo>
                    <a:pt x="0" y="0"/>
                  </a:moveTo>
                  <a:lnTo>
                    <a:pt x="2233612" y="0"/>
                  </a:lnTo>
                  <a:lnTo>
                    <a:pt x="2233612" y="512445"/>
                  </a:lnTo>
                  <a:lnTo>
                    <a:pt x="4361498" y="5124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1189970" y="27517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828472" y="2804160"/>
              <a:ext cx="4361498" cy="511493"/>
            </a:xfrm>
            <a:custGeom>
              <a:avLst/>
              <a:gdLst/>
              <a:ahLst/>
              <a:cxnLst/>
              <a:rect l="l" t="t" r="r" b="b"/>
              <a:pathLst>
                <a:path w="4361498" h="511493">
                  <a:moveTo>
                    <a:pt x="0" y="0"/>
                  </a:moveTo>
                  <a:lnTo>
                    <a:pt x="2233612" y="0"/>
                  </a:lnTo>
                  <a:lnTo>
                    <a:pt x="2233612" y="511493"/>
                  </a:lnTo>
                  <a:lnTo>
                    <a:pt x="4361498" y="5114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1189970" y="32632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28472" y="1464945"/>
              <a:ext cx="44662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28472" y="1977390"/>
              <a:ext cx="44662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28472" y="2488882"/>
              <a:ext cx="44662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828472" y="3096578"/>
              <a:ext cx="4466272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18296" y="1581626"/>
              <a:ext cx="68757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splay(K)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转到根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59800" y="2093119"/>
              <a:ext cx="100457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删去 K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裂成 TL 和 TR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2856" y="2605564"/>
              <a:ext cx="137845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splay(m)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 的最小值转到根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81442" y="3226594"/>
              <a:ext cx="17612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TL 挂成 m 的左子树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464618" y="3762375"/>
            <a:ext cx="5193982" cy="1591628"/>
            <a:chOff x="6464618" y="3762375"/>
            <a:chExt cx="5193982" cy="1591628"/>
          </a:xfrm>
        </p:grpSpPr>
        <p:sp>
          <p:nvSpPr>
            <p:cNvPr id="42" name="Rectangle 42"/>
            <p:cNvSpPr/>
            <p:nvPr/>
          </p:nvSpPr>
          <p:spPr>
            <a:xfrm>
              <a:off x="6464618" y="3762375"/>
              <a:ext cx="5193982" cy="1591628"/>
            </a:xfrm>
            <a:prstGeom prst="roundRect">
              <a:avLst>
                <a:gd name="adj" fmla="val 83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4142" y="3895725"/>
              <a:ext cx="47625" cy="13249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12268" y="397192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03428" y="40076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13295" y="400716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查找失败也要做伸展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04648" y="4368165"/>
              <a:ext cx="4149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否则一条长链上的连续失败查找每次都要走 O(n)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层，均摊 O(logn) 的结论就不成立了。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9" name="Rectangle 4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991225"/>
              <a:ext cx="8900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伸展树不存高度也不存颜色，代价是每次查找都会改写树的结构，多线程环境下读操作也需要加锁。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283458" cy="2997517"/>
            <a:chOff x="667512" y="1835468"/>
            <a:chExt cx="328345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平衡度与维护成本之间的取舍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平衡度越好，查得越快，改得越慢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三种结构对应三种不同的取舍点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操作系统与标准库里的真实选择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怎么选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自平衡二叉查找树：一场取舍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364978" cy="264033"/>
            <a:chOff x="526542" y="1545907"/>
            <a:chExt cx="736497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3649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这几种结构都在“平衡度（查找效率）”与“平衡维护成本（增删效率）”之间做 trade-off。</a:t>
              </a:r>
            </a:p>
          </p:txBody>
        </p:sp>
      </p:grpSp>
      <p:grpSp>
        <p:nvGrpSpPr>
          <p:cNvPr id="47" name="c1-table-1"/>
          <p:cNvGrpSpPr/>
          <p:nvPr/>
        </p:nvGrpSpPr>
        <p:grpSpPr>
          <a:xfrm>
            <a:off x="533400" y="1928812"/>
            <a:ext cx="5842635" cy="2280285"/>
            <a:chOff x="533400" y="1928812"/>
            <a:chExt cx="5842635" cy="228028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56769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70597" y="21393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90382" y="21393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平衡条件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92461" y="21393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最坏高度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27270" y="21393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23441" y="2045970"/>
              <a:ext cx="57173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70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插入 / 删</a:t>
              </a:r>
              <a:br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8078" y="261366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二叉查找树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96796" y="261366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49396" y="261366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0956" y="2613660"/>
              <a:ext cx="376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36311" y="2613660"/>
              <a:ext cx="376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736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7845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2995612"/>
              <a:ext cx="457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AVL 树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96796" y="2995612"/>
              <a:ext cx="675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高度差 ≤ 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464242" y="2887980"/>
              <a:ext cx="103251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549396" y="299561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≈1.44log₂n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0956" y="2995612"/>
              <a:ext cx="5810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36311" y="2995612"/>
              <a:ext cx="5538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2546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37661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红黑树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96796" y="337661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黑高相等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49396" y="3376612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2log₂n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00956" y="3376612"/>
              <a:ext cx="5538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36311" y="3376612"/>
              <a:ext cx="5810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6356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3640455"/>
              <a:ext cx="584263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078" y="38519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伸展树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711642" y="3649980"/>
              <a:ext cx="1733550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796796" y="38519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不限制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49396" y="38519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00956" y="3758565"/>
              <a:ext cx="51739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均摊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36311" y="3758565"/>
              <a:ext cx="51739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均摊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1928812"/>
              <a:ext cx="5842635" cy="2280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697355" y="1928812"/>
              <a:ext cx="9525" cy="2280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449955" y="1928812"/>
              <a:ext cx="9525" cy="2280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501515" y="1928812"/>
              <a:ext cx="9525" cy="2280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36870" y="1928812"/>
              <a:ext cx="9525" cy="2280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1-card-2"/>
          <p:cNvGrpSpPr/>
          <p:nvPr/>
        </p:nvGrpSpPr>
        <p:grpSpPr>
          <a:xfrm>
            <a:off x="533400" y="4373880"/>
            <a:ext cx="5842635" cy="1202055"/>
            <a:chOff x="533400" y="4373880"/>
            <a:chExt cx="5842635" cy="1202055"/>
          </a:xfrm>
        </p:grpSpPr>
        <p:sp>
          <p:nvSpPr>
            <p:cNvPr id="48" name="Rectangle 48"/>
            <p:cNvSpPr/>
            <p:nvPr/>
          </p:nvSpPr>
          <p:spPr>
            <a:xfrm>
              <a:off x="533400" y="4373880"/>
              <a:ext cx="5842635" cy="1202055"/>
            </a:xfrm>
            <a:prstGeom prst="roundRect">
              <a:avLst>
                <a:gd name="adj" fmla="val 1109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4375" y="45548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07047" y="45877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80350" y="459438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两条方向相反的曲线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23900" y="496347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79348" y="4910614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平衡度越好，树越矮，查找越快；增删操作越慢，维持平衡的成本越高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23900" y="524827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79348" y="5196364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平衡度越差，树越高，查找越慢；增删操作越快，维持平衡的成本越低</a:t>
              </a:r>
            </a:p>
          </p:txBody>
        </p:sp>
      </p:grpSp>
      <p:grpSp>
        <p:nvGrpSpPr>
          <p:cNvPr id="77" name="c2-graph-1"/>
          <p:cNvGrpSpPr/>
          <p:nvPr/>
        </p:nvGrpSpPr>
        <p:grpSpPr>
          <a:xfrm>
            <a:off x="7371398" y="2097405"/>
            <a:ext cx="3519486" cy="1241108"/>
            <a:chOff x="7371398" y="2097405"/>
            <a:chExt cx="3519486" cy="1241108"/>
          </a:xfrm>
        </p:grpSpPr>
        <p:sp>
          <p:nvSpPr>
            <p:cNvPr id="57" name="Freeform 57"/>
            <p:cNvSpPr/>
            <p:nvPr/>
          </p:nvSpPr>
          <p:spPr>
            <a:xfrm>
              <a:off x="7776210" y="2453640"/>
              <a:ext cx="9525" cy="433388"/>
            </a:xfrm>
            <a:custGeom>
              <a:avLst/>
              <a:gdLst/>
              <a:ahLst/>
              <a:cxnLst/>
              <a:rect l="l" t="t" r="r" b="b"/>
              <a:pathLst>
                <a:path w="9525" h="433388">
                  <a:moveTo>
                    <a:pt x="0" y="0"/>
                  </a:moveTo>
                  <a:lnTo>
                    <a:pt x="0" y="4333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7728585" y="28870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8181022" y="2275522"/>
              <a:ext cx="1562100" cy="9525"/>
            </a:xfrm>
            <a:custGeom>
              <a:avLst/>
              <a:gdLst/>
              <a:ahLst/>
              <a:cxnLst/>
              <a:rect l="l" t="t" r="r" b="b"/>
              <a:pathLst>
                <a:path w="1562100" h="9525">
                  <a:moveTo>
                    <a:pt x="0" y="0"/>
                  </a:moveTo>
                  <a:lnTo>
                    <a:pt x="15621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9743122" y="22278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10364152" y="2453640"/>
              <a:ext cx="9525" cy="433388"/>
            </a:xfrm>
            <a:custGeom>
              <a:avLst/>
              <a:gdLst/>
              <a:ahLst/>
              <a:cxnLst/>
              <a:rect l="l" t="t" r="r" b="b"/>
              <a:pathLst>
                <a:path w="9525" h="433388">
                  <a:moveTo>
                    <a:pt x="0" y="0"/>
                  </a:moveTo>
                  <a:lnTo>
                    <a:pt x="0" y="4333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10316528" y="28870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371398" y="2097405"/>
              <a:ext cx="809625" cy="356235"/>
            </a:xfrm>
            <a:prstGeom prst="roundRect">
              <a:avLst>
                <a:gd name="adj" fmla="val 26738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371398" y="2982278"/>
              <a:ext cx="809625" cy="356235"/>
            </a:xfrm>
            <a:prstGeom prst="roundRect">
              <a:avLst>
                <a:gd name="adj" fmla="val 2673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838372" y="2097405"/>
              <a:ext cx="1052512" cy="356235"/>
            </a:xfrm>
            <a:prstGeom prst="roundRect">
              <a:avLst>
                <a:gd name="adj" fmla="val 2673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9959340" y="2982278"/>
              <a:ext cx="809625" cy="356235"/>
            </a:xfrm>
            <a:prstGeom prst="roundRect">
              <a:avLst>
                <a:gd name="adj" fmla="val 2673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589710" y="2220278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平衡度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29131" y="310419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查找效率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995916" y="2220278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平衡维护成本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117074" y="310419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增删效率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634288" y="2639378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661059" y="266842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同向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867775" y="2197418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894547" y="222646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同向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0222230" y="2639378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0249002" y="266842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反向</a:t>
              </a:r>
            </a:p>
          </p:txBody>
        </p:sp>
      </p:grpSp>
      <p:grpSp>
        <p:nvGrpSpPr>
          <p:cNvPr id="84" name="c2-card-2"/>
          <p:cNvGrpSpPr/>
          <p:nvPr/>
        </p:nvGrpSpPr>
        <p:grpSpPr>
          <a:xfrm>
            <a:off x="6680835" y="3671888"/>
            <a:ext cx="4977765" cy="1904048"/>
            <a:chOff x="6680835" y="3671888"/>
            <a:chExt cx="4977765" cy="1904048"/>
          </a:xfrm>
        </p:grpSpPr>
        <p:sp>
          <p:nvSpPr>
            <p:cNvPr id="78" name="Rectangle 78"/>
            <p:cNvSpPr/>
            <p:nvPr/>
          </p:nvSpPr>
          <p:spPr>
            <a:xfrm>
              <a:off x="6680835" y="3671888"/>
              <a:ext cx="4977765" cy="1904048"/>
            </a:xfrm>
            <a:prstGeom prst="roundRect">
              <a:avLst>
                <a:gd name="adj" fmla="val 70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6690360" y="3805238"/>
              <a:ext cx="47625" cy="163734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899910" y="38528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992582" y="38857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466838" y="3893344"/>
              <a:ext cx="2143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110 页的一处笔误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893433" y="4209574"/>
              <a:ext cx="38900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原文写“维持平衡所需的成本越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底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”，应为“越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低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”。</a:t>
              </a:r>
            </a:p>
          </p:txBody>
        </p:sp>
      </p:grpSp>
      <p:grpSp>
        <p:nvGrpSpPr>
          <p:cNvPr id="9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5" name="Rectangle 8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1041273" y="6039326"/>
              <a:ext cx="6733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选哪一种，取决于你的负载里查找和修改各占多大比例，以及能不能接受偶发的慢操作。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 · 怎么选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这些树真的被用在哪里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2016442"/>
            <a:chOff x="533400" y="1524000"/>
            <a:chExt cx="5410200" cy="2016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16442"/>
            </a:xfrm>
            <a:prstGeom prst="roundRect">
              <a:avLst>
                <a:gd name="adj" fmla="val 66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497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操作系统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进程地址空间管理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16702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Windows：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AVL 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465070"/>
              <a:ext cx="13335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Linux：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红黑树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28632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2800350"/>
              <a:ext cx="16255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FreeBSD：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伸展树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4573" y="313229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同一个问题，三个系统选了三种不同的取舍点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730942"/>
            <a:ext cx="5410200" cy="1621155"/>
            <a:chOff x="533400" y="3730942"/>
            <a:chExt cx="5410200" cy="1621155"/>
          </a:xfrm>
        </p:grpSpPr>
        <p:sp>
          <p:nvSpPr>
            <p:cNvPr id="20" name="Rectangle 20"/>
            <p:cNvSpPr/>
            <p:nvPr/>
          </p:nvSpPr>
          <p:spPr>
            <a:xfrm>
              <a:off x="533400" y="3730942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864292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" y="394049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3359" y="397621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进程调度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65922" y="3975735"/>
              <a:ext cx="24643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CFS 完全公平调度器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3430" y="4336732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用红黑树按虚拟运行时间组织就绪进程，每次挑最左边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的结点（虚拟运行时间最小的进程）投入运行，插入、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删除、取最小都是 O(logn)。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248400" y="1524000"/>
            <a:ext cx="5410200" cy="1916430"/>
            <a:chOff x="6248400" y="1524000"/>
            <a:chExt cx="5410200" cy="1916430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1916430"/>
            </a:xfrm>
            <a:prstGeom prst="roundRect">
              <a:avLst>
                <a:gd name="adj" fmla="val 69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1657350"/>
              <a:ext cx="47625" cy="16497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96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82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标准库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39000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有序关联容器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50176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59880" y="2129790"/>
              <a:ext cx="39940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 STL：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map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set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multimap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multiset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501765" y="2527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9880" y="2465070"/>
              <a:ext cx="24906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Java：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TreeMap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TreeSet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9573" y="2797016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都基于红黑树实现，所以它们的迭代结果按关键词有序，而哈希表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实现的 unordered_map 没有这个性质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248400" y="3630930"/>
            <a:ext cx="5410200" cy="1722120"/>
            <a:chOff x="6248400" y="3630930"/>
            <a:chExt cx="5410200" cy="1722120"/>
          </a:xfrm>
        </p:grpSpPr>
        <p:sp>
          <p:nvSpPr>
            <p:cNvPr id="38" name="Rectangle 38"/>
            <p:cNvSpPr/>
            <p:nvPr/>
          </p:nvSpPr>
          <p:spPr>
            <a:xfrm>
              <a:off x="6248400" y="3630930"/>
              <a:ext cx="5410200" cy="1722120"/>
            </a:xfrm>
            <a:prstGeom prst="roundRect">
              <a:avLst>
                <a:gd name="adj" fmla="val 774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57950" y="384048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27457" y="387619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为什么是红黑树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69542" y="387572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通用容器更在意写入的成本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50330" y="4236720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标准库容器面对的是未知的使用方式，写入和读取的比例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不可预知。红黑树在两端都不差，而 AVL 树在写多的场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景里旋转代价偏高。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4" name="Rectangle 44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728335"/>
              <a:ext cx="9940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需要按关键词有序遍历、按范围查询、取最小或最大时选有序容器；只按单个键随机存取时，散列表（第25讲）通常更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快。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99769" cy="909257"/>
            <a:chOff x="520446" y="342900"/>
            <a:chExt cx="11997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8681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337" y="407194"/>
              <a:ext cx="986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833826" cy="264033"/>
            <a:chOff x="526542" y="1545907"/>
            <a:chExt cx="683382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833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先自己写出答案再看解答。另外自问一题：一棵高度为 4 的 AVL 树最少有几个结点？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1914525"/>
            <a:chOff x="533400" y="1928812"/>
            <a:chExt cx="3505200" cy="19145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怎样判断一棵二叉树是不是二叉查找树？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只检查每个结点与它的两个孩子行不行？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中根遍历一遍看是否严格递增。只查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父子不行，10(5, 15(6, 20)) 每对父子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都合法，但 6 落在了 10 的右子树里。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8120"/>
            <a:ext cx="3505200" cy="1914525"/>
            <a:chOff x="533400" y="4008120"/>
            <a:chExt cx="3505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4008120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529614"/>
              <a:ext cx="294675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AVL 树插入最多调整一次，删除却可能转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 次，差别在哪？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5057299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插入调整后子树高度与插入前相同，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上层不受影响；删除调整后子树可能矮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1，父结点因此可能失衡。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1914525"/>
            <a:chOff x="4343400" y="1928812"/>
            <a:chExt cx="3505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2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7898" y="2449354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删除有两个孩子的结点时，为什么替身一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定至多只有一个孩子？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7898" y="2977991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替身是右子树中一路向左走到底的结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点，它没有左孩子，所以删它时必然落进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无孩子或只有右孩子的情况。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08120"/>
            <a:ext cx="3505200" cy="1914525"/>
            <a:chOff x="4343400" y="4008120"/>
            <a:chExt cx="3505200" cy="1914525"/>
          </a:xfrm>
        </p:grpSpPr>
        <p:sp>
          <p:nvSpPr>
            <p:cNvPr id="27" name="Rectangle 27"/>
            <p:cNvSpPr/>
            <p:nvPr/>
          </p:nvSpPr>
          <p:spPr>
            <a:xfrm>
              <a:off x="4343400" y="4008120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7898" y="4529614"/>
              <a:ext cx="29979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红黑树的平衡性比 AVL 树弱，为什么标准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库还都用它？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7898" y="5057299"/>
              <a:ext cx="29634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弱平衡意味着插入删除引起失衡的概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率小、旋转次数少（最多 3 次），维护成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本低，查找只慢一点点。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1914525"/>
            <a:chOff x="8153400" y="1928812"/>
            <a:chExt cx="3505200" cy="1914525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7898" y="2449354"/>
              <a:ext cx="2954477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插入后失衡，怎么认出是 LL、RR、LR 还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RL？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7898" y="2977991"/>
              <a:ext cx="30203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沿插入点向上找第一个失衡结点 A，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再往下取两层得 B、C。成直线是 LL 或 RR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（单旋），成折线是 LR 或 RL（双旋）。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08120"/>
            <a:ext cx="3505200" cy="1914525"/>
            <a:chOff x="8153400" y="4008120"/>
            <a:chExt cx="3505200" cy="1914525"/>
          </a:xfrm>
        </p:grpSpPr>
        <p:sp>
          <p:nvSpPr>
            <p:cNvPr id="39" name="Rectangle 39"/>
            <p:cNvSpPr/>
            <p:nvPr/>
          </p:nvSpPr>
          <p:spPr>
            <a:xfrm>
              <a:off x="8153400" y="4008120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3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7898" y="4529614"/>
              <a:ext cx="291221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伸展树的单次操作可能是 O(n)，凭什么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说它是 O(logn)？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7898" y="5057299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那是均摊复杂度。一次很深的访问会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把整条路径上结点的深度折半，后续操作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因此变便宜，m 次总代价 O(mlogn)。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8681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337" y="407194"/>
              <a:ext cx="986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第23讲 查找树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965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5097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二叉查找树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13954" y="2023110"/>
              <a:ext cx="2523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中根序列严格递增；三种操作都是 O(h)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三种删除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13954" y="240411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无孩子直接删；一个孩子顶班；两个孩子用中根后继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457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AVL 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13954" y="2785110"/>
              <a:ext cx="3749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平衡系数 −1/0/1；高度 ≤ 1.44log₂n；直线单旋、折线双旋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红黑树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13954" y="3167062"/>
              <a:ext cx="268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五条性质；h ≤ 2log₂n；调整最多 3 次旋转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伸展树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13954" y="3548062"/>
              <a:ext cx="35651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访问后把结点旋到根；均摊 O(logn)；靠时间局部性取胜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1451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3976688"/>
            <a:ext cx="5842635" cy="1471612"/>
            <a:chOff x="533400" y="3976688"/>
            <a:chExt cx="5842635" cy="1471612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471612"/>
            </a:xfrm>
            <a:prstGeom prst="roundRect">
              <a:avLst>
                <a:gd name="adj" fmla="val 9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2049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440" y="41905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5510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498181"/>
              <a:ext cx="3407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15 页练习题面的插入序列与解答页不一致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483584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4782979"/>
              <a:ext cx="49311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93 页 AVLnNode 应为 AVLnode；第 110 页“越底”应为“越低”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62000" y="512064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7448" y="5067776"/>
              <a:ext cx="33989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补全第 44、84、85、86、108 页留空的答案</a:t>
              </a:r>
            </a:p>
          </p:txBody>
        </p:sp>
      </p:grpSp>
      <p:grpSp>
        <p:nvGrpSpPr>
          <p:cNvPr id="55" name="c2-bullets-1"/>
          <p:cNvGrpSpPr/>
          <p:nvPr/>
        </p:nvGrpSpPr>
        <p:grpSpPr>
          <a:xfrm>
            <a:off x="6681788" y="1533525"/>
            <a:ext cx="4917613" cy="1432845"/>
            <a:chOff x="6681788" y="1533525"/>
            <a:chExt cx="4917613" cy="1432845"/>
          </a:xfrm>
        </p:grpSpPr>
        <p:sp>
          <p:nvSpPr>
            <p:cNvPr id="40" name="Ellipse 40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51536" y="1545431"/>
              <a:ext cx="45056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一切代价都是 O(h)，后半讲都在想办法把 h 压到 O(logn)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81788" y="182689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33694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51536" y="183784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旋转从不改变中根序列，这是所有平衡操作的正确性基础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81788" y="212026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33694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51536" y="213121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插入的调整是局部的，删除的调整可能一路传到根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681788" y="241363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33694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51536" y="242458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平衡度和维护成本是一对矛盾，三种结构给出三个取舍点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81788" y="270605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33694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51536" y="2717006"/>
              <a:ext cx="46478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手推题的节奏：插一个、往上找 A、认类型、转，再插下一个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680835" y="3081338"/>
            <a:ext cx="4977765" cy="2366962"/>
            <a:chOff x="6680835" y="3081338"/>
            <a:chExt cx="4977765" cy="2366962"/>
          </a:xfrm>
        </p:grpSpPr>
        <p:sp>
          <p:nvSpPr>
            <p:cNvPr id="56" name="Rectangle 56"/>
            <p:cNvSpPr/>
            <p:nvPr/>
          </p:nvSpPr>
          <p:spPr>
            <a:xfrm>
              <a:off x="6680835" y="3081338"/>
              <a:ext cx="4977765" cy="2366962"/>
            </a:xfrm>
            <a:prstGeom prst="roundRect">
              <a:avLst>
                <a:gd name="adj" fmla="val 563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61810" y="326231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47332" y="32951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71335" y="365474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26783" y="3602831"/>
              <a:ext cx="4190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随手写 10 个数建一棵二叉查找树，再删三个结点，把三种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删除情况各碰一次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871335" y="418242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26783" y="4130516"/>
              <a:ext cx="41419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LL、RR、LR、RL 四张图默画一遍，重点记“两步都以 C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为轴”和 LR 里第一次调用的是 RR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64" name="Rectangle 64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5911215"/>
              <a:ext cx="200026" cy="200025"/>
              <a:chOff x="738188" y="5911215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59112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7926" y="59556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642" y="60667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5805011"/>
              <a:ext cx="98803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下一讲讲多叉查找树。二叉查找树把每个结点的分支数限制成 2，当数据大到必须放在外存时，减少树高比减少比较次数更重要，这正是 B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树和 B+ 树的出发点。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第23讲 二叉查找树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23">
  <a:themeElements>
    <a:clrScheme name="ds_l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23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2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2026-09-19T15:38:19Z</dcterms:created>
  <dcterms:modified xsi:type="dcterms:W3CDTF">2026-09-19T15:38:19Z</dcterms:modified>
  <cp:category/>
  <cp:contentStatus/>
</cp:coreProperties>
</file>