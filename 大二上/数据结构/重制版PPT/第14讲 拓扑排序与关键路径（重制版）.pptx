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4c3a82923d3380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140570e60965fac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1902feb809b4459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第14讲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拓扑排序与关键路径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给有先后关系的任务排顺序，并算出工程的工期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16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AOV 网与拓扑序列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入度为 0 就输出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98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AOE 网的四个时间量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关键活动与关键路径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14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564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6586" y="407194"/>
              <a:ext cx="1590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7687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顶点表示活动，有向边表示先后关系，为什么不能有环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反复取入度为 0 的顶点，顺便判断图里有没有环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071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入度数组加栈的 O(n+e) 实现，以及 DFS 的逆拓扑序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7687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AOE 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边表示活动、权表示工期，顶点表示事件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四个时间量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338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ve、vl、e、l 的递推公式，以及它们为什么要按拓扑序算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关键活动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3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e(i) = l(i) 的活动，关键路径与时间余量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AOV 网与 AOE 网的区别，判断一个给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定序列是不是拓扑序列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手工执行拓扑排序，写出每一步的入度数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组、栈内容和输出序列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判断一张有向图的拓扑序列是否唯一，并说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清依据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AOE 网，算出全部 ve、vl、e、l 并找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出关键活动与关键路径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解释为什么加速一个关键活动未必能缩短工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923347"/>
            <a:chOff x="667512" y="1835468"/>
            <a:chExt cx="6468237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拓扑排序：把先后关系排成一条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一个大任务拆成若干子任务，有些子任务必须排在另一些之前完成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887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网与有向无环图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拓扑序列与拓扑排序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算法的三个步骤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用它判断有向图里有没有环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课程先修表画成有向图，先后关系就成了有向边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660761" cy="512636"/>
            <a:chOff x="526542" y="1545907"/>
            <a:chExt cx="1066076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6607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一个任务通常能拆成若干子任务，有些子任务之间有先后要求。把子任务画成顶点、把“甲必须在乙之前”画成一条有向边，先后关系就成了一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张有向图。</a:t>
              </a:r>
            </a:p>
          </p:txBody>
        </p:sp>
      </p:grpSp>
      <p:grpSp>
        <p:nvGrpSpPr>
          <p:cNvPr id="55" name="c1-table-1"/>
          <p:cNvGrpSpPr/>
          <p:nvPr/>
        </p:nvGrpSpPr>
        <p:grpSpPr>
          <a:xfrm>
            <a:off x="533400" y="2177415"/>
            <a:ext cx="4869180" cy="3813810"/>
            <a:chOff x="533400" y="2177415"/>
            <a:chExt cx="4869180" cy="3813810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486918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865" y="229457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41804" y="22945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课程名称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38244" y="22945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先修课程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6755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4378" y="26755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高等数学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4658" y="267557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356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40368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305752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04378" y="30575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44658" y="30575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166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43852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4378" y="3438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离散数学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44658" y="3438525"/>
              <a:ext cx="384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C₁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976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02368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820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04378" y="3820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4658" y="3820478"/>
              <a:ext cx="384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 C₄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0795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201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04378" y="4201478"/>
              <a:ext cx="584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语言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4658" y="420147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605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465320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4582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04378" y="4582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编译原理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44658" y="4582478"/>
              <a:ext cx="384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C₃ C₄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84251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496443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04378" y="49644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44658" y="4964430"/>
              <a:ext cx="384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C₃ C₈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22351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22827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534543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04378" y="53454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大学物理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44658" y="534543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60451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78" y="57273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04378" y="572738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计算机原理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44658" y="572738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2177415"/>
              <a:ext cx="486918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404938" y="2177415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645218" y="2177415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graph-1"/>
          <p:cNvGrpSpPr/>
          <p:nvPr/>
        </p:nvGrpSpPr>
        <p:grpSpPr>
          <a:xfrm>
            <a:off x="6002655" y="2336482"/>
            <a:ext cx="5360670" cy="2207896"/>
            <a:chOff x="6002655" y="2336482"/>
            <a:chExt cx="5360670" cy="2207896"/>
          </a:xfrm>
        </p:grpSpPr>
        <p:sp>
          <p:nvSpPr>
            <p:cNvPr id="56" name="Freeform 56"/>
            <p:cNvSpPr/>
            <p:nvPr/>
          </p:nvSpPr>
          <p:spPr>
            <a:xfrm>
              <a:off x="6374130" y="2517458"/>
              <a:ext cx="1189672" cy="9525"/>
            </a:xfrm>
            <a:custGeom>
              <a:avLst/>
              <a:gdLst/>
              <a:ahLst/>
              <a:cxnLst/>
              <a:rect l="l" t="t" r="r" b="b"/>
              <a:pathLst>
                <a:path w="1189672" h="9525">
                  <a:moveTo>
                    <a:pt x="0" y="0"/>
                  </a:moveTo>
                  <a:lnTo>
                    <a:pt x="1189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563802" y="2469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040052" y="2517458"/>
              <a:ext cx="1190625" cy="9525"/>
            </a:xfrm>
            <a:custGeom>
              <a:avLst/>
              <a:gdLst/>
              <a:ahLst/>
              <a:cxnLst/>
              <a:rect l="l" t="t" r="r" b="b"/>
              <a:pathLst>
                <a:path w="1190625" h="9525">
                  <a:moveTo>
                    <a:pt x="0" y="0"/>
                  </a:moveTo>
                  <a:lnTo>
                    <a:pt x="1190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230678" y="2469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706928" y="2517458"/>
              <a:ext cx="1189672" cy="9525"/>
            </a:xfrm>
            <a:custGeom>
              <a:avLst/>
              <a:gdLst/>
              <a:ahLst/>
              <a:cxnLst/>
              <a:rect l="l" t="t" r="r" b="b"/>
              <a:pathLst>
                <a:path w="1189672" h="9525">
                  <a:moveTo>
                    <a:pt x="0" y="0"/>
                  </a:moveTo>
                  <a:lnTo>
                    <a:pt x="11896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896600" y="2469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319838" y="2649855"/>
              <a:ext cx="610553" cy="591503"/>
            </a:xfrm>
            <a:custGeom>
              <a:avLst/>
              <a:gdLst/>
              <a:ahLst/>
              <a:cxnLst/>
              <a:rect l="l" t="t" r="r" b="b"/>
              <a:pathLst>
                <a:path w="610553" h="591503">
                  <a:moveTo>
                    <a:pt x="0" y="0"/>
                  </a:moveTo>
                  <a:lnTo>
                    <a:pt x="610553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897052" y="3207068"/>
              <a:ext cx="101917" cy="100965"/>
            </a:xfrm>
            <a:custGeom>
              <a:avLst/>
              <a:gdLst/>
              <a:ahLst/>
              <a:cxnLst/>
              <a:rect l="l" t="t" r="r" b="b"/>
              <a:pathLst>
                <a:path w="101917" h="100965">
                  <a:moveTo>
                    <a:pt x="101917" y="100965"/>
                  </a:moveTo>
                  <a:lnTo>
                    <a:pt x="0" y="6858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6319838" y="3639502"/>
              <a:ext cx="610553" cy="591502"/>
            </a:xfrm>
            <a:custGeom>
              <a:avLst/>
              <a:gdLst/>
              <a:ahLst/>
              <a:cxnLst/>
              <a:rect l="l" t="t" r="r" b="b"/>
              <a:pathLst>
                <a:path w="610553" h="591502">
                  <a:moveTo>
                    <a:pt x="0" y="591502"/>
                  </a:moveTo>
                  <a:lnTo>
                    <a:pt x="6105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897052" y="3572828"/>
              <a:ext cx="101917" cy="100965"/>
            </a:xfrm>
            <a:custGeom>
              <a:avLst/>
              <a:gdLst/>
              <a:ahLst/>
              <a:cxnLst/>
              <a:rect l="l" t="t" r="r" b="b"/>
              <a:pathLst>
                <a:path w="101917" h="100965">
                  <a:moveTo>
                    <a:pt x="101917" y="0"/>
                  </a:moveTo>
                  <a:lnTo>
                    <a:pt x="66675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6374130" y="4363402"/>
              <a:ext cx="1427797" cy="9525"/>
            </a:xfrm>
            <a:custGeom>
              <a:avLst/>
              <a:gdLst/>
              <a:ahLst/>
              <a:cxnLst/>
              <a:rect l="l" t="t" r="r" b="b"/>
              <a:pathLst>
                <a:path w="1427797" h="9525">
                  <a:moveTo>
                    <a:pt x="0" y="0"/>
                  </a:moveTo>
                  <a:lnTo>
                    <a:pt x="14277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801928" y="43157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6367462" y="3511868"/>
              <a:ext cx="3109912" cy="803910"/>
            </a:xfrm>
            <a:custGeom>
              <a:avLst/>
              <a:gdLst/>
              <a:ahLst/>
              <a:cxnLst/>
              <a:rect l="l" t="t" r="r" b="b"/>
              <a:pathLst>
                <a:path w="3109912" h="803910">
                  <a:moveTo>
                    <a:pt x="0" y="803910"/>
                  </a:moveTo>
                  <a:lnTo>
                    <a:pt x="31099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465945" y="346519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2860"/>
                  </a:moveTo>
                  <a:lnTo>
                    <a:pt x="23812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8254365" y="3578542"/>
              <a:ext cx="1249680" cy="692467"/>
            </a:xfrm>
            <a:custGeom>
              <a:avLst/>
              <a:gdLst/>
              <a:ahLst/>
              <a:cxnLst/>
              <a:rect l="l" t="t" r="r" b="b"/>
              <a:pathLst>
                <a:path w="1249680" h="692467">
                  <a:moveTo>
                    <a:pt x="0" y="692467"/>
                  </a:moveTo>
                  <a:lnTo>
                    <a:pt x="1249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481185" y="353282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0"/>
                  </a:moveTo>
                  <a:lnTo>
                    <a:pt x="45720" y="8763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278178" y="4363402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706928" y="43157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9802178" y="3624262"/>
              <a:ext cx="119062" cy="461962"/>
            </a:xfrm>
            <a:custGeom>
              <a:avLst/>
              <a:gdLst/>
              <a:ahLst/>
              <a:cxnLst/>
              <a:rect l="l" t="t" r="r" b="b"/>
              <a:pathLst>
                <a:path w="119062" h="461962">
                  <a:moveTo>
                    <a:pt x="0" y="0"/>
                  </a:moveTo>
                  <a:lnTo>
                    <a:pt x="119062" y="461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9874568" y="4074795"/>
              <a:ext cx="92393" cy="103822"/>
            </a:xfrm>
            <a:custGeom>
              <a:avLst/>
              <a:gdLst/>
              <a:ahLst/>
              <a:cxnLst/>
              <a:rect l="l" t="t" r="r" b="b"/>
              <a:pathLst>
                <a:path w="92393" h="103822">
                  <a:moveTo>
                    <a:pt x="70485" y="103822"/>
                  </a:moveTo>
                  <a:lnTo>
                    <a:pt x="0" y="23812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9914572" y="2672715"/>
              <a:ext cx="1027747" cy="663892"/>
            </a:xfrm>
            <a:custGeom>
              <a:avLst/>
              <a:gdLst/>
              <a:ahLst/>
              <a:cxnLst/>
              <a:rect l="l" t="t" r="r" b="b"/>
              <a:pathLst>
                <a:path w="1027747" h="663892">
                  <a:moveTo>
                    <a:pt x="0" y="663892"/>
                  </a:moveTo>
                  <a:lnTo>
                    <a:pt x="10277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0916602" y="2620328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0"/>
                  </a:moveTo>
                  <a:lnTo>
                    <a:pt x="51435" y="92392"/>
                  </a:lnTo>
                  <a:lnTo>
                    <a:pt x="0" y="123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6002655" y="23364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7668578" y="23364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335452" y="23364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11001375" y="23364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955155" y="325945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9573578" y="325945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6002655" y="418242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7906702" y="418242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9811702" y="418242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98176" y="245697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64099" y="245697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C₇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430974" y="245697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C₈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096896" y="245697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050676" y="337994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669099" y="337994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C₃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98176" y="43029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002224" y="43029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07224" y="43029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C₅</a:t>
              </a:r>
            </a:p>
          </p:txBody>
        </p:sp>
      </p:grpSp>
      <p:grpSp>
        <p:nvGrpSpPr>
          <p:cNvPr id="103" name="c2-callout-2"/>
          <p:cNvGrpSpPr/>
          <p:nvPr/>
        </p:nvGrpSpPr>
        <p:grpSpPr>
          <a:xfrm>
            <a:off x="5707380" y="4771072"/>
            <a:ext cx="5951220" cy="702945"/>
            <a:chOff x="5707380" y="4771072"/>
            <a:chExt cx="5951220" cy="702945"/>
          </a:xfrm>
        </p:grpSpPr>
        <p:sp>
          <p:nvSpPr>
            <p:cNvPr id="97" name="Rectangle 97"/>
            <p:cNvSpPr/>
            <p:nvPr/>
          </p:nvSpPr>
          <p:spPr>
            <a:xfrm>
              <a:off x="5707380" y="4771072"/>
              <a:ext cx="595122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5912168" y="5022533"/>
              <a:ext cx="200026" cy="200026"/>
              <a:chOff x="5912168" y="5022533"/>
              <a:chExt cx="200026" cy="200026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5912168" y="50225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012180" y="5089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001068" y="51225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6215253" y="4915376"/>
              <a:ext cx="4906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边一律画成“先修课 → 后续课”。这张图 9 个顶点 11 条边，后面几页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反复用它。</a:t>
              </a:r>
            </a:p>
          </p:txBody>
        </p:sp>
      </p:grpSp>
      <p:grpSp>
        <p:nvGrpSpPr>
          <p:cNvPr id="109" name="c2-callout-3"/>
          <p:cNvGrpSpPr/>
          <p:nvPr/>
        </p:nvGrpSpPr>
        <p:grpSpPr>
          <a:xfrm>
            <a:off x="5707380" y="5638800"/>
            <a:ext cx="5951220" cy="702945"/>
            <a:chOff x="5707380" y="5638800"/>
            <a:chExt cx="5951220" cy="702945"/>
          </a:xfrm>
        </p:grpSpPr>
        <p:sp>
          <p:nvSpPr>
            <p:cNvPr id="104" name="Rectangle 104"/>
            <p:cNvSpPr/>
            <p:nvPr/>
          </p:nvSpPr>
          <p:spPr>
            <a:xfrm>
              <a:off x="5707380" y="5638800"/>
              <a:ext cx="595122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5912168" y="5889310"/>
              <a:ext cx="200023" cy="200023"/>
              <a:chOff x="5912168" y="5889310"/>
              <a:chExt cx="200023" cy="200023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5912168" y="58893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6045518" y="59559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6215253" y="5783104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一门课能开始学的条件是它的全部先修课都已修完，对应到图上就是这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个顶点的入度已经减到 0。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7226" cy="909257"/>
            <a:chOff x="520446" y="342900"/>
            <a:chExt cx="63372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72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网：顶点是活动，有向边是先后关系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1884998"/>
            <a:chOff x="533400" y="1524000"/>
            <a:chExt cx="5951220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6616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2456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有向图中顶点表示活动（或任务），有向边表示活动之间的先后关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系，这样的有向图叫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AOV 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（Activity On Vertex Network）。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51181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若活动 Vᵢ 必须在活动 Vⱼ 之前进行，则图中存在有向边 ⟨Vᵢ, Vⱼ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⟩。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593782"/>
            <a:ext cx="5951220" cy="1884998"/>
            <a:chOff x="533400" y="3593782"/>
            <a:chExt cx="5951220" cy="1884998"/>
          </a:xfrm>
        </p:grpSpPr>
        <p:sp>
          <p:nvSpPr>
            <p:cNvPr id="15" name="Rectangle 15"/>
            <p:cNvSpPr/>
            <p:nvPr/>
          </p:nvSpPr>
          <p:spPr>
            <a:xfrm>
              <a:off x="533400" y="3593782"/>
              <a:ext cx="595122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2713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79761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644" y="38333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硬性要求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0588" y="3838099"/>
              <a:ext cx="2190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网里不能出现有向环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189571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图中若有一条有向回路 A → B → C → A，就意味着 A 要以自己为先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决条件，这样的任务安排根本无法开工。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781074"/>
              <a:ext cx="48115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 AOV 网必须是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有向无环图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（Directed Acyclic Graph，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DAG）。</a:t>
              </a:r>
            </a:p>
          </p:txBody>
        </p:sp>
      </p:grpSp>
      <p:grpSp>
        <p:nvGrpSpPr>
          <p:cNvPr id="36" name="c2-graph-1"/>
          <p:cNvGrpSpPr/>
          <p:nvPr/>
        </p:nvGrpSpPr>
        <p:grpSpPr>
          <a:xfrm>
            <a:off x="7581900" y="1603058"/>
            <a:ext cx="3284220" cy="1598676"/>
            <a:chOff x="7581900" y="1603058"/>
            <a:chExt cx="3284220" cy="1598676"/>
          </a:xfrm>
        </p:grpSpPr>
        <p:sp>
          <p:nvSpPr>
            <p:cNvPr id="23" name="Freeform 23"/>
            <p:cNvSpPr/>
            <p:nvPr/>
          </p:nvSpPr>
          <p:spPr>
            <a:xfrm>
              <a:off x="7991475" y="1899285"/>
              <a:ext cx="1081088" cy="818198"/>
            </a:xfrm>
            <a:custGeom>
              <a:avLst/>
              <a:gdLst/>
              <a:ahLst/>
              <a:cxnLst/>
              <a:rect l="l" t="t" r="r" b="b"/>
              <a:pathLst>
                <a:path w="1081088" h="818198">
                  <a:moveTo>
                    <a:pt x="1081088" y="0"/>
                  </a:moveTo>
                  <a:lnTo>
                    <a:pt x="0" y="818198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915275" y="267938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6672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953375" y="2889885"/>
              <a:ext cx="2446020" cy="9525"/>
            </a:xfrm>
            <a:custGeom>
              <a:avLst/>
              <a:gdLst/>
              <a:ahLst/>
              <a:cxnLst/>
              <a:rect l="l" t="t" r="r" b="b"/>
              <a:pathLst>
                <a:path w="2446020" h="9525">
                  <a:moveTo>
                    <a:pt x="0" y="0"/>
                  </a:moveTo>
                  <a:lnTo>
                    <a:pt x="244602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399395" y="2842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451658" y="1956435"/>
              <a:ext cx="1081088" cy="818198"/>
            </a:xfrm>
            <a:custGeom>
              <a:avLst/>
              <a:gdLst/>
              <a:ahLst/>
              <a:cxnLst/>
              <a:rect l="l" t="t" r="r" b="b"/>
              <a:pathLst>
                <a:path w="1081088" h="818198">
                  <a:moveTo>
                    <a:pt x="1081088" y="8181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375458" y="189928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0"/>
                  </a:moveTo>
                  <a:lnTo>
                    <a:pt x="104775" y="1905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043035" y="160305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581900" y="270891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504170" y="270891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72295" y="171402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1160" y="28198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33430" y="28198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06334" y="296703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三个活动互相等待，谁也开不了工</a:t>
              </a:r>
            </a:p>
          </p:txBody>
        </p:sp>
      </p:grpSp>
      <p:grpSp>
        <p:nvGrpSpPr>
          <p:cNvPr id="39" name="c2-image-2"/>
          <p:cNvGrpSpPr/>
          <p:nvPr/>
        </p:nvGrpSpPr>
        <p:grpSpPr>
          <a:xfrm>
            <a:off x="6987687" y="3335655"/>
            <a:ext cx="4472645" cy="2125504"/>
            <a:chOff x="6987687" y="3335655"/>
            <a:chExt cx="4472645" cy="2125504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6" r="0" b="7"/>
            <a:stretch>
              <a:fillRect/>
            </a:stretch>
          </p:blipFill>
          <p:spPr>
            <a:xfrm>
              <a:off x="8017192" y="3335655"/>
              <a:ext cx="2414588" cy="1810702"/>
            </a:xfrm>
            <a:prstGeom prst="roundRect">
              <a:avLst>
                <a:gd name="adj" fmla="val 7364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987687" y="5241131"/>
              <a:ext cx="4472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穿衣服也是一张 AOV 网：袜子要排在鞋之前，衬衫要排在外套之前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6004084"/>
              <a:ext cx="5861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判断一张有向图能不能当 AOV 网，只需要问一句：它有没有有向环。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拓扑序列：把顶点排成一行，每条边都从左指向右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115502"/>
            <a:chOff x="533400" y="1524000"/>
            <a:chExt cx="5626418" cy="21155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15502"/>
            </a:xfrm>
            <a:prstGeom prst="roundRect">
              <a:avLst>
                <a:gd name="adj" fmla="val 6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880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拓扑序列与拓扑排序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拓扑序列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 AOV 网的所有顶点排成一个线性序列，使得只要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网中有有向边 ⟨Vᵢ, Vⱼ⟩，Vᵢ 就排在 Vⱼ 前面。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37590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：构造 AOV 网的拓扑序列的过程。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9239" y="3027045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按拓扑序列依次做各子任务，每做一项时它的先决条件都已经完成，整个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任务就能顺利做完。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825240"/>
            <a:ext cx="5626418" cy="1613535"/>
            <a:chOff x="533400" y="3825240"/>
            <a:chExt cx="5626418" cy="1613535"/>
          </a:xfrm>
        </p:grpSpPr>
        <p:sp>
          <p:nvSpPr>
            <p:cNvPr id="16" name="Rectangle 16"/>
            <p:cNvSpPr/>
            <p:nvPr/>
          </p:nvSpPr>
          <p:spPr>
            <a:xfrm>
              <a:off x="533400" y="3825240"/>
              <a:ext cx="5626418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5859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0290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4064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406860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能不能排完，正好对应有没有环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42007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若能把全部顶点排进一个拓扑序列，则该有向图一定不含环。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740116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若排不完，说明图中存在有向环，这张 AOV 网代表的任务安排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不可行。</a:t>
              </a:r>
            </a:p>
          </p:txBody>
        </p:sp>
      </p:grpSp>
      <p:grpSp>
        <p:nvGrpSpPr>
          <p:cNvPr id="68" name="c2-graph-1"/>
          <p:cNvGrpSpPr/>
          <p:nvPr/>
        </p:nvGrpSpPr>
        <p:grpSpPr>
          <a:xfrm>
            <a:off x="6544628" y="1658302"/>
            <a:ext cx="5186362" cy="2356485"/>
            <a:chOff x="6544628" y="1658302"/>
            <a:chExt cx="5186362" cy="2356485"/>
          </a:xfrm>
        </p:grpSpPr>
        <p:sp>
          <p:nvSpPr>
            <p:cNvPr id="24" name="Freeform 24"/>
            <p:cNvSpPr/>
            <p:nvPr/>
          </p:nvSpPr>
          <p:spPr>
            <a:xfrm>
              <a:off x="7217092" y="2140268"/>
              <a:ext cx="548640" cy="409575"/>
            </a:xfrm>
            <a:custGeom>
              <a:avLst/>
              <a:gdLst/>
              <a:ahLst/>
              <a:cxnLst/>
              <a:rect l="l" t="t" r="r" b="b"/>
              <a:pathLst>
                <a:path w="548640" h="409575">
                  <a:moveTo>
                    <a:pt x="0" y="409575"/>
                  </a:moveTo>
                  <a:lnTo>
                    <a:pt x="5486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37158" y="208311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217092" y="2974658"/>
              <a:ext cx="548640" cy="409575"/>
            </a:xfrm>
            <a:custGeom>
              <a:avLst/>
              <a:gdLst/>
              <a:ahLst/>
              <a:cxnLst/>
              <a:rect l="l" t="t" r="r" b="b"/>
              <a:pathLst>
                <a:path w="548640" h="409575">
                  <a:moveTo>
                    <a:pt x="0" y="0"/>
                  </a:moveTo>
                  <a:lnTo>
                    <a:pt x="548640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737158" y="334613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36292" y="2083118"/>
              <a:ext cx="601027" cy="412433"/>
            </a:xfrm>
            <a:custGeom>
              <a:avLst/>
              <a:gdLst/>
              <a:ahLst/>
              <a:cxnLst/>
              <a:rect l="l" t="t" r="r" b="b"/>
              <a:pathLst>
                <a:path w="601027" h="412433">
                  <a:moveTo>
                    <a:pt x="0" y="0"/>
                  </a:moveTo>
                  <a:lnTo>
                    <a:pt x="601027" y="4124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010650" y="2456498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93345"/>
                  </a:moveTo>
                  <a:lnTo>
                    <a:pt x="0" y="78105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606790" y="1870710"/>
              <a:ext cx="1489710" cy="9525"/>
            </a:xfrm>
            <a:custGeom>
              <a:avLst/>
              <a:gdLst/>
              <a:ahLst/>
              <a:cxnLst/>
              <a:rect l="l" t="t" r="r" b="b"/>
              <a:pathLst>
                <a:path w="1489710" h="9525">
                  <a:moveTo>
                    <a:pt x="0" y="0"/>
                  </a:moveTo>
                  <a:lnTo>
                    <a:pt x="1489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096500" y="18230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436292" y="3027998"/>
              <a:ext cx="601027" cy="413385"/>
            </a:xfrm>
            <a:custGeom>
              <a:avLst/>
              <a:gdLst/>
              <a:ahLst/>
              <a:cxnLst/>
              <a:rect l="l" t="t" r="r" b="b"/>
              <a:pathLst>
                <a:path w="601027" h="413385">
                  <a:moveTo>
                    <a:pt x="0" y="413385"/>
                  </a:moveTo>
                  <a:lnTo>
                    <a:pt x="6010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10650" y="2974658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3340" y="93345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606790" y="3708082"/>
              <a:ext cx="179070" cy="20955"/>
            </a:xfrm>
            <a:custGeom>
              <a:avLst/>
              <a:gdLst/>
              <a:ahLst/>
              <a:cxnLst/>
              <a:rect l="l" t="t" r="r" b="b"/>
              <a:pathLst>
                <a:path w="179070" h="20955">
                  <a:moveTo>
                    <a:pt x="0" y="0"/>
                  </a:moveTo>
                  <a:lnTo>
                    <a:pt x="179070" y="20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780145" y="3681412"/>
              <a:ext cx="100012" cy="94297"/>
            </a:xfrm>
            <a:custGeom>
              <a:avLst/>
              <a:gdLst/>
              <a:ahLst/>
              <a:cxnLst/>
              <a:rect l="l" t="t" r="r" b="b"/>
              <a:pathLst>
                <a:path w="100012" h="94297">
                  <a:moveTo>
                    <a:pt x="100012" y="58103"/>
                  </a:moveTo>
                  <a:lnTo>
                    <a:pt x="0" y="94297"/>
                  </a:lnTo>
                  <a:lnTo>
                    <a:pt x="104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722168" y="2138362"/>
              <a:ext cx="575310" cy="411480"/>
            </a:xfrm>
            <a:custGeom>
              <a:avLst/>
              <a:gdLst/>
              <a:ahLst/>
              <a:cxnLst/>
              <a:rect l="l" t="t" r="r" b="b"/>
              <a:pathLst>
                <a:path w="575310" h="411480">
                  <a:moveTo>
                    <a:pt x="0" y="411480"/>
                  </a:moveTo>
                  <a:lnTo>
                    <a:pt x="575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269855" y="2083118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5245" y="94298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782175" y="2974658"/>
              <a:ext cx="451485" cy="268605"/>
            </a:xfrm>
            <a:custGeom>
              <a:avLst/>
              <a:gdLst/>
              <a:ahLst/>
              <a:cxnLst/>
              <a:rect l="l" t="t" r="r" b="b"/>
              <a:pathLst>
                <a:path w="451485" h="268605">
                  <a:moveTo>
                    <a:pt x="0" y="0"/>
                  </a:moveTo>
                  <a:lnTo>
                    <a:pt x="451485" y="2686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208895" y="320230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860405" y="2083118"/>
              <a:ext cx="285750" cy="320993"/>
            </a:xfrm>
            <a:custGeom>
              <a:avLst/>
              <a:gdLst/>
              <a:ahLst/>
              <a:cxnLst/>
              <a:rect l="l" t="t" r="r" b="b"/>
              <a:pathLst>
                <a:path w="285750" h="320993">
                  <a:moveTo>
                    <a:pt x="0" y="0"/>
                  </a:moveTo>
                  <a:lnTo>
                    <a:pt x="285750" y="3209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1110912" y="2372678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2865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860405" y="2971800"/>
              <a:ext cx="285750" cy="320992"/>
            </a:xfrm>
            <a:custGeom>
              <a:avLst/>
              <a:gdLst/>
              <a:ahLst/>
              <a:cxnLst/>
              <a:rect l="l" t="t" r="r" b="b"/>
              <a:pathLst>
                <a:path w="285750" h="320992">
                  <a:moveTo>
                    <a:pt x="0" y="320992"/>
                  </a:moveTo>
                  <a:lnTo>
                    <a:pt x="2857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1110912" y="290036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71438" y="102870"/>
                  </a:lnTo>
                  <a:lnTo>
                    <a:pt x="0" y="390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44628" y="2549842"/>
              <a:ext cx="77628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46670" y="1658302"/>
              <a:ext cx="9610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46670" y="3441382"/>
              <a:ext cx="9610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944928" y="2549842"/>
              <a:ext cx="9610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880158" y="3589972"/>
              <a:ext cx="109061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91750" y="1658302"/>
              <a:ext cx="9610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84142" y="3292792"/>
              <a:ext cx="77628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1066145" y="2475548"/>
              <a:ext cx="6648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51154" y="26236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95414" y="27789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45589" y="173212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57922" y="18873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外部管线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45589" y="3515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57922" y="36704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水泥浇注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43846" y="26236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56179" y="27789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结构建造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43846" y="36637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90216" y="38190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下水道铺设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90669" y="173212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03002" y="18873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内部管线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90669" y="336661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34929" y="35218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17426" y="25493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61687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交工</a:t>
              </a:r>
            </a:p>
          </p:txBody>
        </p:sp>
      </p:grpSp>
      <p:grpSp>
        <p:nvGrpSpPr>
          <p:cNvPr id="71" name="c2-text-2"/>
          <p:cNvGrpSpPr/>
          <p:nvPr/>
        </p:nvGrpSpPr>
        <p:grpSpPr>
          <a:xfrm>
            <a:off x="6458522" y="4205288"/>
            <a:ext cx="4901184" cy="751903"/>
            <a:chOff x="6458522" y="4205288"/>
            <a:chExt cx="4901184" cy="751903"/>
          </a:xfrm>
        </p:grpSpPr>
        <p:sp>
          <p:nvSpPr>
            <p:cNvPr id="69" name="TextBox 69"/>
            <p:cNvSpPr txBox="1"/>
            <p:nvPr/>
          </p:nvSpPr>
          <p:spPr>
            <a:xfrm>
              <a:off x="6458522" y="4205288"/>
              <a:ext cx="4901184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建楼工程的两个拓扑序列：</a:t>
              </a: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 v₁ v₂ v₄ v₃ v₅ v₆ v₇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 v₂ v₄ v₁ v₃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v₆ v₅ v₇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58522" y="4722495"/>
              <a:ext cx="4648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这张图一共有 22 个拓扑序列，每一个都是一份可行的施工顺序。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拓扑序列只要求有边相连的两个顶点保持先后，没有边相连的顶点谁先谁后都行，这正是它不唯一的原因。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2602" cy="909257"/>
            <a:chOff x="520446" y="342900"/>
            <a:chExt cx="7992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2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算法：反复取一个入度为 0 的顶点输出，再把它删掉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92396" cy="2232089"/>
            <a:chOff x="533400" y="1533525"/>
            <a:chExt cx="4692396" cy="22320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从图中选一个入度为 0 的顶点并输出。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从图中删除该顶点以及由它引出的全部边，其效果是它的每个邻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接顶点入度减 1。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重复前两步，直到所有顶点都已输出（排序成功），或者剩余顶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点的入度都不为 0（图中有环）。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941445"/>
            <a:ext cx="4977765" cy="1704975"/>
            <a:chOff x="533400" y="3941445"/>
            <a:chExt cx="4977765" cy="1704975"/>
          </a:xfrm>
        </p:grpSpPr>
        <p:sp>
          <p:nvSpPr>
            <p:cNvPr id="21" name="Rectangle 21"/>
            <p:cNvSpPr/>
            <p:nvPr/>
          </p:nvSpPr>
          <p:spPr>
            <a:xfrm>
              <a:off x="533400" y="3941445"/>
              <a:ext cx="4977765" cy="1704975"/>
            </a:xfrm>
            <a:prstGeom prst="roundRect">
              <a:avLst>
                <a:gd name="adj" fmla="val 670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693922"/>
              <a:ext cx="200023" cy="200023"/>
              <a:chOff x="738188" y="469392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6939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760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563904"/>
              <a:ext cx="40090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入度为 0 意味着这个顶点没有未完成的先决条件，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此刻把它排进序列一定合法。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810250" y="1524000"/>
            <a:ext cx="5848350" cy="4166712"/>
            <a:chOff x="5810250" y="1524000"/>
            <a:chExt cx="5848350" cy="4166712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1505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0850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38620" y="1655445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删边后新变成入度 0 的顶点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21312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5714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07274" y="208502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v₁, v₂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1312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5714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07274" y="2515552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无（v₃ 还差 v₂）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1312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5714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7274" y="294608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v₃, v₄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1312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55714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07274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1312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55714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07274" y="38061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4100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410527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21312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55714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07274" y="4235768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无（v₇ 还差 v₆）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45300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21312" y="4666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55714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07274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v₇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4960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15965" y="4965382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21312" y="50968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55714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v₇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07274" y="509682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全部顶点已输出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1524000"/>
              <a:ext cx="5842635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4560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79716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10250" y="547068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在建楼工程图上跑一遍（每步都挑当前编号最小的）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1" name="Rectangle 7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511" y="6004084"/>
              <a:ext cx="8702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3 步的两个出口要分清：输出够 n 个是排序成功，没输出够却已经挑不出入度为 0 的顶点才是有环。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拓扑序列未必唯一，什么时候才唯一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784860" y="1796415"/>
            <a:ext cx="4907280" cy="2820353"/>
            <a:chOff x="784860" y="1796415"/>
            <a:chExt cx="4907280" cy="2820353"/>
          </a:xfrm>
        </p:grpSpPr>
        <p:sp>
          <p:nvSpPr>
            <p:cNvPr id="7" name="Freeform 7"/>
            <p:cNvSpPr/>
            <p:nvPr/>
          </p:nvSpPr>
          <p:spPr>
            <a:xfrm>
              <a:off x="1156335" y="1977390"/>
              <a:ext cx="1039178" cy="9525"/>
            </a:xfrm>
            <a:custGeom>
              <a:avLst/>
              <a:gdLst/>
              <a:ahLst/>
              <a:cxnLst/>
              <a:rect l="l" t="t" r="r" b="b"/>
              <a:pathLst>
                <a:path w="1039178" h="9525">
                  <a:moveTo>
                    <a:pt x="0" y="0"/>
                  </a:moveTo>
                  <a:lnTo>
                    <a:pt x="10391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95512" y="1929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71762" y="1977390"/>
              <a:ext cx="1038225" cy="9525"/>
            </a:xfrm>
            <a:custGeom>
              <a:avLst/>
              <a:gdLst/>
              <a:ahLst/>
              <a:cxnLst/>
              <a:rect l="l" t="t" r="r" b="b"/>
              <a:pathLst>
                <a:path w="1038225" h="9525">
                  <a:moveTo>
                    <a:pt x="0" y="0"/>
                  </a:moveTo>
                  <a:lnTo>
                    <a:pt x="1038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09988" y="1929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86238" y="1977390"/>
              <a:ext cx="1039178" cy="9525"/>
            </a:xfrm>
            <a:custGeom>
              <a:avLst/>
              <a:gdLst/>
              <a:ahLst/>
              <a:cxnLst/>
              <a:rect l="l" t="t" r="r" b="b"/>
              <a:pathLst>
                <a:path w="1039178" h="9525">
                  <a:moveTo>
                    <a:pt x="0" y="0"/>
                  </a:moveTo>
                  <a:lnTo>
                    <a:pt x="10391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25415" y="1929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76325" y="2132648"/>
              <a:ext cx="590550" cy="840105"/>
            </a:xfrm>
            <a:custGeom>
              <a:avLst/>
              <a:gdLst/>
              <a:ahLst/>
              <a:cxnLst/>
              <a:rect l="l" t="t" r="r" b="b"/>
              <a:pathLst>
                <a:path w="590550" h="840105">
                  <a:moveTo>
                    <a:pt x="0" y="0"/>
                  </a:moveTo>
                  <a:lnTo>
                    <a:pt x="590550" y="8401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28775" y="2945130"/>
              <a:ext cx="93345" cy="105728"/>
            </a:xfrm>
            <a:custGeom>
              <a:avLst/>
              <a:gdLst/>
              <a:ahLst/>
              <a:cxnLst/>
              <a:rect l="l" t="t" r="r" b="b"/>
              <a:pathLst>
                <a:path w="93345" h="105728">
                  <a:moveTo>
                    <a:pt x="93345" y="105728"/>
                  </a:moveTo>
                  <a:lnTo>
                    <a:pt x="0" y="55245"/>
                  </a:lnTo>
                  <a:lnTo>
                    <a:pt x="7715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76325" y="3440430"/>
              <a:ext cx="590550" cy="840105"/>
            </a:xfrm>
            <a:custGeom>
              <a:avLst/>
              <a:gdLst/>
              <a:ahLst/>
              <a:cxnLst/>
              <a:rect l="l" t="t" r="r" b="b"/>
              <a:pathLst>
                <a:path w="590550" h="840105">
                  <a:moveTo>
                    <a:pt x="0" y="840105"/>
                  </a:moveTo>
                  <a:lnTo>
                    <a:pt x="5905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28775" y="3362325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0"/>
                  </a:moveTo>
                  <a:lnTo>
                    <a:pt x="77152" y="104775"/>
                  </a:lnTo>
                  <a:lnTo>
                    <a:pt x="0" y="504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56335" y="4435792"/>
              <a:ext cx="1255395" cy="9525"/>
            </a:xfrm>
            <a:custGeom>
              <a:avLst/>
              <a:gdLst/>
              <a:ahLst/>
              <a:cxnLst/>
              <a:rect l="l" t="t" r="r" b="b"/>
              <a:pathLst>
                <a:path w="1255395" h="9525">
                  <a:moveTo>
                    <a:pt x="0" y="0"/>
                  </a:moveTo>
                  <a:lnTo>
                    <a:pt x="1255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11730" y="43881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43952" y="3308032"/>
              <a:ext cx="2801302" cy="1060132"/>
            </a:xfrm>
            <a:custGeom>
              <a:avLst/>
              <a:gdLst/>
              <a:ahLst/>
              <a:cxnLst/>
              <a:rect l="l" t="t" r="r" b="b"/>
              <a:pathLst>
                <a:path w="2801302" h="1060132">
                  <a:moveTo>
                    <a:pt x="0" y="1060132"/>
                  </a:moveTo>
                  <a:lnTo>
                    <a:pt x="28013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928110" y="3263265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10477"/>
                  </a:moveTo>
                  <a:lnTo>
                    <a:pt x="34290" y="88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845118" y="3386138"/>
              <a:ext cx="1144905" cy="929640"/>
            </a:xfrm>
            <a:custGeom>
              <a:avLst/>
              <a:gdLst/>
              <a:ahLst/>
              <a:cxnLst/>
              <a:rect l="l" t="t" r="r" b="b"/>
              <a:pathLst>
                <a:path w="1144905" h="929640">
                  <a:moveTo>
                    <a:pt x="0" y="929640"/>
                  </a:moveTo>
                  <a:lnTo>
                    <a:pt x="1144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60495" y="332613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008" y="97155"/>
                  </a:lnTo>
                  <a:lnTo>
                    <a:pt x="0" y="238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887980" y="4435792"/>
              <a:ext cx="1255395" cy="9525"/>
            </a:xfrm>
            <a:custGeom>
              <a:avLst/>
              <a:gdLst/>
              <a:ahLst/>
              <a:cxnLst/>
              <a:rect l="l" t="t" r="r" b="b"/>
              <a:pathLst>
                <a:path w="1255395" h="9525">
                  <a:moveTo>
                    <a:pt x="0" y="0"/>
                  </a:moveTo>
                  <a:lnTo>
                    <a:pt x="1255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143375" y="43881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245292" y="3393758"/>
              <a:ext cx="134303" cy="761047"/>
            </a:xfrm>
            <a:custGeom>
              <a:avLst/>
              <a:gdLst/>
              <a:ahLst/>
              <a:cxnLst/>
              <a:rect l="l" t="t" r="r" b="b"/>
              <a:pathLst>
                <a:path w="134303" h="761047">
                  <a:moveTo>
                    <a:pt x="0" y="0"/>
                  </a:moveTo>
                  <a:lnTo>
                    <a:pt x="134303" y="7610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331970" y="4146232"/>
              <a:ext cx="94297" cy="101917"/>
            </a:xfrm>
            <a:custGeom>
              <a:avLst/>
              <a:gdLst/>
              <a:ahLst/>
              <a:cxnLst/>
              <a:rect l="l" t="t" r="r" b="b"/>
              <a:pathLst>
                <a:path w="94297" h="101917">
                  <a:moveTo>
                    <a:pt x="63817" y="101917"/>
                  </a:moveTo>
                  <a:lnTo>
                    <a:pt x="0" y="1619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351020" y="2173605"/>
              <a:ext cx="952500" cy="902017"/>
            </a:xfrm>
            <a:custGeom>
              <a:avLst/>
              <a:gdLst/>
              <a:ahLst/>
              <a:cxnLst/>
              <a:rect l="l" t="t" r="r" b="b"/>
              <a:pathLst>
                <a:path w="952500" h="902017">
                  <a:moveTo>
                    <a:pt x="0" y="902017"/>
                  </a:moveTo>
                  <a:lnTo>
                    <a:pt x="952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270182" y="2107882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0"/>
                  </a:moveTo>
                  <a:lnTo>
                    <a:pt x="65723" y="100012"/>
                  </a:lnTo>
                  <a:lnTo>
                    <a:pt x="0" y="3143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84860" y="1796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300288" y="1796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814762" y="1796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330190" y="1796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650682" y="302514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030980" y="302514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84860" y="425481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516505" y="425481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248150" y="425481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0381" y="191595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95809" y="191595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10284" y="191595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25711" y="191595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46204" y="314563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26501" y="314563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0381" y="43753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12026" y="43753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43671" y="43753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C₅</a:t>
              </a:r>
            </a:p>
          </p:txBody>
        </p:sp>
      </p:grpSp>
      <p:grpSp>
        <p:nvGrpSpPr>
          <p:cNvPr id="51" name="c1-text-2"/>
          <p:cNvGrpSpPr/>
          <p:nvPr/>
        </p:nvGrpSpPr>
        <p:grpSpPr>
          <a:xfrm>
            <a:off x="527685" y="4947761"/>
            <a:ext cx="4726970" cy="742951"/>
            <a:chOff x="527685" y="4947761"/>
            <a:chExt cx="4726970" cy="742951"/>
          </a:xfrm>
        </p:grpSpPr>
        <p:sp>
          <p:nvSpPr>
            <p:cNvPr id="48" name="TextBox 48"/>
            <p:cNvSpPr txBox="1"/>
            <p:nvPr/>
          </p:nvSpPr>
          <p:spPr>
            <a:xfrm>
              <a:off x="527685" y="4947761"/>
              <a:ext cx="2068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C₁ C₂ C₄ C₃ C₅ C₇ C₈ C₆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7685" y="5209699"/>
              <a:ext cx="2068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 C₇ C₈ C₁ C₄ C₂ C₃ C₆ C₅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7685" y="5470684"/>
              <a:ext cx="4726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两个都是这张课程图的拓扑序列。C₀ 与 C₁ 之间没有边，谁先学都行。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248400" y="1524000"/>
            <a:ext cx="5410200" cy="1764030"/>
            <a:chOff x="6248400" y="1524000"/>
            <a:chExt cx="5410200" cy="1764030"/>
          </a:xfrm>
        </p:grpSpPr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1764030"/>
            </a:xfrm>
            <a:prstGeom prst="roundRect">
              <a:avLst>
                <a:gd name="adj" fmla="val 755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350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277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00684" y="17459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拓扑序列唯一的充要条件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28232" y="2071688"/>
              <a:ext cx="3966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排序过程中每一步都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只有一个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入度为 0 的顶点。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28232" y="237172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等价说法：得到的序列里每一对相邻顶点之间都有一条边，也就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是图中存在一条经过全部顶点的有向路径（哈密顿路径）。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29375" y="2925604"/>
              <a:ext cx="4964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只要某一步同时有两个顶点入度为 0，交换它们就能得到另一个拓扑序列。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248400" y="3457575"/>
            <a:ext cx="5410200" cy="2188845"/>
            <a:chOff x="6248400" y="3457575"/>
            <a:chExt cx="5410200" cy="2188845"/>
          </a:xfrm>
        </p:grpSpPr>
        <p:sp>
          <p:nvSpPr>
            <p:cNvPr id="60" name="Rectangle 60"/>
            <p:cNvSpPr/>
            <p:nvPr/>
          </p:nvSpPr>
          <p:spPr>
            <a:xfrm>
              <a:off x="6248400" y="3457575"/>
              <a:ext cx="5410200" cy="2188845"/>
            </a:xfrm>
            <a:prstGeom prst="roundRect">
              <a:avLst>
                <a:gd name="adj" fmla="val 6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3590925"/>
              <a:ext cx="47625" cy="19221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3190" y="3644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862" y="3677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8784" y="367950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这张课程图有多少个拓扑序列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6332" y="4005262"/>
              <a:ext cx="4622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用程序枚举，9 个顶点 11 条边的课程图一共有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354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个拓扑序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列，建楼工程图有 22 个。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6332" y="4563428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源课件只举了两个并写“未必唯一”，这里把数目算出来，好让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人对“不唯一”的规模有概念。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8" name="Rectangle 6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8373"/>
              <a:ext cx="7146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考试里问“拓扑序列是否唯一”，就逐步检查有没有哪一步同时出现两个入度为 0 的顶点。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排不完就说明有环：用拓扑排序检测有向环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914400" y="1760220"/>
            <a:ext cx="3523298" cy="1545908"/>
            <a:chOff x="914400" y="1760220"/>
            <a:chExt cx="3523298" cy="1545908"/>
          </a:xfrm>
        </p:grpSpPr>
        <p:sp>
          <p:nvSpPr>
            <p:cNvPr id="7" name="Freeform 7"/>
            <p:cNvSpPr/>
            <p:nvPr/>
          </p:nvSpPr>
          <p:spPr>
            <a:xfrm>
              <a:off x="1304925" y="1950720"/>
              <a:ext cx="1884997" cy="9525"/>
            </a:xfrm>
            <a:custGeom>
              <a:avLst/>
              <a:gdLst/>
              <a:ahLst/>
              <a:cxnLst/>
              <a:rect l="l" t="t" r="r" b="b"/>
              <a:pathLst>
                <a:path w="1884997" h="9525">
                  <a:moveTo>
                    <a:pt x="0" y="0"/>
                  </a:moveTo>
                  <a:lnTo>
                    <a:pt x="18849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9922" y="19030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94735" y="2118360"/>
              <a:ext cx="490538" cy="750570"/>
            </a:xfrm>
            <a:custGeom>
              <a:avLst/>
              <a:gdLst/>
              <a:ahLst/>
              <a:cxnLst/>
              <a:rect l="l" t="t" r="r" b="b"/>
              <a:pathLst>
                <a:path w="490538" h="750570">
                  <a:moveTo>
                    <a:pt x="0" y="0"/>
                  </a:moveTo>
                  <a:lnTo>
                    <a:pt x="490538" y="75057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45268" y="2843212"/>
              <a:ext cx="92392" cy="105728"/>
            </a:xfrm>
            <a:custGeom>
              <a:avLst/>
              <a:gdLst/>
              <a:ahLst/>
              <a:cxnLst/>
              <a:rect l="l" t="t" r="r" b="b"/>
              <a:pathLst>
                <a:path w="92392" h="105728">
                  <a:moveTo>
                    <a:pt x="92392" y="105728"/>
                  </a:moveTo>
                  <a:lnTo>
                    <a:pt x="0" y="51435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51722" y="3115628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16954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56472" y="30680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11705" y="2137410"/>
              <a:ext cx="1044892" cy="852487"/>
            </a:xfrm>
            <a:custGeom>
              <a:avLst/>
              <a:gdLst/>
              <a:ahLst/>
              <a:cxnLst/>
              <a:rect l="l" t="t" r="r" b="b"/>
              <a:pathLst>
                <a:path w="1044892" h="852487">
                  <a:moveTo>
                    <a:pt x="0" y="852487"/>
                  </a:moveTo>
                  <a:lnTo>
                    <a:pt x="1044892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26118" y="207740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0"/>
                  </a:moveTo>
                  <a:lnTo>
                    <a:pt x="60008" y="97155"/>
                  </a:lnTo>
                  <a:lnTo>
                    <a:pt x="0" y="23812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14400" y="176022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294698" y="176022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056698" y="29251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865948" y="29251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3315" y="188595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3613" y="188595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55613" y="3050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4863" y="3050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3640455"/>
            <a:ext cx="4760595" cy="488632"/>
            <a:chOff x="533400" y="3640455"/>
            <a:chExt cx="4760595" cy="488632"/>
          </a:xfrm>
        </p:grpSpPr>
        <p:sp>
          <p:nvSpPr>
            <p:cNvPr id="24" name="Rectangle 24"/>
            <p:cNvSpPr/>
            <p:nvPr/>
          </p:nvSpPr>
          <p:spPr>
            <a:xfrm>
              <a:off x="533400" y="3640455"/>
              <a:ext cx="4760595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3781543"/>
              <a:ext cx="224134" cy="192560"/>
              <a:chOff x="726129" y="3781543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38519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37815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39296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3790950"/>
              <a:ext cx="3759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红色的三条边构成有向环 C₁ → C₃ → C₂ → C₁。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598795" y="1524000"/>
            <a:ext cx="6059805" cy="1623060"/>
            <a:chOff x="5598795" y="1524000"/>
            <a:chExt cx="6059805" cy="1623060"/>
          </a:xfrm>
        </p:grpSpPr>
        <p:sp>
          <p:nvSpPr>
            <p:cNvPr id="31" name="Rectangle 31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671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178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入度数组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96273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143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8808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7485" y="2054066"/>
              <a:ext cx="155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C₀:0 C₁:2 C₂:1 C₃:1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1598" y="2054066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[C₀]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3178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8808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7485" y="2459831"/>
              <a:ext cx="155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C₀:0 C₁:1 C₂:1 C₃:1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71598" y="245983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83178" y="245983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C₀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8808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7485" y="286559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栈已空但只输出了 1 个顶点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71598" y="286559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 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3178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1524000"/>
              <a:ext cx="605980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4271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86682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7840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5598795" y="3322320"/>
            <a:ext cx="6059805" cy="2257425"/>
            <a:chOff x="5598795" y="3322320"/>
            <a:chExt cx="6059805" cy="2257425"/>
          </a:xfrm>
        </p:grpSpPr>
        <p:sp>
          <p:nvSpPr>
            <p:cNvPr id="56" name="Rectangle 56"/>
            <p:cNvSpPr/>
            <p:nvPr/>
          </p:nvSpPr>
          <p:spPr>
            <a:xfrm>
              <a:off x="5598795" y="3322320"/>
              <a:ext cx="6059805" cy="2257425"/>
            </a:xfrm>
            <a:prstGeom prst="roundRect">
              <a:avLst>
                <a:gd name="adj" fmla="val 590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91200" y="35147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82640" y="3549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74892" y="355473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循环没走满 n 次栈就空了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784342" y="3888105"/>
              <a:ext cx="53200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代码里对应的就是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if (s.Empty()) return false;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这一行：还没输出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够 n 个顶点，却已经找不到入度为 0 的顶点。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84342" y="4448175"/>
              <a:ext cx="54572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此时剩下的 C₁、C₂、C₃ 入度都不为 0，它们互相指着对方，正是环上的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85485" y="5003959"/>
              <a:ext cx="52671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反过来，返回 true 就等于给出一张证书：这 n 个顶点排成的序列本身证明了图中无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6714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判断有向图有没有环，跑一遍拓扑排序就够了，代价和遍历一次图一样是 O(n+e)。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09046" cy="909257"/>
            <a:chOff x="520446" y="342900"/>
            <a:chExt cx="95090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拓扑排序：把先后关系排成一条线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0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课下思考：这张图的拓扑序列有几个（2021 年考研题全国卷）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784860" y="1528762"/>
            <a:ext cx="3738562" cy="2313623"/>
            <a:chOff x="784860" y="1528762"/>
            <a:chExt cx="3738562" cy="2313623"/>
          </a:xfrm>
        </p:grpSpPr>
        <p:sp>
          <p:nvSpPr>
            <p:cNvPr id="7" name="Freeform 7"/>
            <p:cNvSpPr/>
            <p:nvPr/>
          </p:nvSpPr>
          <p:spPr>
            <a:xfrm>
              <a:off x="1493520" y="1777365"/>
              <a:ext cx="1025842" cy="388620"/>
            </a:xfrm>
            <a:custGeom>
              <a:avLst/>
              <a:gdLst/>
              <a:ahLst/>
              <a:cxnLst/>
              <a:rect l="l" t="t" r="r" b="b"/>
              <a:pathLst>
                <a:path w="1025842" h="388620">
                  <a:moveTo>
                    <a:pt x="1025842" y="0"/>
                  </a:moveTo>
                  <a:lnTo>
                    <a:pt x="0" y="3886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03985" y="212121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9058"/>
                  </a:moveTo>
                  <a:lnTo>
                    <a:pt x="72390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76550" y="1773555"/>
              <a:ext cx="1109662" cy="397193"/>
            </a:xfrm>
            <a:custGeom>
              <a:avLst/>
              <a:gdLst/>
              <a:ahLst/>
              <a:cxnLst/>
              <a:rect l="l" t="t" r="r" b="b"/>
              <a:pathLst>
                <a:path w="1109662" h="397193">
                  <a:moveTo>
                    <a:pt x="0" y="0"/>
                  </a:moveTo>
                  <a:lnTo>
                    <a:pt x="1109662" y="3971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70972" y="212598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7153"/>
                  </a:moveTo>
                  <a:lnTo>
                    <a:pt x="0" y="89535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50608" y="2448878"/>
              <a:ext cx="119062" cy="381952"/>
            </a:xfrm>
            <a:custGeom>
              <a:avLst/>
              <a:gdLst/>
              <a:ahLst/>
              <a:cxnLst/>
              <a:rect l="l" t="t" r="r" b="b"/>
              <a:pathLst>
                <a:path w="119062" h="381952">
                  <a:moveTo>
                    <a:pt x="119062" y="0"/>
                  </a:moveTo>
                  <a:lnTo>
                    <a:pt x="0" y="3819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05840" y="2816542"/>
              <a:ext cx="90488" cy="104775"/>
            </a:xfrm>
            <a:custGeom>
              <a:avLst/>
              <a:gdLst/>
              <a:ahLst/>
              <a:cxnLst/>
              <a:rect l="l" t="t" r="r" b="b"/>
              <a:pathLst>
                <a:path w="90488" h="104775">
                  <a:moveTo>
                    <a:pt x="17145" y="104775"/>
                  </a:moveTo>
                  <a:lnTo>
                    <a:pt x="0" y="0"/>
                  </a:lnTo>
                  <a:lnTo>
                    <a:pt x="90488" y="285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63980" y="2398395"/>
              <a:ext cx="1125855" cy="1065847"/>
            </a:xfrm>
            <a:custGeom>
              <a:avLst/>
              <a:gdLst/>
              <a:ahLst/>
              <a:cxnLst/>
              <a:rect l="l" t="t" r="r" b="b"/>
              <a:pathLst>
                <a:path w="1125855" h="1065847">
                  <a:moveTo>
                    <a:pt x="0" y="0"/>
                  </a:moveTo>
                  <a:lnTo>
                    <a:pt x="1125855" y="10658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57450" y="3429952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69532"/>
                  </a:lnTo>
                  <a:lnTo>
                    <a:pt x="657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16368" y="2266950"/>
              <a:ext cx="2553652" cy="9525"/>
            </a:xfrm>
            <a:custGeom>
              <a:avLst/>
              <a:gdLst/>
              <a:ahLst/>
              <a:cxnLst/>
              <a:rect l="l" t="t" r="r" b="b"/>
              <a:pathLst>
                <a:path w="2553652" h="9525">
                  <a:moveTo>
                    <a:pt x="0" y="0"/>
                  </a:moveTo>
                  <a:lnTo>
                    <a:pt x="25536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70020" y="22193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47762" y="3162300"/>
              <a:ext cx="1277302" cy="411480"/>
            </a:xfrm>
            <a:custGeom>
              <a:avLst/>
              <a:gdLst/>
              <a:ahLst/>
              <a:cxnLst/>
              <a:rect l="l" t="t" r="r" b="b"/>
              <a:pathLst>
                <a:path w="1277302" h="411480">
                  <a:moveTo>
                    <a:pt x="0" y="0"/>
                  </a:moveTo>
                  <a:lnTo>
                    <a:pt x="1277302" y="4114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10778" y="352806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4295"/>
                  </a:moveTo>
                  <a:lnTo>
                    <a:pt x="0" y="90488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77502" y="3195638"/>
              <a:ext cx="1194435" cy="403860"/>
            </a:xfrm>
            <a:custGeom>
              <a:avLst/>
              <a:gdLst/>
              <a:ahLst/>
              <a:cxnLst/>
              <a:rect l="l" t="t" r="r" b="b"/>
              <a:pathLst>
                <a:path w="1194435" h="403860">
                  <a:moveTo>
                    <a:pt x="0" y="403860"/>
                  </a:moveTo>
                  <a:lnTo>
                    <a:pt x="1194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56698" y="314991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5240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839402" y="2457450"/>
              <a:ext cx="1203007" cy="1076325"/>
            </a:xfrm>
            <a:custGeom>
              <a:avLst/>
              <a:gdLst/>
              <a:ahLst/>
              <a:cxnLst/>
              <a:rect l="l" t="t" r="r" b="b"/>
              <a:pathLst>
                <a:path w="1203007" h="1076325">
                  <a:moveTo>
                    <a:pt x="0" y="1076325"/>
                  </a:moveTo>
                  <a:lnTo>
                    <a:pt x="12030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10978" y="2394585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3817" y="99060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285298" y="2551748"/>
              <a:ext cx="37148" cy="361950"/>
            </a:xfrm>
            <a:custGeom>
              <a:avLst/>
              <a:gdLst/>
              <a:ahLst/>
              <a:cxnLst/>
              <a:rect l="l" t="t" r="r" b="b"/>
              <a:pathLst>
                <a:path w="37148" h="361950">
                  <a:moveTo>
                    <a:pt x="37148" y="3619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37672" y="2456498"/>
              <a:ext cx="94298" cy="100012"/>
            </a:xfrm>
            <a:custGeom>
              <a:avLst/>
              <a:gdLst/>
              <a:ahLst/>
              <a:cxnLst/>
              <a:rect l="l" t="t" r="r" b="b"/>
              <a:pathLst>
                <a:path w="94298" h="100012">
                  <a:moveTo>
                    <a:pt x="37148" y="0"/>
                  </a:moveTo>
                  <a:lnTo>
                    <a:pt x="94298" y="90488"/>
                  </a:lnTo>
                  <a:lnTo>
                    <a:pt x="0" y="1000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516505" y="152876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44892" y="208597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74795" y="208597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84860" y="292227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161472" y="292227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516505" y="348043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49021" y="16449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77408" y="22021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7311" y="22021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7376" y="30384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3988" y="30384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49021" y="35956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4022408"/>
            <a:ext cx="4328160" cy="1564005"/>
            <a:chOff x="533400" y="4022408"/>
            <a:chExt cx="4328160" cy="1564005"/>
          </a:xfrm>
        </p:grpSpPr>
        <p:sp>
          <p:nvSpPr>
            <p:cNvPr id="38" name="Rectangle 38"/>
            <p:cNvSpPr/>
            <p:nvPr/>
          </p:nvSpPr>
          <p:spPr>
            <a:xfrm>
              <a:off x="533400" y="4022408"/>
              <a:ext cx="4328160" cy="1564005"/>
            </a:xfrm>
            <a:prstGeom prst="roundRect">
              <a:avLst>
                <a:gd name="adj" fmla="val 730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4703445"/>
              <a:ext cx="200026" cy="200026"/>
              <a:chOff x="738188" y="470344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7034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47701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48034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4709160"/>
              <a:ext cx="2477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 A. 1　B. 2　C. 3　D. 4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5166360" y="1533525"/>
            <a:ext cx="6222375" cy="1900714"/>
            <a:chOff x="5166360" y="1533525"/>
            <a:chExt cx="6222375" cy="1900714"/>
          </a:xfrm>
        </p:grpSpPr>
        <p:sp>
          <p:nvSpPr>
            <p:cNvPr id="45" name="Rectangle 45"/>
            <p:cNvSpPr/>
            <p:nvPr/>
          </p:nvSpPr>
          <p:spPr>
            <a:xfrm>
              <a:off x="5299710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16636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5998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166360" y="29146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5998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7860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算入度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79745" y="1833086"/>
              <a:ext cx="5808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 0，B 为 1，C 为 1，D 为 2，E 为 1，F 为 4。只有 A 的入度是 0，第一个必是 A。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78602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逐步推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79745" y="2419826"/>
              <a:ext cx="5601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 A 后 B 的入度变 0，其余都还有欠账，所以第二个必是 B；接着 C 唯一，再接着 D 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一，然后 E，最后 F。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78602" y="29460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得序列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79745" y="3214211"/>
              <a:ext cx="335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唯一的拓扑序列是 A B C D E F，个数为 1，选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166360" y="3602355"/>
            <a:ext cx="6492240" cy="1983105"/>
            <a:chOff x="5166360" y="3602355"/>
            <a:chExt cx="6492240" cy="1983105"/>
          </a:xfrm>
        </p:grpSpPr>
        <p:sp>
          <p:nvSpPr>
            <p:cNvPr id="59" name="Rectangle 59"/>
            <p:cNvSpPr/>
            <p:nvPr/>
          </p:nvSpPr>
          <p:spPr>
            <a:xfrm>
              <a:off x="5166360" y="3602355"/>
              <a:ext cx="6492240" cy="1983105"/>
            </a:xfrm>
            <a:prstGeom prst="roundRect">
              <a:avLst>
                <a:gd name="adj" fmla="val 67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58765" y="379476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438204" y="38290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为什么唯一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51907" y="4151948"/>
              <a:ext cx="54401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把序列 A B C D E F 里的相邻两项对照原图，A→B、B→C、C→D、D→E、E→F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这五条边都在图上，形成一条串起全部顶点的有向路径。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51907" y="4711065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每一步能挑的顶点都只有一个，按上一页的判据，拓扑序列必然唯一。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53050" y="5010626"/>
              <a:ext cx="5878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这类选择题不必枚举，逐步数“当前入度为 0 的顶点有几个”，一旦某步出现两个，答案至少是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已用程序枚举全部排列核对：该图的拓扑序列确实只有 1 个。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07000" cy="3351847"/>
            <a:chOff x="667512" y="1835468"/>
            <a:chExt cx="5107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拓扑排序怎么写出来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0970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邻接表加入度数组，再配一个栈，就能做到 O(n+e)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入度数组与栈的准备工作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48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TopoOrder 的完整代码与逐步执行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换成队列行不行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46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给出的是逆拓扑序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2602" cy="909257"/>
            <a:chOff x="520446" y="342900"/>
            <a:chExt cx="7992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2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准备工作：一个入度数组，一个装入度为 0 顶点的栈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860108" y="1624965"/>
            <a:ext cx="4473892" cy="1782127"/>
            <a:chOff x="860108" y="1624965"/>
            <a:chExt cx="4473892" cy="1782127"/>
          </a:xfrm>
        </p:grpSpPr>
        <p:sp>
          <p:nvSpPr>
            <p:cNvPr id="7" name="Freeform 7"/>
            <p:cNvSpPr/>
            <p:nvPr/>
          </p:nvSpPr>
          <p:spPr>
            <a:xfrm>
              <a:off x="1208722" y="1852612"/>
              <a:ext cx="1044892" cy="218123"/>
            </a:xfrm>
            <a:custGeom>
              <a:avLst/>
              <a:gdLst/>
              <a:ahLst/>
              <a:cxnLst/>
              <a:rect l="l" t="t" r="r" b="b"/>
              <a:pathLst>
                <a:path w="1044892" h="218123">
                  <a:moveTo>
                    <a:pt x="0" y="218123"/>
                  </a:moveTo>
                  <a:lnTo>
                    <a:pt x="10448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44090" y="180594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20002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12532" y="3235642"/>
              <a:ext cx="1035368" cy="9525"/>
            </a:xfrm>
            <a:custGeom>
              <a:avLst/>
              <a:gdLst/>
              <a:ahLst/>
              <a:cxnLst/>
              <a:rect l="l" t="t" r="r" b="b"/>
              <a:pathLst>
                <a:path w="1035368" h="9525">
                  <a:moveTo>
                    <a:pt x="0" y="0"/>
                  </a:moveTo>
                  <a:lnTo>
                    <a:pt x="10353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47900" y="31880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6818" y="2562225"/>
              <a:ext cx="2542223" cy="629603"/>
            </a:xfrm>
            <a:custGeom>
              <a:avLst/>
              <a:gdLst/>
              <a:ahLst/>
              <a:cxnLst/>
              <a:rect l="l" t="t" r="r" b="b"/>
              <a:pathLst>
                <a:path w="2542223" h="629603">
                  <a:moveTo>
                    <a:pt x="0" y="629603"/>
                  </a:moveTo>
                  <a:lnTo>
                    <a:pt x="25422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37610" y="251650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2860"/>
                  </a:moveTo>
                  <a:lnTo>
                    <a:pt x="22860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61098" y="1987868"/>
              <a:ext cx="1163955" cy="1122045"/>
            </a:xfrm>
            <a:custGeom>
              <a:avLst/>
              <a:gdLst/>
              <a:ahLst/>
              <a:cxnLst/>
              <a:rect l="l" t="t" r="r" b="b"/>
              <a:pathLst>
                <a:path w="1163955" h="1122045">
                  <a:moveTo>
                    <a:pt x="0" y="1122045"/>
                  </a:moveTo>
                  <a:lnTo>
                    <a:pt x="11639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92668" y="1922145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100965" y="0"/>
                  </a:moveTo>
                  <a:lnTo>
                    <a:pt x="65723" y="100012"/>
                  </a:lnTo>
                  <a:lnTo>
                    <a:pt x="0" y="3143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04148" y="1817370"/>
              <a:ext cx="2184083" cy="258127"/>
            </a:xfrm>
            <a:custGeom>
              <a:avLst/>
              <a:gdLst/>
              <a:ahLst/>
              <a:cxnLst/>
              <a:rect l="l" t="t" r="r" b="b"/>
              <a:pathLst>
                <a:path w="2184083" h="258127">
                  <a:moveTo>
                    <a:pt x="0" y="0"/>
                  </a:moveTo>
                  <a:lnTo>
                    <a:pt x="2184083" y="2581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82515" y="2027872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58102"/>
                  </a:moveTo>
                  <a:lnTo>
                    <a:pt x="0" y="94298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687955" y="1872615"/>
              <a:ext cx="1079182" cy="506730"/>
            </a:xfrm>
            <a:custGeom>
              <a:avLst/>
              <a:gdLst/>
              <a:ahLst/>
              <a:cxnLst/>
              <a:rect l="l" t="t" r="r" b="b"/>
              <a:pathLst>
                <a:path w="1079182" h="506730">
                  <a:moveTo>
                    <a:pt x="0" y="0"/>
                  </a:moveTo>
                  <a:lnTo>
                    <a:pt x="1079182" y="5067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47135" y="2335530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3820"/>
                  </a:moveTo>
                  <a:lnTo>
                    <a:pt x="0" y="86678"/>
                  </a:lnTo>
                  <a:lnTo>
                    <a:pt x="4095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89095" y="2196465"/>
              <a:ext cx="711517" cy="241935"/>
            </a:xfrm>
            <a:custGeom>
              <a:avLst/>
              <a:gdLst/>
              <a:ahLst/>
              <a:cxnLst/>
              <a:rect l="l" t="t" r="r" b="b"/>
              <a:pathLst>
                <a:path w="711517" h="241935">
                  <a:moveTo>
                    <a:pt x="0" y="241935"/>
                  </a:moveTo>
                  <a:lnTo>
                    <a:pt x="7115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885372" y="215074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5240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690812" y="2215515"/>
              <a:ext cx="2217420" cy="948690"/>
            </a:xfrm>
            <a:custGeom>
              <a:avLst/>
              <a:gdLst/>
              <a:ahLst/>
              <a:cxnLst/>
              <a:rect l="l" t="t" r="r" b="b"/>
              <a:pathLst>
                <a:path w="2217420" h="948690">
                  <a:moveTo>
                    <a:pt x="0" y="948690"/>
                  </a:moveTo>
                  <a:lnTo>
                    <a:pt x="22174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890135" y="2172652"/>
              <a:ext cx="105728" cy="86677"/>
            </a:xfrm>
            <a:custGeom>
              <a:avLst/>
              <a:gdLst/>
              <a:ahLst/>
              <a:cxnLst/>
              <a:rect l="l" t="t" r="r" b="b"/>
              <a:pathLst>
                <a:path w="105728" h="86677">
                  <a:moveTo>
                    <a:pt x="105728" y="5715"/>
                  </a:moveTo>
                  <a:lnTo>
                    <a:pt x="37147" y="8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60108" y="193548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60108" y="306419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352675" y="162496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352675" y="306419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846195" y="232505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991100" y="193548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8510" y="2046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8510" y="317420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81078" y="17359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81078" y="317420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74598" y="24360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19503" y="2046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7" name="c1-card-2"/>
          <p:cNvGrpSpPr/>
          <p:nvPr/>
        </p:nvGrpSpPr>
        <p:grpSpPr>
          <a:xfrm>
            <a:off x="533400" y="3638550"/>
            <a:ext cx="4977765" cy="2043112"/>
            <a:chOff x="533400" y="3638550"/>
            <a:chExt cx="4977765" cy="2043112"/>
          </a:xfrm>
        </p:grpSpPr>
        <p:sp>
          <p:nvSpPr>
            <p:cNvPr id="36" name="Rectangle 36"/>
            <p:cNvSpPr/>
            <p:nvPr/>
          </p:nvSpPr>
          <p:spPr>
            <a:xfrm>
              <a:off x="533400" y="3638550"/>
              <a:ext cx="4977765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377190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8190" y="38252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759" y="38581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两项准备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1332" y="4169092"/>
              <a:ext cx="43428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 AOV 网以邻接表存储。每一步都要找一个入度为 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的顶点，每次扫全图要多花 O(n²)，所以事先备好两样东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58190" y="497205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3868" y="50104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8987" y="4984433"/>
              <a:ext cx="409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数组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InDegree[]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InDegree[i]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是顶点 i 的入度。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58190" y="52720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3868" y="5310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8987" y="5284470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一个栈，入度一减到 0 就压栈，要取顶点时弹栈。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5811012" y="1524000"/>
            <a:ext cx="5847588" cy="3063906"/>
            <a:chOff x="5811012" y="1524000"/>
            <a:chExt cx="5847588" cy="3063906"/>
          </a:xfrm>
        </p:grpSpPr>
        <p:sp>
          <p:nvSpPr>
            <p:cNvPr id="48" name="Rectangle 48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53967" y="1645444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096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边结点链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010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13120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98042" y="204549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5367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13120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98042" y="2445544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→ 3 → 2 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5367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13120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98042" y="2845594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→ 3 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5367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3120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98042" y="32456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5367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13120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98042" y="364569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5367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815965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13120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9804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353675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15965" y="1524000"/>
              <a:ext cx="584263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9612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25175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11012" y="4397216"/>
              <a:ext cx="28512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邻接表（Head[i].adjacent 串起 i 的全部出边）</a:t>
              </a:r>
            </a:p>
          </p:txBody>
        </p:sp>
      </p:grpSp>
      <p:grpSp>
        <p:nvGrpSpPr>
          <p:cNvPr id="102" name="c2-cells-2"/>
          <p:cNvGrpSpPr/>
          <p:nvPr/>
        </p:nvGrpSpPr>
        <p:grpSpPr>
          <a:xfrm>
            <a:off x="5811012" y="4719638"/>
            <a:ext cx="3194876" cy="584358"/>
            <a:chOff x="5811012" y="4719638"/>
            <a:chExt cx="3194876" cy="584358"/>
          </a:xfrm>
        </p:grpSpPr>
        <p:sp>
          <p:nvSpPr>
            <p:cNvPr id="83" name="TextBox 83"/>
            <p:cNvSpPr txBox="1"/>
            <p:nvPr/>
          </p:nvSpPr>
          <p:spPr>
            <a:xfrm>
              <a:off x="5811012" y="4843939"/>
              <a:ext cx="592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InDegree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491288" y="471963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657790" y="48439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910388" y="471963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076890" y="48439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329488" y="47196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495990" y="48439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748588" y="47196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915090" y="48439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167688" y="47196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34190" y="48439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586788" y="47196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753290" y="48439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665718" y="5142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084818" y="5142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503918" y="5142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923018" y="5142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342118" y="5142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761218" y="5142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3" name="Rectangle 10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0892" y="6028373"/>
              <a:ext cx="10200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绿色两格是初始入度为 0 的顶点，算法开始时先进栈。更正：源课件第 13 页写作“事先需好两项准备工作”，漏了一个“做”字。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求入度：沿着邻接表把每条边的终点计一次数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167438" cy="2304098"/>
            <a:chOff x="533400" y="1524000"/>
            <a:chExt cx="6167438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逐条边给终点记账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545078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getInDegree(Vertex Head[],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InDegree[])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InDegree[i]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 扫描每个顶点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Edge *p = Head[i].adjacent;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 扫描 i 的邻接顶点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边 &lt;i, k&gt; 的终点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InDegree[k]++;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p-&gt;link;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3992880"/>
            <a:ext cx="6167438" cy="1444942"/>
            <a:chOff x="533400" y="3992880"/>
            <a:chExt cx="6167438" cy="1444942"/>
          </a:xfrm>
        </p:grpSpPr>
        <p:sp>
          <p:nvSpPr>
            <p:cNvPr id="11" name="Rectangle 11"/>
            <p:cNvSpPr/>
            <p:nvPr/>
          </p:nvSpPr>
          <p:spPr>
            <a:xfrm>
              <a:off x="533400" y="3992880"/>
              <a:ext cx="6167438" cy="1444942"/>
            </a:xfrm>
            <a:prstGeom prst="roundRect">
              <a:avLst>
                <a:gd name="adj" fmla="val 92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41738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7047" y="42067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0350" y="421338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一条边只被数一次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898" y="4529614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邻接表里出现一次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p-&gt;VerAdj == k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，就说明有一条边指向 k，于是</a:t>
              </a:r>
              <a:br/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InDegree[k]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加 1。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5057299"/>
              <a:ext cx="4889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外层循环走过 n 个表头，内层循环合起来走过全部 e 个边结点。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7005638" y="1524000"/>
            <a:ext cx="4652962" cy="1556385"/>
            <a:chOff x="7005638" y="1524000"/>
            <a:chExt cx="4652962" cy="1556385"/>
          </a:xfrm>
        </p:grpSpPr>
        <p:sp>
          <p:nvSpPr>
            <p:cNvPr id="18" name="Rectangle 18"/>
            <p:cNvSpPr/>
            <p:nvPr/>
          </p:nvSpPr>
          <p:spPr>
            <a:xfrm>
              <a:off x="7005638" y="1524000"/>
              <a:ext cx="4652962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34034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同一件事，写紧凑一点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4225" y="1935004"/>
              <a:ext cx="3675253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getInDegree(Vertex Head[],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InDegree[])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InDegree[i]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Head[i].adjacent; p != NULL; p = p-&gt;link)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InDegree[p-&gt;VerAdj]++;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7005638" y="3245168"/>
            <a:ext cx="4652962" cy="702945"/>
            <a:chOff x="7005638" y="3245168"/>
            <a:chExt cx="4652962" cy="702945"/>
          </a:xfrm>
        </p:grpSpPr>
        <p:sp>
          <p:nvSpPr>
            <p:cNvPr id="22" name="Rectangle 22"/>
            <p:cNvSpPr/>
            <p:nvPr/>
          </p:nvSpPr>
          <p:spPr>
            <a:xfrm>
              <a:off x="7005638" y="3245168"/>
              <a:ext cx="4652962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10425" y="3496630"/>
              <a:ext cx="200023" cy="200023"/>
              <a:chOff x="7210425" y="349663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210425" y="34966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43775" y="3563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513511" y="3390424"/>
              <a:ext cx="37477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，前提是邻接表存储；换成邻接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矩阵是 O(n²)。</a:t>
              </a:r>
            </a:p>
          </p:txBody>
        </p:sp>
      </p:grpSp>
      <p:grpSp>
        <p:nvGrpSpPr>
          <p:cNvPr id="33" name="c2-card-3"/>
          <p:cNvGrpSpPr/>
          <p:nvPr/>
        </p:nvGrpSpPr>
        <p:grpSpPr>
          <a:xfrm>
            <a:off x="7005638" y="4112895"/>
            <a:ext cx="4652962" cy="1324928"/>
            <a:chOff x="7005638" y="4112895"/>
            <a:chExt cx="4652962" cy="1324928"/>
          </a:xfrm>
        </p:grpSpPr>
        <p:sp>
          <p:nvSpPr>
            <p:cNvPr id="28" name="Rectangle 28"/>
            <p:cNvSpPr/>
            <p:nvPr/>
          </p:nvSpPr>
          <p:spPr>
            <a:xfrm>
              <a:off x="7005638" y="4112895"/>
              <a:ext cx="4652962" cy="1324928"/>
            </a:xfrm>
            <a:prstGeom prst="roundRect">
              <a:avLst>
                <a:gd name="adj" fmla="val 10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15162" y="4246245"/>
              <a:ext cx="47625" cy="10582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24712" y="42938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17384" y="43267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18236" y="463343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邻接表把边挂在起点链上，出度数一数链长就有，入度却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要扫完全部 e 个边结点。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34" name="Rectangle 34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5805011"/>
              <a:ext cx="992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邻接表只存出边，入度要专门扫一遍。本讲代码标 C++，因为源课件用的是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Edge *p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Stack 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这类 C++ 写法，这里照原样保留，只补齐了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大括号与缩进。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20829" cy="909257"/>
            <a:chOff x="520446" y="342900"/>
            <a:chExt cx="94208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208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TopoOrder：弹栈输出一个顶点，顺手把邻接顶点的入度减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492240" cy="3549015"/>
            <a:chOff x="533400" y="1524000"/>
            <a:chExt cx="6492240" cy="35490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549015"/>
            </a:xfrm>
            <a:prstGeom prst="roundRect">
              <a:avLst>
                <a:gd name="adj" fmla="val 26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拓扑排序主过程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81350"/>
              <a:ext cx="645414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81450"/>
              <a:ext cx="645414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194"/>
              <a:ext cx="4066413" cy="3053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TopoOrder(Vertex Head[],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InDegree[N]; Stack s;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getInDegree(Head, n, InDegree);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求每个顶点的入度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入度为 0 的顶点进栈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(InDegree[i] == 0) s.PUSH(i);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(s.Empty())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还没输出够 n 个就没货了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s.POP();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j);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输出一个入度为 0 的顶点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Head[j].adjacent; p != NULL; p = p-&gt;link)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删边 &lt;j, k&gt; 的效果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InDegree[k]--;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(InDegree[k] == 0) s.PUSH(k);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card-1"/>
          <p:cNvGrpSpPr/>
          <p:nvPr/>
        </p:nvGrpSpPr>
        <p:grpSpPr>
          <a:xfrm>
            <a:off x="7330440" y="1524000"/>
            <a:ext cx="4328160" cy="1954530"/>
            <a:chOff x="7330440" y="1524000"/>
            <a:chExt cx="4328160" cy="1954530"/>
          </a:xfrm>
        </p:grpSpPr>
        <p:sp>
          <p:nvSpPr>
            <p:cNvPr id="13" name="Rectangle 13"/>
            <p:cNvSpPr/>
            <p:nvPr/>
          </p:nvSpPr>
          <p:spPr>
            <a:xfrm>
              <a:off x="7330440" y="1524000"/>
              <a:ext cx="4328160" cy="1954530"/>
            </a:xfrm>
            <a:prstGeom prst="roundRect">
              <a:avLst>
                <a:gd name="adj" fmla="val 68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284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1028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9887" y="1756410"/>
              <a:ext cx="1116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整体 O(n+e)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987" y="2090738"/>
              <a:ext cx="37856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求入度 O(n+e)，初始化压栈 O(n)，主循环里每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个顶点恰好出栈一次、每条边恰好被扫描一次，合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计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7130" y="2903696"/>
              <a:ext cx="3702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前提：邻接表存储，栈的 PUSH 与 POP 都是 O(1)。若改用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邻接矩阵，内层扫描一行要 O(n)，总代价变成 O(n²)。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7330440" y="3653790"/>
            <a:ext cx="4328160" cy="1786890"/>
            <a:chOff x="7330440" y="3653790"/>
            <a:chExt cx="4328160" cy="1786890"/>
          </a:xfrm>
        </p:grpSpPr>
        <p:sp>
          <p:nvSpPr>
            <p:cNvPr id="20" name="Rectangle 20"/>
            <p:cNvSpPr/>
            <p:nvPr/>
          </p:nvSpPr>
          <p:spPr>
            <a:xfrm>
              <a:off x="7330440" y="3653790"/>
              <a:ext cx="432816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39965" y="378714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60945" y="38461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52385" y="38804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4637" y="38862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没有真的删顶点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4087" y="4220528"/>
              <a:ext cx="370846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代码从头到尾没有修改邻接表，“删除顶点及其出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边”只体现为把邻接顶点的入度减 1，所以原图不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会被破坏。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4087" y="5036820"/>
              <a:ext cx="3963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是数组的容量上限，必须不小于实际顶点数 n。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28" name="Rectangle 2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3610"/>
              <a:ext cx="7873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主循环写成固定的 n 次，而不是“栈不空就循环”，就是为了在第几次取不到顶点时立刻判定有环。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在六顶点的例子上逐步执行一遍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7685" y="1524000"/>
            <a:ext cx="6065520" cy="3437097"/>
            <a:chOff x="527685" y="1524000"/>
            <a:chExt cx="6065520" cy="34370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270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32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弹出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446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它的邻接点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73556" y="1659731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 1 后的入度数组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5571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新进栈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0344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栈内容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604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2803" y="210835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4 3 2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6303" y="2108359"/>
              <a:ext cx="840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0 0 1 1 0 3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0367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2351" y="2108359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6046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2803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86303" y="2556986"/>
              <a:ext cx="840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0 0 1 1 0 2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3673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52351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046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52803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86303" y="3005614"/>
              <a:ext cx="840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0 0 0 1 0 2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03673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52351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6046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52803" y="345424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86303" y="3454241"/>
              <a:ext cx="840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0 0 0 0 0 1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03673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52351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6046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52803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86303" y="3903821"/>
              <a:ext cx="840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0 0 0 0 0 0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3673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52351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211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21671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6046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52803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86303" y="4352449"/>
              <a:ext cx="8400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0 0 0 0 0 0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03673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52351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605980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1346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74021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07371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9108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3976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7685" y="4741069"/>
              <a:ext cx="3851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 InDegree 为 [0, 0, 2, 2, 1, 3]，顶点 0、1 先进栈</a:t>
              </a:r>
            </a:p>
          </p:txBody>
        </p:sp>
      </p:grpSp>
      <p:grpSp>
        <p:nvGrpSpPr>
          <p:cNvPr id="79" name="c2-cells-1"/>
          <p:cNvGrpSpPr/>
          <p:nvPr/>
        </p:nvGrpSpPr>
        <p:grpSpPr>
          <a:xfrm>
            <a:off x="6891909" y="1524000"/>
            <a:ext cx="2958846" cy="419100"/>
            <a:chOff x="6891909" y="1524000"/>
            <a:chExt cx="2958846" cy="419100"/>
          </a:xfrm>
        </p:grpSpPr>
        <p:sp>
          <p:nvSpPr>
            <p:cNvPr id="66" name="TextBox 66"/>
            <p:cNvSpPr txBox="1"/>
            <p:nvPr/>
          </p:nvSpPr>
          <p:spPr>
            <a:xfrm>
              <a:off x="6891909" y="16592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336155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9296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755255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1206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174355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3116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593455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75026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012555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16936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431655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58846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6" name="c2-card-2"/>
          <p:cNvGrpSpPr/>
          <p:nvPr/>
        </p:nvGrpSpPr>
        <p:grpSpPr>
          <a:xfrm>
            <a:off x="6898005" y="2133600"/>
            <a:ext cx="4760595" cy="1956435"/>
            <a:chOff x="6898005" y="2133600"/>
            <a:chExt cx="4760595" cy="1956435"/>
          </a:xfrm>
        </p:grpSpPr>
        <p:sp>
          <p:nvSpPr>
            <p:cNvPr id="80" name="Rectangle 80"/>
            <p:cNvSpPr/>
            <p:nvPr/>
          </p:nvSpPr>
          <p:spPr>
            <a:xfrm>
              <a:off x="6898005" y="2133600"/>
              <a:ext cx="4760595" cy="1956435"/>
            </a:xfrm>
            <a:prstGeom prst="roundRect">
              <a:avLst>
                <a:gd name="adj" fmla="val 68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107555" y="23431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97763" y="2378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07630" y="2378392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为什么先弹出的是 1 而不是 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099935" y="2739390"/>
              <a:ext cx="4130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初始化按 i 从小到大压栈，0 先进、1 后进，栈顶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1，所以第一个输出的是 1。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99935" y="336042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换成队列就会先输出 0。两种容器给出的都是合法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的拓扑序列，只是序列不同。</a:t>
              </a:r>
            </a:p>
          </p:txBody>
        </p:sp>
      </p:grpSp>
      <p:grpSp>
        <p:nvGrpSpPr>
          <p:cNvPr id="93" name="c2-callout-3"/>
          <p:cNvGrpSpPr/>
          <p:nvPr/>
        </p:nvGrpSpPr>
        <p:grpSpPr>
          <a:xfrm>
            <a:off x="6898005" y="4280535"/>
            <a:ext cx="4760595" cy="782955"/>
            <a:chOff x="6898005" y="4280535"/>
            <a:chExt cx="4760595" cy="782955"/>
          </a:xfrm>
        </p:grpSpPr>
        <p:sp>
          <p:nvSpPr>
            <p:cNvPr id="87" name="Rectangle 87"/>
            <p:cNvSpPr/>
            <p:nvPr/>
          </p:nvSpPr>
          <p:spPr>
            <a:xfrm>
              <a:off x="6898005" y="428053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102793" y="4572000"/>
              <a:ext cx="200026" cy="200026"/>
              <a:chOff x="7102793" y="4572000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102793" y="45720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202805" y="4638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191693" y="46720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7404735" y="4429125"/>
              <a:ext cx="3872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核对一遍：输出序列 1 4 0 2 3 5 里，8 条边的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起点都排在终点前面。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4" name="Rectangle 9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手算时把入度数组抄成一行，每弹出一个顶点就把它邻接点那几格减 1，减到 0 的当场圈起来进栈。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0566" cy="909257"/>
            <a:chOff x="520446" y="342900"/>
            <a:chExt cx="7550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05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不想写 Stack 类：用一个数组和一个 top 就够了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406842"/>
            <a:chOff x="533400" y="1524000"/>
            <a:chExt cx="5842635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把三处栈操作换成数组写法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852547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stack[N], top = -1;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代替 Stack s;     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stack[++top] = i;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代替 s.PUSH(i);   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top == -1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代替 s.Empty()    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 = stack[top--];         /* 代替 j = s.POP(); 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stack[++top] = k;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代替 s.PUSH(k);    */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3095625"/>
            <a:ext cx="5842635" cy="702945"/>
            <a:chOff x="533400" y="3095625"/>
            <a:chExt cx="5842635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309562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3347087"/>
              <a:ext cx="200023" cy="200023"/>
              <a:chOff x="738188" y="3347087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33470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34137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1273" y="3240881"/>
              <a:ext cx="483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栈里最多同时装 n 个顶点，所以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stack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开成 N 个元素就够，额外空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间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3963352"/>
            <a:ext cx="5842635" cy="1687830"/>
            <a:chOff x="533400" y="3963352"/>
            <a:chExt cx="5842635" cy="1687830"/>
          </a:xfrm>
        </p:grpSpPr>
        <p:sp>
          <p:nvSpPr>
            <p:cNvPr id="17" name="Rectangle 17"/>
            <p:cNvSpPr/>
            <p:nvPr/>
          </p:nvSpPr>
          <p:spPr>
            <a:xfrm>
              <a:off x="533400" y="3963352"/>
              <a:ext cx="584263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96702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41443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147" y="41771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450" y="418385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数组栈最容易写错的两处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4500086"/>
              <a:ext cx="5125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top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的初值必须是 −1。写成 0 会让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stack[0]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永远空着，判空条件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top</a:t>
              </a:r>
              <a:br/>
              <a:r>
                <a:rPr lang="zh-CN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== -1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也不再成立。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5028724"/>
              <a:ext cx="5092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压栈写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stack[++top] = i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，弹栈写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stack[top--]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，前缀与后缀不能对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调，否则要么覆盖掉栈顶，要么读到栈顶上方的空位。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680835" y="1524000"/>
            <a:ext cx="4977765" cy="1930718"/>
            <a:chOff x="6680835" y="1524000"/>
            <a:chExt cx="4977765" cy="1930718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66838" y="1744504"/>
              <a:ext cx="2931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17、50 页的函数调用写错了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3433" y="2061686"/>
              <a:ext cx="43126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InDegree(Head, n, InDegree);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，但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InDegree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同一个函数里刚被声明成数组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InDegree[N];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，不是函数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名，这一行编不过。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3433" y="2832259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应当写成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getInDegree(Head, n, InDegree);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，与第 14、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页定义的函数名一致。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680835" y="3619500"/>
            <a:ext cx="4977765" cy="2031682"/>
            <a:chOff x="6680835" y="3619500"/>
            <a:chExt cx="4977765" cy="2031682"/>
          </a:xfrm>
        </p:grpSpPr>
        <p:sp>
          <p:nvSpPr>
            <p:cNvPr id="33" name="Rectangle 33"/>
            <p:cNvSpPr/>
            <p:nvPr/>
          </p:nvSpPr>
          <p:spPr>
            <a:xfrm>
              <a:off x="6680835" y="3619500"/>
              <a:ext cx="4977765" cy="2031682"/>
            </a:xfrm>
            <a:prstGeom prst="roundRect">
              <a:avLst>
                <a:gd name="adj" fmla="val 65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0360" y="3752850"/>
              <a:ext cx="47625" cy="17649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9910" y="3800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2582" y="3833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66838" y="38409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栈的判空函数名前后不一致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3433" y="4157186"/>
              <a:ext cx="40525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16 页用的是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s.Empty()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17 页同一段代码却写成</a:t>
              </a:r>
              <a:br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s.IsEmpty()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。本讲义统一写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s.Empty()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0" name="Rectangle 4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6039326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这两处都是抄写层面的笔误，算法本身没有问题，改掉名字即可编译运行。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课下思考：把栈换成队列可以吗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28066" y="1524000"/>
            <a:ext cx="5631752" cy="3525774"/>
            <a:chOff x="528066" y="1524000"/>
            <a:chExt cx="5631752" cy="352577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3285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332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3291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它的邻接点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2098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新入队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244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47098" y="205406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59605" y="205406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9634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84058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7098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960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634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84058" y="286559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4 3 2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47098" y="286559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59605" y="286559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634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84058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47098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5960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9634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84058" y="367712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47098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5960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96340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84058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47098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59605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359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3412" y="4488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96340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84058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447098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459605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5626418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9156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87928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34232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5483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066" y="484441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同一张六顶点图，改用队列的执行过程</a:t>
              </a:r>
            </a:p>
          </p:txBody>
        </p:sp>
      </p:grpSp>
      <p:grpSp>
        <p:nvGrpSpPr>
          <p:cNvPr id="75" name="c1-cells-2"/>
          <p:cNvGrpSpPr/>
          <p:nvPr/>
        </p:nvGrpSpPr>
        <p:grpSpPr>
          <a:xfrm>
            <a:off x="527685" y="5183505"/>
            <a:ext cx="2938463" cy="381000"/>
            <a:chOff x="527685" y="5183505"/>
            <a:chExt cx="2938463" cy="381000"/>
          </a:xfrm>
        </p:grpSpPr>
        <p:sp>
          <p:nvSpPr>
            <p:cNvPr id="62" name="TextBox 62"/>
            <p:cNvSpPr txBox="1"/>
            <p:nvPr/>
          </p:nvSpPr>
          <p:spPr>
            <a:xfrm>
              <a:off x="527685" y="53039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51548" y="518350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11846" y="5303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370648" y="518350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530946" y="5303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789748" y="518350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950046" y="5303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208848" y="518350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369146" y="5303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627948" y="518350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788246" y="5303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047048" y="518350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207346" y="5303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2" name="c2-card-1"/>
          <p:cNvGrpSpPr/>
          <p:nvPr/>
        </p:nvGrpSpPr>
        <p:grpSpPr>
          <a:xfrm>
            <a:off x="6464618" y="1524000"/>
            <a:ext cx="5193982" cy="2044065"/>
            <a:chOff x="6464618" y="1524000"/>
            <a:chExt cx="5193982" cy="2044065"/>
          </a:xfrm>
        </p:grpSpPr>
        <p:sp>
          <p:nvSpPr>
            <p:cNvPr id="76" name="Rectangle 76"/>
            <p:cNvSpPr/>
            <p:nvPr/>
          </p:nvSpPr>
          <p:spPr>
            <a:xfrm>
              <a:off x="6464618" y="1524000"/>
              <a:ext cx="5193982" cy="2044065"/>
            </a:xfrm>
            <a:prstGeom prst="roundRect">
              <a:avLst>
                <a:gd name="adj" fmla="val 65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6570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484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40714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可以，而且什么都不用改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50164" y="2090738"/>
              <a:ext cx="45142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算法只要求“每次取出一个当前入度为 0 的顶点”，至于取哪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一个完全自由。栈取最后进来的，队列取最先进来的，都合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50164" y="2907030"/>
              <a:ext cx="446713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两种容器的时间复杂度同样是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，输出的序列一般不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464618" y="3742372"/>
            <a:ext cx="5193982" cy="1822132"/>
            <a:chOff x="6464618" y="3742372"/>
            <a:chExt cx="5193982" cy="1822132"/>
          </a:xfrm>
        </p:grpSpPr>
        <p:sp>
          <p:nvSpPr>
            <p:cNvPr id="83" name="Rectangle 83"/>
            <p:cNvSpPr/>
            <p:nvPr/>
          </p:nvSpPr>
          <p:spPr>
            <a:xfrm>
              <a:off x="6464618" y="3742372"/>
              <a:ext cx="5193982" cy="1822132"/>
            </a:xfrm>
            <a:prstGeom prst="roundRect">
              <a:avLst>
                <a:gd name="adj" fmla="val 7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474142" y="3875722"/>
              <a:ext cx="47625" cy="15554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695122" y="393477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78562" y="39690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区别在哪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688264" y="4291965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队列版按“层”推进，先输出全部初始入度为 0 的顶点，常用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来求每个任务最早能在第几轮开工。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688264" y="485108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若要求字典序最小的拓扑序列，把容器换成小根堆，代价变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O(n log n + e)。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0" name="Rectangle 9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892" y="6023610"/>
              <a:ext cx="7855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容器的选择只影响挑中哪一个顶点，不影响算法的正确性，因为入度为 0 的顶点排在此刻都合法。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10900" cy="909257"/>
            <a:chOff x="520446" y="342900"/>
            <a:chExt cx="1101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1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练习：判断给定序列是不是该图的拓扑序列（北京航空航天大学考研题）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01108" cy="2011109"/>
            <a:chOff x="533400" y="1533525"/>
            <a:chExt cx="4601108" cy="20111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课件思路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188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扫描序列中的每个顶点，看它在当前图中的入度是否为 0。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不为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说明它还有没完成的先决条件，该序列不是拓扑序列，算法退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37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在图中删去该顶点及其引出的边，继续扫描下一个。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720465"/>
            <a:ext cx="4977765" cy="1757362"/>
            <a:chOff x="533400" y="3720465"/>
            <a:chExt cx="4977765" cy="1757362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4977765" cy="1757362"/>
            </a:xfrm>
            <a:prstGeom prst="roundRect">
              <a:avLst>
                <a:gd name="adj" fmla="val 650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499610"/>
              <a:ext cx="200026" cy="200026"/>
              <a:chOff x="738188" y="449961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4996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5662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5996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368641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按这个思路实现，每次删顶点都要遍历它的出边，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总代价仍是 O(n+e)。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5815965" y="1524000"/>
            <a:ext cx="5842635" cy="2212658"/>
            <a:chOff x="5815965" y="1524000"/>
            <a:chExt cx="5842635" cy="2212658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2212658"/>
            </a:xfrm>
            <a:prstGeom prst="roundRect">
              <a:avLst>
                <a:gd name="adj" fmla="val 43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44362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补充：一遍扫描的等价写法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44514" y="1936337"/>
              <a:ext cx="4629607" cy="1719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IsTopoSeq(Vertex Head[],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seq[])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pos[N];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pos[seq[i]] = i;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记下每个顶点的位置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Head[i].adjacent; p; p = p-&gt;link)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(pos[i] &gt; pos[p-&gt;VerAdj])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有边从后指向前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5815965" y="3921442"/>
            <a:ext cx="5842635" cy="1556385"/>
            <a:chOff x="5815965" y="3921442"/>
            <a:chExt cx="5842635" cy="1556385"/>
          </a:xfrm>
        </p:grpSpPr>
        <p:sp>
          <p:nvSpPr>
            <p:cNvPr id="32" name="Rectangle 32"/>
            <p:cNvSpPr/>
            <p:nvPr/>
          </p:nvSpPr>
          <p:spPr>
            <a:xfrm>
              <a:off x="5815965" y="3921442"/>
              <a:ext cx="5842635" cy="1556385"/>
            </a:xfrm>
            <a:prstGeom prst="roundRect">
              <a:avLst>
                <a:gd name="adj" fmla="val 856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19800" y="412527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97206" y="41609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为什么等价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561" y="4499134"/>
              <a:ext cx="51451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序列是拓扑序列，当且仅当每条边 ⟨i, k⟩ 都满足 i 的位置在 k 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面。逐条边检查一次即可，不必真的删顶点。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3704" y="5086350"/>
              <a:ext cx="5326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调用前要先确认 seq 是 0 到 n−1 的一个排列，否则 pos 数组会留下脏值。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6004084"/>
              <a:ext cx="85921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源课件只给了思路没给代码，两种写法都是 O(n+e)，考场上写哪种都行，后者更短也更不容易出错。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深度优先遍历给出的是拓扑序的逆序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1200150" y="1638300"/>
            <a:ext cx="3428048" cy="1638300"/>
            <a:chOff x="1200150" y="1638300"/>
            <a:chExt cx="3428048" cy="1638300"/>
          </a:xfrm>
        </p:grpSpPr>
        <p:sp>
          <p:nvSpPr>
            <p:cNvPr id="7" name="Freeform 7"/>
            <p:cNvSpPr/>
            <p:nvPr/>
          </p:nvSpPr>
          <p:spPr>
            <a:xfrm>
              <a:off x="1618298" y="1956435"/>
              <a:ext cx="1141095" cy="942022"/>
            </a:xfrm>
            <a:custGeom>
              <a:avLst/>
              <a:gdLst/>
              <a:ahLst/>
              <a:cxnLst/>
              <a:rect l="l" t="t" r="r" b="b"/>
              <a:pathLst>
                <a:path w="1141095" h="942022">
                  <a:moveTo>
                    <a:pt x="1141095" y="0"/>
                  </a:moveTo>
                  <a:lnTo>
                    <a:pt x="0" y="9420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44955" y="2861310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2862" y="0"/>
                  </a:lnTo>
                  <a:lnTo>
                    <a:pt x="103823" y="7334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68002" y="1956435"/>
              <a:ext cx="1142047" cy="942022"/>
            </a:xfrm>
            <a:custGeom>
              <a:avLst/>
              <a:gdLst/>
              <a:ahLst/>
              <a:cxnLst/>
              <a:rect l="l" t="t" r="r" b="b"/>
              <a:pathLst>
                <a:path w="1142047" h="942022">
                  <a:moveTo>
                    <a:pt x="0" y="0"/>
                  </a:moveTo>
                  <a:lnTo>
                    <a:pt x="1142047" y="9420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79570" y="286131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3343"/>
                  </a:lnTo>
                  <a:lnTo>
                    <a:pt x="600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90675" y="3086100"/>
              <a:ext cx="2551748" cy="9525"/>
            </a:xfrm>
            <a:custGeom>
              <a:avLst/>
              <a:gdLst/>
              <a:ahLst/>
              <a:cxnLst/>
              <a:rect l="l" t="t" r="r" b="b"/>
              <a:pathLst>
                <a:path w="2551748" h="9525">
                  <a:moveTo>
                    <a:pt x="0" y="0"/>
                  </a:moveTo>
                  <a:lnTo>
                    <a:pt x="25517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42422" y="3038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723198" y="16383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200150" y="2895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247198" y="2895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61982" y="1758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8935" y="30160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5982" y="30160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619500"/>
            <a:ext cx="4760595" cy="1945958"/>
            <a:chOff x="533400" y="3619500"/>
            <a:chExt cx="4760595" cy="1945958"/>
          </a:xfrm>
        </p:grpSpPr>
        <p:sp>
          <p:nvSpPr>
            <p:cNvPr id="20" name="Rectangle 20"/>
            <p:cNvSpPr/>
            <p:nvPr/>
          </p:nvSpPr>
          <p:spPr>
            <a:xfrm>
              <a:off x="533400" y="3619500"/>
              <a:ext cx="4760595" cy="1945958"/>
            </a:xfrm>
            <a:prstGeom prst="roundRect">
              <a:avLst>
                <a:gd name="adj" fmla="val 685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" y="38290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5259" y="38647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关键观察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4206240"/>
              <a:ext cx="3787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图中有边 A → B。DFS 不能保证 A 在 B 之前输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出，但能保证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 一定在 B 之后输出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482727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C 出发依次访问 C、A、B，回退时输出，得到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A C，反过来就是拓扑序列 C A B。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5598795" y="1524000"/>
            <a:ext cx="6059805" cy="2791778"/>
            <a:chOff x="5598795" y="1524000"/>
            <a:chExt cx="6059805" cy="2791778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27192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结点变黑时输出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17845" y="295465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27192" y="1935956"/>
              <a:ext cx="4210431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DFS_TopoSort(Vertex *Head,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1;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灰：正在递归中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 != NULL; p = p-&gt;link)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DFS_TopoSort(Head, p-&gt;VerAdj, visited);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2;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黑：子孙全部处理完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v);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初始调用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(visited[i] ==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DFS_TopoSort(Head, i, visited);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5598795" y="4506278"/>
            <a:ext cx="6059805" cy="1059180"/>
            <a:chOff x="5598795" y="4506278"/>
            <a:chExt cx="6059805" cy="1059180"/>
          </a:xfrm>
        </p:grpSpPr>
        <p:sp>
          <p:nvSpPr>
            <p:cNvPr id="31" name="Rectangle 31"/>
            <p:cNvSpPr/>
            <p:nvPr/>
          </p:nvSpPr>
          <p:spPr>
            <a:xfrm>
              <a:off x="5598795" y="4506278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803583" y="4935857"/>
              <a:ext cx="200023" cy="200023"/>
              <a:chOff x="5803583" y="4935857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803583" y="49358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36933" y="50025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105525" y="4654868"/>
              <a:ext cx="4853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时间复杂度同样是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，额外空间是递归栈，最坏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O(n)。输出结果要倒过来读，或者先压进一个栈再依次弹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83246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道理在于：v 变黑之前，凡是 v 能到达的顶点都已经变黑并输出，所以 v 一定排在它们后面。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0743" cy="909257"/>
            <a:chOff x="520446" y="342900"/>
            <a:chExt cx="83207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07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版本要自己判环，否则有环时会悄悄给出错误答案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951220" cy="2453640"/>
            <a:chOff x="533400" y="1524000"/>
            <a:chExt cx="5951220" cy="2453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补充：加一行就能检测有向环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99398"/>
              <a:ext cx="5913120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48940"/>
              <a:ext cx="5913120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004"/>
              <a:ext cx="3888740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DFS_Topo(Vertex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1;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灰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 != NULL; p = p-&gt;link)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(visited[k] == 0)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(!DFS_Topo(Head, k, visited))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(visited[k] == 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指回灰点：有环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2;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黑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v);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142422"/>
            <a:ext cx="5951220" cy="1396365"/>
            <a:chOff x="533400" y="4142422"/>
            <a:chExt cx="5951220" cy="1396365"/>
          </a:xfrm>
        </p:grpSpPr>
        <p:sp>
          <p:nvSpPr>
            <p:cNvPr id="13" name="Rectangle 13"/>
            <p:cNvSpPr/>
            <p:nvPr/>
          </p:nvSpPr>
          <p:spPr>
            <a:xfrm>
              <a:off x="533400" y="4142422"/>
              <a:ext cx="5951220" cy="1396365"/>
            </a:xfrm>
            <a:prstGeom prst="roundRect">
              <a:avLst>
                <a:gd name="adj" fmla="val 818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736901"/>
              <a:ext cx="224134" cy="192560"/>
              <a:chOff x="726129" y="4736901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8072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7369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8850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4516279"/>
              <a:ext cx="492226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源课件的版本把 visited 分成 0、1、2 三个状态，却从未检查过状态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1。图里有环时它照样跑完并输出一个序列，而那个序列不是拓扑序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列。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789420" y="1524000"/>
            <a:ext cx="4869180" cy="1717358"/>
            <a:chOff x="6789420" y="1524000"/>
            <a:chExt cx="4869180" cy="1717358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1717358"/>
            </a:xfrm>
            <a:prstGeom prst="roundRect">
              <a:avLst>
                <a:gd name="adj" fmla="val 776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7039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5496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三种颜色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3918" y="2045494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白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：还没访问。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63918" y="2330291"/>
              <a:ext cx="4474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灰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：进了递归但还没退出，也就是还在当前这条路径上。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3918" y="2615089"/>
              <a:ext cx="2579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黑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：它的全部后继都处理完了。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5061" y="2896552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指向灰点等于指回自己路径上的祖先，这条边是回边，有回边就有环。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784467" y="3406140"/>
            <a:ext cx="4874133" cy="2170461"/>
            <a:chOff x="6784467" y="3406140"/>
            <a:chExt cx="4874133" cy="2170461"/>
          </a:xfrm>
        </p:grpSpPr>
        <p:sp>
          <p:nvSpPr>
            <p:cNvPr id="28" name="Rectangle 28"/>
            <p:cNvSpPr/>
            <p:nvPr/>
          </p:nvSpPr>
          <p:spPr>
            <a:xfrm>
              <a:off x="6789420" y="3406140"/>
              <a:ext cx="486918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0739" y="35232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入度加栈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20932" y="352329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84098" y="3905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输出顺序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39544" y="39052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直接是拓扑序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46411" y="3905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逆拓扑序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416433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89420" y="416909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84098" y="4286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39544" y="42862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天然带判环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46411" y="42862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要自己查灰点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89420" y="454533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4098" y="4667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39544" y="46672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入度数组加栈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46411" y="46672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49272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493204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4098" y="50492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39544" y="5049202"/>
              <a:ext cx="51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O(n+e)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46411" y="5049202"/>
              <a:ext cx="514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O(n+e)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89420" y="3406140"/>
              <a:ext cx="486918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40102" y="340614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46970" y="340614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4467" y="538591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两种实现的对照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6883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两种写法都是 O(n+e)，选哪种看需求：要顺带知道有没有环且不想递归，就用入度加栈。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82614" cy="909257"/>
            <a:chOff x="520446" y="342900"/>
            <a:chExt cx="63826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拓扑排序怎么写出来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826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应用举例：多重继承下 g.f() 到底调用谁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1443038" y="1644968"/>
            <a:ext cx="3088957" cy="2946559"/>
            <a:chOff x="1443038" y="1644968"/>
            <a:chExt cx="3088957" cy="2946559"/>
          </a:xfrm>
        </p:grpSpPr>
        <p:sp>
          <p:nvSpPr>
            <p:cNvPr id="7" name="Freeform 7"/>
            <p:cNvSpPr/>
            <p:nvPr/>
          </p:nvSpPr>
          <p:spPr>
            <a:xfrm>
              <a:off x="1783080" y="1984058"/>
              <a:ext cx="784860" cy="521017"/>
            </a:xfrm>
            <a:custGeom>
              <a:avLst/>
              <a:gdLst/>
              <a:ahLst/>
              <a:cxnLst/>
              <a:rect l="l" t="t" r="r" b="b"/>
              <a:pathLst>
                <a:path w="784860" h="521017">
                  <a:moveTo>
                    <a:pt x="0" y="521017"/>
                  </a:moveTo>
                  <a:lnTo>
                    <a:pt x="7848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41270" y="1931670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105727" y="0"/>
                  </a:moveTo>
                  <a:lnTo>
                    <a:pt x="52388" y="92392"/>
                  </a:lnTo>
                  <a:lnTo>
                    <a:pt x="0" y="123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99422" y="2035492"/>
              <a:ext cx="403860" cy="435292"/>
            </a:xfrm>
            <a:custGeom>
              <a:avLst/>
              <a:gdLst/>
              <a:ahLst/>
              <a:cxnLst/>
              <a:rect l="l" t="t" r="r" b="b"/>
              <a:pathLst>
                <a:path w="403860" h="435292">
                  <a:moveTo>
                    <a:pt x="403860" y="43529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35605" y="1965960"/>
              <a:ext cx="99060" cy="101917"/>
            </a:xfrm>
            <a:custGeom>
              <a:avLst/>
              <a:gdLst/>
              <a:ahLst/>
              <a:cxnLst/>
              <a:rect l="l" t="t" r="r" b="b"/>
              <a:pathLst>
                <a:path w="99060" h="101917">
                  <a:moveTo>
                    <a:pt x="0" y="0"/>
                  </a:moveTo>
                  <a:lnTo>
                    <a:pt x="99060" y="37148"/>
                  </a:lnTo>
                  <a:lnTo>
                    <a:pt x="29528" y="1019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8795" y="2845118"/>
              <a:ext cx="361950" cy="515303"/>
            </a:xfrm>
            <a:custGeom>
              <a:avLst/>
              <a:gdLst/>
              <a:ahLst/>
              <a:cxnLst/>
              <a:rect l="l" t="t" r="r" b="b"/>
              <a:pathLst>
                <a:path w="361950" h="515303">
                  <a:moveTo>
                    <a:pt x="361950" y="51530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33550" y="2767012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0" y="0"/>
                  </a:moveTo>
                  <a:lnTo>
                    <a:pt x="93345" y="50483"/>
                  </a:lnTo>
                  <a:lnTo>
                    <a:pt x="16192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15540" y="2776538"/>
              <a:ext cx="884872" cy="629603"/>
            </a:xfrm>
            <a:custGeom>
              <a:avLst/>
              <a:gdLst/>
              <a:ahLst/>
              <a:cxnLst/>
              <a:rect l="l" t="t" r="r" b="b"/>
              <a:pathLst>
                <a:path w="884872" h="629603">
                  <a:moveTo>
                    <a:pt x="0" y="629603"/>
                  </a:moveTo>
                  <a:lnTo>
                    <a:pt x="8848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72790" y="2721292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5245" y="94298"/>
                  </a:lnTo>
                  <a:lnTo>
                    <a:pt x="0" y="161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24275" y="2823210"/>
              <a:ext cx="499110" cy="551498"/>
            </a:xfrm>
            <a:custGeom>
              <a:avLst/>
              <a:gdLst/>
              <a:ahLst/>
              <a:cxnLst/>
              <a:rect l="l" t="t" r="r" b="b"/>
              <a:pathLst>
                <a:path w="499110" h="551498">
                  <a:moveTo>
                    <a:pt x="499110" y="5514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60458" y="275177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0"/>
                  </a:moveTo>
                  <a:lnTo>
                    <a:pt x="99060" y="39053"/>
                  </a:lnTo>
                  <a:lnTo>
                    <a:pt x="28575" y="1028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76500" y="3703320"/>
              <a:ext cx="548640" cy="473392"/>
            </a:xfrm>
            <a:custGeom>
              <a:avLst/>
              <a:gdLst/>
              <a:ahLst/>
              <a:cxnLst/>
              <a:rect l="l" t="t" r="r" b="b"/>
              <a:pathLst>
                <a:path w="548640" h="473392">
                  <a:moveTo>
                    <a:pt x="548640" y="47339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04110" y="3641408"/>
              <a:ext cx="103823" cy="98108"/>
            </a:xfrm>
            <a:custGeom>
              <a:avLst/>
              <a:gdLst/>
              <a:ahLst/>
              <a:cxnLst/>
              <a:rect l="l" t="t" r="r" b="b"/>
              <a:pathLst>
                <a:path w="103823" h="98108">
                  <a:moveTo>
                    <a:pt x="0" y="0"/>
                  </a:moveTo>
                  <a:lnTo>
                    <a:pt x="103823" y="25717"/>
                  </a:lnTo>
                  <a:lnTo>
                    <a:pt x="40957" y="981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328035" y="3674745"/>
              <a:ext cx="784860" cy="521017"/>
            </a:xfrm>
            <a:custGeom>
              <a:avLst/>
              <a:gdLst/>
              <a:ahLst/>
              <a:cxnLst/>
              <a:rect l="l" t="t" r="r" b="b"/>
              <a:pathLst>
                <a:path w="784860" h="521017">
                  <a:moveTo>
                    <a:pt x="0" y="521017"/>
                  </a:moveTo>
                  <a:lnTo>
                    <a:pt x="7848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86225" y="3622358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0"/>
                  </a:moveTo>
                  <a:lnTo>
                    <a:pt x="53340" y="92392"/>
                  </a:lnTo>
                  <a:lnTo>
                    <a:pt x="0" y="123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625090" y="164496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443038" y="242982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351848" y="242982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079308" y="333565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170045" y="333565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987992" y="41205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57606" y="17602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75553" y="25450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4363" y="25450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11823" y="34509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02561" y="34509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20508" y="42357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21865" y="437149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箭头由子类指向父类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5382578" y="1524000"/>
            <a:ext cx="6276022" cy="1505902"/>
            <a:chOff x="5382578" y="1524000"/>
            <a:chExt cx="6276022" cy="1505902"/>
          </a:xfrm>
        </p:grpSpPr>
        <p:sp>
          <p:nvSpPr>
            <p:cNvPr id="35" name="Rectangle 35"/>
            <p:cNvSpPr/>
            <p:nvPr/>
          </p:nvSpPr>
          <p:spPr>
            <a:xfrm>
              <a:off x="5382578" y="1524000"/>
              <a:ext cx="6276022" cy="1505902"/>
            </a:xfrm>
            <a:prstGeom prst="roundRect">
              <a:avLst>
                <a:gd name="adj" fmla="val 6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10974" y="1675924"/>
              <a:ext cx="156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21 页的继承关系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1165" y="1934289"/>
              <a:ext cx="2492693" cy="100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f(){...} };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{...};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f(){...} };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{...};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 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{...};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 :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 {...};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 g;  g.f();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382578" y="3204210"/>
            <a:ext cx="6276022" cy="1272540"/>
            <a:chOff x="5382578" y="3204210"/>
            <a:chExt cx="6276022" cy="1272540"/>
          </a:xfrm>
        </p:grpSpPr>
        <p:sp>
          <p:nvSpPr>
            <p:cNvPr id="39" name="Rectangle 39"/>
            <p:cNvSpPr/>
            <p:nvPr/>
          </p:nvSpPr>
          <p:spPr>
            <a:xfrm>
              <a:off x="5382578" y="3204210"/>
              <a:ext cx="6276022" cy="1272540"/>
            </a:xfrm>
            <a:prstGeom prst="roundRect">
              <a:avLst>
                <a:gd name="adj" fmla="val 10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74982" y="339661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50420" y="34309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方法解析顺序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2074" y="343662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先把继承图拓扑排序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68124" y="3770948"/>
              <a:ext cx="5674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查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的顺序必须让每个类排在其父类之前，即继承图的一个拓扑序列。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68124" y="4073842"/>
              <a:ext cx="5454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C3 线性化挑定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G D B E C A object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，沿它遇到的第一个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在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C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里。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5382578" y="4652010"/>
            <a:ext cx="6276022" cy="729615"/>
            <a:chOff x="5382578" y="4652010"/>
            <a:chExt cx="6276022" cy="729615"/>
          </a:xfrm>
        </p:grpSpPr>
        <p:sp>
          <p:nvSpPr>
            <p:cNvPr id="46" name="Rectangle 46"/>
            <p:cNvSpPr/>
            <p:nvPr/>
          </p:nvSpPr>
          <p:spPr>
            <a:xfrm>
              <a:off x="5382578" y="465201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587365" y="4916805"/>
              <a:ext cx="200026" cy="200026"/>
              <a:chOff x="5587365" y="491680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5587365" y="49168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687378" y="4983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676265" y="50168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890070" y="4797742"/>
              <a:ext cx="525151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这张继承图共有 5 个拓扑序列，C3 线性化还要求保持每个类自己的父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类书写次序，于是唯一确定其中一个。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5779770"/>
              <a:ext cx="100263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已用 Python 实测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G.__mro__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确实是 G D B E C A object。同样的代码在 C++ 里编不过：D 通过 B 和 C 各继承到一份 A，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g.f()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有二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义性。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关键路径：工期卡在哪几项活动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把活动搬到边上并标出工期，就能算出整个工程最少要多久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685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AOE 网与源点汇点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事件的最早与最迟发生时间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活动的最早与最迟开始时间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关键活动的判据 e(i) = l(i)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945" cy="909257"/>
            <a:chOff x="520446" y="342900"/>
            <a:chExt cx="5993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关键路径：工期卡在哪几项活动上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AOE 网：活动搬到边上，顶点变成事件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33400" y="1524000"/>
            <a:ext cx="4328160" cy="2028825"/>
            <a:chOff x="533400" y="1524000"/>
            <a:chExt cx="432816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33663" y="1648301"/>
              <a:ext cx="521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AOV 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78630" y="1648301"/>
              <a:ext cx="521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AOE 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16605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3076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35530"/>
              <a:ext cx="432816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3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72590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先后关系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16605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3653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边上的权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72590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16605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活动的持续时间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4229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147060"/>
              <a:ext cx="432816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要回答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72590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先做谁后做谁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16605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工期与关键活动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432816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6781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21183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728085"/>
            <a:ext cx="4328160" cy="1768792"/>
            <a:chOff x="533400" y="3728085"/>
            <a:chExt cx="4328160" cy="1768792"/>
          </a:xfrm>
        </p:grpSpPr>
        <p:sp>
          <p:nvSpPr>
            <p:cNvPr id="31" name="Rectangle 31"/>
            <p:cNvSpPr/>
            <p:nvPr/>
          </p:nvSpPr>
          <p:spPr>
            <a:xfrm>
              <a:off x="533400" y="3728085"/>
              <a:ext cx="432816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386143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3920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5345" y="3954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4276725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：顶点表示的状态，含义是它的入边代表的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活动全部已完成，出边代表的活动可以开始。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047" y="4836795"/>
              <a:ext cx="36398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：入度为 0 的顶点，表示整个工程开始。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：出度为 0 的顶点，表示整个工程结束。</a:t>
              </a:r>
            </a:p>
          </p:txBody>
        </p:sp>
      </p:grpSp>
      <p:grpSp>
        <p:nvGrpSpPr>
          <p:cNvPr id="102" name="c2-graph-1"/>
          <p:cNvGrpSpPr/>
          <p:nvPr/>
        </p:nvGrpSpPr>
        <p:grpSpPr>
          <a:xfrm>
            <a:off x="5449252" y="1610201"/>
            <a:ext cx="6055996" cy="2373154"/>
            <a:chOff x="5449252" y="1610201"/>
            <a:chExt cx="6055996" cy="2373154"/>
          </a:xfrm>
        </p:grpSpPr>
        <p:sp>
          <p:nvSpPr>
            <p:cNvPr id="38" name="Freeform 38"/>
            <p:cNvSpPr/>
            <p:nvPr/>
          </p:nvSpPr>
          <p:spPr>
            <a:xfrm>
              <a:off x="5769292" y="1993582"/>
              <a:ext cx="1052512" cy="727710"/>
            </a:xfrm>
            <a:custGeom>
              <a:avLst/>
              <a:gdLst/>
              <a:ahLst/>
              <a:cxnLst/>
              <a:rect l="l" t="t" r="r" b="b"/>
              <a:pathLst>
                <a:path w="1052512" h="727710">
                  <a:moveTo>
                    <a:pt x="0" y="727710"/>
                  </a:moveTo>
                  <a:lnTo>
                    <a:pt x="10525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795135" y="193929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4293" y="93345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5801678" y="2824162"/>
              <a:ext cx="1230630" cy="9525"/>
            </a:xfrm>
            <a:custGeom>
              <a:avLst/>
              <a:gdLst/>
              <a:ahLst/>
              <a:cxnLst/>
              <a:rect l="l" t="t" r="r" b="b"/>
              <a:pathLst>
                <a:path w="1230630" h="9525">
                  <a:moveTo>
                    <a:pt x="0" y="0"/>
                  </a:moveTo>
                  <a:lnTo>
                    <a:pt x="12306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032308" y="2776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5769292" y="2927032"/>
              <a:ext cx="1052512" cy="727710"/>
            </a:xfrm>
            <a:custGeom>
              <a:avLst/>
              <a:gdLst/>
              <a:ahLst/>
              <a:cxnLst/>
              <a:rect l="l" t="t" r="r" b="b"/>
              <a:pathLst>
                <a:path w="1052512" h="727710">
                  <a:moveTo>
                    <a:pt x="0" y="0"/>
                  </a:moveTo>
                  <a:lnTo>
                    <a:pt x="1052512" y="727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795135" y="361569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93345"/>
                  </a:moveTo>
                  <a:lnTo>
                    <a:pt x="0" y="79057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215188" y="1907858"/>
              <a:ext cx="1268730" cy="546735"/>
            </a:xfrm>
            <a:custGeom>
              <a:avLst/>
              <a:gdLst/>
              <a:ahLst/>
              <a:cxnLst/>
              <a:rect l="l" t="t" r="r" b="b"/>
              <a:pathLst>
                <a:path w="1268730" h="546735">
                  <a:moveTo>
                    <a:pt x="0" y="0"/>
                  </a:moveTo>
                  <a:lnTo>
                    <a:pt x="1268730" y="5467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464868" y="2410778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105727" y="81915"/>
                  </a:moveTo>
                  <a:lnTo>
                    <a:pt x="0" y="87630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486650" y="2613660"/>
              <a:ext cx="978218" cy="178118"/>
            </a:xfrm>
            <a:custGeom>
              <a:avLst/>
              <a:gdLst/>
              <a:ahLst/>
              <a:cxnLst/>
              <a:rect l="l" t="t" r="r" b="b"/>
              <a:pathLst>
                <a:path w="978218" h="178118">
                  <a:moveTo>
                    <a:pt x="0" y="178118"/>
                  </a:moveTo>
                  <a:lnTo>
                    <a:pt x="9782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457248" y="2566988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101918" y="29528"/>
                  </a:moveTo>
                  <a:lnTo>
                    <a:pt x="1619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230428" y="3811905"/>
              <a:ext cx="1424940" cy="9525"/>
            </a:xfrm>
            <a:custGeom>
              <a:avLst/>
              <a:gdLst/>
              <a:ahLst/>
              <a:cxnLst/>
              <a:rect l="l" t="t" r="r" b="b"/>
              <a:pathLst>
                <a:path w="1424940" h="9525">
                  <a:moveTo>
                    <a:pt x="0" y="0"/>
                  </a:moveTo>
                  <a:lnTo>
                    <a:pt x="14249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655368" y="37642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899208" y="1907858"/>
              <a:ext cx="1148715" cy="575310"/>
            </a:xfrm>
            <a:custGeom>
              <a:avLst/>
              <a:gdLst/>
              <a:ahLst/>
              <a:cxnLst/>
              <a:rect l="l" t="t" r="r" b="b"/>
              <a:pathLst>
                <a:path w="1148715" h="575310">
                  <a:moveTo>
                    <a:pt x="0" y="575310"/>
                  </a:moveTo>
                  <a:lnTo>
                    <a:pt x="11487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026968" y="186499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0"/>
                  </a:moveTo>
                  <a:lnTo>
                    <a:pt x="42862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906828" y="2626042"/>
              <a:ext cx="1128712" cy="415290"/>
            </a:xfrm>
            <a:custGeom>
              <a:avLst/>
              <a:gdLst/>
              <a:ahLst/>
              <a:cxnLst/>
              <a:rect l="l" t="t" r="r" b="b"/>
              <a:pathLst>
                <a:path w="1128712" h="415290">
                  <a:moveTo>
                    <a:pt x="0" y="0"/>
                  </a:moveTo>
                  <a:lnTo>
                    <a:pt x="1128712" y="415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019348" y="2996565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7152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093518" y="3258502"/>
              <a:ext cx="954405" cy="473392"/>
            </a:xfrm>
            <a:custGeom>
              <a:avLst/>
              <a:gdLst/>
              <a:ahLst/>
              <a:cxnLst/>
              <a:rect l="l" t="t" r="r" b="b"/>
              <a:pathLst>
                <a:path w="954405" h="473392">
                  <a:moveTo>
                    <a:pt x="0" y="473392"/>
                  </a:moveTo>
                  <a:lnTo>
                    <a:pt x="9544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026968" y="3216592"/>
              <a:ext cx="105727" cy="84773"/>
            </a:xfrm>
            <a:custGeom>
              <a:avLst/>
              <a:gdLst/>
              <a:ahLst/>
              <a:cxnLst/>
              <a:rect l="l" t="t" r="r" b="b"/>
              <a:pathLst>
                <a:path w="105727" h="84773">
                  <a:moveTo>
                    <a:pt x="105727" y="0"/>
                  </a:moveTo>
                  <a:lnTo>
                    <a:pt x="41910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10450830" y="1877378"/>
              <a:ext cx="646747" cy="388620"/>
            </a:xfrm>
            <a:custGeom>
              <a:avLst/>
              <a:gdLst/>
              <a:ahLst/>
              <a:cxnLst/>
              <a:rect l="l" t="t" r="r" b="b"/>
              <a:pathLst>
                <a:path w="646747" h="388620">
                  <a:moveTo>
                    <a:pt x="0" y="0"/>
                  </a:moveTo>
                  <a:lnTo>
                    <a:pt x="646747" y="3886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1072812" y="222504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1915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443210" y="2566988"/>
              <a:ext cx="664845" cy="465772"/>
            </a:xfrm>
            <a:custGeom>
              <a:avLst/>
              <a:gdLst/>
              <a:ahLst/>
              <a:cxnLst/>
              <a:rect l="l" t="t" r="r" b="b"/>
              <a:pathLst>
                <a:path w="664845" h="465772">
                  <a:moveTo>
                    <a:pt x="0" y="465772"/>
                  </a:moveTo>
                  <a:lnTo>
                    <a:pt x="6648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1080432" y="2511742"/>
              <a:ext cx="105728" cy="94298"/>
            </a:xfrm>
            <a:custGeom>
              <a:avLst/>
              <a:gdLst/>
              <a:ahLst/>
              <a:cxnLst/>
              <a:rect l="l" t="t" r="r" b="b"/>
              <a:pathLst>
                <a:path w="105728" h="94298">
                  <a:moveTo>
                    <a:pt x="105728" y="0"/>
                  </a:moveTo>
                  <a:lnTo>
                    <a:pt x="54293" y="94298"/>
                  </a:lnTo>
                  <a:lnTo>
                    <a:pt x="0" y="161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5449252" y="2652712"/>
              <a:ext cx="342900" cy="3429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878002" y="166497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7137082" y="265271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878002" y="364045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565832" y="239268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760142" y="364045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124122" y="161258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124122" y="296513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1162348" y="2236470"/>
              <a:ext cx="342900" cy="3429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574553" y="27584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03303" y="17706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62383" y="27584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03303" y="37471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91133" y="24984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85443" y="37471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49423" y="17183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49423" y="30708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87648" y="2343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182678" y="2251710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208888" y="228076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a₁=6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312218" y="274510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38428" y="277510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a₂=4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182678" y="323945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08888" y="326945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a₃=5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740015" y="2121218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767178" y="215122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a₄=1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870508" y="261556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896718" y="264461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a₅=1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838122" y="3733800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864333" y="376285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a₆=2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363075" y="2095500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390238" y="212455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a₇=9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363075" y="277177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390238" y="280082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a₈=7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9461182" y="339566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487393" y="342471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a₉=4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633710" y="2017395"/>
              <a:ext cx="3629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0658138" y="2046446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a₁₀=2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0633710" y="2693670"/>
              <a:ext cx="3629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658138" y="2722721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a₁₁=4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464213" y="19750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源点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177308" y="16102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汇点</a:t>
              </a:r>
            </a:p>
          </p:txBody>
        </p:sp>
      </p:grpSp>
      <p:grpSp>
        <p:nvGrpSpPr>
          <p:cNvPr id="109" name="c2-callout-2"/>
          <p:cNvGrpSpPr/>
          <p:nvPr/>
        </p:nvGrpSpPr>
        <p:grpSpPr>
          <a:xfrm>
            <a:off x="5166360" y="4299585"/>
            <a:ext cx="6492240" cy="1197292"/>
            <a:chOff x="5166360" y="4299585"/>
            <a:chExt cx="6492240" cy="1197292"/>
          </a:xfrm>
        </p:grpSpPr>
        <p:sp>
          <p:nvSpPr>
            <p:cNvPr id="103" name="Rectangle 103"/>
            <p:cNvSpPr/>
            <p:nvPr/>
          </p:nvSpPr>
          <p:spPr>
            <a:xfrm>
              <a:off x="5166360" y="4299585"/>
              <a:ext cx="6492240" cy="1197292"/>
            </a:xfrm>
            <a:prstGeom prst="roundRect">
              <a:avLst>
                <a:gd name="adj" fmla="val 954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5371148" y="4797743"/>
              <a:ext cx="200026" cy="200026"/>
              <a:chOff x="5371148" y="4797743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5371148" y="47977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5471160" y="4864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5460048" y="48977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5673852" y="4679632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 9 个事件、11 个活动的 AOE 网是本讲的主例题，后面五页一直用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它。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0" name="Rectangle 11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本讲要回答三个问题：工期至少多久，哪些活动一天都不能拖，哪些活动可以拖以及能拖多久。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关键路径：工期卡在哪几项活动上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工期取决于从源点到汇点的最长路径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871538" y="1568768"/>
            <a:ext cx="4101464" cy="1554480"/>
            <a:chOff x="871538" y="1568768"/>
            <a:chExt cx="4101464" cy="1554480"/>
          </a:xfrm>
        </p:grpSpPr>
        <p:sp>
          <p:nvSpPr>
            <p:cNvPr id="7" name="Freeform 7"/>
            <p:cNvSpPr/>
            <p:nvPr/>
          </p:nvSpPr>
          <p:spPr>
            <a:xfrm>
              <a:off x="1233488" y="1841182"/>
              <a:ext cx="1365885" cy="460057"/>
            </a:xfrm>
            <a:custGeom>
              <a:avLst/>
              <a:gdLst/>
              <a:ahLst/>
              <a:cxnLst/>
              <a:rect l="l" t="t" r="r" b="b"/>
              <a:pathLst>
                <a:path w="1365885" h="460057">
                  <a:moveTo>
                    <a:pt x="0" y="460057"/>
                  </a:moveTo>
                  <a:lnTo>
                    <a:pt x="13658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85085" y="179546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5240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34440" y="2420302"/>
              <a:ext cx="1363980" cy="435293"/>
            </a:xfrm>
            <a:custGeom>
              <a:avLst/>
              <a:gdLst/>
              <a:ahLst/>
              <a:cxnLst/>
              <a:rect l="l" t="t" r="r" b="b"/>
              <a:pathLst>
                <a:path w="1363980" h="435293">
                  <a:moveTo>
                    <a:pt x="0" y="0"/>
                  </a:moveTo>
                  <a:lnTo>
                    <a:pt x="1363980" y="4352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84132" y="281082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4295"/>
                  </a:moveTo>
                  <a:lnTo>
                    <a:pt x="0" y="90488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52762" y="1804988"/>
              <a:ext cx="1465897" cy="442912"/>
            </a:xfrm>
            <a:custGeom>
              <a:avLst/>
              <a:gdLst/>
              <a:ahLst/>
              <a:cxnLst/>
              <a:rect l="l" t="t" r="r" b="b"/>
              <a:pathLst>
                <a:path w="1465897" h="442912">
                  <a:moveTo>
                    <a:pt x="0" y="0"/>
                  </a:moveTo>
                  <a:lnTo>
                    <a:pt x="1465897" y="4429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05325" y="2202180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2390"/>
                  </a:moveTo>
                  <a:lnTo>
                    <a:pt x="0" y="90488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51810" y="2416492"/>
              <a:ext cx="1467803" cy="468630"/>
            </a:xfrm>
            <a:custGeom>
              <a:avLst/>
              <a:gdLst/>
              <a:ahLst/>
              <a:cxnLst/>
              <a:rect l="l" t="t" r="r" b="b"/>
              <a:pathLst>
                <a:path w="1467803" h="468630">
                  <a:moveTo>
                    <a:pt x="0" y="468630"/>
                  </a:moveTo>
                  <a:lnTo>
                    <a:pt x="14678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05325" y="237172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6192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71538" y="218122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689860" y="156876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689860" y="276129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611052" y="214884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6363" y="22974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24686" y="16840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24686" y="2877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5878" y="22650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08798" y="1977390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35960" y="200644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a₁=6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08798" y="257365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35960" y="260365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a₂=4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78555" y="1961198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5718" y="199024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a₄=1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78555" y="255746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05718" y="258746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a₃=1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527685" y="3329464"/>
            <a:ext cx="4706061" cy="441008"/>
            <a:chOff x="527685" y="3329464"/>
            <a:chExt cx="4706061" cy="441008"/>
          </a:xfrm>
        </p:grpSpPr>
        <p:sp>
          <p:nvSpPr>
            <p:cNvPr id="32" name="TextBox 32"/>
            <p:cNvSpPr txBox="1"/>
            <p:nvPr/>
          </p:nvSpPr>
          <p:spPr>
            <a:xfrm>
              <a:off x="527685" y="3329464"/>
              <a:ext cx="4706061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两条路：1→2→4 长 </a:t>
              </a: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，1→3→4 长 </a:t>
              </a: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。事件 4 要等两条路都走完，所以工期是</a:t>
              </a:r>
              <a:br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而不是 5。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3902392"/>
            <a:ext cx="5193982" cy="1787842"/>
            <a:chOff x="533400" y="3902392"/>
            <a:chExt cx="5193982" cy="1787842"/>
          </a:xfrm>
        </p:grpSpPr>
        <p:sp>
          <p:nvSpPr>
            <p:cNvPr id="34" name="Rectangle 34"/>
            <p:cNvSpPr/>
            <p:nvPr/>
          </p:nvSpPr>
          <p:spPr>
            <a:xfrm>
              <a:off x="533400" y="3902392"/>
              <a:ext cx="5193982" cy="1787842"/>
            </a:xfrm>
            <a:prstGeom prst="roundRect">
              <a:avLst>
                <a:gd name="adj" fmla="val 7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035742"/>
              <a:ext cx="47625" cy="15211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0947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4129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44510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：从源点到汇点的最长路径。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关键活动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：关键路径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上的活动。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032182" y="1524000"/>
            <a:ext cx="5626418" cy="2049780"/>
            <a:chOff x="6032182" y="1524000"/>
            <a:chExt cx="5626418" cy="2049780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1657350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6268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412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46380" y="1756410"/>
              <a:ext cx="2805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“最短工期 = 最长路径”成立的条件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55830" y="209073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有些活动能并行，有些必须顺序做；只有每条路径上的活动都做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完，工程才算完成。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55830" y="2649855"/>
              <a:ext cx="50029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所以在“人手不限、每项活动一具备条件就立刻开工”的前提下，工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期等于最长路径的长度。人手不够要排队时，这个结论不成立。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56972" y="320563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路径长度指路径上各边权值之和，不是边数。</a:t>
              </a:r>
            </a:p>
          </p:txBody>
        </p:sp>
      </p:grpSp>
      <p:grpSp>
        <p:nvGrpSpPr>
          <p:cNvPr id="51" name="c2-image-2"/>
          <p:cNvGrpSpPr/>
          <p:nvPr/>
        </p:nvGrpSpPr>
        <p:grpSpPr>
          <a:xfrm>
            <a:off x="7143369" y="3749040"/>
            <a:ext cx="3403092" cy="1963674"/>
            <a:chOff x="7143369" y="3749040"/>
            <a:chExt cx="3403092" cy="1963674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rcRect l="0" t="14" r="0" b="15"/>
            <a:stretch>
              <a:fillRect/>
            </a:stretch>
          </p:blipFill>
          <p:spPr>
            <a:xfrm>
              <a:off x="7736205" y="3749040"/>
              <a:ext cx="2219325" cy="1664018"/>
            </a:xfrm>
            <a:prstGeom prst="roundRect">
              <a:avLst>
                <a:gd name="adj" fmla="val 8013"/>
              </a:avLst>
            </a:prstGeom>
          </p:spPr>
        </p:pic>
        <p:sp>
          <p:nvSpPr>
            <p:cNvPr id="50" name="TextBox 50"/>
            <p:cNvSpPr txBox="1"/>
            <p:nvPr/>
          </p:nvSpPr>
          <p:spPr>
            <a:xfrm>
              <a:off x="7143369" y="5507355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三条赛道同时开跑，全部跑完的时刻由最长的那条决定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7773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工期问的是最长路径，而第 15 讲的最短路径问的是最短，两者的递推方向相同、取的极值相反。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关键路径：工期卡在哪几项活动上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四个时间量：两个属于事件，两个属于活动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634038" cy="2459355"/>
            <a:chOff x="525780" y="1548765"/>
            <a:chExt cx="5634038" cy="245935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ve(j)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4447" y="1548765"/>
              <a:ext cx="46062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vⱼ 的最早发生时间，等于从源点 v₁ 到 vⱼ 的最长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路径长度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vl(j)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4447" y="2270760"/>
              <a:ext cx="45300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在不推迟汇点发生时间的前提下，事件 vⱼ 允许的最迟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发生时间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428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e(i)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4447" y="2992755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 aᵢ 的最早开始时间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127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432810"/>
              <a:ext cx="375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l(i)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94447" y="3432810"/>
              <a:ext cx="45300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不引起工期延误的前提下，活动 aᵢ 允许的最迟开始时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139565"/>
            <a:ext cx="5626418" cy="1335405"/>
            <a:chOff x="533400" y="4139565"/>
            <a:chExt cx="5626418" cy="1335405"/>
          </a:xfrm>
        </p:grpSpPr>
        <p:sp>
          <p:nvSpPr>
            <p:cNvPr id="19" name="Rectangle 19"/>
            <p:cNvSpPr/>
            <p:nvPr/>
          </p:nvSpPr>
          <p:spPr>
            <a:xfrm>
              <a:off x="533400" y="4139565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4349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158" y="4384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3978" y="43843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关键活动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4745355"/>
              <a:ext cx="48996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满足 </a:t>
              </a:r>
              <a:r>
                <a:rPr lang="en-US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e(i) = l(i)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的活动就是关键活动：它早一点晚一点的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余地是零，一拖整个工程就拖。</a:t>
              </a:r>
            </a:p>
          </p:txBody>
        </p:sp>
      </p:grpSp>
      <p:grpSp>
        <p:nvGrpSpPr>
          <p:cNvPr id="34" name="c2-graph-1"/>
          <p:cNvGrpSpPr/>
          <p:nvPr/>
        </p:nvGrpSpPr>
        <p:grpSpPr>
          <a:xfrm>
            <a:off x="6873240" y="1966912"/>
            <a:ext cx="4377690" cy="1041369"/>
            <a:chOff x="6873240" y="1966912"/>
            <a:chExt cx="4377690" cy="1041369"/>
          </a:xfrm>
        </p:grpSpPr>
        <p:sp>
          <p:nvSpPr>
            <p:cNvPr id="25" name="Freeform 25"/>
            <p:cNvSpPr/>
            <p:nvPr/>
          </p:nvSpPr>
          <p:spPr>
            <a:xfrm>
              <a:off x="7609522" y="2166938"/>
              <a:ext cx="2289810" cy="9525"/>
            </a:xfrm>
            <a:custGeom>
              <a:avLst/>
              <a:gdLst/>
              <a:ahLst/>
              <a:cxnLst/>
              <a:rect l="l" t="t" r="r" b="b"/>
              <a:pathLst>
                <a:path w="2289810" h="9525">
                  <a:moveTo>
                    <a:pt x="0" y="0"/>
                  </a:moveTo>
                  <a:lnTo>
                    <a:pt x="22898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899332" y="21193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199948" y="196691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004108" y="196691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07185" y="20969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11345" y="20969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23885" y="2081212"/>
              <a:ext cx="115633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24818" y="2113598"/>
              <a:ext cx="11544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aᵢ，权 weight(j, k)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3240" y="2539841"/>
              <a:ext cx="43776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活动 aᵢ 架在边 ⟨vⱼ, vₖ⟩ 上：它的起点事件是 vⱼ，终点事件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 vₖ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464618" y="3143250"/>
            <a:ext cx="5193982" cy="2331720"/>
            <a:chOff x="6464618" y="3143250"/>
            <a:chExt cx="5193982" cy="2331720"/>
          </a:xfrm>
        </p:grpSpPr>
        <p:sp>
          <p:nvSpPr>
            <p:cNvPr id="35" name="Rectangle 35"/>
            <p:cNvSpPr/>
            <p:nvPr/>
          </p:nvSpPr>
          <p:spPr>
            <a:xfrm>
              <a:off x="6464618" y="3143250"/>
              <a:ext cx="5193982" cy="2331720"/>
            </a:xfrm>
            <a:prstGeom prst="roundRect">
              <a:avLst>
                <a:gd name="adj" fmla="val 57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3276600"/>
              <a:ext cx="47625" cy="20650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33528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3428" y="33885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3295" y="338804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时间余量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4648" y="3749040"/>
              <a:ext cx="45186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差值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l(i) − e(i)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叫活动 aᵢ 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时间余量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（松弛量），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表示这项活动最多能推迟多久而不影响工期。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4648" y="4370070"/>
              <a:ext cx="4530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关键活动就是时间余量为 0 的活动。源课件问过“哪些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活动可以适当延期”，答案正是余量大于 0 的那些，能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延期的天数就是余量。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7870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四个量里 ve 和 vl 属于事件（顶点），e 和 l 属于活动（边），算的时候别把下标弄混。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9360" cy="909257"/>
            <a:chOff x="520446" y="342900"/>
            <a:chExt cx="7449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关键路径：工期卡在哪几项活动上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9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ve(j)：从前往后取最大值，所以要按拓扑序递推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limLow>
                                    <m:limLowPr/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ve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∣</m:t>
                                      </m:r>
                                      <m:d>
                                        <m:dPr>
                                          <m:begChr m:val="⟨"/>
                                          <m:sepChr m:val=""/>
                                          <m:endChr m:val="⟩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∈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card-2"/>
          <p:cNvGrpSpPr/>
          <p:nvPr/>
        </p:nvGrpSpPr>
        <p:grpSpPr>
          <a:xfrm>
            <a:off x="533400" y="2438400"/>
            <a:ext cx="5842635" cy="1651635"/>
            <a:chOff x="533400" y="2438400"/>
            <a:chExt cx="5842635" cy="1651635"/>
          </a:xfrm>
        </p:grpSpPr>
        <p:sp>
          <p:nvSpPr>
            <p:cNvPr id="8" name="Rectangle 8"/>
            <p:cNvSpPr/>
            <p:nvPr/>
          </p:nvSpPr>
          <p:spPr>
            <a:xfrm>
              <a:off x="533400" y="2438400"/>
              <a:ext cx="5842635" cy="1651635"/>
            </a:xfrm>
            <a:prstGeom prst="roundRect">
              <a:avLst>
                <a:gd name="adj" fmla="val 80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42950" y="2647950"/>
              <a:ext cx="1099185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5092" y="2683669"/>
              <a:ext cx="954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为什么取 max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25140"/>
              <a:ext cx="510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 vⱼ 的含义是它的入边活动全部完成。几条入边里最晚完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成的那条决定了 vⱼ 最早何时发生，所以取最大值。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646170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ve(1) = 0，即工程从 0 时刻开始。</a:t>
              </a:r>
            </a:p>
          </p:txBody>
        </p:sp>
      </p:grpSp>
      <p:grpSp>
        <p:nvGrpSpPr>
          <p:cNvPr id="20" name="c1-callout-3"/>
          <p:cNvGrpSpPr/>
          <p:nvPr/>
        </p:nvGrpSpPr>
        <p:grpSpPr>
          <a:xfrm>
            <a:off x="533400" y="4280535"/>
            <a:ext cx="5842635" cy="1074420"/>
            <a:chOff x="533400" y="4280535"/>
            <a:chExt cx="5842635" cy="1074420"/>
          </a:xfrm>
        </p:grpSpPr>
        <p:sp>
          <p:nvSpPr>
            <p:cNvPr id="14" name="Rectangle 14"/>
            <p:cNvSpPr/>
            <p:nvPr/>
          </p:nvSpPr>
          <p:spPr>
            <a:xfrm>
              <a:off x="533400" y="4280535"/>
              <a:ext cx="5842635" cy="1074420"/>
            </a:xfrm>
            <a:prstGeom prst="roundRect">
              <a:avLst>
                <a:gd name="adj" fmla="val 1063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26129" y="4714041"/>
              <a:ext cx="224134" cy="192560"/>
              <a:chOff x="726129" y="4714041"/>
              <a:chExt cx="224134" cy="1925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38200" y="47844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26129" y="47140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48621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574858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算 ve(j) 需要 vⱼ 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全部前驱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 ve 都已算出。怎么保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证？先对 AOE 网做拓扑排序，再按拓扑序逐个递推。</a:t>
              </a:r>
            </a:p>
          </p:txBody>
        </p:sp>
      </p:grpSp>
      <p:grpSp>
        <p:nvGrpSpPr>
          <p:cNvPr id="42" name="c2-graph-1"/>
          <p:cNvGrpSpPr/>
          <p:nvPr/>
        </p:nvGrpSpPr>
        <p:grpSpPr>
          <a:xfrm>
            <a:off x="7305675" y="1597342"/>
            <a:ext cx="3507498" cy="2020538"/>
            <a:chOff x="7305675" y="1597342"/>
            <a:chExt cx="3507498" cy="2020538"/>
          </a:xfrm>
        </p:grpSpPr>
        <p:sp>
          <p:nvSpPr>
            <p:cNvPr id="21" name="Freeform 21"/>
            <p:cNvSpPr/>
            <p:nvPr/>
          </p:nvSpPr>
          <p:spPr>
            <a:xfrm>
              <a:off x="7652385" y="1814512"/>
              <a:ext cx="2544128" cy="659130"/>
            </a:xfrm>
            <a:custGeom>
              <a:avLst/>
              <a:gdLst/>
              <a:ahLst/>
              <a:cxnLst/>
              <a:rect l="l" t="t" r="r" b="b"/>
              <a:pathLst>
                <a:path w="2544128" h="659130">
                  <a:moveTo>
                    <a:pt x="0" y="0"/>
                  </a:moveTo>
                  <a:lnTo>
                    <a:pt x="2544128" y="6591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185082" y="2427922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69532"/>
                  </a:moveTo>
                  <a:lnTo>
                    <a:pt x="0" y="92393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658100" y="2543175"/>
              <a:ext cx="2529840" cy="9525"/>
            </a:xfrm>
            <a:custGeom>
              <a:avLst/>
              <a:gdLst/>
              <a:ahLst/>
              <a:cxnLst/>
              <a:rect l="l" t="t" r="r" b="b"/>
              <a:pathLst>
                <a:path w="2529840" h="9525">
                  <a:moveTo>
                    <a:pt x="0" y="0"/>
                  </a:moveTo>
                  <a:lnTo>
                    <a:pt x="25298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187940" y="2495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652385" y="2612708"/>
              <a:ext cx="2544128" cy="659130"/>
            </a:xfrm>
            <a:custGeom>
              <a:avLst/>
              <a:gdLst/>
              <a:ahLst/>
              <a:cxnLst/>
              <a:rect l="l" t="t" r="r" b="b"/>
              <a:pathLst>
                <a:path w="2544128" h="659130">
                  <a:moveTo>
                    <a:pt x="0" y="659130"/>
                  </a:moveTo>
                  <a:lnTo>
                    <a:pt x="25441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185082" y="2566035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22860"/>
                  </a:moveTo>
                  <a:lnTo>
                    <a:pt x="2381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305675" y="159734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305675" y="2371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05675" y="314610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292715" y="2371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08713" y="1703070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08713" y="2477452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08713" y="3252788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36568" y="2477452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732520" y="2077402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53385" y="2106454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w(i₁, j)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732520" y="2465070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53385" y="2494121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w(i₂, j)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32520" y="2851785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3385" y="2880836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w(i₃, j)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6261" y="336851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三条入边各给出一个候选值，取其中最大的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680835" y="3752850"/>
            <a:ext cx="4977765" cy="1602105"/>
            <a:chOff x="6680835" y="3752850"/>
            <a:chExt cx="4977765" cy="1602105"/>
          </a:xfrm>
        </p:grpSpPr>
        <p:sp>
          <p:nvSpPr>
            <p:cNvPr id="43" name="Rectangle 43"/>
            <p:cNvSpPr/>
            <p:nvPr/>
          </p:nvSpPr>
          <p:spPr>
            <a:xfrm>
              <a:off x="6680835" y="375285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38862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28485" y="39624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14743" y="39981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主例题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20865" y="4339590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ve(5) = max{ve(2)+1, ve(3)+1} = max{6+1,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4+1}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，由 2 这条支路决定；3 那条早到了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天，这 2 天就是 a₅ 的余量。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9223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顶点按拓扑序编号后，j 的全部前驱编号都小于 j，于是外层循环从 1 扫到 n 就自然满足了“前驱先算”。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02529" cy="909257"/>
            <a:chOff x="520446" y="342900"/>
            <a:chExt cx="7702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关键路径：工期卡在哪几项活动上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02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vl(j)：从后往前取最小值，所以要按逆拓扑序递推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limLow>
                                    <m:limLowPr/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vl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∣</m:t>
                                      </m:r>
                                      <m:d>
                                        <m:dPr>
                                          <m:begChr m:val="⟨"/>
                                          <m:sepChr m:val=""/>
                                          <m:endChr m:val="⟩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∈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card-2"/>
          <p:cNvGrpSpPr/>
          <p:nvPr/>
        </p:nvGrpSpPr>
        <p:grpSpPr>
          <a:xfrm>
            <a:off x="533400" y="2438400"/>
            <a:ext cx="5842635" cy="1937385"/>
            <a:chOff x="533400" y="2438400"/>
            <a:chExt cx="5842635" cy="1937385"/>
          </a:xfrm>
        </p:grpSpPr>
        <p:sp>
          <p:nvSpPr>
            <p:cNvPr id="8" name="Rectangle 8"/>
            <p:cNvSpPr/>
            <p:nvPr/>
          </p:nvSpPr>
          <p:spPr>
            <a:xfrm>
              <a:off x="533400" y="2438400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42950" y="2647950"/>
              <a:ext cx="106203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784" y="2683669"/>
              <a:ext cx="915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为什么取 min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25140"/>
              <a:ext cx="5063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vⱼ 的每条出边都对它提出一个“最迟不能晚于”的要求，全部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要求都得满足，所以取最小值。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646170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等价说法：vl(j) = ve(n) 减去从 vⱼ 到汇点 vₙ 的最长路径长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度。</a:t>
              </a:r>
            </a:p>
          </p:txBody>
        </p:sp>
      </p:grpSp>
      <p:grpSp>
        <p:nvGrpSpPr>
          <p:cNvPr id="20" name="c1-callout-3"/>
          <p:cNvGrpSpPr/>
          <p:nvPr/>
        </p:nvGrpSpPr>
        <p:grpSpPr>
          <a:xfrm>
            <a:off x="533400" y="4566285"/>
            <a:ext cx="5842635" cy="788670"/>
            <a:chOff x="533400" y="4566285"/>
            <a:chExt cx="5842635" cy="788670"/>
          </a:xfrm>
        </p:grpSpPr>
        <p:sp>
          <p:nvSpPr>
            <p:cNvPr id="14" name="Rectangle 14"/>
            <p:cNvSpPr/>
            <p:nvPr/>
          </p:nvSpPr>
          <p:spPr>
            <a:xfrm>
              <a:off x="533400" y="4566285"/>
              <a:ext cx="5842635" cy="788670"/>
            </a:xfrm>
            <a:prstGeom prst="roundRect">
              <a:avLst>
                <a:gd name="adj" fmla="val 1449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26129" y="4856916"/>
              <a:ext cx="224134" cy="192560"/>
              <a:chOff x="726129" y="4856916"/>
              <a:chExt cx="224134" cy="1925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38200" y="4927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26129" y="4856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005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717732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算 vl(j) 需要 vⱼ 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全部后继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 vl 都已算出，所以要按拓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扑序的逆序递推，起点是 vl(n) = ve(n)。</a:t>
              </a:r>
            </a:p>
          </p:txBody>
        </p:sp>
      </p:grpSp>
      <p:grpSp>
        <p:nvGrpSpPr>
          <p:cNvPr id="45" name="c2-graph-1"/>
          <p:cNvGrpSpPr/>
          <p:nvPr/>
        </p:nvGrpSpPr>
        <p:grpSpPr>
          <a:xfrm>
            <a:off x="7206615" y="1597342"/>
            <a:ext cx="4274820" cy="1891666"/>
            <a:chOff x="7206615" y="1597342"/>
            <a:chExt cx="4274820" cy="1891666"/>
          </a:xfrm>
        </p:grpSpPr>
        <p:sp>
          <p:nvSpPr>
            <p:cNvPr id="21" name="Freeform 21"/>
            <p:cNvSpPr/>
            <p:nvPr/>
          </p:nvSpPr>
          <p:spPr>
            <a:xfrm>
              <a:off x="7548562" y="1860232"/>
              <a:ext cx="1759268" cy="622935"/>
            </a:xfrm>
            <a:custGeom>
              <a:avLst/>
              <a:gdLst/>
              <a:ahLst/>
              <a:cxnLst/>
              <a:rect l="l" t="t" r="r" b="b"/>
              <a:pathLst>
                <a:path w="1759268" h="622935">
                  <a:moveTo>
                    <a:pt x="0" y="622935"/>
                  </a:moveTo>
                  <a:lnTo>
                    <a:pt x="17592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291638" y="181546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3335"/>
                  </a:moveTo>
                  <a:lnTo>
                    <a:pt x="32385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559040" y="2543175"/>
              <a:ext cx="1732597" cy="9525"/>
            </a:xfrm>
            <a:custGeom>
              <a:avLst/>
              <a:gdLst/>
              <a:ahLst/>
              <a:cxnLst/>
              <a:rect l="l" t="t" r="r" b="b"/>
              <a:pathLst>
                <a:path w="1732597" h="9525">
                  <a:moveTo>
                    <a:pt x="0" y="0"/>
                  </a:moveTo>
                  <a:lnTo>
                    <a:pt x="17325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291638" y="2495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548562" y="2603182"/>
              <a:ext cx="1759268" cy="622935"/>
            </a:xfrm>
            <a:custGeom>
              <a:avLst/>
              <a:gdLst/>
              <a:ahLst/>
              <a:cxnLst/>
              <a:rect l="l" t="t" r="r" b="b"/>
              <a:pathLst>
                <a:path w="1759268" h="622935">
                  <a:moveTo>
                    <a:pt x="0" y="0"/>
                  </a:moveTo>
                  <a:lnTo>
                    <a:pt x="1759268" y="6229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291638" y="318039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7153"/>
                  </a:moveTo>
                  <a:lnTo>
                    <a:pt x="0" y="90488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733598" y="1842135"/>
              <a:ext cx="1323975" cy="588645"/>
            </a:xfrm>
            <a:custGeom>
              <a:avLst/>
              <a:gdLst/>
              <a:ahLst/>
              <a:cxnLst/>
              <a:rect l="l" t="t" r="r" b="b"/>
              <a:pathLst>
                <a:path w="1323975" h="588645">
                  <a:moveTo>
                    <a:pt x="0" y="0"/>
                  </a:moveTo>
                  <a:lnTo>
                    <a:pt x="1323975" y="58864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11038522" y="238696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2868"/>
                  </a:moveTo>
                  <a:lnTo>
                    <a:pt x="0" y="87630"/>
                  </a:lnTo>
                  <a:lnTo>
                    <a:pt x="3905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748838" y="2543175"/>
              <a:ext cx="1284923" cy="9525"/>
            </a:xfrm>
            <a:custGeom>
              <a:avLst/>
              <a:gdLst/>
              <a:ahLst/>
              <a:cxnLst/>
              <a:rect l="l" t="t" r="r" b="b"/>
              <a:pathLst>
                <a:path w="1284923" h="9525">
                  <a:moveTo>
                    <a:pt x="0" y="0"/>
                  </a:moveTo>
                  <a:lnTo>
                    <a:pt x="12849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11033760" y="2495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733598" y="2655570"/>
              <a:ext cx="1323975" cy="588645"/>
            </a:xfrm>
            <a:custGeom>
              <a:avLst/>
              <a:gdLst/>
              <a:ahLst/>
              <a:cxnLst/>
              <a:rect l="l" t="t" r="r" b="b"/>
              <a:pathLst>
                <a:path w="1323975" h="588645">
                  <a:moveTo>
                    <a:pt x="0" y="588645"/>
                  </a:moveTo>
                  <a:lnTo>
                    <a:pt x="1323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1038522" y="261175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4762"/>
                  </a:moveTo>
                  <a:lnTo>
                    <a:pt x="39052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206615" y="2371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396412" y="159734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396412" y="2371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396412" y="3146108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1138535" y="237172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50468" y="2477452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0898" y="17030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80898" y="2477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80898" y="325278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63836" y="24774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221028" y="2077402"/>
              <a:ext cx="5029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42381" y="2106454"/>
              <a:ext cx="4621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w(j, k₁)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680835" y="3752850"/>
            <a:ext cx="4977765" cy="1602105"/>
            <a:chOff x="6680835" y="3752850"/>
            <a:chExt cx="4977765" cy="1602105"/>
          </a:xfrm>
        </p:grpSpPr>
        <p:sp>
          <p:nvSpPr>
            <p:cNvPr id="46" name="Rectangle 46"/>
            <p:cNvSpPr/>
            <p:nvPr/>
          </p:nvSpPr>
          <p:spPr>
            <a:xfrm>
              <a:off x="6680835" y="375285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90360" y="38862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28485" y="39624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14743" y="39981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主例题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20865" y="4339590"/>
              <a:ext cx="426862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vl(5) = min{vl(8)−7, vl(7)−9} = min{14−7,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16−9}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，两条出边给出的要求一样紧，5 号事件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没有余地。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7426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vl(n) = ve(n)，意思是不允许汇点推迟，也就是把工期钉死在最长路径长度上。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614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273" y="407194"/>
              <a:ext cx="4033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关键路径：工期卡在哪几项活动上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从事件的时间推出活动的时间，关键活动就露出来了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42185"/>
            <a:chOff x="533400" y="1524000"/>
            <a:chExt cx="5410200" cy="22421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5943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 aᵢ 架在边 ⟨vⱼ, vₖ⟩ 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1678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e(i) = ve(j)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：vⱼ 一发生，aᵢ 就能开工，所以它的最早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开始时间等于起点事件的最早发生时间。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640104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l(i) = vl(k) − weight(j, k)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：aᵢ 必须在 vₖ 的最迟发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生时间之前做完，倒扣掉它自己的工期就是最迟开工时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956685"/>
            <a:ext cx="5410200" cy="1384935"/>
            <a:chOff x="533400" y="3956685"/>
            <a:chExt cx="5410200" cy="1384935"/>
          </a:xfrm>
        </p:grpSpPr>
        <p:sp>
          <p:nvSpPr>
            <p:cNvPr id="15" name="Rectangle 15"/>
            <p:cNvSpPr/>
            <p:nvPr/>
          </p:nvSpPr>
          <p:spPr>
            <a:xfrm>
              <a:off x="533400" y="3956685"/>
              <a:ext cx="5410200" cy="1384935"/>
            </a:xfrm>
            <a:prstGeom prst="roundRect">
              <a:avLst>
                <a:gd name="adj" fmla="val 96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166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158" y="4201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3978" y="4201478"/>
              <a:ext cx="2308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e(i) = l(i) 就是关键活动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562475"/>
              <a:ext cx="5023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时间余量 l(i) − e(i) = 0，这项活动没有任何机动空间。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489775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关键活动连起来就构成关键路径，长度等于工期。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248400" y="1533525"/>
            <a:ext cx="5212969" cy="2112930"/>
            <a:chOff x="6248400" y="1533525"/>
            <a:chExt cx="5212969" cy="2112930"/>
          </a:xfrm>
        </p:grpSpPr>
        <p:sp>
          <p:nvSpPr>
            <p:cNvPr id="22" name="Rectangle 22"/>
            <p:cNvSpPr/>
            <p:nvPr/>
          </p:nvSpPr>
          <p:spPr>
            <a:xfrm>
              <a:off x="6381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9880" y="156781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023" y="1861661"/>
              <a:ext cx="480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AOE 网做拓扑排序；若有环就终止（这张网根本不是工程）。按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拓扑序求各事件的 ve。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9880" y="2453640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023" y="2746534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按逆拓扑序求各事件的 vl，起点是 vl(n) = ve(n)。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3104198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023" y="3397091"/>
              <a:ext cx="372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对每条边算 e(i) 与 l(i)，相等的就是关键活动。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3825240"/>
            <a:ext cx="5410200" cy="1516380"/>
            <a:chOff x="6248400" y="3825240"/>
            <a:chExt cx="5410200" cy="1516380"/>
          </a:xfrm>
        </p:grpSpPr>
        <p:sp>
          <p:nvSpPr>
            <p:cNvPr id="36" name="Rectangle 36"/>
            <p:cNvSpPr/>
            <p:nvPr/>
          </p:nvSpPr>
          <p:spPr>
            <a:xfrm>
              <a:off x="6248400" y="3825240"/>
              <a:ext cx="5410200" cy="1516380"/>
            </a:xfrm>
            <a:prstGeom prst="roundRect">
              <a:avLst>
                <a:gd name="adj" fmla="val 753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4483420"/>
              <a:ext cx="200023" cy="200023"/>
              <a:chOff x="6453188" y="448342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44834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86538" y="4550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130" y="420243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三步都只扫描一遍顶点和边，整个算法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提是邻接表存储，且网中无环、只有一个源点和一个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汇点。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87890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别把 l(i) 写成 vl(j)。活动的最迟开工时间由它的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终点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事件倒推，起点事件管的是最早开工时间。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701913" cy="3351847"/>
            <a:chOff x="667512" y="1835468"/>
            <a:chExt cx="570191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例题与算法实现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92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9 个事件、11 个活动的网上走完三步，再把它写成代码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307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按拓扑序算 ve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按逆拓扑序算 vl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 e、l 与时间余量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四个函数与两种编号方案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94258" cy="909257"/>
            <a:chOff x="520446" y="342900"/>
            <a:chExt cx="6094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94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例题第 1 步：按拓扑序从源点往后推 ve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graph-1"/>
          <p:cNvGrpSpPr/>
          <p:nvPr/>
        </p:nvGrpSpPr>
        <p:grpSpPr>
          <a:xfrm>
            <a:off x="704850" y="1564005"/>
            <a:ext cx="4512945" cy="1903095"/>
            <a:chOff x="704850" y="1564005"/>
            <a:chExt cx="4512945" cy="1903095"/>
          </a:xfrm>
        </p:grpSpPr>
        <p:sp>
          <p:nvSpPr>
            <p:cNvPr id="7" name="Freeform 7"/>
            <p:cNvSpPr/>
            <p:nvPr/>
          </p:nvSpPr>
          <p:spPr>
            <a:xfrm>
              <a:off x="1004888" y="1925002"/>
              <a:ext cx="694372" cy="509588"/>
            </a:xfrm>
            <a:custGeom>
              <a:avLst/>
              <a:gdLst/>
              <a:ahLst/>
              <a:cxnLst/>
              <a:rect l="l" t="t" r="r" b="b"/>
              <a:pathLst>
                <a:path w="694372" h="509588">
                  <a:moveTo>
                    <a:pt x="0" y="509588"/>
                  </a:moveTo>
                  <a:lnTo>
                    <a:pt x="6943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0685" y="1868805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6198" y="94298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38225" y="2535555"/>
              <a:ext cx="799148" cy="9525"/>
            </a:xfrm>
            <a:custGeom>
              <a:avLst/>
              <a:gdLst/>
              <a:ahLst/>
              <a:cxnLst/>
              <a:rect l="l" t="t" r="r" b="b"/>
              <a:pathLst>
                <a:path w="799148" h="9525">
                  <a:moveTo>
                    <a:pt x="0" y="0"/>
                  </a:moveTo>
                  <a:lnTo>
                    <a:pt x="7991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7372" y="2487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04888" y="2637472"/>
              <a:ext cx="694372" cy="509588"/>
            </a:xfrm>
            <a:custGeom>
              <a:avLst/>
              <a:gdLst/>
              <a:ahLst/>
              <a:cxnLst/>
              <a:rect l="l" t="t" r="r" b="b"/>
              <a:pathLst>
                <a:path w="694372" h="509588">
                  <a:moveTo>
                    <a:pt x="0" y="0"/>
                  </a:moveTo>
                  <a:lnTo>
                    <a:pt x="694372" y="5095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0685" y="3108960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94298"/>
                  </a:moveTo>
                  <a:lnTo>
                    <a:pt x="0" y="77153"/>
                  </a:lnTo>
                  <a:lnTo>
                    <a:pt x="5619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69782" y="1838325"/>
              <a:ext cx="840105" cy="383858"/>
            </a:xfrm>
            <a:custGeom>
              <a:avLst/>
              <a:gdLst/>
              <a:ahLst/>
              <a:cxnLst/>
              <a:rect l="l" t="t" r="r" b="b"/>
              <a:pathLst>
                <a:path w="840105" h="383858">
                  <a:moveTo>
                    <a:pt x="0" y="0"/>
                  </a:moveTo>
                  <a:lnTo>
                    <a:pt x="840105" y="3838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89885" y="2179320"/>
              <a:ext cx="105728" cy="86677"/>
            </a:xfrm>
            <a:custGeom>
              <a:avLst/>
              <a:gdLst/>
              <a:ahLst/>
              <a:cxnLst/>
              <a:rect l="l" t="t" r="r" b="b"/>
              <a:pathLst>
                <a:path w="105728" h="86677">
                  <a:moveTo>
                    <a:pt x="105728" y="82867"/>
                  </a:moveTo>
                  <a:lnTo>
                    <a:pt x="0" y="86677"/>
                  </a:lnTo>
                  <a:lnTo>
                    <a:pt x="3905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72665" y="2384108"/>
              <a:ext cx="617220" cy="119062"/>
            </a:xfrm>
            <a:custGeom>
              <a:avLst/>
              <a:gdLst/>
              <a:ahLst/>
              <a:cxnLst/>
              <a:rect l="l" t="t" r="r" b="b"/>
              <a:pathLst>
                <a:path w="617220" h="119062">
                  <a:moveTo>
                    <a:pt x="0" y="119062"/>
                  </a:moveTo>
                  <a:lnTo>
                    <a:pt x="6172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81312" y="2337435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28575"/>
                  </a:moveTo>
                  <a:lnTo>
                    <a:pt x="18097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85975" y="3305175"/>
              <a:ext cx="942022" cy="9525"/>
            </a:xfrm>
            <a:custGeom>
              <a:avLst/>
              <a:gdLst/>
              <a:ahLst/>
              <a:cxnLst/>
              <a:rect l="l" t="t" r="r" b="b"/>
              <a:pathLst>
                <a:path w="942022" h="9525">
                  <a:moveTo>
                    <a:pt x="0" y="0"/>
                  </a:moveTo>
                  <a:lnTo>
                    <a:pt x="942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027998" y="3257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303270" y="1851660"/>
              <a:ext cx="755333" cy="401955"/>
            </a:xfrm>
            <a:custGeom>
              <a:avLst/>
              <a:gdLst/>
              <a:ahLst/>
              <a:cxnLst/>
              <a:rect l="l" t="t" r="r" b="b"/>
              <a:pathLst>
                <a:path w="755333" h="401955">
                  <a:moveTo>
                    <a:pt x="0" y="401955"/>
                  </a:moveTo>
                  <a:lnTo>
                    <a:pt x="7553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36695" y="180689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0"/>
                  </a:moveTo>
                  <a:lnTo>
                    <a:pt x="44767" y="86678"/>
                  </a:lnTo>
                  <a:lnTo>
                    <a:pt x="0" y="28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311842" y="2395538"/>
              <a:ext cx="734378" cy="286703"/>
            </a:xfrm>
            <a:custGeom>
              <a:avLst/>
              <a:gdLst/>
              <a:ahLst/>
              <a:cxnLst/>
              <a:rect l="l" t="t" r="r" b="b"/>
              <a:pathLst>
                <a:path w="734378" h="286703">
                  <a:moveTo>
                    <a:pt x="0" y="0"/>
                  </a:moveTo>
                  <a:lnTo>
                    <a:pt x="734378" y="2867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29075" y="263747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79058"/>
                  </a:moveTo>
                  <a:lnTo>
                    <a:pt x="0" y="88583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446145" y="2903220"/>
              <a:ext cx="612458" cy="321945"/>
            </a:xfrm>
            <a:custGeom>
              <a:avLst/>
              <a:gdLst/>
              <a:ahLst/>
              <a:cxnLst/>
              <a:rect l="l" t="t" r="r" b="b"/>
              <a:pathLst>
                <a:path w="612458" h="321945">
                  <a:moveTo>
                    <a:pt x="0" y="321945"/>
                  </a:moveTo>
                  <a:lnTo>
                    <a:pt x="6124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36695" y="2858452"/>
              <a:ext cx="105727" cy="86677"/>
            </a:xfrm>
            <a:custGeom>
              <a:avLst/>
              <a:gdLst/>
              <a:ahLst/>
              <a:cxnLst/>
              <a:rect l="l" t="t" r="r" b="b"/>
              <a:pathLst>
                <a:path w="105727" h="86677">
                  <a:moveTo>
                    <a:pt x="105727" y="0"/>
                  </a:moveTo>
                  <a:lnTo>
                    <a:pt x="43815" y="86677"/>
                  </a:lnTo>
                  <a:lnTo>
                    <a:pt x="0" y="285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439602" y="1818322"/>
              <a:ext cx="391477" cy="250507"/>
            </a:xfrm>
            <a:custGeom>
              <a:avLst/>
              <a:gdLst/>
              <a:ahLst/>
              <a:cxnLst/>
              <a:rect l="l" t="t" r="r" b="b"/>
              <a:pathLst>
                <a:path w="391477" h="250507">
                  <a:moveTo>
                    <a:pt x="0" y="0"/>
                  </a:moveTo>
                  <a:lnTo>
                    <a:pt x="391477" y="2505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806315" y="202882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80010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431982" y="2371725"/>
              <a:ext cx="410527" cy="304800"/>
            </a:xfrm>
            <a:custGeom>
              <a:avLst/>
              <a:gdLst/>
              <a:ahLst/>
              <a:cxnLst/>
              <a:rect l="l" t="t" r="r" b="b"/>
              <a:pathLst>
                <a:path w="410527" h="304800">
                  <a:moveTo>
                    <a:pt x="0" y="304800"/>
                  </a:moveTo>
                  <a:lnTo>
                    <a:pt x="4105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813935" y="2314575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04850" y="237363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752600" y="160496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942148" y="237363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752600" y="31432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2989898" y="217170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132772" y="31432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132898" y="156400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132898" y="261747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893945" y="204978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028" y="24803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74778" y="17106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64326" y="24803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74778" y="32489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12076" y="22774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4951" y="32489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55076" y="16706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55076" y="27231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16123" y="21564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323975" y="20726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355531" y="21026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419225" y="24574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450781" y="24865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323975" y="28422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355531" y="28713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466022" y="19716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97578" y="2000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561272" y="235648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592828" y="23855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537460" y="32270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569016" y="3256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656648" y="19516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88203" y="19807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656648" y="24774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688203" y="25074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728085" y="29632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59641" y="29932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609148" y="1890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640703" y="1919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609148" y="24174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640703" y="24464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08" name="c1-cells-2"/>
          <p:cNvGrpSpPr/>
          <p:nvPr/>
        </p:nvGrpSpPr>
        <p:grpSpPr>
          <a:xfrm>
            <a:off x="528447" y="3712845"/>
            <a:ext cx="4158805" cy="858202"/>
            <a:chOff x="528447" y="3712845"/>
            <a:chExt cx="4158805" cy="858202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38304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153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818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3344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009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7535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9200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1726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3391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25917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7582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0108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1773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4299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5964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8490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0155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268152" y="371284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434655" y="38304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28447" y="4332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153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81855" y="4332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3344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500955" y="4332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7535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920055" y="4332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21726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2339155" y="4332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25917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2758255" y="4332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0108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3177355" y="4332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34299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558361" y="4332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3849052" y="4214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3977461" y="4332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4268152" y="4214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396561" y="4332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  <p:grpSp>
        <p:nvGrpSpPr>
          <p:cNvPr id="156" name="c2-table-1"/>
          <p:cNvGrpSpPr/>
          <p:nvPr/>
        </p:nvGrpSpPr>
        <p:grpSpPr>
          <a:xfrm>
            <a:off x="5593842" y="1524000"/>
            <a:ext cx="6064758" cy="4077366"/>
            <a:chOff x="5593842" y="1524000"/>
            <a:chExt cx="6064758" cy="4077366"/>
          </a:xfrm>
        </p:grpSpPr>
        <p:sp>
          <p:nvSpPr>
            <p:cNvPr id="109" name="Rectangle 109"/>
            <p:cNvSpPr/>
            <p:nvPr/>
          </p:nvSpPr>
          <p:spPr>
            <a:xfrm>
              <a:off x="5598795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87692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16940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8451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693474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542151" y="202311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源点，规定为 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419778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598795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5598795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693474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542151" y="240411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ve(1) + 6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419778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5598795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5693474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542151" y="2785110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ve(1) + 4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419778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598795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5598795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5693474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6542151" y="3167062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ve(1) + 5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419778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5598795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5693474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542151" y="3548062"/>
              <a:ext cx="2491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max{ve(2)+1, ve(3)+1} = max{7, 5}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419778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5598795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5598795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5693474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6542151" y="3930015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ve(4) + 2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0419778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5598795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5693474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6542151" y="4311015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ve(5) + 9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41977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5598795" y="4570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5598795" y="4574858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5693474" y="4692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6542151" y="4692015"/>
              <a:ext cx="2646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max{ve(5)+7, ve(6)+4} = max{14, 11}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0419778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5598795" y="49520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5693474" y="5073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542151" y="5073968"/>
              <a:ext cx="2646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max{ve(7)+2, ve(8)+4} = max{18, 18}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041977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5598795" y="1524000"/>
              <a:ext cx="6059805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6442710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1032033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5593842" y="5410676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顶点已按拓扑序编号，从 1 推到 9</a:t>
              </a:r>
            </a:p>
          </p:txBody>
        </p:sp>
      </p:grpSp>
      <p:grpSp>
        <p:nvGrpSpPr>
          <p:cNvPr id="1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57" name="Rectangle 1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0" name="Group 16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9" name="Freeform 15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61" name="TextBox 161"/>
            <p:cNvSpPr txBox="1"/>
            <p:nvPr/>
          </p:nvSpPr>
          <p:spPr>
            <a:xfrm>
              <a:off x="1041273" y="6039326"/>
              <a:ext cx="6164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ve(9) = 18 就是工期。最后一步两个候选都等于 18，预示着关键路径不止一条。</a:t>
              </a:r>
            </a:p>
          </p:txBody>
        </p:sp>
      </p:grpSp>
      <p:grpSp>
        <p:nvGrpSpPr>
          <p:cNvPr id="1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3" name="TextBox 1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47428" cy="909257"/>
            <a:chOff x="520446" y="342900"/>
            <a:chExt cx="63474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474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例题第 2 步：按逆拓扑序从汇点往前推 vl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28447" y="1524000"/>
            <a:ext cx="6064758" cy="4077366"/>
            <a:chOff x="528447" y="1524000"/>
            <a:chExt cx="6064758" cy="4077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5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03055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797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6756" y="2023110"/>
              <a:ext cx="1388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ve(9)，汇点不许推迟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4384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76756" y="2404110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vl(9) − 4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4384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76756" y="2785110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vl(9) − 2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54384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76756" y="316706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vl(8) − 4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54384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76756" y="354806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min{vl(8)−7, vl(7)−9} = min{7, 7}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54384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76756" y="3930015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vl(6) − 2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54384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76756" y="4311015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vl(5) − 1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54384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76756" y="4692015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vl(5) − 1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54384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520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78" y="5073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76756" y="5073968"/>
              <a:ext cx="3176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min{vl(2)−6, vl(3)−4, vl(4)−5} = min{0, 2, 3}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54384" y="50739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059805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37731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254942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8447" y="5410676"/>
              <a:ext cx="2397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vl(9) = ve(9) = 18 出发，倒着推回 1</a:t>
              </a:r>
            </a:p>
          </p:txBody>
        </p:sp>
      </p:grpSp>
      <p:grpSp>
        <p:nvGrpSpPr>
          <p:cNvPr id="112" name="c2-cells-1"/>
          <p:cNvGrpSpPr/>
          <p:nvPr/>
        </p:nvGrpSpPr>
        <p:grpSpPr>
          <a:xfrm>
            <a:off x="6893052" y="1524000"/>
            <a:ext cx="4158806" cy="1360170"/>
            <a:chOff x="6893052" y="1524000"/>
            <a:chExt cx="4158806" cy="1360170"/>
          </a:xfrm>
        </p:grpSpPr>
        <p:sp>
          <p:nvSpPr>
            <p:cNvPr id="55" name="TextBox 55"/>
            <p:cNvSpPr txBox="1"/>
            <p:nvPr/>
          </p:nvSpPr>
          <p:spPr>
            <a:xfrm>
              <a:off x="6893052" y="16416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2799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464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6990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655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1181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2846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372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7037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9563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228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3754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5419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7945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9610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2136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3801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63275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799260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93052" y="21436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ve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2799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46460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990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65560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1181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284660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5372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703760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9563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122860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3754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541960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7945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922966" y="21436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02136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342066" y="21436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63275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761166" y="21436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93052" y="2645569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vl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279958" y="252793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446460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699058" y="252793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865560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11815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284660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853725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703760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956358" y="252793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122860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937545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503866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794558" y="252793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922966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10213658" y="252793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0342066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10632758" y="252793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761166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  <p:grpSp>
        <p:nvGrpSpPr>
          <p:cNvPr id="119" name="c2-card-2"/>
          <p:cNvGrpSpPr/>
          <p:nvPr/>
        </p:nvGrpSpPr>
        <p:grpSpPr>
          <a:xfrm>
            <a:off x="6898005" y="3048952"/>
            <a:ext cx="4760595" cy="1687830"/>
            <a:chOff x="6898005" y="3048952"/>
            <a:chExt cx="4760595" cy="1687830"/>
          </a:xfrm>
        </p:grpSpPr>
        <p:sp>
          <p:nvSpPr>
            <p:cNvPr id="113" name="Rectangle 113"/>
            <p:cNvSpPr/>
            <p:nvPr/>
          </p:nvSpPr>
          <p:spPr>
            <a:xfrm>
              <a:off x="6898005" y="3048952"/>
              <a:ext cx="4760595" cy="1687830"/>
            </a:xfrm>
            <a:prstGeom prst="roundRect">
              <a:avLst>
                <a:gd name="adj" fmla="val 790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7078980" y="32299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170699" y="32627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644956" y="3269456"/>
              <a:ext cx="1562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 与 vl 相等的事件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072503" y="3586639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绿色那几格（1、2、5、7、8、9）的 ve 与 vl 相等，它们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是关键路径上的事件，一刻也不能等。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072503" y="4114324"/>
              <a:ext cx="4141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 6 的 ve 是 7、vl 是 10，说明封顶这类事情晚 3 天发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生也不耽误工期。</a:t>
              </a:r>
            </a:p>
          </p:txBody>
        </p:sp>
      </p:grpSp>
      <p:grpSp>
        <p:nvGrpSpPr>
          <p:cNvPr id="126" name="c2-callout-3"/>
          <p:cNvGrpSpPr/>
          <p:nvPr/>
        </p:nvGrpSpPr>
        <p:grpSpPr>
          <a:xfrm>
            <a:off x="6898005" y="4901565"/>
            <a:ext cx="4760595" cy="702945"/>
            <a:chOff x="6898005" y="4901565"/>
            <a:chExt cx="4760595" cy="702945"/>
          </a:xfrm>
        </p:grpSpPr>
        <p:sp>
          <p:nvSpPr>
            <p:cNvPr id="120" name="Rectangle 120"/>
            <p:cNvSpPr/>
            <p:nvPr/>
          </p:nvSpPr>
          <p:spPr>
            <a:xfrm>
              <a:off x="6898005" y="4901565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7102793" y="5153025"/>
              <a:ext cx="200026" cy="200026"/>
              <a:chOff x="7102793" y="5153025"/>
              <a:chExt cx="200026" cy="200026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102793" y="51530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7202805" y="5219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7191693" y="52530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7405878" y="5046821"/>
              <a:ext cx="3694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vl(1) 必然等于 0，可以拿来自检；如果算出来不是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0，前面一定有一步错了。</a:t>
              </a:r>
            </a:p>
          </p:txBody>
        </p:sp>
      </p:grpSp>
      <p:grpSp>
        <p:nvGrpSpPr>
          <p:cNvPr id="13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27" name="Rectangle 12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1" name="Group 13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32" name="TextBox 132"/>
            <p:cNvSpPr txBox="1"/>
            <p:nvPr/>
          </p:nvSpPr>
          <p:spPr>
            <a:xfrm>
              <a:off x="1041273" y="6039326"/>
              <a:ext cx="75775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事件的 ve 等于 vl 只是关键路径经过它，还不能直接断定哪条边是关键活动，那要看边上的 e 与 l。</a:t>
              </a:r>
            </a:p>
          </p:txBody>
        </p:sp>
      </p:grpSp>
      <p:grpSp>
        <p:nvGrpSpPr>
          <p:cNvPr id="1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4" name="TextBox 13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6065" cy="909257"/>
            <a:chOff x="520446" y="342900"/>
            <a:chExt cx="8946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6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例题第 3 步：逐条边算 e(i) 与 l(i)，相等的就是关键活动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82526" cy="264033"/>
            <a:chOff x="526542" y="1545907"/>
            <a:chExt cx="87825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82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对每个活动 aᵢ（架在边 ⟨j, k⟩ 上）套公式 e(i) = ve(j)、l(i) = vl(k) − weight(j, k)，再看两行是否相等。</a:t>
              </a:r>
            </a:p>
          </p:txBody>
        </p:sp>
      </p:grpSp>
      <p:grpSp>
        <p:nvGrpSpPr>
          <p:cNvPr id="124" name="c1-cells-1"/>
          <p:cNvGrpSpPr/>
          <p:nvPr/>
        </p:nvGrpSpPr>
        <p:grpSpPr>
          <a:xfrm>
            <a:off x="528447" y="1928812"/>
            <a:ext cx="8705088" cy="2364105"/>
            <a:chOff x="528447" y="1928812"/>
            <a:chExt cx="8705088" cy="2364105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46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活动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0130" y="192881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1416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84985" y="1928812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76271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29840" y="1928812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21126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74695" y="192881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65981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19550" y="1928812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10836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64405" y="1928812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55691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09260" y="192881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0546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54115" y="192881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5401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a₈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98970" y="1928812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90256" y="2046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43825" y="192881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97017" y="204644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a₁₀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488680" y="192881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41872" y="204644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a₁₁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447" y="25484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所在边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0130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9332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784985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038177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529840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8303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74695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27887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2→5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19550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7274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3→5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764405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017597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4→6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09260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6245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5→7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54115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07307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5→8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998970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5216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6→8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743825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97017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7→9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488680" y="2430780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741872" y="25484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8→9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447" y="305038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e(i)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40130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369510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784985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114365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529840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859220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274695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604075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019550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348930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764405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093785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509260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38640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54115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83495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998970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28350" y="3050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743825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035111" y="30503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488680" y="2932748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779966" y="30503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28447" y="3552349"/>
              <a:ext cx="245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l(i)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0130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369510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784985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114365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2529840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859220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274695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604075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019550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348930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4764405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093785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509260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838640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54115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583495" y="3552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998970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290256" y="35523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743825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035111" y="35523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488680" y="3434715"/>
              <a:ext cx="74485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779966" y="35523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28447" y="40543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余量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040130" y="393668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36951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784985" y="3936682"/>
              <a:ext cx="74485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2114365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529840" y="3936682"/>
              <a:ext cx="74485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285922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3274695" y="393668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604075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4019550" y="3936682"/>
              <a:ext cx="74485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434893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4764405" y="3936682"/>
              <a:ext cx="74485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093785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5509260" y="393668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83864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254115" y="393668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583495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998970" y="3936682"/>
              <a:ext cx="74485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32835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7743825" y="393668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073205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8488680" y="3936682"/>
              <a:ext cx="74485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881806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30" name="c1-card-2"/>
          <p:cNvGrpSpPr/>
          <p:nvPr/>
        </p:nvGrpSpPr>
        <p:grpSpPr>
          <a:xfrm>
            <a:off x="533400" y="4457700"/>
            <a:ext cx="11125200" cy="1265872"/>
            <a:chOff x="533400" y="4457700"/>
            <a:chExt cx="11125200" cy="1265872"/>
          </a:xfrm>
        </p:grpSpPr>
        <p:sp>
          <p:nvSpPr>
            <p:cNvPr id="125" name="Rectangle 125"/>
            <p:cNvSpPr/>
            <p:nvPr/>
          </p:nvSpPr>
          <p:spPr>
            <a:xfrm>
              <a:off x="533400" y="4457700"/>
              <a:ext cx="11125200" cy="1265872"/>
            </a:xfrm>
            <a:prstGeom prst="roundRect">
              <a:avLst>
                <a:gd name="adj" fmla="val 1053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14375" y="46386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07047" y="46715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07898" y="4978241"/>
              <a:ext cx="50763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关键活动是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a₁、a₄、a₇、a₈、a₁₀、a₁₁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，共 6 个，余量都是 0。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07898" y="5263991"/>
              <a:ext cx="62679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 5 个活动有 2 到 3 天的机动空间，例如 a₃ 可以推迟 3 天开工而不影响交工。</a:t>
              </a:r>
            </a:p>
          </p:txBody>
        </p:sp>
      </p:grpSp>
      <p:grpSp>
        <p:nvGrpSpPr>
          <p:cNvPr id="13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31" name="Rectangle 13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041273" y="6039326"/>
              <a:ext cx="7112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三行数字与源课件第 43 页完全一致，余量一行是本讲义补上的，2022 年考研题考的就是它。</a:t>
              </a:r>
            </a:p>
          </p:txBody>
        </p:sp>
      </p:grpSp>
      <p:grpSp>
        <p:nvGrpSpPr>
          <p:cNvPr id="1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8" name="TextBox 13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关键路径有两条，这决定了该往哪里投人力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graph-1"/>
          <p:cNvGrpSpPr/>
          <p:nvPr/>
        </p:nvGrpSpPr>
        <p:grpSpPr>
          <a:xfrm>
            <a:off x="776288" y="1750695"/>
            <a:ext cx="5694997" cy="3540443"/>
            <a:chOff x="776288" y="1750695"/>
            <a:chExt cx="5694997" cy="3540443"/>
          </a:xfrm>
        </p:grpSpPr>
        <p:sp>
          <p:nvSpPr>
            <p:cNvPr id="7" name="Freeform 7"/>
            <p:cNvSpPr/>
            <p:nvPr/>
          </p:nvSpPr>
          <p:spPr>
            <a:xfrm>
              <a:off x="1082040" y="2229802"/>
              <a:ext cx="1022033" cy="1187768"/>
            </a:xfrm>
            <a:custGeom>
              <a:avLst/>
              <a:gdLst/>
              <a:ahLst/>
              <a:cxnLst/>
              <a:rect l="l" t="t" r="r" b="b"/>
              <a:pathLst>
                <a:path w="1022033" h="1187768">
                  <a:moveTo>
                    <a:pt x="0" y="1187768"/>
                  </a:moveTo>
                  <a:lnTo>
                    <a:pt x="1022033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67878" y="2157412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0"/>
                  </a:moveTo>
                  <a:lnTo>
                    <a:pt x="72390" y="102870"/>
                  </a:lnTo>
                  <a:lnTo>
                    <a:pt x="0" y="40958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47762" y="3561398"/>
              <a:ext cx="1099185" cy="9525"/>
            </a:xfrm>
            <a:custGeom>
              <a:avLst/>
              <a:gdLst/>
              <a:ahLst/>
              <a:cxnLst/>
              <a:rect l="l" t="t" r="r" b="b"/>
              <a:pathLst>
                <a:path w="1099185" h="9525">
                  <a:moveTo>
                    <a:pt x="0" y="0"/>
                  </a:moveTo>
                  <a:lnTo>
                    <a:pt x="10991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46948" y="3513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82040" y="3706178"/>
              <a:ext cx="1022033" cy="1186815"/>
            </a:xfrm>
            <a:custGeom>
              <a:avLst/>
              <a:gdLst/>
              <a:ahLst/>
              <a:cxnLst/>
              <a:rect l="l" t="t" r="r" b="b"/>
              <a:pathLst>
                <a:path w="1022033" h="1186815">
                  <a:moveTo>
                    <a:pt x="0" y="0"/>
                  </a:moveTo>
                  <a:lnTo>
                    <a:pt x="1022033" y="11868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67878" y="4862512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102870"/>
                  </a:moveTo>
                  <a:lnTo>
                    <a:pt x="0" y="61912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45068" y="2125028"/>
              <a:ext cx="1189673" cy="861060"/>
            </a:xfrm>
            <a:custGeom>
              <a:avLst/>
              <a:gdLst/>
              <a:ahLst/>
              <a:cxnLst/>
              <a:rect l="l" t="t" r="r" b="b"/>
              <a:pathLst>
                <a:path w="1189673" h="861060">
                  <a:moveTo>
                    <a:pt x="0" y="0"/>
                  </a:moveTo>
                  <a:lnTo>
                    <a:pt x="1189673" y="86106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07118" y="2947988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104775" y="94297"/>
                  </a:moveTo>
                  <a:lnTo>
                    <a:pt x="0" y="77153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15578" y="3237548"/>
              <a:ext cx="877252" cy="268605"/>
            </a:xfrm>
            <a:custGeom>
              <a:avLst/>
              <a:gdLst/>
              <a:ahLst/>
              <a:cxnLst/>
              <a:rect l="l" t="t" r="r" b="b"/>
              <a:pathLst>
                <a:path w="877252" h="268605">
                  <a:moveTo>
                    <a:pt x="0" y="268605"/>
                  </a:moveTo>
                  <a:lnTo>
                    <a:pt x="8772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78542" y="3191828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18097"/>
                  </a:moveTo>
                  <a:lnTo>
                    <a:pt x="28575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81262" y="5110162"/>
              <a:ext cx="1281112" cy="9525"/>
            </a:xfrm>
            <a:custGeom>
              <a:avLst/>
              <a:gdLst/>
              <a:ahLst/>
              <a:cxnLst/>
              <a:rect l="l" t="t" r="r" b="b"/>
              <a:pathLst>
                <a:path w="1281112" h="9525">
                  <a:moveTo>
                    <a:pt x="0" y="0"/>
                  </a:moveTo>
                  <a:lnTo>
                    <a:pt x="1281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62375" y="5062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011930" y="2115502"/>
              <a:ext cx="1089660" cy="916305"/>
            </a:xfrm>
            <a:custGeom>
              <a:avLst/>
              <a:gdLst/>
              <a:ahLst/>
              <a:cxnLst/>
              <a:rect l="l" t="t" r="r" b="b"/>
              <a:pathLst>
                <a:path w="1089660" h="916305">
                  <a:moveTo>
                    <a:pt x="0" y="916305"/>
                  </a:moveTo>
                  <a:lnTo>
                    <a:pt x="108966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071110" y="205454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960" y="97155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028122" y="3253740"/>
              <a:ext cx="1048703" cy="646747"/>
            </a:xfrm>
            <a:custGeom>
              <a:avLst/>
              <a:gdLst/>
              <a:ahLst/>
              <a:cxnLst/>
              <a:rect l="l" t="t" r="r" b="b"/>
              <a:pathLst>
                <a:path w="1048703" h="646747">
                  <a:moveTo>
                    <a:pt x="0" y="0"/>
                  </a:moveTo>
                  <a:lnTo>
                    <a:pt x="1048703" y="646747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52060" y="3859530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81915"/>
                  </a:lnTo>
                  <a:lnTo>
                    <a:pt x="50483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193858" y="4232910"/>
              <a:ext cx="906780" cy="755333"/>
            </a:xfrm>
            <a:custGeom>
              <a:avLst/>
              <a:gdLst/>
              <a:ahLst/>
              <a:cxnLst/>
              <a:rect l="l" t="t" r="r" b="b"/>
              <a:pathLst>
                <a:path w="906780" h="755333">
                  <a:moveTo>
                    <a:pt x="0" y="755333"/>
                  </a:moveTo>
                  <a:lnTo>
                    <a:pt x="9067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070158" y="4171950"/>
              <a:ext cx="103823" cy="98108"/>
            </a:xfrm>
            <a:custGeom>
              <a:avLst/>
              <a:gdLst/>
              <a:ahLst/>
              <a:cxnLst/>
              <a:rect l="l" t="t" r="r" b="b"/>
              <a:pathLst>
                <a:path w="103823" h="98108">
                  <a:moveTo>
                    <a:pt x="103823" y="0"/>
                  </a:moveTo>
                  <a:lnTo>
                    <a:pt x="60960" y="98108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454015" y="2066925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80">
                  <a:moveTo>
                    <a:pt x="0" y="0"/>
                  </a:moveTo>
                  <a:lnTo>
                    <a:pt x="634365" y="64008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055042" y="2672715"/>
              <a:ext cx="100965" cy="101917"/>
            </a:xfrm>
            <a:custGeom>
              <a:avLst/>
              <a:gdLst/>
              <a:ahLst/>
              <a:cxnLst/>
              <a:rect l="l" t="t" r="r" b="b"/>
              <a:pathLst>
                <a:path w="100965" h="101917">
                  <a:moveTo>
                    <a:pt x="100965" y="101917"/>
                  </a:moveTo>
                  <a:lnTo>
                    <a:pt x="0" y="67627"/>
                  </a:lnTo>
                  <a:lnTo>
                    <a:pt x="67627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443538" y="3127058"/>
              <a:ext cx="661035" cy="778192"/>
            </a:xfrm>
            <a:custGeom>
              <a:avLst/>
              <a:gdLst/>
              <a:ahLst/>
              <a:cxnLst/>
              <a:rect l="l" t="t" r="r" b="b"/>
              <a:pathLst>
                <a:path w="661035" h="778192">
                  <a:moveTo>
                    <a:pt x="0" y="778192"/>
                  </a:moveTo>
                  <a:lnTo>
                    <a:pt x="661035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68378" y="3054668"/>
              <a:ext cx="98107" cy="103823"/>
            </a:xfrm>
            <a:custGeom>
              <a:avLst/>
              <a:gdLst/>
              <a:ahLst/>
              <a:cxnLst/>
              <a:rect l="l" t="t" r="r" b="b"/>
              <a:pathLst>
                <a:path w="98107" h="103823">
                  <a:moveTo>
                    <a:pt x="98107" y="0"/>
                  </a:moveTo>
                  <a:lnTo>
                    <a:pt x="72390" y="103823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76288" y="3380422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109788" y="1831658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351722" y="338042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109788" y="492918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685222" y="2972752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867150" y="4929188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139690" y="1750695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139690" y="3869055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109335" y="2728912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1113" y="34956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44613" y="19478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86548" y="34956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44613" y="50444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20048" y="3088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01976" y="50444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4516" y="18659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4516" y="39852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44161" y="2844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557338" y="27089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88893" y="27379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678305" y="348329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709861" y="35123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557338" y="42567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588893" y="4286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011805" y="25050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43361" y="25341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132772" y="32794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164328" y="33085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102292" y="50311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133848" y="50611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526280" y="24641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57836" y="24931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526280" y="35232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57836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617720" y="45015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649276" y="45305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38812" y="23421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770368" y="23712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738812" y="34013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70368" y="3430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6892671" y="1524000"/>
            <a:ext cx="4765929" cy="2714244"/>
            <a:chOff x="6892671" y="1524000"/>
            <a:chExt cx="4765929" cy="2714244"/>
          </a:xfrm>
        </p:grpSpPr>
        <p:sp>
          <p:nvSpPr>
            <p:cNvPr id="70" name="Rectangle 70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501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1231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8298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98017" y="2054066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1 2 5 7 9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16315" y="205406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a₄ a₇ a₁₀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20362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98017" y="2459831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1 2 5 8 9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16315" y="245983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a₄ a₈ a₁₁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20362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998017" y="2865596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1 3 5 7 9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616315" y="286559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 a₅ a₇ a₁₀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520362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898005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98005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998017" y="3271361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1 3 5 8 9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616315" y="327136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 a₅ a₈ a₁₁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520362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898005" y="35480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998017" y="3677126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1 4 6 8 9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616315" y="367712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 a₆ a₉ a₁₁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520362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898005" y="1524000"/>
              <a:ext cx="476059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851154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41558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892671" y="4032885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源点到汇点的全部 5 条路径</a:t>
              </a:r>
            </a:p>
          </p:txBody>
        </p:sp>
      </p:grpSp>
      <p:grpSp>
        <p:nvGrpSpPr>
          <p:cNvPr id="105" name="c2-card-2"/>
          <p:cNvGrpSpPr/>
          <p:nvPr/>
        </p:nvGrpSpPr>
        <p:grpSpPr>
          <a:xfrm>
            <a:off x="6898005" y="4371975"/>
            <a:ext cx="4760595" cy="1226820"/>
            <a:chOff x="6898005" y="4371975"/>
            <a:chExt cx="4760595" cy="1226820"/>
          </a:xfrm>
        </p:grpSpPr>
        <p:sp>
          <p:nvSpPr>
            <p:cNvPr id="100" name="Rectangle 100"/>
            <p:cNvSpPr/>
            <p:nvPr/>
          </p:nvSpPr>
          <p:spPr>
            <a:xfrm>
              <a:off x="6898005" y="4371975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090410" y="45643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181850" y="45986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674102" y="4604385"/>
              <a:ext cx="3504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两条关键路径合起来正好覆盖 6 个关键活动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083552" y="4938712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 a₁ 和 a₄ 同时在两条关键路径上，压缩它们才一定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见效。</a:t>
              </a:r>
            </a:p>
          </p:txBody>
        </p:sp>
      </p:grpSp>
      <p:grpSp>
        <p:nvGrpSpPr>
          <p:cNvPr id="11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6" name="Rectangle 10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关键路径可以不止一条，但所有关键路径的长度都相等，都等于工期。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01318" cy="909257"/>
            <a:chOff x="520446" y="342900"/>
            <a:chExt cx="51013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013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代码：按拓扑序把 ve 一路推下去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440305"/>
            <a:chOff x="533400" y="1524000"/>
            <a:chExt cx="6276022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假定顶点已按拓扑序编号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527804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VertexEarliestTime(Vertex Head[],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ve[])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ve[i]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按拓扑序逐个顶点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Head[i].adjacent; p != NULL; p = p-&gt;link)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(ve[i] + p-&gt;cost &gt; ve[k])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用 &lt;i, k&gt; 更新终点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ve[k] = ve[i] + p-&gt;cost;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154805"/>
            <a:ext cx="6276022" cy="1403985"/>
            <a:chOff x="533400" y="4154805"/>
            <a:chExt cx="6276022" cy="1403985"/>
          </a:xfrm>
        </p:grpSpPr>
        <p:sp>
          <p:nvSpPr>
            <p:cNvPr id="11" name="Rectangle 11"/>
            <p:cNvSpPr/>
            <p:nvPr/>
          </p:nvSpPr>
          <p:spPr>
            <a:xfrm>
              <a:off x="533400" y="4154805"/>
              <a:ext cx="6276022" cy="1403985"/>
            </a:xfrm>
            <a:prstGeom prst="roundRect">
              <a:avLst>
                <a:gd name="adj" fmla="val 814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756787"/>
              <a:ext cx="200023" cy="200023"/>
              <a:chOff x="738188" y="4756787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567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8234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613910"/>
              <a:ext cx="5344478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：每个顶点进一次外层，每条边被扫一次。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前提是邻接表存储、顶点已按拓扑序编号、全部权值非负。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7114222" y="1524000"/>
            <a:ext cx="4544378" cy="2242185"/>
            <a:chOff x="7114222" y="1524000"/>
            <a:chExt cx="4544378" cy="2242185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2242185"/>
            </a:xfrm>
            <a:prstGeom prst="roundRect">
              <a:avLst>
                <a:gd name="adj" fmla="val 594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23772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10515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51483" y="1768792"/>
              <a:ext cx="3158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 for 结束后，ve[k] 确定了吗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6152" y="2129790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没有。这一轮只用掉了 ⟨i, k⟩ 这一条入边，k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的其他前驱可能还没轮到。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6152" y="2750820"/>
              <a:ext cx="3863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真正确定的是 </a:t>
              </a:r>
              <a:r>
                <a:rPr lang="en-US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ve[i]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：因为顶点按拓扑序编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号，i 的全部前驱编号都小于 i，外层循环走到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时它们都已处理完。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7114222" y="3956685"/>
            <a:ext cx="4544378" cy="1602105"/>
            <a:chOff x="7114222" y="3956685"/>
            <a:chExt cx="4544378" cy="1602105"/>
          </a:xfrm>
        </p:grpSpPr>
        <p:sp>
          <p:nvSpPr>
            <p:cNvPr id="24" name="Rectangle 24"/>
            <p:cNvSpPr/>
            <p:nvPr/>
          </p:nvSpPr>
          <p:spPr>
            <a:xfrm>
              <a:off x="7114222" y="3956685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3748" y="409003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61872" y="41662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56030" y="42019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4252" y="4543425"/>
              <a:ext cx="3901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主例题里 ve[5] 要等 i=2 和 i=3 两轮都跑完才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定下来：i=2 时写入 7，i=3 时算出 5 没能覆盖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0" name="Rectangle 3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10354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这段代码采取“每条边去更新终点”的推法，和公式里“每个顶点去收集入边”方向相反，结果一样，但确定时刻不同。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 2：顶点没按拓扑序编号怎么办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304098"/>
            <a:chOff x="533400" y="1524000"/>
            <a:chExt cx="5410200" cy="2304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99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1：先排序，把拓扑序存进 Topo 数组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675253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Topo[i] 是拓扑序中第 i 个顶点的编号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VertexEarliestTime(Vertex Head[],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Topo[],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ve[i]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Head[Topo[i]].adjacent; p; p = p-&gt;link)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(ve[Topo[i]] + p-&gt;cost &gt; ve[k])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ve[k] = ve[Topo[i]] + p-&gt;cost;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992880"/>
            <a:ext cx="5410200" cy="1684972"/>
            <a:chOff x="533400" y="3992880"/>
            <a:chExt cx="5410200" cy="1684972"/>
          </a:xfrm>
        </p:grpSpPr>
        <p:sp>
          <p:nvSpPr>
            <p:cNvPr id="11" name="Rectangle 11"/>
            <p:cNvSpPr/>
            <p:nvPr/>
          </p:nvSpPr>
          <p:spPr>
            <a:xfrm>
              <a:off x="533400" y="3992880"/>
              <a:ext cx="5410200" cy="1684972"/>
            </a:xfrm>
            <a:prstGeom prst="roundRect">
              <a:avLst>
                <a:gd name="adj" fmla="val 678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734878"/>
              <a:ext cx="200026" cy="200026"/>
              <a:chOff x="738188" y="473487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348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801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8348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4628674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改动只有一处：处理的不是顶点 i，而是拓扑序里的第 i 个顶点</a:t>
              </a:r>
              <a:br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Topo[i]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。调用前先跑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TopoSort(Head, Topo);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3050858"/>
            <a:chOff x="6248400" y="1524000"/>
            <a:chExt cx="5410200" cy="3050858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2210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2：拓扑排序时顺手把 ve 更新掉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67450" y="3397568"/>
              <a:ext cx="5372100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988" y="1935004"/>
              <a:ext cx="3732530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TopoOrder(Vertex Head[],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InDegree[N]; Stack s;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getInDegree(Head, n, InDegree);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ve[i]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(InDegree[i] == 0) s.PUSH(i);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(s.Empty())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有环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s.POP();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Head[j].adjacent; p; p = p-&gt;link)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 InDegree[k]--;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(InDegree[k] == 0) s.PUSH(k);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(ve[j] + p-&gt;cost &gt; ve[k]) ve[k] = ve[j] + p-&gt;cost;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6248400" y="4739640"/>
            <a:ext cx="5410200" cy="937260"/>
            <a:chOff x="6248400" y="4739640"/>
            <a:chExt cx="5410200" cy="937260"/>
          </a:xfrm>
        </p:grpSpPr>
        <p:sp>
          <p:nvSpPr>
            <p:cNvPr id="23" name="Rectangle 23"/>
            <p:cNvSpPr/>
            <p:nvPr/>
          </p:nvSpPr>
          <p:spPr>
            <a:xfrm>
              <a:off x="6248400" y="4739640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53188" y="5108258"/>
              <a:ext cx="200026" cy="200026"/>
              <a:chOff x="6453188" y="510825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453188" y="51082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53200" y="5174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42088" y="52082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6273" y="4884896"/>
              <a:ext cx="44345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更正：源课件第 50 页把数组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InDegree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当函数调用，应为</a:t>
              </a:r>
              <a:br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getInDegree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既不是参数也没有声明，这里补成参数并补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上清零循环。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0" name="Rectangle 3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6039326"/>
              <a:ext cx="87492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 2 省掉了一次扫描，正确性靠的是：顶点 j 出栈时它的入度已减到 0，全部前驱都处理过，ve[j] 已是最终值。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54487" cy="909257"/>
            <a:chOff x="520446" y="342900"/>
            <a:chExt cx="53544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544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代码：按逆拓扑序把 vl 一路推回来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326005"/>
            <a:chOff x="533400" y="1524000"/>
            <a:chExt cx="6276022" cy="23260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326005"/>
            </a:xfrm>
            <a:prstGeom prst="roundRect">
              <a:avLst>
                <a:gd name="adj" fmla="val 40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外层循环从 n 倒着走到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766"/>
              <a:ext cx="4250817" cy="1836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VertexLatestTime(Vertex *Head,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ve[],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vl[])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vl[i] = ve[n];      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先全部设成工期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i = n; i &gt;= 1; i--)          // 按拓扑逆序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Head[i].adjacent; p != NULL; p = p-&gt;link)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(vl[k] - p-&gt;cost &lt; vl[i])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出边 &lt;i, k&gt; 提的要求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vl[i] = vl[k] - p-&gt;cost;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030028"/>
            <a:ext cx="6276022" cy="1575435"/>
            <a:chOff x="533400" y="4030028"/>
            <a:chExt cx="6276022" cy="1575435"/>
          </a:xfrm>
        </p:grpSpPr>
        <p:sp>
          <p:nvSpPr>
            <p:cNvPr id="11" name="Rectangle 11"/>
            <p:cNvSpPr/>
            <p:nvPr/>
          </p:nvSpPr>
          <p:spPr>
            <a:xfrm>
              <a:off x="533400" y="4030028"/>
              <a:ext cx="6276022" cy="1575435"/>
            </a:xfrm>
            <a:prstGeom prst="roundRect">
              <a:avLst>
                <a:gd name="adj" fmla="val 725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717735"/>
              <a:ext cx="200023" cy="200023"/>
              <a:chOff x="738188" y="471773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177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784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4586764"/>
              <a:ext cx="531196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时间复杂度同样是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O(n+e)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。前提是先算好 ve，且顶点按拓扑序编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号，汇点正好是 n 号。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7114222" y="1524000"/>
            <a:ext cx="4544378" cy="1540192"/>
            <a:chOff x="7114222" y="1524000"/>
            <a:chExt cx="4544378" cy="1540192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1540192"/>
            </a:xfrm>
            <a:prstGeom prst="roundRect">
              <a:avLst>
                <a:gd name="adj" fmla="val 865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12342" y="1722120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9760" y="17564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14716" y="1756886"/>
              <a:ext cx="28895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 for 结束后，vl[i] 确定了吗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5104" y="2100739"/>
              <a:ext cx="38376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确定了。i 的全部后继编号都大于 i，而外层是从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倒着走，它们的 vl 早已定稿，这一轮把 i 的出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边全看完，vl[i] 就是最终值。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7108888" y="3244215"/>
            <a:ext cx="4549712" cy="2402777"/>
            <a:chOff x="7108888" y="3244215"/>
            <a:chExt cx="4549712" cy="2402777"/>
          </a:xfrm>
        </p:grpSpPr>
        <p:sp>
          <p:nvSpPr>
            <p:cNvPr id="23" name="Rectangle 23"/>
            <p:cNvSpPr/>
            <p:nvPr/>
          </p:nvSpPr>
          <p:spPr>
            <a:xfrm>
              <a:off x="7114222" y="3244215"/>
              <a:ext cx="454437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3200" y="337280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85077" y="3372802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6712" y="37976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9739" y="37976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70414" y="37976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逆拓扑序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14222" y="40890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4222" y="4093845"/>
              <a:ext cx="45443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16712" y="42214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取极值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79739" y="422148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0414" y="4221480"/>
              <a:ext cx="270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45129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16712" y="46462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79739" y="464629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ve(1)=0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70414" y="4646295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vl(n)=ve(n)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14222" y="49377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14222" y="4942522"/>
              <a:ext cx="45443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16712" y="5071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内层结束时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79739" y="507111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定的是 ve[i]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70414" y="50711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定的是 vl[i]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3244215"/>
              <a:ext cx="454437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472488" y="324421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63162" y="324421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8888" y="544163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两个方向正好相反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8" name="Rectangle 4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11704"/>
              <a:ext cx="87696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vl 全部初始化成 ve[n] 是安全的：任何事件都不可能比工期还晚发生，出边只会把这个上界往下压。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2464" cy="909257"/>
            <a:chOff x="520446" y="342900"/>
            <a:chExt cx="64924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24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代码：求各活动的 e 与 l，并输出关键活动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268855"/>
            <a:chOff x="533400" y="1524000"/>
            <a:chExt cx="6059805" cy="2268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逐条边判一次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066413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ActivityStartTime(Vertex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ve[],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vl[])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Head[i].adjacent; p != NULL; p = p-&gt;link)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 = ve[i];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最早开始时间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 = vl[k] - p-&gt;cost;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最迟开始时间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 == l)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printf(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"%d-&gt;%d\n"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i, k);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输出关键活动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968115"/>
            <a:ext cx="6059805" cy="1628775"/>
            <a:chOff x="533400" y="3968115"/>
            <a:chExt cx="6059805" cy="1628775"/>
          </a:xfrm>
        </p:grpSpPr>
        <p:sp>
          <p:nvSpPr>
            <p:cNvPr id="11" name="Rectangle 11"/>
            <p:cNvSpPr/>
            <p:nvPr/>
          </p:nvSpPr>
          <p:spPr>
            <a:xfrm>
              <a:off x="533400" y="3968115"/>
              <a:ext cx="6059805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12003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三步合起来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379309"/>
              <a:ext cx="4004945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CriticalPath(Vertex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ve[maxn], vl[maxn];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假定顶点已按拓扑序编号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VertexEarliestTime(Head, n, ve);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VertexLatestTime(Head, n, ve, vl);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ActivityStartTime(Head, n, ve, vl);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898005" y="1524000"/>
            <a:ext cx="4760595" cy="1786890"/>
            <a:chOff x="6898005" y="1524000"/>
            <a:chExt cx="4760595" cy="1786890"/>
          </a:xfrm>
        </p:grpSpPr>
        <p:sp>
          <p:nvSpPr>
            <p:cNvPr id="15" name="Rectangle 15"/>
            <p:cNvSpPr/>
            <p:nvPr/>
          </p:nvSpPr>
          <p:spPr>
            <a:xfrm>
              <a:off x="6898005" y="1524000"/>
              <a:ext cx="476059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07530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285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199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12202" y="1756410"/>
              <a:ext cx="233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53 页这一行编不过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21652" y="2090738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原文写的是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int l = vl[k]–p-&gt;cost;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，中间那个符号是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全角连接号（U+2013），不是减号。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21652" y="2649855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PyMuPDF 抽取原 PDF 的字符逐个核对过，确认不是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渲染错觉。改成半角减号即可。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898005" y="3485198"/>
            <a:ext cx="4760595" cy="2110740"/>
            <a:chOff x="6898005" y="3485198"/>
            <a:chExt cx="4760595" cy="2110740"/>
          </a:xfrm>
        </p:grpSpPr>
        <p:sp>
          <p:nvSpPr>
            <p:cNvPr id="23" name="Rectangle 23"/>
            <p:cNvSpPr/>
            <p:nvPr/>
          </p:nvSpPr>
          <p:spPr>
            <a:xfrm>
              <a:off x="6898005" y="3485198"/>
              <a:ext cx="4760595" cy="2110740"/>
            </a:xfrm>
            <a:prstGeom prst="roundRect">
              <a:avLst>
                <a:gd name="adj" fmla="val 631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90410" y="367760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77850" y="37118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7452" y="3717608"/>
              <a:ext cx="1842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三个函数合计 O(n+e)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3552" y="4051935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ve：O(n+e)　vl：O(n+e)　e 与 l：O(e)。若顶点没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按拓扑序编号，还要先加一次 O(n+e) 的拓扑排序。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84695" y="4607719"/>
              <a:ext cx="41292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前提仍是邻接表存储。另外 </a:t>
              </a:r>
              <a:r>
                <a:rPr lang="en-US" sz="11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maxn</a:t>
              </a: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要不小于 n+1，因为本讲顶点从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开始编号。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0" name="Rectangle 3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3610"/>
              <a:ext cx="7937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这个函数只输出关键活动。想顺便报出每项活动能拖几天，把 l − e 一并打印出来就是时间余量表。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00735" cy="909257"/>
            <a:chOff x="520446" y="342900"/>
            <a:chExt cx="81007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007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两道课下思考：加速关键活动，以及 vl 到底有什么用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447" y="1524000"/>
            <a:ext cx="5415153" cy="2263806"/>
            <a:chOff x="528447" y="1524000"/>
            <a:chExt cx="5415153" cy="22638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3995" y="1645444"/>
              <a:ext cx="1065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a₁ 从 6 压到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70263" y="1645444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 1→2→4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669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78418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1478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78418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1478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7841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147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78418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1478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7650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9956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447" y="3597116"/>
              <a:ext cx="47197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思考一：加速一个关键活动一定能缩短工期吗（小例子原工期 7，另一条路长 5）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919538"/>
            <a:ext cx="5410200" cy="1760220"/>
            <a:chOff x="533400" y="3919538"/>
            <a:chExt cx="5410200" cy="1760220"/>
          </a:xfrm>
        </p:grpSpPr>
        <p:sp>
          <p:nvSpPr>
            <p:cNvPr id="33" name="Rectangle 33"/>
            <p:cNvSpPr/>
            <p:nvPr/>
          </p:nvSpPr>
          <p:spPr>
            <a:xfrm>
              <a:off x="533400" y="3919538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0090" y="410622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711" y="41390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10462" y="41414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两种落空的情形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232" y="4467225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压过头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：a₁ 减到 4 以后，1→3→4 接替成为最长路径，再压毫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无作用。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232" y="5024438"/>
              <a:ext cx="46857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没压在点上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：主例题有两条关键路径，a₁₀ 从 2 减到 1 后工期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仍是 18，经过 8 号事件那条路还顶着；压 a₁ 才能降到 17。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202055"/>
            <a:chOff x="6248400" y="1524000"/>
            <a:chExt cx="5410200" cy="1202055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38784" y="1745932"/>
              <a:ext cx="3647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ve 时就得到了最长路径，为什么还要算 vl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6332" y="2071688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求 ve 的过程确实顺带给出了工期，回溯还能找出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一条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关键路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径。但工程管理要的不止这一条。</a:t>
              </a:r>
            </a:p>
          </p:txBody>
        </p:sp>
      </p:grpSp>
      <p:grpSp>
        <p:nvGrpSpPr>
          <p:cNvPr id="56" name="c2-bullets-2"/>
          <p:cNvGrpSpPr/>
          <p:nvPr/>
        </p:nvGrpSpPr>
        <p:grpSpPr>
          <a:xfrm>
            <a:off x="6248400" y="2906077"/>
            <a:ext cx="5095113" cy="1665161"/>
            <a:chOff x="6248400" y="2906077"/>
            <a:chExt cx="5095113" cy="1665161"/>
          </a:xfrm>
        </p:grpSpPr>
        <p:sp>
          <p:nvSpPr>
            <p:cNvPr id="47" name="Ellipse 47"/>
            <p:cNvSpPr/>
            <p:nvPr/>
          </p:nvSpPr>
          <p:spPr>
            <a:xfrm>
              <a:off x="6248400" y="290607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04078" y="29454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29197" y="291846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关键路径可能有多条。只沿着一条回溯，会漏掉另一条上的关键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活动，本讲主例题就会漏掉 a₈ 与 a₁₁。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48400" y="347186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4078" y="35112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29197" y="3484245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要回答“哪些活动能延期、能延几天”，必须逐个活动算出 l(i)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e(i)，这只能由 vl 得到。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48400" y="403764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04078" y="40769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29197" y="405003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有了余量表才知道把人力从哪里抽出来补到哪里去，这正是关键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路径法在工程上的用处。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4688205"/>
            <a:ext cx="5410200" cy="991552"/>
            <a:chOff x="6248400" y="4688205"/>
            <a:chExt cx="5410200" cy="991552"/>
          </a:xfrm>
        </p:grpSpPr>
        <p:sp>
          <p:nvSpPr>
            <p:cNvPr id="57" name="Rectangle 57"/>
            <p:cNvSpPr/>
            <p:nvPr/>
          </p:nvSpPr>
          <p:spPr>
            <a:xfrm>
              <a:off x="6248400" y="4688205"/>
              <a:ext cx="5410200" cy="991552"/>
            </a:xfrm>
            <a:prstGeom prst="roundRect">
              <a:avLst>
                <a:gd name="adj" fmla="val 1152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083493"/>
              <a:ext cx="200026" cy="200026"/>
              <a:chOff x="6453188" y="508349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0834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5150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42088" y="51835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4965383"/>
              <a:ext cx="45228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所以标准做法是 ve、vl 都算，再逐条边比较 e 与 l，而不是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只找一条最长路径。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4" name="Rectangle 6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要真正压缩工期，得压在全部关键路径的公共活动上，而且压到它不再是最长路径为止。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52327" cy="909257"/>
            <a:chOff x="520446" y="342900"/>
            <a:chExt cx="98523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 · 例题与算法实现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523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课下思考：时间余量最大的活动是哪个（2022 年考研题全国卷）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graph-1"/>
          <p:cNvGrpSpPr/>
          <p:nvPr/>
        </p:nvGrpSpPr>
        <p:grpSpPr>
          <a:xfrm>
            <a:off x="752475" y="1643062"/>
            <a:ext cx="4417695" cy="1809750"/>
            <a:chOff x="752475" y="1643062"/>
            <a:chExt cx="4417695" cy="1809750"/>
          </a:xfrm>
        </p:grpSpPr>
        <p:sp>
          <p:nvSpPr>
            <p:cNvPr id="7" name="Freeform 7"/>
            <p:cNvSpPr/>
            <p:nvPr/>
          </p:nvSpPr>
          <p:spPr>
            <a:xfrm>
              <a:off x="1055370" y="1956435"/>
              <a:ext cx="829628" cy="574357"/>
            </a:xfrm>
            <a:custGeom>
              <a:avLst/>
              <a:gdLst/>
              <a:ahLst/>
              <a:cxnLst/>
              <a:rect l="l" t="t" r="r" b="b"/>
              <a:pathLst>
                <a:path w="829628" h="574357">
                  <a:moveTo>
                    <a:pt x="0" y="574357"/>
                  </a:moveTo>
                  <a:lnTo>
                    <a:pt x="8296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58328" y="1903095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4293" y="93345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70610" y="2698432"/>
              <a:ext cx="1076325" cy="482917"/>
            </a:xfrm>
            <a:custGeom>
              <a:avLst/>
              <a:gdLst/>
              <a:ahLst/>
              <a:cxnLst/>
              <a:rect l="l" t="t" r="r" b="b"/>
              <a:pathLst>
                <a:path w="1076325" h="482917">
                  <a:moveTo>
                    <a:pt x="0" y="0"/>
                  </a:moveTo>
                  <a:lnTo>
                    <a:pt x="1076325" y="4829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26932" y="3138488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1915"/>
                  </a:moveTo>
                  <a:lnTo>
                    <a:pt x="0" y="86678"/>
                  </a:lnTo>
                  <a:lnTo>
                    <a:pt x="3905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36458" y="1973580"/>
              <a:ext cx="203835" cy="1055370"/>
            </a:xfrm>
            <a:custGeom>
              <a:avLst/>
              <a:gdLst/>
              <a:ahLst/>
              <a:cxnLst/>
              <a:rect l="l" t="t" r="r" b="b"/>
              <a:pathLst>
                <a:path w="203835" h="1055370">
                  <a:moveTo>
                    <a:pt x="0" y="0"/>
                  </a:moveTo>
                  <a:lnTo>
                    <a:pt x="203835" y="10553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92668" y="3020378"/>
              <a:ext cx="94298" cy="101917"/>
            </a:xfrm>
            <a:custGeom>
              <a:avLst/>
              <a:gdLst/>
              <a:ahLst/>
              <a:cxnLst/>
              <a:rect l="l" t="t" r="r" b="b"/>
              <a:pathLst>
                <a:path w="94298" h="101917">
                  <a:moveTo>
                    <a:pt x="64770" y="101917"/>
                  </a:moveTo>
                  <a:lnTo>
                    <a:pt x="0" y="18097"/>
                  </a:lnTo>
                  <a:lnTo>
                    <a:pt x="9429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75522" y="1804988"/>
              <a:ext cx="1133475" cy="9525"/>
            </a:xfrm>
            <a:custGeom>
              <a:avLst/>
              <a:gdLst/>
              <a:ahLst/>
              <a:cxnLst/>
              <a:rect l="l" t="t" r="r" b="b"/>
              <a:pathLst>
                <a:path w="1133475" h="9525">
                  <a:moveTo>
                    <a:pt x="0" y="0"/>
                  </a:moveTo>
                  <a:lnTo>
                    <a:pt x="11334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08998" y="17573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02218" y="2006918"/>
              <a:ext cx="999173" cy="1154430"/>
            </a:xfrm>
            <a:custGeom>
              <a:avLst/>
              <a:gdLst/>
              <a:ahLst/>
              <a:cxnLst/>
              <a:rect l="l" t="t" r="r" b="b"/>
              <a:pathLst>
                <a:path w="999173" h="1154430">
                  <a:moveTo>
                    <a:pt x="0" y="1154430"/>
                  </a:moveTo>
                  <a:lnTo>
                    <a:pt x="9991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65195" y="1934528"/>
              <a:ext cx="98108" cy="103823"/>
            </a:xfrm>
            <a:custGeom>
              <a:avLst/>
              <a:gdLst/>
              <a:ahLst/>
              <a:cxnLst/>
              <a:rect l="l" t="t" r="r" b="b"/>
              <a:pathLst>
                <a:path w="98108" h="103823">
                  <a:moveTo>
                    <a:pt x="98108" y="0"/>
                  </a:moveTo>
                  <a:lnTo>
                    <a:pt x="72390" y="103823"/>
                  </a:lnTo>
                  <a:lnTo>
                    <a:pt x="0" y="409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561272" y="3290888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647122" y="3243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554605" y="2602230"/>
              <a:ext cx="2198370" cy="641033"/>
            </a:xfrm>
            <a:custGeom>
              <a:avLst/>
              <a:gdLst/>
              <a:ahLst/>
              <a:cxnLst/>
              <a:rect l="l" t="t" r="r" b="b"/>
              <a:pathLst>
                <a:path w="2198370" h="641033">
                  <a:moveTo>
                    <a:pt x="0" y="641033"/>
                  </a:moveTo>
                  <a:lnTo>
                    <a:pt x="21983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39640" y="255651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9050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702368" y="1974532"/>
              <a:ext cx="169545" cy="1053465"/>
            </a:xfrm>
            <a:custGeom>
              <a:avLst/>
              <a:gdLst/>
              <a:ahLst/>
              <a:cxnLst/>
              <a:rect l="l" t="t" r="r" b="b"/>
              <a:pathLst>
                <a:path w="169545" h="1053465">
                  <a:moveTo>
                    <a:pt x="0" y="0"/>
                  </a:moveTo>
                  <a:lnTo>
                    <a:pt x="169545" y="10534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24288" y="3020378"/>
              <a:ext cx="94297" cy="100965"/>
            </a:xfrm>
            <a:custGeom>
              <a:avLst/>
              <a:gdLst/>
              <a:ahLst/>
              <a:cxnLst/>
              <a:rect l="l" t="t" r="r" b="b"/>
              <a:pathLst>
                <a:path w="94297" h="100965">
                  <a:moveTo>
                    <a:pt x="61912" y="100965"/>
                  </a:moveTo>
                  <a:lnTo>
                    <a:pt x="0" y="14288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826192" y="1886902"/>
              <a:ext cx="947738" cy="514350"/>
            </a:xfrm>
            <a:custGeom>
              <a:avLst/>
              <a:gdLst/>
              <a:ahLst/>
              <a:cxnLst/>
              <a:rect l="l" t="t" r="r" b="b"/>
              <a:pathLst>
                <a:path w="947738" h="514350">
                  <a:moveTo>
                    <a:pt x="0" y="0"/>
                  </a:moveTo>
                  <a:lnTo>
                    <a:pt x="947738" y="5143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752022" y="2359342"/>
              <a:ext cx="105728" cy="86678"/>
            </a:xfrm>
            <a:custGeom>
              <a:avLst/>
              <a:gdLst/>
              <a:ahLst/>
              <a:cxnLst/>
              <a:rect l="l" t="t" r="r" b="b"/>
              <a:pathLst>
                <a:path w="105728" h="86678">
                  <a:moveTo>
                    <a:pt x="105728" y="86678"/>
                  </a:moveTo>
                  <a:lnTo>
                    <a:pt x="0" y="82867"/>
                  </a:lnTo>
                  <a:lnTo>
                    <a:pt x="447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54792" y="2680335"/>
              <a:ext cx="735330" cy="512445"/>
            </a:xfrm>
            <a:custGeom>
              <a:avLst/>
              <a:gdLst/>
              <a:ahLst/>
              <a:cxnLst/>
              <a:rect l="l" t="t" r="r" b="b"/>
              <a:pathLst>
                <a:path w="735330" h="512445">
                  <a:moveTo>
                    <a:pt x="0" y="512445"/>
                  </a:moveTo>
                  <a:lnTo>
                    <a:pt x="7353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762500" y="2626042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0"/>
                  </a:moveTo>
                  <a:lnTo>
                    <a:pt x="54292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52475" y="246602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942148" y="164306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227898" y="312896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513772" y="164306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751898" y="312896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846320" y="236601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4653" y="2572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64326" y="1748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50076" y="32346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35951" y="1748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74076" y="32346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68498" y="24717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84935" y="213836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413880" y="216741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a=2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527810" y="288131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56755" y="291036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b=5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123122" y="246983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151115" y="24988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c=3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6060" y="172688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94052" y="175593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908935" y="246983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936927" y="24988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e=3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27998" y="321278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055990" y="324183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f=3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575685" y="2830830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03677" y="285988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g=1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670935" y="246983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698927" y="24988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h=1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231005" y="2087880"/>
              <a:ext cx="22193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260413" y="2116931"/>
              <a:ext cx="1640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50068" y="2830830"/>
              <a:ext cx="22193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379476" y="2859881"/>
              <a:ext cx="1640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j=1</a:t>
              </a:r>
            </a:p>
          </p:txBody>
        </p:sp>
      </p:grpSp>
      <p:grpSp>
        <p:nvGrpSpPr>
          <p:cNvPr id="66" name="c1-callout-2"/>
          <p:cNvGrpSpPr/>
          <p:nvPr/>
        </p:nvGrpSpPr>
        <p:grpSpPr>
          <a:xfrm>
            <a:off x="533400" y="3696652"/>
            <a:ext cx="4760595" cy="467678"/>
            <a:chOff x="533400" y="3696652"/>
            <a:chExt cx="4760595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3696652"/>
              <a:ext cx="4760595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3830955"/>
              <a:ext cx="200026" cy="200026"/>
              <a:chOff x="738188" y="3830955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38309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38976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39309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3841909"/>
              <a:ext cx="2265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 A. c　B. g　C. h　D. j</a:t>
              </a:r>
            </a:p>
          </p:txBody>
        </p:sp>
      </p:grpSp>
      <p:grpSp>
        <p:nvGrpSpPr>
          <p:cNvPr id="106" name="c2-cells-1"/>
          <p:cNvGrpSpPr/>
          <p:nvPr/>
        </p:nvGrpSpPr>
        <p:grpSpPr>
          <a:xfrm>
            <a:off x="5593842" y="1524000"/>
            <a:ext cx="2902458" cy="1360170"/>
            <a:chOff x="5593842" y="1524000"/>
            <a:chExt cx="2902458" cy="1360170"/>
          </a:xfrm>
        </p:grpSpPr>
        <p:sp>
          <p:nvSpPr>
            <p:cNvPr id="67" name="TextBox 67"/>
            <p:cNvSpPr txBox="1"/>
            <p:nvPr/>
          </p:nvSpPr>
          <p:spPr>
            <a:xfrm>
              <a:off x="5593842" y="16416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98170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48203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0080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67303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1990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86403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05503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5810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24603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7720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243703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593842" y="21436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ve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98170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4820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40080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730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81990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98640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23900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40550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65810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824603" y="21436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07720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05609" y="21436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593842" y="2645569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vl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98170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148203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40080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567303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81990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986403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23900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405503" y="26455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5810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786509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077200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205609" y="26455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149" name="c2-cells-2"/>
          <p:cNvGrpSpPr/>
          <p:nvPr/>
        </p:nvGrpSpPr>
        <p:grpSpPr>
          <a:xfrm>
            <a:off x="5593842" y="3048952"/>
            <a:ext cx="4578858" cy="858203"/>
            <a:chOff x="5593842" y="3048952"/>
            <a:chExt cx="4578858" cy="858203"/>
          </a:xfrm>
        </p:grpSpPr>
        <p:sp>
          <p:nvSpPr>
            <p:cNvPr id="107" name="TextBox 107"/>
            <p:cNvSpPr txBox="1"/>
            <p:nvPr/>
          </p:nvSpPr>
          <p:spPr>
            <a:xfrm>
              <a:off x="5593842" y="31665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活动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9817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1482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4008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5673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68199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9864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72390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4055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76581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8246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80772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82437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84963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6628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89154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081903" y="3166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93345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9518318" y="3166586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9753600" y="30489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9937418" y="3166586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5593842" y="36685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余量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59817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1482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4008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5673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68199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69864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72390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74055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76581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78246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80772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82437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496300" y="3550920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6628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89154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90819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93345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95010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9753600" y="355092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9920103" y="36685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55" name="c2-card-3"/>
          <p:cNvGrpSpPr/>
          <p:nvPr/>
        </p:nvGrpSpPr>
        <p:grpSpPr>
          <a:xfrm>
            <a:off x="5598795" y="4071938"/>
            <a:ext cx="6059805" cy="1428750"/>
            <a:chOff x="5598795" y="4071938"/>
            <a:chExt cx="6059805" cy="1428750"/>
          </a:xfrm>
        </p:grpSpPr>
        <p:sp>
          <p:nvSpPr>
            <p:cNvPr id="150" name="Rectangle 150"/>
            <p:cNvSpPr/>
            <p:nvPr/>
          </p:nvSpPr>
          <p:spPr>
            <a:xfrm>
              <a:off x="5598795" y="4071938"/>
              <a:ext cx="6059805" cy="1428750"/>
            </a:xfrm>
            <a:prstGeom prst="roundRect">
              <a:avLst>
                <a:gd name="adj" fmla="val 93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5779770" y="42529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5872442" y="42857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解答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5773293" y="4593431"/>
              <a:ext cx="5414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工期 ve(6) = 12，关键路径 1→2→3→4→6，关键活动是 a、b、c、e、i。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5773293" y="4878229"/>
              <a:ext cx="543067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g 架在边 3→6 上，e(g) = ve(3) = 5，l(g) = vl(6) − 1 = 11，余量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，是全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场最大，选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B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56" name="Rectangle 1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0" name="Group 16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8" name="Freeform 15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9" name="Freeform 15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1" name="TextBox 161"/>
            <p:cNvSpPr txBox="1"/>
            <p:nvPr/>
          </p:nvSpPr>
          <p:spPr>
            <a:xfrm>
              <a:off x="1041273" y="6039326"/>
              <a:ext cx="7715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这类题不必把 10 个余量全算完：先找出关键路径，余量大的一定在偏离关键路径最远的那条捷径上。</a:t>
              </a:r>
            </a:p>
          </p:txBody>
        </p:sp>
      </p:grpSp>
      <p:grpSp>
        <p:nvGrpSpPr>
          <p:cNvPr id="1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3" name="TextBox 1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69364" cy="909257"/>
            <a:chOff x="520446" y="342900"/>
            <a:chExt cx="17693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564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6586" y="407194"/>
              <a:ext cx="1590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376297" cy="264033"/>
            <a:chOff x="526542" y="1545907"/>
            <a:chExt cx="23762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743075"/>
            <a:chOff x="533400" y="1928812"/>
            <a:chExt cx="3505200" cy="17430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809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网为什么必须是有向无环图？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有向环意味着环上每项活动都要以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自己为先决条件，任务无法开工，也排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不出拓扑序列。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41432"/>
            <a:ext cx="3505200" cy="2514600"/>
            <a:chOff x="533400" y="3841432"/>
            <a:chExt cx="3505200" cy="2514600"/>
          </a:xfrm>
        </p:grpSpPr>
        <p:sp>
          <p:nvSpPr>
            <p:cNvPr id="15" name="Rectangle 15"/>
            <p:cNvSpPr/>
            <p:nvPr/>
          </p:nvSpPr>
          <p:spPr>
            <a:xfrm>
              <a:off x="533400" y="3841432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372928"/>
              <a:ext cx="293651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求拓扑排序时，结点在什么时刻输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出？得到的序列要怎么用？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493014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在它的全部后继处理完、状态置为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黑时输出，得到的是逆拓扑序，倒过来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读才是拓扑序列。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257425"/>
            <a:chOff x="4343400" y="1928812"/>
            <a:chExt cx="3505200" cy="22574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拓扑排序执行到某一步，栈空了但只输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出了 k 个顶点（k &lt; n），能得出什么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273742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 n−k 个顶点入度都不为 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它们中间必有有向环，这张 AOV 网不可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355782"/>
            <a:ext cx="3505200" cy="2000250"/>
            <a:chOff x="4343400" y="4355782"/>
            <a:chExt cx="3505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887278"/>
              <a:ext cx="287007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vⱼ 的 ve 取 max 而 vl 取 min，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各自的理由是什么？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444490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 要等全部入边活动做完，故取最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大；vl 要同时满足全部出边提出的期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限，故取最小。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怎样判断一张有向图的拓扑序列是否唯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540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看排序时每一步是否都只有一个入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0 的顶点；等价于序列中相邻顶点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间都有边。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9892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 aᵢ 架在边 ⟨j, k⟩ 上，它的时间余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量怎么算？余量为 0 说明什么？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9026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余量 = l(i) − e(i) = vl(k)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weight(j, k) − ve(j)。为 0 就是关键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活动，一拖工期就拖。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69364" cy="909257"/>
            <a:chOff x="520446" y="342900"/>
            <a:chExt cx="17693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564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6586" y="407194"/>
              <a:ext cx="1590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第14讲 拓扑与关键路径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85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81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489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AOV 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7316" y="202311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顶点是活动、边是先后关系；必须无环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7316" y="2404110"/>
              <a:ext cx="3504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反复取入度为 0 的顶点输出并删边，O(n+e)，顺带判环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489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AOE 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7316" y="278511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边是活动并带工期，顶点是事件；工期等于最长路径长度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30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 与 vl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7316" y="3167062"/>
              <a:ext cx="2279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按拓扑序取 max，按逆拓扑序取 min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关键活动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7316" y="3548062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e(i) = l(i)，即时间余量为 0；连成关键路径，可能不止一条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4787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976688"/>
            <a:ext cx="5842635" cy="1671638"/>
            <a:chOff x="533400" y="3976688"/>
            <a:chExt cx="584263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4498181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 3 处：第 53 页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vl[k]–p-&gt;cost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用了全角连接号；第 17、50 页把数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InDegree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当函数调用；第 50 页的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未声明也未初始化。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502586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补充：拓扑序列唯一的判据；队列版执行过程；判断给定序列的代码；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版三色判环；时间余量全表；两条关键路径。</a:t>
              </a:r>
            </a:p>
          </p:txBody>
        </p:sp>
      </p:grpSp>
      <p:grpSp>
        <p:nvGrpSpPr>
          <p:cNvPr id="51" name="c2-bullets-1"/>
          <p:cNvGrpSpPr/>
          <p:nvPr/>
        </p:nvGrpSpPr>
        <p:grpSpPr>
          <a:xfrm>
            <a:off x="6681788" y="1533525"/>
            <a:ext cx="4785614" cy="2404396"/>
            <a:chOff x="6681788" y="1533525"/>
            <a:chExt cx="4785614" cy="2404396"/>
          </a:xfrm>
        </p:grpSpPr>
        <p:sp>
          <p:nvSpPr>
            <p:cNvPr id="36" name="Ellipse 36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51536" y="1545431"/>
              <a:ext cx="44264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拓扑排序的正确性只依赖一件事：入度为 0 的顶点此刻排进去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一定合法，所以用栈用队列都行。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51536" y="2080736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判环和排序是同一件事的两面，循环固定跑 n 次就是为了让“提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前取不到顶点”暴露出来。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1788" y="26060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3694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1536" y="2616994"/>
              <a:ext cx="43776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 与 vl 的递推方向相反、极值相反，这是关键路径法最容易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记混的地方。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1788" y="314134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3694" y="3176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51536" y="3153251"/>
              <a:ext cx="4079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关键活动看的是边上的 e 与 l，不是顶点的 ve 与 vl。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1788" y="343471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33694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1536" y="3445669"/>
              <a:ext cx="4418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余量给出的是“能拖几天”，压缩工期要压在全部关键路径的公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共活动上。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4052888"/>
            <a:ext cx="4977765" cy="1596390"/>
            <a:chOff x="6680835" y="4052888"/>
            <a:chExt cx="4977765" cy="1596390"/>
          </a:xfrm>
        </p:grpSpPr>
        <p:sp>
          <p:nvSpPr>
            <p:cNvPr id="52" name="Rectangle 52"/>
            <p:cNvSpPr/>
            <p:nvPr/>
          </p:nvSpPr>
          <p:spPr>
            <a:xfrm>
              <a:off x="6680835" y="4052888"/>
              <a:ext cx="4977765" cy="1596390"/>
            </a:xfrm>
            <a:prstGeom prst="roundRect">
              <a:avLst>
                <a:gd name="adj" fmla="val 835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61810" y="42338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47332" y="42667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55333" y="4574381"/>
              <a:ext cx="43776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拿本讲主例题的那张 9 点 11 边的网，遮住答案，从头算一遍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ve、vl、e、l，最后对照第 32 页的五行表。能一次对上，这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一讲就过了。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95246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下一讲：第 15 讲 最短路径。同样是在带权图上做递推，只是把取最大改成取最小，起点从“全部前驱做完”换成“最先到达”。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第14讲 拓扑排序与关键路径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4">
  <a:themeElements>
    <a:clrScheme name="ds_l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2026-09-19T13:34:25Z</dcterms:created>
  <dcterms:modified xsi:type="dcterms:W3CDTF">2026-09-19T13:34:25Z</dcterms:modified>
  <cp:category/>
  <cp:contentStatus/>
</cp:coreProperties>
</file>