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1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1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5fcba4f25085f24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a59e5f68809377b.pn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4198f939787bb45d.png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359146" cy="3437763"/>
            <a:chOff x="666750" y="1619250"/>
            <a:chExt cx="535914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61734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2921" y="1718310"/>
              <a:ext cx="1363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第13讲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99592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图的遍历及应用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深度优先、广度优先，以及它们能解决的四类问题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585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visited 数组的作用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478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DFS 递归与非递归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933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BFS 与队列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连通分量与判环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29995" cy="205359"/>
            <a:chOff x="680466" y="6192202"/>
            <a:chExt cx="4229995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299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13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遍历要解决什么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6229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每个顶点恰访问一次，用 visited 数组挡住回路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深度优先搜索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可行则进、不行则换、换不了则退；递归与栈两种写法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广度优先搜索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一层一层推进，用队列确定访问次序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两种遍历的代价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2572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邻接表 O(n+e) 与邻接矩阵 O(n²) 的差别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遍历的四类应用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连通分量、两点间路径、无向图判环、有向图判环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729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给定一张图和起点，手写出 DFS 与 BFS 的访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问序列并画出生成树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739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visited 数组在 DFS、BFS、判环三种场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合各自表示什么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DFS 的递归与非递归代码，并解释两者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访问次序为什么不同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解释遍历为什么是 O(n+e)，以及换成邻接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矩阵后为什么变成 O(n²)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用遍历解决连通分量计数、两点可达、无向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图判环、有向图判环四道题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36792" cy="3351847"/>
            <a:chOff x="667512" y="1835468"/>
            <a:chExt cx="633679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图的遍历：先把重复访问挡住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图里有回路，沿边走可能绕回已经访问过的顶点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遍历的定义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1561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visited 数组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遍历建立在邻接表之上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两种走法的分工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图的遍历：先把重复访问挡住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图的遍历：每个顶点恰被访问一次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102983" cy="293370"/>
            <a:chOff x="525780" y="1548765"/>
            <a:chExt cx="710298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1029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定义本身和树的遍历一样，难点在“恰”这个字：图里绕一圈就可能回到出发点。</a:t>
              </a:r>
            </a:p>
          </p:txBody>
        </p:sp>
      </p:grpSp>
      <p:grpSp>
        <p:nvGrpSpPr>
          <p:cNvPr id="22" name="c1-graph-1"/>
          <p:cNvGrpSpPr/>
          <p:nvPr/>
        </p:nvGrpSpPr>
        <p:grpSpPr>
          <a:xfrm>
            <a:off x="1599248" y="2225040"/>
            <a:ext cx="2945130" cy="2230755"/>
            <a:chOff x="1599248" y="2225040"/>
            <a:chExt cx="2945130" cy="2230755"/>
          </a:xfrm>
        </p:grpSpPr>
        <p:sp>
          <p:nvSpPr>
            <p:cNvPr id="9" name="Freeform 9"/>
            <p:cNvSpPr/>
            <p:nvPr/>
          </p:nvSpPr>
          <p:spPr>
            <a:xfrm>
              <a:off x="2065972" y="2453640"/>
              <a:ext cx="2011680" cy="9525"/>
            </a:xfrm>
            <a:custGeom>
              <a:avLst/>
              <a:gdLst/>
              <a:ahLst/>
              <a:cxnLst/>
              <a:rect l="l" t="t" r="r" b="b"/>
              <a:pathLst>
                <a:path w="2011680" h="9525">
                  <a:moveTo>
                    <a:pt x="0" y="0"/>
                  </a:moveTo>
                  <a:lnTo>
                    <a:pt x="20116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27848" y="2691765"/>
              <a:ext cx="9525" cy="1297305"/>
            </a:xfrm>
            <a:custGeom>
              <a:avLst/>
              <a:gdLst/>
              <a:ahLst/>
              <a:cxnLst/>
              <a:rect l="l" t="t" r="r" b="b"/>
              <a:pathLst>
                <a:path w="9525" h="1297305">
                  <a:moveTo>
                    <a:pt x="0" y="0"/>
                  </a:moveTo>
                  <a:lnTo>
                    <a:pt x="0" y="12973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021205" y="2591752"/>
              <a:ext cx="2101215" cy="1497330"/>
            </a:xfrm>
            <a:custGeom>
              <a:avLst/>
              <a:gdLst/>
              <a:ahLst/>
              <a:cxnLst/>
              <a:rect l="l" t="t" r="r" b="b"/>
              <a:pathLst>
                <a:path w="2101215" h="1497330">
                  <a:moveTo>
                    <a:pt x="0" y="0"/>
                  </a:moveTo>
                  <a:lnTo>
                    <a:pt x="2101215" y="14973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315778" y="2691765"/>
              <a:ext cx="9525" cy="1297305"/>
            </a:xfrm>
            <a:custGeom>
              <a:avLst/>
              <a:gdLst/>
              <a:ahLst/>
              <a:cxnLst/>
              <a:rect l="l" t="t" r="r" b="b"/>
              <a:pathLst>
                <a:path w="9525" h="1297305">
                  <a:moveTo>
                    <a:pt x="0" y="0"/>
                  </a:moveTo>
                  <a:lnTo>
                    <a:pt x="0" y="12973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065972" y="4227195"/>
              <a:ext cx="2011680" cy="9525"/>
            </a:xfrm>
            <a:custGeom>
              <a:avLst/>
              <a:gdLst/>
              <a:ahLst/>
              <a:cxnLst/>
              <a:rect l="l" t="t" r="r" b="b"/>
              <a:pathLst>
                <a:path w="2011680" h="9525">
                  <a:moveTo>
                    <a:pt x="0" y="0"/>
                  </a:moveTo>
                  <a:lnTo>
                    <a:pt x="20116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599248" y="2225040"/>
              <a:ext cx="457200" cy="4572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087178" y="2225040"/>
              <a:ext cx="4572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599248" y="399859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087178" y="399859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30132" y="238363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18062" y="2383631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30132" y="415718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18062" y="4157186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V3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912042"/>
            <a:ext cx="4977765" cy="756285"/>
            <a:chOff x="533400" y="4912042"/>
            <a:chExt cx="4977765" cy="756285"/>
          </a:xfrm>
        </p:grpSpPr>
        <p:sp>
          <p:nvSpPr>
            <p:cNvPr id="23" name="Rectangle 23"/>
            <p:cNvSpPr/>
            <p:nvPr/>
          </p:nvSpPr>
          <p:spPr>
            <a:xfrm>
              <a:off x="533400" y="4912042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26129" y="5186481"/>
              <a:ext cx="224134" cy="192560"/>
              <a:chOff x="726129" y="5186481"/>
              <a:chExt cx="224134" cy="19256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38200" y="52568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26129" y="51864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38200" y="53346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511" y="5059204"/>
              <a:ext cx="383768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从 V0 沿 V1、V3 走回 V0 只要三步。没有记号的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话，这三个顶点会被反复访问下去。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5815965" y="1954530"/>
            <a:ext cx="5842635" cy="1795462"/>
            <a:chOff x="5815965" y="1954530"/>
            <a:chExt cx="5842635" cy="1795462"/>
          </a:xfrm>
        </p:grpSpPr>
        <p:sp>
          <p:nvSpPr>
            <p:cNvPr id="30" name="Rectangle 30"/>
            <p:cNvSpPr/>
            <p:nvPr/>
          </p:nvSpPr>
          <p:spPr>
            <a:xfrm>
              <a:off x="5815965" y="1954530"/>
              <a:ext cx="5842635" cy="1795462"/>
            </a:xfrm>
            <a:prstGeom prst="roundRect">
              <a:avLst>
                <a:gd name="adj" fmla="val 74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825490" y="2087880"/>
              <a:ext cx="47625" cy="152876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57900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48108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58356" y="219789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图遍历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50661" y="2550319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从图的某个顶点出发，访问图中所有顶点，且使每个顶点恰被访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问一次，这个过程称为图的遍历。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51804" y="3137535"/>
              <a:ext cx="51937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树的遍历沿孩子指针一路往下，不会回头；图的任意两个顶点都可能相邻，沿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边走随时可能绕回去。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5815965" y="3935730"/>
            <a:ext cx="5842635" cy="1732598"/>
            <a:chOff x="5815965" y="3935730"/>
            <a:chExt cx="5842635" cy="1732598"/>
          </a:xfrm>
        </p:grpSpPr>
        <p:sp>
          <p:nvSpPr>
            <p:cNvPr id="38" name="Rectangle 38"/>
            <p:cNvSpPr/>
            <p:nvPr/>
          </p:nvSpPr>
          <p:spPr>
            <a:xfrm>
              <a:off x="5815965" y="3935730"/>
              <a:ext cx="5842635" cy="1732598"/>
            </a:xfrm>
            <a:prstGeom prst="roundRect">
              <a:avLst>
                <a:gd name="adj" fmla="val 769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19800" y="41395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10008" y="41752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办法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20256" y="4179094"/>
              <a:ext cx="21750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一个辅助数组 visited[ ]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027420" y="459105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84011" y="4530566"/>
              <a:ext cx="26620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各元素初值置 0，表示尚未访问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027420" y="491109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84011" y="4850606"/>
              <a:ext cx="34501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顶点 i 一旦被访问，就置 </a:t>
              </a:r>
              <a:r>
                <a:rPr lang="en-US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visited[i] = 1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027420" y="523113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84011" y="5170646"/>
              <a:ext cx="44685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每次沿边走到顶点 k，先查 visited[k]，为 0 才进去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9" name="Rectangle 4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511" y="6004084"/>
              <a:ext cx="100981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遍历有深度优先和广度优先两种方式，差别只在“下一个访问谁”，visited 数组两种方式都要用；换个起点结果就会变。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图的遍历：先把重复访问挡住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遍历的每一步，都是在邻接表上走一条边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865201" cy="264033"/>
            <a:chOff x="526542" y="1545907"/>
            <a:chExt cx="686520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8652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本讲全部算法都按第 12 讲的邻接表写。先把两个结构体和取邻接点的写法固定下来。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410200" cy="1902142"/>
            <a:chOff x="533400" y="1928812"/>
            <a:chExt cx="5410200" cy="190214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902142"/>
            </a:xfrm>
            <a:prstGeom prst="roundRect">
              <a:avLst>
                <a:gd name="adj" fmla="val 500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邻接表的两个结构体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435"/>
              <a:ext cx="2974848" cy="1402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Edge {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边结点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VerAdj;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邻接顶点的下标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Edge *link;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同一顶点的下一条边 */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Edge;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typedef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Vertex {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顶点表元素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VerName;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顶点名 */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Edge *adjacent;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该顶点的边链表头 */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Vertex;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4000500"/>
            <a:ext cx="5410200" cy="1128712"/>
            <a:chOff x="533400" y="4000500"/>
            <a:chExt cx="5410200" cy="1128712"/>
          </a:xfrm>
        </p:grpSpPr>
        <p:sp>
          <p:nvSpPr>
            <p:cNvPr id="13" name="Rectangle 13"/>
            <p:cNvSpPr/>
            <p:nvPr/>
          </p:nvSpPr>
          <p:spPr>
            <a:xfrm>
              <a:off x="533400" y="4000500"/>
              <a:ext cx="5410200" cy="1128712"/>
            </a:xfrm>
            <a:prstGeom prst="roundRect">
              <a:avLst>
                <a:gd name="adj" fmla="val 843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4152424"/>
              <a:ext cx="14884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取顶点 v 的全部邻接顶点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988" y="4412075"/>
              <a:ext cx="3493643" cy="6305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 *p = Head[v].adjacent; p !=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p = p-&gt;link)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p-&gt;VerAdj;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邻接顶点 k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这里检查 visited[k] 并决定走不走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73" name="c2-cells-1"/>
          <p:cNvGrpSpPr/>
          <p:nvPr/>
        </p:nvGrpSpPr>
        <p:grpSpPr>
          <a:xfrm>
            <a:off x="6243447" y="1928812"/>
            <a:ext cx="3357753" cy="1927861"/>
            <a:chOff x="6243447" y="1928812"/>
            <a:chExt cx="3357753" cy="1927861"/>
          </a:xfrm>
        </p:grpSpPr>
        <p:sp>
          <p:nvSpPr>
            <p:cNvPr id="17" name="TextBox 17"/>
            <p:cNvSpPr txBox="1"/>
            <p:nvPr/>
          </p:nvSpPr>
          <p:spPr>
            <a:xfrm>
              <a:off x="6243447" y="2052161"/>
              <a:ext cx="7536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Head[0] V0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067550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34053" y="205216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486650" y="1928812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7562850" y="208407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591425" y="211264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7934325" y="206978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020050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186553" y="205216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439150" y="1928812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515350" y="208407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8543925" y="211264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886825" y="206978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972550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139053" y="205216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391650" y="1928812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61306" y="20607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43447" y="2572226"/>
              <a:ext cx="7536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Head[1] V1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067550" y="244792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34053" y="257222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486650" y="2447925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7562850" y="260413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7591425" y="263271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934325" y="258984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020050" y="244792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186553" y="257222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439150" y="2447925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508806" y="25807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43447" y="3091339"/>
              <a:ext cx="7536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Head[2] V2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067550" y="296799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34053" y="30913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486650" y="2967990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7562850" y="312420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7591425" y="315277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934325" y="310991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020050" y="296799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186553" y="30913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439150" y="2967990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508806" y="3100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43447" y="3611404"/>
              <a:ext cx="7536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Head[3] V3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067550" y="348805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234053" y="361140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486650" y="3488055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7562850" y="364331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7591425" y="367188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7934325" y="362902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8020050" y="348805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186553" y="361140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439150" y="3488055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8515350" y="364331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8543925" y="367188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8886825" y="362902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8972550" y="348805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139053" y="361140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9391650" y="3488055"/>
              <a:ext cx="209550" cy="368618"/>
            </a:xfrm>
            <a:prstGeom prst="rect">
              <a:avLst/>
            </a:prstGeom>
            <a:solidFill>
              <a:srgbClr val="E6EFF9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461306" y="36199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81" name="c2-card-2"/>
          <p:cNvGrpSpPr/>
          <p:nvPr/>
        </p:nvGrpSpPr>
        <p:grpSpPr>
          <a:xfrm>
            <a:off x="6248400" y="4026218"/>
            <a:ext cx="5410200" cy="1670685"/>
            <a:chOff x="6248400" y="4026218"/>
            <a:chExt cx="5410200" cy="1670685"/>
          </a:xfrm>
        </p:grpSpPr>
        <p:sp>
          <p:nvSpPr>
            <p:cNvPr id="74" name="Rectangle 74"/>
            <p:cNvSpPr/>
            <p:nvPr/>
          </p:nvSpPr>
          <p:spPr>
            <a:xfrm>
              <a:off x="6248400" y="4026218"/>
              <a:ext cx="5410200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257925" y="4159568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473190" y="421290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565862" y="424576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读表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038784" y="42481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一行就是一个顶点的全部出边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466332" y="4573905"/>
              <a:ext cx="44971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这四条链对应左页那张图，n = 4、e = 5，边结点共 2e = 10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个，因为无向图的每条边在两端各存一次。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467475" y="5127784"/>
              <a:ext cx="467690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顶点 i 的边链表长度就是它的度 d(i)，遍历一遍所有链表的代价是 Σd(i) =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2e。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82" name="Rectangle 82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0892" y="6028373"/>
              <a:ext cx="61158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 Σ(1 + d(i)) = n + 2e 这一行：DFS 和 BFS 的 O(n+e) 都是从它来的。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34994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926" y="407194"/>
              <a:ext cx="3279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图的遍历：先把重复访问挡住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两种走法：一条路走到黑，还是一圈一圈推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391144" cy="293370"/>
            <a:chOff x="525780" y="1548765"/>
            <a:chExt cx="8391144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3911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同一张图、同一个起点 V0，两种遍历方式给出的访问序列不同，但都恰好访问每个顶点一次。</a:t>
              </a:r>
            </a:p>
          </p:txBody>
        </p:sp>
      </p:grpSp>
      <p:grpSp>
        <p:nvGrpSpPr>
          <p:cNvPr id="35" name="c1-cells-1"/>
          <p:cNvGrpSpPr/>
          <p:nvPr/>
        </p:nvGrpSpPr>
        <p:grpSpPr>
          <a:xfrm>
            <a:off x="527304" y="1954530"/>
            <a:ext cx="2443543" cy="1401127"/>
            <a:chOff x="527304" y="1954530"/>
            <a:chExt cx="2443543" cy="1401127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20831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深度优先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276350" y="1954530"/>
              <a:ext cx="423862" cy="4067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83137" y="20831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00212" y="1954530"/>
              <a:ext cx="4238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06999" y="20831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124075" y="1954530"/>
              <a:ext cx="4238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230862" y="20831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46985" y="1954530"/>
              <a:ext cx="4238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54724" y="20831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9724" y="24164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873587" y="24164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97449" y="24164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21312" y="241649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7304" y="284607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广度优先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276350" y="2717482"/>
              <a:ext cx="423862" cy="4067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383137" y="284607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700212" y="2717482"/>
              <a:ext cx="4238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806999" y="284607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124075" y="2717482"/>
              <a:ext cx="4238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230862" y="284607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546985" y="2717482"/>
              <a:ext cx="423862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654724" y="2846070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49724" y="31794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873587" y="31794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297449" y="31794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21312" y="317944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49" name="c1-graph-2"/>
          <p:cNvGrpSpPr/>
          <p:nvPr/>
        </p:nvGrpSpPr>
        <p:grpSpPr>
          <a:xfrm>
            <a:off x="1552575" y="3822382"/>
            <a:ext cx="2818447" cy="2169796"/>
            <a:chOff x="1552575" y="3822382"/>
            <a:chExt cx="2818447" cy="2169796"/>
          </a:xfrm>
        </p:grpSpPr>
        <p:sp>
          <p:nvSpPr>
            <p:cNvPr id="36" name="Freeform 36"/>
            <p:cNvSpPr/>
            <p:nvPr/>
          </p:nvSpPr>
          <p:spPr>
            <a:xfrm>
              <a:off x="2000250" y="4041458"/>
              <a:ext cx="1923097" cy="9525"/>
            </a:xfrm>
            <a:custGeom>
              <a:avLst/>
              <a:gdLst/>
              <a:ahLst/>
              <a:cxnLst/>
              <a:rect l="l" t="t" r="r" b="b"/>
              <a:pathLst>
                <a:path w="1923097" h="9525">
                  <a:moveTo>
                    <a:pt x="0" y="0"/>
                  </a:moveTo>
                  <a:lnTo>
                    <a:pt x="192309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771650" y="4270058"/>
              <a:ext cx="9525" cy="1274445"/>
            </a:xfrm>
            <a:custGeom>
              <a:avLst/>
              <a:gdLst/>
              <a:ahLst/>
              <a:cxnLst/>
              <a:rect l="l" t="t" r="r" b="b"/>
              <a:pathLst>
                <a:path w="9525" h="1274445">
                  <a:moveTo>
                    <a:pt x="0" y="0"/>
                  </a:moveTo>
                  <a:lnTo>
                    <a:pt x="0" y="12744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956435" y="4175760"/>
              <a:ext cx="2010728" cy="1463040"/>
            </a:xfrm>
            <a:custGeom>
              <a:avLst/>
              <a:gdLst/>
              <a:ahLst/>
              <a:cxnLst/>
              <a:rect l="l" t="t" r="r" b="b"/>
              <a:pathLst>
                <a:path w="2010728" h="1463040">
                  <a:moveTo>
                    <a:pt x="0" y="0"/>
                  </a:moveTo>
                  <a:lnTo>
                    <a:pt x="2010728" y="14630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4151948" y="4270058"/>
              <a:ext cx="9525" cy="1274445"/>
            </a:xfrm>
            <a:custGeom>
              <a:avLst/>
              <a:gdLst/>
              <a:ahLst/>
              <a:cxnLst/>
              <a:rect l="l" t="t" r="r" b="b"/>
              <a:pathLst>
                <a:path w="9525" h="1274445">
                  <a:moveTo>
                    <a:pt x="0" y="0"/>
                  </a:moveTo>
                  <a:lnTo>
                    <a:pt x="0" y="12744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2000250" y="5773102"/>
              <a:ext cx="1923097" cy="9525"/>
            </a:xfrm>
            <a:custGeom>
              <a:avLst/>
              <a:gdLst/>
              <a:ahLst/>
              <a:cxnLst/>
              <a:rect l="l" t="t" r="r" b="b"/>
              <a:pathLst>
                <a:path w="1923097" h="9525">
                  <a:moveTo>
                    <a:pt x="0" y="0"/>
                  </a:moveTo>
                  <a:lnTo>
                    <a:pt x="192309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1552575" y="3822382"/>
              <a:ext cx="438150" cy="4381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3932872" y="3822382"/>
              <a:ext cx="438150" cy="4381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552575" y="5554028"/>
              <a:ext cx="438150" cy="4381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3932872" y="5554028"/>
              <a:ext cx="438150" cy="4381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673934" y="397144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054232" y="3971449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673934" y="570309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054232" y="570309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V3</a:t>
              </a:r>
            </a:p>
          </p:txBody>
        </p:sp>
      </p:grpSp>
      <p:grpSp>
        <p:nvGrpSpPr>
          <p:cNvPr id="74" name="c2-compare-1"/>
          <p:cNvGrpSpPr/>
          <p:nvPr/>
        </p:nvGrpSpPr>
        <p:grpSpPr>
          <a:xfrm>
            <a:off x="5598795" y="1954530"/>
            <a:ext cx="6059805" cy="3309938"/>
            <a:chOff x="5598795" y="1954530"/>
            <a:chExt cx="6059805" cy="3309938"/>
          </a:xfrm>
        </p:grpSpPr>
        <p:sp>
          <p:nvSpPr>
            <p:cNvPr id="50" name="Rectangle 50"/>
            <p:cNvSpPr/>
            <p:nvPr/>
          </p:nvSpPr>
          <p:spPr>
            <a:xfrm>
              <a:off x="5598795" y="1954530"/>
              <a:ext cx="2648902" cy="3309938"/>
            </a:xfrm>
            <a:prstGeom prst="roundRect">
              <a:avLst>
                <a:gd name="adj" fmla="val 50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608320" y="2087880"/>
              <a:ext cx="47625" cy="304323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833491" y="2181701"/>
              <a:ext cx="11926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深度优先 DFS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5848350" y="2580323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004941" y="2520791"/>
              <a:ext cx="183591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 V0 后钻进 V1，再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V1 钻进 V3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848350" y="31718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004941" y="3112294"/>
              <a:ext cx="178181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V3 的邻接点只剩 V2，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接着访问 V2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848350" y="376332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004941" y="3703796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走不动了就往回退，退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到哪里从哪里继续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5848350" y="435483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004941" y="4295299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天然适合递归，也可以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用一个栈代替递归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009698" y="1954530"/>
              <a:ext cx="2648902" cy="3309938"/>
            </a:xfrm>
            <a:prstGeom prst="roundRect">
              <a:avLst>
                <a:gd name="adj" fmla="val 50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9019222" y="2087880"/>
              <a:ext cx="47625" cy="304323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244394" y="2181701"/>
              <a:ext cx="11926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广度优先 BFS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9259252" y="2580323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415844" y="2520791"/>
              <a:ext cx="189001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 V0 后，先把 V0 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邻接点 V1、V2、V3 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访问完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9259252" y="344328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415844" y="3383756"/>
              <a:ext cx="18178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再去访问这一批顶点各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自的新邻接点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9259252" y="403479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415844" y="3975259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同一层的顶点连续访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问，不需要回退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9259252" y="462629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415844" y="4566761"/>
              <a:ext cx="191706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必须用一个队列记住“还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欠谁的邻接点没查”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8295322" y="3275648"/>
              <a:ext cx="666750" cy="6667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340662" y="35442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两种次序</a:t>
              </a:r>
            </a:p>
          </p:txBody>
        </p:sp>
      </p:grpSp>
      <p:grpSp>
        <p:nvGrpSpPr>
          <p:cNvPr id="81" name="c2-callout-2"/>
          <p:cNvGrpSpPr/>
          <p:nvPr/>
        </p:nvGrpSpPr>
        <p:grpSpPr>
          <a:xfrm>
            <a:off x="5598795" y="5449252"/>
            <a:ext cx="6059805" cy="756285"/>
            <a:chOff x="5598795" y="5449252"/>
            <a:chExt cx="6059805" cy="756285"/>
          </a:xfrm>
        </p:grpSpPr>
        <p:sp>
          <p:nvSpPr>
            <p:cNvPr id="75" name="Rectangle 75"/>
            <p:cNvSpPr/>
            <p:nvPr/>
          </p:nvSpPr>
          <p:spPr>
            <a:xfrm>
              <a:off x="5598795" y="5449252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5803583" y="5727383"/>
              <a:ext cx="200026" cy="200026"/>
              <a:chOff x="5803583" y="5727383"/>
              <a:chExt cx="200026" cy="200026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5803583" y="572738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5903595" y="57940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5892483" y="582739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6105906" y="5597366"/>
              <a:ext cx="50639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两种方式都把每条边看过两次（两个端点各一次），所以代价同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阶，差别在访问次序和辅助结构。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992819" cy="3351847"/>
            <a:chOff x="667512" y="1835468"/>
            <a:chExt cx="399281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9281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深度优先搜索 DFS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可行则进，不行则换，换不了则退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基本思想与回溯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深度优先生成树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067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递归算法与 O(n+e)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非递归算法与栈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460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19" y="407194"/>
              <a:ext cx="2550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深度优先搜索 DFS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深度优先搜索：走到不能再走，才往回退一步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339078" cy="264033"/>
            <a:chOff x="526542" y="1545907"/>
            <a:chExt cx="733907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3390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Depth First Search，简称 DFS。它的控制规则只有三句话，其余都是这三句的反复执行。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38338"/>
            <a:ext cx="5371719" cy="2149411"/>
            <a:chOff x="533400" y="1938338"/>
            <a:chExt cx="5371719" cy="2149411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4907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0441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5975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671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19683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可行则进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2223135"/>
              <a:ext cx="4957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在当前顶点的邻接顶点里挑一个没访问过的，访问它，并把它当作新的当前顶点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25217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不行则换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776538"/>
              <a:ext cx="3968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刚才那个邻接顶点已经访问过，就换邻接表里的下一个邻接顶点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07514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换不了则退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3328988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邻接顶点全部访问过了，回退一步，回到上一次访问的顶点接着挑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62759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退无可退则止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3882390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退回起点、起点的邻接顶点也挑完，本次搜索结束</a:t>
              </a:r>
            </a:p>
          </p:txBody>
        </p:sp>
      </p:grpSp>
      <p:grpSp>
        <p:nvGrpSpPr>
          <p:cNvPr id="32" name="c1-callout-2"/>
          <p:cNvGrpSpPr/>
          <p:nvPr/>
        </p:nvGrpSpPr>
        <p:grpSpPr>
          <a:xfrm>
            <a:off x="533400" y="4249102"/>
            <a:ext cx="5842635" cy="1170622"/>
            <a:chOff x="533400" y="4249102"/>
            <a:chExt cx="5842635" cy="1170622"/>
          </a:xfrm>
        </p:grpSpPr>
        <p:sp>
          <p:nvSpPr>
            <p:cNvPr id="27" name="Rectangle 27"/>
            <p:cNvSpPr/>
            <p:nvPr/>
          </p:nvSpPr>
          <p:spPr>
            <a:xfrm>
              <a:off x="533400" y="4249102"/>
              <a:ext cx="5842635" cy="1170622"/>
            </a:xfrm>
            <a:prstGeom prst="roundRect">
              <a:avLst>
                <a:gd name="adj" fmla="val 976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4734880"/>
              <a:ext cx="200023" cy="200023"/>
              <a:chOff x="738188" y="4734880"/>
              <a:chExt cx="200023" cy="2000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473488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1538" y="48015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1273" y="4628674"/>
              <a:ext cx="47922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“退回上一个顶点”就是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回溯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。递归函数返回时栈帧自动弹出，回溯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是免费得到的。</a:t>
              </a:r>
            </a:p>
          </p:txBody>
        </p:sp>
      </p:grpSp>
      <p:grpSp>
        <p:nvGrpSpPr>
          <p:cNvPr id="35" name="c2-image-1"/>
          <p:cNvGrpSpPr/>
          <p:nvPr/>
        </p:nvGrpSpPr>
        <p:grpSpPr>
          <a:xfrm>
            <a:off x="7449706" y="1928812"/>
            <a:ext cx="3440024" cy="2185702"/>
            <a:chOff x="7449706" y="1928812"/>
            <a:chExt cx="3440024" cy="2185702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2"/>
            <a:srcRect l="19" t="0" r="19" b="0"/>
            <a:stretch>
              <a:fillRect/>
            </a:stretch>
          </p:blipFill>
          <p:spPr>
            <a:xfrm>
              <a:off x="7901940" y="1928812"/>
              <a:ext cx="2536508" cy="1903095"/>
            </a:xfrm>
            <a:prstGeom prst="roundRect">
              <a:avLst>
                <a:gd name="adj" fmla="val 7007"/>
              </a:avLst>
            </a:prstGeom>
          </p:spPr>
        </p:pic>
        <p:sp>
          <p:nvSpPr>
            <p:cNvPr id="34" name="TextBox 34"/>
            <p:cNvSpPr txBox="1"/>
            <p:nvPr/>
          </p:nvSpPr>
          <p:spPr>
            <a:xfrm>
              <a:off x="7449706" y="3923824"/>
              <a:ext cx="34400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手里的线记住了来路，走到死胡同就顺着线退回上一个岔口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680835" y="4259580"/>
            <a:ext cx="4977765" cy="1160145"/>
            <a:chOff x="6680835" y="4259580"/>
            <a:chExt cx="4977765" cy="1160145"/>
          </a:xfrm>
        </p:grpSpPr>
        <p:sp>
          <p:nvSpPr>
            <p:cNvPr id="36" name="Rectangle 36"/>
            <p:cNvSpPr/>
            <p:nvPr/>
          </p:nvSpPr>
          <p:spPr>
            <a:xfrm>
              <a:off x="6680835" y="4259580"/>
              <a:ext cx="497776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690360" y="439293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99910" y="444055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92582" y="44734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66838" y="448008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深度优先遍历的次序不唯一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93433" y="4797266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换一个起点，或者建邻接表时边的插入顺序不同，访问序列就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不同。考试题若不指定，按邻接表给出的先后次序走。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3" name="Rectangle 4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1273" y="6039326"/>
              <a:ext cx="76119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判断一份答案对不对，不是比对序列是否一字不差，而是检查它是否始终“能进就进、进不动才退”。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13098" cy="909257"/>
            <a:chOff x="520446" y="342900"/>
            <a:chExt cx="56130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460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19" y="407194"/>
              <a:ext cx="2550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深度优先搜索 DFS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130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例题：从 A 出发深度优先遍历这张图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993110" cy="278702"/>
            <a:chOff x="526161" y="1547336"/>
            <a:chExt cx="599311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9931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邻接表按字母先后排列，即 A 的邻接顶点次序为 B、C、K，以此类推。</a:t>
              </a:r>
            </a:p>
          </p:txBody>
        </p:sp>
      </p:grpSp>
      <p:grpSp>
        <p:nvGrpSpPr>
          <p:cNvPr id="40" name="c1-graph-1"/>
          <p:cNvGrpSpPr/>
          <p:nvPr/>
        </p:nvGrpSpPr>
        <p:grpSpPr>
          <a:xfrm>
            <a:off x="988695" y="2023110"/>
            <a:ext cx="3633787" cy="3582352"/>
            <a:chOff x="988695" y="2023110"/>
            <a:chExt cx="3633787" cy="3582352"/>
          </a:xfrm>
        </p:grpSpPr>
        <p:sp>
          <p:nvSpPr>
            <p:cNvPr id="9" name="Freeform 9"/>
            <p:cNvSpPr/>
            <p:nvPr/>
          </p:nvSpPr>
          <p:spPr>
            <a:xfrm>
              <a:off x="1313498" y="2327910"/>
              <a:ext cx="711517" cy="612457"/>
            </a:xfrm>
            <a:custGeom>
              <a:avLst/>
              <a:gdLst/>
              <a:ahLst/>
              <a:cxnLst/>
              <a:rect l="l" t="t" r="r" b="b"/>
              <a:pathLst>
                <a:path w="711517" h="612457">
                  <a:moveTo>
                    <a:pt x="711517" y="0"/>
                  </a:moveTo>
                  <a:lnTo>
                    <a:pt x="0" y="61245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60170" y="3065145"/>
              <a:ext cx="1255395" cy="9525"/>
            </a:xfrm>
            <a:custGeom>
              <a:avLst/>
              <a:gdLst/>
              <a:ahLst/>
              <a:cxnLst/>
              <a:rect l="l" t="t" r="r" b="b"/>
              <a:pathLst>
                <a:path w="1255395" h="9525">
                  <a:moveTo>
                    <a:pt x="0" y="0"/>
                  </a:moveTo>
                  <a:lnTo>
                    <a:pt x="12553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996565" y="3065145"/>
              <a:ext cx="1254442" cy="9525"/>
            </a:xfrm>
            <a:custGeom>
              <a:avLst/>
              <a:gdLst/>
              <a:ahLst/>
              <a:cxnLst/>
              <a:rect l="l" t="t" r="r" b="b"/>
              <a:pathLst>
                <a:path w="1254442" h="9525">
                  <a:moveTo>
                    <a:pt x="0" y="0"/>
                  </a:moveTo>
                  <a:lnTo>
                    <a:pt x="125444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323022" y="3177540"/>
              <a:ext cx="1328737" cy="973455"/>
            </a:xfrm>
            <a:custGeom>
              <a:avLst/>
              <a:gdLst/>
              <a:ahLst/>
              <a:cxnLst/>
              <a:rect l="l" t="t" r="r" b="b"/>
              <a:pathLst>
                <a:path w="1328737" h="973455">
                  <a:moveTo>
                    <a:pt x="0" y="0"/>
                  </a:moveTo>
                  <a:lnTo>
                    <a:pt x="1328737" y="9734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806065" y="3255645"/>
              <a:ext cx="9525" cy="817245"/>
            </a:xfrm>
            <a:custGeom>
              <a:avLst/>
              <a:gdLst/>
              <a:ahLst/>
              <a:cxnLst/>
              <a:rect l="l" t="t" r="r" b="b"/>
              <a:pathLst>
                <a:path w="9525" h="817245">
                  <a:moveTo>
                    <a:pt x="0" y="0"/>
                  </a:moveTo>
                  <a:lnTo>
                    <a:pt x="0" y="8172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441508" y="3255645"/>
              <a:ext cx="9525" cy="817245"/>
            </a:xfrm>
            <a:custGeom>
              <a:avLst/>
              <a:gdLst/>
              <a:ahLst/>
              <a:cxnLst/>
              <a:rect l="l" t="t" r="r" b="b"/>
              <a:pathLst>
                <a:path w="9525" h="817245">
                  <a:moveTo>
                    <a:pt x="0" y="0"/>
                  </a:moveTo>
                  <a:lnTo>
                    <a:pt x="0" y="8172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324928" y="4373880"/>
              <a:ext cx="1324928" cy="940117"/>
            </a:xfrm>
            <a:custGeom>
              <a:avLst/>
              <a:gdLst/>
              <a:ahLst/>
              <a:cxnLst/>
              <a:rect l="l" t="t" r="r" b="b"/>
              <a:pathLst>
                <a:path w="1324928" h="940117">
                  <a:moveTo>
                    <a:pt x="1324928" y="0"/>
                  </a:moveTo>
                  <a:lnTo>
                    <a:pt x="0" y="9401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806065" y="4453890"/>
              <a:ext cx="9525" cy="780097"/>
            </a:xfrm>
            <a:custGeom>
              <a:avLst/>
              <a:gdLst/>
              <a:ahLst/>
              <a:cxnLst/>
              <a:rect l="l" t="t" r="r" b="b"/>
              <a:pathLst>
                <a:path w="9525" h="780097">
                  <a:moveTo>
                    <a:pt x="0" y="0"/>
                  </a:moveTo>
                  <a:lnTo>
                    <a:pt x="0" y="7800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169670" y="4453890"/>
              <a:ext cx="9525" cy="780097"/>
            </a:xfrm>
            <a:custGeom>
              <a:avLst/>
              <a:gdLst/>
              <a:ahLst/>
              <a:cxnLst/>
              <a:rect l="l" t="t" r="r" b="b"/>
              <a:pathLst>
                <a:path w="9525" h="780097">
                  <a:moveTo>
                    <a:pt x="0" y="0"/>
                  </a:moveTo>
                  <a:lnTo>
                    <a:pt x="0" y="7800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360170" y="5424488"/>
              <a:ext cx="1255395" cy="9525"/>
            </a:xfrm>
            <a:custGeom>
              <a:avLst/>
              <a:gdLst/>
              <a:ahLst/>
              <a:cxnLst/>
              <a:rect l="l" t="t" r="r" b="b"/>
              <a:pathLst>
                <a:path w="1255395" h="9525">
                  <a:moveTo>
                    <a:pt x="0" y="0"/>
                  </a:moveTo>
                  <a:lnTo>
                    <a:pt x="12553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996565" y="5424488"/>
              <a:ext cx="1254442" cy="9525"/>
            </a:xfrm>
            <a:custGeom>
              <a:avLst/>
              <a:gdLst/>
              <a:ahLst/>
              <a:cxnLst/>
              <a:rect l="l" t="t" r="r" b="b"/>
              <a:pathLst>
                <a:path w="1254442" h="9525">
                  <a:moveTo>
                    <a:pt x="0" y="0"/>
                  </a:moveTo>
                  <a:lnTo>
                    <a:pt x="125444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988820" y="2023110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988695" y="2884170"/>
              <a:ext cx="361950" cy="3619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2625090" y="2884170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260532" y="2884170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988695" y="4082415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625090" y="4082415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4260532" y="4082415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988695" y="5243512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2625090" y="5243512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260532" y="5243512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121336" y="213836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1211" y="299942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57606" y="299942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93048" y="299942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1211" y="419766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57606" y="419766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393048" y="419766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1211" y="53587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757606" y="53587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12651" y="5358765"/>
              <a:ext cx="57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</p:grpSp>
      <p:grpSp>
        <p:nvGrpSpPr>
          <p:cNvPr id="74" name="c2-table-1"/>
          <p:cNvGrpSpPr/>
          <p:nvPr/>
        </p:nvGrpSpPr>
        <p:grpSpPr>
          <a:xfrm>
            <a:off x="5382578" y="1941195"/>
            <a:ext cx="6276022" cy="2840355"/>
            <a:chOff x="5382578" y="1941195"/>
            <a:chExt cx="6276022" cy="2840355"/>
          </a:xfrm>
        </p:grpSpPr>
        <p:sp>
          <p:nvSpPr>
            <p:cNvPr id="41" name="Rectangle 41"/>
            <p:cNvSpPr/>
            <p:nvPr/>
          </p:nvSpPr>
          <p:spPr>
            <a:xfrm>
              <a:off x="5382578" y="1941195"/>
              <a:ext cx="6276022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0327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59942" y="20654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这一步做了什么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272014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已访问序列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482590" y="247126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36017" y="2471261"/>
              <a:ext cx="2425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 A，邻接表首项 B 未访问，进 B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750742" y="247126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82578" y="27479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382578" y="275272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482590" y="287702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36017" y="2877026"/>
              <a:ext cx="162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 B，A 已访问，进 C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750742" y="2877026"/>
              <a:ext cx="2344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82578" y="31537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482590" y="328279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36017" y="3282791"/>
              <a:ext cx="2783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 C，A、B 已访问，进 D；再从 D 进 F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750742" y="3282791"/>
              <a:ext cx="6407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 D F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82578" y="3559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82578" y="356425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482590" y="36885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36017" y="3688556"/>
              <a:ext cx="25131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只连 D，退回 D，换下一个邻接点 H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750742" y="3688556"/>
              <a:ext cx="6407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 D F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82578" y="39652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482590" y="409432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36017" y="4094321"/>
              <a:ext cx="22827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 H，进 I；I 退回后一路退到 B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750742" y="4094321"/>
              <a:ext cx="8716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 D F H I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82578" y="437102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382578" y="437578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482590" y="450008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236017" y="4500086"/>
              <a:ext cx="2410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 E，再进 G；退回 A 后进 K，结束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750742" y="4500086"/>
              <a:ext cx="1277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 D F H I E G K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82578" y="1941195"/>
              <a:ext cx="6276022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131242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9645968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0" name="c2-callout-2"/>
          <p:cNvGrpSpPr/>
          <p:nvPr/>
        </p:nvGrpSpPr>
        <p:grpSpPr>
          <a:xfrm>
            <a:off x="5382578" y="4956810"/>
            <a:ext cx="6276022" cy="729615"/>
            <a:chOff x="5382578" y="4956810"/>
            <a:chExt cx="6276022" cy="729615"/>
          </a:xfrm>
        </p:grpSpPr>
        <p:sp>
          <p:nvSpPr>
            <p:cNvPr id="75" name="Rectangle 75"/>
            <p:cNvSpPr/>
            <p:nvPr/>
          </p:nvSpPr>
          <p:spPr>
            <a:xfrm>
              <a:off x="5382578" y="4956810"/>
              <a:ext cx="6276022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5587365" y="5221605"/>
              <a:ext cx="200026" cy="200026"/>
              <a:chOff x="5587365" y="5221605"/>
              <a:chExt cx="200026" cy="200026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5587365" y="52216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5654040" y="529939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5890070" y="5103495"/>
              <a:ext cx="5336810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最终访问序列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 B C D F H I E G K</a:t>
              </a: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，10 个顶点各一次，与逐帧动画的结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果一致。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81" name="Rectangle 8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0892" y="6023610"/>
              <a:ext cx="8147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 5 步的退回要连退四层：I 退到 H，H 的邻接点 C、D 也都访问过，继续退到 D、C，最后才停在 B。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460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19" y="407194"/>
              <a:ext cx="2550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深度优先搜索 DFS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深度优先生成树：遍历走过的边正好是一棵树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301370" cy="264033"/>
            <a:chOff x="526542" y="1545907"/>
            <a:chExt cx="730137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3013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把“第一次访问某个顶点时所走的那条边”留下，其余边去掉，剩下的就是深度优先生成树。</a:t>
              </a:r>
            </a:p>
          </p:txBody>
        </p:sp>
      </p:grpSp>
      <p:grpSp>
        <p:nvGrpSpPr>
          <p:cNvPr id="38" name="c1-tree-1"/>
          <p:cNvGrpSpPr/>
          <p:nvPr/>
        </p:nvGrpSpPr>
        <p:grpSpPr>
          <a:xfrm>
            <a:off x="680085" y="2030730"/>
            <a:ext cx="3927158" cy="3155633"/>
            <a:chOff x="680085" y="2030730"/>
            <a:chExt cx="3927158" cy="3155633"/>
          </a:xfrm>
        </p:grpSpPr>
        <p:sp>
          <p:nvSpPr>
            <p:cNvPr id="9" name="Freeform 9"/>
            <p:cNvSpPr/>
            <p:nvPr/>
          </p:nvSpPr>
          <p:spPr>
            <a:xfrm>
              <a:off x="1506855" y="4448175"/>
              <a:ext cx="9525" cy="560070"/>
            </a:xfrm>
            <a:custGeom>
              <a:avLst/>
              <a:gdLst/>
              <a:ahLst/>
              <a:cxnLst/>
              <a:rect l="l" t="t" r="r" b="b"/>
              <a:pathLst>
                <a:path w="9525" h="560070">
                  <a:moveTo>
                    <a:pt x="0" y="0"/>
                  </a:moveTo>
                  <a:lnTo>
                    <a:pt x="0" y="5600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858202" y="3889058"/>
              <a:ext cx="324803" cy="559117"/>
            </a:xfrm>
            <a:custGeom>
              <a:avLst/>
              <a:gdLst/>
              <a:ahLst/>
              <a:cxnLst/>
              <a:rect l="l" t="t" r="r" b="b"/>
              <a:pathLst>
                <a:path w="324803" h="559117">
                  <a:moveTo>
                    <a:pt x="324803" y="0"/>
                  </a:moveTo>
                  <a:lnTo>
                    <a:pt x="0" y="5591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183005" y="3889058"/>
              <a:ext cx="323850" cy="559117"/>
            </a:xfrm>
            <a:custGeom>
              <a:avLst/>
              <a:gdLst/>
              <a:ahLst/>
              <a:cxnLst/>
              <a:rect l="l" t="t" r="r" b="b"/>
              <a:pathLst>
                <a:path w="323850" h="559117">
                  <a:moveTo>
                    <a:pt x="0" y="0"/>
                  </a:moveTo>
                  <a:lnTo>
                    <a:pt x="323850" y="5591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183005" y="3328988"/>
              <a:ext cx="9525" cy="560070"/>
            </a:xfrm>
            <a:custGeom>
              <a:avLst/>
              <a:gdLst/>
              <a:ahLst/>
              <a:cxnLst/>
              <a:rect l="l" t="t" r="r" b="b"/>
              <a:pathLst>
                <a:path w="9525" h="560070">
                  <a:moveTo>
                    <a:pt x="0" y="0"/>
                  </a:moveTo>
                  <a:lnTo>
                    <a:pt x="0" y="5600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481262" y="3328988"/>
              <a:ext cx="9525" cy="560070"/>
            </a:xfrm>
            <a:custGeom>
              <a:avLst/>
              <a:gdLst/>
              <a:ahLst/>
              <a:cxnLst/>
              <a:rect l="l" t="t" r="r" b="b"/>
              <a:pathLst>
                <a:path w="9525" h="560070">
                  <a:moveTo>
                    <a:pt x="0" y="0"/>
                  </a:moveTo>
                  <a:lnTo>
                    <a:pt x="0" y="5600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183005" y="2768918"/>
              <a:ext cx="648653" cy="560070"/>
            </a:xfrm>
            <a:custGeom>
              <a:avLst/>
              <a:gdLst/>
              <a:ahLst/>
              <a:cxnLst/>
              <a:rect l="l" t="t" r="r" b="b"/>
              <a:pathLst>
                <a:path w="648653" h="560070">
                  <a:moveTo>
                    <a:pt x="648653" y="0"/>
                  </a:moveTo>
                  <a:lnTo>
                    <a:pt x="0" y="5600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831658" y="2768918"/>
              <a:ext cx="649605" cy="560070"/>
            </a:xfrm>
            <a:custGeom>
              <a:avLst/>
              <a:gdLst/>
              <a:ahLst/>
              <a:cxnLst/>
              <a:rect l="l" t="t" r="r" b="b"/>
              <a:pathLst>
                <a:path w="649605" h="560070">
                  <a:moveTo>
                    <a:pt x="0" y="0"/>
                  </a:moveTo>
                  <a:lnTo>
                    <a:pt x="649605" y="5600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831658" y="2208848"/>
              <a:ext cx="1298258" cy="560070"/>
            </a:xfrm>
            <a:custGeom>
              <a:avLst/>
              <a:gdLst/>
              <a:ahLst/>
              <a:cxnLst/>
              <a:rect l="l" t="t" r="r" b="b"/>
              <a:pathLst>
                <a:path w="1298258" h="560070">
                  <a:moveTo>
                    <a:pt x="1298258" y="0"/>
                  </a:moveTo>
                  <a:lnTo>
                    <a:pt x="0" y="5600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129915" y="2208848"/>
              <a:ext cx="1299210" cy="560070"/>
            </a:xfrm>
            <a:custGeom>
              <a:avLst/>
              <a:gdLst/>
              <a:ahLst/>
              <a:cxnLst/>
              <a:rect l="l" t="t" r="r" b="b"/>
              <a:pathLst>
                <a:path w="1299210" h="560070">
                  <a:moveTo>
                    <a:pt x="0" y="0"/>
                  </a:moveTo>
                  <a:lnTo>
                    <a:pt x="1299210" y="5600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680085" y="427005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328738" y="483012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328738" y="427005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004888" y="371094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004888" y="315087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2303145" y="371094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2303145" y="315087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1653540" y="259080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4251008" y="259080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2951798" y="2030730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6475" y="439293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81930" y="4953000"/>
              <a:ext cx="498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65128" y="439293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41278" y="383286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41278" y="327279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39535" y="383286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39535" y="327279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89930" y="271272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387398" y="271272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88188" y="215265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58" name="c2-table-1"/>
          <p:cNvGrpSpPr/>
          <p:nvPr/>
        </p:nvGrpSpPr>
        <p:grpSpPr>
          <a:xfrm>
            <a:off x="6032182" y="1928812"/>
            <a:ext cx="5626418" cy="1525905"/>
            <a:chOff x="6032182" y="1928812"/>
            <a:chExt cx="5626418" cy="1525905"/>
          </a:xfrm>
        </p:grpSpPr>
        <p:sp>
          <p:nvSpPr>
            <p:cNvPr id="39" name="Rectangle 39"/>
            <p:cNvSpPr/>
            <p:nvPr/>
          </p:nvSpPr>
          <p:spPr>
            <a:xfrm>
              <a:off x="6032182" y="1928812"/>
              <a:ext cx="5626418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04622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17130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99664" y="2045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具体是哪些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26861" y="2426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64159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51876" y="2426970"/>
              <a:ext cx="33220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A-B、B-C、C-D、D-F、D-H、H-I、B-E、E-G、A-K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32182" y="26870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32182" y="2691765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26861" y="280892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非树边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64159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51876" y="2808923"/>
              <a:ext cx="644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A-C、C-H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032182" y="30680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26861" y="3189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64159" y="318992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51876" y="3189923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正好是原图的全部边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032182" y="1928812"/>
              <a:ext cx="5626418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264718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052435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1" name="c2-card-2"/>
          <p:cNvGrpSpPr/>
          <p:nvPr/>
        </p:nvGrpSpPr>
        <p:grpSpPr>
          <a:xfrm>
            <a:off x="6032182" y="3618548"/>
            <a:ext cx="5626418" cy="1976438"/>
            <a:chOff x="6032182" y="3618548"/>
            <a:chExt cx="5626418" cy="1976438"/>
          </a:xfrm>
        </p:grpSpPr>
        <p:sp>
          <p:nvSpPr>
            <p:cNvPr id="59" name="Rectangle 59"/>
            <p:cNvSpPr/>
            <p:nvPr/>
          </p:nvSpPr>
          <p:spPr>
            <a:xfrm>
              <a:off x="6032182" y="3618548"/>
              <a:ext cx="5626418" cy="1976438"/>
            </a:xfrm>
            <a:prstGeom prst="roundRect">
              <a:avLst>
                <a:gd name="adj" fmla="val 67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041708" y="3751898"/>
              <a:ext cx="47625" cy="170973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51258" y="379952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342977" y="383238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17233" y="3840004"/>
              <a:ext cx="13901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树边恰有 n − 1 条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260782" y="420909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416230" y="4156234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每个顶点除起点外都由唯一一条边第一次被访问到，所以树边条数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= n − 1 =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260782" y="47367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416230" y="4683919"/>
              <a:ext cx="44844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剩下的 e − (n − 1) 条非树边，两端都已访问过，称为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回边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45924" y="4965383"/>
              <a:ext cx="50781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只要回边条数大于 0，这个连通分量里就一定有环。本讲最后判环用的就是这条。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260782" y="526732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416230" y="5215414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图不连通时每个连通分量各得一棵树，合起来叫深度优先生成森林</a:t>
              </a:r>
            </a:p>
          </p:txBody>
        </p:sp>
      </p:grpSp>
      <p:grpSp>
        <p:nvGrpSpPr>
          <p:cNvPr id="7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2" name="Rectangle 7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1273" y="6039326"/>
              <a:ext cx="65608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画生成树的窍门：按访问序列从左到右挂，谁把谁第一次访问到，谁就是谁的父结点。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61057" cy="909257"/>
            <a:chOff x="520446" y="342900"/>
            <a:chExt cx="62610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460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19" y="407194"/>
              <a:ext cx="2550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深度优先搜索 DFS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610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DFS 的递归算法：把回溯交给函数调用栈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255935" cy="264033"/>
            <a:chOff x="526542" y="1545907"/>
            <a:chExt cx="725593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255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访问 v、标记 v、沿 v 的边链表逐个试探，递归一层就深入一步，函数返回就是回退一步。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6059805" cy="2005012"/>
            <a:chOff x="533400" y="1928812"/>
            <a:chExt cx="6059805" cy="200501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2005012"/>
            </a:xfrm>
            <a:prstGeom prst="roundRect">
              <a:avLst>
                <a:gd name="adj" fmla="val 475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24948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DFS（while 写法，源课件第 27 页）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816"/>
              <a:ext cx="3315970" cy="1507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DFS(Vertex *Head,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visited[])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{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visited 各元素初值为 0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visit(v);  visited[v] = 1;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访问顶点 v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Edge *p = Head[v].adjacent;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!=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{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考察 v 的邻接顶点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p-&gt;VerAdj;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(visited[k] == 0) DFS(Head, k, visited);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p-&gt;link;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4098608"/>
            <a:ext cx="6059805" cy="1556385"/>
            <a:chOff x="533400" y="4098608"/>
            <a:chExt cx="6059805" cy="1556385"/>
          </a:xfrm>
        </p:grpSpPr>
        <p:sp>
          <p:nvSpPr>
            <p:cNvPr id="13" name="Rectangle 13"/>
            <p:cNvSpPr/>
            <p:nvPr/>
          </p:nvSpPr>
          <p:spPr>
            <a:xfrm>
              <a:off x="533400" y="4098608"/>
              <a:ext cx="6059805" cy="1556385"/>
            </a:xfrm>
            <a:prstGeom prst="roundRect">
              <a:avLst>
                <a:gd name="adj" fmla="val 61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4250531"/>
              <a:ext cx="24040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同一算法的 for 写法（源课件第 28 页）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988" y="4509611"/>
              <a:ext cx="3446145" cy="10591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DFS(Vertex *Head,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visited[])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visit(v);  visited[v] = 1;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 *p = Head[v].adjacent; p !=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p = p-&gt;link)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(visited[p-&gt;VerAdj] == 0)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DFS(Head, p-&gt;VerAdj, visited);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898005" y="1928812"/>
            <a:ext cx="4760595" cy="1487805"/>
            <a:chOff x="6898005" y="1928812"/>
            <a:chExt cx="4760595" cy="1487805"/>
          </a:xfrm>
        </p:grpSpPr>
        <p:sp>
          <p:nvSpPr>
            <p:cNvPr id="17" name="Rectangle 17"/>
            <p:cNvSpPr/>
            <p:nvPr/>
          </p:nvSpPr>
          <p:spPr>
            <a:xfrm>
              <a:off x="6898005" y="1928812"/>
              <a:ext cx="4760595" cy="1487805"/>
            </a:xfrm>
            <a:prstGeom prst="roundRect">
              <a:avLst>
                <a:gd name="adj" fmla="val 896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078980" y="21097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63549" y="21426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三个位置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93558" y="214931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代码和三句口诀的对应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088505" y="251841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43953" y="2465546"/>
              <a:ext cx="2795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可行则进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：if 成立时的那次递归调用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088505" y="280320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243953" y="2751296"/>
              <a:ext cx="26579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不行则换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：p = p-&gt;link 换下一条边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088505" y="308800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43953" y="3036094"/>
              <a:ext cx="30715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换不了则退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：while 循环结束、函数返回</a:t>
              </a:r>
            </a:p>
          </p:txBody>
        </p:sp>
      </p:grpSp>
      <p:grpSp>
        <p:nvGrpSpPr>
          <p:cNvPr id="38" name="c2-card-2"/>
          <p:cNvGrpSpPr/>
          <p:nvPr/>
        </p:nvGrpSpPr>
        <p:grpSpPr>
          <a:xfrm>
            <a:off x="6898005" y="3580448"/>
            <a:ext cx="4760595" cy="2127885"/>
            <a:chOff x="6898005" y="3580448"/>
            <a:chExt cx="4760595" cy="2127885"/>
          </a:xfrm>
        </p:grpSpPr>
        <p:sp>
          <p:nvSpPr>
            <p:cNvPr id="28" name="Rectangle 28"/>
            <p:cNvSpPr/>
            <p:nvPr/>
          </p:nvSpPr>
          <p:spPr>
            <a:xfrm>
              <a:off x="6898005" y="3580448"/>
              <a:ext cx="4760595" cy="2127885"/>
            </a:xfrm>
            <a:prstGeom prst="roundRect">
              <a:avLst>
                <a:gd name="adj" fmla="val 62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907530" y="3713798"/>
              <a:ext cx="47625" cy="18611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117080" y="376142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01649" y="379428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两个细节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31658" y="380190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顺序和位置都不能动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126605" y="417099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282053" y="4118134"/>
              <a:ext cx="39143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visited[v] = 1 必须写在递归之前。写在后面，环上的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顶点会无限递归下去。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126605" y="46986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82053" y="4645819"/>
              <a:ext cx="40119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判断写的是 visited[k]，不是 visited[v]。判错对象等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于没判。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11746" y="5170170"/>
              <a:ext cx="375780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递归深度最坏是 n（图退化成一条链），所以 DFS 的额外空间是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O(n)。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9" name="Rectangle 3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1273" y="6039326"/>
              <a:ext cx="71208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这个函数只遍历“从 v 出发能到达的那部分顶点”。图不连通时，还要在外面套一层驱动循环。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71821" cy="909257"/>
            <a:chOff x="520446" y="342900"/>
            <a:chExt cx="38718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460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19" y="407194"/>
              <a:ext cx="2550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深度优先搜索 DFS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718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 DFS 是 O(n + e)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035089" cy="308039"/>
            <a:chOff x="525399" y="1550194"/>
            <a:chExt cx="703508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0350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把代价按顶点拆开算：每个顶点被访问一次，它的边链表被完整扫描一次。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9"/>
              <p:cNvSpPr txBox="1">
                <a:spLocks noGrp="1"/>
              </p:cNvSpPr>
              <p:nvPr/>
            </p:nvSpPr>
            <p:spPr>
              <a:xfrm>
                <a:off x="533400" y="1967865"/>
                <a:ext cx="5626418" cy="6600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d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2e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4" name="c1-card-2"/>
          <p:cNvGrpSpPr/>
          <p:nvPr/>
        </p:nvGrpSpPr>
        <p:grpSpPr>
          <a:xfrm>
            <a:off x="533400" y="2818448"/>
            <a:ext cx="5626418" cy="1720215"/>
            <a:chOff x="533400" y="2818448"/>
            <a:chExt cx="5626418" cy="1720215"/>
          </a:xfrm>
        </p:grpSpPr>
        <p:sp>
          <p:nvSpPr>
            <p:cNvPr id="10" name="Rectangle 10"/>
            <p:cNvSpPr/>
            <p:nvPr/>
          </p:nvSpPr>
          <p:spPr>
            <a:xfrm>
              <a:off x="533400" y="2818448"/>
              <a:ext cx="5626418" cy="1720215"/>
            </a:xfrm>
            <a:prstGeom prst="roundRect">
              <a:avLst>
                <a:gd name="adj" fmla="val 7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2951798"/>
              <a:ext cx="47625" cy="14535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81050" y="302799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3359" y="30637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逐项解释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65922" y="306324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这个求和是怎么来的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3410902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345319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3424238"/>
              <a:ext cx="4023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每个顶点恰被访问一次，访问动作本身贡献 n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3746182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378847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3759518"/>
              <a:ext cx="4891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访问顶点 i 时，它的边链表被从头扫到尾，代价是 d(i)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1050" y="4081462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2899" y="412375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2040" y="4094798"/>
              <a:ext cx="4961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无向图里 Σd(i) = 2e，有向图里 Σ出度 = e，都是 O(e)</a:t>
              </a:r>
            </a:p>
          </p:txBody>
        </p:sp>
      </p:grpSp>
      <p:grpSp>
        <p:nvGrpSpPr>
          <p:cNvPr id="30" name="c1-callout-3"/>
          <p:cNvGrpSpPr/>
          <p:nvPr/>
        </p:nvGrpSpPr>
        <p:grpSpPr>
          <a:xfrm>
            <a:off x="533400" y="4729162"/>
            <a:ext cx="5626418" cy="782955"/>
            <a:chOff x="533400" y="4729162"/>
            <a:chExt cx="5626418" cy="782955"/>
          </a:xfrm>
        </p:grpSpPr>
        <p:sp>
          <p:nvSpPr>
            <p:cNvPr id="25" name="Rectangle 25"/>
            <p:cNvSpPr/>
            <p:nvPr/>
          </p:nvSpPr>
          <p:spPr>
            <a:xfrm>
              <a:off x="533400" y="4729162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020628"/>
              <a:ext cx="200026" cy="200026"/>
              <a:chOff x="738188" y="5020628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0206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04863" y="509841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130" y="4877752"/>
              <a:ext cx="4540568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第 5 页那张 4 顶点 5 条边的图：Σ(1 + d(i)) = </a:t>
              </a: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14</a:t>
              </a: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 = 4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+ 2×5，与公式一致。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464618" y="1967865"/>
            <a:ext cx="5193982" cy="1966912"/>
            <a:chOff x="6464618" y="1967865"/>
            <a:chExt cx="5193982" cy="1966912"/>
          </a:xfrm>
        </p:grpSpPr>
        <p:sp>
          <p:nvSpPr>
            <p:cNvPr id="31" name="Rectangle 31"/>
            <p:cNvSpPr/>
            <p:nvPr/>
          </p:nvSpPr>
          <p:spPr>
            <a:xfrm>
              <a:off x="6464618" y="1967865"/>
              <a:ext cx="5193982" cy="1966912"/>
            </a:xfrm>
            <a:prstGeom prst="roundRect">
              <a:avLst>
                <a:gd name="adj" fmla="val 67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4142" y="2101215"/>
              <a:ext cx="47625" cy="170021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712268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80342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13295" y="2212658"/>
              <a:ext cx="29850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+ e) 只在邻接表存图时成立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717983" y="26365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76098" y="2573655"/>
              <a:ext cx="4253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用邻接表：取一个顶点的全部邻接点代价是 d(i)，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 n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717983" y="325755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76098" y="3194685"/>
              <a:ext cx="41775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visited 是按下标随机访问的数组，判重 </a:t>
              </a:r>
              <a:r>
                <a:rPr lang="en-US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05791" y="3525679"/>
              <a:ext cx="40623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稠密图 e ≈ n²/2 时两者同阶，邻接矩阵反而更省事。</a:t>
              </a:r>
            </a:p>
          </p:txBody>
        </p:sp>
      </p:grpSp>
      <p:grpSp>
        <p:nvGrpSpPr>
          <p:cNvPr id="59" name="c2-table-2"/>
          <p:cNvGrpSpPr/>
          <p:nvPr/>
        </p:nvGrpSpPr>
        <p:grpSpPr>
          <a:xfrm>
            <a:off x="6464618" y="4125278"/>
            <a:ext cx="5193982" cy="1346835"/>
            <a:chOff x="6464618" y="4125278"/>
            <a:chExt cx="5193982" cy="1346835"/>
          </a:xfrm>
        </p:grpSpPr>
        <p:sp>
          <p:nvSpPr>
            <p:cNvPr id="42" name="Rectangle 42"/>
            <p:cNvSpPr/>
            <p:nvPr/>
          </p:nvSpPr>
          <p:spPr>
            <a:xfrm>
              <a:off x="6464618" y="4125278"/>
              <a:ext cx="519398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92658" y="42600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存储结构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02383" y="426005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取邻接点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234549" y="426005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遍历总代价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72441" y="470963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30730" y="4709636"/>
              <a:ext cx="6801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O(d(i))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694545" y="4583430"/>
              <a:ext cx="195453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792843" y="4709636"/>
              <a:ext cx="7327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+ e)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501777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64618" y="5022532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72441" y="51582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邻接矩阵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30730" y="5158264"/>
              <a:ext cx="438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694545" y="5032058"/>
              <a:ext cx="1954530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792843" y="5158264"/>
              <a:ext cx="5356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464618" y="4125278"/>
              <a:ext cx="5193982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018145" y="4125278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680258" y="4125278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0" name="Rectangle 6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130" y="5991225"/>
              <a:ext cx="925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把结论说全：邻接表存图、visited 用数组时，DFS 与 BFS 的时间都是 O(n+e)，额外空间都是 O(n)。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18592" cy="909257"/>
            <a:chOff x="520446" y="342900"/>
            <a:chExt cx="67185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460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19" y="407194"/>
              <a:ext cx="2550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深度优先搜索 DFS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185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非连通图：一次 DFS 只能遍历一个连通分量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281687" cy="308039"/>
            <a:chOff x="525399" y="1550194"/>
            <a:chExt cx="1028168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28168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DFS(Head, v, visited) 只走得到“从 v 可达”的顶点。要遍历整张图，得对每个还没访问的顶点再发起一次。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626418" cy="1561148"/>
            <a:chOff x="533400" y="1967865"/>
            <a:chExt cx="5626418" cy="156114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626418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遍历整张图的驱动循环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79821"/>
              <a:ext cx="3787267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数组初始化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visited[i] = 0;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以每个顶点为起点试探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(visited[i] == 0)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DFS(Head, i, visited);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719512"/>
            <a:ext cx="5626418" cy="1879282"/>
            <a:chOff x="533400" y="3719512"/>
            <a:chExt cx="5626418" cy="1879282"/>
          </a:xfrm>
        </p:grpSpPr>
        <p:sp>
          <p:nvSpPr>
            <p:cNvPr id="13" name="Rectangle 13"/>
            <p:cNvSpPr/>
            <p:nvPr/>
          </p:nvSpPr>
          <p:spPr>
            <a:xfrm>
              <a:off x="533400" y="3719512"/>
              <a:ext cx="5626418" cy="1879282"/>
            </a:xfrm>
            <a:prstGeom prst="roundRect">
              <a:avLst>
                <a:gd name="adj" fmla="val 70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852862"/>
              <a:ext cx="47625" cy="16125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92906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3359" y="39647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代价没变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65922" y="396430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外层循环不改变复杂度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4325302"/>
              <a:ext cx="4853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外层这 n 次循环里，真正进入 DFS 的次数等于连通分量个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数，其余都只是一次判断。总代价仍是 O(n + e)。</a:t>
              </a:r>
            </a:p>
          </p:txBody>
        </p:sp>
      </p:grpSp>
      <p:grpSp>
        <p:nvGrpSpPr>
          <p:cNvPr id="42" name="c2-graph-1"/>
          <p:cNvGrpSpPr/>
          <p:nvPr/>
        </p:nvGrpSpPr>
        <p:grpSpPr>
          <a:xfrm>
            <a:off x="6968490" y="2082165"/>
            <a:ext cx="4601528" cy="2152650"/>
            <a:chOff x="6968490" y="2082165"/>
            <a:chExt cx="4601528" cy="2152650"/>
          </a:xfrm>
        </p:grpSpPr>
        <p:sp>
          <p:nvSpPr>
            <p:cNvPr id="20" name="Freeform 20"/>
            <p:cNvSpPr/>
            <p:nvPr/>
          </p:nvSpPr>
          <p:spPr>
            <a:xfrm>
              <a:off x="7319962" y="2275522"/>
              <a:ext cx="1146810" cy="145732"/>
            </a:xfrm>
            <a:custGeom>
              <a:avLst/>
              <a:gdLst/>
              <a:ahLst/>
              <a:cxnLst/>
              <a:rect l="l" t="t" r="r" b="b"/>
              <a:pathLst>
                <a:path w="1146810" h="145732">
                  <a:moveTo>
                    <a:pt x="0" y="145732"/>
                  </a:moveTo>
                  <a:lnTo>
                    <a:pt x="114681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307580" y="2512695"/>
              <a:ext cx="1171575" cy="481012"/>
            </a:xfrm>
            <a:custGeom>
              <a:avLst/>
              <a:gdLst/>
              <a:ahLst/>
              <a:cxnLst/>
              <a:rect l="l" t="t" r="r" b="b"/>
              <a:pathLst>
                <a:path w="1171575" h="481012">
                  <a:moveTo>
                    <a:pt x="0" y="0"/>
                  </a:moveTo>
                  <a:lnTo>
                    <a:pt x="1171575" y="4810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645842" y="2434590"/>
              <a:ext cx="9525" cy="447675"/>
            </a:xfrm>
            <a:custGeom>
              <a:avLst/>
              <a:gdLst/>
              <a:ahLst/>
              <a:cxnLst/>
              <a:rect l="l" t="t" r="r" b="b"/>
              <a:pathLst>
                <a:path w="9525" h="447675">
                  <a:moveTo>
                    <a:pt x="0" y="0"/>
                  </a:moveTo>
                  <a:lnTo>
                    <a:pt x="0" y="4476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0462260" y="2490788"/>
              <a:ext cx="782002" cy="478155"/>
            </a:xfrm>
            <a:custGeom>
              <a:avLst/>
              <a:gdLst/>
              <a:ahLst/>
              <a:cxnLst/>
              <a:rect l="l" t="t" r="r" b="b"/>
              <a:pathLst>
                <a:path w="782002" h="478155">
                  <a:moveTo>
                    <a:pt x="0" y="0"/>
                  </a:moveTo>
                  <a:lnTo>
                    <a:pt x="782002" y="4781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319962" y="3892868"/>
              <a:ext cx="1302068" cy="149542"/>
            </a:xfrm>
            <a:custGeom>
              <a:avLst/>
              <a:gdLst/>
              <a:ahLst/>
              <a:cxnLst/>
              <a:rect l="l" t="t" r="r" b="b"/>
              <a:pathLst>
                <a:path w="1302068" h="149542">
                  <a:moveTo>
                    <a:pt x="0" y="0"/>
                  </a:moveTo>
                  <a:lnTo>
                    <a:pt x="1302068" y="1495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8982075" y="3935730"/>
              <a:ext cx="1249680" cy="111442"/>
            </a:xfrm>
            <a:custGeom>
              <a:avLst/>
              <a:gdLst/>
              <a:ahLst/>
              <a:cxnLst/>
              <a:rect l="l" t="t" r="r" b="b"/>
              <a:pathLst>
                <a:path w="1249680" h="111442">
                  <a:moveTo>
                    <a:pt x="0" y="111442"/>
                  </a:moveTo>
                  <a:lnTo>
                    <a:pt x="12496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6968490" y="2272665"/>
              <a:ext cx="342900" cy="3429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474392" y="2082165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474392" y="2891790"/>
              <a:ext cx="342900" cy="3429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0136505" y="2225040"/>
              <a:ext cx="342900" cy="3429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11227118" y="2891790"/>
              <a:ext cx="342900" cy="3429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968490" y="3701415"/>
              <a:ext cx="342900" cy="3429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630602" y="3891915"/>
              <a:ext cx="342900" cy="3429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0240328" y="3749040"/>
              <a:ext cx="342900" cy="3429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91481" y="237839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97383" y="218789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97383" y="299751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59496" y="233076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50108" y="299751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91481" y="380714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53593" y="399764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363318" y="385476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</p:grpSp>
      <p:grpSp>
        <p:nvGrpSpPr>
          <p:cNvPr id="48" name="c2-callout-2"/>
          <p:cNvGrpSpPr/>
          <p:nvPr/>
        </p:nvGrpSpPr>
        <p:grpSpPr>
          <a:xfrm>
            <a:off x="6464618" y="4539615"/>
            <a:ext cx="5193982" cy="1059180"/>
            <a:chOff x="6464618" y="4539615"/>
            <a:chExt cx="5193982" cy="1059180"/>
          </a:xfrm>
        </p:grpSpPr>
        <p:sp>
          <p:nvSpPr>
            <p:cNvPr id="43" name="Rectangle 43"/>
            <p:cNvSpPr/>
            <p:nvPr/>
          </p:nvSpPr>
          <p:spPr>
            <a:xfrm>
              <a:off x="6464618" y="4539615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669405" y="4969195"/>
              <a:ext cx="200023" cy="200023"/>
              <a:chOff x="6669405" y="4969195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669405" y="496919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802755" y="50358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971348" y="4688205"/>
              <a:ext cx="42157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这张图要调用 3 次 DFS。DFS 被真正调用了几次，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图就有几个连通分量，下一部分的第一个应用就是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9" name="Rectangle 4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991225"/>
              <a:ext cx="91984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这条结论只对无向图成立。有向图里一次 DFS 覆盖的是“从起点可达的顶点集”，它不等于强连通分量。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17776" cy="909257"/>
            <a:chOff x="520446" y="342900"/>
            <a:chExt cx="591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460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19" y="407194"/>
              <a:ext cx="2550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深度优先搜索 DFS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1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DFS 的非递归算法：用一个栈代替递归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119633" cy="264033"/>
            <a:chOff x="526542" y="1545907"/>
            <a:chExt cx="711963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1196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把“还没来得及深入的顶点”全部压栈，每次从栈顶取一个继续。顶点在弹栈时才算访问。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38338"/>
            <a:ext cx="4651629" cy="2342769"/>
            <a:chOff x="533400" y="1938338"/>
            <a:chExt cx="4651629" cy="2342769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18526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4907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0441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7909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8647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196834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7166" y="2223135"/>
              <a:ext cx="20602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 visited 置 0，起点 v0 压栈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023" y="25217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277653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栈为空则算法结束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07514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弹栈并访问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7166" y="3328988"/>
              <a:ext cx="423786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弹出栈顶顶点 v；若 v 未被访问，则访问 v、置 visited[v] = 1，再把 v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的未访问邻接顶点全部压栈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382095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回到第二步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166" y="407574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重复判空与弹栈，直到栈空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442460"/>
            <a:ext cx="4977765" cy="702945"/>
            <a:chOff x="533400" y="4442460"/>
            <a:chExt cx="4977765" cy="702945"/>
          </a:xfrm>
        </p:grpSpPr>
        <p:sp>
          <p:nvSpPr>
            <p:cNvPr id="27" name="Rectangle 27"/>
            <p:cNvSpPr/>
            <p:nvPr/>
          </p:nvSpPr>
          <p:spPr>
            <a:xfrm>
              <a:off x="533400" y="4442460"/>
              <a:ext cx="4977765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4693920"/>
              <a:ext cx="200026" cy="200026"/>
              <a:chOff x="738188" y="4693920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46939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47605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27088" y="47939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1273" y="4587716"/>
              <a:ext cx="38412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和递归版对照着看：压栈相当于“记下还欠哪些分支没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走”，弹栈相当于函数返回后继续。</a:t>
              </a:r>
            </a:p>
          </p:txBody>
        </p:sp>
      </p:grpSp>
      <p:grpSp>
        <p:nvGrpSpPr>
          <p:cNvPr id="37" name="c2-code-1"/>
          <p:cNvGrpSpPr/>
          <p:nvPr/>
        </p:nvGrpSpPr>
        <p:grpSpPr>
          <a:xfrm>
            <a:off x="5815965" y="1928812"/>
            <a:ext cx="5842635" cy="2751772"/>
            <a:chOff x="5815965" y="1928812"/>
            <a:chExt cx="5842635" cy="2751772"/>
          </a:xfrm>
        </p:grpSpPr>
        <p:sp>
          <p:nvSpPr>
            <p:cNvPr id="34" name="Rectangle 34"/>
            <p:cNvSpPr/>
            <p:nvPr/>
          </p:nvSpPr>
          <p:spPr>
            <a:xfrm>
              <a:off x="5815965" y="1928812"/>
              <a:ext cx="5842635" cy="2751772"/>
            </a:xfrm>
            <a:prstGeom prst="roundRect">
              <a:avLst>
                <a:gd name="adj" fmla="val 346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44362" y="2080736"/>
              <a:ext cx="17465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DFS（非递归，已更正）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944552" y="2339816"/>
              <a:ext cx="3446145" cy="2255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DFS(Vertex *Head,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visited[])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{     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n 是顶点数，源课件漏写了这个参数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Stack S;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栈用第 4 讲的实现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visited[i] = 0;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S.Push(v);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(!S.Empty())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v = S.Pop();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(visited[v] == 0) {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同一顶点可能被压栈多次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visit(v); visited[v] = 1;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 *p = Head[v].adjacent; p; p = p-&gt;link)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(visited[p-&gt;VerAdj] == 0)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S.Push(p-&gt;VerAdj);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5815965" y="4845368"/>
            <a:ext cx="5842635" cy="1444942"/>
            <a:chOff x="5815965" y="4845368"/>
            <a:chExt cx="5842635" cy="1444942"/>
          </a:xfrm>
        </p:grpSpPr>
        <p:sp>
          <p:nvSpPr>
            <p:cNvPr id="38" name="Rectangle 38"/>
            <p:cNvSpPr/>
            <p:nvPr/>
          </p:nvSpPr>
          <p:spPr>
            <a:xfrm>
              <a:off x="5815965" y="4845368"/>
              <a:ext cx="5842635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825490" y="4978718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35040" y="502634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26759" y="505920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01016" y="5065871"/>
              <a:ext cx="2043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33 页的两处笔误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044565" y="543496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00013" y="5383054"/>
              <a:ext cx="50445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原代码写 `for(i=0;i&lt;n;i++)`，但 i 没有声明、n 也不在参数表里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044565" y="571976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00013" y="5667851"/>
              <a:ext cx="50035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初始化放在函数内部会和第 13 页的驱动循环冲突：每调用一次就清空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一次，应移到驱动循环里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658906" cy="909257"/>
            <a:chOff x="520446" y="342900"/>
            <a:chExt cx="46589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460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19" y="407194"/>
              <a:ext cx="2550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深度优先搜索 DFS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6589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例题：非递归 DFS 的逐步执行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451700" cy="278702"/>
            <a:chOff x="526161" y="1547336"/>
            <a:chExt cx="745170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45170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有向图，邻接表次序为 A→B、A→G，B→C，C→D、C→E，D→E，E→F，F→A，G→F，起点 A。</a:t>
              </a:r>
            </a:p>
          </p:txBody>
        </p:sp>
      </p:grpSp>
      <p:grpSp>
        <p:nvGrpSpPr>
          <p:cNvPr id="41" name="c1-graph-1"/>
          <p:cNvGrpSpPr/>
          <p:nvPr/>
        </p:nvGrpSpPr>
        <p:grpSpPr>
          <a:xfrm>
            <a:off x="775335" y="2116455"/>
            <a:ext cx="3670935" cy="3375660"/>
            <a:chOff x="775335" y="2116455"/>
            <a:chExt cx="3670935" cy="3375660"/>
          </a:xfrm>
        </p:grpSpPr>
        <p:sp>
          <p:nvSpPr>
            <p:cNvPr id="9" name="Freeform 9"/>
            <p:cNvSpPr/>
            <p:nvPr/>
          </p:nvSpPr>
          <p:spPr>
            <a:xfrm>
              <a:off x="2378392" y="2306955"/>
              <a:ext cx="1495425" cy="9525"/>
            </a:xfrm>
            <a:custGeom>
              <a:avLst/>
              <a:gdLst/>
              <a:ahLst/>
              <a:cxnLst/>
              <a:rect l="l" t="t" r="r" b="b"/>
              <a:pathLst>
                <a:path w="1495425" h="9525">
                  <a:moveTo>
                    <a:pt x="0" y="0"/>
                  </a:moveTo>
                  <a:lnTo>
                    <a:pt x="14954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873818" y="22593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219200" y="2409825"/>
              <a:ext cx="787717" cy="475297"/>
            </a:xfrm>
            <a:custGeom>
              <a:avLst/>
              <a:gdLst/>
              <a:ahLst/>
              <a:cxnLst/>
              <a:rect l="l" t="t" r="r" b="b"/>
              <a:pathLst>
                <a:path w="787717" h="475297">
                  <a:moveTo>
                    <a:pt x="787717" y="0"/>
                  </a:moveTo>
                  <a:lnTo>
                    <a:pt x="0" y="4752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137285" y="2844165"/>
              <a:ext cx="106680" cy="89535"/>
            </a:xfrm>
            <a:custGeom>
              <a:avLst/>
              <a:gdLst/>
              <a:ahLst/>
              <a:cxnLst/>
              <a:rect l="l" t="t" r="r" b="b"/>
              <a:pathLst>
                <a:path w="106680" h="89535">
                  <a:moveTo>
                    <a:pt x="0" y="89535"/>
                  </a:moveTo>
                  <a:lnTo>
                    <a:pt x="57150" y="0"/>
                  </a:lnTo>
                  <a:lnTo>
                    <a:pt x="106680" y="8096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65835" y="3237548"/>
              <a:ext cx="9525" cy="745808"/>
            </a:xfrm>
            <a:custGeom>
              <a:avLst/>
              <a:gdLst/>
              <a:ahLst/>
              <a:cxnLst/>
              <a:rect l="l" t="t" r="r" b="b"/>
              <a:pathLst>
                <a:path w="9525" h="745808">
                  <a:moveTo>
                    <a:pt x="0" y="0"/>
                  </a:moveTo>
                  <a:lnTo>
                    <a:pt x="0" y="7458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918210" y="39833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165860" y="4278630"/>
              <a:ext cx="1583055" cy="9525"/>
            </a:xfrm>
            <a:custGeom>
              <a:avLst/>
              <a:gdLst/>
              <a:ahLst/>
              <a:cxnLst/>
              <a:rect l="l" t="t" r="r" b="b"/>
              <a:pathLst>
                <a:path w="1583055" h="9525">
                  <a:moveTo>
                    <a:pt x="0" y="0"/>
                  </a:moveTo>
                  <a:lnTo>
                    <a:pt x="15830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748915" y="42310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102995" y="4425315"/>
              <a:ext cx="614363" cy="660082"/>
            </a:xfrm>
            <a:custGeom>
              <a:avLst/>
              <a:gdLst/>
              <a:ahLst/>
              <a:cxnLst/>
              <a:rect l="l" t="t" r="r" b="b"/>
              <a:pathLst>
                <a:path w="614363" h="660082">
                  <a:moveTo>
                    <a:pt x="0" y="0"/>
                  </a:moveTo>
                  <a:lnTo>
                    <a:pt x="614363" y="66008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682115" y="5053012"/>
              <a:ext cx="100012" cy="101918"/>
            </a:xfrm>
            <a:custGeom>
              <a:avLst/>
              <a:gdLst/>
              <a:ahLst/>
              <a:cxnLst/>
              <a:rect l="l" t="t" r="r" b="b"/>
              <a:pathLst>
                <a:path w="100012" h="101918">
                  <a:moveTo>
                    <a:pt x="100012" y="101918"/>
                  </a:moveTo>
                  <a:lnTo>
                    <a:pt x="0" y="64770"/>
                  </a:lnTo>
                  <a:lnTo>
                    <a:pt x="6953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066925" y="4477702"/>
              <a:ext cx="758190" cy="688657"/>
            </a:xfrm>
            <a:custGeom>
              <a:avLst/>
              <a:gdLst/>
              <a:ahLst/>
              <a:cxnLst/>
              <a:rect l="l" t="t" r="r" b="b"/>
              <a:pathLst>
                <a:path w="758190" h="688657">
                  <a:moveTo>
                    <a:pt x="0" y="688657"/>
                  </a:moveTo>
                  <a:lnTo>
                    <a:pt x="7581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792730" y="4412932"/>
              <a:ext cx="102870" cy="100012"/>
            </a:xfrm>
            <a:custGeom>
              <a:avLst/>
              <a:gdLst/>
              <a:ahLst/>
              <a:cxnLst/>
              <a:rect l="l" t="t" r="r" b="b"/>
              <a:pathLst>
                <a:path w="102870" h="100012">
                  <a:moveTo>
                    <a:pt x="102870" y="0"/>
                  </a:moveTo>
                  <a:lnTo>
                    <a:pt x="64770" y="100012"/>
                  </a:lnTo>
                  <a:lnTo>
                    <a:pt x="0" y="2952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228022" y="3882390"/>
              <a:ext cx="755333" cy="319088"/>
            </a:xfrm>
            <a:custGeom>
              <a:avLst/>
              <a:gdLst/>
              <a:ahLst/>
              <a:cxnLst/>
              <a:rect l="l" t="t" r="r" b="b"/>
              <a:pathLst>
                <a:path w="755333" h="319088">
                  <a:moveTo>
                    <a:pt x="0" y="319088"/>
                  </a:moveTo>
                  <a:lnTo>
                    <a:pt x="75533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965258" y="3838575"/>
              <a:ext cx="105727" cy="87630"/>
            </a:xfrm>
            <a:custGeom>
              <a:avLst/>
              <a:gdLst/>
              <a:ahLst/>
              <a:cxnLst/>
              <a:rect l="l" t="t" r="r" b="b"/>
              <a:pathLst>
                <a:path w="105727" h="87630">
                  <a:moveTo>
                    <a:pt x="105727" y="6667"/>
                  </a:moveTo>
                  <a:lnTo>
                    <a:pt x="37147" y="87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180522" y="2506028"/>
              <a:ext cx="58103" cy="966788"/>
            </a:xfrm>
            <a:custGeom>
              <a:avLst/>
              <a:gdLst/>
              <a:ahLst/>
              <a:cxnLst/>
              <a:rect l="l" t="t" r="r" b="b"/>
              <a:pathLst>
                <a:path w="58103" h="966788">
                  <a:moveTo>
                    <a:pt x="0" y="0"/>
                  </a:moveTo>
                  <a:lnTo>
                    <a:pt x="58103" y="9667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191000" y="3469958"/>
              <a:ext cx="94297" cy="98108"/>
            </a:xfrm>
            <a:custGeom>
              <a:avLst/>
              <a:gdLst/>
              <a:ahLst/>
              <a:cxnLst/>
              <a:rect l="l" t="t" r="r" b="b"/>
              <a:pathLst>
                <a:path w="94297" h="98108">
                  <a:moveTo>
                    <a:pt x="52388" y="98108"/>
                  </a:moveTo>
                  <a:lnTo>
                    <a:pt x="0" y="5715"/>
                  </a:lnTo>
                  <a:lnTo>
                    <a:pt x="9429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2471738" y="2336482"/>
              <a:ext cx="1697355" cy="1250632"/>
            </a:xfrm>
            <a:custGeom>
              <a:avLst/>
              <a:gdLst/>
              <a:ahLst/>
              <a:cxnLst/>
              <a:rect l="l" t="t" r="r" b="b"/>
              <a:pathLst>
                <a:path w="1697355" h="1250632">
                  <a:moveTo>
                    <a:pt x="1697355" y="1250632"/>
                  </a:moveTo>
                  <a:cubicBezTo>
                    <a:pt x="1335405" y="496253"/>
                    <a:pt x="769620" y="79375"/>
                    <a:pt x="0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377440" y="2289810"/>
              <a:ext cx="99060" cy="94298"/>
            </a:xfrm>
            <a:custGeom>
              <a:avLst/>
              <a:gdLst/>
              <a:ahLst/>
              <a:cxnLst/>
              <a:rect l="l" t="t" r="r" b="b"/>
              <a:pathLst>
                <a:path w="99060" h="94298">
                  <a:moveTo>
                    <a:pt x="0" y="37148"/>
                  </a:moveTo>
                  <a:lnTo>
                    <a:pt x="99060" y="0"/>
                  </a:lnTo>
                  <a:lnTo>
                    <a:pt x="89535" y="9429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987868" y="2116455"/>
              <a:ext cx="381000" cy="3810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3978592" y="211645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775335" y="284702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75335" y="408813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727835" y="511111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2853690" y="408813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4065270" y="357663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129908" y="224123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120633" y="224123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7376" y="297180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7376" y="421386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69876" y="523589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95731" y="421386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07311" y="370236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</p:grpSp>
      <p:grpSp>
        <p:nvGrpSpPr>
          <p:cNvPr id="84" name="c2-table-1"/>
          <p:cNvGrpSpPr/>
          <p:nvPr/>
        </p:nvGrpSpPr>
        <p:grpSpPr>
          <a:xfrm>
            <a:off x="5166360" y="1941195"/>
            <a:ext cx="6492240" cy="3651885"/>
            <a:chOff x="5166360" y="1941195"/>
            <a:chExt cx="6492240" cy="3651885"/>
          </a:xfrm>
        </p:grpSpPr>
        <p:sp>
          <p:nvSpPr>
            <p:cNvPr id="42" name="Rectangle 42"/>
            <p:cNvSpPr/>
            <p:nvPr/>
          </p:nvSpPr>
          <p:spPr>
            <a:xfrm>
              <a:off x="5166360" y="1941195"/>
              <a:ext cx="649224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55995" y="20654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这一步做了什么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58200" y="206549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栈（左底右顶）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507421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访问序列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66372" y="2471261"/>
              <a:ext cx="806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起点 A 压栈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12492" y="247126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070783" y="24712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166360" y="27479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166360" y="2752725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66372" y="2877026"/>
              <a:ext cx="17361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 A，访问 A，压入 B、G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12492" y="2877026"/>
              <a:ext cx="2344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070783" y="287702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166360" y="315372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66372" y="3282791"/>
              <a:ext cx="1493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 G，访问 G，压入 F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512492" y="3282791"/>
              <a:ext cx="2344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F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070783" y="3282791"/>
              <a:ext cx="2344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G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166360" y="35594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166360" y="3564255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66372" y="3688556"/>
              <a:ext cx="1945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 F，访问 F，A 已访问不压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12492" y="368855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070783" y="3688556"/>
              <a:ext cx="369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G F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166360" y="396525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266372" y="4094321"/>
              <a:ext cx="1493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 B，访问 B，压入 C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512492" y="409432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070783" y="4094321"/>
              <a:ext cx="5052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G F B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166360" y="437102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166360" y="4375785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266372" y="4500086"/>
              <a:ext cx="17361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 C，访问 C，压入 D、E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512492" y="4500086"/>
              <a:ext cx="2344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070783" y="4500086"/>
              <a:ext cx="6407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G F B C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166360" y="47767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266372" y="4905851"/>
              <a:ext cx="1945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 E，访问 E，F 已访问不压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512492" y="490585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070783" y="4905851"/>
              <a:ext cx="7761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G F B C E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166360" y="518255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5166360" y="5187315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266372" y="5311616"/>
              <a:ext cx="23980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 D，访问 D，E 已访问，栈空结束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512492" y="531161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070783" y="5311616"/>
              <a:ext cx="9115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G F B C E D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166360" y="1941195"/>
              <a:ext cx="6492240" cy="36518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8407718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9966008" y="1941195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85" name="Rectangle 8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1040892" y="6023610"/>
              <a:ext cx="84092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访问序列 A G F B C E D。A 先压 B 后压 G，G 在栈顶反而先被访问，可见非递归版按邻接表的逆序深入。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93714" cy="909257"/>
            <a:chOff x="520446" y="342900"/>
            <a:chExt cx="88937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460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19" y="407194"/>
              <a:ext cx="2550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深度优先搜索 DFS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937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课下思考：进栈前已经判过 visited，出栈时为什么还要判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854810" cy="264033"/>
            <a:chOff x="526542" y="1545907"/>
            <a:chExt cx="785481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8548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源课件第 32 页留的问题。用这张三顶点的图走一遍就清楚了：有向图 A→B、A→C、C→B，起点 A。</a:t>
              </a:r>
            </a:p>
          </p:txBody>
        </p:sp>
      </p:grpSp>
      <p:grpSp>
        <p:nvGrpSpPr>
          <p:cNvPr id="21" name="c1-graph-1"/>
          <p:cNvGrpSpPr/>
          <p:nvPr/>
        </p:nvGrpSpPr>
        <p:grpSpPr>
          <a:xfrm>
            <a:off x="1309688" y="2003108"/>
            <a:ext cx="3424237" cy="1240154"/>
            <a:chOff x="1309688" y="2003108"/>
            <a:chExt cx="3424237" cy="1240154"/>
          </a:xfrm>
        </p:grpSpPr>
        <p:sp>
          <p:nvSpPr>
            <p:cNvPr id="9" name="Freeform 9"/>
            <p:cNvSpPr/>
            <p:nvPr/>
          </p:nvSpPr>
          <p:spPr>
            <a:xfrm>
              <a:off x="1757362" y="2222182"/>
              <a:ext cx="2433638" cy="9525"/>
            </a:xfrm>
            <a:custGeom>
              <a:avLst/>
              <a:gdLst/>
              <a:ahLst/>
              <a:cxnLst/>
              <a:rect l="l" t="t" r="r" b="b"/>
              <a:pathLst>
                <a:path w="2433638" h="9525">
                  <a:moveTo>
                    <a:pt x="0" y="0"/>
                  </a:moveTo>
                  <a:lnTo>
                    <a:pt x="243363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191000" y="21745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557338" y="2449830"/>
              <a:ext cx="31433" cy="252412"/>
            </a:xfrm>
            <a:custGeom>
              <a:avLst/>
              <a:gdLst/>
              <a:ahLst/>
              <a:cxnLst/>
              <a:rect l="l" t="t" r="r" b="b"/>
              <a:pathLst>
                <a:path w="31433" h="252412">
                  <a:moveTo>
                    <a:pt x="0" y="0"/>
                  </a:moveTo>
                  <a:lnTo>
                    <a:pt x="31433" y="2524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541145" y="2696528"/>
              <a:ext cx="94297" cy="100965"/>
            </a:xfrm>
            <a:custGeom>
              <a:avLst/>
              <a:gdLst/>
              <a:ahLst/>
              <a:cxnLst/>
              <a:rect l="l" t="t" r="r" b="b"/>
              <a:pathLst>
                <a:path w="94297" h="100965">
                  <a:moveTo>
                    <a:pt x="59055" y="100965"/>
                  </a:moveTo>
                  <a:lnTo>
                    <a:pt x="0" y="12382"/>
                  </a:lnTo>
                  <a:lnTo>
                    <a:pt x="9429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848802" y="2308860"/>
              <a:ext cx="2354580" cy="654368"/>
            </a:xfrm>
            <a:custGeom>
              <a:avLst/>
              <a:gdLst/>
              <a:ahLst/>
              <a:cxnLst/>
              <a:rect l="l" t="t" r="r" b="b"/>
              <a:pathLst>
                <a:path w="2354580" h="654368">
                  <a:moveTo>
                    <a:pt x="0" y="654368"/>
                  </a:moveTo>
                  <a:lnTo>
                    <a:pt x="23545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190048" y="226314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20955"/>
                  </a:moveTo>
                  <a:lnTo>
                    <a:pt x="25718" y="91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309688" y="2003108"/>
              <a:ext cx="438150" cy="4381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295775" y="2003108"/>
              <a:ext cx="438150" cy="4381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409700" y="2805112"/>
              <a:ext cx="438150" cy="4381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80303" y="215741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66391" y="215741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80316" y="295846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</p:grpSp>
      <p:grpSp>
        <p:nvGrpSpPr>
          <p:cNvPr id="51" name="c1-table-2"/>
          <p:cNvGrpSpPr/>
          <p:nvPr/>
        </p:nvGrpSpPr>
        <p:grpSpPr>
          <a:xfrm>
            <a:off x="533400" y="3429000"/>
            <a:ext cx="4977765" cy="2287905"/>
            <a:chOff x="533400" y="3429000"/>
            <a:chExt cx="4977765" cy="2287905"/>
          </a:xfrm>
        </p:grpSpPr>
        <p:sp>
          <p:nvSpPr>
            <p:cNvPr id="22" name="Rectangle 22"/>
            <p:cNvSpPr/>
            <p:nvPr/>
          </p:nvSpPr>
          <p:spPr>
            <a:xfrm>
              <a:off x="533400" y="3429000"/>
              <a:ext cx="497776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327785" y="354615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这一步做了什么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93020" y="354615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75429" y="354615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访问序列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8078" y="3928110"/>
              <a:ext cx="7564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起点 A 压栈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16021" y="3928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11396" y="39281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187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4191952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4309110"/>
              <a:ext cx="16276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 A，访问 A，压入 B、C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216021" y="4309110"/>
              <a:ext cx="219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C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11396" y="4309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569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078" y="4691062"/>
              <a:ext cx="14000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 C，访问 C，压入 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216021" y="4691062"/>
              <a:ext cx="219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B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311396" y="4691062"/>
              <a:ext cx="219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C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950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95490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8078" y="5072062"/>
              <a:ext cx="154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 B，访问 B，无邻接点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216021" y="507206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11396" y="5072062"/>
              <a:ext cx="346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C B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5331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42925" y="5345430"/>
              <a:ext cx="2568892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8078" y="5454015"/>
              <a:ext cx="15574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 B，已访问，直接丢弃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216021" y="545401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311396" y="5454015"/>
              <a:ext cx="346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C B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3429000"/>
              <a:ext cx="497776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3116580" y="3429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4211955" y="3429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2-card-1"/>
          <p:cNvGrpSpPr/>
          <p:nvPr/>
        </p:nvGrpSpPr>
        <p:grpSpPr>
          <a:xfrm>
            <a:off x="5815965" y="1928812"/>
            <a:ext cx="5842635" cy="1934528"/>
            <a:chOff x="5815965" y="1928812"/>
            <a:chExt cx="5842635" cy="1934528"/>
          </a:xfrm>
        </p:grpSpPr>
        <p:sp>
          <p:nvSpPr>
            <p:cNvPr id="52" name="Rectangle 52"/>
            <p:cNvSpPr/>
            <p:nvPr/>
          </p:nvSpPr>
          <p:spPr>
            <a:xfrm>
              <a:off x="5815965" y="1928812"/>
              <a:ext cx="5842635" cy="1934528"/>
            </a:xfrm>
            <a:prstGeom prst="roundRect">
              <a:avLst>
                <a:gd name="adj" fmla="val 689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996940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088659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62916" y="214931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一个顶点可以从多个方向被压栈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990463" y="2465546"/>
              <a:ext cx="52067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压栈时检查的是“压的这一刻它还没被访问”。B 先被 A 压了一次，随后 C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也把它压了一次，此时两份 B 都在栈里，都还没被访问。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990463" y="2994184"/>
              <a:ext cx="52311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先弹出的那份把 B 访问掉了，后弹出的那份就必须靠出栈时的 visited 判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断丢弃，否则 B 会被访问两次。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991606" y="3517582"/>
              <a:ext cx="34797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本例中 B 进栈 </a:t>
              </a:r>
              <a:r>
                <a:rPr lang="zh-CN" sz="10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2</a:t>
              </a: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次，出栈 2 次，只有第一次真正访问。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5815965" y="4028122"/>
            <a:ext cx="5842635" cy="1689735"/>
            <a:chOff x="5815965" y="4028122"/>
            <a:chExt cx="5842635" cy="1689735"/>
          </a:xfrm>
        </p:grpSpPr>
        <p:sp>
          <p:nvSpPr>
            <p:cNvPr id="60" name="Rectangle 60"/>
            <p:cNvSpPr/>
            <p:nvPr/>
          </p:nvSpPr>
          <p:spPr>
            <a:xfrm>
              <a:off x="5815965" y="4028122"/>
              <a:ext cx="5842635" cy="1689735"/>
            </a:xfrm>
            <a:prstGeom prst="roundRect">
              <a:avLst>
                <a:gd name="adj" fmla="val 78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5825490" y="4161472"/>
              <a:ext cx="47625" cy="14230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035040" y="4209098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01258" y="424195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由此引出的空间代价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72553" y="424862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非递归版的栈可能比递归版深得多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044565" y="461772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200013" y="4564856"/>
              <a:ext cx="34206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递归版的栈深度是当前路径长度，最坏 O(n)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044565" y="490251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200013" y="4849654"/>
              <a:ext cx="50035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非递归版每条边最多把一个顶点压一次，栈里最多 2e 个元素，空间是</a:t>
              </a:r>
              <a:br/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O(e)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0" name="Rectangle 7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1273" y="6039326"/>
              <a:ext cx="95225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想让栈里不出现重复，可以改成“压栈时就置 visited”，但那样访问次序会变成另一种（更接近 BFS 的写法），不再是 DFS。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48435" cy="909257"/>
            <a:chOff x="520446" y="342900"/>
            <a:chExt cx="77484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460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19" y="407194"/>
              <a:ext cx="2550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深度优先搜索 DFS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484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递归与非递归：两份 DFS 代码的访问序列并不相同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049235" cy="264033"/>
            <a:chOff x="526542" y="1545907"/>
            <a:chExt cx="804923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049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上一页那张图，两种写法从同一个起点 A 出发，得到的序列不一样，两个都是合法的深度优先遍历。</a:t>
              </a:r>
            </a:p>
          </p:txBody>
        </p:sp>
      </p:grpSp>
      <p:grpSp>
        <p:nvGrpSpPr>
          <p:cNvPr id="53" name="c1-cells-1"/>
          <p:cNvGrpSpPr/>
          <p:nvPr/>
        </p:nvGrpSpPr>
        <p:grpSpPr>
          <a:xfrm>
            <a:off x="528066" y="1928812"/>
            <a:ext cx="3605784" cy="1254919"/>
            <a:chOff x="528066" y="1928812"/>
            <a:chExt cx="3605784" cy="1254919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204120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递归版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2001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61241" y="204120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6192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80341" y="204120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0383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199441" y="204120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4574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18541" y="204120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8765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37641" y="204120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956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456741" y="204120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7147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875841" y="204120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745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936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127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318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509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700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891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8066" y="27241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非递归版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200150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361241" y="272415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619250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780341" y="272415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038350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199441" y="272415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457450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618541" y="272415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876550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037641" y="272415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295650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456741" y="272415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714750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875841" y="272415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74581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93681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212781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631881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050981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470081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889181" y="30218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84" name="c1-table-2"/>
          <p:cNvGrpSpPr/>
          <p:nvPr/>
        </p:nvGrpSpPr>
        <p:grpSpPr>
          <a:xfrm>
            <a:off x="533400" y="3313748"/>
            <a:ext cx="5842635" cy="2287905"/>
            <a:chOff x="533400" y="3313748"/>
            <a:chExt cx="5842635" cy="2287905"/>
          </a:xfrm>
        </p:grpSpPr>
        <p:sp>
          <p:nvSpPr>
            <p:cNvPr id="54" name="Rectangle 54"/>
            <p:cNvSpPr/>
            <p:nvPr/>
          </p:nvSpPr>
          <p:spPr>
            <a:xfrm>
              <a:off x="533400" y="3313748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75182" y="343090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916364" y="343090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递归版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007864" y="343090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非递归版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8078" y="381190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辅助结构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147316" y="381190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函数调用栈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309491" y="3811905"/>
              <a:ext cx="561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显式栈 S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40719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33400" y="4076700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28078" y="419385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何时访问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147316" y="419385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进入函数时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309491" y="419385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弹栈且未访问时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3400" y="44529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28078" y="457485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同一顶点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147316" y="457485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只进一次栈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309491" y="457485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可能进多次栈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33400" y="48339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33400" y="4838700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28078" y="49568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额外空间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2062162" y="4848225"/>
              <a:ext cx="214312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2147316" y="4956810"/>
              <a:ext cx="359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4224338" y="4848225"/>
              <a:ext cx="2143125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309491" y="4956810"/>
              <a:ext cx="359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O(e)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33400" y="52158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28078" y="53378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深入次序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2147316" y="53378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按邻接表正序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309491" y="53378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按邻接表逆序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33400" y="3313748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2047875" y="3313748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4210050" y="3313748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2" name="c2-card-1"/>
          <p:cNvGrpSpPr/>
          <p:nvPr/>
        </p:nvGrpSpPr>
        <p:grpSpPr>
          <a:xfrm>
            <a:off x="6680835" y="1928812"/>
            <a:ext cx="4977765" cy="1843088"/>
            <a:chOff x="6680835" y="1928812"/>
            <a:chExt cx="4977765" cy="1843088"/>
          </a:xfrm>
        </p:grpSpPr>
        <p:sp>
          <p:nvSpPr>
            <p:cNvPr id="85" name="Rectangle 85"/>
            <p:cNvSpPr/>
            <p:nvPr/>
          </p:nvSpPr>
          <p:spPr>
            <a:xfrm>
              <a:off x="6680835" y="1928812"/>
              <a:ext cx="4977765" cy="1843088"/>
            </a:xfrm>
            <a:prstGeom prst="roundRect">
              <a:avLst>
                <a:gd name="adj" fmla="val 72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6690360" y="2062162"/>
              <a:ext cx="47625" cy="157638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6899910" y="210978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981380" y="21426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为什么合法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840218" y="2149316"/>
              <a:ext cx="21074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深度优先只规定“能进就进”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893433" y="2465546"/>
              <a:ext cx="44020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深度优先遍历的要求是：只要当前顶点还有未访问的邻接顶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点，就必须往下深入，不许跳到别处。两份代码都满足，只是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挑邻接点的先后不同。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894576" y="3232785"/>
              <a:ext cx="427786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考试若要求写出唯一答案，题面一定会指明按邻接表次序或按顶点编号从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小到大。</a:t>
              </a:r>
            </a:p>
          </p:txBody>
        </p:sp>
      </p:grpSp>
      <p:grpSp>
        <p:nvGrpSpPr>
          <p:cNvPr id="102" name="c2-card-2"/>
          <p:cNvGrpSpPr/>
          <p:nvPr/>
        </p:nvGrpSpPr>
        <p:grpSpPr>
          <a:xfrm>
            <a:off x="6680835" y="3935730"/>
            <a:ext cx="4977765" cy="1687830"/>
            <a:chOff x="6680835" y="3935730"/>
            <a:chExt cx="4977765" cy="1687830"/>
          </a:xfrm>
        </p:grpSpPr>
        <p:sp>
          <p:nvSpPr>
            <p:cNvPr id="93" name="Rectangle 93"/>
            <p:cNvSpPr/>
            <p:nvPr/>
          </p:nvSpPr>
          <p:spPr>
            <a:xfrm>
              <a:off x="6680835" y="3935730"/>
              <a:ext cx="4977765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6690360" y="4069080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6899910" y="411670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988531" y="414956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怎么选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590663" y="415718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递归版好写，非递归版不怕爆栈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6909435" y="452628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7064883" y="4473416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顶点数上万且图很深时，递归版可能把系统栈压爆，这时用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非递归版</a:t>
              </a:r>
            </a:p>
          </p:txBody>
        </p:sp>
        <p:sp>
          <p:nvSpPr>
            <p:cNvPr id="100" name="Ellipse 100"/>
            <p:cNvSpPr/>
            <p:nvPr/>
          </p:nvSpPr>
          <p:spPr>
            <a:xfrm>
              <a:off x="6909435" y="505396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7064883" y="5001101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需要在回溯时做事情（撤销标记、弹出路径）时，递归版写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起来干净得多</a:t>
              </a:r>
            </a:p>
          </p:txBody>
        </p:sp>
      </p:grpSp>
      <p:grpSp>
        <p:nvGrpSpPr>
          <p:cNvPr id="10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03" name="Rectangle 10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07" name="Group 107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08" name="TextBox 108"/>
            <p:cNvSpPr txBox="1"/>
            <p:nvPr/>
          </p:nvSpPr>
          <p:spPr>
            <a:xfrm>
              <a:off x="1041273" y="6039326"/>
              <a:ext cx="8209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别把“非递归 DFS”和 BFS 搞混：两者都用一个容器装待处理顶点，栈换成队列，深度优先就变成广度优先。</a:t>
              </a:r>
            </a:p>
          </p:txBody>
        </p:sp>
      </p:grpSp>
      <p:grpSp>
        <p:nvGrpSpPr>
          <p:cNvPr id="11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0" name="TextBox 110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3992819" cy="3351847"/>
            <a:chOff x="667512" y="1835468"/>
            <a:chExt cx="399281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9281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广度优先搜索 BFS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地毯式搜索，一层一层往外推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基本思想与队列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广度优先生成树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入队时访问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9016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邻接矩阵版的 O(n²)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460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19" y="407194"/>
              <a:ext cx="2550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广度优先搜索 BFS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广度优先搜索：先把身边的一圈全访问完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547550" cy="278702"/>
            <a:chOff x="526161" y="1547336"/>
            <a:chExt cx="754755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5475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Breadth First Search，简称 BFS。它不回退，因此不是递归过程，也不需要递归算法。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50720"/>
            <a:ext cx="4495724" cy="2280762"/>
            <a:chOff x="533400" y="1950720"/>
            <a:chExt cx="4495724" cy="2280762"/>
          </a:xfrm>
        </p:grpSpPr>
        <p:sp>
          <p:nvSpPr>
            <p:cNvPr id="9" name="Rectangle 9"/>
            <p:cNvSpPr/>
            <p:nvPr/>
          </p:nvSpPr>
          <p:spPr>
            <a:xfrm>
              <a:off x="666750" y="2093595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5072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3841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612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2515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98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7118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7857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198310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访问起点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250281"/>
              <a:ext cx="11271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访问初始顶点 v0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56984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访问第一圈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837021"/>
              <a:ext cx="25369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依次访问 v0 的全部邻接顶点 w1 … wk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15658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访问第二圈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424714"/>
              <a:ext cx="3079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再依次访问 w1 … wk 各自尚未访问的邻接顶点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7433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依此往复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4011454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从这些刚被访问的顶点出发继续向外推，直到所有顶点访问完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4400550"/>
            <a:ext cx="5842635" cy="1226820"/>
            <a:chOff x="533400" y="4400550"/>
            <a:chExt cx="5842635" cy="1226820"/>
          </a:xfrm>
        </p:grpSpPr>
        <p:sp>
          <p:nvSpPr>
            <p:cNvPr id="27" name="Rectangle 27"/>
            <p:cNvSpPr/>
            <p:nvPr/>
          </p:nvSpPr>
          <p:spPr>
            <a:xfrm>
              <a:off x="533400" y="4400550"/>
              <a:ext cx="5842635" cy="1226820"/>
            </a:xfrm>
            <a:prstGeom prst="roundRect">
              <a:avLst>
                <a:gd name="adj" fmla="val 1087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25805" y="459295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93242" y="462724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为什么必须用队列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09597" y="463200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欠着的邻接点要按先来后到还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8947" y="4966335"/>
              <a:ext cx="520007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 w1 时它的邻接点还不能马上深入，得等 w2 … wk 都访问完。谁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先被访问，谁的邻接点就先被展开，这正是队列的先进先出。</a:t>
              </a:r>
            </a:p>
          </p:txBody>
        </p:sp>
      </p:grpSp>
      <p:grpSp>
        <p:nvGrpSpPr>
          <p:cNvPr id="35" name="c2-image-1"/>
          <p:cNvGrpSpPr/>
          <p:nvPr/>
        </p:nvGrpSpPr>
        <p:grpSpPr>
          <a:xfrm>
            <a:off x="7185470" y="1941195"/>
            <a:ext cx="3968496" cy="2293239"/>
            <a:chOff x="7185470" y="1941195"/>
            <a:chExt cx="3968496" cy="2293239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2"/>
            <a:srcRect l="0" t="6" r="0" b="6"/>
            <a:stretch>
              <a:fillRect/>
            </a:stretch>
          </p:blipFill>
          <p:spPr>
            <a:xfrm>
              <a:off x="7840980" y="1941195"/>
              <a:ext cx="2658428" cy="1993582"/>
            </a:xfrm>
            <a:prstGeom prst="roundRect">
              <a:avLst>
                <a:gd name="adj" fmla="val 6688"/>
              </a:avLst>
            </a:prstGeom>
          </p:spPr>
        </p:pic>
        <p:sp>
          <p:nvSpPr>
            <p:cNvPr id="34" name="TextBox 34"/>
            <p:cNvSpPr txBox="1"/>
            <p:nvPr/>
          </p:nvSpPr>
          <p:spPr>
            <a:xfrm>
              <a:off x="7185470" y="4029075"/>
              <a:ext cx="3968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水从一个缺口漫入，先浸透最近的一圈田块，再推向更远的一圈</a:t>
              </a:r>
            </a:p>
          </p:txBody>
        </p:sp>
      </p:grpSp>
      <p:grpSp>
        <p:nvGrpSpPr>
          <p:cNvPr id="42" name="c2-card-2"/>
          <p:cNvGrpSpPr/>
          <p:nvPr/>
        </p:nvGrpSpPr>
        <p:grpSpPr>
          <a:xfrm>
            <a:off x="6680835" y="4387215"/>
            <a:ext cx="4977765" cy="1240155"/>
            <a:chOff x="6680835" y="4387215"/>
            <a:chExt cx="4977765" cy="1240155"/>
          </a:xfrm>
        </p:grpSpPr>
        <p:sp>
          <p:nvSpPr>
            <p:cNvPr id="36" name="Rectangle 36"/>
            <p:cNvSpPr/>
            <p:nvPr/>
          </p:nvSpPr>
          <p:spPr>
            <a:xfrm>
              <a:off x="6680835" y="4387215"/>
              <a:ext cx="4977765" cy="1240155"/>
            </a:xfrm>
            <a:prstGeom prst="roundRect">
              <a:avLst>
                <a:gd name="adj" fmla="val 107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690360" y="4520565"/>
              <a:ext cx="47625" cy="9734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911340" y="4579620"/>
              <a:ext cx="1058228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76472" y="4613910"/>
              <a:ext cx="9289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 DFS 的分工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77010" y="461867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不回退，所以不需要递归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04482" y="4953000"/>
              <a:ext cx="41199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BFS 的每一步都只往外走，走过的顶点不再需要回头查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看，因此没有回溯，也就用不上函数调用栈。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75558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visited 的用法两种遍历完全一样：都是初值 0、访问后置 1、走到已置 1 的顶点就不再进去。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13098" cy="909257"/>
            <a:chOff x="520446" y="342900"/>
            <a:chExt cx="56130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460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19" y="407194"/>
              <a:ext cx="2550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广度优先搜索 BFS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130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例题：从 A 出发广度优先遍历这张图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991472" cy="278702"/>
            <a:chOff x="526161" y="1547336"/>
            <a:chExt cx="699147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9914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邻接表按字母先后排列。A 的邻接顶点是 B、C、D，C 的邻接顶点是 A、D、E、F。</a:t>
              </a:r>
            </a:p>
          </p:txBody>
        </p:sp>
      </p:grpSp>
      <p:grpSp>
        <p:nvGrpSpPr>
          <p:cNvPr id="38" name="c1-graph-1"/>
          <p:cNvGrpSpPr/>
          <p:nvPr/>
        </p:nvGrpSpPr>
        <p:grpSpPr>
          <a:xfrm>
            <a:off x="898208" y="2209800"/>
            <a:ext cx="3724274" cy="3320415"/>
            <a:chOff x="898208" y="2209800"/>
            <a:chExt cx="3724274" cy="3320415"/>
          </a:xfrm>
        </p:grpSpPr>
        <p:sp>
          <p:nvSpPr>
            <p:cNvPr id="9" name="Freeform 9"/>
            <p:cNvSpPr/>
            <p:nvPr/>
          </p:nvSpPr>
          <p:spPr>
            <a:xfrm>
              <a:off x="1269682" y="2390775"/>
              <a:ext cx="1254442" cy="9525"/>
            </a:xfrm>
            <a:custGeom>
              <a:avLst/>
              <a:gdLst/>
              <a:ahLst/>
              <a:cxnLst/>
              <a:rect l="l" t="t" r="r" b="b"/>
              <a:pathLst>
                <a:path w="1254442" h="9525">
                  <a:moveTo>
                    <a:pt x="0" y="0"/>
                  </a:moveTo>
                  <a:lnTo>
                    <a:pt x="125444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079182" y="2581275"/>
              <a:ext cx="9525" cy="1117282"/>
            </a:xfrm>
            <a:custGeom>
              <a:avLst/>
              <a:gdLst/>
              <a:ahLst/>
              <a:cxnLst/>
              <a:rect l="l" t="t" r="r" b="b"/>
              <a:pathLst>
                <a:path w="9525" h="1117282">
                  <a:moveTo>
                    <a:pt x="0" y="0"/>
                  </a:moveTo>
                  <a:lnTo>
                    <a:pt x="0" y="111728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219200" y="2519362"/>
              <a:ext cx="1355408" cy="1241108"/>
            </a:xfrm>
            <a:custGeom>
              <a:avLst/>
              <a:gdLst/>
              <a:ahLst/>
              <a:cxnLst/>
              <a:rect l="l" t="t" r="r" b="b"/>
              <a:pathLst>
                <a:path w="1355408" h="1241108">
                  <a:moveTo>
                    <a:pt x="0" y="0"/>
                  </a:moveTo>
                  <a:lnTo>
                    <a:pt x="1355408" y="12411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714625" y="2581275"/>
              <a:ext cx="9525" cy="1117282"/>
            </a:xfrm>
            <a:custGeom>
              <a:avLst/>
              <a:gdLst/>
              <a:ahLst/>
              <a:cxnLst/>
              <a:rect l="l" t="t" r="r" b="b"/>
              <a:pathLst>
                <a:path w="9525" h="1117282">
                  <a:moveTo>
                    <a:pt x="0" y="0"/>
                  </a:moveTo>
                  <a:lnTo>
                    <a:pt x="0" y="111728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905125" y="2390775"/>
              <a:ext cx="1345882" cy="9525"/>
            </a:xfrm>
            <a:custGeom>
              <a:avLst/>
              <a:gdLst/>
              <a:ahLst/>
              <a:cxnLst/>
              <a:rect l="l" t="t" r="r" b="b"/>
              <a:pathLst>
                <a:path w="1345882" h="9525">
                  <a:moveTo>
                    <a:pt x="0" y="0"/>
                  </a:moveTo>
                  <a:lnTo>
                    <a:pt x="134588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858452" y="2515552"/>
              <a:ext cx="1439227" cy="1248727"/>
            </a:xfrm>
            <a:custGeom>
              <a:avLst/>
              <a:gdLst/>
              <a:ahLst/>
              <a:cxnLst/>
              <a:rect l="l" t="t" r="r" b="b"/>
              <a:pathLst>
                <a:path w="1439227" h="1248727">
                  <a:moveTo>
                    <a:pt x="0" y="1248727"/>
                  </a:moveTo>
                  <a:lnTo>
                    <a:pt x="143922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221105" y="4015740"/>
              <a:ext cx="1351598" cy="1206817"/>
            </a:xfrm>
            <a:custGeom>
              <a:avLst/>
              <a:gdLst/>
              <a:ahLst/>
              <a:cxnLst/>
              <a:rect l="l" t="t" r="r" b="b"/>
              <a:pathLst>
                <a:path w="1351598" h="1206817">
                  <a:moveTo>
                    <a:pt x="1351598" y="0"/>
                  </a:moveTo>
                  <a:lnTo>
                    <a:pt x="0" y="12068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441508" y="2581275"/>
              <a:ext cx="9525" cy="1117282"/>
            </a:xfrm>
            <a:custGeom>
              <a:avLst/>
              <a:gdLst/>
              <a:ahLst/>
              <a:cxnLst/>
              <a:rect l="l" t="t" r="r" b="b"/>
              <a:pathLst>
                <a:path w="9525" h="1117282">
                  <a:moveTo>
                    <a:pt x="0" y="0"/>
                  </a:moveTo>
                  <a:lnTo>
                    <a:pt x="0" y="111728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079182" y="4079558"/>
              <a:ext cx="9525" cy="1079182"/>
            </a:xfrm>
            <a:custGeom>
              <a:avLst/>
              <a:gdLst/>
              <a:ahLst/>
              <a:cxnLst/>
              <a:rect l="l" t="t" r="r" b="b"/>
              <a:pathLst>
                <a:path w="9525" h="1079182">
                  <a:moveTo>
                    <a:pt x="0" y="0"/>
                  </a:moveTo>
                  <a:lnTo>
                    <a:pt x="0" y="107918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269682" y="5349240"/>
              <a:ext cx="1254442" cy="9525"/>
            </a:xfrm>
            <a:custGeom>
              <a:avLst/>
              <a:gdLst/>
              <a:ahLst/>
              <a:cxnLst/>
              <a:rect l="l" t="t" r="r" b="b"/>
              <a:pathLst>
                <a:path w="1254442" h="9525">
                  <a:moveTo>
                    <a:pt x="0" y="0"/>
                  </a:moveTo>
                  <a:lnTo>
                    <a:pt x="125444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905125" y="5349240"/>
              <a:ext cx="1345882" cy="9525"/>
            </a:xfrm>
            <a:custGeom>
              <a:avLst/>
              <a:gdLst/>
              <a:ahLst/>
              <a:cxnLst/>
              <a:rect l="l" t="t" r="r" b="b"/>
              <a:pathLst>
                <a:path w="1345882" h="9525">
                  <a:moveTo>
                    <a:pt x="0" y="0"/>
                  </a:moveTo>
                  <a:lnTo>
                    <a:pt x="134588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898208" y="2209800"/>
              <a:ext cx="361950" cy="3619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2533650" y="2209800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260532" y="2209800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898208" y="3708082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2533650" y="3708082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260532" y="3708082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98208" y="5168265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2533650" y="5168265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4260532" y="5168265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30723" y="232600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66166" y="232600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93048" y="232600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0723" y="382333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66166" y="382333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93048" y="382333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0723" y="528447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66166" y="528447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12651" y="5284470"/>
              <a:ext cx="57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</p:grpSp>
      <p:grpSp>
        <p:nvGrpSpPr>
          <p:cNvPr id="72" name="c2-table-1"/>
          <p:cNvGrpSpPr/>
          <p:nvPr/>
        </p:nvGrpSpPr>
        <p:grpSpPr>
          <a:xfrm>
            <a:off x="5382578" y="1941195"/>
            <a:ext cx="6276022" cy="2840355"/>
            <a:chOff x="5382578" y="1941195"/>
            <a:chExt cx="6276022" cy="2840355"/>
          </a:xfrm>
        </p:grpSpPr>
        <p:sp>
          <p:nvSpPr>
            <p:cNvPr id="39" name="Rectangle 39"/>
            <p:cNvSpPr/>
            <p:nvPr/>
          </p:nvSpPr>
          <p:spPr>
            <a:xfrm>
              <a:off x="5382578" y="1941195"/>
              <a:ext cx="6276022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640146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出队顶点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95528" y="206549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由它新访问并入队的顶点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095941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访问序列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482590" y="24712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12255" y="2471261"/>
              <a:ext cx="14008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起点 A 先访问再入队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47822" y="247126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82578" y="27479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82578" y="275272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482590" y="287702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12255" y="2877026"/>
              <a:ext cx="16790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B、C、D 依次访问并入队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47822" y="2877026"/>
              <a:ext cx="5052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 D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82578" y="31537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482590" y="328279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12255" y="328279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47822" y="3282791"/>
              <a:ext cx="6407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 D E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82578" y="3559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382578" y="356425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482590" y="36885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12255" y="3688556"/>
              <a:ext cx="16158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F（A、D、E 都已访问）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247822" y="3688556"/>
              <a:ext cx="7761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 D E F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382578" y="39652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482590" y="409432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12255" y="409432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无，邻接点全已访问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47822" y="4094321"/>
              <a:ext cx="7761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 D E F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82578" y="437102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382578" y="4375785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482590" y="4500086"/>
              <a:ext cx="5889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E、F、G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12255" y="4500086"/>
              <a:ext cx="19407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依次带出 G、H、I，队列变空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247822" y="4500086"/>
              <a:ext cx="1142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 D E F G H I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382578" y="1941195"/>
              <a:ext cx="6276022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507480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9143048" y="194119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8" name="c2-callout-2"/>
          <p:cNvGrpSpPr/>
          <p:nvPr/>
        </p:nvGrpSpPr>
        <p:grpSpPr>
          <a:xfrm>
            <a:off x="5382578" y="4956810"/>
            <a:ext cx="6276022" cy="729615"/>
            <a:chOff x="5382578" y="4956810"/>
            <a:chExt cx="6276022" cy="729615"/>
          </a:xfrm>
        </p:grpSpPr>
        <p:sp>
          <p:nvSpPr>
            <p:cNvPr id="73" name="Rectangle 73"/>
            <p:cNvSpPr/>
            <p:nvPr/>
          </p:nvSpPr>
          <p:spPr>
            <a:xfrm>
              <a:off x="5382578" y="4956810"/>
              <a:ext cx="6276022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5587365" y="5221605"/>
              <a:ext cx="200026" cy="200026"/>
              <a:chOff x="5587365" y="5221605"/>
              <a:chExt cx="200026" cy="200026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5587365" y="52216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5654040" y="529939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5890070" y="5103495"/>
              <a:ext cx="52866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访问序列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 B C D E F G H I</a:t>
              </a: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。每个顶点入队一次、出队一次，与顶点数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相同。</a:t>
              </a:r>
            </a:p>
          </p:txBody>
        </p:sp>
      </p:grpSp>
      <p:grpSp>
        <p:nvGrpSpPr>
          <p:cNvPr id="8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9" name="Rectangle 7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1040892" y="6023610"/>
              <a:ext cx="7500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常见错误是出队时才置 visited。那样 C 和 D 会把已在队中的 F 再入队一次，F 被访问两次。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460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19" y="407194"/>
              <a:ext cx="2550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广度优先搜索 BFS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广度优先生成树：层号就是到起点的最少边数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509213" cy="278702"/>
            <a:chOff x="526161" y="1547336"/>
            <a:chExt cx="850921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5092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同样把第一次访问某顶点时走的边留下。BFS 得到的树比 DFS 的矮而宽，而且有一条额外的好性质。</a:t>
              </a:r>
            </a:p>
          </p:txBody>
        </p:sp>
      </p:grpSp>
      <p:grpSp>
        <p:nvGrpSpPr>
          <p:cNvPr id="35" name="c1-tree-1"/>
          <p:cNvGrpSpPr/>
          <p:nvPr/>
        </p:nvGrpSpPr>
        <p:grpSpPr>
          <a:xfrm>
            <a:off x="1208722" y="2132648"/>
            <a:ext cx="3843338" cy="3431857"/>
            <a:chOff x="1208722" y="2132648"/>
            <a:chExt cx="3843338" cy="3431857"/>
          </a:xfrm>
        </p:grpSpPr>
        <p:sp>
          <p:nvSpPr>
            <p:cNvPr id="9" name="Freeform 9"/>
            <p:cNvSpPr/>
            <p:nvPr/>
          </p:nvSpPr>
          <p:spPr>
            <a:xfrm>
              <a:off x="1399222" y="4611052"/>
              <a:ext cx="9525" cy="762953"/>
            </a:xfrm>
            <a:custGeom>
              <a:avLst/>
              <a:gdLst/>
              <a:ahLst/>
              <a:cxnLst/>
              <a:rect l="l" t="t" r="r" b="b"/>
              <a:pathLst>
                <a:path w="9525" h="762953">
                  <a:moveTo>
                    <a:pt x="0" y="0"/>
                  </a:moveTo>
                  <a:lnTo>
                    <a:pt x="0" y="76295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99222" y="3848100"/>
              <a:ext cx="9525" cy="762953"/>
            </a:xfrm>
            <a:custGeom>
              <a:avLst/>
              <a:gdLst/>
              <a:ahLst/>
              <a:cxnLst/>
              <a:rect l="l" t="t" r="r" b="b"/>
              <a:pathLst>
                <a:path w="9525" h="762953">
                  <a:moveTo>
                    <a:pt x="0" y="0"/>
                  </a:moveTo>
                  <a:lnTo>
                    <a:pt x="0" y="76295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399222" y="308610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29915" y="3848100"/>
              <a:ext cx="9525" cy="762953"/>
            </a:xfrm>
            <a:custGeom>
              <a:avLst/>
              <a:gdLst/>
              <a:ahLst/>
              <a:cxnLst/>
              <a:rect l="l" t="t" r="r" b="b"/>
              <a:pathLst>
                <a:path w="9525" h="762953">
                  <a:moveTo>
                    <a:pt x="0" y="0"/>
                  </a:moveTo>
                  <a:lnTo>
                    <a:pt x="0" y="76295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129915" y="308610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399222" y="2323148"/>
              <a:ext cx="1730693" cy="762952"/>
            </a:xfrm>
            <a:custGeom>
              <a:avLst/>
              <a:gdLst/>
              <a:ahLst/>
              <a:cxnLst/>
              <a:rect l="l" t="t" r="r" b="b"/>
              <a:pathLst>
                <a:path w="1730693" h="762952">
                  <a:moveTo>
                    <a:pt x="1730693" y="0"/>
                  </a:moveTo>
                  <a:lnTo>
                    <a:pt x="0" y="7629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129915" y="2323148"/>
              <a:ext cx="9525" cy="762952"/>
            </a:xfrm>
            <a:custGeom>
              <a:avLst/>
              <a:gdLst/>
              <a:ahLst/>
              <a:cxnLst/>
              <a:rect l="l" t="t" r="r" b="b"/>
              <a:pathLst>
                <a:path w="9525" h="762952">
                  <a:moveTo>
                    <a:pt x="0" y="0"/>
                  </a:moveTo>
                  <a:lnTo>
                    <a:pt x="0" y="7629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129915" y="2323148"/>
              <a:ext cx="1731645" cy="762952"/>
            </a:xfrm>
            <a:custGeom>
              <a:avLst/>
              <a:gdLst/>
              <a:ahLst/>
              <a:cxnLst/>
              <a:rect l="l" t="t" r="r" b="b"/>
              <a:pathLst>
                <a:path w="1731645" h="762952">
                  <a:moveTo>
                    <a:pt x="0" y="0"/>
                  </a:moveTo>
                  <a:lnTo>
                    <a:pt x="1731645" y="7629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208722" y="518350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208722" y="442055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208722" y="365760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208722" y="289560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2939415" y="442055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2939415" y="365760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2939415" y="289560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671060" y="289560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939415" y="213264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374297" y="5317808"/>
              <a:ext cx="498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57495" y="455485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57495" y="379285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57495" y="302990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88188" y="455485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88188" y="379285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88188" y="302990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19833" y="302990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88188" y="226695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64" name="c2-table-1"/>
          <p:cNvGrpSpPr/>
          <p:nvPr/>
        </p:nvGrpSpPr>
        <p:grpSpPr>
          <a:xfrm>
            <a:off x="6032182" y="1941195"/>
            <a:ext cx="5626418" cy="2434590"/>
            <a:chOff x="6032182" y="1941195"/>
            <a:chExt cx="5626418" cy="2434590"/>
          </a:xfrm>
        </p:grpSpPr>
        <p:sp>
          <p:nvSpPr>
            <p:cNvPr id="36" name="Rectangle 36"/>
            <p:cNvSpPr/>
            <p:nvPr/>
          </p:nvSpPr>
          <p:spPr>
            <a:xfrm>
              <a:off x="6032182" y="1941195"/>
              <a:ext cx="5626418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25273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层号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19479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该层顶点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35674" y="2065496"/>
              <a:ext cx="1108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 A 的最少边数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32195" y="24712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32308" y="2471261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620250" y="24712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32182" y="27479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32182" y="275272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32195" y="28770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32308" y="2877026"/>
              <a:ext cx="5758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B、C、D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20250" y="28770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32182" y="31537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132195" y="32827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32308" y="3282791"/>
              <a:ext cx="3374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E、F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20250" y="32827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032182" y="3559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032182" y="356425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32195" y="36885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32308" y="3688556"/>
              <a:ext cx="3374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G、H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20250" y="3688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032182" y="39652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132195" y="40943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32308" y="4094321"/>
              <a:ext cx="592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620250" y="40943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032182" y="1941195"/>
              <a:ext cx="5626418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927532" y="1941195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515475" y="1941195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4" name="c2-card-2"/>
          <p:cNvGrpSpPr/>
          <p:nvPr/>
        </p:nvGrpSpPr>
        <p:grpSpPr>
          <a:xfrm>
            <a:off x="6032182" y="4551045"/>
            <a:ext cx="5626418" cy="1792605"/>
            <a:chOff x="6032182" y="4551045"/>
            <a:chExt cx="5626418" cy="1792605"/>
          </a:xfrm>
        </p:grpSpPr>
        <p:sp>
          <p:nvSpPr>
            <p:cNvPr id="65" name="Rectangle 65"/>
            <p:cNvSpPr/>
            <p:nvPr/>
          </p:nvSpPr>
          <p:spPr>
            <a:xfrm>
              <a:off x="6032182" y="4551045"/>
              <a:ext cx="5626418" cy="1792605"/>
            </a:xfrm>
            <a:prstGeom prst="roundRect">
              <a:avLst>
                <a:gd name="adj" fmla="val 74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041708" y="4684395"/>
              <a:ext cx="47625" cy="152590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62688" y="47434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54128" y="47777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846380" y="4783455"/>
              <a:ext cx="35341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BFS 树上的层号 = 无权图里的最短路径长度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255830" y="5117783"/>
              <a:ext cx="49000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 u 的层号等于从起点到 u 的最少边数。把 I 顺着树往上读：I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→G→E→B→A，正好 4 条边。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256972" y="5673566"/>
              <a:ext cx="42225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前提是每条边代价相同，边权不等时要用第 15 讲的 Dijkstra。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271260" y="59969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427280" y="5940742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迷宫最少步数、几度人脉、棋盘最少走法，本质都是这条性质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74495" cy="909257"/>
            <a:chOff x="520446" y="342900"/>
            <a:chExt cx="557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460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19" y="407194"/>
              <a:ext cx="2550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广度优先搜索 BFS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7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BFS 的算法步骤：顶点入队时就访问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373722" cy="264033"/>
            <a:chOff x="526542" y="1545907"/>
            <a:chExt cx="737372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373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和非递归 DFS 只差一个容器，但访问的时机不同：DFS 在弹栈时访问，BFS 在入队时访问。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38338"/>
            <a:ext cx="5019167" cy="2475071"/>
            <a:chOff x="533400" y="1938338"/>
            <a:chExt cx="5019167" cy="2475071"/>
          </a:xfrm>
        </p:grpSpPr>
        <p:sp>
          <p:nvSpPr>
            <p:cNvPr id="9" name="Rectangle 9"/>
            <p:cNvSpPr/>
            <p:nvPr/>
          </p:nvSpPr>
          <p:spPr>
            <a:xfrm>
              <a:off x="666750" y="2081212"/>
              <a:ext cx="19050" cy="19554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383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52126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5950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10419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1780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89382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67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196977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237899"/>
              <a:ext cx="40069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 visited 置 0；访问起点 v，置 visited[v] = 1，v 入队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55270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82082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队列为空则算法结束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13563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出队并展开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403759"/>
              <a:ext cx="460578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出队一个顶点 v，考察它的每个邻接顶点 w；若 w 未访问，则访问 w、置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visited[w] = 1、w 入队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392620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回到第二步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419338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重复出队与展开，直到队列为空</a:t>
              </a:r>
            </a:p>
          </p:txBody>
        </p:sp>
      </p:grpSp>
      <p:grpSp>
        <p:nvGrpSpPr>
          <p:cNvPr id="32" name="c1-callout-2"/>
          <p:cNvGrpSpPr/>
          <p:nvPr/>
        </p:nvGrpSpPr>
        <p:grpSpPr>
          <a:xfrm>
            <a:off x="533400" y="4577715"/>
            <a:ext cx="5410200" cy="1123950"/>
            <a:chOff x="533400" y="4577715"/>
            <a:chExt cx="5410200" cy="1123950"/>
          </a:xfrm>
        </p:grpSpPr>
        <p:sp>
          <p:nvSpPr>
            <p:cNvPr id="27" name="Rectangle 27"/>
            <p:cNvSpPr/>
            <p:nvPr/>
          </p:nvSpPr>
          <p:spPr>
            <a:xfrm>
              <a:off x="533400" y="4577715"/>
              <a:ext cx="5410200" cy="1123950"/>
            </a:xfrm>
            <a:prstGeom prst="roundRect">
              <a:avLst>
                <a:gd name="adj" fmla="val 1016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039680"/>
              <a:ext cx="200023" cy="200023"/>
              <a:chOff x="738188" y="5039680"/>
              <a:chExt cx="200023" cy="2000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03968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1538" y="51063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892" y="4920615"/>
              <a:ext cx="4452985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第三步里三件事的顺序固定：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访问、置 1、入队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，三者必须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一起做完，缺一个就会重复入队。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6248400" y="1928812"/>
            <a:ext cx="5410200" cy="2400300"/>
            <a:chOff x="6248400" y="1928812"/>
            <a:chExt cx="5410200" cy="2400300"/>
          </a:xfrm>
        </p:grpSpPr>
        <p:sp>
          <p:nvSpPr>
            <p:cNvPr id="33" name="Rectangle 33"/>
            <p:cNvSpPr/>
            <p:nvPr/>
          </p:nvSpPr>
          <p:spPr>
            <a:xfrm>
              <a:off x="6248400" y="1928812"/>
              <a:ext cx="5410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66128" y="20502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79436" y="2050256"/>
              <a:ext cx="789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非递归 DFS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87136" y="205025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BFS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45555" y="24503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43812" y="24503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00260" y="24503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27241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27289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5555" y="28503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取出方式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43812" y="28503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后进先出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00260" y="28503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先进先出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31242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5555" y="32504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何时访问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43812" y="32504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弹出时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00260" y="32504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放入时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35242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48400" y="35290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45555" y="36504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同一顶点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43812" y="36504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可能进栈多次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612630" y="3538538"/>
              <a:ext cx="203644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700260" y="36504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只进队一次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48400" y="39243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45555" y="4050506"/>
              <a:ext cx="8523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队/栈中元素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43812" y="4050506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 2e 个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612630" y="3938588"/>
              <a:ext cx="203644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700260" y="4050506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最多 n 个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248400" y="1928812"/>
              <a:ext cx="5410200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7541895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598342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c2-card-2"/>
          <p:cNvGrpSpPr/>
          <p:nvPr/>
        </p:nvGrpSpPr>
        <p:grpSpPr>
          <a:xfrm>
            <a:off x="6248400" y="4498658"/>
            <a:ext cx="5410200" cy="1202055"/>
            <a:chOff x="6248400" y="4498658"/>
            <a:chExt cx="5410200" cy="1202055"/>
          </a:xfrm>
        </p:grpSpPr>
        <p:sp>
          <p:nvSpPr>
            <p:cNvPr id="64" name="Rectangle 64"/>
            <p:cNvSpPr/>
            <p:nvPr/>
          </p:nvSpPr>
          <p:spPr>
            <a:xfrm>
              <a:off x="6248400" y="4498658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257925" y="4632008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73190" y="4685348"/>
              <a:ext cx="174783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18333" y="4718209"/>
              <a:ext cx="16585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 BFS 能在入队时访问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328470" y="472059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因为它提前把标记做了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66332" y="5046345"/>
              <a:ext cx="47028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入队的同时就置 visited = 1，后面再有顶点想把它入队会被挡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住。DFS 若也这么写，就变成了另一种遍历次序。</a:t>
              </a:r>
            </a:p>
          </p:txBody>
        </p:sp>
      </p:grpSp>
      <p:grpSp>
        <p:nvGrpSpPr>
          <p:cNvPr id="7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1" name="Rectangle 7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0892" y="6028373"/>
              <a:ext cx="80010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写完代码自查一句：队列里最多 n 个元素，如果跑出来超过 n，一定是漏了入队前的 visited 判断。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514809" cy="909257"/>
            <a:chOff x="520446" y="342900"/>
            <a:chExt cx="351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460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19" y="407194"/>
              <a:ext cx="2550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广度优先搜索 BFS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51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BFS 的算法实现与代价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493087" cy="264033"/>
            <a:chOff x="526542" y="1545907"/>
            <a:chExt cx="549308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4930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队列按第 4 讲的循环队列或链式队列实现，这里直接声明对象使用。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6059805" cy="2985135"/>
            <a:chOff x="533400" y="1928812"/>
            <a:chExt cx="6059805" cy="298513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2985135"/>
            </a:xfrm>
            <a:prstGeom prst="roundRect">
              <a:avLst>
                <a:gd name="adj" fmla="val 319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4826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BFS（邻接表存图）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435"/>
              <a:ext cx="3526409" cy="24822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BFS(Vertex *Head,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v,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visited[])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Queue Q;               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队列用第 4 讲的实现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visited[i] = 0;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visit(v); visited[v] = 1;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起点先访问再入队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Q.Enqueue(v);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(!Q.Empty())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v = Q.Dequeue();   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每个顶点恰出队一次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 *p = Head[v].adjacent; p; p = p-&gt;link)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(visited[p-&gt;VerAdj] == 0)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visit(p-&gt;VerAdj);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visited[p-&gt;VerAdj] = 1;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Q.Enqueue(p-&gt;VerAdj);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5083492"/>
            <a:ext cx="6059805" cy="1263015"/>
            <a:chOff x="533400" y="5083492"/>
            <a:chExt cx="6059805" cy="1263015"/>
          </a:xfrm>
        </p:grpSpPr>
        <p:sp>
          <p:nvSpPr>
            <p:cNvPr id="13" name="Rectangle 13"/>
            <p:cNvSpPr/>
            <p:nvPr/>
          </p:nvSpPr>
          <p:spPr>
            <a:xfrm>
              <a:off x="533400" y="5083492"/>
              <a:ext cx="6059805" cy="1263015"/>
            </a:xfrm>
            <a:prstGeom prst="roundRect">
              <a:avLst>
                <a:gd name="adj" fmla="val 105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5216842"/>
              <a:ext cx="47625" cy="99631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8190" y="527018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9660" y="530304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对照上一页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97164" y="5305425"/>
              <a:ext cx="19212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和非递归 DFS 逐行对照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6762" y="568737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2782" y="5631180"/>
              <a:ext cx="44738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Stack 换成 Queue、Pop 换成 Dequeue，其余一行不改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6762" y="598741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2782" y="5931218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访问动作从弹出之后挪到了放入之前，这是两者次序不同的根源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898005" y="1928812"/>
            <a:ext cx="4760595" cy="1545908"/>
            <a:chOff x="6898005" y="1928812"/>
            <a:chExt cx="4760595" cy="1545908"/>
          </a:xfrm>
        </p:grpSpPr>
        <p:sp>
          <p:nvSpPr>
            <p:cNvPr id="23" name="Rectangle 23"/>
            <p:cNvSpPr/>
            <p:nvPr/>
          </p:nvSpPr>
          <p:spPr>
            <a:xfrm>
              <a:off x="6898005" y="1928812"/>
              <a:ext cx="4760595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907530" y="2062162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122795" y="211550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207364" y="214836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代价拆分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36992" y="2150745"/>
              <a:ext cx="15577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 DFS 是同一笔账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131367" y="253269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87387" y="2476500"/>
              <a:ext cx="36302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while 循环执行 n 次：每个顶点恰好出队一次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131367" y="283273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87387" y="2776538"/>
              <a:ext cx="38120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内层 for 把顶点 v 的边链表扫一遍，代价 d(v)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131367" y="313277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87387" y="3076575"/>
              <a:ext cx="33475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合计 Σ(1 + d(i)) = n + 2e，即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 + e)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898005" y="3644265"/>
            <a:ext cx="4760595" cy="1803082"/>
            <a:chOff x="6898005" y="3644265"/>
            <a:chExt cx="4760595" cy="1803082"/>
          </a:xfrm>
        </p:grpSpPr>
        <p:sp>
          <p:nvSpPr>
            <p:cNvPr id="35" name="Rectangle 35"/>
            <p:cNvSpPr/>
            <p:nvPr/>
          </p:nvSpPr>
          <p:spPr>
            <a:xfrm>
              <a:off x="6898005" y="3644265"/>
              <a:ext cx="4760595" cy="1803082"/>
            </a:xfrm>
            <a:prstGeom prst="roundRect">
              <a:avLst>
                <a:gd name="adj" fmla="val 73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907530" y="3777615"/>
              <a:ext cx="47625" cy="153638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122795" y="383095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214514" y="38638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88389" y="3866198"/>
              <a:ext cx="20830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 O(n+e) 的三个条件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131367" y="424815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87387" y="4191952"/>
              <a:ext cx="3918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邻接表存图；换成邻接矩阵是 </a:t>
              </a:r>
              <a:r>
                <a:rPr lang="en-US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O(n²)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（下一页）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131367" y="454818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87387" y="4491990"/>
              <a:ext cx="41669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入队、出队都是 O(1)，循环队列或链式队列都满足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131367" y="484822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87387" y="4792028"/>
              <a:ext cx="39827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队列容量要能放下 n 个顶点，用循环队列时别忘了牺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牲的那一个单元</a:t>
              </a:r>
            </a:p>
          </p:txBody>
        </p:sp>
      </p:grpSp>
      <p:grpSp>
        <p:nvGrpSpPr>
          <p:cNvPr id="53" name="c2-callout-3"/>
          <p:cNvGrpSpPr/>
          <p:nvPr/>
        </p:nvGrpSpPr>
        <p:grpSpPr>
          <a:xfrm>
            <a:off x="6898005" y="5616892"/>
            <a:ext cx="4760595" cy="729615"/>
            <a:chOff x="6898005" y="5616892"/>
            <a:chExt cx="4760595" cy="729615"/>
          </a:xfrm>
        </p:grpSpPr>
        <p:sp>
          <p:nvSpPr>
            <p:cNvPr id="47" name="Rectangle 47"/>
            <p:cNvSpPr/>
            <p:nvPr/>
          </p:nvSpPr>
          <p:spPr>
            <a:xfrm>
              <a:off x="6898005" y="5616892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102793" y="5881688"/>
              <a:ext cx="200026" cy="200026"/>
              <a:chOff x="7102793" y="5881688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102793" y="58816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02805" y="59483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191693" y="59817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7405497" y="5763578"/>
              <a:ext cx="387134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额外空间 O(n)：visited 数组 n 个，队列最多同时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 n 个顶点。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231214" cy="909257"/>
            <a:chOff x="520446" y="342900"/>
            <a:chExt cx="523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460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19" y="407194"/>
              <a:ext cx="2550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广度优先搜索 BFS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23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例题：BFS 过程中队列的逐步变化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118293" cy="264033"/>
            <a:chOff x="526542" y="1545907"/>
            <a:chExt cx="1011829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1182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 个顶点的无向图，邻接表为 0→1,2 ｜ 1→0,3,4 ｜ 2→0,5,6 ｜ 3→1,7 ｜ 4→1,7 ｜ 5→2,7 ｜ 6→2,7 ｜ 7→3,4,5,6，起点 0。</a:t>
              </a:r>
            </a:p>
          </p:txBody>
        </p:sp>
      </p:grpSp>
      <p:grpSp>
        <p:nvGrpSpPr>
          <p:cNvPr id="35" name="c1-graph-1"/>
          <p:cNvGrpSpPr/>
          <p:nvPr/>
        </p:nvGrpSpPr>
        <p:grpSpPr>
          <a:xfrm>
            <a:off x="741998" y="2043112"/>
            <a:ext cx="3910964" cy="3115628"/>
            <a:chOff x="741998" y="2043112"/>
            <a:chExt cx="3910964" cy="3115628"/>
          </a:xfrm>
        </p:grpSpPr>
        <p:sp>
          <p:nvSpPr>
            <p:cNvPr id="9" name="Freeform 9"/>
            <p:cNvSpPr/>
            <p:nvPr/>
          </p:nvSpPr>
          <p:spPr>
            <a:xfrm>
              <a:off x="1842135" y="2352675"/>
              <a:ext cx="715328" cy="660083"/>
            </a:xfrm>
            <a:custGeom>
              <a:avLst/>
              <a:gdLst/>
              <a:ahLst/>
              <a:cxnLst/>
              <a:rect l="l" t="t" r="r" b="b"/>
              <a:pathLst>
                <a:path w="715328" h="660083">
                  <a:moveTo>
                    <a:pt x="715328" y="0"/>
                  </a:moveTo>
                  <a:lnTo>
                    <a:pt x="0" y="66008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37498" y="2352675"/>
              <a:ext cx="715328" cy="660083"/>
            </a:xfrm>
            <a:custGeom>
              <a:avLst/>
              <a:gdLst/>
              <a:ahLst/>
              <a:cxnLst/>
              <a:rect l="l" t="t" r="r" b="b"/>
              <a:pathLst>
                <a:path w="715328" h="660083">
                  <a:moveTo>
                    <a:pt x="0" y="0"/>
                  </a:moveTo>
                  <a:lnTo>
                    <a:pt x="715328" y="66008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041082" y="3290888"/>
              <a:ext cx="542925" cy="684847"/>
            </a:xfrm>
            <a:custGeom>
              <a:avLst/>
              <a:gdLst/>
              <a:ahLst/>
              <a:cxnLst/>
              <a:rect l="l" t="t" r="r" b="b"/>
              <a:pathLst>
                <a:path w="542925" h="684847">
                  <a:moveTo>
                    <a:pt x="542925" y="0"/>
                  </a:moveTo>
                  <a:lnTo>
                    <a:pt x="0" y="6848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772602" y="3318510"/>
              <a:ext cx="248602" cy="629603"/>
            </a:xfrm>
            <a:custGeom>
              <a:avLst/>
              <a:gdLst/>
              <a:ahLst/>
              <a:cxnLst/>
              <a:rect l="l" t="t" r="r" b="b"/>
              <a:pathLst>
                <a:path w="248602" h="629603">
                  <a:moveTo>
                    <a:pt x="0" y="0"/>
                  </a:moveTo>
                  <a:lnTo>
                    <a:pt x="248602" y="6296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373755" y="3318510"/>
              <a:ext cx="248603" cy="629603"/>
            </a:xfrm>
            <a:custGeom>
              <a:avLst/>
              <a:gdLst/>
              <a:ahLst/>
              <a:cxnLst/>
              <a:rect l="l" t="t" r="r" b="b"/>
              <a:pathLst>
                <a:path w="248603" h="629603">
                  <a:moveTo>
                    <a:pt x="248603" y="0"/>
                  </a:moveTo>
                  <a:lnTo>
                    <a:pt x="0" y="6296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810952" y="3290888"/>
              <a:ext cx="542925" cy="684847"/>
            </a:xfrm>
            <a:custGeom>
              <a:avLst/>
              <a:gdLst/>
              <a:ahLst/>
              <a:cxnLst/>
              <a:rect l="l" t="t" r="r" b="b"/>
              <a:pathLst>
                <a:path w="542925" h="684847">
                  <a:moveTo>
                    <a:pt x="0" y="0"/>
                  </a:moveTo>
                  <a:lnTo>
                    <a:pt x="542925" y="6848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94422" y="4208145"/>
              <a:ext cx="1431607" cy="687705"/>
            </a:xfrm>
            <a:custGeom>
              <a:avLst/>
              <a:gdLst/>
              <a:ahLst/>
              <a:cxnLst/>
              <a:rect l="l" t="t" r="r" b="b"/>
              <a:pathLst>
                <a:path w="1431607" h="687705">
                  <a:moveTo>
                    <a:pt x="0" y="0"/>
                  </a:moveTo>
                  <a:lnTo>
                    <a:pt x="1431607" y="6877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202180" y="4280535"/>
              <a:ext cx="384810" cy="541973"/>
            </a:xfrm>
            <a:custGeom>
              <a:avLst/>
              <a:gdLst/>
              <a:ahLst/>
              <a:cxnLst/>
              <a:rect l="l" t="t" r="r" b="b"/>
              <a:pathLst>
                <a:path w="384810" h="541973">
                  <a:moveTo>
                    <a:pt x="0" y="0"/>
                  </a:moveTo>
                  <a:lnTo>
                    <a:pt x="384810" y="5419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807970" y="4280535"/>
              <a:ext cx="384810" cy="541973"/>
            </a:xfrm>
            <a:custGeom>
              <a:avLst/>
              <a:gdLst/>
              <a:ahLst/>
              <a:cxnLst/>
              <a:rect l="l" t="t" r="r" b="b"/>
              <a:pathLst>
                <a:path w="384810" h="541973">
                  <a:moveTo>
                    <a:pt x="384810" y="0"/>
                  </a:moveTo>
                  <a:lnTo>
                    <a:pt x="0" y="5419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868930" y="4208145"/>
              <a:ext cx="1431608" cy="687705"/>
            </a:xfrm>
            <a:custGeom>
              <a:avLst/>
              <a:gdLst/>
              <a:ahLst/>
              <a:cxnLst/>
              <a:rect l="l" t="t" r="r" b="b"/>
              <a:pathLst>
                <a:path w="1431608" h="687705">
                  <a:moveTo>
                    <a:pt x="1431608" y="0"/>
                  </a:moveTo>
                  <a:lnTo>
                    <a:pt x="0" y="6877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516505" y="2043112"/>
              <a:ext cx="361950" cy="3619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521142" y="2961322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3511868" y="2961322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741998" y="3944302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910715" y="3944302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3122295" y="3944302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291012" y="3944302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2516505" y="4796790"/>
              <a:ext cx="361950" cy="3619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654433" y="216265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59070" y="308086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49795" y="308086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9925" y="406479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48643" y="406479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260223" y="406479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28940" y="406479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54433" y="491728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79" name="c2-table-1"/>
          <p:cNvGrpSpPr/>
          <p:nvPr/>
        </p:nvGrpSpPr>
        <p:grpSpPr>
          <a:xfrm>
            <a:off x="5161407" y="1928812"/>
            <a:ext cx="6497193" cy="3696367"/>
            <a:chOff x="5161407" y="1928812"/>
            <a:chExt cx="6497193" cy="3696367"/>
          </a:xfrm>
        </p:grpSpPr>
        <p:sp>
          <p:nvSpPr>
            <p:cNvPr id="36" name="Rectangle 36"/>
            <p:cNvSpPr/>
            <p:nvPr/>
          </p:nvSpPr>
          <p:spPr>
            <a:xfrm>
              <a:off x="5166360" y="1928812"/>
              <a:ext cx="6492240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538788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20281" y="2045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访问并入队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23236" y="204597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队列内容（左端是队头）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61038" y="2426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00216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47126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166360" y="268700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166360" y="2691765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61038" y="2808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00216" y="2808923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47126" y="2808923"/>
              <a:ext cx="208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166360" y="306800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61038" y="3189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00216" y="3189923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3、4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47126" y="3189923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2 3 4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166360" y="344900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166360" y="3453765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261038" y="3571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00216" y="3571875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5、6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47126" y="3571875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3 4 5 6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166360" y="383095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261038" y="3952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300216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247126" y="3952875"/>
              <a:ext cx="4488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4 5 6 7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166360" y="421195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166360" y="4216718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261038" y="4333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300216" y="433387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247126" y="4333875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5 6 7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166360" y="459390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261038" y="4715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300216" y="471582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47126" y="4715828"/>
              <a:ext cx="208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6 7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166360" y="497490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166360" y="4979670"/>
              <a:ext cx="649224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261038" y="5096828"/>
              <a:ext cx="315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6、7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300216" y="509682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247126" y="50968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空，算法结束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166360" y="1928812"/>
              <a:ext cx="6492240" cy="3432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200775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8147685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161407" y="5434489"/>
              <a:ext cx="50231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遍历序列 0 1 2 3 4 5 6 7；顶点 7 由 3 带入队后，4、5、6 再看到它都被 visited 挡住</a:t>
              </a:r>
            </a:p>
          </p:txBody>
        </p:sp>
      </p:grpSp>
      <p:grpSp>
        <p:nvGrpSpPr>
          <p:cNvPr id="8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0" name="Rectangle 8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1041273" y="6039326"/>
              <a:ext cx="83612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更正：源课件第 49 页代码里的 printf(“%d ”, …) 用的是中文弯引号，C 编译器不接受，应写成半角双引号。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92533" cy="909257"/>
            <a:chOff x="520446" y="342900"/>
            <a:chExt cx="60925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460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19" y="407194"/>
              <a:ext cx="2550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广度优先搜索 BFS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925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换成邻接矩阵存图，BFS 就变成 O(n²)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810680" cy="264033"/>
            <a:chOff x="526542" y="1545907"/>
            <a:chExt cx="681068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8106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算法框架一个字没改，只有“取 v 的邻接顶点”这一步从扫链表变成扫矩阵的第 v 行。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6059805" cy="2751772"/>
            <a:chOff x="533400" y="1928812"/>
            <a:chExt cx="6059805" cy="275177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2751772"/>
            </a:xfrm>
            <a:prstGeom prst="roundRect">
              <a:avLst>
                <a:gd name="adj" fmla="val 346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21423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BFS（邻接矩阵存图，已更正）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816"/>
              <a:ext cx="3383661" cy="2255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BFS(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G[][N],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visited[])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{                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源课件这里漏了左花括号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Queue Q;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visited[i] = 0;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visit(v); visited[v] = 1;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Q.Enqueue(v);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(!Q.Empty())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v = Q.Dequeue();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 = 0; w &lt; n; w++)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扫矩阵第 v 行，O(n)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(G[v][w] == 1 &amp;&amp; visited[w] == 0)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visit(w); visited[w] = 1;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Q.Enqueue(w);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2" name="c1-table-2"/>
          <p:cNvGrpSpPr/>
          <p:nvPr/>
        </p:nvGrpSpPr>
        <p:grpSpPr>
          <a:xfrm>
            <a:off x="533400" y="4845368"/>
            <a:ext cx="6059805" cy="1143952"/>
            <a:chOff x="533400" y="4845368"/>
            <a:chExt cx="6059805" cy="1143952"/>
          </a:xfrm>
        </p:grpSpPr>
        <p:sp>
          <p:nvSpPr>
            <p:cNvPr id="13" name="Rectangle 13"/>
            <p:cNvSpPr/>
            <p:nvPr/>
          </p:nvSpPr>
          <p:spPr>
            <a:xfrm>
              <a:off x="533400" y="4845368"/>
              <a:ext cx="605980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72073" y="49625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30276" y="4962525"/>
              <a:ext cx="7990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e（稀疏图）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83161" y="4962525"/>
              <a:ext cx="724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邻接表 n+e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70671" y="4962525"/>
              <a:ext cx="783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邻接矩阵 n²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8078" y="5344478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1 000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97724" y="5344478"/>
              <a:ext cx="364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3 000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52191" y="5344478"/>
              <a:ext cx="364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4 000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27626" y="5344478"/>
              <a:ext cx="6396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1 000 000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56035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5608320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5725478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10 000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97724" y="5725478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30 000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52191" y="5725478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40 000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27626" y="5725478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100 000 000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845368"/>
              <a:ext cx="6059805" cy="11439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498282" y="4845368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2952750" y="4845368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528185" y="4845368"/>
              <a:ext cx="9525" cy="11439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2-card-1"/>
          <p:cNvGrpSpPr/>
          <p:nvPr/>
        </p:nvGrpSpPr>
        <p:grpSpPr>
          <a:xfrm>
            <a:off x="6898005" y="1928812"/>
            <a:ext cx="4760595" cy="1444942"/>
            <a:chOff x="6898005" y="1928812"/>
            <a:chExt cx="4760595" cy="1444942"/>
          </a:xfrm>
        </p:grpSpPr>
        <p:sp>
          <p:nvSpPr>
            <p:cNvPr id="33" name="Rectangle 33"/>
            <p:cNvSpPr/>
            <p:nvPr/>
          </p:nvSpPr>
          <p:spPr>
            <a:xfrm>
              <a:off x="6898005" y="1928812"/>
              <a:ext cx="4760595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907530" y="2062162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117080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08799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83056" y="2149316"/>
              <a:ext cx="2043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50 页的两处问题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126605" y="251841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82053" y="2465546"/>
              <a:ext cx="41398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函数头后面缺一个左花括号 `{`，整段代码编译不过。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126605" y="280320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82053" y="2751296"/>
              <a:ext cx="39469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参数写的是 `int vis[]`，函数体里用的却是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`visited[]`，两个名字对不上。上面统一成 visited。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898005" y="3538538"/>
            <a:ext cx="4760595" cy="1600200"/>
            <a:chOff x="6898005" y="3538538"/>
            <a:chExt cx="4760595" cy="1600200"/>
          </a:xfrm>
        </p:grpSpPr>
        <p:sp>
          <p:nvSpPr>
            <p:cNvPr id="43" name="Rectangle 43"/>
            <p:cNvSpPr/>
            <p:nvPr/>
          </p:nvSpPr>
          <p:spPr>
            <a:xfrm>
              <a:off x="6898005" y="3538538"/>
              <a:ext cx="4760595" cy="16002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907530" y="3671888"/>
              <a:ext cx="47625" cy="13335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117080" y="371951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08799" y="375237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83056" y="3759041"/>
              <a:ext cx="1823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 与图的疏密无关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10603" y="4076224"/>
              <a:ext cx="40769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外层出队 n 次，每次内层扫 n 列，总共 n² 次判断。哪怕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整张图一条边都没有，这 n² 次判断也一次不少。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11746" y="4600575"/>
              <a:ext cx="395116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稀疏图（e ≈ n）时邻接表比邻接矩阵快一个数量级：n = 1000、e =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3000 时是 4000 与 1000000 之比。</a:t>
              </a:r>
            </a:p>
          </p:txBody>
        </p:sp>
      </p:grpSp>
      <p:grpSp>
        <p:nvGrpSpPr>
          <p:cNvPr id="56" name="c2-callout-3"/>
          <p:cNvGrpSpPr/>
          <p:nvPr/>
        </p:nvGrpSpPr>
        <p:grpSpPr>
          <a:xfrm>
            <a:off x="6898005" y="5303520"/>
            <a:ext cx="4760595" cy="702945"/>
            <a:chOff x="6898005" y="5303520"/>
            <a:chExt cx="4760595" cy="702945"/>
          </a:xfrm>
        </p:grpSpPr>
        <p:sp>
          <p:nvSpPr>
            <p:cNvPr id="51" name="Rectangle 51"/>
            <p:cNvSpPr/>
            <p:nvPr/>
          </p:nvSpPr>
          <p:spPr>
            <a:xfrm>
              <a:off x="6898005" y="5303520"/>
              <a:ext cx="4760595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102793" y="5554982"/>
              <a:ext cx="200023" cy="200023"/>
              <a:chOff x="7102793" y="5554982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102793" y="55549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236143" y="56216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405878" y="5447824"/>
              <a:ext cx="38900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选存储结构的依据是 e 与 n² 的关系，不是算法本身。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算法两种写法完全同构。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998592" cy="909257"/>
            <a:chOff x="520446" y="342900"/>
            <a:chExt cx="29985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4604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19" y="407194"/>
              <a:ext cx="2550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广度优先搜索 BFS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9985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DFS 与 BFS 的对照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921246" cy="293370"/>
            <a:chOff x="525780" y="1548765"/>
            <a:chExt cx="6921246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9212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两者的代价完全同阶，选哪一个取决于要解决的问题需要“深”还是需要“层”。</a:t>
              </a:r>
            </a:p>
          </p:txBody>
        </p:sp>
      </p:grpSp>
      <p:grpSp>
        <p:nvGrpSpPr>
          <p:cNvPr id="53" name="c1-table-1"/>
          <p:cNvGrpSpPr/>
          <p:nvPr/>
        </p:nvGrpSpPr>
        <p:grpSpPr>
          <a:xfrm>
            <a:off x="533400" y="1954530"/>
            <a:ext cx="6059805" cy="4298632"/>
            <a:chOff x="533400" y="1954530"/>
            <a:chExt cx="6059805" cy="429863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05980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51738" y="208597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44074" y="2085975"/>
              <a:ext cx="10078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深度优先 DFS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07227" y="2085975"/>
              <a:ext cx="10078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广度优先 BFS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8746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推进方式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72246" y="251555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沿一条路走到底再回退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35399" y="251555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一层一层向外推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098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14638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8746" y="29460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辅助结构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72246" y="294608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递归栈或显式栈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35399" y="294608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24040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746" y="337661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是否回溯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72246" y="337661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35399" y="337661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6699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674745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8746" y="38061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访问时机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72246" y="380619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弹栈时（非递归版）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35399" y="380619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入队时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1005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8746" y="4236720"/>
              <a:ext cx="774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时间（邻接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876425" y="4114800"/>
              <a:ext cx="2344102" cy="6248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972246" y="4343400"/>
              <a:ext cx="6870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+ e)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239578" y="4114800"/>
              <a:ext cx="2344102" cy="6248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335399" y="4343400"/>
              <a:ext cx="6870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+ e)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74440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4749165"/>
              <a:ext cx="605980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8746" y="4879658"/>
              <a:ext cx="926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时间（邻接矩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阵）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972246" y="4986338"/>
              <a:ext cx="502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335399" y="4986338"/>
              <a:ext cx="502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38734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8746" y="552354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额外空间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972246" y="5523548"/>
              <a:ext cx="15055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O(n)；显式栈 O(e)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335399" y="5523548"/>
              <a:ext cx="410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581787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3400" y="5822632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38746" y="595407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生成树形状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972246" y="595407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又高又窄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335399" y="595407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又矮又宽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1954530"/>
              <a:ext cx="6059805" cy="42976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862138" y="1954530"/>
              <a:ext cx="9525" cy="42976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225290" y="1954530"/>
              <a:ext cx="9525" cy="42976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8" name="c2-compare-1"/>
          <p:cNvGrpSpPr/>
          <p:nvPr/>
        </p:nvGrpSpPr>
        <p:grpSpPr>
          <a:xfrm>
            <a:off x="6898005" y="1954530"/>
            <a:ext cx="4760595" cy="3038475"/>
            <a:chOff x="6898005" y="1954530"/>
            <a:chExt cx="4760595" cy="3038475"/>
          </a:xfrm>
        </p:grpSpPr>
        <p:sp>
          <p:nvSpPr>
            <p:cNvPr id="54" name="Rectangle 54"/>
            <p:cNvSpPr/>
            <p:nvPr/>
          </p:nvSpPr>
          <p:spPr>
            <a:xfrm>
              <a:off x="6898005" y="1954530"/>
              <a:ext cx="2132648" cy="3038475"/>
            </a:xfrm>
            <a:prstGeom prst="roundRect">
              <a:avLst>
                <a:gd name="adj" fmla="val 62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907530" y="2087880"/>
              <a:ext cx="47625" cy="27717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132701" y="2181701"/>
              <a:ext cx="13838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这些问题用 DFS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147560" y="2580323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304151" y="2520791"/>
              <a:ext cx="14571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连通分量计数、判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断两点是否可达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147560" y="31718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304151" y="3112294"/>
              <a:ext cx="14571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判断有没有环、找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出所有路径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147560" y="376332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304151" y="3703796"/>
              <a:ext cx="14571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拓扑排序、关键路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径（第 14 讲）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147560" y="435483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304151" y="4295299"/>
              <a:ext cx="14571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需要在回溯时撤销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标记的搜索题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525952" y="1954530"/>
              <a:ext cx="2132648" cy="3038475"/>
            </a:xfrm>
            <a:prstGeom prst="roundRect">
              <a:avLst>
                <a:gd name="adj" fmla="val 62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9535478" y="2087880"/>
              <a:ext cx="47625" cy="277177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760648" y="2181701"/>
              <a:ext cx="13838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这些问题用 BFS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9775508" y="2580323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932098" y="2520791"/>
              <a:ext cx="12768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无权图的最少步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数、最少换乘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9775508" y="31718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932098" y="3112294"/>
              <a:ext cx="14571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按层输出、求各顶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点到起点的距离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9775508" y="376332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932098" y="3703796"/>
              <a:ext cx="14571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判断二分图、逐层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扩散的模拟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9775508" y="435483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932098" y="4295299"/>
              <a:ext cx="14571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状态空间搜索里求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最短解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9078278" y="3273742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131618" y="34080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选型</a:t>
              </a:r>
            </a:p>
          </p:txBody>
        </p:sp>
      </p:grpSp>
      <p:grpSp>
        <p:nvGrpSpPr>
          <p:cNvPr id="85" name="c2-callout-2"/>
          <p:cNvGrpSpPr/>
          <p:nvPr/>
        </p:nvGrpSpPr>
        <p:grpSpPr>
          <a:xfrm>
            <a:off x="6898005" y="5177790"/>
            <a:ext cx="4760595" cy="1074420"/>
            <a:chOff x="6898005" y="5177790"/>
            <a:chExt cx="4760595" cy="1074420"/>
          </a:xfrm>
        </p:grpSpPr>
        <p:sp>
          <p:nvSpPr>
            <p:cNvPr id="79" name="Rectangle 79"/>
            <p:cNvSpPr/>
            <p:nvPr/>
          </p:nvSpPr>
          <p:spPr>
            <a:xfrm>
              <a:off x="6898005" y="5177790"/>
              <a:ext cx="4760595" cy="1074420"/>
            </a:xfrm>
            <a:prstGeom prst="roundRect">
              <a:avLst>
                <a:gd name="adj" fmla="val 1063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102793" y="5614988"/>
              <a:ext cx="200026" cy="200026"/>
              <a:chOff x="7102793" y="5614988"/>
              <a:chExt cx="200026" cy="200026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7102793" y="5614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7202805" y="5681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7191693" y="5715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7405116" y="5484971"/>
              <a:ext cx="38016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连通分量、可达性、判环这三类问题两种遍历都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能做，换成 BFS 只需把栈换成队列。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13376" cy="3351847"/>
            <a:chOff x="667512" y="1835468"/>
            <a:chExt cx="491337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图遍历的应用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连通分量、两点间路径、无向图判环、有向图判环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连通性判定与并查集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路径的搜索与回溯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无向图判环要记前驱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有向图判环要记三种状态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图遍历的应用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应用一：判断无向图是否连通及连通分量数目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794706" cy="278702"/>
            <a:chOff x="526161" y="1547336"/>
            <a:chExt cx="779470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7947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谷歌、微软、苹果、英特尔面试题。方案一直接套用第 13 页的驱动循环，只加一个计数器。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5626418" cy="2268855"/>
            <a:chOff x="533400" y="1941195"/>
            <a:chExt cx="5626418" cy="226885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626418" cy="2268855"/>
            </a:xfrm>
            <a:prstGeom prst="roundRect">
              <a:avLst>
                <a:gd name="adj" fmla="val 41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9988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方案一 DFS 计数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53342"/>
              <a:ext cx="3703193" cy="17735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Components(Vertex *Head,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visited[])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cnt = 0;    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连通分量数目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visited[i] = 0;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(visited[i] == 0) 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DFS(Head, i, visited);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遍历一个连通分量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cnt++;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cnt;     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cnt == 1 即为连通图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385310"/>
            <a:ext cx="5626418" cy="1226820"/>
            <a:chOff x="533400" y="4385310"/>
            <a:chExt cx="5626418" cy="1226820"/>
          </a:xfrm>
        </p:grpSpPr>
        <p:sp>
          <p:nvSpPr>
            <p:cNvPr id="13" name="Rectangle 13"/>
            <p:cNvSpPr/>
            <p:nvPr/>
          </p:nvSpPr>
          <p:spPr>
            <a:xfrm>
              <a:off x="533400" y="4385310"/>
              <a:ext cx="5626418" cy="1226820"/>
            </a:xfrm>
            <a:prstGeom prst="roundRect">
              <a:avLst>
                <a:gd name="adj" fmla="val 1087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457771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244" y="461200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76197" y="4617720"/>
              <a:ext cx="3496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每调用一次 DFS，恰好遍历完一个连通分量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4952048"/>
              <a:ext cx="50029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DFS(i) 会把 i 所在分量的顶点全部置 1，外层循环再也不会为这个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分量第二次调用 DFS；而不同分量之间没有边，DFS 也跨不过去。</a:t>
              </a:r>
            </a:p>
          </p:txBody>
        </p:sp>
      </p:grpSp>
      <p:grpSp>
        <p:nvGrpSpPr>
          <p:cNvPr id="58" name="c2-graph-1"/>
          <p:cNvGrpSpPr/>
          <p:nvPr/>
        </p:nvGrpSpPr>
        <p:grpSpPr>
          <a:xfrm>
            <a:off x="6883718" y="2083118"/>
            <a:ext cx="4355782" cy="3388042"/>
            <a:chOff x="6883718" y="2083118"/>
            <a:chExt cx="4355782" cy="3388042"/>
          </a:xfrm>
        </p:grpSpPr>
        <p:sp>
          <p:nvSpPr>
            <p:cNvPr id="19" name="Freeform 19"/>
            <p:cNvSpPr/>
            <p:nvPr/>
          </p:nvSpPr>
          <p:spPr>
            <a:xfrm>
              <a:off x="7198042" y="2238375"/>
              <a:ext cx="3727132" cy="67627"/>
            </a:xfrm>
            <a:custGeom>
              <a:avLst/>
              <a:gdLst/>
              <a:ahLst/>
              <a:cxnLst/>
              <a:rect l="l" t="t" r="r" b="b"/>
              <a:pathLst>
                <a:path w="3727132" h="67627">
                  <a:moveTo>
                    <a:pt x="0" y="67627"/>
                  </a:moveTo>
                  <a:lnTo>
                    <a:pt x="372713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171372" y="2398395"/>
              <a:ext cx="561022" cy="371475"/>
            </a:xfrm>
            <a:custGeom>
              <a:avLst/>
              <a:gdLst/>
              <a:ahLst/>
              <a:cxnLst/>
              <a:rect l="l" t="t" r="r" b="b"/>
              <a:pathLst>
                <a:path w="561022" h="371475">
                  <a:moveTo>
                    <a:pt x="0" y="0"/>
                  </a:moveTo>
                  <a:lnTo>
                    <a:pt x="561022" y="3714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123748" y="2445068"/>
              <a:ext cx="655320" cy="1012508"/>
            </a:xfrm>
            <a:custGeom>
              <a:avLst/>
              <a:gdLst/>
              <a:ahLst/>
              <a:cxnLst/>
              <a:rect l="l" t="t" r="r" b="b"/>
              <a:pathLst>
                <a:path w="655320" h="1012508">
                  <a:moveTo>
                    <a:pt x="0" y="0"/>
                  </a:moveTo>
                  <a:lnTo>
                    <a:pt x="655320" y="10125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7036118" y="2470785"/>
              <a:ext cx="9525" cy="2686050"/>
            </a:xfrm>
            <a:custGeom>
              <a:avLst/>
              <a:gdLst/>
              <a:ahLst/>
              <a:cxnLst/>
              <a:rect l="l" t="t" r="r" b="b"/>
              <a:pathLst>
                <a:path w="9525" h="2686050">
                  <a:moveTo>
                    <a:pt x="0" y="0"/>
                  </a:moveTo>
                  <a:lnTo>
                    <a:pt x="0" y="26860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1087100" y="2397442"/>
              <a:ext cx="9525" cy="2759392"/>
            </a:xfrm>
            <a:custGeom>
              <a:avLst/>
              <a:gdLst/>
              <a:ahLst/>
              <a:cxnLst/>
              <a:rect l="l" t="t" r="r" b="b"/>
              <a:pathLst>
                <a:path w="9525" h="2759392">
                  <a:moveTo>
                    <a:pt x="0" y="0"/>
                  </a:moveTo>
                  <a:lnTo>
                    <a:pt x="0" y="275939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198042" y="5318760"/>
              <a:ext cx="3727132" cy="9525"/>
            </a:xfrm>
            <a:custGeom>
              <a:avLst/>
              <a:gdLst/>
              <a:ahLst/>
              <a:cxnLst/>
              <a:rect l="l" t="t" r="r" b="b"/>
              <a:pathLst>
                <a:path w="3727132" h="9525">
                  <a:moveTo>
                    <a:pt x="0" y="0"/>
                  </a:moveTo>
                  <a:lnTo>
                    <a:pt x="372713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182802" y="4652962"/>
              <a:ext cx="1264920" cy="596265"/>
            </a:xfrm>
            <a:custGeom>
              <a:avLst/>
              <a:gdLst/>
              <a:ahLst/>
              <a:cxnLst/>
              <a:rect l="l" t="t" r="r" b="b"/>
              <a:pathLst>
                <a:path w="1264920" h="596265">
                  <a:moveTo>
                    <a:pt x="0" y="596265"/>
                  </a:moveTo>
                  <a:lnTo>
                    <a:pt x="126492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749665" y="4630102"/>
              <a:ext cx="2182178" cy="642938"/>
            </a:xfrm>
            <a:custGeom>
              <a:avLst/>
              <a:gdLst/>
              <a:ahLst/>
              <a:cxnLst/>
              <a:rect l="l" t="t" r="r" b="b"/>
              <a:pathLst>
                <a:path w="2182178" h="642938">
                  <a:moveTo>
                    <a:pt x="0" y="0"/>
                  </a:moveTo>
                  <a:lnTo>
                    <a:pt x="2182178" y="64293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224010" y="2786062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224010" y="3667125"/>
              <a:ext cx="714375" cy="9525"/>
            </a:xfrm>
            <a:custGeom>
              <a:avLst/>
              <a:gdLst/>
              <a:ahLst/>
              <a:cxnLst/>
              <a:rect l="l" t="t" r="r" b="b"/>
              <a:pathLst>
                <a:path w="714375" h="9525">
                  <a:moveTo>
                    <a:pt x="0" y="0"/>
                  </a:moveTo>
                  <a:lnTo>
                    <a:pt x="71437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002905" y="3754755"/>
              <a:ext cx="922972" cy="595312"/>
            </a:xfrm>
            <a:custGeom>
              <a:avLst/>
              <a:gdLst/>
              <a:ahLst/>
              <a:cxnLst/>
              <a:rect l="l" t="t" r="r" b="b"/>
              <a:pathLst>
                <a:path w="922972" h="595312">
                  <a:moveTo>
                    <a:pt x="922972" y="0"/>
                  </a:moveTo>
                  <a:lnTo>
                    <a:pt x="0" y="5953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172575" y="3784282"/>
              <a:ext cx="504825" cy="535305"/>
            </a:xfrm>
            <a:custGeom>
              <a:avLst/>
              <a:gdLst/>
              <a:ahLst/>
              <a:cxnLst/>
              <a:rect l="l" t="t" r="r" b="b"/>
              <a:pathLst>
                <a:path w="504825" h="535305">
                  <a:moveTo>
                    <a:pt x="0" y="0"/>
                  </a:moveTo>
                  <a:lnTo>
                    <a:pt x="504825" y="5353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849802" y="3816668"/>
              <a:ext cx="189548" cy="470535"/>
            </a:xfrm>
            <a:custGeom>
              <a:avLst/>
              <a:gdLst/>
              <a:ahLst/>
              <a:cxnLst/>
              <a:rect l="l" t="t" r="r" b="b"/>
              <a:pathLst>
                <a:path w="189548" h="470535">
                  <a:moveTo>
                    <a:pt x="189548" y="0"/>
                  </a:moveTo>
                  <a:lnTo>
                    <a:pt x="0" y="4705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6883718" y="2156460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0934700" y="2083118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7714298" y="2707005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8909685" y="2633662"/>
              <a:ext cx="304800" cy="3048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9947910" y="2633662"/>
              <a:ext cx="304800" cy="3048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7714298" y="3441382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8909685" y="3514725"/>
              <a:ext cx="304800" cy="304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9947910" y="3514725"/>
              <a:ext cx="304800" cy="304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714298" y="4285298"/>
              <a:ext cx="304800" cy="304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8442008" y="4431982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9636442" y="4285298"/>
              <a:ext cx="304800" cy="304800"/>
            </a:xfrm>
            <a:prstGeom prst="ellipse">
              <a:avLst/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883718" y="5166360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10934700" y="5166360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94390" y="225266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045373" y="217932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24970" y="280320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020358" y="272986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058583" y="272986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24970" y="353758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20358" y="361092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058583" y="361092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41772" y="4381500"/>
              <a:ext cx="498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52680" y="452818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47115" y="438150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94390" y="526256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031931" y="5262562"/>
              <a:ext cx="1103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9" name="Rectangle 5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04863" y="609568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892" y="6023610"/>
              <a:ext cx="8948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这张 13 个顶点、13 条边的图：DFS 被调用 3 次，cnt =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，分量分别是 {A B C F J L M}、{D E}、{G H I K}。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图遍历的应用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方案二：并查集，边读边合并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373618" cy="264033"/>
            <a:chOff x="526542" y="1545907"/>
            <a:chExt cx="837361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3736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不需要先把图建出来。每读入一条边就把两个端点并进同一个集合，读完之后集合个数就是连通分量数。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193982" cy="1902142"/>
            <a:chOff x="533400" y="1928812"/>
            <a:chExt cx="5193982" cy="190214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193982" cy="1902142"/>
            </a:xfrm>
            <a:prstGeom prst="roundRect">
              <a:avLst>
                <a:gd name="adj" fmla="val 500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8430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方案二 并查集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435"/>
              <a:ext cx="3204210" cy="1402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Init(n);          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每个顶点各成一个集合 */</a:t>
              </a:r>
              <a:br/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e; i++)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scanf(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"%d%d"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&amp;x, &amp;y);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读入一条边 (x, y) */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Union(x, y);  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把两端并进同一集合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扫描完所有边后，集合个数即连通分量个数 */</a:t>
              </a:r>
              <a:br/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cnt = 0;</a:t>
              </a:r>
              <a:br/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(Find(i) == i) cnt++;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统计根结点个数 */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4000500"/>
            <a:ext cx="5193982" cy="1701165"/>
            <a:chOff x="533400" y="4000500"/>
            <a:chExt cx="5193982" cy="1701165"/>
          </a:xfrm>
        </p:grpSpPr>
        <p:sp>
          <p:nvSpPr>
            <p:cNvPr id="13" name="Rectangle 13"/>
            <p:cNvSpPr/>
            <p:nvPr/>
          </p:nvSpPr>
          <p:spPr>
            <a:xfrm>
              <a:off x="533400" y="4000500"/>
              <a:ext cx="5193982" cy="1701165"/>
            </a:xfrm>
            <a:prstGeom prst="roundRect">
              <a:avLst>
                <a:gd name="adj" fmla="val 671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4751072"/>
              <a:ext cx="200023" cy="200023"/>
              <a:chOff x="738188" y="4751072"/>
              <a:chExt cx="200023" cy="20002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475107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71538" y="48177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892" y="4632008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连通关系是等价关系：自反、对称、传递。并查集维护的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正是等价类，每个等价类就是一个连通分量。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6032182" y="1928812"/>
            <a:ext cx="5626418" cy="2400300"/>
            <a:chOff x="6032182" y="1928812"/>
            <a:chExt cx="5626418" cy="2400300"/>
          </a:xfrm>
        </p:grpSpPr>
        <p:sp>
          <p:nvSpPr>
            <p:cNvPr id="19" name="Rectangle 19"/>
            <p:cNvSpPr/>
            <p:nvPr/>
          </p:nvSpPr>
          <p:spPr>
            <a:xfrm>
              <a:off x="6032182" y="1928812"/>
              <a:ext cx="562641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88023" y="20502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00543" y="2050256"/>
              <a:ext cx="639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DFS 方案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63442" y="20502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并查集方案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29338" y="24503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是否要先建图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04772" y="24503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要，需要邻接表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9788" y="24503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不要，边读边处理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032182" y="27241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32182" y="2728912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29338" y="28503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04772" y="2850356"/>
              <a:ext cx="6412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+ e)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29788" y="2850356"/>
              <a:ext cx="1132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O((n+e)·α(n))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032182" y="31242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29338" y="32504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04772" y="3250406"/>
              <a:ext cx="10475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邻接表 O(n+e)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29788" y="3250406"/>
              <a:ext cx="14854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一个父结点数组 O(n)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32182" y="35242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32182" y="3529012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129338" y="36504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能否边读边答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04772" y="36504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29788" y="36504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32182" y="39243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29338" y="40505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还能顺带做什么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04772" y="40505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给出每个分量的顶点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29788" y="40505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判断任意两点是否同组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32182" y="1928812"/>
              <a:ext cx="5626418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602855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627870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2-card-2"/>
          <p:cNvGrpSpPr/>
          <p:nvPr/>
        </p:nvGrpSpPr>
        <p:grpSpPr>
          <a:xfrm>
            <a:off x="6032182" y="4498658"/>
            <a:ext cx="5626418" cy="1202055"/>
            <a:chOff x="6032182" y="4498658"/>
            <a:chExt cx="5626418" cy="1202055"/>
          </a:xfrm>
        </p:grpSpPr>
        <p:sp>
          <p:nvSpPr>
            <p:cNvPr id="48" name="Rectangle 48"/>
            <p:cNvSpPr/>
            <p:nvPr/>
          </p:nvSpPr>
          <p:spPr>
            <a:xfrm>
              <a:off x="6032182" y="4498658"/>
              <a:ext cx="5626418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041708" y="4632008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6972" y="468534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48692" y="47182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22567" y="4720590"/>
              <a:ext cx="2543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并查集说“O(n+e)”是有条件的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50114" y="5046345"/>
              <a:ext cx="49600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源课件标的是 O(n+e)。只有同时用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按秩合并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路径压缩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，总代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价才是 O((n+e)·α(n))；现实规模下 α(n) ≤ 4，才可当成线性。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5" name="Rectangle 55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892" y="6028373"/>
              <a:ext cx="7271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并查集在第 16 讲的 Kruskal 算法里还会出现一次，那里用它判断加入一条边会不会成环。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04147" cy="909257"/>
            <a:chOff x="520446" y="342900"/>
            <a:chExt cx="60041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图遍历的应用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041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应用二：判断顶点 u 到 v 是否存在路径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660894" cy="278702"/>
            <a:chOff x="526161" y="1547336"/>
            <a:chExt cx="766089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6608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华为、谷歌、微软、苹果、亚马逊面试题。以 u 为起点遍历，看遍历过程中会不会经过 v。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5842635" cy="2268855"/>
            <a:chOff x="533400" y="1941195"/>
            <a:chExt cx="5842635" cy="226885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842635" cy="2268855"/>
            </a:xfrm>
            <a:prstGeom prst="roundRect">
              <a:avLst>
                <a:gd name="adj" fmla="val 41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9750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ExistPath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53342"/>
              <a:ext cx="3597021" cy="17735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C 里用 bool 需要 #include &lt;stdbool.h&gt; */</a:t>
              </a:r>
              <a:br/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bool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DFS(Vertex *Head,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u,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v,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visited[])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visited[u] = 1; 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访问顶点 u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(u == v)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走到顶点 v 了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 *p = Head[u].adjacent; p; p = p-&gt;link)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(visited[p-&gt;VerAdj] == 0)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(DFS(Head, p-&gt;VerAdj, v, visited))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下层找到就一路返回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全部试完仍没找到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4385310"/>
            <a:ext cx="5842635" cy="1870710"/>
            <a:chOff x="533400" y="4385310"/>
            <a:chExt cx="5842635" cy="1870710"/>
          </a:xfrm>
        </p:grpSpPr>
        <p:sp>
          <p:nvSpPr>
            <p:cNvPr id="13" name="Rectangle 13"/>
            <p:cNvSpPr/>
            <p:nvPr/>
          </p:nvSpPr>
          <p:spPr>
            <a:xfrm>
              <a:off x="533400" y="4385310"/>
              <a:ext cx="5842635" cy="1870710"/>
            </a:xfrm>
            <a:prstGeom prst="roundRect">
              <a:avLst>
                <a:gd name="adj" fmla="val 611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5220653"/>
              <a:ext cx="200026" cy="200026"/>
              <a:chOff x="738188" y="5220653"/>
              <a:chExt cx="200026" cy="20002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52206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38200" y="52873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27088" y="532066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0892" y="5101590"/>
              <a:ext cx="473716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时间仍是 O(n + e)：最坏情况下把 u 能到达的顶点和边全看一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遍。前提同样是邻接表存图。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680835" y="1941195"/>
            <a:ext cx="4977765" cy="2088832"/>
            <a:chOff x="6680835" y="1941195"/>
            <a:chExt cx="4977765" cy="2088832"/>
          </a:xfrm>
        </p:grpSpPr>
        <p:sp>
          <p:nvSpPr>
            <p:cNvPr id="20" name="Rectangle 20"/>
            <p:cNvSpPr/>
            <p:nvPr/>
          </p:nvSpPr>
          <p:spPr>
            <a:xfrm>
              <a:off x="6680835" y="1941195"/>
              <a:ext cx="4977765" cy="2088832"/>
            </a:xfrm>
            <a:prstGeom prst="roundRect">
              <a:avLst>
                <a:gd name="adj" fmla="val 638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73240" y="213360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56679" y="21678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三个要点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23632" y="2173605"/>
              <a:ext cx="22847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这份代码和普通 DFS 的差别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873240" y="249555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28918" y="25339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54037" y="2507932"/>
              <a:ext cx="40170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返回值是 bool，找到目标就逐层 return true，不再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继续搜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873240" y="305562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28918" y="309400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54037" y="3068002"/>
              <a:ext cx="41199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visited 用完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不复位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：这里只问存不存在，每个顶点看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一次就够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873240" y="361473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28918" y="365407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54037" y="3627120"/>
              <a:ext cx="3975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调用前 visited 必须全置 0，函数自身没做初始化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680835" y="4205288"/>
            <a:ext cx="4977765" cy="2049780"/>
            <a:chOff x="6680835" y="4205288"/>
            <a:chExt cx="4977765" cy="2049780"/>
          </a:xfrm>
        </p:grpSpPr>
        <p:sp>
          <p:nvSpPr>
            <p:cNvPr id="34" name="Rectangle 34"/>
            <p:cNvSpPr/>
            <p:nvPr/>
          </p:nvSpPr>
          <p:spPr>
            <a:xfrm>
              <a:off x="6680835" y="4205288"/>
              <a:ext cx="4977765" cy="2049780"/>
            </a:xfrm>
            <a:prstGeom prst="roundRect">
              <a:avLst>
                <a:gd name="adj" fmla="val 65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90360" y="4338638"/>
              <a:ext cx="47625" cy="178308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911340" y="439769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94779" y="443198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两个边界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61732" y="443769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容易被面试官追问的地方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919912" y="482822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75932" y="4772025"/>
              <a:ext cx="40856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== v 时函数返回 true，表示长度为 0 的空路径。若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题目要求“至少一条边”，需要单独处理。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919912" y="538829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75932" y="5332095"/>
              <a:ext cx="40599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有向图里 u 到 v 可达不等于 v 到 u 可达，方向不能反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着用。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05625" y="5887879"/>
              <a:ext cx="44407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换成 BFS 也能做，而且顺带得到最少边数的那条路径，代价一样。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17041" cy="909257"/>
            <a:chOff x="520446" y="342900"/>
            <a:chExt cx="81170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图遍历的应用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170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应用二拓展：输出有向无环图中 0 到 n−1 的所有路径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400432" cy="264033"/>
            <a:chOff x="526542" y="1545907"/>
            <a:chExt cx="940043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4004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字节跳动、阿里、谷歌、微软、苹果面试题，也是源课件第 55 页的课下思考。关键差别是 visited 要在回溯时复位。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842635" cy="2453640"/>
            <a:chOff x="533400" y="1928812"/>
            <a:chExt cx="5842635" cy="245364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2453640"/>
            </a:xfrm>
            <a:prstGeom prst="roundRect">
              <a:avLst>
                <a:gd name="adj" fmla="val 38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8637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AllPaths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816"/>
              <a:ext cx="3217037" cy="1956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path[MAXN], top = 0;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当前路径上的顶点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AllPaths(Vertex *Head,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visited[])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path[top++] = u;  visited[u] = 1;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(u == n - 1)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Output(path, top);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到终点，输出整条路径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 *p = Head[u].adjacent; p; p = p-&gt;link)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(visited[p-&gt;VerAdj] == 0)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AllPaths(Head, p-&gt;VerAdj, n, visited);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top--;  visited[u] = 0;    /* 回溯：撤销本次选择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1-table-2"/>
          <p:cNvGrpSpPr/>
          <p:nvPr/>
        </p:nvGrpSpPr>
        <p:grpSpPr>
          <a:xfrm>
            <a:off x="528447" y="4546282"/>
            <a:ext cx="5847588" cy="1789462"/>
            <a:chOff x="528447" y="4546282"/>
            <a:chExt cx="5847588" cy="1789462"/>
          </a:xfrm>
        </p:grpSpPr>
        <p:sp>
          <p:nvSpPr>
            <p:cNvPr id="13" name="Rectangle 13"/>
            <p:cNvSpPr/>
            <p:nvPr/>
          </p:nvSpPr>
          <p:spPr>
            <a:xfrm>
              <a:off x="533400" y="4546282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788795" y="466439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68573" y="4664392"/>
              <a:ext cx="9764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visited 的用法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8078" y="504539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判断可达、数连通分量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33191" y="5045392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 1 之后不复位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53044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530923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542639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列出全部路径与方案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33191" y="5426392"/>
              <a:ext cx="978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回溯时复位为 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568642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8078" y="580834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判断有向图是否有环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33191" y="5808345"/>
              <a:ext cx="13181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0、1、2 三种取值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546282"/>
              <a:ext cx="5842635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333750" y="454628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8447" y="6145054"/>
              <a:ext cx="21141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本讲四类应用里 visited 的三种用法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680835" y="1928812"/>
            <a:ext cx="4977765" cy="1649730"/>
            <a:chOff x="6680835" y="1928812"/>
            <a:chExt cx="4977765" cy="1649730"/>
          </a:xfrm>
        </p:grpSpPr>
        <p:sp>
          <p:nvSpPr>
            <p:cNvPr id="29" name="Rectangle 29"/>
            <p:cNvSpPr/>
            <p:nvPr/>
          </p:nvSpPr>
          <p:spPr>
            <a:xfrm>
              <a:off x="6680835" y="1928812"/>
              <a:ext cx="4977765" cy="1649730"/>
            </a:xfrm>
            <a:prstGeom prst="roundRect">
              <a:avLst>
                <a:gd name="adj" fmla="val 808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861810" y="210978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39229" y="21426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最要紧的一行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25943" y="2149316"/>
              <a:ext cx="2485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visited[u] = 0 为什么必须补上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55333" y="2465546"/>
              <a:ext cx="441833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前面几个应用只问“有没有”，一个顶点看过就可以永久封存。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这里要列出全部路径，同一个顶点会出现在很多条不同路径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上，退出这条路径时必须把它放回“可用”状态。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56476" y="3232785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漏掉这一行，算法只会输出第一条找到的路径，后面的全被挡住。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680835" y="3742372"/>
            <a:ext cx="4977765" cy="1444942"/>
            <a:chOff x="6680835" y="3742372"/>
            <a:chExt cx="4977765" cy="1444942"/>
          </a:xfrm>
        </p:grpSpPr>
        <p:sp>
          <p:nvSpPr>
            <p:cNvPr id="36" name="Rectangle 36"/>
            <p:cNvSpPr/>
            <p:nvPr/>
          </p:nvSpPr>
          <p:spPr>
            <a:xfrm>
              <a:off x="6680835" y="3742372"/>
              <a:ext cx="4977765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690360" y="3875722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99910" y="392334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92582" y="39562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66838" y="396382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路径条数本身可能是指数级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909435" y="433292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64883" y="4280059"/>
              <a:ext cx="41501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个顶点的有向无环图里，0 到 n−1 的路径最多可达 2ⁿ⁻²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条，任何算法都不可能更快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909435" y="486060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64883" y="4807744"/>
              <a:ext cx="41002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单条路径的输出代价 O(n)，总代价 O(n × 路径条数)</a:t>
              </a:r>
            </a:p>
          </p:txBody>
        </p:sp>
      </p:grpSp>
      <p:grpSp>
        <p:nvGrpSpPr>
          <p:cNvPr id="52" name="c2-callout-3"/>
          <p:cNvGrpSpPr/>
          <p:nvPr/>
        </p:nvGrpSpPr>
        <p:grpSpPr>
          <a:xfrm>
            <a:off x="6680835" y="5353050"/>
            <a:ext cx="4977765" cy="944880"/>
            <a:chOff x="6680835" y="5353050"/>
            <a:chExt cx="4977765" cy="944880"/>
          </a:xfrm>
        </p:grpSpPr>
        <p:sp>
          <p:nvSpPr>
            <p:cNvPr id="46" name="Rectangle 46"/>
            <p:cNvSpPr/>
            <p:nvPr/>
          </p:nvSpPr>
          <p:spPr>
            <a:xfrm>
              <a:off x="6680835" y="5353050"/>
              <a:ext cx="4977765" cy="944880"/>
            </a:xfrm>
            <a:prstGeom prst="roundRect">
              <a:avLst>
                <a:gd name="adj" fmla="val 1209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885623" y="5725478"/>
              <a:ext cx="200026" cy="200026"/>
              <a:chOff x="6885623" y="5725478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885623" y="57254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985635" y="57921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974523" y="58254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7188708" y="5619274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题面说的是有向无环图，所以不必担心死循环；一般有向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图里 visited 复位后可能沿环转不出来。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图遍历的应用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应用三：判断无向图中是否有环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871170" cy="278702"/>
            <a:chOff x="526161" y="1547336"/>
            <a:chExt cx="787117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8711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沿边走时遇到一个已访问的顶点，先别急着报有环，得排除“它就是刚才走过来的那个顶点”。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41195"/>
            <a:ext cx="6059805" cy="2588895"/>
            <a:chOff x="533400" y="1941195"/>
            <a:chExt cx="6059805" cy="258889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6059805" cy="2588895"/>
            </a:xfrm>
            <a:prstGeom prst="roundRect">
              <a:avLst>
                <a:gd name="adj" fmla="val 367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13946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方案一 DFS 带前驱参数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53342"/>
              <a:ext cx="3390265" cy="2093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0"/>
                </a:lnSpc>
              </a:pP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bool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DFS(Vertex *Head,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v,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visited[],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pre)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{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以 v 为起点 DFS，pre 是 v 的前驱顶点 */</a:t>
              </a:r>
              <a:br/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visited[v] = 1;               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访问顶点 v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 *p = Head[v].adjacent; p; p = p-&gt;link)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(visited[p-&gt;VerAdj] == 0) {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(DFS(Head, p-&gt;VerAdj, visited, v))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(p-&gt;VerAdj != pre)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</a:t>
              </a:r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已访问过，且不是 v 的前驱 */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首次调用写 DFS(Head, v, visited, -1) */</a:t>
              </a:r>
            </a:p>
          </p:txBody>
        </p:sp>
      </p:grpSp>
      <p:grpSp>
        <p:nvGrpSpPr>
          <p:cNvPr id="18" name="c1-callout-2"/>
          <p:cNvGrpSpPr/>
          <p:nvPr/>
        </p:nvGrpSpPr>
        <p:grpSpPr>
          <a:xfrm>
            <a:off x="533400" y="4705350"/>
            <a:ext cx="6059805" cy="1547812"/>
            <a:chOff x="533400" y="4705350"/>
            <a:chExt cx="6059805" cy="1547812"/>
          </a:xfrm>
        </p:grpSpPr>
        <p:sp>
          <p:nvSpPr>
            <p:cNvPr id="13" name="Rectangle 13"/>
            <p:cNvSpPr/>
            <p:nvPr/>
          </p:nvSpPr>
          <p:spPr>
            <a:xfrm>
              <a:off x="533400" y="4705350"/>
              <a:ext cx="6059805" cy="1547812"/>
            </a:xfrm>
            <a:prstGeom prst="roundRect">
              <a:avLst>
                <a:gd name="adj" fmla="val 738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5378768"/>
              <a:ext cx="200026" cy="200026"/>
              <a:chOff x="738188" y="5378768"/>
              <a:chExt cx="200026" cy="20002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53787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04863" y="545655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0892" y="5260658"/>
              <a:ext cx="514864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路径 A—B—C：从 A 进 B 时 pre = A，B 看到已访问的 A 正是 pre，不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报环；再进 C 同理。最终返回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false</a:t>
              </a: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，正确。</a:t>
              </a:r>
            </a:p>
          </p:txBody>
        </p:sp>
      </p:grpSp>
      <p:grpSp>
        <p:nvGrpSpPr>
          <p:cNvPr id="25" name="c2-card-1"/>
          <p:cNvGrpSpPr/>
          <p:nvPr/>
        </p:nvGrpSpPr>
        <p:grpSpPr>
          <a:xfrm>
            <a:off x="6898005" y="1941195"/>
            <a:ext cx="4760595" cy="1483995"/>
            <a:chOff x="6898005" y="1941195"/>
            <a:chExt cx="4760595" cy="1483995"/>
          </a:xfrm>
        </p:grpSpPr>
        <p:sp>
          <p:nvSpPr>
            <p:cNvPr id="19" name="Rectangle 19"/>
            <p:cNvSpPr/>
            <p:nvPr/>
          </p:nvSpPr>
          <p:spPr>
            <a:xfrm>
              <a:off x="6898005" y="1941195"/>
              <a:ext cx="4760595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907530" y="2074545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128510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19950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12202" y="2173605"/>
              <a:ext cx="23372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57 页的注释写反了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21652" y="2507932"/>
              <a:ext cx="416280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原注释写“p 之前被访问过，且不是 pre 的邻接顶点”。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 `p-&gt;VerAdj != pre` 的意思是这个已访问的邻接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顶点不是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v 的前驱 pre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，与 pre 的邻接顶点无关。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6898005" y="3600450"/>
            <a:ext cx="4760595" cy="1747838"/>
            <a:chOff x="6898005" y="3600450"/>
            <a:chExt cx="4760595" cy="1747838"/>
          </a:xfrm>
        </p:grpSpPr>
        <p:sp>
          <p:nvSpPr>
            <p:cNvPr id="26" name="Rectangle 26"/>
            <p:cNvSpPr/>
            <p:nvPr/>
          </p:nvSpPr>
          <p:spPr>
            <a:xfrm>
              <a:off x="6898005" y="3600450"/>
              <a:ext cx="4760595" cy="1747838"/>
            </a:xfrm>
            <a:prstGeom prst="roundRect">
              <a:avLst>
                <a:gd name="adj" fmla="val 76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907530" y="3733800"/>
              <a:ext cx="47625" cy="148113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8510" y="379285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219950" y="382714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12202" y="3832860"/>
              <a:ext cx="2384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 这个办法只对简单图成立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21652" y="4167188"/>
              <a:ext cx="40256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v 与 pre 之间有两条平行边（重边），这两条边本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身就构成一个环，但第二条边指向的仍是 pre，会被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`!= pre` 挡掉而漏判。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22795" y="4980146"/>
              <a:ext cx="4097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有重边时改成记录“走过来的那条边的编号”，而不是记顶点。</a:t>
              </a:r>
            </a:p>
          </p:txBody>
        </p:sp>
      </p:grpSp>
      <p:grpSp>
        <p:nvGrpSpPr>
          <p:cNvPr id="39" name="c2-callout-3"/>
          <p:cNvGrpSpPr/>
          <p:nvPr/>
        </p:nvGrpSpPr>
        <p:grpSpPr>
          <a:xfrm>
            <a:off x="6898005" y="5523548"/>
            <a:ext cx="4760595" cy="729615"/>
            <a:chOff x="6898005" y="5523548"/>
            <a:chExt cx="4760595" cy="729615"/>
          </a:xfrm>
        </p:grpSpPr>
        <p:sp>
          <p:nvSpPr>
            <p:cNvPr id="34" name="Rectangle 34"/>
            <p:cNvSpPr/>
            <p:nvPr/>
          </p:nvSpPr>
          <p:spPr>
            <a:xfrm>
              <a:off x="6898005" y="5523548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102793" y="5788345"/>
              <a:ext cx="200023" cy="200023"/>
              <a:chOff x="7102793" y="5788345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102793" y="578834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236143" y="58550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405497" y="5669280"/>
              <a:ext cx="384562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换个角度也能判：跑一遍 DFS，只要出现回边（e &gt;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− 1 在某个分量里），这个分量就有环。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图遍历的应用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无向图判环的方案二：并查集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000164" cy="264033"/>
            <a:chOff x="526542" y="1545907"/>
            <a:chExt cx="1000016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0001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读入一条边 (x, y) 时，如果 x 和 y 本来就在同一个集合里，说明它们之间已经有一条通路，这条新边正好把通路闭合成环。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4977765" cy="1855470"/>
            <a:chOff x="533400" y="1928812"/>
            <a:chExt cx="4977765" cy="185547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4977765" cy="1855470"/>
            </a:xfrm>
            <a:prstGeom prst="roundRect">
              <a:avLst>
                <a:gd name="adj" fmla="val 513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8430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方案二 并查集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816"/>
              <a:ext cx="2779649" cy="1358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Init(n);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e; i++)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scanf(</a:t>
              </a:r>
              <a:r>
                <a:rPr lang="en-US" sz="8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"%d%d"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&amp;x, &amp;y);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(Find(x) == Find(y))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x、y 已连通，成环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Union(x, y);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否则合并两个集合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读完所有边都没成环 */</a:t>
              </a:r>
            </a:p>
          </p:txBody>
        </p:sp>
      </p:grpSp>
      <p:grpSp>
        <p:nvGrpSpPr>
          <p:cNvPr id="23" name="c1-graph-2"/>
          <p:cNvGrpSpPr/>
          <p:nvPr/>
        </p:nvGrpSpPr>
        <p:grpSpPr>
          <a:xfrm>
            <a:off x="1518285" y="4578985"/>
            <a:ext cx="3007043" cy="1035050"/>
            <a:chOff x="1518285" y="4578985"/>
            <a:chExt cx="3007043" cy="1035050"/>
          </a:xfrm>
        </p:grpSpPr>
        <p:sp>
          <p:nvSpPr>
            <p:cNvPr id="13" name="Freeform 13"/>
            <p:cNvSpPr/>
            <p:nvPr/>
          </p:nvSpPr>
          <p:spPr>
            <a:xfrm>
              <a:off x="1946910" y="5404485"/>
              <a:ext cx="2149792" cy="9525"/>
            </a:xfrm>
            <a:custGeom>
              <a:avLst/>
              <a:gdLst/>
              <a:ahLst/>
              <a:cxnLst/>
              <a:rect l="l" t="t" r="r" b="b"/>
              <a:pathLst>
                <a:path w="2149792" h="9525">
                  <a:moveTo>
                    <a:pt x="0" y="0"/>
                  </a:moveTo>
                  <a:lnTo>
                    <a:pt x="214979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890712" y="4578985"/>
              <a:ext cx="2262188" cy="678815"/>
            </a:xfrm>
            <a:custGeom>
              <a:avLst/>
              <a:gdLst/>
              <a:ahLst/>
              <a:cxnLst/>
              <a:rect l="l" t="t" r="r" b="b"/>
              <a:pathLst>
                <a:path w="2262188" h="678815">
                  <a:moveTo>
                    <a:pt x="0" y="678815"/>
                  </a:moveTo>
                  <a:cubicBezTo>
                    <a:pt x="754380" y="0"/>
                    <a:pt x="1508442" y="0"/>
                    <a:pt x="2262188" y="67881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5" name="Ellipse 15"/>
            <p:cNvSpPr/>
            <p:nvPr/>
          </p:nvSpPr>
          <p:spPr>
            <a:xfrm>
              <a:off x="1518285" y="519493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106228" y="519493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682632" y="534400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70574" y="534400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723198" y="5326380"/>
              <a:ext cx="59721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741549" y="5355431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新读入的边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775585" y="4670108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796743" y="470011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已有通路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5815965" y="1928812"/>
            <a:ext cx="5842635" cy="2287905"/>
            <a:chOff x="5815965" y="1928812"/>
            <a:chExt cx="5842635" cy="2287905"/>
          </a:xfrm>
        </p:grpSpPr>
        <p:sp>
          <p:nvSpPr>
            <p:cNvPr id="24" name="Rectangle 24"/>
            <p:cNvSpPr/>
            <p:nvPr/>
          </p:nvSpPr>
          <p:spPr>
            <a:xfrm>
              <a:off x="5815965" y="1928812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7747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15753" y="2045970"/>
              <a:ext cx="5991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DFS 方案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18801" y="2045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并查集方案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10644" y="2426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适用范围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29881" y="2426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无向图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91104" y="2426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无向图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815965" y="2687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815965" y="269176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10644" y="280892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是否要建图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29881" y="280892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91104" y="2808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不要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15965" y="3068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10644" y="3189923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能否在线判定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29881" y="3189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91104" y="3189923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能，读到哪条边判到哪条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815965" y="3449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15965" y="345376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10644" y="357187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还能报出什么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29881" y="357187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环上的顶点序列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91104" y="357187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只报有没有环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815965" y="38309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10644" y="39528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对有向图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344728" y="3845242"/>
              <a:ext cx="2143125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429881" y="395287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不适用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505950" y="3845242"/>
              <a:ext cx="2143125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591104" y="395287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不适用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815965" y="1928812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330440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491662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rd-2"/>
          <p:cNvGrpSpPr/>
          <p:nvPr/>
        </p:nvGrpSpPr>
        <p:grpSpPr>
          <a:xfrm>
            <a:off x="5815965" y="4381500"/>
            <a:ext cx="5842635" cy="1934528"/>
            <a:chOff x="5815965" y="4381500"/>
            <a:chExt cx="5842635" cy="1934528"/>
          </a:xfrm>
        </p:grpSpPr>
        <p:sp>
          <p:nvSpPr>
            <p:cNvPr id="55" name="Rectangle 55"/>
            <p:cNvSpPr/>
            <p:nvPr/>
          </p:nvSpPr>
          <p:spPr>
            <a:xfrm>
              <a:off x="5815965" y="4381500"/>
              <a:ext cx="5842635" cy="1934528"/>
            </a:xfrm>
            <a:prstGeom prst="roundRect">
              <a:avLst>
                <a:gd name="adj" fmla="val 68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825490" y="4514850"/>
              <a:ext cx="47625" cy="166782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035040" y="45624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119609" y="45953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关键限制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849618" y="460200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这两种办法都搬不到有向图上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044565" y="497109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200013" y="4919186"/>
              <a:ext cx="49385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并查集只认“连通”，不认方向。A→B 和 B→A 在它眼里是同一回事，有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向图里前者无环、后者也无环，合在一起才有环。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044565" y="549973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200013" y="5446871"/>
              <a:ext cx="50441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 那个办法同样不行：有向图里遇到已访问的顶点，可能是当前路径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上的，也可能是另一条已经走完的分支上的。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29706" y="5971222"/>
              <a:ext cx="41027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下一页开始处理有向图，办法是把 visited 从两种取值扩到三种。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28724" cy="909257"/>
            <a:chOff x="520446" y="342900"/>
            <a:chExt cx="762872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图遍历的应用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2872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应用四：有向图判环，两种取值的 visited 会误判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593521" cy="264033"/>
            <a:chOff x="526542" y="1545907"/>
            <a:chExt cx="759352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593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这张图 A→B→C、A→E→F→C 里一个环都没有，但用“遇到已访问顶点就报环”的办法会报出有环。</a:t>
              </a:r>
            </a:p>
          </p:txBody>
        </p:sp>
      </p:grpSp>
      <p:grpSp>
        <p:nvGrpSpPr>
          <p:cNvPr id="29" name="c1-graph-1"/>
          <p:cNvGrpSpPr/>
          <p:nvPr/>
        </p:nvGrpSpPr>
        <p:grpSpPr>
          <a:xfrm>
            <a:off x="1362075" y="1968818"/>
            <a:ext cx="3104197" cy="2406967"/>
            <a:chOff x="1362075" y="1968818"/>
            <a:chExt cx="3104197" cy="2406967"/>
          </a:xfrm>
        </p:grpSpPr>
        <p:sp>
          <p:nvSpPr>
            <p:cNvPr id="9" name="Freeform 9"/>
            <p:cNvSpPr/>
            <p:nvPr/>
          </p:nvSpPr>
          <p:spPr>
            <a:xfrm>
              <a:off x="1848802" y="2316480"/>
              <a:ext cx="876300" cy="596265"/>
            </a:xfrm>
            <a:custGeom>
              <a:avLst/>
              <a:gdLst/>
              <a:ahLst/>
              <a:cxnLst/>
              <a:rect l="l" t="t" r="r" b="b"/>
              <a:pathLst>
                <a:path w="876300" h="596265">
                  <a:moveTo>
                    <a:pt x="876300" y="0"/>
                  </a:moveTo>
                  <a:lnTo>
                    <a:pt x="0" y="5962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69745" y="2872740"/>
              <a:ext cx="105727" cy="93345"/>
            </a:xfrm>
            <a:custGeom>
              <a:avLst/>
              <a:gdLst/>
              <a:ahLst/>
              <a:cxnLst/>
              <a:rect l="l" t="t" r="r" b="b"/>
              <a:pathLst>
                <a:path w="105727" h="93345">
                  <a:moveTo>
                    <a:pt x="0" y="93345"/>
                  </a:moveTo>
                  <a:lnTo>
                    <a:pt x="52388" y="0"/>
                  </a:lnTo>
                  <a:lnTo>
                    <a:pt x="105727" y="7905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03245" y="2316480"/>
              <a:ext cx="876300" cy="596265"/>
            </a:xfrm>
            <a:custGeom>
              <a:avLst/>
              <a:gdLst/>
              <a:ahLst/>
              <a:cxnLst/>
              <a:rect l="l" t="t" r="r" b="b"/>
              <a:pathLst>
                <a:path w="876300" h="596265">
                  <a:moveTo>
                    <a:pt x="0" y="0"/>
                  </a:moveTo>
                  <a:lnTo>
                    <a:pt x="876300" y="5962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952875" y="2872740"/>
              <a:ext cx="104775" cy="93345"/>
            </a:xfrm>
            <a:custGeom>
              <a:avLst/>
              <a:gdLst/>
              <a:ahLst/>
              <a:cxnLst/>
              <a:rect l="l" t="t" r="r" b="b"/>
              <a:pathLst>
                <a:path w="104775" h="93345">
                  <a:moveTo>
                    <a:pt x="104775" y="93345"/>
                  </a:moveTo>
                  <a:lnTo>
                    <a:pt x="0" y="79057"/>
                  </a:lnTo>
                  <a:lnTo>
                    <a:pt x="5334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581150" y="3323272"/>
              <a:ext cx="9525" cy="509588"/>
            </a:xfrm>
            <a:custGeom>
              <a:avLst/>
              <a:gdLst/>
              <a:ahLst/>
              <a:cxnLst/>
              <a:rect l="l" t="t" r="r" b="b"/>
              <a:pathLst>
                <a:path w="9525" h="509588">
                  <a:moveTo>
                    <a:pt x="0" y="0"/>
                  </a:moveTo>
                  <a:lnTo>
                    <a:pt x="0" y="5095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533525" y="38328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247198" y="3323272"/>
              <a:ext cx="9525" cy="509588"/>
            </a:xfrm>
            <a:custGeom>
              <a:avLst/>
              <a:gdLst/>
              <a:ahLst/>
              <a:cxnLst/>
              <a:rect l="l" t="t" r="r" b="b"/>
              <a:pathLst>
                <a:path w="9525" h="509588">
                  <a:moveTo>
                    <a:pt x="0" y="0"/>
                  </a:moveTo>
                  <a:lnTo>
                    <a:pt x="0" y="5095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199572" y="38328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905000" y="4156710"/>
              <a:ext cx="2113598" cy="9525"/>
            </a:xfrm>
            <a:custGeom>
              <a:avLst/>
              <a:gdLst/>
              <a:ahLst/>
              <a:cxnLst/>
              <a:rect l="l" t="t" r="r" b="b"/>
              <a:pathLst>
                <a:path w="2113598" h="9525">
                  <a:moveTo>
                    <a:pt x="2113598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809750" y="41090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2694622" y="1968818"/>
              <a:ext cx="438150" cy="4381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362075" y="2875598"/>
              <a:ext cx="438150" cy="4381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4028122" y="2875598"/>
              <a:ext cx="438150" cy="4381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362075" y="3937635"/>
              <a:ext cx="438150" cy="4381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028122" y="3937635"/>
              <a:ext cx="438150" cy="4381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865238" y="212217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32691" y="302895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98738" y="302895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32691" y="409098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98738" y="409098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</p:grpSp>
      <p:grpSp>
        <p:nvGrpSpPr>
          <p:cNvPr id="36" name="c1-callout-2"/>
          <p:cNvGrpSpPr/>
          <p:nvPr/>
        </p:nvGrpSpPr>
        <p:grpSpPr>
          <a:xfrm>
            <a:off x="533400" y="4684395"/>
            <a:ext cx="4760595" cy="1644968"/>
            <a:chOff x="533400" y="4684395"/>
            <a:chExt cx="4760595" cy="1644968"/>
          </a:xfrm>
        </p:grpSpPr>
        <p:sp>
          <p:nvSpPr>
            <p:cNvPr id="30" name="Rectangle 30"/>
            <p:cNvSpPr/>
            <p:nvPr/>
          </p:nvSpPr>
          <p:spPr>
            <a:xfrm>
              <a:off x="533400" y="4684395"/>
              <a:ext cx="4760595" cy="1644968"/>
            </a:xfrm>
            <a:prstGeom prst="roundRect">
              <a:avLst>
                <a:gd name="adj" fmla="val 694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26129" y="5402698"/>
              <a:ext cx="224134" cy="192560"/>
              <a:chOff x="726129" y="5402698"/>
              <a:chExt cx="224134" cy="19256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38200" y="547306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26129" y="540269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55508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1273" y="5300186"/>
              <a:ext cx="38656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走完 A→B→C 后 C 已访问；再走 A→E→F 时 F 又看到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C，此时 C 不在当前路径上，只是一条走完的旧分支。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5598795" y="1928812"/>
            <a:ext cx="6059805" cy="1525905"/>
            <a:chOff x="5598795" y="1928812"/>
            <a:chExt cx="6059805" cy="1525905"/>
          </a:xfrm>
        </p:grpSpPr>
        <p:sp>
          <p:nvSpPr>
            <p:cNvPr id="37" name="Rectangle 37"/>
            <p:cNvSpPr/>
            <p:nvPr/>
          </p:nvSpPr>
          <p:spPr>
            <a:xfrm>
              <a:off x="5598795" y="1928812"/>
              <a:ext cx="605980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17789" y="2045970"/>
              <a:ext cx="10232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DFS 走到这一步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16024" y="204597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遇到已访问顶点吗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31274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二值判定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703814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正确答案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693474" y="2426970"/>
              <a:ext cx="11406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A→B→C，C 无出边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53731" y="2426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08198" y="2426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419778" y="2426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598795" y="268700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598795" y="2691765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693474" y="2808923"/>
              <a:ext cx="1156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回退到 A，转 A→E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53731" y="280892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08198" y="2808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419778" y="280892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继续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598795" y="306800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93474" y="3189923"/>
              <a:ext cx="960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E→F，F 指向 C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53731" y="3189923"/>
              <a:ext cx="8443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是，C 已访问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123045" y="3082290"/>
              <a:ext cx="1192530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208198" y="318992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报有环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0334625" y="3082290"/>
              <a:ext cx="131445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419778" y="3189923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不是环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598795" y="1928812"/>
              <a:ext cx="6059805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654290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108758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320338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c2-card-2"/>
          <p:cNvGrpSpPr/>
          <p:nvPr/>
        </p:nvGrpSpPr>
        <p:grpSpPr>
          <a:xfrm>
            <a:off x="5598795" y="3618548"/>
            <a:ext cx="6059805" cy="1843088"/>
            <a:chOff x="5598795" y="3618548"/>
            <a:chExt cx="6059805" cy="1843088"/>
          </a:xfrm>
        </p:grpSpPr>
        <p:sp>
          <p:nvSpPr>
            <p:cNvPr id="64" name="Rectangle 64"/>
            <p:cNvSpPr/>
            <p:nvPr/>
          </p:nvSpPr>
          <p:spPr>
            <a:xfrm>
              <a:off x="5598795" y="3618548"/>
              <a:ext cx="6059805" cy="1843088"/>
            </a:xfrm>
            <a:prstGeom prst="roundRect">
              <a:avLst>
                <a:gd name="adj" fmla="val 723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779770" y="379952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861240" y="383238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问题出在哪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720078" y="3840004"/>
              <a:ext cx="21074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“已访问”这一个状态不够用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773293" y="4156234"/>
              <a:ext cx="53774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有向图里遇到已访问的顶点，有两种完全不同的情况：一种是它还在当前正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在探索的那条路径上，说明绕回来了，确实有环；另一种是它属于另一条已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经探索完的分支，只是被重新指到而已。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774436" y="4923472"/>
              <a:ext cx="539134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无向图靠一个 pre 就够，因为“绕回来”只可能绕回直接前驱；有向图可以从很远的地方绕回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来。</a:t>
              </a:r>
            </a:p>
          </p:txBody>
        </p:sp>
      </p:grpSp>
      <p:grpSp>
        <p:nvGrpSpPr>
          <p:cNvPr id="76" name="c2-callout-3"/>
          <p:cNvGrpSpPr/>
          <p:nvPr/>
        </p:nvGrpSpPr>
        <p:grpSpPr>
          <a:xfrm>
            <a:off x="5598795" y="5626418"/>
            <a:ext cx="6059805" cy="702945"/>
            <a:chOff x="5598795" y="5626418"/>
            <a:chExt cx="6059805" cy="702945"/>
          </a:xfrm>
        </p:grpSpPr>
        <p:sp>
          <p:nvSpPr>
            <p:cNvPr id="71" name="Rectangle 71"/>
            <p:cNvSpPr/>
            <p:nvPr/>
          </p:nvSpPr>
          <p:spPr>
            <a:xfrm>
              <a:off x="5598795" y="5626418"/>
              <a:ext cx="6059805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5803583" y="5877878"/>
              <a:ext cx="200026" cy="200026"/>
              <a:chOff x="5803583" y="5877878"/>
              <a:chExt cx="200026" cy="20002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5803583" y="58778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5870258" y="595566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6106668" y="5771674"/>
              <a:ext cx="50523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对于已访问的点，应区分它是否在当前正在探索的路径上。这就是下一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页三种状态的由来。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90648" cy="909257"/>
            <a:chOff x="520446" y="342900"/>
            <a:chExt cx="47906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图遍历的应用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906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三种状态：visited 取 0、1、2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879260" cy="264033"/>
            <a:chOff x="526542" y="1545907"/>
            <a:chExt cx="687926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879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一个顶点在 DFS 过程中按 0 → 1 → 2 的顺序变化，不会倒回去，也不会跳过中间的 1。</a:t>
              </a:r>
            </a:p>
          </p:txBody>
        </p:sp>
      </p:grpSp>
      <p:grpSp>
        <p:nvGrpSpPr>
          <p:cNvPr id="17" name="c1-kv-1"/>
          <p:cNvGrpSpPr/>
          <p:nvPr/>
        </p:nvGrpSpPr>
        <p:grpSpPr>
          <a:xfrm>
            <a:off x="526923" y="1949291"/>
            <a:ext cx="5632895" cy="1477137"/>
            <a:chOff x="526923" y="1949291"/>
            <a:chExt cx="5632895" cy="1477137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19492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2680" y="194929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尚未被访问到，还没轮到它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2221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923" y="232362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2680" y="2323624"/>
              <a:ext cx="488975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已被访问，但它的邻接顶点还没遍历完。算法正在递归地深入它的某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个邻接顶点，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它在当前探索的路径上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8355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923" y="293703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2680" y="2937034"/>
              <a:ext cx="488975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它的全部邻接顶点都已遍历完，它自身的遍历也结束了，已经退出当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前路径</a:t>
              </a:r>
            </a:p>
          </p:txBody>
        </p:sp>
      </p:grpSp>
      <p:grpSp>
        <p:nvGrpSpPr>
          <p:cNvPr id="32" name="c1-flow-2"/>
          <p:cNvGrpSpPr/>
          <p:nvPr/>
        </p:nvGrpSpPr>
        <p:grpSpPr>
          <a:xfrm>
            <a:off x="666750" y="4213860"/>
            <a:ext cx="5359717" cy="585788"/>
            <a:chOff x="666750" y="4213860"/>
            <a:chExt cx="5359717" cy="585788"/>
          </a:xfrm>
        </p:grpSpPr>
        <p:sp>
          <p:nvSpPr>
            <p:cNvPr id="18" name="Freeform 18"/>
            <p:cNvSpPr/>
            <p:nvPr/>
          </p:nvSpPr>
          <p:spPr>
            <a:xfrm>
              <a:off x="2275522" y="461391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437448" y="45615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150995" y="461391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312920" y="45615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6750" y="4427220"/>
              <a:ext cx="1608772" cy="372428"/>
            </a:xfrm>
            <a:prstGeom prst="roundRect">
              <a:avLst>
                <a:gd name="adj" fmla="val 25575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542222" y="4427220"/>
              <a:ext cx="1608772" cy="372428"/>
            </a:xfrm>
            <a:prstGeom prst="roundRect">
              <a:avLst>
                <a:gd name="adj" fmla="val 25575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417695" y="4427220"/>
              <a:ext cx="1608772" cy="37242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94178" y="4540568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未访问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98975" y="4540568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在路径上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42119" y="4540568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 已完成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132648" y="4213860"/>
              <a:ext cx="5524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161794" y="42367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刚被发现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779520" y="4213860"/>
              <a:ext cx="10096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794950" y="4236720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邻接点全部遍历完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464618" y="1928812"/>
            <a:ext cx="5193982" cy="1730692"/>
            <a:chOff x="6464618" y="1928812"/>
            <a:chExt cx="5193982" cy="1730692"/>
          </a:xfrm>
        </p:grpSpPr>
        <p:sp>
          <p:nvSpPr>
            <p:cNvPr id="33" name="Rectangle 33"/>
            <p:cNvSpPr/>
            <p:nvPr/>
          </p:nvSpPr>
          <p:spPr>
            <a:xfrm>
              <a:off x="6464618" y="1928812"/>
              <a:ext cx="5193982" cy="1730692"/>
            </a:xfrm>
            <a:prstGeom prst="roundRect">
              <a:avLst>
                <a:gd name="adj" fmla="val 77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4142" y="2062162"/>
              <a:ext cx="47625" cy="146399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683692" y="21097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69214" y="21426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判定规则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99223" y="2149316"/>
              <a:ext cx="28311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遇到 visited 为 1 的顶点，才是有环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693218" y="251841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48666" y="2465546"/>
              <a:ext cx="22319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遇到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：正常深入，递归下去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693218" y="280320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48666" y="2751296"/>
              <a:ext cx="438216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遇到 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：这个顶点在当前路径上，从它到当前顶点再回到它，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构成一个有向环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693218" y="333089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48666" y="3278981"/>
              <a:ext cx="37827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遇到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：这条分支早已走完，不构成环，跳过即可</a:t>
              </a:r>
            </a:p>
          </p:txBody>
        </p:sp>
      </p:grpSp>
      <p:grpSp>
        <p:nvGrpSpPr>
          <p:cNvPr id="48" name="c2-code-2"/>
          <p:cNvGrpSpPr/>
          <p:nvPr/>
        </p:nvGrpSpPr>
        <p:grpSpPr>
          <a:xfrm>
            <a:off x="6464618" y="3823335"/>
            <a:ext cx="5193982" cy="1705928"/>
            <a:chOff x="6464618" y="3823335"/>
            <a:chExt cx="5193982" cy="1705928"/>
          </a:xfrm>
        </p:grpSpPr>
        <p:sp>
          <p:nvSpPr>
            <p:cNvPr id="45" name="Rectangle 45"/>
            <p:cNvSpPr/>
            <p:nvPr/>
          </p:nvSpPr>
          <p:spPr>
            <a:xfrm>
              <a:off x="6464618" y="3823335"/>
              <a:ext cx="5193982" cy="1705928"/>
            </a:xfrm>
            <a:prstGeom prst="roundRect">
              <a:avLst>
                <a:gd name="adj" fmla="val 558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93015" y="3975259"/>
              <a:ext cx="15539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给顶点打上 2 的 DFS 骨架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93205" y="4234339"/>
              <a:ext cx="2987929" cy="12087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DFS(Vertex *Head,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visited[])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visit(v);  visited[v] = 1;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进入当前路径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 *p = Head[v].adjacent; p; p = p-&gt;link)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(visited[p-&gt;VerAdj] == 0)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DFS(Head, p-&gt;VerAdj, visited);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visited[v] = 2;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退出当前路径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9" name="Rectangle 4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1273" y="6039326"/>
              <a:ext cx="75602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这套三色标记在第 14 讲判断“有向图能否拓扑排序”时会原样再用一次，两者问的其实是同一件事。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图遍历的应用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有向图判环的完整算法与执行过程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056025" cy="264033"/>
            <a:chOff x="526542" y="1545907"/>
            <a:chExt cx="705602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0560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把上一页的骨架加上“遇到 1 就返回 true”，再补一层驱动循环，就是完整的判环算法。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842635" cy="2453640"/>
            <a:chOff x="533400" y="1928812"/>
            <a:chExt cx="5842635" cy="245364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2453640"/>
            </a:xfrm>
            <a:prstGeom prst="roundRect">
              <a:avLst>
                <a:gd name="adj" fmla="val 38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9400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 HasCircle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816"/>
              <a:ext cx="3274314" cy="1956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bool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HasCircle(Vertex *Head,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visited[])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visited[v] = 1;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v 进入当前路径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 *p = Head[v].adjacent; p; p = p-&gt;link)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p-&gt;VerAdj;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(visited[k] == 0)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(HasCircle(Head, k, visited))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(visited[k] == 1)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visited[v] = 2;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v 的遍历结束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546282"/>
            <a:ext cx="5842635" cy="1602105"/>
            <a:chOff x="533400" y="4546282"/>
            <a:chExt cx="5842635" cy="1602105"/>
          </a:xfrm>
        </p:grpSpPr>
        <p:sp>
          <p:nvSpPr>
            <p:cNvPr id="13" name="Rectangle 13"/>
            <p:cNvSpPr/>
            <p:nvPr/>
          </p:nvSpPr>
          <p:spPr>
            <a:xfrm>
              <a:off x="533400" y="4546282"/>
              <a:ext cx="584263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679632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2475" y="4727258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25843" y="476011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与源课件的差别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41386" y="4767739"/>
              <a:ext cx="24055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第二个判断写成 else if 更清楚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5998" y="5083969"/>
              <a:ext cx="51417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源课件把它写成独立的 `if (visited[k]==1) return true;`，效果一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样：递归调用返回 false 时 visited[k] 已经变成 2，这个判断必然不成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立。</a:t>
              </a:r>
            </a:p>
          </p:txBody>
        </p:sp>
      </p:grpSp>
      <p:grpSp>
        <p:nvGrpSpPr>
          <p:cNvPr id="47" name="c2-table-1"/>
          <p:cNvGrpSpPr/>
          <p:nvPr/>
        </p:nvGrpSpPr>
        <p:grpSpPr>
          <a:xfrm>
            <a:off x="6675882" y="1928812"/>
            <a:ext cx="4982718" cy="2933414"/>
            <a:chOff x="6675882" y="1928812"/>
            <a:chExt cx="4982718" cy="2933414"/>
          </a:xfrm>
        </p:grpSpPr>
        <p:sp>
          <p:nvSpPr>
            <p:cNvPr id="20" name="Rectangle 20"/>
            <p:cNvSpPr/>
            <p:nvPr/>
          </p:nvSpPr>
          <p:spPr>
            <a:xfrm>
              <a:off x="6680835" y="1928812"/>
              <a:ext cx="497776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45908" y="20459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执行到这一步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83110" y="2045970"/>
              <a:ext cx="1360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B C E F 的 visited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75514" y="2426970"/>
              <a:ext cx="13529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 A，再进入 B、C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63481" y="2426970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1 1 1 0 0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680835" y="26870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80835" y="269176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75514" y="2808923"/>
              <a:ext cx="13041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无出边，标 2 返回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563481" y="2808923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1 1 2 0 0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680835" y="30680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75514" y="3189923"/>
              <a:ext cx="1400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的邻接点走完，标 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63481" y="3189923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1 2 2 0 0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680835" y="344900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80835" y="345376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75514" y="3571875"/>
              <a:ext cx="11253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 E，再进入 F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63481" y="3571875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1 2 2 1 1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680835" y="383095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75514" y="3952875"/>
              <a:ext cx="15812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看到 C 的值是 2，跳过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478328" y="3845242"/>
              <a:ext cx="217074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563481" y="3952875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1 2 2 1 1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680835" y="421195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680835" y="4216718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75514" y="4333875"/>
              <a:ext cx="19890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F、E、A 依次标 2，返回 false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63481" y="4333875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2 2 2 2 2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680835" y="1928812"/>
              <a:ext cx="4977765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9464040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75882" y="4671536"/>
              <a:ext cx="22364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补一条 C→A 的边后算法立刻返回 true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680835" y="4988242"/>
            <a:ext cx="4977765" cy="1160145"/>
            <a:chOff x="6680835" y="4988242"/>
            <a:chExt cx="4977765" cy="1160145"/>
          </a:xfrm>
        </p:grpSpPr>
        <p:sp>
          <p:nvSpPr>
            <p:cNvPr id="48" name="Rectangle 48"/>
            <p:cNvSpPr/>
            <p:nvPr/>
          </p:nvSpPr>
          <p:spPr>
            <a:xfrm>
              <a:off x="6680835" y="4988242"/>
              <a:ext cx="497776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690360" y="512159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899910" y="516921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992582" y="520207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66838" y="520969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一次调用只覆盖可达的那部分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93433" y="5525929"/>
              <a:ext cx="41744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HasCircle(v) 只查得到从 v 可达的环。完整写法是对每个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visited 为 0 的顶点各调一次，任一次返回 true 就有环。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77694" cy="909257"/>
            <a:chOff x="520446" y="342900"/>
            <a:chExt cx="71776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图遍历的应用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776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例题：2020 级期末考试题 FindPath（15 分）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612619" cy="264033"/>
            <a:chOff x="526542" y="1545907"/>
            <a:chExt cx="861261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6126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带权图 G 以邻接表存储，顶点编号 0 至 n−1，边权可正可负。题面本身就把算法的四个约束条件写清楚了。</a:t>
              </a:r>
            </a:p>
          </p:txBody>
        </p:sp>
      </p:grpSp>
      <p:grpSp>
        <p:nvGrpSpPr>
          <p:cNvPr id="68" name="c1-graph-1"/>
          <p:cNvGrpSpPr/>
          <p:nvPr/>
        </p:nvGrpSpPr>
        <p:grpSpPr>
          <a:xfrm>
            <a:off x="689610" y="2113598"/>
            <a:ext cx="4714875" cy="2974657"/>
            <a:chOff x="689610" y="2113598"/>
            <a:chExt cx="4714875" cy="2974657"/>
          </a:xfrm>
        </p:grpSpPr>
        <p:sp>
          <p:nvSpPr>
            <p:cNvPr id="9" name="Freeform 9"/>
            <p:cNvSpPr/>
            <p:nvPr/>
          </p:nvSpPr>
          <p:spPr>
            <a:xfrm>
              <a:off x="935355" y="2762250"/>
              <a:ext cx="788670" cy="857250"/>
            </a:xfrm>
            <a:custGeom>
              <a:avLst/>
              <a:gdLst/>
              <a:ahLst/>
              <a:cxnLst/>
              <a:rect l="l" t="t" r="r" b="b"/>
              <a:pathLst>
                <a:path w="788670" h="857250">
                  <a:moveTo>
                    <a:pt x="0" y="857250"/>
                  </a:moveTo>
                  <a:lnTo>
                    <a:pt x="78867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951672" y="2738438"/>
              <a:ext cx="946785" cy="675322"/>
            </a:xfrm>
            <a:custGeom>
              <a:avLst/>
              <a:gdLst/>
              <a:ahLst/>
              <a:cxnLst/>
              <a:rect l="l" t="t" r="r" b="b"/>
              <a:pathLst>
                <a:path w="946785" h="675322">
                  <a:moveTo>
                    <a:pt x="0" y="0"/>
                  </a:moveTo>
                  <a:lnTo>
                    <a:pt x="946785" y="67532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983932" y="3741420"/>
              <a:ext cx="790575" cy="46672"/>
            </a:xfrm>
            <a:custGeom>
              <a:avLst/>
              <a:gdLst/>
              <a:ahLst/>
              <a:cxnLst/>
              <a:rect l="l" t="t" r="r" b="b"/>
              <a:pathLst>
                <a:path w="790575" h="46672">
                  <a:moveTo>
                    <a:pt x="0" y="0"/>
                  </a:moveTo>
                  <a:lnTo>
                    <a:pt x="790575" y="4667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074545" y="3542348"/>
              <a:ext cx="800100" cy="215265"/>
            </a:xfrm>
            <a:custGeom>
              <a:avLst/>
              <a:gdLst/>
              <a:ahLst/>
              <a:cxnLst/>
              <a:rect l="l" t="t" r="r" b="b"/>
              <a:pathLst>
                <a:path w="800100" h="215265">
                  <a:moveTo>
                    <a:pt x="0" y="215265"/>
                  </a:moveTo>
                  <a:lnTo>
                    <a:pt x="8001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931545" y="3847148"/>
              <a:ext cx="796290" cy="917258"/>
            </a:xfrm>
            <a:custGeom>
              <a:avLst/>
              <a:gdLst/>
              <a:ahLst/>
              <a:cxnLst/>
              <a:rect l="l" t="t" r="r" b="b"/>
              <a:pathLst>
                <a:path w="796290" h="917258">
                  <a:moveTo>
                    <a:pt x="0" y="0"/>
                  </a:moveTo>
                  <a:lnTo>
                    <a:pt x="796290" y="91725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926908" y="3617595"/>
              <a:ext cx="995362" cy="1146810"/>
            </a:xfrm>
            <a:custGeom>
              <a:avLst/>
              <a:gdLst/>
              <a:ahLst/>
              <a:cxnLst/>
              <a:rect l="l" t="t" r="r" b="b"/>
              <a:pathLst>
                <a:path w="995362" h="1146810">
                  <a:moveTo>
                    <a:pt x="0" y="1146810"/>
                  </a:moveTo>
                  <a:lnTo>
                    <a:pt x="99536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979295" y="4887278"/>
              <a:ext cx="990600" cy="50482"/>
            </a:xfrm>
            <a:custGeom>
              <a:avLst/>
              <a:gdLst/>
              <a:ahLst/>
              <a:cxnLst/>
              <a:rect l="l" t="t" r="r" b="b"/>
              <a:pathLst>
                <a:path w="990600" h="50482">
                  <a:moveTo>
                    <a:pt x="0" y="0"/>
                  </a:moveTo>
                  <a:lnTo>
                    <a:pt x="990600" y="5048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133725" y="2687955"/>
              <a:ext cx="771525" cy="711517"/>
            </a:xfrm>
            <a:custGeom>
              <a:avLst/>
              <a:gdLst/>
              <a:ahLst/>
              <a:cxnLst/>
              <a:rect l="l" t="t" r="r" b="b"/>
              <a:pathLst>
                <a:path w="771525" h="711517">
                  <a:moveTo>
                    <a:pt x="0" y="711517"/>
                  </a:moveTo>
                  <a:lnTo>
                    <a:pt x="7715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148965" y="3586162"/>
              <a:ext cx="841057" cy="554355"/>
            </a:xfrm>
            <a:custGeom>
              <a:avLst/>
              <a:gdLst/>
              <a:ahLst/>
              <a:cxnLst/>
              <a:rect l="l" t="t" r="r" b="b"/>
              <a:pathLst>
                <a:path w="841057" h="554355">
                  <a:moveTo>
                    <a:pt x="0" y="0"/>
                  </a:moveTo>
                  <a:lnTo>
                    <a:pt x="841057" y="5543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245168" y="4312920"/>
              <a:ext cx="748665" cy="542925"/>
            </a:xfrm>
            <a:custGeom>
              <a:avLst/>
              <a:gdLst/>
              <a:ahLst/>
              <a:cxnLst/>
              <a:rect l="l" t="t" r="r" b="b"/>
              <a:pathLst>
                <a:path w="748665" h="542925">
                  <a:moveTo>
                    <a:pt x="0" y="542925"/>
                  </a:moveTo>
                  <a:lnTo>
                    <a:pt x="7486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139565" y="2675572"/>
              <a:ext cx="850582" cy="637223"/>
            </a:xfrm>
            <a:custGeom>
              <a:avLst/>
              <a:gdLst/>
              <a:ahLst/>
              <a:cxnLst/>
              <a:rect l="l" t="t" r="r" b="b"/>
              <a:pathLst>
                <a:path w="850582" h="637223">
                  <a:moveTo>
                    <a:pt x="0" y="0"/>
                  </a:moveTo>
                  <a:lnTo>
                    <a:pt x="850582" y="63722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234815" y="3501390"/>
              <a:ext cx="760095" cy="625792"/>
            </a:xfrm>
            <a:custGeom>
              <a:avLst/>
              <a:gdLst/>
              <a:ahLst/>
              <a:cxnLst/>
              <a:rect l="l" t="t" r="r" b="b"/>
              <a:pathLst>
                <a:path w="760095" h="625792">
                  <a:moveTo>
                    <a:pt x="0" y="625792"/>
                  </a:moveTo>
                  <a:lnTo>
                    <a:pt x="76009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132070" y="2407920"/>
              <a:ext cx="110490" cy="844867"/>
            </a:xfrm>
            <a:custGeom>
              <a:avLst/>
              <a:gdLst/>
              <a:ahLst/>
              <a:cxnLst/>
              <a:rect l="l" t="t" r="r" b="b"/>
              <a:pathLst>
                <a:path w="110490" h="844867">
                  <a:moveTo>
                    <a:pt x="0" y="844867"/>
                  </a:moveTo>
                  <a:lnTo>
                    <a:pt x="1104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689610" y="3589020"/>
              <a:ext cx="285750" cy="2857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684972" y="250698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784032" y="365474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1684972" y="473678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2879408" y="335946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3874770" y="244125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2978468" y="480250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3973830" y="4081462"/>
              <a:ext cx="285750" cy="28575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4970145" y="3261360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5118735" y="211359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92738" y="367569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88101" y="259365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87161" y="37414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788101" y="48234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82536" y="34461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977898" y="25288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81596" y="488918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076958" y="416814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73273" y="334803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21863" y="22002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263015" y="311277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294571" y="31418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358390" y="299751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389946" y="302656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312545" y="368617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344101" y="37152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407920" y="357187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439476" y="36009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263015" y="42271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294571" y="4256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2358390" y="41128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389946" y="41419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407920" y="483393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439476" y="486298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424238" y="2965132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454011" y="299418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-5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503295" y="378428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534851" y="38142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552825" y="450627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584381" y="453532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4498658" y="291560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530213" y="29446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548188" y="373570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579743" y="37647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092065" y="2751772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121839" y="278082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-1</a:t>
              </a:r>
            </a:p>
          </p:txBody>
        </p:sp>
      </p:grpSp>
      <p:grpSp>
        <p:nvGrpSpPr>
          <p:cNvPr id="86" name="c2-card-1"/>
          <p:cNvGrpSpPr/>
          <p:nvPr/>
        </p:nvGrpSpPr>
        <p:grpSpPr>
          <a:xfrm>
            <a:off x="5815965" y="1928812"/>
            <a:ext cx="5842635" cy="1772602"/>
            <a:chOff x="5815965" y="1928812"/>
            <a:chExt cx="5842635" cy="1772602"/>
          </a:xfrm>
        </p:grpSpPr>
        <p:sp>
          <p:nvSpPr>
            <p:cNvPr id="69" name="Rectangle 69"/>
            <p:cNvSpPr/>
            <p:nvPr/>
          </p:nvSpPr>
          <p:spPr>
            <a:xfrm>
              <a:off x="5815965" y="1928812"/>
              <a:ext cx="5842635" cy="1772602"/>
            </a:xfrm>
            <a:prstGeom prst="roundRect">
              <a:avLst>
                <a:gd name="adj" fmla="val 75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5825490" y="2062162"/>
              <a:ext cx="47625" cy="15059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035040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126759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01016" y="214931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找出满足四个条件的全部简单路径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035040" y="245459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086947" y="249021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304788" y="2465546"/>
              <a:ext cx="35023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从指定顶点 u 出发，且不经过顶点 v（v ≠ u）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6035040" y="273939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086947" y="277501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304788" y="2751296"/>
              <a:ext cx="28561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路径上的顶点总数不超过 m（m ≥ 2）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035040" y="302514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086947" y="30598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304788" y="3036094"/>
              <a:ext cx="2580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路径长度（边权之和）恰好等于 L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6035040" y="330993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086947" y="334556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304788" y="3320891"/>
              <a:ext cx="52707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每条路径存成一个单链表，头指针存入数组 PathList，返回路径条数</a:t>
              </a:r>
            </a:p>
          </p:txBody>
        </p:sp>
      </p:grpSp>
      <p:grpSp>
        <p:nvGrpSpPr>
          <p:cNvPr id="93" name="c2-card-2"/>
          <p:cNvGrpSpPr/>
          <p:nvPr/>
        </p:nvGrpSpPr>
        <p:grpSpPr>
          <a:xfrm>
            <a:off x="5815965" y="3866198"/>
            <a:ext cx="5842635" cy="1843088"/>
            <a:chOff x="5815965" y="3866198"/>
            <a:chExt cx="5842635" cy="1843088"/>
          </a:xfrm>
        </p:grpSpPr>
        <p:sp>
          <p:nvSpPr>
            <p:cNvPr id="87" name="Rectangle 87"/>
            <p:cNvSpPr/>
            <p:nvPr/>
          </p:nvSpPr>
          <p:spPr>
            <a:xfrm>
              <a:off x="5815965" y="3866198"/>
              <a:ext cx="5842635" cy="1843088"/>
            </a:xfrm>
            <a:prstGeom prst="roundRect">
              <a:avLst>
                <a:gd name="adj" fmla="val 7235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5996940" y="404717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081509" y="408003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设计思想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811518" y="408670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带三个剪枝的回溯搜索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5990463" y="4402931"/>
              <a:ext cx="523925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 u 出发做深度优先搜索，用一个数组记住当前路径。每走一步就检查三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件事：新顶点不是 v、不在当前路径上、路径顶点数没超过 m。长度恰好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等于 L 时就把当前路径建成链表收下。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5991606" y="5170170"/>
              <a:ext cx="517298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边权可正可负，所以长度不是单调增的，</a:t>
              </a:r>
              <a:r>
                <a:rPr lang="zh-CN" sz="10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不能用“长度已超过 L 就剪枝”</a:t>
              </a: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，必须走满 m 个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顶点为止。</a:t>
              </a:r>
            </a:p>
          </p:txBody>
        </p:sp>
      </p:grpSp>
      <p:grpSp>
        <p:nvGrpSpPr>
          <p:cNvPr id="10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94" name="Rectangle 9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8" name="Group 98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7" name="Freeform 97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9" name="TextBox 99"/>
            <p:cNvSpPr txBox="1"/>
            <p:nvPr/>
          </p:nvSpPr>
          <p:spPr>
            <a:xfrm>
              <a:off x="1041273" y="6039326"/>
              <a:ext cx="7672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这一句是本题最容易丢分的地方：负权让“长度超了就回头”的剪枝失效，只能靠 m 来限制搜索深度。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1" name="TextBox 101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682429" cy="909257"/>
            <a:chOff x="520446" y="342900"/>
            <a:chExt cx="26824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图遍历的应用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6824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FindPath 的实现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799195" cy="293370"/>
            <a:chOff x="525780" y="1548765"/>
            <a:chExt cx="8799195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7991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邻接表的边结点要多一个权值字段 cost。搜索部分与包装部分分开写，回溯时三样东西都要撤销。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5842635" cy="3317558"/>
            <a:chOff x="533400" y="1954530"/>
            <a:chExt cx="5842635" cy="3317558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842635" cy="3317558"/>
            </a:xfrm>
            <a:prstGeom prst="roundRect">
              <a:avLst>
                <a:gd name="adj" fmla="val 287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搜索主体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66296"/>
              <a:ext cx="4093083" cy="28308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cnt, path[MAXN], top;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结果条数、当前路径、路径长度 */</a:t>
              </a:r>
              <a:br/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vis[MAXN];        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vis[i]=1 表示 i 在当前路径上 */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Search(Vertex Head[],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cur,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len,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v,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L,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ListNode *PathList[])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(len == L &amp;&amp; top &gt;= 2)    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收下一条合格路径 */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PathList[cnt++] = BuildList(path, top);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(top == m)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     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顶点数到上限，收手 */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(Edge *p = Head[cur].adjacent; p; p = p-&gt;link) {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p-&gt;VerAdj;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== v || vis[k])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continue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绕开 v，不重复用点 */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vis[k] = 1;  path[top++] = k;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Search(Head, k, len + p-&gt;cost, v, L, m, PathList);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top--;  vis[k] = 0;              /* 回溯 */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6680835" y="1954530"/>
            <a:ext cx="4977765" cy="1995488"/>
            <a:chOff x="6680835" y="1954530"/>
            <a:chExt cx="4977765" cy="1995488"/>
          </a:xfrm>
        </p:grpSpPr>
        <p:sp>
          <p:nvSpPr>
            <p:cNvPr id="13" name="Rectangle 13"/>
            <p:cNvSpPr/>
            <p:nvPr/>
          </p:nvSpPr>
          <p:spPr>
            <a:xfrm>
              <a:off x="6680835" y="1954530"/>
              <a:ext cx="4977765" cy="1995488"/>
            </a:xfrm>
            <a:prstGeom prst="roundRect">
              <a:avLst>
                <a:gd name="adj" fmla="val 477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809232" y="210645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包装函数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09422" y="2366296"/>
              <a:ext cx="3409569" cy="1504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05"/>
                </a:lnSpc>
              </a:pP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FindPath(Vertex Head[],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u,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v,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L,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m, ListNode *PathList[])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cnt = 0;  top = 0;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 vis[i] = 0;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vis[u] = 1;  path[top++] = u;   </a:t>
              </a:r>
              <a:r>
                <a:rPr lang="zh-CN" sz="9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起点先进路径 */</a:t>
              </a:r>
              <a:br/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Search(Head, u, 0, v, L, m, PathList);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cnt;</a:t>
              </a:r>
              <a:br/>
              <a:r>
                <a:rPr lang="zh-CN" sz="9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8" name="c2-card-2"/>
          <p:cNvGrpSpPr/>
          <p:nvPr/>
        </p:nvGrpSpPr>
        <p:grpSpPr>
          <a:xfrm>
            <a:off x="6680835" y="4130040"/>
            <a:ext cx="4977765" cy="2175510"/>
            <a:chOff x="6680835" y="4130040"/>
            <a:chExt cx="4977765" cy="2175510"/>
          </a:xfrm>
        </p:grpSpPr>
        <p:sp>
          <p:nvSpPr>
            <p:cNvPr id="17" name="Rectangle 17"/>
            <p:cNvSpPr/>
            <p:nvPr/>
          </p:nvSpPr>
          <p:spPr>
            <a:xfrm>
              <a:off x="6680835" y="4130040"/>
              <a:ext cx="4977765" cy="2175510"/>
            </a:xfrm>
            <a:prstGeom prst="roundRect">
              <a:avLst>
                <a:gd name="adj" fmla="val 6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690360" y="4263390"/>
              <a:ext cx="47625" cy="190881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917055" y="432816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00494" y="43624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三个细节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67066" y="436292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判分点都在这里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924675" y="476726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081266" y="4706779"/>
              <a:ext cx="42773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`top &gt;= 2` 保证至少有一条边，单个顶点不算路径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924675" y="508444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81266" y="5024914"/>
              <a:ext cx="412623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 `top == m` 要放在收路径之后，否则会漏掉正好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个顶点的那一条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924675" y="567404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81266" y="5613559"/>
              <a:ext cx="412623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BuildList 把 path[0..top−1] 复制成一条单链表，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O(m)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42115" cy="909257"/>
            <a:chOff x="520446" y="342900"/>
            <a:chExt cx="47421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 · 图遍历的应用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421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FindPath 的结果核对与复杂度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621399" cy="264033"/>
            <a:chOff x="526542" y="1545907"/>
            <a:chExt cx="662139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621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题面给的样例是 u = 1、v = 8、L = 10、m = 5，答案是 5 条路径。逐条核对一遍。</a:t>
              </a:r>
            </a:p>
          </p:txBody>
        </p:sp>
      </p:grpSp>
      <p:grpSp>
        <p:nvGrpSpPr>
          <p:cNvPr id="44" name="c1-table-1"/>
          <p:cNvGrpSpPr/>
          <p:nvPr/>
        </p:nvGrpSpPr>
        <p:grpSpPr>
          <a:xfrm>
            <a:off x="533400" y="1928812"/>
            <a:ext cx="6276022" cy="2287905"/>
            <a:chOff x="533400" y="1928812"/>
            <a:chExt cx="6276022" cy="22879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27602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27785" y="20459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20986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边权累加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85207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56341" y="2045970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是否经过 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078" y="2426970"/>
              <a:ext cx="596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→ 0 → 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11171" y="2426970"/>
              <a:ext cx="646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+ 4 = 10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95279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900166" y="2426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687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69176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808923"/>
              <a:ext cx="8492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→ 3 → 5 → 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11171" y="2808923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+ 3 + 2 = 10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95279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00166" y="280892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068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189923"/>
              <a:ext cx="11015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→ 4 → 5 → 2 → 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11171" y="3189923"/>
              <a:ext cx="11273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+ 2 − 5 + 8 = 10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95279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00166" y="318992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449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45376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3571875"/>
              <a:ext cx="8492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→ 4 → 5 → 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11171" y="3571875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+ 2 + 3 = 10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95279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00166" y="357187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83095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8078" y="3952875"/>
              <a:ext cx="596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→ 4 → 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511171" y="3952875"/>
              <a:ext cx="646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+ 5 = 10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95279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900166" y="395287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928812"/>
              <a:ext cx="6276022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2411730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795838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800725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4" name="c1-card-2"/>
          <p:cNvGrpSpPr/>
          <p:nvPr/>
        </p:nvGrpSpPr>
        <p:grpSpPr>
          <a:xfrm>
            <a:off x="533400" y="4381500"/>
            <a:ext cx="6276022" cy="1202055"/>
            <a:chOff x="533400" y="4381500"/>
            <a:chExt cx="6276022" cy="1202055"/>
          </a:xfrm>
        </p:grpSpPr>
        <p:sp>
          <p:nvSpPr>
            <p:cNvPr id="45" name="Rectangle 45"/>
            <p:cNvSpPr/>
            <p:nvPr/>
          </p:nvSpPr>
          <p:spPr>
            <a:xfrm>
              <a:off x="533400" y="4381500"/>
              <a:ext cx="6276022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42925" y="4514850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52475" y="456247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18693" y="459533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两个限制都在起作用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189988" y="460200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去掉任何一个，答案都会变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62000" y="497109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17448" y="4919186"/>
              <a:ext cx="5285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放宽到 6，多出 1 → 3 → 5 → 2 → 7 → 9（5+3−5+8−1 = 10），共 6 条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62000" y="525684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17448" y="5203984"/>
              <a:ext cx="49411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允许经过 8，多出 1 → 3 → 5 → 8 → 6 和 1 → 3 → 5 → 8 → 7，共 7 条</a:t>
              </a:r>
            </a:p>
          </p:txBody>
        </p:sp>
      </p:grpSp>
      <p:grpSp>
        <p:nvGrpSpPr>
          <p:cNvPr id="62" name="c2-card-1"/>
          <p:cNvGrpSpPr/>
          <p:nvPr/>
        </p:nvGrpSpPr>
        <p:grpSpPr>
          <a:xfrm>
            <a:off x="7114222" y="1928812"/>
            <a:ext cx="4544378" cy="1843088"/>
            <a:chOff x="7114222" y="1928812"/>
            <a:chExt cx="4544378" cy="1843088"/>
          </a:xfrm>
        </p:grpSpPr>
        <p:sp>
          <p:nvSpPr>
            <p:cNvPr id="55" name="Rectangle 55"/>
            <p:cNvSpPr/>
            <p:nvPr/>
          </p:nvSpPr>
          <p:spPr>
            <a:xfrm>
              <a:off x="7114222" y="1928812"/>
              <a:ext cx="4544378" cy="1843088"/>
            </a:xfrm>
            <a:prstGeom prst="roundRect">
              <a:avLst>
                <a:gd name="adj" fmla="val 72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123748" y="2062162"/>
              <a:ext cx="47625" cy="157638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333298" y="210978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421918" y="21426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24051" y="2149316"/>
              <a:ext cx="15097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 O(m · nᵐ⁻¹)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26820" y="2465546"/>
              <a:ext cx="394690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搜索树的每个结点最多有 n − 1 个分支，深度最多 m 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层，所以结点数是 O(nᵐ⁻¹)；每收下一条路径要建长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度不超过 m 的链表，代价 O(m)。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27964" y="3232785"/>
              <a:ext cx="393782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用邻接表时分支数其实是 d(cur)，稀疏图上远小于 n，实际运行快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得多。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7114222" y="3935730"/>
            <a:ext cx="4544378" cy="1647825"/>
            <a:chOff x="7114222" y="3935730"/>
            <a:chExt cx="4544378" cy="1647825"/>
          </a:xfrm>
        </p:grpSpPr>
        <p:sp>
          <p:nvSpPr>
            <p:cNvPr id="63" name="Rectangle 63"/>
            <p:cNvSpPr/>
            <p:nvPr/>
          </p:nvSpPr>
          <p:spPr>
            <a:xfrm>
              <a:off x="7114222" y="3935730"/>
              <a:ext cx="4544378" cy="1647825"/>
            </a:xfrm>
            <a:prstGeom prst="roundRect">
              <a:avLst>
                <a:gd name="adj" fmla="val 80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123748" y="4069080"/>
              <a:ext cx="47625" cy="138112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333298" y="411670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425017" y="414956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899273" y="4157186"/>
              <a:ext cx="22025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这里为什么不能写 O(n + e)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26820" y="4473416"/>
              <a:ext cx="39143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前面几个应用每个顶点只访问一次，所以是 O(n+e)。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本题要枚举全部路径，同一个顶点会在不同路径上被反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复访问，代价由路径条数决定，与遍历不是一回事。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0" name="Rectangle 7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1273" y="6039326"/>
              <a:ext cx="68747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凡是回溯时要复位 visited 的题目，复杂度都不再是 O(n+e)，而要按搜索树的规模来估。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42644" cy="909257"/>
            <a:chOff x="520446" y="342900"/>
            <a:chExt cx="13426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442198" cy="264033"/>
            <a:chOff x="526542" y="1545907"/>
            <a:chExt cx="844219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442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先自己写出答案再看解答。另外自问两题：为什么 BFS 不需要递归？为什么并查集判环搬不到有向图上？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1914525"/>
            <a:chOff x="533400" y="1928812"/>
            <a:chExt cx="3505200" cy="191452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22440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邻接表存图时 DFS 与 BFS 都是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O(n+e)，换成邻接矩阵呢？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29796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都变成 O(n²)。找一个顶点的全部邻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接点要扫矩阵的一整行，n 个顶点共 n²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次判断，与 e 多少无关。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08120"/>
            <a:ext cx="3505200" cy="2157412"/>
            <a:chOff x="533400" y="4008120"/>
            <a:chExt cx="3505200" cy="2157412"/>
          </a:xfrm>
        </p:grpSpPr>
        <p:sp>
          <p:nvSpPr>
            <p:cNvPr id="15" name="Rectangle 15"/>
            <p:cNvSpPr/>
            <p:nvPr/>
          </p:nvSpPr>
          <p:spPr>
            <a:xfrm>
              <a:off x="53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529614"/>
              <a:ext cx="278419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无向图判环为什么要传 pre？不传会怎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样？这个办法有什么前提？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5057299"/>
              <a:ext cx="2995930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不传的话走到 B 时会看到已访问的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A，而 A 正是它的来路，立刻误判。前提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是简单图：A、B 间若有平行边，pre 法会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漏判。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1914525"/>
            <a:chOff x="4343400" y="1928812"/>
            <a:chExt cx="3505200" cy="1914525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2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7898" y="2449354"/>
              <a:ext cx="2860599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非递归 DFS 里顶点进栈前已判过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visited，出栈时为什么还要再判一次？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7898" y="2977991"/>
              <a:ext cx="29390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一个顶点可被多个已访问顶点分别压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栈。A→B、A→C、C→B 中 B 进栈 2 次，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第二次弹出时它已被访问，必须丢弃。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008120"/>
            <a:ext cx="3505200" cy="2157412"/>
            <a:chOff x="4343400" y="4008120"/>
            <a:chExt cx="3505200" cy="2157412"/>
          </a:xfrm>
        </p:grpSpPr>
        <p:sp>
          <p:nvSpPr>
            <p:cNvPr id="27" name="Rectangle 27"/>
            <p:cNvSpPr/>
            <p:nvPr/>
          </p:nvSpPr>
          <p:spPr>
            <a:xfrm>
              <a:off x="434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2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7898" y="4529614"/>
              <a:ext cx="302194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有向图判环时 visited 的 0、1、2 各是什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么意思？为什么两种取值不够？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7898" y="5057299"/>
              <a:ext cx="2987802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未访问；1 已访问但邻接点没遍历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完，在当前路径上；2 自身及邻接点都遍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历完。遇到 1 才是环，遇到 2 是撞上走完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的旧分支。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2157412"/>
            <a:chOff x="8153400" y="1928812"/>
            <a:chExt cx="3505200" cy="2157412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3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7898" y="2449354"/>
              <a:ext cx="29979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同一张图、同一个起点，递归 DFS 和非递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 DFS 的访问序列一定相同吗？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27898" y="2977991"/>
              <a:ext cx="293903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不一定。第 15 页那张图递归得 A B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D E F G，非递归得 A G F B C E D：邻接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点全压栈后压的先弹，相当于按邻接表逆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序深入。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251008"/>
            <a:ext cx="3505200" cy="1914525"/>
            <a:chOff x="8153400" y="4251008"/>
            <a:chExt cx="3505200" cy="1914525"/>
          </a:xfrm>
        </p:grpSpPr>
        <p:sp>
          <p:nvSpPr>
            <p:cNvPr id="39" name="Rectangle 39"/>
            <p:cNvSpPr/>
            <p:nvPr/>
          </p:nvSpPr>
          <p:spPr>
            <a:xfrm>
              <a:off x="8153400" y="4251008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34375" y="443198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3832" y="446484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7898" y="4772501"/>
              <a:ext cx="294553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13 个顶点的无向图要调用 8 次 DFS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才遍历完，它最少、最多各有多少条边？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7898" y="5300186"/>
              <a:ext cx="295529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说明有 8 个连通分量。最少 13 − 8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条（每个分量都是树）；最多 15 条（7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个孤立点加一个 6 顶点完全图）。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296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9388" y="407194"/>
              <a:ext cx="11377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第13讲 图的遍历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287905"/>
            <a:chOff x="533400" y="1524000"/>
            <a:chExt cx="5842635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0597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9286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图的遍历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96796" y="2023110"/>
              <a:ext cx="35373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每个顶点恰访问一次；靠 visited 挡住沿回路的重复访问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DFS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96796" y="240411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可行则进、不行则换、换不了则退；递归栈或显式栈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96796" y="2785110"/>
              <a:ext cx="30991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一层一层推进，必须用队列；入队时就访问并置 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96796" y="3167062"/>
              <a:ext cx="3523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走过的 n − 1 条边是树边，其余是回边，回边意味着有环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96796" y="3548062"/>
              <a:ext cx="32603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邻接表 O(n+e)、邻接矩阵 O(n²)；额外空间 O(n)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697355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2"/>
          <p:cNvGrpSpPr/>
          <p:nvPr/>
        </p:nvGrpSpPr>
        <p:grpSpPr>
          <a:xfrm>
            <a:off x="533400" y="3976688"/>
            <a:ext cx="5842635" cy="1671638"/>
            <a:chOff x="533400" y="3976688"/>
            <a:chExt cx="5842635" cy="1671638"/>
          </a:xfrm>
        </p:grpSpPr>
        <p:sp>
          <p:nvSpPr>
            <p:cNvPr id="29" name="Rectangle 29"/>
            <p:cNvSpPr/>
            <p:nvPr/>
          </p:nvSpPr>
          <p:spPr>
            <a:xfrm>
              <a:off x="533400" y="3976688"/>
              <a:ext cx="584263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10038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157662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3440" y="41905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45510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4498181"/>
              <a:ext cx="49385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 4 处：第 33 页 i 未声明、n 不在参数表；第 50 页缺左花括号；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49 页用了中文引号；第 57 页注释说反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507873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5025866"/>
              <a:ext cx="49466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补充：并查集 O(n+e) 的前提、非递归 DFS 的 O(e) 栈空间、期末题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完整代码</a:t>
              </a:r>
            </a:p>
          </p:txBody>
        </p:sp>
      </p:grpSp>
      <p:grpSp>
        <p:nvGrpSpPr>
          <p:cNvPr id="53" name="c2-bullets-1"/>
          <p:cNvGrpSpPr/>
          <p:nvPr/>
        </p:nvGrpSpPr>
        <p:grpSpPr>
          <a:xfrm>
            <a:off x="6681788" y="1533525"/>
            <a:ext cx="5010597" cy="1918620"/>
            <a:chOff x="6681788" y="1533525"/>
            <a:chExt cx="5010597" cy="1918620"/>
          </a:xfrm>
        </p:grpSpPr>
        <p:sp>
          <p:nvSpPr>
            <p:cNvPr id="38" name="Ellipse 38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51536" y="1545431"/>
              <a:ext cx="45620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看到“访问所有顶点”“可达”“连通”“有没有环”，先想到遍历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681788" y="182689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33694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51536" y="1837849"/>
              <a:ext cx="47408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DFS 和 BFS 的骨架只差一个容器，栈换队列就从深度变成广度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681788" y="212026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33694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51536" y="2131219"/>
              <a:ext cx="4198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O(n+e) 都要跟一句前提：邻接表存图、visited 判重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681788" y="265652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33694" y="269119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51536" y="2667476"/>
              <a:ext cx="43939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只问有没有的题目 visited 不复位；要列出全部方案的题目回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溯时必须复位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81788" y="319182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33694" y="32274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51536" y="320278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无向图判环记前驱就够，有向图判环要记三种状态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680835" y="3567112"/>
            <a:ext cx="4977765" cy="2082165"/>
            <a:chOff x="6680835" y="3567112"/>
            <a:chExt cx="4977765" cy="2082165"/>
          </a:xfrm>
        </p:grpSpPr>
        <p:sp>
          <p:nvSpPr>
            <p:cNvPr id="54" name="Rectangle 54"/>
            <p:cNvSpPr/>
            <p:nvPr/>
          </p:nvSpPr>
          <p:spPr>
            <a:xfrm>
              <a:off x="6680835" y="3567112"/>
              <a:ext cx="4977765" cy="2082165"/>
            </a:xfrm>
            <a:prstGeom prst="roundRect">
              <a:avLst>
                <a:gd name="adj" fmla="val 640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861810" y="37480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47332" y="37809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871335" y="414051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26783" y="4088606"/>
              <a:ext cx="42151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画一张 8 到 10 个顶点的连通图，写出邻接表，从同一个起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点手推 DFS 与 BFS 两个序列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871335" y="466820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26783" y="4616291"/>
              <a:ext cx="42395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再画出两棵生成树，数一数回边有几条，并判断图里有没有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环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2" name="Rectangle 6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1273" y="6039326"/>
              <a:ext cx="98520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下一讲讲拓扑排序与关键路径。拓扑排序要处理的正是有向无环图，判断“能不能排”用的就是本讲最后那套三种状态的判环方法。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第13讲 图的遍历及应用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13">
  <a:themeElements>
    <a:clrScheme name="ds_l1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13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1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2026-09-19T13:13:44Z</dcterms:created>
  <dcterms:modified xsi:type="dcterms:W3CDTF">2026-09-19T13:13:44Z</dcterms:modified>
  <cp:category/>
  <cp:contentStatus/>
</cp:coreProperties>
</file>