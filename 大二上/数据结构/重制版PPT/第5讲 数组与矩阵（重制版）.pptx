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s_l05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s_l05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bd21fb69e336384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eec33e1283358c1a.png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1b522c112214ed8.png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389882" cy="3437763"/>
            <a:chOff x="666750" y="1619250"/>
            <a:chExt cx="4389882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529715" cy="3429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15751" y="1718310"/>
              <a:ext cx="12698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数据结构 · 第5讲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86512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数组与矩阵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3799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寻址公式、压缩存储与数组上的经典算法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多维数组怎么寻址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特殊矩阵怎么压缩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稀疏矩阵怎么存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数组上的算法技巧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152252" cy="205359"/>
            <a:chOff x="680466" y="6192202"/>
            <a:chExt cx="4152252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1522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自学复习版｜据吉林大学《数据结构》第 5 讲课件整理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8969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7064" y="407194"/>
              <a:ext cx="1201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第5讲 数组与矩阵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数组的存储与寻址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按行优先把多维下标折成一个偏移量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特殊矩阵的压缩存储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对角、三角、对称、三对角四种矩阵的映射公式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稀疏矩阵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三元组表与转置算法，十字链表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动态规划初探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从斐波那契到网格路径、最大子数组和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区间问题处理技巧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26802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前缀和、差分数组、ST 表、尺取法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子集生成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用二进制计数器枚举幂集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给定数组各维长度和一个下标，算出该元素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的存储地址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253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对对角、三角、对称、三对角矩阵写出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M(i, j) 到 d 下标的映射公式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说出三元组表和十字链表各自快在哪、各自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的代价是什么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给定一个递推式，写出自底向上的填表代码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并判断能否用滚动数组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判断一个区间问题该用前缀和、差分数组、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 表还是尺取法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第5讲 数组与矩阵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3913632" cy="2997517"/>
            <a:chOff x="667512" y="1835468"/>
            <a:chExt cx="3913632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数组的存储与寻址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内存只有一维，多维只是下标的写法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按行优先的含义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06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维数组的通用地址公式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系数怎么一层层算出来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第5讲 数组与矩阵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32916" cy="909257"/>
            <a:chOff x="520446" y="342900"/>
            <a:chExt cx="593291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第5讲 数组与矩阵 · 数组的存储与寻址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3291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按行优先：把 n 个下标折成一个偏移量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10910621" cy="278702"/>
            <a:chOff x="526161" y="1547336"/>
            <a:chExt cx="10910621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1091062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内存是一条连续的一维地址，多维数组只是给同一条地址起了多层下标。编译器要做的事，是把一组下标换算成离首地址的距离。</a:t>
              </a:r>
            </a:p>
          </p:txBody>
        </p:sp>
      </p:grpSp>
      <p:grpSp>
        <p:nvGrpSpPr>
          <p:cNvPr id="16" name="c1-card-1"/>
          <p:cNvGrpSpPr/>
          <p:nvPr/>
        </p:nvGrpSpPr>
        <p:grpSpPr>
          <a:xfrm>
            <a:off x="533400" y="1941195"/>
            <a:ext cx="5842635" cy="1697355"/>
            <a:chOff x="533400" y="1941195"/>
            <a:chExt cx="5842635" cy="1697355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842635" cy="1697355"/>
            </a:xfrm>
            <a:prstGeom prst="roundRect">
              <a:avLst>
                <a:gd name="adj" fmla="val 785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74545"/>
              <a:ext cx="47625" cy="143065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3905" y="21336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5345" y="2167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47597" y="2173605"/>
              <a:ext cx="20296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按行优先（row major）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7047" y="2507932"/>
              <a:ext cx="5157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最右边的下标变化最快。走完一整行，最右下标归零，次右下标才加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8190" y="3063716"/>
              <a:ext cx="518185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C、C++、Java 用按行优先；Fortran、MATLAB 用按列优先，本讲的公式只适用于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前者。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formula5"/>
              <p:cNvSpPr txBox="1">
                <a:spLocks noGrp="1"/>
              </p:cNvSpPr>
              <p:nvPr/>
            </p:nvSpPr>
            <p:spPr>
              <a:xfrm>
                <a:off x="533400" y="3813810"/>
                <a:ext cx="5842635" cy="7667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LOC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,…,</m:t>
                          </m:r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LOC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,…,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p>
                            <m:e>
                              <m:sSub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sub>
                              </m:sSub>
                              <m:nary>
                                <m:naryPr>
                                  <m:chr m:val="∏"/>
                                  <m:limLoc m:val="undOvr"/>
                                  <m:grow m:val="off"/>
                                  <m:subHide m:val="off"/>
                                  <m:supHide m:val="off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naryPr>
                                <m:sub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p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=</m:t>
                                  </m:r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p>
                                <m:e>
                                  <m:sSub>
                                    <m:e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m</m:t>
                                      </m:r>
                                    </m:e>
                                    <m:sub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p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nary>
                        </m:e>
                      </m:d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23" name="c1-kv-3"/>
          <p:cNvGrpSpPr/>
          <p:nvPr/>
        </p:nvGrpSpPr>
        <p:grpSpPr>
          <a:xfrm>
            <a:off x="526542" y="4778692"/>
            <a:ext cx="5849493" cy="661226"/>
            <a:chOff x="526542" y="4778692"/>
            <a:chExt cx="5849493" cy="661226"/>
          </a:xfrm>
        </p:grpSpPr>
        <p:sp>
          <p:nvSpPr>
            <p:cNvPr id="18" name="TextBox 18"/>
            <p:cNvSpPr txBox="1"/>
            <p:nvPr/>
          </p:nvSpPr>
          <p:spPr>
            <a:xfrm>
              <a:off x="526542" y="4778692"/>
              <a:ext cx="2617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mₖ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18032" y="4778692"/>
              <a:ext cx="1494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k 维的元素个数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506730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6542" y="5175885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18032" y="517588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一个元素占的存储单元数</a:t>
              </a:r>
            </a:p>
          </p:txBody>
        </p:sp>
      </p:grpSp>
      <p:grpSp>
        <p:nvGrpSpPr>
          <p:cNvPr id="43" name="c2-cells-1"/>
          <p:cNvGrpSpPr/>
          <p:nvPr/>
        </p:nvGrpSpPr>
        <p:grpSpPr>
          <a:xfrm>
            <a:off x="6676072" y="1941195"/>
            <a:ext cx="4625340" cy="597694"/>
            <a:chOff x="6676072" y="1941195"/>
            <a:chExt cx="4625340" cy="597694"/>
          </a:xfrm>
        </p:grpSpPr>
        <p:sp>
          <p:nvSpPr>
            <p:cNvPr id="24" name="TextBox 24"/>
            <p:cNvSpPr txBox="1"/>
            <p:nvPr/>
          </p:nvSpPr>
          <p:spPr>
            <a:xfrm>
              <a:off x="6676072" y="207645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内存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042785" y="1941195"/>
              <a:ext cx="70961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148414" y="2076450"/>
              <a:ext cx="4993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a[0][0]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753350" y="1941195"/>
              <a:ext cx="70961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858027" y="2076450"/>
              <a:ext cx="4993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a[0][1]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462962" y="1941195"/>
              <a:ext cx="70961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567639" y="2076450"/>
              <a:ext cx="4993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a[0][2]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9172575" y="1941195"/>
              <a:ext cx="709612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277252" y="2076450"/>
              <a:ext cx="4993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a[1][0]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9882188" y="1941195"/>
              <a:ext cx="70961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986864" y="2076450"/>
              <a:ext cx="4993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a[1][1]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0591800" y="1941195"/>
              <a:ext cx="70961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696477" y="2076450"/>
              <a:ext cx="4993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a[1][2]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62948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072561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782173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491786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201398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911011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  <p:grpSp>
        <p:nvGrpSpPr>
          <p:cNvPr id="53" name="c2-card-2"/>
          <p:cNvGrpSpPr/>
          <p:nvPr/>
        </p:nvGrpSpPr>
        <p:grpSpPr>
          <a:xfrm>
            <a:off x="6680835" y="2679382"/>
            <a:ext cx="4977765" cy="2707958"/>
            <a:chOff x="6680835" y="2679382"/>
            <a:chExt cx="4977765" cy="2707958"/>
          </a:xfrm>
        </p:grpSpPr>
        <p:sp>
          <p:nvSpPr>
            <p:cNvPr id="44" name="Rectangle 44"/>
            <p:cNvSpPr/>
            <p:nvPr/>
          </p:nvSpPr>
          <p:spPr>
            <a:xfrm>
              <a:off x="6680835" y="2679382"/>
              <a:ext cx="4977765" cy="2707958"/>
            </a:xfrm>
            <a:prstGeom prst="roundRect">
              <a:avLst>
                <a:gd name="adj" fmla="val 49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690360" y="2812732"/>
              <a:ext cx="47625" cy="244125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911340" y="2871788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982778" y="290607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怎么读这条公式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904482" y="3228022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k 维下标每加 1，就跨过后面所有维合起来的一整块，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块里有 mₖ₊₁ × mₖ₊₂ × … × mₙ 个元素。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919912" y="384429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075932" y="3788092"/>
              <a:ext cx="38847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把各维跨过的元素数加起来，就是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总偏移元素数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919912" y="414623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075932" y="4090035"/>
              <a:ext cx="30847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再乘以每个元素的长度 C，才是字节数</a:t>
              </a:r>
            </a:p>
          </p:txBody>
        </p:sp>
      </p:grpSp>
      <p:grpSp>
        <p:nvGrpSpPr>
          <p:cNvPr id="5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4" name="Rectangle 54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0892" y="6023610"/>
              <a:ext cx="98007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这条公式让数组按下标访问是 O(1)。前提是元素等长、空间连续、内存可随机访问；一旦数组开在外存上，就不再成立。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第5讲 数组与矩阵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06315" cy="909257"/>
            <a:chOff x="520446" y="342900"/>
            <a:chExt cx="730631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第5讲 数组与矩阵 · 数组的存储与寻址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0631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例：四维数组 A[3][5][11][3] 的地址怎么算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0247395" cy="264033"/>
            <a:chOff x="526542" y="1545907"/>
            <a:chExt cx="1024739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02473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各维元素个数 m = (3, 5, 11, 3)，每个元素占 4 个存储单元，A[0][0][0][0] 的地址是 1000。求 A[1][2][6][1] 的地址。</a:t>
              </a:r>
            </a:p>
          </p:txBody>
        </p:sp>
      </p:grpSp>
      <p:grpSp>
        <p:nvGrpSpPr>
          <p:cNvPr id="26" name="c1-steps-1"/>
          <p:cNvGrpSpPr/>
          <p:nvPr/>
        </p:nvGrpSpPr>
        <p:grpSpPr>
          <a:xfrm>
            <a:off x="533400" y="1938338"/>
            <a:ext cx="5225034" cy="2342769"/>
            <a:chOff x="533400" y="1938338"/>
            <a:chExt cx="5225034" cy="2342769"/>
          </a:xfrm>
        </p:grpSpPr>
        <p:sp>
          <p:nvSpPr>
            <p:cNvPr id="9" name="Rectangle 9"/>
            <p:cNvSpPr/>
            <p:nvPr/>
          </p:nvSpPr>
          <p:spPr>
            <a:xfrm>
              <a:off x="666750" y="2081212"/>
              <a:ext cx="19050" cy="18526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3833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121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68414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579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23754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3113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79095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8647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023" y="1968341"/>
              <a:ext cx="16180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第一步 算各维的系数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7166" y="2223135"/>
              <a:ext cx="481126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下标 i 每加 1 跨过 5×11×3 = 165 个元素；j 跨过 11×3 = 33 个；k 跨过 3 个；l 跨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 1 个。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023" y="2715101"/>
              <a:ext cx="12734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第二步 写出通式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7166" y="2969895"/>
              <a:ext cx="37110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Loc(A[i][j][k][l]) = Loc(A) + (165i + 33j + 3k + l) × C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023" y="3268504"/>
              <a:ext cx="12734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第三步 代入下标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7166" y="3522345"/>
              <a:ext cx="31769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165×1 + 33×2 + 3×6 + 1 = 165 + 66 + 18 + 1 = 250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023" y="3820954"/>
              <a:ext cx="16180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第四步 乘长度加基址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7166" y="4075748"/>
              <a:ext cx="14467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1000 + 4 × 250 = </a:t>
              </a:r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2000</a:t>
              </a:r>
            </a:p>
          </p:txBody>
        </p:sp>
      </p:grpSp>
      <p:grpSp>
        <p:nvGrpSpPr>
          <p:cNvPr id="33" name="c1-card-2"/>
          <p:cNvGrpSpPr/>
          <p:nvPr/>
        </p:nvGrpSpPr>
        <p:grpSpPr>
          <a:xfrm>
            <a:off x="533400" y="4442460"/>
            <a:ext cx="5626418" cy="1160145"/>
            <a:chOff x="533400" y="4442460"/>
            <a:chExt cx="5626418" cy="1160145"/>
          </a:xfrm>
        </p:grpSpPr>
        <p:sp>
          <p:nvSpPr>
            <p:cNvPr id="27" name="Rectangle 27"/>
            <p:cNvSpPr/>
            <p:nvPr/>
          </p:nvSpPr>
          <p:spPr>
            <a:xfrm>
              <a:off x="533400" y="4442460"/>
              <a:ext cx="5626418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4575810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52475" y="462343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45147" y="465629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自检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18450" y="466296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换个下标再算一遍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5998" y="4980146"/>
              <a:ext cx="46052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A[2][4][10][2] 的偏移 165×2 + 33×4 + 3×10 + 2 = 494，地址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 + 4×494 = 2976，正好是末元素。</a:t>
              </a:r>
            </a:p>
          </p:txBody>
        </p:sp>
      </p:grpSp>
      <p:grpSp>
        <p:nvGrpSpPr>
          <p:cNvPr id="65" name="c2-table-1"/>
          <p:cNvGrpSpPr/>
          <p:nvPr/>
        </p:nvGrpSpPr>
        <p:grpSpPr>
          <a:xfrm>
            <a:off x="6464618" y="1928812"/>
            <a:ext cx="5193982" cy="1906905"/>
            <a:chOff x="6464618" y="1928812"/>
            <a:chExt cx="5193982" cy="1906905"/>
          </a:xfrm>
        </p:grpSpPr>
        <p:sp>
          <p:nvSpPr>
            <p:cNvPr id="34" name="Rectangle 34"/>
            <p:cNvSpPr/>
            <p:nvPr/>
          </p:nvSpPr>
          <p:spPr>
            <a:xfrm>
              <a:off x="6464618" y="1928812"/>
              <a:ext cx="5193982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00076" y="204597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维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89810" y="2045970"/>
              <a:ext cx="5308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长度 mₖ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35696" y="204597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该维的系数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053066" y="204597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系数怎么来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59296" y="2426970"/>
              <a:ext cx="55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183184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032432" y="2319338"/>
              <a:ext cx="1123950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117586" y="242697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260586" y="2426970"/>
              <a:ext cx="6467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× 11 × 3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464618" y="268700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464618" y="2691765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59296" y="2808923"/>
              <a:ext cx="55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83184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117586" y="2808923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260586" y="2808923"/>
              <a:ext cx="4064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 × 3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464618" y="306800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59296" y="31899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183184" y="3189923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117586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260586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464618" y="344900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464618" y="3453765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559296" y="3571875"/>
              <a:ext cx="55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183184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117586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260586" y="3571875"/>
              <a:ext cx="12616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最后一维系数恒为 1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464618" y="1928812"/>
              <a:ext cx="5193982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7083742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8018145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9161145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2" name="c2-callout-2"/>
          <p:cNvGrpSpPr/>
          <p:nvPr/>
        </p:nvGrpSpPr>
        <p:grpSpPr>
          <a:xfrm>
            <a:off x="6464618" y="4000500"/>
            <a:ext cx="5193982" cy="1603058"/>
            <a:chOff x="6464618" y="4000500"/>
            <a:chExt cx="5193982" cy="1603058"/>
          </a:xfrm>
        </p:grpSpPr>
        <p:sp>
          <p:nvSpPr>
            <p:cNvPr id="66" name="Rectangle 66"/>
            <p:cNvSpPr/>
            <p:nvPr/>
          </p:nvSpPr>
          <p:spPr>
            <a:xfrm>
              <a:off x="6464618" y="4000500"/>
              <a:ext cx="5193982" cy="1603058"/>
            </a:xfrm>
            <a:prstGeom prst="roundRect">
              <a:avLst>
                <a:gd name="adj" fmla="val 713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6657347" y="4697848"/>
              <a:ext cx="224134" cy="192560"/>
              <a:chOff x="6657347" y="4697848"/>
              <a:chExt cx="224134" cy="192560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6769418" y="476821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657347" y="469784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6769418" y="48460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6972491" y="4595336"/>
              <a:ext cx="41988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系数只与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它后面</a:t>
              </a: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 的维度有关，与本维的长度 3 无关。第一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维长度 3 只用来判断下标越界，不进入任何系数。</a:t>
              </a:r>
            </a:p>
          </p:txBody>
        </p:sp>
      </p:grpSp>
      <p:grpSp>
        <p:nvGrpSpPr>
          <p:cNvPr id="7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73" name="Rectangle 7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1041273" y="6039326"/>
              <a:ext cx="85405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整个数组共 3×5×11×3 = 495 个元素，下标 A[1][2][6][1] 排在第 251 个位置（前面有 250 个），没有越界。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第5讲 数组与矩阵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398264" cy="2997517"/>
            <a:chOff x="667512" y="1835468"/>
            <a:chExt cx="4398264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特殊矩阵的压缩存储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零元素分布有规律时，只存有用的那一部分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压缩前先回答两个问题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对角、三角、对称、三对角四种矩阵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映射公式的统一推导方法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第5讲 数组与矩阵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第5讲 数组与矩阵 · 特殊矩阵的压缩存储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压缩存储要回答两个问题：多大、放哪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765210" cy="264033"/>
            <a:chOff x="526542" y="1545907"/>
            <a:chExt cx="876521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7652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把二维矩阵 M 压进一维数组 d，只要定下“d 开多长”和“M(i, j) 落在 d 的第几格”，压缩存储就算设计完了。</a:t>
              </a:r>
            </a:p>
          </p:txBody>
        </p:sp>
      </p:grpSp>
      <p:grpSp>
        <p:nvGrpSpPr>
          <p:cNvPr id="19" name="c1-card-1"/>
          <p:cNvGrpSpPr/>
          <p:nvPr/>
        </p:nvGrpSpPr>
        <p:grpSpPr>
          <a:xfrm>
            <a:off x="533400" y="1928812"/>
            <a:ext cx="5410200" cy="1868805"/>
            <a:chOff x="533400" y="1928812"/>
            <a:chExt cx="5410200" cy="186880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868805"/>
            </a:xfrm>
            <a:prstGeom prst="roundRect">
              <a:avLst>
                <a:gd name="adj" fmla="val 7136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14375" y="210978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98944" y="21426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两个问题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14375" y="2438400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6282" y="247402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84123" y="2449354"/>
              <a:ext cx="44427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需要多大空间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：d[ ] 要多少个元素，由矩阵中有用元素的个数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决定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14375" y="296608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6282" y="300170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84123" y="2977991"/>
              <a:ext cx="36573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地址映射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：把矩阵下标 (i, j) 换算成 d 的下标 k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9041" y="3258502"/>
              <a:ext cx="4817936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后面四种矩阵的推导，都是在回答第 2 个问题。方法只有一个：数一数 M(i, j) 前</a:t>
              </a:r>
              <a:br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面还有几个要存的元素。</a:t>
              </a:r>
            </a:p>
          </p:txBody>
        </p:sp>
      </p:grpSp>
      <p:grpSp>
        <p:nvGrpSpPr>
          <p:cNvPr id="28" name="c1-card-2"/>
          <p:cNvGrpSpPr/>
          <p:nvPr/>
        </p:nvGrpSpPr>
        <p:grpSpPr>
          <a:xfrm>
            <a:off x="533400" y="3962400"/>
            <a:ext cx="5410200" cy="1444942"/>
            <a:chOff x="533400" y="3962400"/>
            <a:chExt cx="5410200" cy="1444942"/>
          </a:xfrm>
        </p:grpSpPr>
        <p:sp>
          <p:nvSpPr>
            <p:cNvPr id="20" name="Rectangle 20"/>
            <p:cNvSpPr/>
            <p:nvPr/>
          </p:nvSpPr>
          <p:spPr>
            <a:xfrm>
              <a:off x="533400" y="3962400"/>
              <a:ext cx="5410200" cy="1444942"/>
            </a:xfrm>
            <a:prstGeom prst="roundRect">
              <a:avLst>
                <a:gd name="adj" fmla="val 92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4095750"/>
              <a:ext cx="47625" cy="117824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52475" y="41433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45147" y="41762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18450" y="418290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对角矩阵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5998" y="4499134"/>
              <a:ext cx="470281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阶方阵 M 中，只要 i ≠ j 就有 M(i, j) = 0，非零元素全在主对角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线上。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62000" y="507968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17448" y="5026819"/>
              <a:ext cx="25890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至多 n 个非零元素，用 d[n] 就够</a:t>
              </a:r>
            </a:p>
          </p:txBody>
        </p:sp>
      </p:grpSp>
      <p:grpSp>
        <p:nvGrpSpPr>
          <p:cNvPr id="51" name="c2-cells-1"/>
          <p:cNvGrpSpPr/>
          <p:nvPr/>
        </p:nvGrpSpPr>
        <p:grpSpPr>
          <a:xfrm>
            <a:off x="6243066" y="1928812"/>
            <a:ext cx="2734247" cy="1073944"/>
            <a:chOff x="6243066" y="1928812"/>
            <a:chExt cx="2734247" cy="1073944"/>
          </a:xfrm>
        </p:grpSpPr>
        <p:sp>
          <p:nvSpPr>
            <p:cNvPr id="29" name="TextBox 29"/>
            <p:cNvSpPr txBox="1"/>
            <p:nvPr/>
          </p:nvSpPr>
          <p:spPr>
            <a:xfrm>
              <a:off x="6243066" y="2041207"/>
              <a:ext cx="7407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M 的对角线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061835" y="1928812"/>
              <a:ext cx="47910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174086" y="2041207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a₁₁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540942" y="1928812"/>
              <a:ext cx="47910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52241" y="2041207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a₂₂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019098" y="1928812"/>
              <a:ext cx="47910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131348" y="2041207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a₃₃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498205" y="1928812"/>
              <a:ext cx="47910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609503" y="2041207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a₄₄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43066" y="25431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061835" y="2430780"/>
              <a:ext cx="47910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174086" y="2543175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a₁₁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540942" y="2430780"/>
              <a:ext cx="47910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52241" y="2543175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a₂₂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019098" y="2430780"/>
              <a:ext cx="47910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131348" y="2543175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a₃₃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498205" y="2430780"/>
              <a:ext cx="47910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609503" y="2543175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a₄₄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266746" y="284083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744901" y="284083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224008" y="284083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702163" y="284083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formula12"/>
              <p:cNvSpPr txBox="1">
                <a:spLocks noGrp="1"/>
              </p:cNvSpPr>
              <p:nvPr/>
            </p:nvSpPr>
            <p:spPr>
              <a:xfrm>
                <a:off x="6248400" y="3132772"/>
                <a:ext cx="5410200" cy="7962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M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  <m:d>
                                <m:dPr>
                                  <m:begChr m:val="["/>
                                  <m:sepChr m:val=""/>
                                  <m:endChr m:val="]"/>
                                  <m:grow m:val="on"/>
                                  <m:ctrl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e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≠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59" name="c2-callout-3"/>
          <p:cNvGrpSpPr/>
          <p:nvPr/>
        </p:nvGrpSpPr>
        <p:grpSpPr>
          <a:xfrm>
            <a:off x="6248400" y="4093845"/>
            <a:ext cx="5410200" cy="1313498"/>
            <a:chOff x="6248400" y="4093845"/>
            <a:chExt cx="5410200" cy="1313498"/>
          </a:xfrm>
        </p:grpSpPr>
        <p:sp>
          <p:nvSpPr>
            <p:cNvPr id="53" name="Rectangle 53"/>
            <p:cNvSpPr/>
            <p:nvPr/>
          </p:nvSpPr>
          <p:spPr>
            <a:xfrm>
              <a:off x="6248400" y="4093845"/>
              <a:ext cx="5410200" cy="1313498"/>
            </a:xfrm>
            <a:prstGeom prst="roundRect">
              <a:avLst>
                <a:gd name="adj" fmla="val 870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6453188" y="4650105"/>
              <a:ext cx="200026" cy="200026"/>
              <a:chOff x="6453188" y="4650105"/>
              <a:chExt cx="200026" cy="200026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6453188" y="465010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553200" y="471678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542088" y="475011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6756273" y="4543901"/>
              <a:ext cx="423138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矩阵下标从 1 数，数组下标从 0 数，所以是 d[i−1] 而不是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d[i]。本讲所有映射公式都沿用这个约定。</a:t>
              </a:r>
            </a:p>
          </p:txBody>
        </p:sp>
      </p:grpSp>
      <p:grpSp>
        <p:nvGrpSpPr>
          <p:cNvPr id="66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0" name="Rectangle 6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1041273" y="6039326"/>
              <a:ext cx="102187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压缩不是白拿的。压完以后不能再写 M[i][j] 直接取数，每次访问都要多算一次下标；而且一旦有零元素变成非零，整套映射就失效。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第5讲 数组与矩阵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64101" cy="909257"/>
            <a:chOff x="520446" y="342900"/>
            <a:chExt cx="626410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第5讲 数组与矩阵 · 特殊矩阵的压缩存储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6410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三角矩阵：数出 M(i, j) 前面有几个元素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580751" cy="597598"/>
            <a:chOff x="525399" y="1550194"/>
            <a:chExt cx="10580751" cy="597598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580751" cy="597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80"/>
                </a:lnSpc>
              </a:pPr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方阵 M 是上三角矩阵，当且仅当 i &gt; j 时 M(i, j) = 0；是下三角矩阵，当且仅当 i &lt; j 时 M(i, j) = 0。下面以下三角矩阵</a:t>
              </a:r>
              <a:br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为例。</a:t>
              </a:r>
            </a:p>
          </p:txBody>
        </p:sp>
      </p:grpSp>
      <p:grpSp>
        <p:nvGrpSpPr>
          <p:cNvPr id="17" name="c1-card-1"/>
          <p:cNvGrpSpPr/>
          <p:nvPr/>
        </p:nvGrpSpPr>
        <p:grpSpPr>
          <a:xfrm>
            <a:off x="533400" y="2257425"/>
            <a:ext cx="4977765" cy="1956435"/>
            <a:chOff x="533400" y="2257425"/>
            <a:chExt cx="4977765" cy="1956435"/>
          </a:xfrm>
        </p:grpSpPr>
        <p:sp>
          <p:nvSpPr>
            <p:cNvPr id="9" name="Rectangle 9"/>
            <p:cNvSpPr/>
            <p:nvPr/>
          </p:nvSpPr>
          <p:spPr>
            <a:xfrm>
              <a:off x="533400" y="2257425"/>
              <a:ext cx="4977765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390775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46697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1258" y="25026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空间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2078" y="2502218"/>
              <a:ext cx="22652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需要 n(n+1)/2 个元素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3430" y="2863215"/>
              <a:ext cx="4291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下三角部分第 1 行 1 个、第 2 行 2 个，一直到第 n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 n 个，合计 1+2+…+n = n(n+1)/2 个。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54711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484245"/>
              <a:ext cx="418909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n = 100 时，从 10000 个降到 </a:t>
              </a: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5050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个，省掉将近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一半</a:t>
              </a:r>
            </a:p>
          </p:txBody>
        </p:sp>
      </p:grpSp>
      <p:grpSp>
        <p:nvGrpSpPr>
          <p:cNvPr id="24" name="c1-callout-2"/>
          <p:cNvGrpSpPr/>
          <p:nvPr/>
        </p:nvGrpSpPr>
        <p:grpSpPr>
          <a:xfrm>
            <a:off x="533400" y="4404360"/>
            <a:ext cx="4977765" cy="849630"/>
            <a:chOff x="533400" y="4404360"/>
            <a:chExt cx="4977765" cy="849630"/>
          </a:xfrm>
        </p:grpSpPr>
        <p:sp>
          <p:nvSpPr>
            <p:cNvPr id="18" name="Rectangle 18"/>
            <p:cNvSpPr/>
            <p:nvPr/>
          </p:nvSpPr>
          <p:spPr>
            <a:xfrm>
              <a:off x="533400" y="4404360"/>
              <a:ext cx="4977765" cy="849630"/>
            </a:xfrm>
            <a:prstGeom prst="roundRect">
              <a:avLst>
                <a:gd name="adj" fmla="val 1345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4729163"/>
              <a:ext cx="200026" cy="200025"/>
              <a:chOff x="738188" y="4729163"/>
              <a:chExt cx="200026" cy="20002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38188" y="472916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77926" y="477361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12642" y="488473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130" y="4586288"/>
              <a:ext cx="40443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上三角矩阵同理，只是每行的元素个数从 n 递减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到 1，总数仍是 n(n+1)/2。</a:t>
              </a:r>
            </a:p>
          </p:txBody>
        </p:sp>
      </p:grpSp>
      <p:grpSp>
        <p:nvGrpSpPr>
          <p:cNvPr id="42" name="c2-steps-1"/>
          <p:cNvGrpSpPr/>
          <p:nvPr/>
        </p:nvGrpSpPr>
        <p:grpSpPr>
          <a:xfrm>
            <a:off x="5815965" y="2266950"/>
            <a:ext cx="5755188" cy="2998755"/>
            <a:chOff x="5815965" y="2266950"/>
            <a:chExt cx="5755188" cy="2998755"/>
          </a:xfrm>
        </p:grpSpPr>
        <p:sp>
          <p:nvSpPr>
            <p:cNvPr id="25" name="Rectangle 25"/>
            <p:cNvSpPr/>
            <p:nvPr/>
          </p:nvSpPr>
          <p:spPr>
            <a:xfrm>
              <a:off x="5949315" y="2409825"/>
              <a:ext cx="19050" cy="24222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5815965" y="226695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909589" y="23407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5815965" y="315277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909589" y="32265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5815965" y="403764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909589" y="41114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5815965" y="468915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909589" y="47629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27445" y="2301240"/>
              <a:ext cx="26822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d 看成一条按行排开的队伍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28588" y="2595086"/>
              <a:ext cx="510108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下三角元素按行优先依次塞进 d，M(i, j) 前面有几个元素，它就住在 d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的第几格（下标从 0 数）。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27445" y="318706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数它前面整行的部分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28588" y="3479959"/>
              <a:ext cx="511733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行到第 i−1 行已经全部排完，共 1 + 2 + … + (i−1) = i(i−1)/2 个元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素。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27445" y="4071938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数它本行的部分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228588" y="4365784"/>
              <a:ext cx="53425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在第 i 行里，M(i, j) 前面还有 M(i, 1) 到 M(i, j−1) 共 j−1 个元素。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27445" y="472344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相加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228588" y="5016341"/>
              <a:ext cx="35072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i(i−1)/2 + (j−1)，于是 M(i, j) = d[k]。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3" name="Rectangle 43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130" y="5991225"/>
              <a:ext cx="101319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“数出前面有几个要存的元素”是本节四条映射公式的统一推法，对角、对称、三对角都用同一招，不必分别死记。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第5讲 数组与矩阵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89635" cy="909257"/>
            <a:chOff x="520446" y="342900"/>
            <a:chExt cx="558963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第5讲 数组与矩阵 · 特殊矩阵的压缩存储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8963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下三角矩阵的映射公式与 4 阶对照表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19"/>
              <p:cNvSpPr txBox="1">
                <a:spLocks noGrp="1"/>
              </p:cNvSpPr>
              <p:nvPr/>
            </p:nvSpPr>
            <p:spPr>
              <a:xfrm>
                <a:off x="533400" y="1524000"/>
                <a:ext cx="4977765" cy="7962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M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  <m:d>
                                <m:dPr>
                                  <m:begChr m:val="["/>
                                  <m:sepChr m:val=""/>
                                  <m:endChr m:val="]"/>
                                  <m:grow m:val="on"/>
                                  <m:ctrl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 xml:space="preserve"> </m:t>
                                  </m:r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j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e>
                                  </m:d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 xml:space="preserve"> 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≥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e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&lt;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5" name="c1-card-2"/>
          <p:cNvGrpSpPr/>
          <p:nvPr/>
        </p:nvGrpSpPr>
        <p:grpSpPr>
          <a:xfrm>
            <a:off x="533400" y="2485072"/>
            <a:ext cx="4977765" cy="1357312"/>
            <a:chOff x="533400" y="2485072"/>
            <a:chExt cx="4977765" cy="1357312"/>
          </a:xfrm>
        </p:grpSpPr>
        <p:sp>
          <p:nvSpPr>
            <p:cNvPr id="8" name="Rectangle 8"/>
            <p:cNvSpPr/>
            <p:nvPr/>
          </p:nvSpPr>
          <p:spPr>
            <a:xfrm>
              <a:off x="533400" y="2485072"/>
              <a:ext cx="4977765" cy="1357312"/>
            </a:xfrm>
            <a:prstGeom prst="roundRect">
              <a:avLst>
                <a:gd name="adj" fmla="val 982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42925" y="2618422"/>
              <a:ext cx="47625" cy="109061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52475" y="2666048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48246" y="269890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94625" y="2705576"/>
              <a:ext cx="2558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阶下三角矩阵中 M(5, 3) 在哪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5998" y="3022759"/>
              <a:ext cx="46268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5×4/2 + (3−1) = 10 + 2 = 12，所以 M(5, 3) = d[12]。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7141" y="3303270"/>
              <a:ext cx="4291203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反过来验：前 4 行占掉 d[0] 到 d[9]，第 5 行从 d[10] 开始，第 3 个正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 d[12]。</a:t>
              </a:r>
            </a:p>
          </p:txBody>
        </p:sp>
      </p:grpSp>
      <p:grpSp>
        <p:nvGrpSpPr>
          <p:cNvPr id="22" name="c1-callout-3"/>
          <p:cNvGrpSpPr/>
          <p:nvPr/>
        </p:nvGrpSpPr>
        <p:grpSpPr>
          <a:xfrm>
            <a:off x="533400" y="4007168"/>
            <a:ext cx="4977765" cy="1676400"/>
            <a:chOff x="533400" y="4007168"/>
            <a:chExt cx="4977765" cy="1676400"/>
          </a:xfrm>
        </p:grpSpPr>
        <p:sp>
          <p:nvSpPr>
            <p:cNvPr id="16" name="Rectangle 16"/>
            <p:cNvSpPr/>
            <p:nvPr/>
          </p:nvSpPr>
          <p:spPr>
            <a:xfrm>
              <a:off x="533400" y="4007168"/>
              <a:ext cx="4977765" cy="1676400"/>
            </a:xfrm>
            <a:prstGeom prst="roundRect">
              <a:avLst>
                <a:gd name="adj" fmla="val 6818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26129" y="4741663"/>
              <a:ext cx="224134" cy="192560"/>
              <a:chOff x="726129" y="4741663"/>
              <a:chExt cx="224134" cy="19256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838200" y="481203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726129" y="474166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38200" y="48898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41273" y="4639151"/>
              <a:ext cx="397129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公式里 i、j 从 1 数，d 的下标从 0 数。若题目把矩阵下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标也从 0 数，要先整体平移一位再套公式。</a:t>
              </a:r>
            </a:p>
          </p:txBody>
        </p:sp>
      </p:grpSp>
      <p:grpSp>
        <p:nvGrpSpPr>
          <p:cNvPr id="60" name="c2-table-1"/>
          <p:cNvGrpSpPr/>
          <p:nvPr/>
        </p:nvGrpSpPr>
        <p:grpSpPr>
          <a:xfrm>
            <a:off x="5811012" y="1524000"/>
            <a:ext cx="5847588" cy="2170461"/>
            <a:chOff x="5811012" y="1524000"/>
            <a:chExt cx="5847588" cy="2170461"/>
          </a:xfrm>
        </p:grpSpPr>
        <p:sp>
          <p:nvSpPr>
            <p:cNvPr id="23" name="Rectangle 23"/>
            <p:cNvSpPr/>
            <p:nvPr/>
          </p:nvSpPr>
          <p:spPr>
            <a:xfrm>
              <a:off x="5815965" y="1524000"/>
              <a:ext cx="584263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210025" y="1641157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 = 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436845" y="1641157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 = 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664617" y="1641157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 = 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891437" y="1641157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 = 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910644" y="2023110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202957" y="2023110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d[0]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546392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774164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000984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815965" y="2282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815965" y="2286952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910644" y="2404110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02957" y="2404110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d[1]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29777" y="2404110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d[2]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774164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000984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815965" y="2663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910644" y="2785110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202957" y="2785110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d[3]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29777" y="2785110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d[4]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657550" y="2785110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d[5]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000984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815965" y="3045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815965" y="304990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910644" y="3167062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4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202957" y="316706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d[6]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429777" y="316706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d[7]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9214485" y="3059430"/>
              <a:ext cx="1207770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657550" y="316706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d[8]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884370" y="316706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d[9]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815965" y="1524000"/>
              <a:ext cx="5842635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745605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7972425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9200198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10427018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811012" y="3503771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 阶下三角矩阵：每个位置对应的 d 下标</a:t>
              </a:r>
            </a:p>
          </p:txBody>
        </p:sp>
      </p:grpSp>
      <p:grpSp>
        <p:nvGrpSpPr>
          <p:cNvPr id="92" name="c2-cells-2"/>
          <p:cNvGrpSpPr/>
          <p:nvPr/>
        </p:nvGrpSpPr>
        <p:grpSpPr>
          <a:xfrm>
            <a:off x="5811202" y="3821430"/>
            <a:ext cx="4660583" cy="571976"/>
            <a:chOff x="5811202" y="3821430"/>
            <a:chExt cx="4660583" cy="571976"/>
          </a:xfrm>
        </p:grpSpPr>
        <p:sp>
          <p:nvSpPr>
            <p:cNvPr id="61" name="TextBox 61"/>
            <p:cNvSpPr txBox="1"/>
            <p:nvPr/>
          </p:nvSpPr>
          <p:spPr>
            <a:xfrm>
              <a:off x="5811202" y="394335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015038" y="3821430"/>
              <a:ext cx="44577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128207" y="3943350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a₁₁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460808" y="3821430"/>
              <a:ext cx="44577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573977" y="3943350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a₂₁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906578" y="3821430"/>
              <a:ext cx="44577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019747" y="3943350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a₂₂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7352348" y="3821430"/>
              <a:ext cx="44577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465517" y="3943350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a₃₁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7797165" y="3821430"/>
              <a:ext cx="44577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910334" y="3943350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a₃₂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8242935" y="3821430"/>
              <a:ext cx="44577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8356104" y="3943350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a₃₃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8688705" y="3821430"/>
              <a:ext cx="44577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801874" y="3943350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a₄₁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9134475" y="3821430"/>
              <a:ext cx="44577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247644" y="3943350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a₄₂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9580245" y="3821430"/>
              <a:ext cx="44577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9693414" y="3943350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a₄₃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10026015" y="3821430"/>
              <a:ext cx="44577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10139184" y="3943350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a₄₄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202803" y="42314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648573" y="42314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094343" y="42314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540113" y="42314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984931" y="42314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430701" y="42314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8876471" y="42314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9322241" y="42314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9768011" y="42314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0213781" y="42314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  <p:grpSp>
        <p:nvGrpSpPr>
          <p:cNvPr id="99" name="c2-card-3"/>
          <p:cNvGrpSpPr/>
          <p:nvPr/>
        </p:nvGrpSpPr>
        <p:grpSpPr>
          <a:xfrm>
            <a:off x="5815965" y="4523422"/>
            <a:ext cx="5842635" cy="1160145"/>
            <a:chOff x="5815965" y="4523422"/>
            <a:chExt cx="5842635" cy="1160145"/>
          </a:xfrm>
        </p:grpSpPr>
        <p:sp>
          <p:nvSpPr>
            <p:cNvPr id="93" name="Rectangle 93"/>
            <p:cNvSpPr/>
            <p:nvPr/>
          </p:nvSpPr>
          <p:spPr>
            <a:xfrm>
              <a:off x="5815965" y="4523422"/>
              <a:ext cx="5842635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4" name="Rectangle 94"/>
            <p:cNvSpPr/>
            <p:nvPr/>
          </p:nvSpPr>
          <p:spPr>
            <a:xfrm>
              <a:off x="5825490" y="4656772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95" name="Rectangle 95"/>
            <p:cNvSpPr/>
            <p:nvPr/>
          </p:nvSpPr>
          <p:spPr>
            <a:xfrm>
              <a:off x="6035040" y="470439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6119609" y="473725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反过来用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6849618" y="4743926"/>
              <a:ext cx="24610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 d 的下标，反推是哪个元素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6028563" y="5060156"/>
              <a:ext cx="510108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 i(i−1)/2 + (j−1) = 8：i = 4 时前 3 行占掉 6 个，余下 2，故 j = 3，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即 d[8] 存的是 M(4, 3)。</a:t>
              </a:r>
            </a:p>
          </p:txBody>
        </p:sp>
      </p:grpSp>
      <p:grpSp>
        <p:nvGrpSpPr>
          <p:cNvPr id="106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100" name="Rectangle 10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04" name="Group 104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101" name="Freeform 101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2" name="Freeform 102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3" name="Freeform 103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05" name="TextBox 105"/>
            <p:cNvSpPr txBox="1"/>
            <p:nvPr/>
          </p:nvSpPr>
          <p:spPr>
            <a:xfrm>
              <a:off x="1041273" y="6039326"/>
              <a:ext cx="68364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对照表里 M(4, 3) 落在 d[8]，用公式算 4×3/2 + 2 = 8，两边对得上，说明公式没记错。</a:t>
              </a:r>
            </a:p>
          </p:txBody>
        </p:sp>
      </p:grpSp>
      <p:grpSp>
        <p:nvGrpSpPr>
          <p:cNvPr id="10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7" name="TextBox 107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第5讲 数组与矩阵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第5讲 数组与矩阵 · 特殊矩阵的压缩存储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对称矩阵：只存一半，另一半去查它的镜像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0023481" cy="264033"/>
            <a:chOff x="526542" y="1545907"/>
            <a:chExt cx="10023481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00234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方阵 M 是对称矩阵，当且仅当对任何 1 ≤ i, j ≤ n 都有 M(i, j) = M(j, i)。上三角和下三角的信息完全重复，只存一半即可。</a:t>
              </a:r>
            </a:p>
          </p:txBody>
        </p:sp>
      </p:grpSp>
      <p:grpSp>
        <p:nvGrpSpPr>
          <p:cNvPr id="18" name="c1-bullets-1"/>
          <p:cNvGrpSpPr/>
          <p:nvPr/>
        </p:nvGrpSpPr>
        <p:grpSpPr>
          <a:xfrm>
            <a:off x="533400" y="1938338"/>
            <a:ext cx="4949381" cy="1150810"/>
            <a:chOff x="533400" y="1938338"/>
            <a:chExt cx="4949381" cy="1150810"/>
          </a:xfrm>
        </p:grpSpPr>
        <p:sp>
          <p:nvSpPr>
            <p:cNvPr id="9" name="Ellipse 9"/>
            <p:cNvSpPr/>
            <p:nvPr/>
          </p:nvSpPr>
          <p:spPr>
            <a:xfrm>
              <a:off x="533400" y="1938338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89078" y="197767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14197" y="1950720"/>
              <a:ext cx="3984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仍然只需要 n(n+1)/2 个元素，存下三角那一半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246948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89078" y="228628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4197" y="2259330"/>
              <a:ext cx="41482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下三角元素（i ≥ j）：和下三角矩阵的公式完全一样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533400" y="2555557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89078" y="259489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4197" y="2567940"/>
              <a:ext cx="46685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上三角元素（i &lt; j）：它的值等于 M(j, i)，把 i 和 j 对调再套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同一条公式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formula25"/>
              <p:cNvSpPr txBox="1">
                <a:spLocks noGrp="1"/>
              </p:cNvSpPr>
              <p:nvPr/>
            </p:nvSpPr>
            <p:spPr>
              <a:xfrm>
                <a:off x="533400" y="3206115"/>
                <a:ext cx="5193982" cy="8324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M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  <m:d>
                                <m:dPr>
                                  <m:begChr m:val="["/>
                                  <m:sepChr m:val=""/>
                                  <m:endChr m:val="]"/>
                                  <m:grow m:val="on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 xml:space="preserve"> </m:t>
                                  </m:r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j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e>
                                  </m:d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 xml:space="preserve"> 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≥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e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  <m:d>
                                <m:dPr>
                                  <m:begChr m:val="["/>
                                  <m:sepChr m:val=""/>
                                  <m:endChr m:val="]"/>
                                  <m:grow m:val="on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 xml:space="preserve"> </m:t>
                                  </m:r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j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e>
                                  </m:d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 xml:space="preserve"> 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&lt;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7" name="c1-card-3"/>
          <p:cNvGrpSpPr/>
          <p:nvPr/>
        </p:nvGrpSpPr>
        <p:grpSpPr>
          <a:xfrm>
            <a:off x="533400" y="4208145"/>
            <a:ext cx="5193982" cy="1463992"/>
            <a:chOff x="533400" y="4208145"/>
            <a:chExt cx="5193982" cy="1463992"/>
          </a:xfrm>
        </p:grpSpPr>
        <p:sp>
          <p:nvSpPr>
            <p:cNvPr id="20" name="Rectangle 20"/>
            <p:cNvSpPr/>
            <p:nvPr/>
          </p:nvSpPr>
          <p:spPr>
            <a:xfrm>
              <a:off x="533400" y="4208145"/>
              <a:ext cx="5193982" cy="1463992"/>
            </a:xfrm>
            <a:prstGeom prst="roundRect">
              <a:avLst>
                <a:gd name="adj" fmla="val 91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4341495"/>
              <a:ext cx="47625" cy="119729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58190" y="4394835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53961" y="442769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99960" y="4430078"/>
              <a:ext cx="21502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M(2, 4) 该取 d 的哪一格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1332" y="4755832"/>
              <a:ext cx="447998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&lt; 4 属上三角，先对调成 M(4, 2)，再套下三角公式：k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4×3/2 + (2−1) = </a:t>
              </a: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7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，即 d[7]。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2475" y="5309711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和右表第 2 行第 4 列的 d[7] 对得上。</a:t>
              </a:r>
            </a:p>
          </p:txBody>
        </p:sp>
      </p:grpSp>
      <p:grpSp>
        <p:nvGrpSpPr>
          <p:cNvPr id="66" name="c2-table-1"/>
          <p:cNvGrpSpPr/>
          <p:nvPr/>
        </p:nvGrpSpPr>
        <p:grpSpPr>
          <a:xfrm>
            <a:off x="6027230" y="1928812"/>
            <a:ext cx="5631370" cy="2263807"/>
            <a:chOff x="6027230" y="1928812"/>
            <a:chExt cx="5631370" cy="2263807"/>
          </a:xfrm>
        </p:grpSpPr>
        <p:sp>
          <p:nvSpPr>
            <p:cNvPr id="28" name="Rectangle 28"/>
            <p:cNvSpPr/>
            <p:nvPr/>
          </p:nvSpPr>
          <p:spPr>
            <a:xfrm>
              <a:off x="6032182" y="1928812"/>
              <a:ext cx="5626418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358817" y="205025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 = 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540869" y="205025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 = 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721969" y="205025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 = 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904022" y="205025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 = 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129338" y="245030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51278" y="245030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d[0]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33331" y="245030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d[1]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304972" y="2338388"/>
              <a:ext cx="1163002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714431" y="245030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d[3]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896483" y="245030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d[6]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032182" y="272415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032182" y="2728912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129338" y="285035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51278" y="285035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d[1]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533331" y="285035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d[2]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714431" y="285035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d[4]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896483" y="285035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d[7]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032182" y="312420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129338" y="325040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51278" y="325040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d[3]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533331" y="325040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d[4]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714431" y="325040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d[5]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896483" y="325040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d[8]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032182" y="352425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032182" y="3529012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129338" y="365045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4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941820" y="3538538"/>
              <a:ext cx="1163002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351278" y="365045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d[6]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533331" y="365045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d[7]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714431" y="365045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d[8]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896483" y="365045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d[9]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032182" y="1928812"/>
              <a:ext cx="5626418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6927532" y="1928812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8108632" y="1928812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9290685" y="1928812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10471785" y="1928812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027230" y="4001929"/>
              <a:ext cx="33080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 阶对称矩阵：关于主对角线对称的两格共用一个 d 下标</a:t>
              </a:r>
            </a:p>
          </p:txBody>
        </p:sp>
      </p:grpSp>
      <p:grpSp>
        <p:nvGrpSpPr>
          <p:cNvPr id="73" name="c2-callout-2"/>
          <p:cNvGrpSpPr/>
          <p:nvPr/>
        </p:nvGrpSpPr>
        <p:grpSpPr>
          <a:xfrm>
            <a:off x="6032182" y="4324350"/>
            <a:ext cx="5626418" cy="1347788"/>
            <a:chOff x="6032182" y="4324350"/>
            <a:chExt cx="5626418" cy="1347788"/>
          </a:xfrm>
        </p:grpSpPr>
        <p:sp>
          <p:nvSpPr>
            <p:cNvPr id="67" name="Rectangle 67"/>
            <p:cNvSpPr/>
            <p:nvPr/>
          </p:nvSpPr>
          <p:spPr>
            <a:xfrm>
              <a:off x="6032182" y="4324350"/>
              <a:ext cx="5626418" cy="1347788"/>
            </a:xfrm>
            <a:prstGeom prst="roundRect">
              <a:avLst>
                <a:gd name="adj" fmla="val 848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6236970" y="4898708"/>
              <a:ext cx="200026" cy="200026"/>
              <a:chOff x="6236970" y="4898708"/>
              <a:chExt cx="200026" cy="200026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6236970" y="48987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6336983" y="49653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325870" y="49987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6539674" y="4779645"/>
              <a:ext cx="471144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表里 M(1, 4) 和 M(4, 1) 都是 d[6]，这正是“只存一半”的直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接后果。改 d[6] 会同时改掉这两个位置。</a:t>
              </a:r>
            </a:p>
          </p:txBody>
        </p:sp>
      </p:grpSp>
      <p:grpSp>
        <p:nvGrpSpPr>
          <p:cNvPr id="79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74" name="Rectangle 74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1040892" y="6028373"/>
              <a:ext cx="87098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对称矩阵的压缩没有新公式，只多一步判断：先看 i 和 j 谁大，i &lt; j 就把两个下标对调，再走下三角那条路。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第5讲 数组与矩阵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第5讲 数组与矩阵 · 特殊矩阵的压缩存储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两道考研真题：行优先与列优先各走一遍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210055" cy="264033"/>
            <a:chOff x="526542" y="1545907"/>
            <a:chExt cx="821005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2100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这两题都把上三角元素存进一维数组，区别只在按行还是按列。做法都是数“它前面有几个已存元素”。</a:t>
              </a:r>
            </a:p>
          </p:txBody>
        </p:sp>
      </p:grpSp>
      <p:grpSp>
        <p:nvGrpSpPr>
          <p:cNvPr id="15" name="c1-card-1"/>
          <p:cNvGrpSpPr/>
          <p:nvPr/>
        </p:nvGrpSpPr>
        <p:grpSpPr>
          <a:xfrm>
            <a:off x="533400" y="1928812"/>
            <a:ext cx="5410200" cy="1163955"/>
            <a:chOff x="533400" y="1928812"/>
            <a:chExt cx="5410200" cy="116395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163955"/>
            </a:xfrm>
            <a:prstGeom prst="roundRect">
              <a:avLst>
                <a:gd name="adj" fmla="val 114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8972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2475" y="2109788"/>
              <a:ext cx="103441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7719" y="2142649"/>
              <a:ext cx="8839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2018 年全国卷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5998" y="2449354"/>
              <a:ext cx="48423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12×12 对称矩阵，上三角按行优先存入 N，求 M(6, 6) 的下标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7141" y="2747010"/>
              <a:ext cx="16171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数组 N 的下标从 0 开始。</a:t>
              </a:r>
            </a:p>
          </p:txBody>
        </p:sp>
      </p:grpSp>
      <p:grpSp>
        <p:nvGrpSpPr>
          <p:cNvPr id="29" name="c1-steps-2"/>
          <p:cNvGrpSpPr/>
          <p:nvPr/>
        </p:nvGrpSpPr>
        <p:grpSpPr>
          <a:xfrm>
            <a:off x="533400" y="3266122"/>
            <a:ext cx="5220500" cy="1790320"/>
            <a:chOff x="533400" y="3266122"/>
            <a:chExt cx="5220500" cy="1790320"/>
          </a:xfrm>
        </p:grpSpPr>
        <p:sp>
          <p:nvSpPr>
            <p:cNvPr id="16" name="Rectangle 16"/>
            <p:cNvSpPr/>
            <p:nvPr/>
          </p:nvSpPr>
          <p:spPr>
            <a:xfrm>
              <a:off x="666750" y="3408998"/>
              <a:ext cx="19050" cy="12992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33400" y="326612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33399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401288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40867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33400" y="456628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7024" y="46401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29707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每行有多少个上三角元素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7166" y="3551873"/>
              <a:ext cx="4751261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行 M(1,1) 到 M(1,12) 共 12 个，第 2 行从 M(2,2) 起共 11 个，以后每行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递减 1。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4043839"/>
              <a:ext cx="9102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数完前 5 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7166" y="4297680"/>
              <a:ext cx="19259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 + 11 + 10 + 9 + 8 = 50 个。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023" y="459628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定位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7166" y="4851083"/>
              <a:ext cx="48067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M(6, 6) 是第 6 行的第 1 个元素，前面正好 50 个，故 M(6, 6) = </a:t>
              </a:r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N[50]</a:t>
              </a: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6" name="c2-card-1"/>
          <p:cNvGrpSpPr/>
          <p:nvPr/>
        </p:nvGrpSpPr>
        <p:grpSpPr>
          <a:xfrm>
            <a:off x="6248400" y="1928812"/>
            <a:ext cx="5410200" cy="1163955"/>
            <a:chOff x="6248400" y="1928812"/>
            <a:chExt cx="5410200" cy="1163955"/>
          </a:xfrm>
        </p:grpSpPr>
        <p:sp>
          <p:nvSpPr>
            <p:cNvPr id="30" name="Rectangle 30"/>
            <p:cNvSpPr/>
            <p:nvPr/>
          </p:nvSpPr>
          <p:spPr>
            <a:xfrm>
              <a:off x="6248400" y="1928812"/>
              <a:ext cx="5410200" cy="1163955"/>
            </a:xfrm>
            <a:prstGeom prst="roundRect">
              <a:avLst>
                <a:gd name="adj" fmla="val 114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57925" y="2062162"/>
              <a:ext cx="47625" cy="8972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67475" y="2109788"/>
              <a:ext cx="103441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42719" y="2142649"/>
              <a:ext cx="8839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2020 年全国卷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60998" y="2449354"/>
              <a:ext cx="48423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10×10 对称矩阵，上三角按列优先存入 N，求 M(7, 2) 的下标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62141" y="2747010"/>
              <a:ext cx="33534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注意这次是按列，而且 M(7, 2) 本身是下三角元素。</a:t>
              </a:r>
            </a:p>
          </p:txBody>
        </p:sp>
      </p:grpSp>
      <p:grpSp>
        <p:nvGrpSpPr>
          <p:cNvPr id="50" name="c2-steps-2"/>
          <p:cNvGrpSpPr/>
          <p:nvPr/>
        </p:nvGrpSpPr>
        <p:grpSpPr>
          <a:xfrm>
            <a:off x="6248400" y="3266122"/>
            <a:ext cx="5119021" cy="2177034"/>
            <a:chOff x="6248400" y="3266122"/>
            <a:chExt cx="5119021" cy="2177034"/>
          </a:xfrm>
        </p:grpSpPr>
        <p:sp>
          <p:nvSpPr>
            <p:cNvPr id="37" name="Rectangle 37"/>
            <p:cNvSpPr/>
            <p:nvPr/>
          </p:nvSpPr>
          <p:spPr>
            <a:xfrm>
              <a:off x="6381750" y="3408998"/>
              <a:ext cx="19050" cy="14925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6248400" y="326612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42024" y="33399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248400" y="401288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42024" y="40867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248400" y="475964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42024" y="48334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61023" y="329707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先换到上三角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62166" y="3551873"/>
              <a:ext cx="4504563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&gt; 2 说明 M(7, 2) 在下三角；由对称性 M(7, 2) = M(2, 7)，改去找 M(2,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7)。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61023" y="404383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每列有多少个上三角元素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62166" y="4297680"/>
              <a:ext cx="4511230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列 1 个，第 2 列 2 个，……，第 6 列 6 个，前 6 列共 1+2+3+4+5+6 = 21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61023" y="478964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定位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62166" y="5044440"/>
              <a:ext cx="4705255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第 7 列依次是 M(1,7)、M(2,7)……，M(2, 7) 排第 2 个，下标 21 + 1 = </a:t>
              </a:r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22</a:t>
              </a: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，故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N[22]。</a:t>
              </a:r>
            </a:p>
          </p:txBody>
        </p:sp>
      </p:grpSp>
      <p:grpSp>
        <p:nvGrpSpPr>
          <p:cNvPr id="56" name="takeaway"/>
          <p:cNvGrpSpPr/>
          <p:nvPr/>
        </p:nvGrpSpPr>
        <p:grpSpPr>
          <a:xfrm>
            <a:off x="533400" y="5659755"/>
            <a:ext cx="11125200" cy="702945"/>
            <a:chOff x="533400" y="5659755"/>
            <a:chExt cx="11125200" cy="702945"/>
          </a:xfrm>
        </p:grpSpPr>
        <p:sp>
          <p:nvSpPr>
            <p:cNvPr id="51" name="Rectangle 51"/>
            <p:cNvSpPr/>
            <p:nvPr/>
          </p:nvSpPr>
          <p:spPr>
            <a:xfrm>
              <a:off x="533400" y="5659755"/>
              <a:ext cx="11125200" cy="702945"/>
            </a:xfrm>
            <a:prstGeom prst="roundRect">
              <a:avLst>
                <a:gd name="adj" fmla="val 1626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38188" y="5911217"/>
              <a:ext cx="200023" cy="200023"/>
              <a:chOff x="738188" y="5911217"/>
              <a:chExt cx="200023" cy="200023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38188" y="591121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71538" y="59778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041273" y="5805011"/>
              <a:ext cx="995349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解这类题固定三步：先判断元素在上三角还是下三角（必要时对调下标），再按存储顺序数出前面的元素个数，最后确认数组下标是从 0 还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是从 1 起算。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第5讲 数组与矩阵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0131" cy="909257"/>
            <a:chOff x="520446" y="342900"/>
            <a:chExt cx="414013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第5讲 数组与矩阵 · 特殊矩阵的压缩存储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013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三对角矩阵：k = 2i + j − 3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0702290" cy="569595"/>
            <a:chOff x="525780" y="1548765"/>
            <a:chExt cx="10702290" cy="56959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07022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 阶方阵 M 中任意元素 M(i, j)，当 |i − j| &gt; 1 时都有 M(i, j) = 0，这样的 M 称为三对角矩阵。非零元素只落在主对角线及其上</a:t>
              </a:r>
              <a:br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下各一条次对角线上。</a:t>
              </a:r>
            </a:p>
          </p:txBody>
        </p:sp>
      </p:grpSp>
      <p:grpSp>
        <p:nvGrpSpPr>
          <p:cNvPr id="26" name="c1-steps-1"/>
          <p:cNvGrpSpPr/>
          <p:nvPr/>
        </p:nvGrpSpPr>
        <p:grpSpPr>
          <a:xfrm>
            <a:off x="533400" y="2240280"/>
            <a:ext cx="5004816" cy="2840736"/>
            <a:chOff x="533400" y="2240280"/>
            <a:chExt cx="5004816" cy="2840736"/>
          </a:xfrm>
        </p:grpSpPr>
        <p:sp>
          <p:nvSpPr>
            <p:cNvPr id="9" name="Rectangle 9"/>
            <p:cNvSpPr/>
            <p:nvPr/>
          </p:nvSpPr>
          <p:spPr>
            <a:xfrm>
              <a:off x="666750" y="2383155"/>
              <a:ext cx="19050" cy="207168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224028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3140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07848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1522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69474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7685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31196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3857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2273141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先数非零元总数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2553652"/>
              <a:ext cx="45918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主对角线 n 个，上下两条次对角线各 n−1 个，合计 3n−2 个，d 开这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么长即可。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261" y="3111341"/>
              <a:ext cx="10099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行特殊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404" y="3391852"/>
              <a:ext cx="31106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行只有 M(1,1)、M(1,2) 两个元素。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3727609"/>
              <a:ext cx="158342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中间各行每行 3 个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4008120"/>
              <a:ext cx="32349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行到第 i−1 行每行 3 个，共 3(i−2) 个。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261" y="434482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数本行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404" y="4625340"/>
              <a:ext cx="45003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i 行从 M(i, i−1) 起，M(i, j) 前面有 j−(i−1) 个。三部分相加：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k = 2 + 3(i−2) + (j−i+1) = </a:t>
              </a:r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2i + j − 3</a:t>
              </a: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58" name="c2-cells-1"/>
          <p:cNvGrpSpPr/>
          <p:nvPr/>
        </p:nvGrpSpPr>
        <p:grpSpPr>
          <a:xfrm>
            <a:off x="6027420" y="2230755"/>
            <a:ext cx="4660582" cy="610076"/>
            <a:chOff x="6027420" y="2230755"/>
            <a:chExt cx="4660582" cy="610076"/>
          </a:xfrm>
        </p:grpSpPr>
        <p:sp>
          <p:nvSpPr>
            <p:cNvPr id="27" name="TextBox 27"/>
            <p:cNvSpPr txBox="1"/>
            <p:nvPr/>
          </p:nvSpPr>
          <p:spPr>
            <a:xfrm>
              <a:off x="6027420" y="237172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231255" y="2230755"/>
              <a:ext cx="44577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44424" y="2371725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a₁₁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677025" y="2230755"/>
              <a:ext cx="44577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90194" y="2371725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a₁₂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122795" y="2230755"/>
              <a:ext cx="44577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235964" y="2371725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a₂₁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568565" y="2230755"/>
              <a:ext cx="44577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681734" y="2371725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a₂₂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014335" y="2230755"/>
              <a:ext cx="44577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127504" y="2371725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a₂₃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460105" y="2230755"/>
              <a:ext cx="445770" cy="3943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573274" y="2371725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a₃₂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904922" y="2230755"/>
              <a:ext cx="44577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018092" y="2371725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a₃₃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350692" y="2230755"/>
              <a:ext cx="44577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463862" y="2371725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a₃₄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796462" y="2230755"/>
              <a:ext cx="44577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909632" y="2371725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a₄₃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0242232" y="2230755"/>
              <a:ext cx="44577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355402" y="2371725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a₄₄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19021" y="26789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864791" y="26789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10561" y="26789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756331" y="26789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02101" y="26789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647871" y="26789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092688" y="26789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538458" y="26789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984228" y="26789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429998" y="26789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formula29"/>
              <p:cNvSpPr txBox="1">
                <a:spLocks noGrp="1"/>
              </p:cNvSpPr>
              <p:nvPr/>
            </p:nvSpPr>
            <p:spPr>
              <a:xfrm>
                <a:off x="6032182" y="2986088"/>
                <a:ext cx="5626418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M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2i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≤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j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≤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67" name="c2-card-3"/>
          <p:cNvGrpSpPr/>
          <p:nvPr/>
        </p:nvGrpSpPr>
        <p:grpSpPr>
          <a:xfrm>
            <a:off x="6032182" y="3623310"/>
            <a:ext cx="5626418" cy="2059305"/>
            <a:chOff x="6032182" y="3623310"/>
            <a:chExt cx="5626418" cy="2059305"/>
          </a:xfrm>
        </p:grpSpPr>
        <p:sp>
          <p:nvSpPr>
            <p:cNvPr id="60" name="Rectangle 60"/>
            <p:cNvSpPr/>
            <p:nvPr/>
          </p:nvSpPr>
          <p:spPr>
            <a:xfrm>
              <a:off x="6032182" y="3623310"/>
              <a:ext cx="5626418" cy="2059305"/>
            </a:xfrm>
            <a:prstGeom prst="roundRect">
              <a:avLst>
                <a:gd name="adj" fmla="val 647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6041708" y="3756660"/>
              <a:ext cx="47625" cy="17926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268402" y="3821430"/>
              <a:ext cx="109347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341578" y="3855720"/>
              <a:ext cx="9471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2016 年全国卷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261164" y="4181951"/>
              <a:ext cx="4369238" cy="523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2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 阶三对角矩阵按行优先存入下标从 0 开始的 N，求</a:t>
              </a:r>
              <a:br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M(30, 30)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261164" y="4762024"/>
              <a:ext cx="438447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k = 2×30 + 30 − 3 = 87，即 M(30, 30) = </a:t>
              </a:r>
              <a:r>
                <a:rPr lang="en-US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N[87]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262306" y="5075872"/>
              <a:ext cx="48813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顺手验一下边界：M(1,1) 给出 0，M(1,2) 给出 1，M(2,1) 给出 2，与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手排的顺序一致。</a:t>
              </a:r>
            </a:p>
          </p:txBody>
        </p:sp>
      </p:grpSp>
      <p:grpSp>
        <p:nvGrpSpPr>
          <p:cNvPr id="74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68" name="Rectangle 68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738188" y="6011228"/>
              <a:ext cx="200026" cy="200026"/>
              <a:chOff x="738188" y="6011228"/>
              <a:chExt cx="200026" cy="200026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738188" y="60112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38200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27088" y="61112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1040511" y="6011704"/>
              <a:ext cx="903724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推导时假设了 i ≥ 2，但把 i = 1 代进去仍然对得上，所以 k = 2i + j − 3 对整个三对角带都成立，不用分段。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第5讲 数组与矩阵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第5讲 数组与矩阵 · 特殊矩阵的压缩存储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四种特殊矩阵放在一起对照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855668" cy="264033"/>
            <a:chOff x="526542" y="1545907"/>
            <a:chExt cx="7855668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8556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判定条件决定了哪些位置必须存，存的个数决定 d 的长度，映射公式决定怎么取。三栏一一对应。</a:t>
              </a:r>
            </a:p>
          </p:txBody>
        </p:sp>
      </p:grpSp>
      <p:grpSp>
        <p:nvGrpSpPr>
          <p:cNvPr id="45" name="c1-table-1"/>
          <p:cNvGrpSpPr/>
          <p:nvPr/>
        </p:nvGrpSpPr>
        <p:grpSpPr>
          <a:xfrm>
            <a:off x="533400" y="1928812"/>
            <a:ext cx="11125200" cy="2287905"/>
            <a:chOff x="533400" y="1928812"/>
            <a:chExt cx="11125200" cy="228790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11125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34999" y="2045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矩阵类型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471482" y="2045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判定条件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818822" y="204597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要存的元素个数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256967" y="2045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映射公式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8078" y="2426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对角矩阵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408301" y="2426970"/>
              <a:ext cx="12050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≠ j 时 M(i, j) = 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301044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26084" y="2426970"/>
              <a:ext cx="16008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j 时 d[i−1]，否则为 0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68700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691765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8078" y="2808923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下三角矩阵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08301" y="2808923"/>
              <a:ext cx="12050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&lt; j 时 M(i, j) = 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301044" y="2808923"/>
              <a:ext cx="632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n(n+1)/2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26084" y="2808923"/>
              <a:ext cx="17846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≥ j 时 d[i(i−1)/2 + (j−1)]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06800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8078" y="3189923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上三角矩阵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408301" y="3189923"/>
              <a:ext cx="12050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&gt; j 时 M(i, j) = 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301044" y="3189923"/>
              <a:ext cx="632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n(n+1)/2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26084" y="3189923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按行或按列数出前面的元素个数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44900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3453765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28078" y="357187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对称矩阵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408301" y="3571875"/>
              <a:ext cx="11268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M(i, j) = M(j, i)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301044" y="3571875"/>
              <a:ext cx="632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n(n+1)/2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26084" y="3571875"/>
              <a:ext cx="22793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&lt; j 时先对调下标再按下三角公式取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83095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28078" y="395287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三对角矩阵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408301" y="3952875"/>
              <a:ext cx="15301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|i − j| &gt; 1 时 M(i, j) = 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301044" y="3952875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3n−2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440930" y="3845242"/>
              <a:ext cx="4208145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6084" y="3952875"/>
              <a:ext cx="16079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|i − j| ≤ 1 时 d[2i + j − 3]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1928812"/>
              <a:ext cx="11125200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2308860" y="192881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201602" y="192881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7426642" y="192881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2" name="c1-compare-2"/>
          <p:cNvGrpSpPr/>
          <p:nvPr/>
        </p:nvGrpSpPr>
        <p:grpSpPr>
          <a:xfrm>
            <a:off x="533400" y="4381500"/>
            <a:ext cx="11125200" cy="1342072"/>
            <a:chOff x="533400" y="4381500"/>
            <a:chExt cx="11125200" cy="1342072"/>
          </a:xfrm>
        </p:grpSpPr>
        <p:sp>
          <p:nvSpPr>
            <p:cNvPr id="46" name="Rectangle 46"/>
            <p:cNvSpPr/>
            <p:nvPr/>
          </p:nvSpPr>
          <p:spPr>
            <a:xfrm>
              <a:off x="533400" y="4381500"/>
              <a:ext cx="5353050" cy="1342072"/>
            </a:xfrm>
            <a:prstGeom prst="roundRect">
              <a:avLst>
                <a:gd name="adj" fmla="val 993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542925" y="4514850"/>
              <a:ext cx="47625" cy="107537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45998" y="458390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压缩划算的场合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62000" y="493776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17448" y="4884896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零元素位置有规律，能写出闭式映射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762000" y="522255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17448" y="5169694"/>
              <a:ext cx="23994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很大且矩阵建好后不改动结构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305550" y="4381500"/>
              <a:ext cx="5353050" cy="1342072"/>
            </a:xfrm>
            <a:prstGeom prst="roundRect">
              <a:avLst>
                <a:gd name="adj" fmla="val 993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315075" y="4514850"/>
              <a:ext cx="47625" cy="107537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518148" y="458390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压缩不划算的场合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534150" y="493776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689598" y="4884896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零元素散落无规律，写不出映射公式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534150" y="522255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689598" y="5169694"/>
              <a:ext cx="23047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元素频繁在 0 与非 0 之间切换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5934075" y="4891088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017308" y="4996815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6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3" name="Rectangle 6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1273" y="6039326"/>
              <a:ext cx="93351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零元素散落无规律的矩阵不属于“特殊矩阵”，它叫稀疏矩阵，只能靠记录每个非零元的位置来压缩，这就是下一节的内容。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第5讲 数组与矩阵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821424" cy="2997517"/>
            <a:chOff x="667512" y="1835468"/>
            <a:chExt cx="6821424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82142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稀疏矩阵：三元组表与十字链表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2362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零元素多且分布无规律时，把每个非零元的行号列号一起记下来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三元组结点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顺序实现：三元组表与转置算法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链接实现：十字链表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第5讲 数组与矩阵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5282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653" y="407194"/>
              <a:ext cx="349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第5讲 数组与矩阵 · 稀疏矩阵：三元组表与十字链表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稀疏矩阵：把位置和值一起记下来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1312957" cy="264033"/>
            <a:chOff x="526542" y="1545907"/>
            <a:chExt cx="1131295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13129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设矩阵 Aₘₓₙ 中非零元素的个数远远小于零元素的个数，则称 A 为稀疏矩阵。它的零元素分布一般没有规律，写不出上一节那样的闭式映射。</a:t>
              </a:r>
            </a:p>
          </p:txBody>
        </p:sp>
      </p:grpSp>
      <p:grpSp>
        <p:nvGrpSpPr>
          <p:cNvPr id="15" name="c1-card-1"/>
          <p:cNvGrpSpPr/>
          <p:nvPr/>
        </p:nvGrpSpPr>
        <p:grpSpPr>
          <a:xfrm>
            <a:off x="533400" y="1928812"/>
            <a:ext cx="6059805" cy="1160145"/>
            <a:chOff x="533400" y="1928812"/>
            <a:chExt cx="6059805" cy="116014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6059805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2475" y="2109788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33946" y="214264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三元组结点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91830" y="2149316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行号、列号、值三项就能唯一确定一个非零元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5998" y="2465546"/>
              <a:ext cx="53367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知道 aᵢⱼ 的行号 i 和列号 j，就知道它在矩阵中的位置，所以一个非零元用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一个三元组结点表示即可。</a:t>
              </a:r>
            </a:p>
          </p:txBody>
        </p:sp>
      </p:grpSp>
      <p:grpSp>
        <p:nvGrpSpPr>
          <p:cNvPr id="23" name="c1-cells-2"/>
          <p:cNvGrpSpPr/>
          <p:nvPr/>
        </p:nvGrpSpPr>
        <p:grpSpPr>
          <a:xfrm>
            <a:off x="528066" y="3253740"/>
            <a:ext cx="3671507" cy="356235"/>
            <a:chOff x="528066" y="3253740"/>
            <a:chExt cx="3671507" cy="356235"/>
          </a:xfrm>
        </p:grpSpPr>
        <p:sp>
          <p:nvSpPr>
            <p:cNvPr id="16" name="TextBox 16"/>
            <p:cNvSpPr txBox="1"/>
            <p:nvPr/>
          </p:nvSpPr>
          <p:spPr>
            <a:xfrm>
              <a:off x="528066" y="336613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三元组结点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333500" y="3253740"/>
              <a:ext cx="95535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624508" y="3366135"/>
              <a:ext cx="3742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row i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288858" y="3253740"/>
              <a:ext cx="95535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612307" y="3366135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col j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244215" y="3253740"/>
              <a:ext cx="95535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386805" y="3366135"/>
              <a:ext cx="6711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value aᵢⱼ</a:t>
              </a:r>
            </a:p>
          </p:txBody>
        </p:sp>
      </p:grpSp>
      <p:grpSp>
        <p:nvGrpSpPr>
          <p:cNvPr id="30" name="c1-bullets-3"/>
          <p:cNvGrpSpPr/>
          <p:nvPr/>
        </p:nvGrpSpPr>
        <p:grpSpPr>
          <a:xfrm>
            <a:off x="533400" y="3784282"/>
            <a:ext cx="5503804" cy="553688"/>
            <a:chOff x="533400" y="3784282"/>
            <a:chExt cx="5503804" cy="553688"/>
          </a:xfrm>
        </p:grpSpPr>
        <p:sp>
          <p:nvSpPr>
            <p:cNvPr id="24" name="Ellipse 24"/>
            <p:cNvSpPr/>
            <p:nvPr/>
          </p:nvSpPr>
          <p:spPr>
            <a:xfrm>
              <a:off x="533400" y="378428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85307" y="38199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03148" y="3796189"/>
              <a:ext cx="52340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顺序存储实现：把三元组结点按行优先排成一个线性表，叫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三元组表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533400" y="407765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85307" y="411327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03148" y="4088606"/>
              <a:ext cx="45448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链接存储实现：把结点同时挂到行链和列链上，叫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十字链表</a:t>
              </a:r>
            </a:p>
          </p:txBody>
        </p:sp>
      </p:grpSp>
      <p:grpSp>
        <p:nvGrpSpPr>
          <p:cNvPr id="36" name="c1-card-4"/>
          <p:cNvGrpSpPr/>
          <p:nvPr/>
        </p:nvGrpSpPr>
        <p:grpSpPr>
          <a:xfrm>
            <a:off x="533400" y="4452938"/>
            <a:ext cx="6059805" cy="1143952"/>
            <a:chOff x="533400" y="4452938"/>
            <a:chExt cx="6059805" cy="1143952"/>
          </a:xfrm>
        </p:grpSpPr>
        <p:sp>
          <p:nvSpPr>
            <p:cNvPr id="31" name="Rectangle 31"/>
            <p:cNvSpPr/>
            <p:nvPr/>
          </p:nvSpPr>
          <p:spPr>
            <a:xfrm>
              <a:off x="533400" y="4452938"/>
              <a:ext cx="6059805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42925" y="4586288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52475" y="4633912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14642" y="4666774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为什么要多存两个下标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5998" y="4973479"/>
              <a:ext cx="523113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原来的矩阵靠“摆在第几行第几列”表达位置，压缩之后这个位置信息就没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了，只能把 i 和 j 写进结点里补回来。</a:t>
              </a:r>
            </a:p>
          </p:txBody>
        </p:sp>
      </p:grpSp>
      <p:grpSp>
        <p:nvGrpSpPr>
          <p:cNvPr id="39" name="c2-image-1"/>
          <p:cNvGrpSpPr/>
          <p:nvPr/>
        </p:nvGrpSpPr>
        <p:grpSpPr>
          <a:xfrm>
            <a:off x="7690218" y="1928812"/>
            <a:ext cx="3176168" cy="2306669"/>
            <a:chOff x="7690218" y="1928812"/>
            <a:chExt cx="3176168" cy="2306669"/>
          </a:xfrm>
        </p:grpSpPr>
        <p:pic>
          <p:nvPicPr>
            <p:cNvPr id="37" name="Image 37"/>
            <p:cNvPicPr>
              <a:picLocks noChangeAspect="1"/>
            </p:cNvPicPr>
            <p:nvPr/>
          </p:nvPicPr>
          <p:blipFill>
            <a:blip r:embed="rId2"/>
            <a:srcRect l="6" t="0" r="6" b="0"/>
            <a:stretch>
              <a:fillRect/>
            </a:stretch>
          </p:blipFill>
          <p:spPr>
            <a:xfrm>
              <a:off x="7928610" y="1928812"/>
              <a:ext cx="2698432" cy="2024062"/>
            </a:xfrm>
            <a:prstGeom prst="roundRect">
              <a:avLst>
                <a:gd name="adj" fmla="val 6588"/>
              </a:avLst>
            </a:prstGeom>
          </p:spPr>
        </p:pic>
        <p:sp>
          <p:nvSpPr>
            <p:cNvPr id="38" name="TextBox 38"/>
            <p:cNvSpPr txBox="1"/>
            <p:nvPr/>
          </p:nvSpPr>
          <p:spPr>
            <a:xfrm>
              <a:off x="7690218" y="4044791"/>
              <a:ext cx="31761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大部分格子是空的，只把装了东西的那几格记在单子上</a:t>
              </a:r>
            </a:p>
          </p:txBody>
        </p:sp>
      </p:grpSp>
      <p:grpSp>
        <p:nvGrpSpPr>
          <p:cNvPr id="46" name="c2-callout-2"/>
          <p:cNvGrpSpPr/>
          <p:nvPr/>
        </p:nvGrpSpPr>
        <p:grpSpPr>
          <a:xfrm>
            <a:off x="6898005" y="4381500"/>
            <a:ext cx="4760595" cy="1215390"/>
            <a:chOff x="6898005" y="4381500"/>
            <a:chExt cx="4760595" cy="1215390"/>
          </a:xfrm>
        </p:grpSpPr>
        <p:sp>
          <p:nvSpPr>
            <p:cNvPr id="40" name="Rectangle 40"/>
            <p:cNvSpPr/>
            <p:nvPr/>
          </p:nvSpPr>
          <p:spPr>
            <a:xfrm>
              <a:off x="6898005" y="4381500"/>
              <a:ext cx="4760595" cy="1215390"/>
            </a:xfrm>
            <a:prstGeom prst="roundRect">
              <a:avLst>
                <a:gd name="adj" fmla="val 940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102793" y="4889183"/>
              <a:ext cx="200026" cy="200026"/>
              <a:chOff x="7102793" y="4889183"/>
              <a:chExt cx="200026" cy="200026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102793" y="488918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202805" y="49558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191693" y="498919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7405878" y="4664869"/>
              <a:ext cx="3898138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“远远小于”没有统一的数量界限。工程上常用非零元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占比低于 5% 作参考，但是否压缩最终看空间账算不算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得过来。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7" name="Rectangle 47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1273" y="6039326"/>
              <a:ext cx="81289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特殊矩阵靠位置规律省空间，稀疏矩阵没有规律可用，只能付出“额外存两个下标”的代价换取不存那些零。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第5讲 数组与矩阵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5282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653" y="407194"/>
              <a:ext cx="349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第5讲 数组与矩阵 · 稀疏矩阵：三元组表与十字链表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三元组表：按行优先排成一个顺序表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9282303" cy="264033"/>
            <a:chOff x="526542" y="1545907"/>
            <a:chExt cx="928230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92823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把表示非零元素的三元组结点按行优先的顺序排列，得到一个线性表，再用顺序存储结构存起来，这就是三元组表。</a:t>
              </a:r>
            </a:p>
          </p:txBody>
        </p:sp>
      </p:grpSp>
      <p:grpSp>
        <p:nvGrpSpPr>
          <p:cNvPr id="45" name="c1-cells-1"/>
          <p:cNvGrpSpPr/>
          <p:nvPr/>
        </p:nvGrpSpPr>
        <p:grpSpPr>
          <a:xfrm>
            <a:off x="528066" y="1928812"/>
            <a:ext cx="2306574" cy="1862138"/>
            <a:chOff x="528066" y="1928812"/>
            <a:chExt cx="2306574" cy="1862138"/>
          </a:xfrm>
        </p:grpSpPr>
        <p:sp>
          <p:nvSpPr>
            <p:cNvPr id="9" name="TextBox 9"/>
            <p:cNvSpPr txBox="1"/>
            <p:nvPr/>
          </p:nvSpPr>
          <p:spPr>
            <a:xfrm>
              <a:off x="528066" y="2041207"/>
              <a:ext cx="2781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行 1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19162" y="1928812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41748" y="2041207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338262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501663" y="204120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757362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920763" y="204120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176462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339863" y="204120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8066" y="2543175"/>
              <a:ext cx="2781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行 2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919162" y="2430780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41748" y="254317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338262" y="243078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501663" y="25431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757362" y="2430780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879948" y="254317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176462" y="243078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339863" y="25431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8066" y="3045143"/>
              <a:ext cx="2781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行 3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919162" y="293274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82563" y="304514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338262" y="293274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501663" y="304514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757362" y="293274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920763" y="304514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2176462" y="293274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339863" y="304514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28066" y="3547110"/>
              <a:ext cx="2781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行 4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919162" y="3434715"/>
              <a:ext cx="479108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30461" y="3547110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-30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398270" y="3434715"/>
              <a:ext cx="47910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591198" y="3547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876425" y="3434715"/>
              <a:ext cx="479108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987723" y="3547110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-60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2355532" y="3434715"/>
              <a:ext cx="479108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2548461" y="3547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  <p:grpSp>
        <p:nvGrpSpPr>
          <p:cNvPr id="49" name="c1-code-2"/>
          <p:cNvGrpSpPr/>
          <p:nvPr/>
        </p:nvGrpSpPr>
        <p:grpSpPr>
          <a:xfrm>
            <a:off x="533400" y="3955732"/>
            <a:ext cx="4977765" cy="1406842"/>
            <a:chOff x="533400" y="3955732"/>
            <a:chExt cx="4977765" cy="1406842"/>
          </a:xfrm>
        </p:grpSpPr>
        <p:sp>
          <p:nvSpPr>
            <p:cNvPr id="46" name="Rectangle 46"/>
            <p:cNvSpPr/>
            <p:nvPr/>
          </p:nvSpPr>
          <p:spPr>
            <a:xfrm>
              <a:off x="533400" y="3955732"/>
              <a:ext cx="4977765" cy="1406842"/>
            </a:xfrm>
            <a:prstGeom prst="roundRect">
              <a:avLst>
                <a:gd name="adj" fmla="val 677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1797" y="410765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结点类型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1988" y="4366736"/>
              <a:ext cx="1696593" cy="909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typedef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row;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行号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col;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列号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value;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元素值 */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 Triple;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Triple B[100];</a:t>
              </a:r>
            </a:p>
          </p:txBody>
        </p:sp>
      </p:grpSp>
      <p:grpSp>
        <p:nvGrpSpPr>
          <p:cNvPr id="92" name="c2-table-1"/>
          <p:cNvGrpSpPr/>
          <p:nvPr/>
        </p:nvGrpSpPr>
        <p:grpSpPr>
          <a:xfrm>
            <a:off x="5811012" y="1928812"/>
            <a:ext cx="5847588" cy="2933414"/>
            <a:chOff x="5811012" y="1928812"/>
            <a:chExt cx="5847588" cy="2933414"/>
          </a:xfrm>
        </p:grpSpPr>
        <p:sp>
          <p:nvSpPr>
            <p:cNvPr id="50" name="Rectangle 50"/>
            <p:cNvSpPr/>
            <p:nvPr/>
          </p:nvSpPr>
          <p:spPr>
            <a:xfrm>
              <a:off x="5815965" y="1928812"/>
              <a:ext cx="584263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70320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下标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776464" y="2045970"/>
              <a:ext cx="285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row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211938" y="2045970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col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649545" y="2045970"/>
              <a:ext cx="381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value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910644" y="2426970"/>
              <a:ext cx="3556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B[0]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874879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276959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757325" y="242697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815965" y="268700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5815965" y="269176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910644" y="2808923"/>
              <a:ext cx="3556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B[1]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874879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276959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757325" y="2808923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815965" y="306800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910644" y="3189923"/>
              <a:ext cx="3556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B[2]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874879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276959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757325" y="3189923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5815965" y="344900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5815965" y="345376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5910644" y="3571875"/>
              <a:ext cx="3556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B[3]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874879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276959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718454" y="3571875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−30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5815965" y="383095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5910644" y="3952875"/>
              <a:ext cx="3556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B[4]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874879" y="3952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276959" y="3952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0718454" y="3952875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−60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5815965" y="421195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5815965" y="4216718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5910644" y="4333875"/>
              <a:ext cx="3556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B[5]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874879" y="4333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9276959" y="4333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0796197" y="4333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5815965" y="1928812"/>
              <a:ext cx="5842635" cy="2669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8" name="Rectangle 88"/>
            <p:cNvSpPr/>
            <p:nvPr/>
          </p:nvSpPr>
          <p:spPr>
            <a:xfrm>
              <a:off x="7213282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8615362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10017442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5811012" y="4671536"/>
              <a:ext cx="20218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左边 4×4 稀疏矩阵对应的三元组表</a:t>
              </a:r>
            </a:p>
          </p:txBody>
        </p:sp>
      </p:grpSp>
      <p:grpSp>
        <p:nvGrpSpPr>
          <p:cNvPr id="99" name="c2-callout-2"/>
          <p:cNvGrpSpPr/>
          <p:nvPr/>
        </p:nvGrpSpPr>
        <p:grpSpPr>
          <a:xfrm>
            <a:off x="5815965" y="4988242"/>
            <a:ext cx="5842635" cy="702945"/>
            <a:chOff x="5815965" y="4988242"/>
            <a:chExt cx="5842635" cy="702945"/>
          </a:xfrm>
        </p:grpSpPr>
        <p:sp>
          <p:nvSpPr>
            <p:cNvPr id="93" name="Rectangle 93"/>
            <p:cNvSpPr/>
            <p:nvPr/>
          </p:nvSpPr>
          <p:spPr>
            <a:xfrm>
              <a:off x="5815965" y="4988242"/>
              <a:ext cx="5842635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97" name="Group 97"/>
            <p:cNvGrpSpPr/>
            <p:nvPr/>
          </p:nvGrpSpPr>
          <p:grpSpPr>
            <a:xfrm>
              <a:off x="6020753" y="5239703"/>
              <a:ext cx="200026" cy="200025"/>
              <a:chOff x="6020753" y="5239703"/>
              <a:chExt cx="200026" cy="200025"/>
            </a:xfrm>
          </p:grpSpPr>
          <p:sp>
            <p:nvSpPr>
              <p:cNvPr id="94" name="Freeform 94"/>
              <p:cNvSpPr/>
              <p:nvPr/>
            </p:nvSpPr>
            <p:spPr>
              <a:xfrm>
                <a:off x="6020753" y="523970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5" name="Freeform 95"/>
              <p:cNvSpPr/>
              <p:nvPr/>
            </p:nvSpPr>
            <p:spPr>
              <a:xfrm>
                <a:off x="6060491" y="528415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6" name="Freeform 96"/>
              <p:cNvSpPr/>
              <p:nvPr/>
            </p:nvSpPr>
            <p:spPr>
              <a:xfrm>
                <a:off x="6095207" y="539527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98" name="TextBox 98"/>
            <p:cNvSpPr txBox="1"/>
            <p:nvPr/>
          </p:nvSpPr>
          <p:spPr>
            <a:xfrm>
              <a:off x="6323838" y="5133499"/>
              <a:ext cx="491413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排列顺序是先比行号、行号相同再比列号。第 3 行全是零，在三元组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表里完全不出现。</a:t>
              </a:r>
            </a:p>
          </p:txBody>
        </p:sp>
      </p:grpSp>
      <p:grpSp>
        <p:nvGrpSpPr>
          <p:cNvPr id="106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100" name="Rectangle 10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04" name="Group 104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101" name="Freeform 101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02" name="Freeform 102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03" name="Freeform 103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05" name="TextBox 105"/>
            <p:cNvSpPr txBox="1"/>
            <p:nvPr/>
          </p:nvSpPr>
          <p:spPr>
            <a:xfrm>
              <a:off x="1041273" y="6039326"/>
              <a:ext cx="93523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光有这张表还原不出原矩阵：不知道它是 4×4 还是 4×6，也不知道后面是不是还有全零行。矩阵的行数和列数必须另外存。</a:t>
              </a:r>
            </a:p>
          </p:txBody>
        </p:sp>
      </p:grpSp>
      <p:grpSp>
        <p:nvGrpSpPr>
          <p:cNvPr id="10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7" name="TextBox 107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第5讲 数组与矩阵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19517" cy="909257"/>
            <a:chOff x="520446" y="342900"/>
            <a:chExt cx="641951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5282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653" y="407194"/>
              <a:ext cx="349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第5讲 数组与矩阵 · 稀疏矩阵：三元组表与十字链表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1951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2023 年考研题：三元组表还要额外存什么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626418" cy="1772602"/>
            <a:chOff x="533400" y="1524000"/>
            <a:chExt cx="5626418" cy="177260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772602"/>
            </a:xfrm>
            <a:prstGeom prst="roundRect">
              <a:avLst>
                <a:gd name="adj" fmla="val 75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0590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103441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7719" y="1737836"/>
              <a:ext cx="8839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2023 年全国卷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50958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除三元组及 M 包含的非零元素个数外，下列数据中还需要保存的是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346484"/>
              <a:ext cx="34533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I. M 的行数　　II. M 中包含非零元素的行数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5998" y="2631281"/>
              <a:ext cx="36081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III. M 的列数　　IV. M 中包含非零元素的列数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5998" y="2916079"/>
              <a:ext cx="49554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仅 I、III　　B. 仅 I、IV　　C. 仅 II、IV　　D. I、II、III、IV</a:t>
              </a:r>
            </a:p>
          </p:txBody>
        </p:sp>
      </p:grpSp>
      <p:grpSp>
        <p:nvGrpSpPr>
          <p:cNvPr id="29" name="c1-steps-2"/>
          <p:cNvGrpSpPr/>
          <p:nvPr/>
        </p:nvGrpSpPr>
        <p:grpSpPr>
          <a:xfrm>
            <a:off x="533400" y="3470910"/>
            <a:ext cx="5513070" cy="1789367"/>
            <a:chOff x="533400" y="3470910"/>
            <a:chExt cx="5513070" cy="1789367"/>
          </a:xfrm>
        </p:grpSpPr>
        <p:sp>
          <p:nvSpPr>
            <p:cNvPr id="16" name="Rectangle 16"/>
            <p:cNvSpPr/>
            <p:nvPr/>
          </p:nvSpPr>
          <p:spPr>
            <a:xfrm>
              <a:off x="666750" y="3613785"/>
              <a:ext cx="19050" cy="12992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33400" y="347091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35447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402336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40971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33400" y="477012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7024" y="48439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50091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想清楚要还原什么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7166" y="3755708"/>
              <a:ext cx="50993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三元组表要能完整还原矩阵，因此必须知道矩阵的形状，也就是总行数和总列数。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405431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逐项判断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7166" y="4309110"/>
              <a:ext cx="5004626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和 III 是矩阵的形状，必须存。II 和 IV 从三元组表里扫一遍就能数出来，属于冗余信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息。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023" y="480107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7166" y="5054918"/>
              <a:ext cx="15053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答案选 </a:t>
              </a:r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A（仅 I、III）</a:t>
              </a: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47" name="c2-table-1"/>
          <p:cNvGrpSpPr/>
          <p:nvPr/>
        </p:nvGrpSpPr>
        <p:grpSpPr>
          <a:xfrm>
            <a:off x="6459665" y="1524000"/>
            <a:ext cx="5198935" cy="1408461"/>
            <a:chOff x="6459665" y="1524000"/>
            <a:chExt cx="5198935" cy="1408461"/>
          </a:xfrm>
        </p:grpSpPr>
        <p:sp>
          <p:nvSpPr>
            <p:cNvPr id="30" name="Rectangle 30"/>
            <p:cNvSpPr/>
            <p:nvPr/>
          </p:nvSpPr>
          <p:spPr>
            <a:xfrm>
              <a:off x="6464618" y="1524000"/>
              <a:ext cx="5193982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955727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存储方式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58200" y="1641157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需要的整数个数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175918" y="1641157"/>
              <a:ext cx="11994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4×4 例子（t = 6）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59296" y="202311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二维数组原样存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17586" y="2023110"/>
              <a:ext cx="3569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× n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987344" y="2023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464618" y="228219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64618" y="2286952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59296" y="2404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三元组表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117586" y="2404110"/>
              <a:ext cx="4064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3t + 3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902190" y="2296478"/>
              <a:ext cx="1746885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987344" y="2404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464618" y="1524000"/>
              <a:ext cx="5193982" cy="11439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8018145" y="1524000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9887902" y="1524000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459665" y="2741771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三元组表另外要存行数、列数、非零元个数三个整数</a:t>
              </a:r>
            </a:p>
          </p:txBody>
        </p:sp>
      </p:grpSp>
      <p:grpSp>
        <p:nvGrpSpPr>
          <p:cNvPr id="58" name="c2-card-2"/>
          <p:cNvGrpSpPr/>
          <p:nvPr/>
        </p:nvGrpSpPr>
        <p:grpSpPr>
          <a:xfrm>
            <a:off x="6464618" y="3058478"/>
            <a:ext cx="5193982" cy="2199322"/>
            <a:chOff x="6464618" y="3058478"/>
            <a:chExt cx="5193982" cy="2199322"/>
          </a:xfrm>
        </p:grpSpPr>
        <p:sp>
          <p:nvSpPr>
            <p:cNvPr id="48" name="Rectangle 48"/>
            <p:cNvSpPr/>
            <p:nvPr/>
          </p:nvSpPr>
          <p:spPr>
            <a:xfrm>
              <a:off x="6464618" y="3058478"/>
              <a:ext cx="5193982" cy="2199322"/>
            </a:xfrm>
            <a:prstGeom prst="roundRect">
              <a:avLst>
                <a:gd name="adj" fmla="val 60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74142" y="3191828"/>
              <a:ext cx="47625" cy="193262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683692" y="3239452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72313" y="327231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空间账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374446" y="327898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小矩阵压不出便宜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677216" y="3596164"/>
              <a:ext cx="441833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 3t + 3 &lt; m×n，也就是非零元大约不到总元素的三分之一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时，三元组表才真省空间。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693218" y="417576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848666" y="4123849"/>
              <a:ext cx="43823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课件这个 4×4 例子 t = 6，21 &gt; 16，</a:t>
              </a:r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反而多用了 5 个整数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693218" y="446151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848666" y="4408646"/>
              <a:ext cx="41988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换成 1000×1000、t = 5000 时：3×5000+3 = 15003，远小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 10⁶</a:t>
              </a:r>
            </a:p>
          </p:txBody>
        </p:sp>
      </p:grpSp>
      <p:grpSp>
        <p:nvGrpSpPr>
          <p:cNvPr id="64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9" name="Rectangle 59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1273" y="6039326"/>
              <a:ext cx="75344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“稀疏”的判断标准不是零多不多，而是 3t + 3 有没有小过 m×n。这是本页那张空间账表想说的事。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第5讲 数组与矩阵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5282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653" y="407194"/>
              <a:ext cx="349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第5讲 数组与矩阵 · 稀疏矩阵：三元组表与十字链表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三元组表上的转置：按列号一遍遍扫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191881" cy="264033"/>
            <a:chOff x="526542" y="1545907"/>
            <a:chExt cx="8191881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1918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转置就是把每个三元组的行号和列号对调。难点在于对调后要重新按行优先排好序，不能直接原位改。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6276022" cy="2453640"/>
            <a:chOff x="533400" y="1928812"/>
            <a:chExt cx="6276022" cy="245364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6276022" cy="2453640"/>
            </a:xfrm>
            <a:prstGeom prst="roundRect">
              <a:avLst>
                <a:gd name="adj" fmla="val 38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朴素转置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988" y="2339816"/>
              <a:ext cx="3649218" cy="19564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Transpose(Triple a[],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t, Triple b[])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{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a 是 m 行 n 列矩阵的三元组表，t 为非零元个数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0;         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b 中下一个空位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(t == 0)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a 为空矩阵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 = 1; k &lt;= n; k++)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填 b 的第 k 行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t; i++)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扫一遍 a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(a[i].col == k) {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列号是 k 的元素 */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b[j].row   = k;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转置后行号为 k */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b[j].col   = a[i].row;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列号为原来的行号 */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b[j].value = a[i].value;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j++;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4546282"/>
            <a:ext cx="6276022" cy="1160145"/>
            <a:chOff x="533400" y="4546282"/>
            <a:chExt cx="6276022" cy="1160145"/>
          </a:xfrm>
        </p:grpSpPr>
        <p:sp>
          <p:nvSpPr>
            <p:cNvPr id="13" name="Rectangle 13"/>
            <p:cNvSpPr/>
            <p:nvPr/>
          </p:nvSpPr>
          <p:spPr>
            <a:xfrm>
              <a:off x="533400" y="4546282"/>
              <a:ext cx="6276022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4679632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52475" y="4727258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1096" y="476011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读代码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43228" y="4767739"/>
              <a:ext cx="21707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内层 if 的命中率决定了效率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5998" y="5083969"/>
              <a:ext cx="542620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内层每一趟都要扫过全部 t 个三元组，却只有列号等于 k 的那几个会被写进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b。n 趟下来比较了 n×t 次，真正的写入只有 t 次。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7114222" y="1928812"/>
            <a:ext cx="4544378" cy="1826895"/>
            <a:chOff x="7114222" y="1928812"/>
            <a:chExt cx="4544378" cy="1826895"/>
          </a:xfrm>
        </p:grpSpPr>
        <p:sp>
          <p:nvSpPr>
            <p:cNvPr id="20" name="Rectangle 20"/>
            <p:cNvSpPr/>
            <p:nvPr/>
          </p:nvSpPr>
          <p:spPr>
            <a:xfrm>
              <a:off x="7114222" y="1928812"/>
              <a:ext cx="4544378" cy="1826895"/>
            </a:xfrm>
            <a:prstGeom prst="roundRect">
              <a:avLst>
                <a:gd name="adj" fmla="val 729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7123748" y="2062162"/>
              <a:ext cx="47625" cy="156019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333298" y="2109788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410717" y="214264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为什么这样扫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26820" y="2449354"/>
              <a:ext cx="391439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必须按行优先排好。b 的第 k 行来自 a 中所有列号为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的元素，所以外层枚举列号 k，内层把 a 整个扫一遍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挑出来。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27964" y="3216593"/>
              <a:ext cx="3857816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 本身按行优先有序，同一个 k 挑出来的元素行号自然递增，b 的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列号也就自动有序。</a:t>
              </a:r>
            </a:p>
          </p:txBody>
        </p:sp>
      </p:grpSp>
      <p:grpSp>
        <p:nvGrpSpPr>
          <p:cNvPr id="33" name="c2-callout-2"/>
          <p:cNvGrpSpPr/>
          <p:nvPr/>
        </p:nvGrpSpPr>
        <p:grpSpPr>
          <a:xfrm>
            <a:off x="7114222" y="3919538"/>
            <a:ext cx="4544378" cy="1786890"/>
            <a:chOff x="7114222" y="3919538"/>
            <a:chExt cx="4544378" cy="1786890"/>
          </a:xfrm>
        </p:grpSpPr>
        <p:sp>
          <p:nvSpPr>
            <p:cNvPr id="27" name="Rectangle 27"/>
            <p:cNvSpPr/>
            <p:nvPr/>
          </p:nvSpPr>
          <p:spPr>
            <a:xfrm>
              <a:off x="7114222" y="3919538"/>
              <a:ext cx="4544378" cy="1786890"/>
            </a:xfrm>
            <a:prstGeom prst="roundRect">
              <a:avLst>
                <a:gd name="adj" fmla="val 6397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06952" y="4709278"/>
              <a:ext cx="224134" cy="192560"/>
              <a:chOff x="7306952" y="4709278"/>
              <a:chExt cx="224134" cy="19256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419023" y="477964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306952" y="470927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419023" y="48574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7622096" y="4372451"/>
              <a:ext cx="3699002" cy="952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时间复杂度 </a:t>
              </a:r>
              <a:r>
                <a:rPr lang="en-US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O(n·t)</a:t>
              </a: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，n 是矩阵列数、t 是非零元个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数。前提是 a 已按行优先排好，且 b 有足够空间；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最坏情况 t ≈ m·n 时会退化到 O(m·n²)，比直接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用二维数组转置的 O(m·n) 还慢。</a:t>
              </a:r>
            </a:p>
          </p:txBody>
        </p:sp>
      </p:grpSp>
      <p:grpSp>
        <p:nvGrpSpPr>
          <p:cNvPr id="40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4" name="Rectangle 34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1273" y="6039326"/>
              <a:ext cx="67504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源课件给出的参数表是 (a, m, n, t, b)，其中 m 在函数体里没有用到，这里去掉了它。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第5讲 数组与矩阵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623963" cy="909257"/>
            <a:chOff x="520446" y="342900"/>
            <a:chExt cx="562396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5282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653" y="407194"/>
              <a:ext cx="349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第5讲 数组与矩阵 · 稀疏矩阵：三元组表与十字链表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62396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转置的执行过程：外层 k 从 1 走到 4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0091033" cy="264033"/>
            <a:chOff x="526542" y="1545907"/>
            <a:chExt cx="1009103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00910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仍用上一页的 4×4 矩阵，t = 6，n = 4。外层每取一个列号 k，内层扫一遍 a，把列号等于 k 的三元组按遇到的顺序追加到 b。</a:t>
              </a:r>
            </a:p>
          </p:txBody>
        </p:sp>
      </p:grpSp>
      <p:grpSp>
        <p:nvGrpSpPr>
          <p:cNvPr id="53" name="c1-table-1"/>
          <p:cNvGrpSpPr/>
          <p:nvPr/>
        </p:nvGrpSpPr>
        <p:grpSpPr>
          <a:xfrm>
            <a:off x="533400" y="1928812"/>
            <a:ext cx="5410200" cy="2669858"/>
            <a:chOff x="533400" y="1928812"/>
            <a:chExt cx="5410200" cy="266985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91111" y="2045970"/>
              <a:ext cx="7990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a（转置前）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554859" y="2045970"/>
              <a:ext cx="285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row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886511" y="2045970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col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103138" y="2045970"/>
              <a:ext cx="381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value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8078" y="242697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a[0]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653274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356610" y="2319338"/>
              <a:ext cx="1279208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951532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10918" y="242697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687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269176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8078" y="2808923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a[1]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653274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356610" y="2701290"/>
              <a:ext cx="1279208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951532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10918" y="2808923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068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28078" y="3189923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a[2]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653274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951532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210918" y="3189923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449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345376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8078" y="3571875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a[3]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653274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356610" y="3463290"/>
              <a:ext cx="1279208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951532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172046" y="3571875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−30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38309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28078" y="3952875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a[4]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653274" y="3952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951532" y="3952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172046" y="3952875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−60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42119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33400" y="4216718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28078" y="4333875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a[5]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653274" y="4333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951532" y="4333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249789" y="4333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1928812"/>
              <a:ext cx="5410200" cy="2669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2043112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3342322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4640580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0" name="c1-callout-2"/>
          <p:cNvGrpSpPr/>
          <p:nvPr/>
        </p:nvGrpSpPr>
        <p:grpSpPr>
          <a:xfrm>
            <a:off x="533400" y="4763452"/>
            <a:ext cx="5410200" cy="702945"/>
            <a:chOff x="533400" y="4763452"/>
            <a:chExt cx="5410200" cy="702945"/>
          </a:xfrm>
        </p:grpSpPr>
        <p:sp>
          <p:nvSpPr>
            <p:cNvPr id="54" name="Rectangle 54"/>
            <p:cNvSpPr/>
            <p:nvPr/>
          </p:nvSpPr>
          <p:spPr>
            <a:xfrm>
              <a:off x="533400" y="4763452"/>
              <a:ext cx="5410200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5013960"/>
              <a:ext cx="200026" cy="200025"/>
              <a:chOff x="738188" y="5013960"/>
              <a:chExt cx="200026" cy="20002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8188" y="501396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77926" y="505841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12642" y="516953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1273" y="4907756"/>
              <a:ext cx="436956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高亮的三行是 k = 1 这一趟挑中的元素，它们的行号 1、2、4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递增，所以写进 b 之后 b 的第 1 行自动有序。</a:t>
              </a:r>
            </a:p>
          </p:txBody>
        </p:sp>
      </p:grpSp>
      <p:grpSp>
        <p:nvGrpSpPr>
          <p:cNvPr id="105" name="c2-table-1"/>
          <p:cNvGrpSpPr/>
          <p:nvPr/>
        </p:nvGrpSpPr>
        <p:grpSpPr>
          <a:xfrm>
            <a:off x="6248400" y="1928812"/>
            <a:ext cx="5410200" cy="2669858"/>
            <a:chOff x="6248400" y="1928812"/>
            <a:chExt cx="5410200" cy="2669858"/>
          </a:xfrm>
        </p:grpSpPr>
        <p:sp>
          <p:nvSpPr>
            <p:cNvPr id="61" name="Rectangle 61"/>
            <p:cNvSpPr/>
            <p:nvPr/>
          </p:nvSpPr>
          <p:spPr>
            <a:xfrm>
              <a:off x="6248400" y="1928812"/>
              <a:ext cx="5410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606111" y="2045970"/>
              <a:ext cx="7990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b（转置后）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269859" y="2045970"/>
              <a:ext cx="285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row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601511" y="2045970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col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818138" y="2045970"/>
              <a:ext cx="381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value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343079" y="242697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b[0]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7772400" y="2319338"/>
              <a:ext cx="1279208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368274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666532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925918" y="242697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248400" y="2687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6248400" y="269176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343079" y="2808923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b[1]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7772400" y="2701290"/>
              <a:ext cx="1279208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368274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666532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925918" y="2808923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6248400" y="3068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343079" y="3189923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b[2]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7772400" y="3082290"/>
              <a:ext cx="1279208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8368274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666532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0887046" y="3189923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−30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6248400" y="3449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6248400" y="345376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343079" y="3571875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b[3]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368274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9666532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0925918" y="357187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6248400" y="38309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6343079" y="3952875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b[4]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8368274" y="3952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9666532" y="3952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0887046" y="3952875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−60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6248400" y="42119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6" name="Rectangle 96"/>
            <p:cNvSpPr/>
            <p:nvPr/>
          </p:nvSpPr>
          <p:spPr>
            <a:xfrm>
              <a:off x="6248400" y="4216718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6343079" y="4333875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b[5]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8368274" y="4333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9666532" y="4333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0964789" y="4333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6248400" y="1928812"/>
              <a:ext cx="5410200" cy="2669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7758112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9057322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4" name="Rectangle 104"/>
            <p:cNvSpPr/>
            <p:nvPr/>
          </p:nvSpPr>
          <p:spPr>
            <a:xfrm>
              <a:off x="10355580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12" name="c2-callout-2"/>
          <p:cNvGrpSpPr/>
          <p:nvPr/>
        </p:nvGrpSpPr>
        <p:grpSpPr>
          <a:xfrm>
            <a:off x="6248400" y="4763452"/>
            <a:ext cx="5410200" cy="702945"/>
            <a:chOff x="6248400" y="4763452"/>
            <a:chExt cx="5410200" cy="702945"/>
          </a:xfrm>
        </p:grpSpPr>
        <p:sp>
          <p:nvSpPr>
            <p:cNvPr id="106" name="Rectangle 106"/>
            <p:cNvSpPr/>
            <p:nvPr/>
          </p:nvSpPr>
          <p:spPr>
            <a:xfrm>
              <a:off x="6248400" y="4763452"/>
              <a:ext cx="5410200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10" name="Group 110"/>
            <p:cNvGrpSpPr/>
            <p:nvPr/>
          </p:nvGrpSpPr>
          <p:grpSpPr>
            <a:xfrm>
              <a:off x="6453188" y="5013960"/>
              <a:ext cx="200026" cy="200026"/>
              <a:chOff x="6453188" y="5013960"/>
              <a:chExt cx="200026" cy="200026"/>
            </a:xfrm>
          </p:grpSpPr>
          <p:sp>
            <p:nvSpPr>
              <p:cNvPr id="107" name="Freeform 107"/>
              <p:cNvSpPr/>
              <p:nvPr/>
            </p:nvSpPr>
            <p:spPr>
              <a:xfrm>
                <a:off x="6453188" y="501396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08" name="Freeform 108"/>
              <p:cNvSpPr/>
              <p:nvPr/>
            </p:nvSpPr>
            <p:spPr>
              <a:xfrm>
                <a:off x="6553200" y="508063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09" name="Freeform 109"/>
              <p:cNvSpPr/>
              <p:nvPr/>
            </p:nvSpPr>
            <p:spPr>
              <a:xfrm>
                <a:off x="6542088" y="511397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11" name="TextBox 111"/>
            <p:cNvSpPr txBox="1"/>
            <p:nvPr/>
          </p:nvSpPr>
          <p:spPr>
            <a:xfrm>
              <a:off x="6756273" y="4907756"/>
              <a:ext cx="44020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1 取出 a[0]、a[1]、a[3]；k = 2 一个也没取到，整趟白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扫 6 个元素；k = 3 取出 a[2]、a[4]；k = 4 取出 a[5]。</a:t>
              </a:r>
            </a:p>
          </p:txBody>
        </p:sp>
      </p:grpSp>
      <p:grpSp>
        <p:nvGrpSpPr>
          <p:cNvPr id="118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113" name="Rectangle 11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16" name="Group 116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114" name="Freeform 114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15" name="Freeform 115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17" name="TextBox 117"/>
            <p:cNvSpPr txBox="1"/>
            <p:nvPr/>
          </p:nvSpPr>
          <p:spPr>
            <a:xfrm>
              <a:off x="1041273" y="6039326"/>
              <a:ext cx="86717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朴素算法把 a 扫了 n 遍，绝大多数比较都以“列号不等于 k”告终。下一页用两个辅助数组，把扫描次数降到一遍。</a:t>
              </a:r>
            </a:p>
          </p:txBody>
        </p:sp>
      </p:grpSp>
      <p:grpSp>
        <p:nvGrpSpPr>
          <p:cNvPr id="1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9" name="TextBox 119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第5讲 数组与矩阵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5282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653" y="407194"/>
              <a:ext cx="349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第5讲 数组与矩阵 · 稀疏矩阵：三元组表与十字链表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快速转置：先算出每一行该从哪里开始写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0399986" cy="264033"/>
            <a:chOff x="526542" y="1545907"/>
            <a:chExt cx="10399986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03999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如果事先知道 b 的第 k 行从哪一格开始，就可以扫一遍 a，让每个元素直接落到自己的位置上。求这个起始位置要两个辅助数组。</a:t>
              </a:r>
            </a:p>
          </p:txBody>
        </p:sp>
      </p:grpSp>
      <p:grpSp>
        <p:nvGrpSpPr>
          <p:cNvPr id="14" name="c1-kv-1"/>
          <p:cNvGrpSpPr/>
          <p:nvPr/>
        </p:nvGrpSpPr>
        <p:grpSpPr>
          <a:xfrm>
            <a:off x="526923" y="1949291"/>
            <a:ext cx="5632895" cy="863727"/>
            <a:chOff x="526923" y="1949291"/>
            <a:chExt cx="5632895" cy="863727"/>
          </a:xfrm>
        </p:grpSpPr>
        <p:sp>
          <p:nvSpPr>
            <p:cNvPr id="9" name="TextBox 9"/>
            <p:cNvSpPr txBox="1"/>
            <p:nvPr/>
          </p:nvSpPr>
          <p:spPr>
            <a:xfrm>
              <a:off x="526923" y="1949291"/>
              <a:ext cx="9990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rowsize[k]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43265" y="1949291"/>
              <a:ext cx="4125722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转置后第 k 行的非零元个数，也就是转置前第 k 列的非零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元个数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246126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6923" y="2563654"/>
              <a:ext cx="8090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start[k]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43265" y="2563654"/>
              <a:ext cx="24770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转置后第 k 行在 b 中的起始下标</a:t>
              </a:r>
            </a:p>
          </p:txBody>
        </p:sp>
      </p:grpSp>
      <p:grpSp>
        <p:nvGrpSpPr>
          <p:cNvPr id="18" name="c1-code-2"/>
          <p:cNvGrpSpPr/>
          <p:nvPr/>
        </p:nvGrpSpPr>
        <p:grpSpPr>
          <a:xfrm>
            <a:off x="533400" y="2927032"/>
            <a:ext cx="5626418" cy="1705928"/>
            <a:chOff x="533400" y="2927032"/>
            <a:chExt cx="5626418" cy="1705928"/>
          </a:xfrm>
        </p:grpSpPr>
        <p:sp>
          <p:nvSpPr>
            <p:cNvPr id="15" name="Rectangle 15"/>
            <p:cNvSpPr/>
            <p:nvPr/>
          </p:nvSpPr>
          <p:spPr>
            <a:xfrm>
              <a:off x="533400" y="2927032"/>
              <a:ext cx="5626418" cy="1705928"/>
            </a:xfrm>
            <a:prstGeom prst="roundRect">
              <a:avLst>
                <a:gd name="adj" fmla="val 558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61797" y="3078956"/>
              <a:ext cx="9881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1 步与第 2 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1988" y="3338036"/>
              <a:ext cx="2529713" cy="12087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统计 a 的各列非零元个数 */</a:t>
              </a:r>
              <a:br/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1; i &lt;= n; i++) rowsize[i] = 0;</a:t>
              </a:r>
              <a:br/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0; i &lt; t; i++) rowsize[a[i].col]++;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前缀和求出各行的起始位置 */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start[1] = 0;</a:t>
              </a:r>
              <a:br/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2; i &lt;= n; i++)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start[i] = start[i-1] + rowsize[i-1];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797742"/>
            <a:ext cx="5626418" cy="901065"/>
            <a:chOff x="533400" y="4797742"/>
            <a:chExt cx="5626418" cy="901065"/>
          </a:xfrm>
        </p:grpSpPr>
        <p:sp>
          <p:nvSpPr>
            <p:cNvPr id="19" name="Rectangle 19"/>
            <p:cNvSpPr/>
            <p:nvPr/>
          </p:nvSpPr>
          <p:spPr>
            <a:xfrm>
              <a:off x="533400" y="4797742"/>
              <a:ext cx="5626418" cy="901065"/>
            </a:xfrm>
            <a:prstGeom prst="roundRect">
              <a:avLst>
                <a:gd name="adj" fmla="val 1479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4931092"/>
              <a:ext cx="47625" cy="63436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52475" y="497871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044" y="501157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容易写错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5998" y="5319236"/>
              <a:ext cx="33472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统计用的是 `a[i].col` 不是 `a[i].row`。</a:t>
              </a:r>
            </a:p>
          </p:txBody>
        </p:sp>
      </p:grpSp>
      <p:grpSp>
        <p:nvGrpSpPr>
          <p:cNvPr id="56" name="c2-table-1"/>
          <p:cNvGrpSpPr/>
          <p:nvPr/>
        </p:nvGrpSpPr>
        <p:grpSpPr>
          <a:xfrm>
            <a:off x="6459665" y="1928812"/>
            <a:ext cx="5198935" cy="2170462"/>
            <a:chOff x="6459665" y="1928812"/>
            <a:chExt cx="5198935" cy="2170462"/>
          </a:xfrm>
        </p:grpSpPr>
        <p:sp>
          <p:nvSpPr>
            <p:cNvPr id="25" name="Rectangle 25"/>
            <p:cNvSpPr/>
            <p:nvPr/>
          </p:nvSpPr>
          <p:spPr>
            <a:xfrm>
              <a:off x="6464618" y="1928812"/>
              <a:ext cx="5193982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70145" y="2045970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列号 k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56923" y="2045970"/>
              <a:ext cx="8195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rowsize[k]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26408" y="2045970"/>
              <a:ext cx="6637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start[k]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124289" y="2045970"/>
              <a:ext cx="8873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start 怎么来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33758" y="2426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22492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914057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572054" y="2426970"/>
              <a:ext cx="13252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行总是从 0 开始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464618" y="268700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64618" y="2691765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33758" y="28089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822492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914057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572054" y="2808923"/>
              <a:ext cx="3287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+ 3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464618" y="306800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833758" y="31899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822492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914057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572054" y="3189923"/>
              <a:ext cx="3287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+ 1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464618" y="344900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464618" y="3453765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833758" y="3571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822492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914057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572054" y="3571875"/>
              <a:ext cx="3287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+ 2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464618" y="1928812"/>
              <a:ext cx="5193982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7291388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8433435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9472612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459665" y="3908584"/>
              <a:ext cx="43833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以课件第 34 页那个 7 元素的例子为准（a 的列号依次是 1,1,3,2,1,3,4）</a:t>
              </a:r>
            </a:p>
          </p:txBody>
        </p:sp>
      </p:grpSp>
      <p:grpSp>
        <p:nvGrpSpPr>
          <p:cNvPr id="63" name="c2-callout-2"/>
          <p:cNvGrpSpPr/>
          <p:nvPr/>
        </p:nvGrpSpPr>
        <p:grpSpPr>
          <a:xfrm>
            <a:off x="6464618" y="4226242"/>
            <a:ext cx="5193982" cy="1473518"/>
            <a:chOff x="6464618" y="4226242"/>
            <a:chExt cx="5193982" cy="1473518"/>
          </a:xfrm>
        </p:grpSpPr>
        <p:sp>
          <p:nvSpPr>
            <p:cNvPr id="57" name="Rectangle 57"/>
            <p:cNvSpPr/>
            <p:nvPr/>
          </p:nvSpPr>
          <p:spPr>
            <a:xfrm>
              <a:off x="6464618" y="4226242"/>
              <a:ext cx="5193982" cy="1473518"/>
            </a:xfrm>
            <a:prstGeom prst="roundRect">
              <a:avLst>
                <a:gd name="adj" fmla="val 7757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6669405" y="4862513"/>
              <a:ext cx="200026" cy="200025"/>
              <a:chOff x="6669405" y="4862513"/>
              <a:chExt cx="200026" cy="200025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6669405" y="486251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709144" y="490696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743859" y="501808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6972491" y="4639151"/>
              <a:ext cx="4280154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start 就是 rowsize 的前缀和。这个“先数个数、再求前缀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和、最后一次落位”的套路，在第 21 讲的分布排序里会原样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再用一次。</a:t>
              </a:r>
            </a:p>
          </p:txBody>
        </p:sp>
      </p:grpSp>
      <p:grpSp>
        <p:nvGrpSpPr>
          <p:cNvPr id="70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4" name="Rectangle 64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041273" y="6039326"/>
              <a:ext cx="87897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两个辅助数组的长度都是 n（矩阵列数），代价是 O(n) 的额外空间。这是快速转置比朴素算法多付出的唯一成本。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第5讲 数组与矩阵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68063" cy="909257"/>
            <a:chOff x="520446" y="342900"/>
            <a:chExt cx="616806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5282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653" y="407194"/>
              <a:ext cx="349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第5讲 数组与矩阵 · 稀疏矩阵：三元组表与十字链表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6806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快速转置：扫一遍 a，每个元素直接落位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10470952" cy="278702"/>
            <a:chOff x="526161" y="1547336"/>
            <a:chExt cx="10470952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104709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start[k] 用完一次就加一，指向该行的下一个空位。所以同一行的多个元素会按它们在 a 中的先后顺序排开，b 仍然有序。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41195"/>
            <a:ext cx="5410200" cy="1788795"/>
            <a:chOff x="533400" y="1941195"/>
            <a:chExt cx="5410200" cy="1788795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410200" cy="1788795"/>
            </a:xfrm>
            <a:prstGeom prst="roundRect">
              <a:avLst>
                <a:gd name="adj" fmla="val 532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93119"/>
              <a:ext cx="4330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3 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988" y="2353342"/>
              <a:ext cx="3217037" cy="1293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0; i &lt; t; i++)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k = a[i].col;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该元素转置后落在第 k 行 */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j = start[k];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第 k 行当前的空位 */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b[j].row   = a[i].col;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b[j].col   = a[i].row;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b[j].value = a[i].value;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start[k]++;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空位后移一格 */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3905250"/>
            <a:ext cx="5410200" cy="1721168"/>
            <a:chOff x="533400" y="3905250"/>
            <a:chExt cx="5410200" cy="1721168"/>
          </a:xfrm>
        </p:grpSpPr>
        <p:sp>
          <p:nvSpPr>
            <p:cNvPr id="13" name="Rectangle 13"/>
            <p:cNvSpPr/>
            <p:nvPr/>
          </p:nvSpPr>
          <p:spPr>
            <a:xfrm>
              <a:off x="533400" y="3905250"/>
              <a:ext cx="5410200" cy="1721168"/>
            </a:xfrm>
            <a:prstGeom prst="roundRect">
              <a:avLst>
                <a:gd name="adj" fmla="val 664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26129" y="4661653"/>
              <a:ext cx="224134" cy="192560"/>
              <a:chOff x="726129" y="4661653"/>
              <a:chExt cx="224134" cy="19256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838200" y="473202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26129" y="466165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38200" y="48098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892" y="4422458"/>
              <a:ext cx="4522851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时间复杂度 </a:t>
              </a:r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O(n + t)</a:t>
              </a: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：两次 O(n) 的循环加两次 O(t) 的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扫描。前提是矩阵列数 n 和非零元个数 t 都已知，且能额外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开两个长度 n 的数组。</a:t>
              </a:r>
            </a:p>
          </p:txBody>
        </p:sp>
      </p:grpSp>
      <p:grpSp>
        <p:nvGrpSpPr>
          <p:cNvPr id="78" name="c2-table-1"/>
          <p:cNvGrpSpPr/>
          <p:nvPr/>
        </p:nvGrpSpPr>
        <p:grpSpPr>
          <a:xfrm>
            <a:off x="6243066" y="1941195"/>
            <a:ext cx="5415534" cy="3726752"/>
            <a:chOff x="6243066" y="1941195"/>
            <a:chExt cx="5415534" cy="3726752"/>
          </a:xfrm>
        </p:grpSpPr>
        <p:sp>
          <p:nvSpPr>
            <p:cNvPr id="20" name="Rectangle 20"/>
            <p:cNvSpPr/>
            <p:nvPr/>
          </p:nvSpPr>
          <p:spPr>
            <a:xfrm>
              <a:off x="6248400" y="1941195"/>
              <a:ext cx="5410200" cy="60579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41366" y="2165509"/>
              <a:ext cx="8199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扫到的 a[i]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09613" y="2165509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列号 k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19211" y="2065496"/>
              <a:ext cx="668579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</a:t>
              </a:r>
              <a:br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start[k]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728276" y="216550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写入位置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719663" y="2165509"/>
              <a:ext cx="7958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之后 start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48412" y="2671286"/>
              <a:ext cx="802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(1, 1, 50)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86207" y="267128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906322" y="267128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863973" y="267128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b[0]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697235" y="2671286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start[1]=1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248400" y="29479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48400" y="295275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48412" y="3077051"/>
              <a:ext cx="802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(2, 1, 10)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86207" y="30770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906322" y="30770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863973" y="307705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b[1]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697235" y="3077051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start[1]=2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48400" y="335375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48412" y="3482816"/>
              <a:ext cx="802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(2, 3, 20)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986207" y="348281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906322" y="348281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504045" y="3368040"/>
              <a:ext cx="1062990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863973" y="348281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b[4]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697235" y="3482816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start[3]=5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48400" y="375951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48400" y="376428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48412" y="3888581"/>
              <a:ext cx="7159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(3, 2, 5)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986207" y="38885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906322" y="38885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9504045" y="3773805"/>
              <a:ext cx="1062990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863973" y="388858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b[3]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697235" y="3888581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start[2]=4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248400" y="41652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348412" y="4294346"/>
              <a:ext cx="890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(4, 1, −30)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986207" y="429434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906322" y="429434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863973" y="429434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b[2]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697235" y="4294346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start[1]=3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248400" y="457104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248400" y="457581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348412" y="4700111"/>
              <a:ext cx="7159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(4, 3, 6)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986207" y="470011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906322" y="470011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863973" y="470011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b[5]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697235" y="4700111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start[3]=6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248400" y="497681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348412" y="5105876"/>
              <a:ext cx="7159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(4, 4, 5)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986207" y="510587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906322" y="510587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863973" y="510587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b[6]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697235" y="5105876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start[4]=7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6248400" y="1941195"/>
              <a:ext cx="5410200" cy="34461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7650480" y="1941195"/>
              <a:ext cx="9525" cy="34461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8407718" y="1941195"/>
              <a:ext cx="9525" cy="34461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9489758" y="1941195"/>
              <a:ext cx="9525" cy="34461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10571798" y="1941195"/>
              <a:ext cx="9525" cy="34461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243066" y="5462588"/>
              <a:ext cx="37069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写入位置在 b 中跳来跳去，但每一行内部仍按行号递增排好</a:t>
              </a:r>
            </a:p>
          </p:txBody>
        </p:sp>
      </p:grpSp>
      <p:grpSp>
        <p:nvGrpSpPr>
          <p:cNvPr id="84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79" name="Rectangle 79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82" name="Group 82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3" name="TextBox 83"/>
            <p:cNvSpPr txBox="1"/>
            <p:nvPr/>
          </p:nvSpPr>
          <p:spPr>
            <a:xfrm>
              <a:off x="1040892" y="6023610"/>
              <a:ext cx="93277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本例 n = 4、t = 7，朴素算法要做 n·t = 28 次列号比较，快速转置只做 n + t = 11 次基本操作。t 越大差距越明显。</a:t>
              </a:r>
            </a:p>
          </p:txBody>
        </p:sp>
      </p:grpSp>
      <p:grpSp>
        <p:nvGrpSpPr>
          <p:cNvPr id="8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5" name="TextBox 85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第5讲 数组与矩阵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5282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653" y="407194"/>
              <a:ext cx="349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第5讲 数组与矩阵 · 稀疏矩阵：三元组表与十字链表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三元组表改不动，于是有了十字链表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711180" cy="597598"/>
            <a:chOff x="525399" y="1550194"/>
            <a:chExt cx="10711180" cy="597598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711180" cy="597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80"/>
                </a:lnSpc>
              </a:pPr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三元组表是顺序存储，插入或删除一个非零元要搬动后面所有三元组。矩阵运算中元素频繁在 0 与非 0 之间切换时，这种</a:t>
              </a:r>
              <a:br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搬动无法接受。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2257425"/>
            <a:ext cx="5842635" cy="1737360"/>
            <a:chOff x="533400" y="2257425"/>
            <a:chExt cx="5842635" cy="1737360"/>
          </a:xfrm>
        </p:grpSpPr>
        <p:sp>
          <p:nvSpPr>
            <p:cNvPr id="9" name="Rectangle 9"/>
            <p:cNvSpPr/>
            <p:nvPr/>
          </p:nvSpPr>
          <p:spPr>
            <a:xfrm>
              <a:off x="533400" y="2257425"/>
              <a:ext cx="5842635" cy="1737360"/>
            </a:xfrm>
            <a:prstGeom prst="roundRect">
              <a:avLst>
                <a:gd name="adj" fmla="val 5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40934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十字链表的结点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797" y="2670334"/>
              <a:ext cx="3650361" cy="12479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typedef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ListNode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data;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元素值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row;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该结点所在行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col;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该结点所在列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ListNode *left;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指向左侧相邻的非零元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ListNode *up;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指向上方相邻的非零元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 ListNode;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4185285"/>
            <a:ext cx="5842635" cy="2122170"/>
            <a:chOff x="533400" y="4185285"/>
            <a:chExt cx="5842635" cy="2122170"/>
          </a:xfrm>
        </p:grpSpPr>
        <p:sp>
          <p:nvSpPr>
            <p:cNvPr id="13" name="Rectangle 13"/>
            <p:cNvSpPr/>
            <p:nvPr/>
          </p:nvSpPr>
          <p:spPr>
            <a:xfrm>
              <a:off x="533400" y="4185285"/>
              <a:ext cx="5842635" cy="2122170"/>
            </a:xfrm>
            <a:prstGeom prst="roundRect">
              <a:avLst>
                <a:gd name="adj" fmla="val 62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4318635"/>
              <a:ext cx="47625" cy="185547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81050" y="4394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71258" y="4430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3430" y="4772025"/>
              <a:ext cx="51682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39 页结构体里字段名写作 `column`，第 41 页的规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则却写成 `headRow[i]-&gt;col`，前后不一致。本讲义统一用</a:t>
              </a:r>
              <a:br/>
              <a:r>
                <a:rPr lang="en-US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col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0" name="c2-cells-1"/>
          <p:cNvGrpSpPr/>
          <p:nvPr/>
        </p:nvGrpSpPr>
        <p:grpSpPr>
          <a:xfrm>
            <a:off x="6674358" y="2257425"/>
            <a:ext cx="3989832" cy="419100"/>
            <a:chOff x="6674358" y="2257425"/>
            <a:chExt cx="3989832" cy="419100"/>
          </a:xfrm>
        </p:grpSpPr>
        <p:sp>
          <p:nvSpPr>
            <p:cNvPr id="19" name="TextBox 19"/>
            <p:cNvSpPr txBox="1"/>
            <p:nvPr/>
          </p:nvSpPr>
          <p:spPr>
            <a:xfrm>
              <a:off x="6674358" y="23874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结点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139940" y="2257425"/>
              <a:ext cx="7048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309482" y="2387441"/>
              <a:ext cx="3657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left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844790" y="2257425"/>
              <a:ext cx="7048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091227" y="238744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up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549640" y="2257425"/>
              <a:ext cx="7048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728228" y="2387441"/>
              <a:ext cx="3476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row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254490" y="2257425"/>
              <a:ext cx="7048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473788" y="2387441"/>
              <a:ext cx="2662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col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9959340" y="2257425"/>
              <a:ext cx="7048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106266" y="2387441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</a:t>
              </a:r>
            </a:p>
          </p:txBody>
        </p:sp>
      </p:grpSp>
      <p:grpSp>
        <p:nvGrpSpPr>
          <p:cNvPr id="67" name="c2-cells-2"/>
          <p:cNvGrpSpPr/>
          <p:nvPr/>
        </p:nvGrpSpPr>
        <p:grpSpPr>
          <a:xfrm>
            <a:off x="6674358" y="2867025"/>
            <a:ext cx="2123884" cy="2190750"/>
            <a:chOff x="6674358" y="2867025"/>
            <a:chExt cx="2123884" cy="2190750"/>
          </a:xfrm>
        </p:grpSpPr>
        <p:sp>
          <p:nvSpPr>
            <p:cNvPr id="31" name="TextBox 31"/>
            <p:cNvSpPr txBox="1"/>
            <p:nvPr/>
          </p:nvSpPr>
          <p:spPr>
            <a:xfrm>
              <a:off x="6674358" y="2997041"/>
              <a:ext cx="3390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行 1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121842" y="286702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275160" y="29970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540942" y="286702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694260" y="29970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960042" y="2867025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113360" y="29970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379142" y="286702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532460" y="29970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74358" y="3587591"/>
              <a:ext cx="3390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行 2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121842" y="3457575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275160" y="358759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540942" y="345757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694260" y="358759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960042" y="345757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113360" y="358759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379142" y="345757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532460" y="358759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74358" y="4178141"/>
              <a:ext cx="3390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行 3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121842" y="404812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275160" y="41781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540942" y="4048125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694260" y="41781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960042" y="404812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113360" y="41781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379142" y="4048125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532460" y="41781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674358" y="4768691"/>
              <a:ext cx="3390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行 4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121842" y="463867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275160" y="476869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7540942" y="463867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694260" y="476869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7960042" y="463867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113360" y="476869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379142" y="4638675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532460" y="476869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  <p:grpSp>
        <p:nvGrpSpPr>
          <p:cNvPr id="74" name="c2-callout-3"/>
          <p:cNvGrpSpPr/>
          <p:nvPr/>
        </p:nvGrpSpPr>
        <p:grpSpPr>
          <a:xfrm>
            <a:off x="6680835" y="5248275"/>
            <a:ext cx="4977765" cy="1059180"/>
            <a:chOff x="6680835" y="5248275"/>
            <a:chExt cx="4977765" cy="1059180"/>
          </a:xfrm>
        </p:grpSpPr>
        <p:sp>
          <p:nvSpPr>
            <p:cNvPr id="68" name="Rectangle 68"/>
            <p:cNvSpPr/>
            <p:nvPr/>
          </p:nvSpPr>
          <p:spPr>
            <a:xfrm>
              <a:off x="6680835" y="5248275"/>
              <a:ext cx="4977765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6885623" y="5677853"/>
              <a:ext cx="200026" cy="200025"/>
              <a:chOff x="6885623" y="5677853"/>
              <a:chExt cx="200026" cy="200025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6885623" y="567785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925361" y="572230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6960077" y="583342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7187565" y="5396865"/>
              <a:ext cx="4015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每个非零元同时挂在一条行链和一条列链上，像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十字路口，所以叫十字链表。这个 4×4 矩阵有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 个非零元。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第5讲 数组与矩阵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5282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653" y="407194"/>
              <a:ext cx="349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第5讲 数组与矩阵 · 稀疏矩阵：三元组表与十字链表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十字链表：每行每列各是一条带哨位的循环链表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9" name="c1-graph-1"/>
          <p:cNvGrpSpPr/>
          <p:nvPr/>
        </p:nvGrpSpPr>
        <p:grpSpPr>
          <a:xfrm>
            <a:off x="776009" y="1737360"/>
            <a:ext cx="6239153" cy="3466147"/>
            <a:chOff x="776009" y="1737360"/>
            <a:chExt cx="6239153" cy="3466147"/>
          </a:xfrm>
        </p:grpSpPr>
        <p:sp>
          <p:nvSpPr>
            <p:cNvPr id="7" name="Freeform 7"/>
            <p:cNvSpPr/>
            <p:nvPr/>
          </p:nvSpPr>
          <p:spPr>
            <a:xfrm>
              <a:off x="1399222" y="2668905"/>
              <a:ext cx="3721418" cy="9525"/>
            </a:xfrm>
            <a:custGeom>
              <a:avLst/>
              <a:gdLst/>
              <a:ahLst/>
              <a:cxnLst/>
              <a:rect l="l" t="t" r="r" b="b"/>
              <a:pathLst>
                <a:path w="3721418" h="9525">
                  <a:moveTo>
                    <a:pt x="3721418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303972" y="262128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399222" y="3470910"/>
              <a:ext cx="1007745" cy="9525"/>
            </a:xfrm>
            <a:custGeom>
              <a:avLst/>
              <a:gdLst/>
              <a:ahLst/>
              <a:cxnLst/>
              <a:rect l="l" t="t" r="r" b="b"/>
              <a:pathLst>
                <a:path w="1007745" h="9525">
                  <a:moveTo>
                    <a:pt x="1007745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303972" y="342328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399222" y="4271962"/>
              <a:ext cx="2365058" cy="9525"/>
            </a:xfrm>
            <a:custGeom>
              <a:avLst/>
              <a:gdLst/>
              <a:ahLst/>
              <a:cxnLst/>
              <a:rect l="l" t="t" r="r" b="b"/>
              <a:pathLst>
                <a:path w="2365058" h="9525">
                  <a:moveTo>
                    <a:pt x="2365058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303972" y="422433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396740" y="4271962"/>
              <a:ext cx="2081212" cy="9525"/>
            </a:xfrm>
            <a:custGeom>
              <a:avLst/>
              <a:gdLst/>
              <a:ahLst/>
              <a:cxnLst/>
              <a:rect l="l" t="t" r="r" b="b"/>
              <a:pathLst>
                <a:path w="2081212" h="9525">
                  <a:moveTo>
                    <a:pt x="2081212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301490" y="422433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399222" y="5073968"/>
              <a:ext cx="5078730" cy="9525"/>
            </a:xfrm>
            <a:custGeom>
              <a:avLst/>
              <a:gdLst/>
              <a:ahLst/>
              <a:cxnLst/>
              <a:rect l="l" t="t" r="r" b="b"/>
              <a:pathLst>
                <a:path w="5078730" h="9525">
                  <a:moveTo>
                    <a:pt x="5078730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303972" y="502634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5389245" y="2092642"/>
              <a:ext cx="9525" cy="446723"/>
            </a:xfrm>
            <a:custGeom>
              <a:avLst/>
              <a:gdLst/>
              <a:ahLst/>
              <a:cxnLst/>
              <a:rect l="l" t="t" r="r" b="b"/>
              <a:pathLst>
                <a:path w="9525" h="446723">
                  <a:moveTo>
                    <a:pt x="0" y="446723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5341620" y="199739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2675572" y="2092642"/>
              <a:ext cx="9525" cy="1247775"/>
            </a:xfrm>
            <a:custGeom>
              <a:avLst/>
              <a:gdLst/>
              <a:ahLst/>
              <a:cxnLst/>
              <a:rect l="l" t="t" r="r" b="b"/>
              <a:pathLst>
                <a:path w="9525" h="1247775">
                  <a:moveTo>
                    <a:pt x="0" y="124777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627948" y="199739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4032885" y="2092642"/>
              <a:ext cx="9525" cy="2049780"/>
            </a:xfrm>
            <a:custGeom>
              <a:avLst/>
              <a:gdLst/>
              <a:ahLst/>
              <a:cxnLst/>
              <a:rect l="l" t="t" r="r" b="b"/>
              <a:pathLst>
                <a:path w="9525" h="2049780">
                  <a:moveTo>
                    <a:pt x="0" y="204978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3985260" y="199739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6746558" y="2092642"/>
              <a:ext cx="9525" cy="2049780"/>
            </a:xfrm>
            <a:custGeom>
              <a:avLst/>
              <a:gdLst/>
              <a:ahLst/>
              <a:cxnLst/>
              <a:rect l="l" t="t" r="r" b="b"/>
              <a:pathLst>
                <a:path w="9525" h="2049780">
                  <a:moveTo>
                    <a:pt x="0" y="204978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6698932" y="199739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6746558" y="4497705"/>
              <a:ext cx="9525" cy="445770"/>
            </a:xfrm>
            <a:custGeom>
              <a:avLst/>
              <a:gdLst/>
              <a:ahLst/>
              <a:cxnLst/>
              <a:rect l="l" t="t" r="r" b="b"/>
              <a:pathLst>
                <a:path w="9525" h="445770">
                  <a:moveTo>
                    <a:pt x="0" y="44577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6698932" y="44024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2476500" y="1737360"/>
              <a:ext cx="399098" cy="260032"/>
            </a:xfrm>
            <a:prstGeom prst="roundRect">
              <a:avLst>
                <a:gd name="adj" fmla="val 3663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3833812" y="1737360"/>
              <a:ext cx="399098" cy="260032"/>
            </a:xfrm>
            <a:prstGeom prst="roundRect">
              <a:avLst>
                <a:gd name="adj" fmla="val 3663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190172" y="1737360"/>
              <a:ext cx="399098" cy="260032"/>
            </a:xfrm>
            <a:prstGeom prst="roundRect">
              <a:avLst>
                <a:gd name="adj" fmla="val 3663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547485" y="1737360"/>
              <a:ext cx="399098" cy="260032"/>
            </a:xfrm>
            <a:prstGeom prst="roundRect">
              <a:avLst>
                <a:gd name="adj" fmla="val 3663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905828" y="2539365"/>
              <a:ext cx="399098" cy="260032"/>
            </a:xfrm>
            <a:prstGeom prst="roundRect">
              <a:avLst>
                <a:gd name="adj" fmla="val 3663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905828" y="3340418"/>
              <a:ext cx="399098" cy="260032"/>
            </a:xfrm>
            <a:prstGeom prst="roundRect">
              <a:avLst>
                <a:gd name="adj" fmla="val 3663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905828" y="4142422"/>
              <a:ext cx="399098" cy="260032"/>
            </a:xfrm>
            <a:prstGeom prst="roundRect">
              <a:avLst>
                <a:gd name="adj" fmla="val 3663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905828" y="4943475"/>
              <a:ext cx="399098" cy="260032"/>
            </a:xfrm>
            <a:prstGeom prst="roundRect">
              <a:avLst>
                <a:gd name="adj" fmla="val 3663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120640" y="2539365"/>
              <a:ext cx="537210" cy="260032"/>
            </a:xfrm>
            <a:prstGeom prst="roundRect">
              <a:avLst>
                <a:gd name="adj" fmla="val 3663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2406968" y="3340418"/>
              <a:ext cx="537210" cy="260032"/>
            </a:xfrm>
            <a:prstGeom prst="roundRect">
              <a:avLst>
                <a:gd name="adj" fmla="val 3663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3764280" y="4142422"/>
              <a:ext cx="537210" cy="260032"/>
            </a:xfrm>
            <a:prstGeom prst="roundRect">
              <a:avLst>
                <a:gd name="adj" fmla="val 3663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77952" y="4142422"/>
              <a:ext cx="537210" cy="260032"/>
            </a:xfrm>
            <a:prstGeom prst="roundRect">
              <a:avLst>
                <a:gd name="adj" fmla="val 3663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77952" y="4943475"/>
              <a:ext cx="537210" cy="260032"/>
            </a:xfrm>
            <a:prstGeom prst="roundRect">
              <a:avLst>
                <a:gd name="adj" fmla="val 3663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596881" y="1811655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954193" y="1811655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310553" y="1811655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67866" y="1811655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26208" y="2612708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26208" y="3414712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26208" y="4215765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26208" y="5017770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241365" y="2612708"/>
              <a:ext cx="29576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1 3 6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527692" y="3414712"/>
              <a:ext cx="29576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2 1 4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885005" y="4215765"/>
              <a:ext cx="29576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3 2 9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598677" y="4215765"/>
              <a:ext cx="29576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3 4 7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598677" y="5017770"/>
              <a:ext cx="29576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4 4 8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3072765" y="2590800"/>
              <a:ext cx="27908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3100391" y="2619851"/>
              <a:ext cx="22478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left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293995" y="2189798"/>
              <a:ext cx="19050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323769" y="221884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up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97667" y="1746409"/>
              <a:ext cx="5859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headCol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76009" y="2051209"/>
              <a:ext cx="6577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headRow</a:t>
              </a:r>
            </a:p>
          </p:txBody>
        </p:sp>
      </p:grpSp>
      <p:grpSp>
        <p:nvGrpSpPr>
          <p:cNvPr id="68" name="c2-bullets-1"/>
          <p:cNvGrpSpPr/>
          <p:nvPr/>
        </p:nvGrpSpPr>
        <p:grpSpPr>
          <a:xfrm>
            <a:off x="7980045" y="1542574"/>
            <a:ext cx="3573227" cy="1680210"/>
            <a:chOff x="7980045" y="1542574"/>
            <a:chExt cx="3573227" cy="1680210"/>
          </a:xfrm>
        </p:grpSpPr>
        <p:sp>
          <p:nvSpPr>
            <p:cNvPr id="60" name="Freeform 60"/>
            <p:cNvSpPr/>
            <p:nvPr/>
          </p:nvSpPr>
          <p:spPr>
            <a:xfrm>
              <a:off x="7980045" y="1565910"/>
              <a:ext cx="107633" cy="87630"/>
            </a:xfrm>
            <a:custGeom>
              <a:avLst/>
              <a:gdLst/>
              <a:ahLst/>
              <a:cxnLst/>
              <a:rect l="l" t="t" r="r" b="b"/>
              <a:pathLst>
                <a:path w="107633" h="87630">
                  <a:moveTo>
                    <a:pt x="0" y="46673"/>
                  </a:moveTo>
                  <a:lnTo>
                    <a:pt x="40958" y="87630"/>
                  </a:lnTo>
                  <a:lnTo>
                    <a:pt x="107633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196262" y="1542574"/>
              <a:ext cx="2664206" cy="434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headRow[i] 指向第 i 行链表的哨位结点，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headCol[j] 指向第 j 列的哨位结点</a:t>
              </a:r>
            </a:p>
          </p:txBody>
        </p:sp>
        <p:sp>
          <p:nvSpPr>
            <p:cNvPr id="62" name="Freeform 62"/>
            <p:cNvSpPr/>
            <p:nvPr/>
          </p:nvSpPr>
          <p:spPr>
            <a:xfrm>
              <a:off x="7980045" y="2052638"/>
              <a:ext cx="107633" cy="87630"/>
            </a:xfrm>
            <a:custGeom>
              <a:avLst/>
              <a:gdLst/>
              <a:ahLst/>
              <a:cxnLst/>
              <a:rect l="l" t="t" r="r" b="b"/>
              <a:pathLst>
                <a:path w="107633" h="87630">
                  <a:moveTo>
                    <a:pt x="0" y="46673"/>
                  </a:moveTo>
                  <a:lnTo>
                    <a:pt x="40958" y="87630"/>
                  </a:lnTo>
                  <a:lnTo>
                    <a:pt x="107633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196262" y="2029301"/>
              <a:ext cx="3218942" cy="434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每行哨位结点的 col 置为 −1，每列哨位结点的 row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置为 −1</a:t>
              </a:r>
            </a:p>
          </p:txBody>
        </p:sp>
        <p:sp>
          <p:nvSpPr>
            <p:cNvPr id="64" name="Freeform 64"/>
            <p:cNvSpPr/>
            <p:nvPr/>
          </p:nvSpPr>
          <p:spPr>
            <a:xfrm>
              <a:off x="7980045" y="2539365"/>
              <a:ext cx="107633" cy="87630"/>
            </a:xfrm>
            <a:custGeom>
              <a:avLst/>
              <a:gdLst/>
              <a:ahLst/>
              <a:cxnLst/>
              <a:rect l="l" t="t" r="r" b="b"/>
              <a:pathLst>
                <a:path w="107633" h="87630">
                  <a:moveTo>
                    <a:pt x="0" y="46672"/>
                  </a:moveTo>
                  <a:lnTo>
                    <a:pt x="40958" y="87630"/>
                  </a:lnTo>
                  <a:lnTo>
                    <a:pt x="107633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196262" y="2516029"/>
              <a:ext cx="2585974" cy="434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i 行无非零元时 headRow[i]-&gt;left ==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headRow[i]</a:t>
              </a:r>
            </a:p>
          </p:txBody>
        </p:sp>
        <p:sp>
          <p:nvSpPr>
            <p:cNvPr id="66" name="Freeform 66"/>
            <p:cNvSpPr/>
            <p:nvPr/>
          </p:nvSpPr>
          <p:spPr>
            <a:xfrm>
              <a:off x="7980045" y="3026092"/>
              <a:ext cx="107633" cy="87630"/>
            </a:xfrm>
            <a:custGeom>
              <a:avLst/>
              <a:gdLst/>
              <a:ahLst/>
              <a:cxnLst/>
              <a:rect l="l" t="t" r="r" b="b"/>
              <a:pathLst>
                <a:path w="107633" h="87630">
                  <a:moveTo>
                    <a:pt x="0" y="46673"/>
                  </a:moveTo>
                  <a:lnTo>
                    <a:pt x="40958" y="87630"/>
                  </a:lnTo>
                  <a:lnTo>
                    <a:pt x="107633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196262" y="3002756"/>
              <a:ext cx="33570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j 列无非零元时 headCol[j]-&gt;up == headCol[j]</a:t>
              </a:r>
            </a:p>
          </p:txBody>
        </p:sp>
      </p:grpSp>
      <p:grpSp>
        <p:nvGrpSpPr>
          <p:cNvPr id="74" name="c2-card-2"/>
          <p:cNvGrpSpPr/>
          <p:nvPr/>
        </p:nvGrpSpPr>
        <p:grpSpPr>
          <a:xfrm>
            <a:off x="7980045" y="3353752"/>
            <a:ext cx="3678555" cy="1987868"/>
            <a:chOff x="7980045" y="3353752"/>
            <a:chExt cx="3678555" cy="1987868"/>
          </a:xfrm>
        </p:grpSpPr>
        <p:sp>
          <p:nvSpPr>
            <p:cNvPr id="69" name="Rectangle 69"/>
            <p:cNvSpPr/>
            <p:nvPr/>
          </p:nvSpPr>
          <p:spPr>
            <a:xfrm>
              <a:off x="7980045" y="3353752"/>
              <a:ext cx="3678555" cy="1987868"/>
            </a:xfrm>
            <a:prstGeom prst="roundRect">
              <a:avLst>
                <a:gd name="adj" fmla="val 6708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8172450" y="35452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263890" y="358044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165592" y="3902392"/>
              <a:ext cx="316839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图中只画了每个结点的 left 和 up 两根指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针。哨位结点的 left 再指回本行最右的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结点，up 指回本列最下的结点，于是每条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链都是循环的。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166735" y="4972526"/>
              <a:ext cx="2838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结点框里三个数依次是 row、col、data。</a:t>
              </a:r>
            </a:p>
          </p:txBody>
        </p:sp>
      </p:grpSp>
      <p:grpSp>
        <p:nvGrpSpPr>
          <p:cNvPr id="81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75" name="Rectangle 75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738188" y="5897880"/>
              <a:ext cx="200026" cy="200025"/>
              <a:chOff x="738188" y="5897880"/>
              <a:chExt cx="200026" cy="200025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738188" y="589788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777926" y="594233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812642" y="605345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1040892" y="5779770"/>
              <a:ext cx="97863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对矩阵的运算，实质上就是在十字链表中插入结点、删除结点以及改某个结点的数据域。插入删除只动几根指针，不用搬动其他元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素。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第5讲 数组与矩阵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801868" cy="2997517"/>
            <a:chOff x="667512" y="1835468"/>
            <a:chExt cx="5801868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动态规划初探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791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用一张表记住算过的子问题，把指数级的重复计算压成线性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从递归斐波那契看重复计算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动态规划的三个前提与四个步骤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网格路径与最大子数组和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第5讲 数组与矩阵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第5讲 数组与矩阵 · 动态规划初探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递归求斐波那契：同一个子问题被算了无数遍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1" name="c1-tree-1"/>
          <p:cNvGrpSpPr/>
          <p:nvPr/>
        </p:nvGrpSpPr>
        <p:grpSpPr>
          <a:xfrm>
            <a:off x="514350" y="1718310"/>
            <a:ext cx="5529263" cy="3640455"/>
            <a:chOff x="514350" y="1718310"/>
            <a:chExt cx="5529263" cy="3640455"/>
          </a:xfrm>
        </p:grpSpPr>
        <p:sp>
          <p:nvSpPr>
            <p:cNvPr id="7" name="Freeform 7"/>
            <p:cNvSpPr/>
            <p:nvPr/>
          </p:nvSpPr>
          <p:spPr>
            <a:xfrm>
              <a:off x="722948" y="4344352"/>
              <a:ext cx="189547" cy="805815"/>
            </a:xfrm>
            <a:custGeom>
              <a:avLst/>
              <a:gdLst/>
              <a:ahLst/>
              <a:cxnLst/>
              <a:rect l="l" t="t" r="r" b="b"/>
              <a:pathLst>
                <a:path w="189547" h="805815">
                  <a:moveTo>
                    <a:pt x="189547" y="0"/>
                  </a:moveTo>
                  <a:lnTo>
                    <a:pt x="0" y="8058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912495" y="4344352"/>
              <a:ext cx="188595" cy="805815"/>
            </a:xfrm>
            <a:custGeom>
              <a:avLst/>
              <a:gdLst/>
              <a:ahLst/>
              <a:cxnLst/>
              <a:rect l="l" t="t" r="r" b="b"/>
              <a:pathLst>
                <a:path w="188595" h="805815">
                  <a:moveTo>
                    <a:pt x="0" y="0"/>
                  </a:moveTo>
                  <a:lnTo>
                    <a:pt x="188595" y="8058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912495" y="3538538"/>
              <a:ext cx="378142" cy="805815"/>
            </a:xfrm>
            <a:custGeom>
              <a:avLst/>
              <a:gdLst/>
              <a:ahLst/>
              <a:cxnLst/>
              <a:rect l="l" t="t" r="r" b="b"/>
              <a:pathLst>
                <a:path w="378142" h="805815">
                  <a:moveTo>
                    <a:pt x="378142" y="0"/>
                  </a:moveTo>
                  <a:lnTo>
                    <a:pt x="0" y="8058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290638" y="3538538"/>
              <a:ext cx="379095" cy="805815"/>
            </a:xfrm>
            <a:custGeom>
              <a:avLst/>
              <a:gdLst/>
              <a:ahLst/>
              <a:cxnLst/>
              <a:rect l="l" t="t" r="r" b="b"/>
              <a:pathLst>
                <a:path w="379095" h="805815">
                  <a:moveTo>
                    <a:pt x="0" y="0"/>
                  </a:moveTo>
                  <a:lnTo>
                    <a:pt x="379095" y="8058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426970" y="3538538"/>
              <a:ext cx="379095" cy="805815"/>
            </a:xfrm>
            <a:custGeom>
              <a:avLst/>
              <a:gdLst/>
              <a:ahLst/>
              <a:cxnLst/>
              <a:rect l="l" t="t" r="r" b="b"/>
              <a:pathLst>
                <a:path w="379095" h="805815">
                  <a:moveTo>
                    <a:pt x="379095" y="0"/>
                  </a:moveTo>
                  <a:lnTo>
                    <a:pt x="0" y="8058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806065" y="3538538"/>
              <a:ext cx="378142" cy="805815"/>
            </a:xfrm>
            <a:custGeom>
              <a:avLst/>
              <a:gdLst/>
              <a:ahLst/>
              <a:cxnLst/>
              <a:rect l="l" t="t" r="r" b="b"/>
              <a:pathLst>
                <a:path w="378142" h="805815">
                  <a:moveTo>
                    <a:pt x="0" y="0"/>
                  </a:moveTo>
                  <a:lnTo>
                    <a:pt x="378142" y="8058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290638" y="2732722"/>
              <a:ext cx="757238" cy="805815"/>
            </a:xfrm>
            <a:custGeom>
              <a:avLst/>
              <a:gdLst/>
              <a:ahLst/>
              <a:cxnLst/>
              <a:rect l="l" t="t" r="r" b="b"/>
              <a:pathLst>
                <a:path w="757238" h="805815">
                  <a:moveTo>
                    <a:pt x="757238" y="0"/>
                  </a:moveTo>
                  <a:lnTo>
                    <a:pt x="0" y="8058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047875" y="2732722"/>
              <a:ext cx="758190" cy="805815"/>
            </a:xfrm>
            <a:custGeom>
              <a:avLst/>
              <a:gdLst/>
              <a:ahLst/>
              <a:cxnLst/>
              <a:rect l="l" t="t" r="r" b="b"/>
              <a:pathLst>
                <a:path w="758190" h="805815">
                  <a:moveTo>
                    <a:pt x="0" y="0"/>
                  </a:moveTo>
                  <a:lnTo>
                    <a:pt x="758190" y="8058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941445" y="3538538"/>
              <a:ext cx="379095" cy="805815"/>
            </a:xfrm>
            <a:custGeom>
              <a:avLst/>
              <a:gdLst/>
              <a:ahLst/>
              <a:cxnLst/>
              <a:rect l="l" t="t" r="r" b="b"/>
              <a:pathLst>
                <a:path w="379095" h="805815">
                  <a:moveTo>
                    <a:pt x="379095" y="0"/>
                  </a:moveTo>
                  <a:lnTo>
                    <a:pt x="0" y="8058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320540" y="3538538"/>
              <a:ext cx="379095" cy="805815"/>
            </a:xfrm>
            <a:custGeom>
              <a:avLst/>
              <a:gdLst/>
              <a:ahLst/>
              <a:cxnLst/>
              <a:rect l="l" t="t" r="r" b="b"/>
              <a:pathLst>
                <a:path w="379095" h="805815">
                  <a:moveTo>
                    <a:pt x="0" y="0"/>
                  </a:moveTo>
                  <a:lnTo>
                    <a:pt x="379095" y="8058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320540" y="2732722"/>
              <a:ext cx="757238" cy="805815"/>
            </a:xfrm>
            <a:custGeom>
              <a:avLst/>
              <a:gdLst/>
              <a:ahLst/>
              <a:cxnLst/>
              <a:rect l="l" t="t" r="r" b="b"/>
              <a:pathLst>
                <a:path w="757238" h="805815">
                  <a:moveTo>
                    <a:pt x="757238" y="0"/>
                  </a:moveTo>
                  <a:lnTo>
                    <a:pt x="0" y="8058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5077778" y="2732722"/>
              <a:ext cx="757238" cy="805815"/>
            </a:xfrm>
            <a:custGeom>
              <a:avLst/>
              <a:gdLst/>
              <a:ahLst/>
              <a:cxnLst/>
              <a:rect l="l" t="t" r="r" b="b"/>
              <a:pathLst>
                <a:path w="757238" h="805815">
                  <a:moveTo>
                    <a:pt x="0" y="0"/>
                  </a:moveTo>
                  <a:lnTo>
                    <a:pt x="757238" y="8058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2047875" y="1926908"/>
              <a:ext cx="1515428" cy="805815"/>
            </a:xfrm>
            <a:custGeom>
              <a:avLst/>
              <a:gdLst/>
              <a:ahLst/>
              <a:cxnLst/>
              <a:rect l="l" t="t" r="r" b="b"/>
              <a:pathLst>
                <a:path w="1515428" h="805815">
                  <a:moveTo>
                    <a:pt x="1515428" y="0"/>
                  </a:moveTo>
                  <a:lnTo>
                    <a:pt x="0" y="8058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3563302" y="1926908"/>
              <a:ext cx="1514475" cy="805815"/>
            </a:xfrm>
            <a:custGeom>
              <a:avLst/>
              <a:gdLst/>
              <a:ahLst/>
              <a:cxnLst/>
              <a:rect l="l" t="t" r="r" b="b"/>
              <a:pathLst>
                <a:path w="1514475" h="805815">
                  <a:moveTo>
                    <a:pt x="0" y="0"/>
                  </a:moveTo>
                  <a:lnTo>
                    <a:pt x="1514475" y="8058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514350" y="4941570"/>
              <a:ext cx="417195" cy="41719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892492" y="4941570"/>
              <a:ext cx="417195" cy="41719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703898" y="4135755"/>
              <a:ext cx="417195" cy="41719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1461135" y="4135755"/>
              <a:ext cx="417195" cy="41719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1082040" y="3329940"/>
              <a:ext cx="417195" cy="417195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2218372" y="4135755"/>
              <a:ext cx="417195" cy="41719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2975610" y="4135755"/>
              <a:ext cx="417195" cy="41719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2597468" y="3329940"/>
              <a:ext cx="417195" cy="417195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1839278" y="2524125"/>
              <a:ext cx="417195" cy="41719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3732848" y="4135755"/>
              <a:ext cx="417195" cy="41719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4491038" y="4135755"/>
              <a:ext cx="417195" cy="41719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4111943" y="3329940"/>
              <a:ext cx="417195" cy="41719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5626418" y="3329940"/>
              <a:ext cx="417195" cy="41719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4869180" y="2524125"/>
              <a:ext cx="417195" cy="417195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3354705" y="1718310"/>
              <a:ext cx="417195" cy="41719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70327" y="5093970"/>
              <a:ext cx="3052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F(1)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48469" y="5093970"/>
              <a:ext cx="3052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F(0)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9874" y="4288155"/>
              <a:ext cx="3052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F(2)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517112" y="4288155"/>
              <a:ext cx="3052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F(1)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38017" y="3482340"/>
              <a:ext cx="3052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F(3)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274349" y="4288155"/>
              <a:ext cx="3052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F(1)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031587" y="4288155"/>
              <a:ext cx="3052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F(0)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653444" y="3482340"/>
              <a:ext cx="3052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F(2)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895254" y="2676525"/>
              <a:ext cx="3052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F(4)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788824" y="4288155"/>
              <a:ext cx="3052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F(1)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547014" y="4288155"/>
              <a:ext cx="3052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F(0)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167919" y="3482340"/>
              <a:ext cx="3052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F(2)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682394" y="3482340"/>
              <a:ext cx="3052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F(1)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925157" y="2676525"/>
              <a:ext cx="3052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F(3)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410682" y="1870710"/>
              <a:ext cx="3052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F(5)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formula40"/>
              <p:cNvSpPr txBox="1">
                <a:spLocks noGrp="1"/>
              </p:cNvSpPr>
              <p:nvPr/>
            </p:nvSpPr>
            <p:spPr>
              <a:xfrm>
                <a:off x="6898005" y="1524000"/>
                <a:ext cx="4760595" cy="1200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≥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56" name="c2-code-2"/>
          <p:cNvGrpSpPr/>
          <p:nvPr/>
        </p:nvGrpSpPr>
        <p:grpSpPr>
          <a:xfrm>
            <a:off x="6898005" y="2904172"/>
            <a:ext cx="4760595" cy="1168718"/>
            <a:chOff x="6898005" y="2904172"/>
            <a:chExt cx="4760595" cy="1168718"/>
          </a:xfrm>
        </p:grpSpPr>
        <p:sp>
          <p:nvSpPr>
            <p:cNvPr id="53" name="Rectangle 53"/>
            <p:cNvSpPr/>
            <p:nvPr/>
          </p:nvSpPr>
          <p:spPr>
            <a:xfrm>
              <a:off x="6898005" y="2904172"/>
              <a:ext cx="4760595" cy="1168718"/>
            </a:xfrm>
            <a:prstGeom prst="roundRect">
              <a:avLst>
                <a:gd name="adj" fmla="val 815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026402" y="305609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026592" y="3315938"/>
              <a:ext cx="1744599" cy="6762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05"/>
                </a:lnSpc>
              </a:pP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F(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(n &lt;= 1) 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n;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F(n-1) + F(n-2);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63" name="c2-card-3"/>
          <p:cNvGrpSpPr/>
          <p:nvPr/>
        </p:nvGrpSpPr>
        <p:grpSpPr>
          <a:xfrm>
            <a:off x="6898005" y="4253865"/>
            <a:ext cx="4760595" cy="1299210"/>
            <a:chOff x="6898005" y="4253865"/>
            <a:chExt cx="4760595" cy="1299210"/>
          </a:xfrm>
        </p:grpSpPr>
        <p:sp>
          <p:nvSpPr>
            <p:cNvPr id="57" name="Rectangle 57"/>
            <p:cNvSpPr/>
            <p:nvPr/>
          </p:nvSpPr>
          <p:spPr>
            <a:xfrm>
              <a:off x="6898005" y="4253865"/>
              <a:ext cx="4760595" cy="1299210"/>
            </a:xfrm>
            <a:prstGeom prst="roundRect">
              <a:avLst>
                <a:gd name="adj" fmla="val 102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907530" y="4387215"/>
              <a:ext cx="47625" cy="103251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7134225" y="445198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217664" y="448627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问题所在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984236" y="4486751"/>
              <a:ext cx="27110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两棵标红的 F(3) 子树一模一样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126986" y="4830604"/>
              <a:ext cx="381965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 F(5) 时 F(3) 被完整展开两次，F(2) 三次，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F(1) 五次。n 越大重复越夸张。</a:t>
              </a:r>
            </a:p>
          </p:txBody>
        </p:sp>
      </p:grpSp>
      <p:grpSp>
        <p:nvGrpSpPr>
          <p:cNvPr id="69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64" name="Rectangle 64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0511" y="6011704"/>
              <a:ext cx="89990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递归把一个问题拆成子问题，但它不记账。只要子问题会被不同的上级重复要到，递归就会一遍遍从头算。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第5讲 数组与矩阵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第5讲 数组与矩阵 · 动态规划初探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这棵递归树到底有多大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9125255" cy="264033"/>
            <a:chOff x="526542" y="1545907"/>
            <a:chExt cx="912525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91252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 T(n) 为算 F(n) 时的加法次数，T(n) = T(n−1) + T(n−2) + 1。由于 T 单调不减，可以从两头夹出它的量级。</a:t>
              </a:r>
            </a:p>
          </p:txBody>
        </p:sp>
      </p:grpSp>
      <p:grpSp>
        <p:nvGrpSpPr>
          <p:cNvPr id="22" name="c1-steps-1"/>
          <p:cNvGrpSpPr/>
          <p:nvPr/>
        </p:nvGrpSpPr>
        <p:grpSpPr>
          <a:xfrm>
            <a:off x="533400" y="1938338"/>
            <a:ext cx="5248940" cy="1789366"/>
            <a:chOff x="533400" y="1938338"/>
            <a:chExt cx="5248940" cy="1789366"/>
          </a:xfrm>
        </p:grpSpPr>
        <p:sp>
          <p:nvSpPr>
            <p:cNvPr id="9" name="Rectangle 9"/>
            <p:cNvSpPr/>
            <p:nvPr/>
          </p:nvSpPr>
          <p:spPr>
            <a:xfrm>
              <a:off x="666750" y="2081212"/>
              <a:ext cx="19050" cy="1105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3833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121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49078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5646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04419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1180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6023" y="1968341"/>
              <a:ext cx="24422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放大：把 T(n−2) 换成 T(n−1)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7166" y="2223135"/>
              <a:ext cx="48351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T(n) ≤ 2T(n−1) ≤ 2²T(n−2) ≤ … ≤ 2ⁿ⁻²T(2) = 2ⁿ⁻²，故 T(n) = </a:t>
              </a:r>
              <a:r>
                <a:rPr lang="en-US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O(2ⁿ)</a:t>
              </a: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023" y="2521744"/>
              <a:ext cx="24422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缩小：把 T(n−1) 换成 T(n−2)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7166" y="2776538"/>
              <a:ext cx="48085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T(n) ≥ 2T(n−2) ≥ 2²T(n−4) ≥ … ≥ 2⁽ⁿ⁻²⁾ᐟ²T(2)，故 T(n) = </a:t>
              </a:r>
              <a:r>
                <a:rPr lang="el-GR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Ω(2ⁿᐟ²)</a:t>
              </a: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023" y="307514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7166" y="3328988"/>
              <a:ext cx="4617910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上下界都是指数量级。实际增长率是黄金比 φ ≈ 1.618 的 n 次方，夹在 2ⁿᐟ² ≈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1.414ⁿ 和 2ⁿ 之间。</a:t>
              </a:r>
            </a:p>
          </p:txBody>
        </p:sp>
      </p:grpSp>
      <p:grpSp>
        <p:nvGrpSpPr>
          <p:cNvPr id="28" name="c1-card-2"/>
          <p:cNvGrpSpPr/>
          <p:nvPr/>
        </p:nvGrpSpPr>
        <p:grpSpPr>
          <a:xfrm>
            <a:off x="533400" y="3890010"/>
            <a:ext cx="5410200" cy="1386840"/>
            <a:chOff x="533400" y="3890010"/>
            <a:chExt cx="5410200" cy="1386840"/>
          </a:xfrm>
        </p:grpSpPr>
        <p:sp>
          <p:nvSpPr>
            <p:cNvPr id="23" name="Rectangle 23"/>
            <p:cNvSpPr/>
            <p:nvPr/>
          </p:nvSpPr>
          <p:spPr>
            <a:xfrm>
              <a:off x="533400" y="3890010"/>
              <a:ext cx="5410200" cy="1386840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4023360"/>
              <a:ext cx="47625" cy="112014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52475" y="4070985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22744" y="4103846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为什么允许这样换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5998" y="4410551"/>
              <a:ext cx="472719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单调不减，所以 T(n−2) ≤ T(n−1)：把小的换成大的得到上界，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把大的换成小的得到下界。两步换的方向相反，夹出的区间才有意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义。</a:t>
              </a:r>
            </a:p>
          </p:txBody>
        </p:sp>
      </p:grpSp>
      <p:grpSp>
        <p:nvGrpSpPr>
          <p:cNvPr id="36" name="c2-card-1"/>
          <p:cNvGrpSpPr/>
          <p:nvPr/>
        </p:nvGrpSpPr>
        <p:grpSpPr>
          <a:xfrm>
            <a:off x="6248400" y="1928812"/>
            <a:ext cx="5410200" cy="1691640"/>
            <a:chOff x="6248400" y="1928812"/>
            <a:chExt cx="5410200" cy="1691640"/>
          </a:xfrm>
        </p:grpSpPr>
        <p:sp>
          <p:nvSpPr>
            <p:cNvPr id="29" name="Rectangle 29"/>
            <p:cNvSpPr/>
            <p:nvPr/>
          </p:nvSpPr>
          <p:spPr>
            <a:xfrm>
              <a:off x="6248400" y="1928812"/>
              <a:ext cx="5410200" cy="1691640"/>
            </a:xfrm>
            <a:prstGeom prst="roundRect">
              <a:avLst>
                <a:gd name="adj" fmla="val 788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29375" y="2109788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10846" y="214264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精确数一数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68730" y="2149316"/>
              <a:ext cx="36900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 F(n) 时的函数调用次数恰好是 2F(n+1) − 1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22898" y="2465546"/>
              <a:ext cx="445084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= 10：调用 2×89 − 1 = 177 次，其中 F(1) 单独被调用了 55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次。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22898" y="2994184"/>
              <a:ext cx="40153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n = 40：调用 </a:t>
              </a:r>
              <a:r>
                <a:rPr lang="zh-CN" sz="128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331 160 281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次，三亿多次函数调用。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24041" y="3274695"/>
              <a:ext cx="33921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而自底向上的递推只需要 39 次加法就能算出 F(40)。</a:t>
              </a:r>
            </a:p>
          </p:txBody>
        </p:sp>
      </p:grpSp>
      <p:grpSp>
        <p:nvGrpSpPr>
          <p:cNvPr id="43" name="c2-callout-2"/>
          <p:cNvGrpSpPr/>
          <p:nvPr/>
        </p:nvGrpSpPr>
        <p:grpSpPr>
          <a:xfrm>
            <a:off x="6248400" y="3785235"/>
            <a:ext cx="5410200" cy="1491615"/>
            <a:chOff x="6248400" y="3785235"/>
            <a:chExt cx="5410200" cy="1491615"/>
          </a:xfrm>
        </p:grpSpPr>
        <p:sp>
          <p:nvSpPr>
            <p:cNvPr id="37" name="Rectangle 37"/>
            <p:cNvSpPr/>
            <p:nvPr/>
          </p:nvSpPr>
          <p:spPr>
            <a:xfrm>
              <a:off x="6248400" y="3785235"/>
              <a:ext cx="5410200" cy="1491615"/>
            </a:xfrm>
            <a:prstGeom prst="roundRect">
              <a:avLst>
                <a:gd name="adj" fmla="val 766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6441129" y="4427338"/>
              <a:ext cx="224134" cy="192560"/>
              <a:chOff x="6441129" y="4427338"/>
              <a:chExt cx="224134" cy="19256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553200" y="449770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441129" y="442733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553200" y="45754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6756273" y="4206716"/>
              <a:ext cx="4450842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复杂度结论成立的前提是把一次加法计为单位时间。n 大到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F(n) 超出 int 范围（n ≥ 47）时会溢出，大数加法本身也不再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是 O(1)。</a:t>
              </a:r>
            </a:p>
          </p:txBody>
        </p:sp>
      </p:grpSp>
      <p:grpSp>
        <p:nvGrpSpPr>
          <p:cNvPr id="50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4" name="Rectangle 44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1273" y="6039326"/>
              <a:ext cx="92920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递归树的层数只有 n，但结点数是指数级，原因是同一层上有大量互相重复的结点。把重复的结点合并掉，就是动态规划。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第5讲 数组与矩阵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第5讲 数组与矩阵 · 动态规划初探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动态规划：算过的子问题就记在表里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10654538" cy="541592"/>
            <a:chOff x="526161" y="1547336"/>
            <a:chExt cx="10654538" cy="54159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1065453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动态规划把复杂问题分解成若干子问题，自底向上先解最小的子问题并把结果存进表格，解大问题时直接查表，从而避免重复计算。它</a:t>
              </a:r>
              <a:br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往往通过递推来实现。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2204085"/>
            <a:ext cx="5410200" cy="952500"/>
            <a:chOff x="533400" y="2204085"/>
            <a:chExt cx="5410200" cy="952500"/>
          </a:xfrm>
        </p:grpSpPr>
        <p:sp>
          <p:nvSpPr>
            <p:cNvPr id="9" name="Rectangle 9"/>
            <p:cNvSpPr/>
            <p:nvPr/>
          </p:nvSpPr>
          <p:spPr>
            <a:xfrm>
              <a:off x="533400" y="2204085"/>
              <a:ext cx="5410200" cy="952500"/>
            </a:xfrm>
            <a:prstGeom prst="roundRect">
              <a:avLst>
                <a:gd name="adj" fmla="val 140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337435"/>
              <a:ext cx="47625" cy="68580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3905" y="2396490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3343" y="243078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最优子结构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7047" y="2752725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大问题的解包含子问题的解，且能由子问题的解推导出来。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331845"/>
            <a:ext cx="5410200" cy="952500"/>
            <a:chOff x="533400" y="3331845"/>
            <a:chExt cx="5410200" cy="952500"/>
          </a:xfrm>
        </p:grpSpPr>
        <p:sp>
          <p:nvSpPr>
            <p:cNvPr id="15" name="Rectangle 15"/>
            <p:cNvSpPr/>
            <p:nvPr/>
          </p:nvSpPr>
          <p:spPr>
            <a:xfrm>
              <a:off x="533400" y="3331845"/>
              <a:ext cx="5410200" cy="952500"/>
            </a:xfrm>
            <a:prstGeom prst="roundRect">
              <a:avLst>
                <a:gd name="adj" fmla="val 140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465195"/>
              <a:ext cx="47625" cy="68580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3905" y="3523298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7344" y="355758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无后效性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7047" y="3880485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当前阶段的求解只与之前的阶段有关，与之后无关。</a:t>
              </a:r>
            </a:p>
          </p:txBody>
        </p:sp>
      </p:grpSp>
      <p:grpSp>
        <p:nvGrpSpPr>
          <p:cNvPr id="26" name="c1-card-3"/>
          <p:cNvGrpSpPr/>
          <p:nvPr/>
        </p:nvGrpSpPr>
        <p:grpSpPr>
          <a:xfrm>
            <a:off x="533400" y="4458652"/>
            <a:ext cx="5410200" cy="952500"/>
            <a:chOff x="533400" y="4458652"/>
            <a:chExt cx="5410200" cy="952500"/>
          </a:xfrm>
        </p:grpSpPr>
        <p:sp>
          <p:nvSpPr>
            <p:cNvPr id="21" name="Rectangle 21"/>
            <p:cNvSpPr/>
            <p:nvPr/>
          </p:nvSpPr>
          <p:spPr>
            <a:xfrm>
              <a:off x="533400" y="4458652"/>
              <a:ext cx="5410200" cy="952500"/>
            </a:xfrm>
            <a:prstGeom prst="roundRect">
              <a:avLst>
                <a:gd name="adj" fmla="val 140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4592002"/>
              <a:ext cx="47625" cy="68580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63905" y="4651058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43343" y="468534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重叠子问题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7047" y="5007292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子问题大量重复，动态规划让每个只算一次。</a:t>
              </a:r>
            </a:p>
          </p:txBody>
        </p:sp>
      </p:grpSp>
      <p:grpSp>
        <p:nvGrpSpPr>
          <p:cNvPr id="44" name="c2-steps-1"/>
          <p:cNvGrpSpPr/>
          <p:nvPr/>
        </p:nvGrpSpPr>
        <p:grpSpPr>
          <a:xfrm>
            <a:off x="6248400" y="2213610"/>
            <a:ext cx="5400370" cy="2279809"/>
            <a:chOff x="6248400" y="2213610"/>
            <a:chExt cx="5400370" cy="2279809"/>
          </a:xfrm>
        </p:grpSpPr>
        <p:sp>
          <p:nvSpPr>
            <p:cNvPr id="27" name="Rectangle 27"/>
            <p:cNvSpPr/>
            <p:nvPr/>
          </p:nvSpPr>
          <p:spPr>
            <a:xfrm>
              <a:off x="6381750" y="2356485"/>
              <a:ext cx="19050" cy="17611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6248400" y="221361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42024" y="22874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248400" y="280035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42024" y="2874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248400" y="338709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42024" y="34609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248400" y="397383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42024" y="40486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60642" y="22450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寻找子问题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61785" y="2513171"/>
              <a:ext cx="45497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把原问题分解成形式相似、规模更小的子问题，例如从 n 变成 n−1。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60642" y="283178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定义状态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61785" y="3099911"/>
              <a:ext cx="4986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与子问题相关的各变量的一组取值称为一个状态，它的值就是表里的一格。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60642" y="341947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导出递推公式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61785" y="3686651"/>
              <a:ext cx="39315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从已知状态推导出未知状态，这个公式也叫状态转移方程。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60642" y="400621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确定边界条件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61785" y="4273391"/>
              <a:ext cx="3780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定下递推的起点，也就是表里不用算就知道的那些格子。</a:t>
              </a:r>
            </a:p>
          </p:txBody>
        </p:sp>
      </p:grpSp>
      <p:grpSp>
        <p:nvGrpSpPr>
          <p:cNvPr id="51" name="c2-callout-2"/>
          <p:cNvGrpSpPr/>
          <p:nvPr/>
        </p:nvGrpSpPr>
        <p:grpSpPr>
          <a:xfrm>
            <a:off x="6248400" y="4662488"/>
            <a:ext cx="5410200" cy="748665"/>
            <a:chOff x="6248400" y="4662488"/>
            <a:chExt cx="5410200" cy="748665"/>
          </a:xfrm>
        </p:grpSpPr>
        <p:sp>
          <p:nvSpPr>
            <p:cNvPr id="45" name="Rectangle 45"/>
            <p:cNvSpPr/>
            <p:nvPr/>
          </p:nvSpPr>
          <p:spPr>
            <a:xfrm>
              <a:off x="6248400" y="4662488"/>
              <a:ext cx="5410200" cy="748665"/>
            </a:xfrm>
            <a:prstGeom prst="roundRect">
              <a:avLst>
                <a:gd name="adj" fmla="val 15267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6453188" y="4936808"/>
              <a:ext cx="200026" cy="200026"/>
              <a:chOff x="6453188" y="4936808"/>
              <a:chExt cx="200026" cy="200026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6453188" y="49368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553200" y="50034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542088" y="50368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6755892" y="4817745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怎么找子问题、怎么定状态、怎么推递推式没有固定规则。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本节后面五个例子就是在练这四步。</a:t>
              </a:r>
            </a:p>
          </p:txBody>
        </p:sp>
      </p:grpSp>
      <p:grpSp>
        <p:nvGrpSpPr>
          <p:cNvPr id="57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52" name="Rectangle 52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38188" y="5897882"/>
              <a:ext cx="200023" cy="200023"/>
              <a:chOff x="738188" y="5897882"/>
              <a:chExt cx="200023" cy="20002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38188" y="589788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71538" y="59645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0892" y="5779770"/>
              <a:ext cx="9794939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三个前提缺一不可。重叠子问题正是动态规划效率高的来源；没有无后效性，表格根本填不下去。这套方法由 Richard Bellman 在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1950 年代提出。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第5讲 数组与矩阵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第5讲 数组与矩阵 · 动态规划初探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斐波那契的递推实现与空间优化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760495" cy="264033"/>
            <a:chOff x="526542" y="1545907"/>
            <a:chExt cx="876049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7604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从前往后填表，算到 F[i] 时 F[i−1] 和 F[i−2] 已经算完了。再往下看会发现整张表其实只用得到最后两格。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5410200" cy="1556385"/>
            <a:chOff x="533400" y="1928812"/>
            <a:chExt cx="5410200" cy="155638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556385"/>
            </a:xfrm>
            <a:prstGeom prst="roundRect">
              <a:avLst>
                <a:gd name="adj" fmla="val 612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18345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递推：O(n) 时间，O(n) 空间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988" y="2339816"/>
              <a:ext cx="1842389" cy="10591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F[N];</a:t>
              </a:r>
              <a:br/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Fib(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F[0] = 0;  F[1] = 1;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2; i &lt;= n; i++)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F[i] = F[i-1] + F[i-2];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F[n];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47" name="c1-cells-2"/>
          <p:cNvGrpSpPr/>
          <p:nvPr/>
        </p:nvGrpSpPr>
        <p:grpSpPr>
          <a:xfrm>
            <a:off x="528638" y="3649980"/>
            <a:ext cx="4813934" cy="571976"/>
            <a:chOff x="528638" y="3649980"/>
            <a:chExt cx="4813934" cy="571976"/>
          </a:xfrm>
        </p:grpSpPr>
        <p:sp>
          <p:nvSpPr>
            <p:cNvPr id="13" name="TextBox 13"/>
            <p:cNvSpPr txBox="1"/>
            <p:nvPr/>
          </p:nvSpPr>
          <p:spPr>
            <a:xfrm>
              <a:off x="528638" y="377190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32472" y="364998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2276" y="37719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151572" y="364998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321376" y="37719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570672" y="364998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740476" y="37719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989772" y="364998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159576" y="37719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408872" y="364998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578676" y="37719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827972" y="364998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997776" y="37719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247072" y="364998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416876" y="37719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666172" y="364998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800991" y="377190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085272" y="364998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220091" y="377190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504372" y="364998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639191" y="377190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923472" y="3649980"/>
              <a:ext cx="419100" cy="356235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058291" y="377190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06903" y="406003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326003" y="406003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745103" y="406003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164203" y="406003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583303" y="406003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002403" y="406003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421503" y="406003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840603" y="406003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259703" y="406003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678803" y="406003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067546" y="406003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  <p:grpSp>
        <p:nvGrpSpPr>
          <p:cNvPr id="52" name="c1-card-3"/>
          <p:cNvGrpSpPr/>
          <p:nvPr/>
        </p:nvGrpSpPr>
        <p:grpSpPr>
          <a:xfrm>
            <a:off x="533400" y="4351972"/>
            <a:ext cx="5410200" cy="983932"/>
            <a:chOff x="533400" y="4351972"/>
            <a:chExt cx="5410200" cy="983932"/>
          </a:xfrm>
        </p:grpSpPr>
        <p:sp>
          <p:nvSpPr>
            <p:cNvPr id="48" name="Rectangle 48"/>
            <p:cNvSpPr/>
            <p:nvPr/>
          </p:nvSpPr>
          <p:spPr>
            <a:xfrm>
              <a:off x="533400" y="4351972"/>
              <a:ext cx="5410200" cy="983932"/>
            </a:xfrm>
            <a:prstGeom prst="roundRect">
              <a:avLst>
                <a:gd name="adj" fmla="val 1355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14375" y="453294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98944" y="456580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填表方向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07898" y="4872514"/>
              <a:ext cx="52045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从前往后填，算到 F[i] 时 F[i−1] 和 F[i−2] 已在表里，取来就用。</a:t>
              </a:r>
            </a:p>
          </p:txBody>
        </p:sp>
      </p:grpSp>
      <p:grpSp>
        <p:nvGrpSpPr>
          <p:cNvPr id="56" name="c2-code-1"/>
          <p:cNvGrpSpPr/>
          <p:nvPr/>
        </p:nvGrpSpPr>
        <p:grpSpPr>
          <a:xfrm>
            <a:off x="6248400" y="1928812"/>
            <a:ext cx="5410200" cy="1855470"/>
            <a:chOff x="6248400" y="1928812"/>
            <a:chExt cx="5410200" cy="1855470"/>
          </a:xfrm>
        </p:grpSpPr>
        <p:sp>
          <p:nvSpPr>
            <p:cNvPr id="53" name="Rectangle 53"/>
            <p:cNvSpPr/>
            <p:nvPr/>
          </p:nvSpPr>
          <p:spPr>
            <a:xfrm>
              <a:off x="6248400" y="1928812"/>
              <a:ext cx="5410200" cy="1855470"/>
            </a:xfrm>
            <a:prstGeom prst="roundRect">
              <a:avLst>
                <a:gd name="adj" fmla="val 513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376797" y="2080736"/>
              <a:ext cx="13285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空间优化：O(1) 空间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376988" y="2339816"/>
              <a:ext cx="2186051" cy="13582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Fib(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prev1 = 0, prev2 = 1, cur = n;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2; i &lt;= n; i++)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cur   = prev1 + prev2;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prev1 = prev2;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prev2 = cur;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cur;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62" name="c2-card-2"/>
          <p:cNvGrpSpPr/>
          <p:nvPr/>
        </p:nvGrpSpPr>
        <p:grpSpPr>
          <a:xfrm>
            <a:off x="6248400" y="3949065"/>
            <a:ext cx="5410200" cy="1386840"/>
            <a:chOff x="6248400" y="3949065"/>
            <a:chExt cx="5410200" cy="1386840"/>
          </a:xfrm>
        </p:grpSpPr>
        <p:sp>
          <p:nvSpPr>
            <p:cNvPr id="57" name="Rectangle 57"/>
            <p:cNvSpPr/>
            <p:nvPr/>
          </p:nvSpPr>
          <p:spPr>
            <a:xfrm>
              <a:off x="6248400" y="3949065"/>
              <a:ext cx="5410200" cy="1386840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257925" y="4082415"/>
              <a:ext cx="47625" cy="112014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467475" y="413004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560147" y="416290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460998" y="4469606"/>
              <a:ext cx="4756455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50 页的 `cur` 没有声明，且 n ≤ 1 时循环不进入，返回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未初始化的值。已改成 </a:t>
              </a:r>
              <a:r>
                <a:rPr lang="en-US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int cur = n;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，Fib(0) 与 Fib(1) 这才对得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上定义。</a:t>
              </a:r>
            </a:p>
          </p:txBody>
        </p:sp>
      </p:grpSp>
      <p:grpSp>
        <p:nvGrpSpPr>
          <p:cNvPr id="68" name="takeaway"/>
          <p:cNvGrpSpPr/>
          <p:nvPr/>
        </p:nvGrpSpPr>
        <p:grpSpPr>
          <a:xfrm>
            <a:off x="533400" y="5659755"/>
            <a:ext cx="11125200" cy="702945"/>
            <a:chOff x="533400" y="5659755"/>
            <a:chExt cx="11125200" cy="702945"/>
          </a:xfrm>
        </p:grpSpPr>
        <p:sp>
          <p:nvSpPr>
            <p:cNvPr id="63" name="Rectangle 63"/>
            <p:cNvSpPr/>
            <p:nvPr/>
          </p:nvSpPr>
          <p:spPr>
            <a:xfrm>
              <a:off x="533400" y="5659755"/>
              <a:ext cx="11125200" cy="702945"/>
            </a:xfrm>
            <a:prstGeom prst="roundRect">
              <a:avLst>
                <a:gd name="adj" fmla="val 1626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38188" y="5911217"/>
              <a:ext cx="200023" cy="200023"/>
              <a:chOff x="738188" y="5911217"/>
              <a:chExt cx="200023" cy="200023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38188" y="591121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71538" y="59778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041273" y="5805011"/>
              <a:ext cx="994537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能不能压掉整张表，看的是递推式用到几个“上一轮”的格子。斐波那契只用到前两格，所以两个变量就够；下面的网格路径用到一整行，就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得留一行。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第5讲 数组与矩阵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第5讲 数组与矩阵 · 动态规划初探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跳台阶：换个题面，还是同一条递推式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364978" cy="264033"/>
            <a:chOff x="526542" y="1545907"/>
            <a:chExt cx="7364978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3649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一个台阶总共有 n 级，青蛙一次可以跳 1 级也可以跳 2 级，问跳到最顶层共有多少种跳法。</a:t>
              </a:r>
            </a:p>
          </p:txBody>
        </p:sp>
      </p:grpSp>
      <p:grpSp>
        <p:nvGrpSpPr>
          <p:cNvPr id="15" name="c1-card-1"/>
          <p:cNvGrpSpPr/>
          <p:nvPr/>
        </p:nvGrpSpPr>
        <p:grpSpPr>
          <a:xfrm>
            <a:off x="533400" y="1928812"/>
            <a:ext cx="5410200" cy="1459230"/>
            <a:chOff x="533400" y="1928812"/>
            <a:chExt cx="5410200" cy="145923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459230"/>
            </a:xfrm>
            <a:prstGeom prst="roundRect">
              <a:avLst>
                <a:gd name="adj" fmla="val 91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119253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8190" y="211550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2759" y="214836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找子问题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73340" y="215074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按最后一步分类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1332" y="2476500"/>
              <a:ext cx="473716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跳到第 n 级的最后一步只能是两种之一：从第 n−1 级跳 1 级上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来，或者从第 n−2 级跳 2 级上来。两类跳法互不重复，加起来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就是全部。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formula46"/>
              <p:cNvSpPr txBox="1">
                <a:spLocks noGrp="1"/>
              </p:cNvSpPr>
              <p:nvPr/>
            </p:nvSpPr>
            <p:spPr>
              <a:xfrm>
                <a:off x="533400" y="3558540"/>
                <a:ext cx="5410200" cy="11506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&gt;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3" name="c1-callout-3"/>
          <p:cNvGrpSpPr/>
          <p:nvPr/>
        </p:nvGrpSpPr>
        <p:grpSpPr>
          <a:xfrm>
            <a:off x="533400" y="4878705"/>
            <a:ext cx="5410200" cy="729615"/>
            <a:chOff x="533400" y="4878705"/>
            <a:chExt cx="5410200" cy="729615"/>
          </a:xfrm>
        </p:grpSpPr>
        <p:sp>
          <p:nvSpPr>
            <p:cNvPr id="17" name="Rectangle 17"/>
            <p:cNvSpPr/>
            <p:nvPr/>
          </p:nvSpPr>
          <p:spPr>
            <a:xfrm>
              <a:off x="533400" y="4878705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38188" y="5142548"/>
              <a:ext cx="200026" cy="200025"/>
              <a:chOff x="738188" y="5142548"/>
              <a:chExt cx="200026" cy="20002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38188" y="514254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77926" y="518699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12642" y="529812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0892" y="5024438"/>
              <a:ext cx="441140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递推式和斐波那契一模一样，只是边界从 (0, 1) 平移成了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(1, 2)，所以 F(n) 就是斐波那契数列往左挪一位。</a:t>
              </a:r>
            </a:p>
          </p:txBody>
        </p:sp>
      </p:grpSp>
      <p:grpSp>
        <p:nvGrpSpPr>
          <p:cNvPr id="31" name="c2-card-1"/>
          <p:cNvGrpSpPr/>
          <p:nvPr/>
        </p:nvGrpSpPr>
        <p:grpSpPr>
          <a:xfrm>
            <a:off x="6248400" y="1928812"/>
            <a:ext cx="5410200" cy="1463992"/>
            <a:chOff x="6248400" y="1928812"/>
            <a:chExt cx="5410200" cy="1463992"/>
          </a:xfrm>
        </p:grpSpPr>
        <p:sp>
          <p:nvSpPr>
            <p:cNvPr id="24" name="Rectangle 24"/>
            <p:cNvSpPr/>
            <p:nvPr/>
          </p:nvSpPr>
          <p:spPr>
            <a:xfrm>
              <a:off x="6248400" y="1928812"/>
              <a:ext cx="5410200" cy="1463992"/>
            </a:xfrm>
            <a:prstGeom prst="roundRect">
              <a:avLst>
                <a:gd name="adj" fmla="val 91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57925" y="2062162"/>
              <a:ext cx="47625" cy="119729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73190" y="211550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65862" y="21483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推广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38784" y="2150745"/>
              <a:ext cx="16870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如果一次还能跳 3 级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66332" y="2476500"/>
              <a:ext cx="417137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最后一步有三种可能，于是 F(n) = F(n−1) + F(n−2) +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F(n−3)，边界 F(1)=1、F(2)=2、F(3)=4。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67475" y="3030379"/>
              <a:ext cx="36357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F(3) = 4 可以直接枚举验证：1+1+1、1+2、2+1、3。</a:t>
              </a:r>
            </a:p>
          </p:txBody>
        </p:sp>
      </p:grpSp>
      <p:grpSp>
        <p:nvGrpSpPr>
          <p:cNvPr id="68" name="c2-table-2"/>
          <p:cNvGrpSpPr/>
          <p:nvPr/>
        </p:nvGrpSpPr>
        <p:grpSpPr>
          <a:xfrm>
            <a:off x="6243447" y="3562350"/>
            <a:ext cx="5415153" cy="1663731"/>
            <a:chOff x="6243447" y="3562350"/>
            <a:chExt cx="5415153" cy="1663731"/>
          </a:xfrm>
        </p:grpSpPr>
        <p:sp>
          <p:nvSpPr>
            <p:cNvPr id="32" name="Rectangle 32"/>
            <p:cNvSpPr/>
            <p:nvPr/>
          </p:nvSpPr>
          <p:spPr>
            <a:xfrm>
              <a:off x="6248400" y="3562350"/>
              <a:ext cx="5410200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94461" y="36837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86954" y="36837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282266" y="36837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877579" y="36837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471939" y="36837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067251" y="36837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662564" y="36837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284546" y="36837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345555" y="4083844"/>
              <a:ext cx="8278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跳 1 或 2 级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89027" y="40838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84340" y="40838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879652" y="40838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474012" y="40838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069325" y="40838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623174" y="40838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245157" y="40838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248400" y="43576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48400" y="4362450"/>
              <a:ext cx="5410200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45555" y="4483894"/>
              <a:ext cx="81899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跳 1、2 或 3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级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689027" y="45839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284340" y="45839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879652" y="45839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474012" y="45839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027862" y="45839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623174" y="45839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245157" y="45839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248400" y="3562350"/>
              <a:ext cx="5410200" cy="14001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7434262" y="3562350"/>
              <a:ext cx="9525" cy="14001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8028622" y="3562350"/>
              <a:ext cx="9525" cy="14001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8623935" y="3562350"/>
              <a:ext cx="9525" cy="14001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9219248" y="3562350"/>
              <a:ext cx="9525" cy="14001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9814560" y="3562350"/>
              <a:ext cx="9525" cy="14001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10409872" y="3562350"/>
              <a:ext cx="9525" cy="14001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11004232" y="3562350"/>
              <a:ext cx="9525" cy="14001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243447" y="5035391"/>
              <a:ext cx="30046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两种跳法的前 7 项，n = 5 的两个值已用穷举核对过</a:t>
              </a:r>
            </a:p>
          </p:txBody>
        </p:sp>
      </p:grpSp>
      <p:grpSp>
        <p:nvGrpSpPr>
          <p:cNvPr id="74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69" name="Rectangle 69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1040892" y="6028373"/>
              <a:ext cx="89370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动态规划题的第一刀往往是“按最后一步分类”。只要各类互不重叠又不遗漏，把各类的方案数相加就是递推式。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第5讲 数组与矩阵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67040" cy="909257"/>
            <a:chOff x="520446" y="342900"/>
            <a:chExt cx="676704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第5讲 数组与矩阵 · 动态规划初探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6704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二维状态：F(i, j) 只由上面和左边两格决定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1091230" cy="308039"/>
            <a:chOff x="525399" y="1550194"/>
            <a:chExt cx="11091230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109123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令 F(i, j) 表示从起点走到点 (i, j) 的路径条数，每次只能向下或向右走一步。到达 (i, j) 的最后一步只有两种可能。</a:t>
              </a:r>
            </a:p>
          </p:txBody>
        </p:sp>
      </p:grpSp>
      <p:grpSp>
        <p:nvGrpSpPr>
          <p:cNvPr id="23" name="c1-graph-1"/>
          <p:cNvGrpSpPr/>
          <p:nvPr/>
        </p:nvGrpSpPr>
        <p:grpSpPr>
          <a:xfrm>
            <a:off x="1115378" y="2253615"/>
            <a:ext cx="3095624" cy="1524000"/>
            <a:chOff x="1115378" y="2253615"/>
            <a:chExt cx="3095624" cy="1524000"/>
          </a:xfrm>
        </p:grpSpPr>
        <p:sp>
          <p:nvSpPr>
            <p:cNvPr id="9" name="Freeform 9"/>
            <p:cNvSpPr/>
            <p:nvPr/>
          </p:nvSpPr>
          <p:spPr>
            <a:xfrm>
              <a:off x="3753802" y="2634615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706178" y="330136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029778" y="3587115"/>
              <a:ext cx="1171575" cy="9525"/>
            </a:xfrm>
            <a:custGeom>
              <a:avLst/>
              <a:gdLst/>
              <a:ahLst/>
              <a:cxnLst/>
              <a:rect l="l" t="t" r="r" b="b"/>
              <a:pathLst>
                <a:path w="1171575" h="9525">
                  <a:moveTo>
                    <a:pt x="0" y="0"/>
                  </a:moveTo>
                  <a:lnTo>
                    <a:pt x="117157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201352" y="353949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3296602" y="2253615"/>
              <a:ext cx="914400" cy="381000"/>
            </a:xfrm>
            <a:prstGeom prst="roundRect">
              <a:avLst>
                <a:gd name="adj" fmla="val 2500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115378" y="3396615"/>
              <a:ext cx="914400" cy="381000"/>
            </a:xfrm>
            <a:prstGeom prst="roundRect">
              <a:avLst>
                <a:gd name="adj" fmla="val 2500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3296602" y="3396615"/>
              <a:ext cx="914400" cy="381000"/>
            </a:xfrm>
            <a:prstGeom prst="roundRect">
              <a:avLst>
                <a:gd name="adj" fmla="val 25000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496043" y="2382679"/>
              <a:ext cx="5155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(i−1, j)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14818" y="3525679"/>
              <a:ext cx="5155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(i, j−1)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572231" y="3525679"/>
              <a:ext cx="3631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(i, j)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507105" y="2936558"/>
              <a:ext cx="49244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528263" y="2965609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向下一步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416492" y="3508058"/>
              <a:ext cx="49244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437651" y="3537109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向右一步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formula48"/>
              <p:cNvSpPr txBox="1">
                <a:spLocks noGrp="1"/>
              </p:cNvSpPr>
              <p:nvPr/>
            </p:nvSpPr>
            <p:spPr>
              <a:xfrm>
                <a:off x="533400" y="4539615"/>
                <a:ext cx="5193982" cy="11001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</m:t>
                                  </m:r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</m:t>
                                  </m:r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≥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 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≥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64" name="c2-table-1"/>
          <p:cNvGrpSpPr/>
          <p:nvPr/>
        </p:nvGrpSpPr>
        <p:grpSpPr>
          <a:xfrm>
            <a:off x="6026467" y="1967865"/>
            <a:ext cx="5632133" cy="2539842"/>
            <a:chOff x="6026467" y="1967865"/>
            <a:chExt cx="5632133" cy="2539842"/>
          </a:xfrm>
        </p:grpSpPr>
        <p:sp>
          <p:nvSpPr>
            <p:cNvPr id="25" name="Rectangle 25"/>
            <p:cNvSpPr/>
            <p:nvPr/>
          </p:nvSpPr>
          <p:spPr>
            <a:xfrm>
              <a:off x="6032182" y="1967865"/>
              <a:ext cx="5626418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420211" y="2102644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 = 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545114" y="2102644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 = 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670969" y="2102644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 = 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852069" y="2102644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 = 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140006" y="2551271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53754" y="255127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678657" y="255127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804512" y="255127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985612" y="255127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032182" y="286035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032182" y="2865120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140006" y="3000851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53754" y="300085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678657" y="300085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804512" y="300085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985612" y="300085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032182" y="330898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140006" y="3449479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553754" y="344947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678657" y="344947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304972" y="3323272"/>
              <a:ext cx="1105852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804512" y="344947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938226" y="344947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032182" y="375761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032182" y="3762375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140006" y="3898106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553754" y="389810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678657" y="389810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9304972" y="3771900"/>
              <a:ext cx="1105852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757126" y="389810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10429875" y="3771900"/>
              <a:ext cx="1219200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938226" y="389810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032182" y="1967865"/>
              <a:ext cx="5626418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7039928" y="196786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8165782" y="196786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9290685" y="196786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10415588" y="196786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026467" y="4287679"/>
              <a:ext cx="38034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填表顺序：先把第 0 行第 0 列全填 1，再逐行从左到右填</a:t>
              </a:r>
            </a:p>
          </p:txBody>
        </p:sp>
      </p:grpSp>
      <p:grpSp>
        <p:nvGrpSpPr>
          <p:cNvPr id="71" name="c2-callout-2"/>
          <p:cNvGrpSpPr/>
          <p:nvPr/>
        </p:nvGrpSpPr>
        <p:grpSpPr>
          <a:xfrm>
            <a:off x="6032182" y="4653915"/>
            <a:ext cx="5626418" cy="985838"/>
            <a:chOff x="6032182" y="4653915"/>
            <a:chExt cx="5626418" cy="985838"/>
          </a:xfrm>
        </p:grpSpPr>
        <p:sp>
          <p:nvSpPr>
            <p:cNvPr id="65" name="Rectangle 65"/>
            <p:cNvSpPr/>
            <p:nvPr/>
          </p:nvSpPr>
          <p:spPr>
            <a:xfrm>
              <a:off x="6032182" y="4653915"/>
              <a:ext cx="5626418" cy="985838"/>
            </a:xfrm>
            <a:prstGeom prst="roundRect">
              <a:avLst>
                <a:gd name="adj" fmla="val 1159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6236970" y="5046345"/>
              <a:ext cx="200026" cy="200025"/>
              <a:chOff x="6236970" y="5046345"/>
              <a:chExt cx="200026" cy="200025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6236970" y="504634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6276709" y="509079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311424" y="520192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6538912" y="4903470"/>
              <a:ext cx="46348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表里 F(3,3) = 20 = F(2,3) + F(3,2) = 10 + 10，两个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加数已用绿色标出。每一格都只看它正上方和正左方。</a:t>
              </a:r>
            </a:p>
          </p:txBody>
        </p:sp>
      </p:grpSp>
      <p:grpSp>
        <p:nvGrpSpPr>
          <p:cNvPr id="7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72" name="Rectangle 7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1040130" y="5991225"/>
              <a:ext cx="82943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边界要填 1 而不是 0：只走一行或只走一列时路径唯一。边界填错是这类题最常见的失分点。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第5讲 数组与矩阵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第5讲 数组与矩阵 · 动态规划初探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二维动态规划的代码与复杂度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842635" cy="2304098"/>
            <a:chOff x="533400" y="1524000"/>
            <a:chExt cx="5842635" cy="230409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2304098"/>
            </a:xfrm>
            <a:prstGeom prst="roundRect">
              <a:avLst>
                <a:gd name="adj" fmla="val 413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直接按表格填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004"/>
              <a:ext cx="2784856" cy="18068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const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 = 110;</a:t>
              </a:r>
              <a:br/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CalF(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F[N][N];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&lt;= m; i++)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F[i][0] = 1;  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填第 0 列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0; j &lt;= n; j++)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F[0][j] = 1;  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填第 0 行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 i &lt;= m; i++)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1; j &lt;= n; j++)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F[i][j] = F[i-1][j] + F[i][j-1];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F[m][n];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3992880"/>
            <a:ext cx="5842635" cy="1558290"/>
            <a:chOff x="533400" y="3992880"/>
            <a:chExt cx="5842635" cy="1558290"/>
          </a:xfrm>
        </p:grpSpPr>
        <p:sp>
          <p:nvSpPr>
            <p:cNvPr id="11" name="Rectangle 11"/>
            <p:cNvSpPr/>
            <p:nvPr/>
          </p:nvSpPr>
          <p:spPr>
            <a:xfrm>
              <a:off x="533400" y="3992880"/>
              <a:ext cx="5842635" cy="1558290"/>
            </a:xfrm>
            <a:prstGeom prst="roundRect">
              <a:avLst>
                <a:gd name="adj" fmla="val 85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4126230"/>
              <a:ext cx="47625" cy="129159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52475" y="4173855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1096" y="420671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读代码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43228" y="421338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三段循环各管一件事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62000" y="458247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17448" y="4529614"/>
              <a:ext cx="34850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前两个循环填边界，把第 0 列和第 0 行全置 1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62000" y="486727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17448" y="4814411"/>
              <a:ext cx="33989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第三段双重循环从 (1, 1) 起逐行填内部格子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7141" y="5095875"/>
              <a:ext cx="37614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两个边界循环都会写到 F[0][0]，重复写一次 1 没有影响。</a:t>
              </a:r>
            </a:p>
          </p:txBody>
        </p:sp>
      </p:grpSp>
      <p:grpSp>
        <p:nvGrpSpPr>
          <p:cNvPr id="28" name="c2-card-1"/>
          <p:cNvGrpSpPr/>
          <p:nvPr/>
        </p:nvGrpSpPr>
        <p:grpSpPr>
          <a:xfrm>
            <a:off x="6680835" y="1524000"/>
            <a:ext cx="4977765" cy="1600200"/>
            <a:chOff x="6680835" y="1524000"/>
            <a:chExt cx="4977765" cy="1600200"/>
          </a:xfrm>
        </p:grpSpPr>
        <p:sp>
          <p:nvSpPr>
            <p:cNvPr id="22" name="Rectangle 22"/>
            <p:cNvSpPr/>
            <p:nvPr/>
          </p:nvSpPr>
          <p:spPr>
            <a:xfrm>
              <a:off x="6680835" y="1524000"/>
              <a:ext cx="4977765" cy="1600200"/>
            </a:xfrm>
            <a:prstGeom prst="roundRect">
              <a:avLst>
                <a:gd name="adj" fmla="val 833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861810" y="1704975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50431" y="173783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复杂度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52563" y="1744504"/>
              <a:ext cx="23492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 O(m·n)，空间 O(m·n)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55333" y="2061686"/>
              <a:ext cx="428828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表里有 (m+1)(n+1) 格，每格只算一次加法，所以时间和格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子数同阶。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56476" y="2585085"/>
              <a:ext cx="4377880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前提：m、n 在 N 的范围内，且每次加法是 O(1)。m、n 大到结果超出 int</a:t>
              </a:r>
              <a:br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时结论不再适用。</a:t>
              </a:r>
            </a:p>
          </p:txBody>
        </p:sp>
      </p:grpSp>
      <p:grpSp>
        <p:nvGrpSpPr>
          <p:cNvPr id="35" name="c2-callout-2"/>
          <p:cNvGrpSpPr/>
          <p:nvPr/>
        </p:nvGrpSpPr>
        <p:grpSpPr>
          <a:xfrm>
            <a:off x="6680835" y="3288982"/>
            <a:ext cx="4977765" cy="937260"/>
            <a:chOff x="6680835" y="3288982"/>
            <a:chExt cx="4977765" cy="937260"/>
          </a:xfrm>
        </p:grpSpPr>
        <p:sp>
          <p:nvSpPr>
            <p:cNvPr id="29" name="Rectangle 29"/>
            <p:cNvSpPr/>
            <p:nvPr/>
          </p:nvSpPr>
          <p:spPr>
            <a:xfrm>
              <a:off x="6680835" y="3288982"/>
              <a:ext cx="4977765" cy="937260"/>
            </a:xfrm>
            <a:prstGeom prst="roundRect">
              <a:avLst>
                <a:gd name="adj" fmla="val 1219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6873564" y="3653908"/>
              <a:ext cx="224134" cy="192560"/>
              <a:chOff x="6873564" y="3653908"/>
              <a:chExt cx="224134" cy="19256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6985635" y="372427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873564" y="365390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985635" y="38020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7188708" y="3433286"/>
              <a:ext cx="3987546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源课件把 `F[N][N]` 写成函数内的普通局部数组。N =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110 时占 48 KB 尚可，但同样的写法用在后面 1e5 规模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的数组上会直接栈溢出，所以这里统一加了 `static`。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680835" y="4391025"/>
            <a:ext cx="4977765" cy="1160145"/>
            <a:chOff x="6680835" y="4391025"/>
            <a:chExt cx="4977765" cy="1160145"/>
          </a:xfrm>
        </p:grpSpPr>
        <p:sp>
          <p:nvSpPr>
            <p:cNvPr id="36" name="Rectangle 36"/>
            <p:cNvSpPr/>
            <p:nvPr/>
          </p:nvSpPr>
          <p:spPr>
            <a:xfrm>
              <a:off x="6680835" y="4391025"/>
              <a:ext cx="4977765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690360" y="4524375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899910" y="457200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992582" y="460486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观察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466838" y="4611529"/>
              <a:ext cx="20884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填第 i 行时只用到第 i−1 行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93433" y="4927759"/>
              <a:ext cx="43126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整张表有 m+1 行，但算法在任何时刻只需要相邻两行。这就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给下一页的滚动数组留下了空间。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3" name="Rectangle 4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1273" y="6039326"/>
              <a:ext cx="100614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填表顺序必须保证用到的格子已经算好。这里按行从上到下、行内从左到右，恰好满足 F[i−1][j] 和 F[i][j−1] 都在 F[i][j] 之前。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第5讲 数组与矩阵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第5讲 数组与矩阵 · 动态规划初探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滚动数组：一行就够，覆盖得正是时候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0855785" cy="264033"/>
            <a:chOff x="526542" y="1545907"/>
            <a:chExt cx="1085578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08557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把二维表压成一维数组 F[ ]，第 i 行算完就把结果盖在原地。关键是在写 F[j] 之前，F[j] 还是上一行的值，F[j−1] 已经是本行的值。</a:t>
              </a:r>
            </a:p>
          </p:txBody>
        </p:sp>
      </p:grpSp>
      <p:grpSp>
        <p:nvGrpSpPr>
          <p:cNvPr id="61" name="c1-cells-1"/>
          <p:cNvGrpSpPr/>
          <p:nvPr/>
        </p:nvGrpSpPr>
        <p:grpSpPr>
          <a:xfrm>
            <a:off x="528066" y="1928812"/>
            <a:ext cx="2095119" cy="2620804"/>
            <a:chOff x="528066" y="1928812"/>
            <a:chExt cx="2095119" cy="2620804"/>
          </a:xfrm>
        </p:grpSpPr>
        <p:sp>
          <p:nvSpPr>
            <p:cNvPr id="9" name="TextBox 9"/>
            <p:cNvSpPr txBox="1"/>
            <p:nvPr/>
          </p:nvSpPr>
          <p:spPr>
            <a:xfrm>
              <a:off x="528066" y="2041207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i = 0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46785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10186" y="204120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365885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529286" y="204120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784985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948386" y="204120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204085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367486" y="204120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21216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40316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59416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378516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8066" y="2724150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i = 1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46785" y="261175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10186" y="272415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365885" y="2611755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529286" y="272415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784985" y="2611755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948386" y="272415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204085" y="2611755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367486" y="272415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21216" y="30218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540316" y="30218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959416" y="30218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378516" y="30218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28066" y="3407093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i = 2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46785" y="329469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110186" y="340709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365885" y="3294698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529286" y="340709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784985" y="3294698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948386" y="340709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2204085" y="3294698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2326671" y="3407093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21216" y="37047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540316" y="37047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959416" y="37047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378516" y="37047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28066" y="4090035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i = 3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946785" y="397764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110186" y="409003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1365885" y="397764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529286" y="409003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784985" y="397764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907571" y="409003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2204085" y="3977640"/>
              <a:ext cx="419100" cy="356235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2326671" y="409003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21216" y="43876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540316" y="43876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959416" y="43876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378516" y="43876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  <p:grpSp>
        <p:nvGrpSpPr>
          <p:cNvPr id="68" name="c1-callout-2"/>
          <p:cNvGrpSpPr/>
          <p:nvPr/>
        </p:nvGrpSpPr>
        <p:grpSpPr>
          <a:xfrm>
            <a:off x="533400" y="4679632"/>
            <a:ext cx="4977765" cy="937260"/>
            <a:chOff x="533400" y="4679632"/>
            <a:chExt cx="4977765" cy="937260"/>
          </a:xfrm>
        </p:grpSpPr>
        <p:sp>
          <p:nvSpPr>
            <p:cNvPr id="62" name="Rectangle 62"/>
            <p:cNvSpPr/>
            <p:nvPr/>
          </p:nvSpPr>
          <p:spPr>
            <a:xfrm>
              <a:off x="533400" y="4679632"/>
              <a:ext cx="4977765" cy="937260"/>
            </a:xfrm>
            <a:prstGeom prst="roundRect">
              <a:avLst>
                <a:gd name="adj" fmla="val 1219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38188" y="5048250"/>
              <a:ext cx="200026" cy="200025"/>
              <a:chOff x="738188" y="5048250"/>
              <a:chExt cx="200026" cy="200025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38188" y="504825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777926" y="509270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12642" y="520382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041273" y="4823936"/>
              <a:ext cx="3816858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 = 2 那一行：F[1] = 1 + 2 = 3，F[2] = 3 + 3 = 6，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F[3] = 6 + 4 = 10。每次读到的 F[j] 都还没被本轮改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过。</a:t>
              </a:r>
            </a:p>
          </p:txBody>
        </p:sp>
      </p:grpSp>
      <p:grpSp>
        <p:nvGrpSpPr>
          <p:cNvPr id="72" name="c2-code-1"/>
          <p:cNvGrpSpPr/>
          <p:nvPr/>
        </p:nvGrpSpPr>
        <p:grpSpPr>
          <a:xfrm>
            <a:off x="5815965" y="1928812"/>
            <a:ext cx="5842635" cy="2005012"/>
            <a:chOff x="5815965" y="1928812"/>
            <a:chExt cx="5842635" cy="2005012"/>
          </a:xfrm>
        </p:grpSpPr>
        <p:sp>
          <p:nvSpPr>
            <p:cNvPr id="69" name="Rectangle 69"/>
            <p:cNvSpPr/>
            <p:nvPr/>
          </p:nvSpPr>
          <p:spPr>
            <a:xfrm>
              <a:off x="5815965" y="1928812"/>
              <a:ext cx="5842635" cy="2005012"/>
            </a:xfrm>
            <a:prstGeom prst="roundRect">
              <a:avLst>
                <a:gd name="adj" fmla="val 475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944362" y="208073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滚动数组版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5944552" y="2339816"/>
              <a:ext cx="2737993" cy="15078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const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maxn = 110;</a:t>
              </a:r>
              <a:br/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F[maxn];</a:t>
              </a:r>
              <a:br/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CalF(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0; j &lt;= n; j++)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F[j] = 1;      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第 0 行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 i &lt;= m; i++)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1; j &lt;= n; j++)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F[j] = F[j-1] + F[j];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F[n];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80" name="c2-card-2"/>
          <p:cNvGrpSpPr/>
          <p:nvPr/>
        </p:nvGrpSpPr>
        <p:grpSpPr>
          <a:xfrm>
            <a:off x="5815965" y="4098608"/>
            <a:ext cx="5842635" cy="1518285"/>
            <a:chOff x="5815965" y="4098608"/>
            <a:chExt cx="5842635" cy="1518285"/>
          </a:xfrm>
        </p:grpSpPr>
        <p:sp>
          <p:nvSpPr>
            <p:cNvPr id="73" name="Rectangle 73"/>
            <p:cNvSpPr/>
            <p:nvPr/>
          </p:nvSpPr>
          <p:spPr>
            <a:xfrm>
              <a:off x="5815965" y="4098608"/>
              <a:ext cx="5842635" cy="1518285"/>
            </a:xfrm>
            <a:prstGeom prst="roundRect">
              <a:avLst>
                <a:gd name="adj" fmla="val 878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5996940" y="4279582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085561" y="431244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复杂度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687693" y="4319111"/>
              <a:ext cx="28034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时间仍是 O(m·n)，空间降到 O(n)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5990463" y="4635341"/>
              <a:ext cx="501980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`F[j-1]` 是本行刚算出的左邻，`F[j]` 还是上一行的同列，正好对应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F(i, j−1) 和 F(i−1, j)。</a:t>
              </a:r>
            </a:p>
          </p:txBody>
        </p:sp>
        <p:sp>
          <p:nvSpPr>
            <p:cNvPr id="78" name="Ellipse 78"/>
            <p:cNvSpPr/>
            <p:nvPr/>
          </p:nvSpPr>
          <p:spPr>
            <a:xfrm>
              <a:off x="6006465" y="5215890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161913" y="5163026"/>
              <a:ext cx="52168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前提是内层 j 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从左往右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扫。反过来扫就读不到本行的左邻，结果全错</a:t>
              </a:r>
            </a:p>
          </p:txBody>
        </p:sp>
      </p:grpSp>
      <p:grpSp>
        <p:nvGrpSpPr>
          <p:cNvPr id="87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81" name="Rectangle 81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1041273" y="6039326"/>
              <a:ext cx="81116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滚动数组省的是空间，不是时间。而且压掉一维之后表里只剩最后一行，需要回溯路径的题目不能这么压。</a:t>
              </a:r>
            </a:p>
          </p:txBody>
        </p:sp>
      </p:grpSp>
      <p:grpSp>
        <p:nvGrpSpPr>
          <p:cNvPr id="9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8" name="TextBox 88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第5讲 数组与矩阵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88056" cy="909257"/>
            <a:chOff x="520446" y="342900"/>
            <a:chExt cx="70880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第5讲 数组与矩阵 · 动态规划初探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880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应用：机器人在 m×n 网格中有多少条不同路径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0846022" cy="293370"/>
            <a:chOff x="525780" y="1548765"/>
            <a:chExt cx="10846022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08460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机器人位于 m×n 网格的左上角，每次只能向下或向右移动一步，要到达右下角。求不同路径的总数。这是 LeetCode 62。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54530"/>
            <a:ext cx="5842635" cy="2212658"/>
            <a:chOff x="533400" y="1954530"/>
            <a:chExt cx="5842635" cy="2212658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842635" cy="2212658"/>
            </a:xfrm>
            <a:prstGeom prst="roundRect">
              <a:avLst>
                <a:gd name="adj" fmla="val 430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06454"/>
              <a:ext cx="18842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滚动数组解法（下标从 0 起算）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949" y="2366867"/>
              <a:ext cx="2373325" cy="17193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const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maxn = 110;</a:t>
              </a:r>
              <a:br/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dp[maxn];</a:t>
              </a:r>
              <a:br/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uniquePaths(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m,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0; j &lt; n; j++)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dp[j] = 1;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 i &lt; m; i++)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1; j &lt; n; j++)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dp[j] = dp[j-1] + dp[j];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dp[n-1];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4351972"/>
            <a:ext cx="5842635" cy="1286828"/>
            <a:chOff x="533400" y="4351972"/>
            <a:chExt cx="5842635" cy="1286828"/>
          </a:xfrm>
        </p:grpSpPr>
        <p:sp>
          <p:nvSpPr>
            <p:cNvPr id="13" name="Rectangle 13"/>
            <p:cNvSpPr/>
            <p:nvPr/>
          </p:nvSpPr>
          <p:spPr>
            <a:xfrm>
              <a:off x="533400" y="4351972"/>
              <a:ext cx="5842635" cy="1286828"/>
            </a:xfrm>
            <a:prstGeom prst="roundRect">
              <a:avLst>
                <a:gd name="adj" fmla="val 888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38188" y="4895850"/>
              <a:ext cx="200026" cy="200026"/>
              <a:chOff x="738188" y="4895850"/>
              <a:chExt cx="200026" cy="200026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38188" y="489585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38200" y="49625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27088" y="499586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511" y="4633436"/>
              <a:ext cx="4811522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网格有 m 行 n 列，格子下标从 0 数到 m−1、n−1，所以循环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上界是 &lt; m 和 &lt; n，返回 dp[n−1]。上一页的 CalF 是按坐标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0…m 写的，两者差一。</a:t>
              </a:r>
            </a:p>
          </p:txBody>
        </p:sp>
      </p:grpSp>
      <p:grpSp>
        <p:nvGrpSpPr>
          <p:cNvPr id="27" name="c2-card-1"/>
          <p:cNvGrpSpPr/>
          <p:nvPr/>
        </p:nvGrpSpPr>
        <p:grpSpPr>
          <a:xfrm>
            <a:off x="6680835" y="1954530"/>
            <a:ext cx="4977765" cy="1574482"/>
            <a:chOff x="6680835" y="1954530"/>
            <a:chExt cx="4977765" cy="1574482"/>
          </a:xfrm>
        </p:grpSpPr>
        <p:sp>
          <p:nvSpPr>
            <p:cNvPr id="20" name="Rectangle 20"/>
            <p:cNvSpPr/>
            <p:nvPr/>
          </p:nvSpPr>
          <p:spPr>
            <a:xfrm>
              <a:off x="6680835" y="1954530"/>
              <a:ext cx="4977765" cy="1574482"/>
            </a:xfrm>
            <a:prstGeom prst="roundRect">
              <a:avLst>
                <a:gd name="adj" fmla="val 84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690360" y="2087880"/>
              <a:ext cx="47625" cy="130778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922770" y="215836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017880" y="219408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82256" y="2197894"/>
              <a:ext cx="78820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4×4 网格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15531" y="2550319"/>
              <a:ext cx="424435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按上一页的表填到 F(3, 3) = </a:t>
              </a: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20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，即 4×4 网格从左上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角到右下角共 20 条路径。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916674" y="3137535"/>
              <a:ext cx="32996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3×7 网格的答案是 28，可以用同样的表核对。</a:t>
              </a:r>
            </a:p>
          </p:txBody>
        </p:sp>
      </p:grpSp>
      <p:grpSp>
        <p:nvGrpSpPr>
          <p:cNvPr id="38" name="c2-card-2"/>
          <p:cNvGrpSpPr/>
          <p:nvPr/>
        </p:nvGrpSpPr>
        <p:grpSpPr>
          <a:xfrm>
            <a:off x="6680835" y="3714750"/>
            <a:ext cx="4977765" cy="1925002"/>
            <a:chOff x="6680835" y="3714750"/>
            <a:chExt cx="4977765" cy="1925002"/>
          </a:xfrm>
        </p:grpSpPr>
        <p:sp>
          <p:nvSpPr>
            <p:cNvPr id="28" name="Rectangle 28"/>
            <p:cNvSpPr/>
            <p:nvPr/>
          </p:nvSpPr>
          <p:spPr>
            <a:xfrm>
              <a:off x="6680835" y="3714750"/>
              <a:ext cx="4977765" cy="1925002"/>
            </a:xfrm>
            <a:prstGeom prst="roundRect">
              <a:avLst>
                <a:gd name="adj" fmla="val 692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884670" y="3918585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954177" y="395430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三个版本的代价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892290" y="4351020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048881" y="4291489"/>
              <a:ext cx="28963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递归：时间指数级，栈深 O(m+n)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892290" y="4671060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048881" y="4611529"/>
              <a:ext cx="33846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二维 DP：时间 O(m·n)，空间 O(m·n)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892290" y="4991100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048881" y="4931569"/>
              <a:ext cx="325785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滚动数组：时间 O(m·n)，空间 </a:t>
              </a:r>
              <a:r>
                <a:rPr lang="en-US" sz="142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78574" y="5247322"/>
              <a:ext cx="34939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三者都假定每次加法 O(1)，且结果不超出 int。</a:t>
              </a:r>
            </a:p>
          </p:txBody>
        </p:sp>
      </p:grpSp>
      <p:grpSp>
        <p:nvGrpSpPr>
          <p:cNvPr id="45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39" name="Rectangle 39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511" y="6004084"/>
              <a:ext cx="842553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下一页给这道题第二种解法。网格里没有障碍物时，路径条数其实是一个组合数，可以一步算出来。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第5讲 数组与矩阵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第5讲 数组与矩阵 · 动态规划初探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无障碍时另有一解：这其实是个组合数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0781633" cy="264033"/>
            <a:chOff x="526542" y="1545907"/>
            <a:chExt cx="1078163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07816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因为只能向右或向下走，从左上角到右下角向右一定走 n−1 步、向下一定走 m−1 步，合计 n+m−2 步。路径的区别只在于哪几步向下。</a:t>
              </a:r>
            </a:p>
          </p:txBody>
        </p:sp>
      </p:grpSp>
      <p:grpSp>
        <p:nvGrpSpPr>
          <p:cNvPr id="24" name="c1-cells-1"/>
          <p:cNvGrpSpPr/>
          <p:nvPr/>
        </p:nvGrpSpPr>
        <p:grpSpPr>
          <a:xfrm>
            <a:off x="528066" y="1928812"/>
            <a:ext cx="4372547" cy="356235"/>
            <a:chOff x="528066" y="1928812"/>
            <a:chExt cx="4372547" cy="356235"/>
          </a:xfrm>
        </p:grpSpPr>
        <p:sp>
          <p:nvSpPr>
            <p:cNvPr id="9" name="TextBox 9"/>
            <p:cNvSpPr txBox="1"/>
            <p:nvPr/>
          </p:nvSpPr>
          <p:spPr>
            <a:xfrm>
              <a:off x="528066" y="204120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走法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33450" y="1928812"/>
              <a:ext cx="56673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71146" y="204120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500188" y="1928812"/>
              <a:ext cx="56673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736931" y="204120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066925" y="1928812"/>
              <a:ext cx="56673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304621" y="204120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633662" y="1928812"/>
              <a:ext cx="56673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870406" y="204120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200400" y="1928812"/>
              <a:ext cx="56673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438096" y="204120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767138" y="1928812"/>
              <a:ext cx="56673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003881" y="204120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333875" y="1928812"/>
              <a:ext cx="56673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393469" y="2041207"/>
              <a:ext cx="4485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n+m−2</a:t>
              </a:r>
            </a:p>
          </p:txBody>
        </p:sp>
      </p:grpSp>
      <p:grpSp>
        <p:nvGrpSpPr>
          <p:cNvPr id="38" name="c1-steps-2"/>
          <p:cNvGrpSpPr/>
          <p:nvPr/>
        </p:nvGrpSpPr>
        <p:grpSpPr>
          <a:xfrm>
            <a:off x="533400" y="2459355"/>
            <a:ext cx="5272773" cy="1596009"/>
            <a:chOff x="533400" y="2459355"/>
            <a:chExt cx="5272773" cy="1596009"/>
          </a:xfrm>
        </p:grpSpPr>
        <p:sp>
          <p:nvSpPr>
            <p:cNvPr id="25" name="Rectangle 25"/>
            <p:cNvSpPr/>
            <p:nvPr/>
          </p:nvSpPr>
          <p:spPr>
            <a:xfrm>
              <a:off x="666750" y="2602230"/>
              <a:ext cx="19050" cy="1105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533400" y="245935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27024" y="25331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533400" y="301180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7024" y="30856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533400" y="356520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27024" y="36390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6023" y="248935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把一条路径写成一串动作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7166" y="2744152"/>
              <a:ext cx="48590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每条路径都是长度为 n+m−2 的一串“右”和“下”，其中“下”恰好出现 m−1 次。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46023" y="304276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数有多少串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47166" y="3297555"/>
              <a:ext cx="47893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n+m−2 个位置里挑 m−1 个放“下”，方案数就是组合数 C(n+m−2, m−1)。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46023" y="359616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核对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47166" y="3850005"/>
              <a:ext cx="34947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= n = 4 时 C(6, 3) = 20，与填表法算出的 20 一致。</a:t>
              </a:r>
            </a:p>
          </p:txBody>
        </p:sp>
      </p:grpSp>
      <p:grpSp>
        <p:nvGrpSpPr>
          <p:cNvPr id="42" name="c1-code-3"/>
          <p:cNvGrpSpPr/>
          <p:nvPr/>
        </p:nvGrpSpPr>
        <p:grpSpPr>
          <a:xfrm>
            <a:off x="533400" y="4217670"/>
            <a:ext cx="5410200" cy="958215"/>
            <a:chOff x="533400" y="4217670"/>
            <a:chExt cx="5410200" cy="958215"/>
          </a:xfrm>
        </p:grpSpPr>
        <p:sp>
          <p:nvSpPr>
            <p:cNvPr id="39" name="Rectangle 39"/>
            <p:cNvSpPr/>
            <p:nvPr/>
          </p:nvSpPr>
          <p:spPr>
            <a:xfrm>
              <a:off x="533400" y="4217670"/>
              <a:ext cx="5410200" cy="958215"/>
            </a:xfrm>
            <a:prstGeom prst="roundRect">
              <a:avLst>
                <a:gd name="adj" fmla="val 99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1797" y="436959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1988" y="4628674"/>
              <a:ext cx="1785112" cy="4610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uniquePaths(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C(n+m-2, m-1);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formula55"/>
              <p:cNvSpPr txBox="1">
                <a:spLocks noGrp="1"/>
              </p:cNvSpPr>
              <p:nvPr/>
            </p:nvSpPr>
            <p:spPr>
              <a:xfrm>
                <a:off x="6248400" y="1928812"/>
                <a:ext cx="5410200" cy="5657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!</m:t>
                          </m:r>
                        </m:num>
                        <m:den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!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!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⋯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num>
                        <m:den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⋯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⋅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52" name="c2-card-2"/>
          <p:cNvGrpSpPr/>
          <p:nvPr/>
        </p:nvGrpSpPr>
        <p:grpSpPr>
          <a:xfrm>
            <a:off x="6248400" y="2659380"/>
            <a:ext cx="5410200" cy="1444942"/>
            <a:chOff x="6248400" y="2659380"/>
            <a:chExt cx="5410200" cy="1444942"/>
          </a:xfrm>
        </p:grpSpPr>
        <p:sp>
          <p:nvSpPr>
            <p:cNvPr id="44" name="Rectangle 44"/>
            <p:cNvSpPr/>
            <p:nvPr/>
          </p:nvSpPr>
          <p:spPr>
            <a:xfrm>
              <a:off x="6248400" y="2659380"/>
              <a:ext cx="5410200" cy="1444942"/>
            </a:xfrm>
            <a:prstGeom prst="roundRect">
              <a:avLst>
                <a:gd name="adj" fmla="val 92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257925" y="2792730"/>
              <a:ext cx="47625" cy="117824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467475" y="2840355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40843" y="2873216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天才写法的陷阱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656386" y="287988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先把分子乘完再除，几乎一定溢出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60998" y="3196114"/>
              <a:ext cx="462153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分子是 m 个数连乘。哪怕最后答案很小，中间结果也可能爆掉：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13! 已经超过 2³¹−1，而 C(13, 6) 只有 1716。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477000" y="377666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632448" y="3724751"/>
              <a:ext cx="32266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改用 long long 只是把翻车推迟到更大的 n</a:t>
              </a:r>
            </a:p>
          </p:txBody>
        </p:sp>
      </p:grpSp>
      <p:grpSp>
        <p:nvGrpSpPr>
          <p:cNvPr id="59" name="c2-callout-3"/>
          <p:cNvGrpSpPr/>
          <p:nvPr/>
        </p:nvGrpSpPr>
        <p:grpSpPr>
          <a:xfrm>
            <a:off x="6248400" y="4269105"/>
            <a:ext cx="5410200" cy="906780"/>
            <a:chOff x="6248400" y="4269105"/>
            <a:chExt cx="5410200" cy="906780"/>
          </a:xfrm>
        </p:grpSpPr>
        <p:sp>
          <p:nvSpPr>
            <p:cNvPr id="53" name="Rectangle 53"/>
            <p:cNvSpPr/>
            <p:nvPr/>
          </p:nvSpPr>
          <p:spPr>
            <a:xfrm>
              <a:off x="6248400" y="4269105"/>
              <a:ext cx="5410200" cy="906780"/>
            </a:xfrm>
            <a:prstGeom prst="roundRect">
              <a:avLst>
                <a:gd name="adj" fmla="val 1260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6453188" y="4622483"/>
              <a:ext cx="200026" cy="200025"/>
              <a:chOff x="6453188" y="4622483"/>
              <a:chExt cx="200026" cy="200025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6453188" y="462248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492926" y="466693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527642" y="477805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6756273" y="4516279"/>
              <a:ext cx="44020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组合数解法只适用于没有障碍物的网格。一旦格子里有障碍，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路径不再是任意排列，就只能回到动态规划。</a:t>
              </a:r>
            </a:p>
          </p:txBody>
        </p:sp>
      </p:grpSp>
      <p:grpSp>
        <p:nvGrpSpPr>
          <p:cNvPr id="6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0" name="Rectangle 6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1273" y="6039326"/>
              <a:ext cx="102951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同一道题有 O(m·n) 的填表解和 O(m) 的组合数解，差别来自题目的额外结构。先看清题目有没有这种结构，往往比优化代码更划算。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第5讲 数组与矩阵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第5讲 数组与矩阵 · 动态规划初探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怎样算组合数才既不溢出也不丢精度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7727800" cy="278702"/>
            <a:chOff x="526161" y="1547336"/>
            <a:chExt cx="7727800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72780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把分子分母配成 m 个分式相乘，边乘边除。关键在于每做完一步，中间结果都保证是整数。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60"/>
              <p:cNvSpPr txBox="1">
                <a:spLocks noGrp="1"/>
              </p:cNvSpPr>
              <p:nvPr/>
            </p:nvSpPr>
            <p:spPr>
              <a:xfrm>
                <a:off x="533400" y="1941195"/>
                <a:ext cx="5626418" cy="617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⋯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19" name="c1-bullets-2"/>
          <p:cNvGrpSpPr/>
          <p:nvPr/>
        </p:nvGrpSpPr>
        <p:grpSpPr>
          <a:xfrm>
            <a:off x="533400" y="2744152"/>
            <a:ext cx="5343716" cy="1412748"/>
            <a:chOff x="533400" y="2744152"/>
            <a:chExt cx="5343716" cy="1412748"/>
          </a:xfrm>
        </p:grpSpPr>
        <p:sp>
          <p:nvSpPr>
            <p:cNvPr id="10" name="Ellipse 10"/>
            <p:cNvSpPr/>
            <p:nvPr/>
          </p:nvSpPr>
          <p:spPr>
            <a:xfrm>
              <a:off x="533400" y="2744152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9078" y="278253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4197" y="2756535"/>
              <a:ext cx="506291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乘完前 k 个分式，结果恰好是 C(n−m+k, k)，是一个组合数，因此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一定是整数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3311842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9078" y="335118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4197" y="3324225"/>
              <a:ext cx="4529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整数除法 `ans = ans*i/j` 每一步都整除，不会丢掉小数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623310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9078" y="366169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4197" y="3635692"/>
              <a:ext cx="504577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中间结果始终不超过最终答案的量级，题目保证结果在 2³¹−1 以内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时就不会溢出</a:t>
              </a:r>
            </a:p>
          </p:txBody>
        </p:sp>
      </p:grpSp>
      <p:grpSp>
        <p:nvGrpSpPr>
          <p:cNvPr id="26" name="c1-callout-3"/>
          <p:cNvGrpSpPr/>
          <p:nvPr/>
        </p:nvGrpSpPr>
        <p:grpSpPr>
          <a:xfrm>
            <a:off x="533400" y="4278630"/>
            <a:ext cx="5626418" cy="1323975"/>
            <a:chOff x="533400" y="4278630"/>
            <a:chExt cx="5626418" cy="1323975"/>
          </a:xfrm>
        </p:grpSpPr>
        <p:sp>
          <p:nvSpPr>
            <p:cNvPr id="20" name="Rectangle 20"/>
            <p:cNvSpPr/>
            <p:nvPr/>
          </p:nvSpPr>
          <p:spPr>
            <a:xfrm>
              <a:off x="533400" y="4278630"/>
              <a:ext cx="5626418" cy="1323975"/>
            </a:xfrm>
            <a:prstGeom prst="roundRect">
              <a:avLst>
                <a:gd name="adj" fmla="val 863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38188" y="4840605"/>
              <a:ext cx="200026" cy="200026"/>
              <a:chOff x="738188" y="4840605"/>
              <a:chExt cx="200026" cy="200026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38188" y="484060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38200" y="490728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27088" y="494061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892" y="4722495"/>
              <a:ext cx="463429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“乘 k 个分式得到 C(n−m+k, k)”这一条已用脚本对 n ≤ 39 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全部 (n, m) 逐一验证，每一步都整除且结果正确。</a:t>
              </a:r>
            </a:p>
          </p:txBody>
        </p:sp>
      </p:grpSp>
      <p:grpSp>
        <p:nvGrpSpPr>
          <p:cNvPr id="30" name="c2-code-1"/>
          <p:cNvGrpSpPr/>
          <p:nvPr/>
        </p:nvGrpSpPr>
        <p:grpSpPr>
          <a:xfrm>
            <a:off x="6464618" y="1941195"/>
            <a:ext cx="5193982" cy="1788795"/>
            <a:chOff x="6464618" y="1941195"/>
            <a:chExt cx="5193982" cy="1788795"/>
          </a:xfrm>
        </p:grpSpPr>
        <p:sp>
          <p:nvSpPr>
            <p:cNvPr id="27" name="Rectangle 27"/>
            <p:cNvSpPr/>
            <p:nvPr/>
          </p:nvSpPr>
          <p:spPr>
            <a:xfrm>
              <a:off x="6464618" y="1941195"/>
              <a:ext cx="5193982" cy="1788795"/>
            </a:xfrm>
            <a:prstGeom prst="roundRect">
              <a:avLst>
                <a:gd name="adj" fmla="val 532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93015" y="2093119"/>
              <a:ext cx="14778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O(m) 时间，O(1) 空间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93205" y="2353342"/>
              <a:ext cx="3250565" cy="1293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C(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m)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(m == 0 || n == m)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1;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(m &gt; n/2) m = n - m;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对称性，少乘几项 */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long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long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ans = 1;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i 扫分子，j 扫分母 */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n-m+1, j = 1; i &lt;= n; i++, j++)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ans = ans * i / j;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)ans;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8" name="c2-card-2"/>
          <p:cNvGrpSpPr/>
          <p:nvPr/>
        </p:nvGrpSpPr>
        <p:grpSpPr>
          <a:xfrm>
            <a:off x="6464618" y="3905250"/>
            <a:ext cx="5193982" cy="1697355"/>
            <a:chOff x="6464618" y="3905250"/>
            <a:chExt cx="5193982" cy="1697355"/>
          </a:xfrm>
        </p:grpSpPr>
        <p:sp>
          <p:nvSpPr>
            <p:cNvPr id="31" name="Rectangle 31"/>
            <p:cNvSpPr/>
            <p:nvPr/>
          </p:nvSpPr>
          <p:spPr>
            <a:xfrm>
              <a:off x="6464618" y="3905250"/>
              <a:ext cx="5193982" cy="1697355"/>
            </a:xfrm>
            <a:prstGeom prst="roundRect">
              <a:avLst>
                <a:gd name="adj" fmla="val 785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74142" y="4038600"/>
              <a:ext cx="47625" cy="14306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695122" y="4097655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90563" y="413194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145464" y="4137660"/>
              <a:ext cx="13452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C(9, 4) 的四步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88264" y="4471988"/>
              <a:ext cx="381990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× 6/1 = 6 → 6 × 7/2 = 21 → 21 × 8/3 = 56 → 56 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9/4 = </a:t>
              </a: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126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89408" y="5027771"/>
              <a:ext cx="426440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每一步都恰好整除，且 6、21、56、126 依次是 C(6,1)、C(7,2)、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C(8,3)、C(9,4)。</a:t>
              </a:r>
            </a:p>
          </p:txBody>
        </p:sp>
      </p:grpSp>
      <p:grpSp>
        <p:nvGrpSpPr>
          <p:cNvPr id="45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9" name="Rectangle 39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892" y="6023610"/>
              <a:ext cx="94731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顺序不能换。写成 `ans = ans / j * i` 就会先做不整除的除法，结果直接错。乘法在前、除法在后是这段代码的要害。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第5讲 数组与矩阵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第5讲 数组与矩阵 · 动态规划初探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网格里有障碍物：在递推式上加一道判断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0086404" cy="512636"/>
            <a:chOff x="526542" y="1545907"/>
            <a:chExt cx="10086404" cy="512636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008640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仍是向下或向右走，但格子里可能有障碍（map[i][j] == 1）。障碍格走不到，路径数记为 0；其余格子照旧由上方和左方相加。这是</a:t>
              </a:r>
              <a:br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LeetCode 63。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2177415"/>
            <a:ext cx="5842635" cy="2154555"/>
            <a:chOff x="533400" y="2177415"/>
            <a:chExt cx="5842635" cy="2154555"/>
          </a:xfrm>
        </p:grpSpPr>
        <p:sp>
          <p:nvSpPr>
            <p:cNvPr id="9" name="Rectangle 9"/>
            <p:cNvSpPr/>
            <p:nvPr/>
          </p:nvSpPr>
          <p:spPr>
            <a:xfrm>
              <a:off x="533400" y="2177415"/>
              <a:ext cx="5842635" cy="2154555"/>
            </a:xfrm>
            <a:prstGeom prst="roundRect">
              <a:avLst>
                <a:gd name="adj" fmla="val 442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32933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滚动数组版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988" y="2588419"/>
              <a:ext cx="3248279" cy="1657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const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 = 110;</a:t>
              </a:r>
              <a:br/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dp[N];</a:t>
              </a:r>
              <a:br/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PathsII(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map[N][N],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0; j &lt; n &amp;&amp; map[0][j] == 0; j++)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dp[j] = 1;   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第 0 行，遇障碍即停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 i &lt; m; i++)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0; j &lt; n; j++)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(map[i][j] == 1) dp[j] = 0;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&gt; 0)     dp[j] = dp[j] + dp[j-1];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dp[n-1];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4495800"/>
            <a:ext cx="5842635" cy="1160145"/>
            <a:chOff x="533400" y="4495800"/>
            <a:chExt cx="5842635" cy="1160145"/>
          </a:xfrm>
        </p:grpSpPr>
        <p:sp>
          <p:nvSpPr>
            <p:cNvPr id="13" name="Rectangle 13"/>
            <p:cNvSpPr/>
            <p:nvPr/>
          </p:nvSpPr>
          <p:spPr>
            <a:xfrm>
              <a:off x="533400" y="4495800"/>
              <a:ext cx="5842635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4629150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52475" y="4676775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8246" y="470963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94625" y="471725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一个障碍能堵死一整片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5998" y="5033486"/>
              <a:ext cx="510108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map[0][2] = 1，第 0 行只有 dp[0]、dp[1] 被置 1，dp[2] 起全是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0，第 0 行右边那一段再也到不了。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680835" y="2177415"/>
            <a:ext cx="4977765" cy="2111692"/>
            <a:chOff x="6680835" y="2177415"/>
            <a:chExt cx="4977765" cy="2111692"/>
          </a:xfrm>
        </p:grpSpPr>
        <p:sp>
          <p:nvSpPr>
            <p:cNvPr id="20" name="Rectangle 20"/>
            <p:cNvSpPr/>
            <p:nvPr/>
          </p:nvSpPr>
          <p:spPr>
            <a:xfrm>
              <a:off x="6680835" y="2177415"/>
              <a:ext cx="4977765" cy="2111692"/>
            </a:xfrm>
            <a:prstGeom prst="roundRect">
              <a:avLst>
                <a:gd name="adj" fmla="val 6315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861810" y="2358390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43280" y="239125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两处要小心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862762" y="268700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14669" y="272262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32511" y="2697956"/>
              <a:ext cx="417449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第 0 行、第 0 列的初始化要 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遇到障碍就停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，障碍后面的格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子一条路也到不了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862762" y="3214688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914669" y="325031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32511" y="3226594"/>
              <a:ext cx="41094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内层 j 从 0 开始扫，因为第 0 列的格子也可能是障碍，需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要被清零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56476" y="3749993"/>
              <a:ext cx="4264533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 = 0 且不是障碍时什么也不做，等价于 dp[0] 保持上一行的值，即 F(i,</a:t>
              </a:r>
            </a:p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0) = F(i−1, 0)。</a:t>
              </a:r>
            </a:p>
          </p:txBody>
        </p:sp>
      </p:grpSp>
      <p:grpSp>
        <p:nvGrpSpPr>
          <p:cNvPr id="37" name="c2-card-2"/>
          <p:cNvGrpSpPr/>
          <p:nvPr/>
        </p:nvGrpSpPr>
        <p:grpSpPr>
          <a:xfrm>
            <a:off x="6680835" y="4453890"/>
            <a:ext cx="4977765" cy="1203008"/>
            <a:chOff x="6680835" y="4453890"/>
            <a:chExt cx="4977765" cy="1203008"/>
          </a:xfrm>
        </p:grpSpPr>
        <p:sp>
          <p:nvSpPr>
            <p:cNvPr id="31" name="Rectangle 31"/>
            <p:cNvSpPr/>
            <p:nvPr/>
          </p:nvSpPr>
          <p:spPr>
            <a:xfrm>
              <a:off x="6680835" y="4453890"/>
              <a:ext cx="4977765" cy="1203008"/>
            </a:xfrm>
            <a:prstGeom prst="roundRect">
              <a:avLst>
                <a:gd name="adj" fmla="val 1108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690360" y="4587240"/>
              <a:ext cx="47625" cy="93630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899910" y="463486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992582" y="466772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对照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66838" y="467439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三道题一条主线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93433" y="4990624"/>
              <a:ext cx="432892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跳台阶、无障碍网格、有障碍网格，状态都是“到达某处的方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案数”，递推式都是“按最后一步分类后求和”。</a:t>
              </a:r>
            </a:p>
          </p:txBody>
        </p:sp>
      </p:grpSp>
      <p:grpSp>
        <p:nvGrpSpPr>
          <p:cNvPr id="43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8" name="Rectangle 38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1273" y="6039326"/>
              <a:ext cx="88181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加约束时优先改递推式而不是改框架。这里只多了一句“障碍格清零”，填表顺序、边界处理、滚动数组都原样保留。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第5讲 数组与矩阵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第5讲 数组与矩阵 · 动态规划初探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最大子数组和：先把两个暴力算法写清楚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0218249" cy="264033"/>
            <a:chOff x="526542" y="1545907"/>
            <a:chExt cx="1021824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02182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给定含 n 个整数的数组，数组里可能有正数、负数和零。连续的一个或多个元素组成一个子数组，求所有子数组之和的最大值。</a:t>
              </a:r>
            </a:p>
          </p:txBody>
        </p:sp>
      </p:grpSp>
      <p:grpSp>
        <p:nvGrpSpPr>
          <p:cNvPr id="34" name="c1-cells-1"/>
          <p:cNvGrpSpPr/>
          <p:nvPr/>
        </p:nvGrpSpPr>
        <p:grpSpPr>
          <a:xfrm>
            <a:off x="528638" y="1928812"/>
            <a:ext cx="3556634" cy="571977"/>
            <a:chOff x="528638" y="1928812"/>
            <a:chExt cx="3556634" cy="571977"/>
          </a:xfrm>
        </p:grpSpPr>
        <p:sp>
          <p:nvSpPr>
            <p:cNvPr id="9" name="TextBox 9"/>
            <p:cNvSpPr txBox="1"/>
            <p:nvPr/>
          </p:nvSpPr>
          <p:spPr>
            <a:xfrm>
              <a:off x="528638" y="205073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32472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2276" y="205073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151572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286391" y="205073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-2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570672" y="1928812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740476" y="205073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989772" y="1928812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124591" y="205073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408872" y="1928812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543691" y="205073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-4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827972" y="1928812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997776" y="205073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247072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381891" y="205073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-2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666172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800991" y="205073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6903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26003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745103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164203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583303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002403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421503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840603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  <p:grpSp>
        <p:nvGrpSpPr>
          <p:cNvPr id="38" name="c1-code-2"/>
          <p:cNvGrpSpPr/>
          <p:nvPr/>
        </p:nvGrpSpPr>
        <p:grpSpPr>
          <a:xfrm>
            <a:off x="533400" y="2630805"/>
            <a:ext cx="5842635" cy="2154555"/>
            <a:chOff x="533400" y="2630805"/>
            <a:chExt cx="5842635" cy="2154555"/>
          </a:xfrm>
        </p:grpSpPr>
        <p:sp>
          <p:nvSpPr>
            <p:cNvPr id="35" name="Rectangle 35"/>
            <p:cNvSpPr/>
            <p:nvPr/>
          </p:nvSpPr>
          <p:spPr>
            <a:xfrm>
              <a:off x="533400" y="2630805"/>
              <a:ext cx="5842635" cy="2154555"/>
            </a:xfrm>
            <a:prstGeom prst="roundRect">
              <a:avLst>
                <a:gd name="adj" fmla="val 442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1797" y="2782729"/>
              <a:ext cx="27058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 2：利用 sum[i…j] = sum[i…j−1] + a[j]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1988" y="3041809"/>
              <a:ext cx="2472436" cy="1657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maxSubArray(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a[],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maxsum = INT_MIN;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n; i++)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sum = 0;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i; j &lt; n; j++)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sum += a[j];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(sum &gt; maxsum) maxsum = sum;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maxsum;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45" name="c1-callout-3"/>
          <p:cNvGrpSpPr/>
          <p:nvPr/>
        </p:nvGrpSpPr>
        <p:grpSpPr>
          <a:xfrm>
            <a:off x="533400" y="4949190"/>
            <a:ext cx="5842635" cy="702945"/>
            <a:chOff x="533400" y="4949190"/>
            <a:chExt cx="5842635" cy="702945"/>
          </a:xfrm>
        </p:grpSpPr>
        <p:sp>
          <p:nvSpPr>
            <p:cNvPr id="39" name="Rectangle 39"/>
            <p:cNvSpPr/>
            <p:nvPr/>
          </p:nvSpPr>
          <p:spPr>
            <a:xfrm>
              <a:off x="533400" y="4949190"/>
              <a:ext cx="5842635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8188" y="5200650"/>
              <a:ext cx="200026" cy="200025"/>
              <a:chOff x="738188" y="5200650"/>
              <a:chExt cx="200026" cy="20002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38188" y="520065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77926" y="524510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12642" y="535622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1273" y="5094446"/>
              <a:ext cx="483285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算法 1 每换一对下标都重新累加；算法 2 让 sum 沿 j 递推，一次加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法即可。</a:t>
              </a:r>
            </a:p>
          </p:txBody>
        </p:sp>
      </p:grpSp>
      <p:grpSp>
        <p:nvGrpSpPr>
          <p:cNvPr id="53" name="c2-card-1"/>
          <p:cNvGrpSpPr/>
          <p:nvPr/>
        </p:nvGrpSpPr>
        <p:grpSpPr>
          <a:xfrm>
            <a:off x="6680835" y="1928812"/>
            <a:ext cx="4977765" cy="1406842"/>
            <a:chOff x="6680835" y="1928812"/>
            <a:chExt cx="4977765" cy="1406842"/>
          </a:xfrm>
        </p:grpSpPr>
        <p:sp>
          <p:nvSpPr>
            <p:cNvPr id="46" name="Rectangle 46"/>
            <p:cNvSpPr/>
            <p:nvPr/>
          </p:nvSpPr>
          <p:spPr>
            <a:xfrm>
              <a:off x="6680835" y="1928812"/>
              <a:ext cx="4977765" cy="1406842"/>
            </a:xfrm>
            <a:prstGeom prst="roundRect">
              <a:avLst>
                <a:gd name="adj" fmla="val 94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690360" y="2062162"/>
              <a:ext cx="47625" cy="114014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899910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992582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答案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466838" y="2149316"/>
              <a:ext cx="22853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最大和是 3 + 10 − 4 + 7 = 16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893433" y="2465546"/>
              <a:ext cx="437728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算法 1 枚举所有 (i, j) 再重新求和，时间 </a:t>
              </a:r>
              <a:r>
                <a:rPr lang="en-US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O(n³)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；算法 2 让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sum 沿着 j 递推，省掉最内层循环，降到 </a:t>
              </a:r>
              <a:r>
                <a:rPr lang="en-US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O(n²)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894576" y="2989898"/>
              <a:ext cx="36437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两者的前提相同：n 个元素全在内存里，每次加法 O(1)。</a:t>
              </a:r>
            </a:p>
          </p:txBody>
        </p:sp>
      </p:grpSp>
      <p:grpSp>
        <p:nvGrpSpPr>
          <p:cNvPr id="62" name="c2-card-2"/>
          <p:cNvGrpSpPr/>
          <p:nvPr/>
        </p:nvGrpSpPr>
        <p:grpSpPr>
          <a:xfrm>
            <a:off x="6680835" y="3499485"/>
            <a:ext cx="4977765" cy="2152650"/>
            <a:chOff x="6680835" y="3499485"/>
            <a:chExt cx="4977765" cy="2152650"/>
          </a:xfrm>
        </p:grpSpPr>
        <p:sp>
          <p:nvSpPr>
            <p:cNvPr id="54" name="Rectangle 54"/>
            <p:cNvSpPr/>
            <p:nvPr/>
          </p:nvSpPr>
          <p:spPr>
            <a:xfrm>
              <a:off x="6680835" y="3499485"/>
              <a:ext cx="4977765" cy="2152650"/>
            </a:xfrm>
            <a:prstGeom prst="roundRect">
              <a:avLst>
                <a:gd name="adj" fmla="val 6195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861810" y="3680460"/>
              <a:ext cx="1316355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925119" y="3713321"/>
              <a:ext cx="11897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 里怎么写正负无穷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871335" y="4073842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026783" y="4020979"/>
              <a:ext cx="415010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`INT_MAX` = 2³¹−1 = 0x7fffffff，`INT_MIN` = −2³¹。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问题是 INT_MAX + d 会溢出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871335" y="4601528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026783" y="4548664"/>
              <a:ext cx="415010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常用替代：正无穷取 `0x3f3f3f3f` = 1 061 109 567，负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无穷取 `0xc0c0c0c0` = −1 061 109 568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856476" y="5073015"/>
              <a:ext cx="3837813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好处是加一个数甚至翻倍都不溢出，而且能用 memset(a, 0x3f,</a:t>
              </a:r>
              <a:br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sizeof(a)) 一次填满整个数组。</a:t>
              </a:r>
            </a:p>
          </p:txBody>
        </p:sp>
      </p:grpSp>
      <p:grpSp>
        <p:nvGrpSpPr>
          <p:cNvPr id="6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3" name="Rectangle 6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1273" y="6039326"/>
              <a:ext cx="80100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 = 10⁴ 时，O(n³) 要做 10¹² 次运算，O(n²) 是 10⁸ 次，O(n) 只要 10⁴ 次。下面两页把它降到线性。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第5讲 数组与矩阵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62576" cy="909257"/>
            <a:chOff x="520446" y="342900"/>
            <a:chExt cx="68625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第5讲 数组与矩阵 · 动态规划初探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625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Kadane 算法：只问“以位置 i 结尾”的最大和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0437876" cy="512636"/>
            <a:chOff x="526542" y="1545907"/>
            <a:chExt cx="10437876" cy="512636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043787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令 f(i) 表示所有以位置 i 结尾的子数组的最大和。以 i 结尾的最大子数组一定包含 a[i]，但包不包含 a[i] 前面的元素，要看 f(i−1) 的正</a:t>
              </a:r>
              <a:br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负。</a:t>
              </a:r>
            </a:p>
          </p:txBody>
        </p:sp>
      </p:grpSp>
      <p:grpSp>
        <p:nvGrpSpPr>
          <p:cNvPr id="15" name="c1-card-1"/>
          <p:cNvGrpSpPr/>
          <p:nvPr/>
        </p:nvGrpSpPr>
        <p:grpSpPr>
          <a:xfrm>
            <a:off x="533400" y="2177415"/>
            <a:ext cx="5410200" cy="944880"/>
            <a:chOff x="533400" y="2177415"/>
            <a:chExt cx="5410200" cy="944880"/>
          </a:xfrm>
        </p:grpSpPr>
        <p:sp>
          <p:nvSpPr>
            <p:cNvPr id="9" name="Rectangle 9"/>
            <p:cNvSpPr/>
            <p:nvPr/>
          </p:nvSpPr>
          <p:spPr>
            <a:xfrm>
              <a:off x="533400" y="2177415"/>
              <a:ext cx="5410200" cy="944880"/>
            </a:xfrm>
            <a:prstGeom prst="roundRect">
              <a:avLst>
                <a:gd name="adj" fmla="val 141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310765"/>
              <a:ext cx="47625" cy="67818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8190" y="2364105"/>
              <a:ext cx="56959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7234" y="2396966"/>
              <a:ext cx="3915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情况 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35227" y="2399348"/>
              <a:ext cx="2249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f(i−1) &gt; 0 时接上去更划算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1332" y="2725102"/>
              <a:ext cx="16947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f(i) = f(i−1) + a[i]</a:t>
              </a:r>
            </a:p>
          </p:txBody>
        </p:sp>
      </p:grpSp>
      <p:grpSp>
        <p:nvGrpSpPr>
          <p:cNvPr id="36" name="c1-cells-2"/>
          <p:cNvGrpSpPr/>
          <p:nvPr/>
        </p:nvGrpSpPr>
        <p:grpSpPr>
          <a:xfrm>
            <a:off x="528638" y="3318034"/>
            <a:ext cx="2299334" cy="825817"/>
            <a:chOff x="528638" y="3318034"/>
            <a:chExt cx="2299334" cy="825817"/>
          </a:xfrm>
        </p:grpSpPr>
        <p:sp>
          <p:nvSpPr>
            <p:cNvPr id="16" name="TextBox 16"/>
            <p:cNvSpPr txBox="1"/>
            <p:nvPr/>
          </p:nvSpPr>
          <p:spPr>
            <a:xfrm>
              <a:off x="528638" y="368712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32472" y="3559492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7291" y="368712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-2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151572" y="3559492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321376" y="368712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570672" y="3559492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740476" y="368712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989772" y="3559492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159576" y="368712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408872" y="3559492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578676" y="368712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6903" y="398192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26003" y="398192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745103" y="398192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164203" y="398192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583303" y="398192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113425" y="3318034"/>
              <a:ext cx="17179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i−1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2161222" y="346424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596274" y="3318034"/>
              <a:ext cx="442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2580322" y="346424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43" name="c1-card-3"/>
          <p:cNvGrpSpPr/>
          <p:nvPr/>
        </p:nvGrpSpPr>
        <p:grpSpPr>
          <a:xfrm>
            <a:off x="533400" y="4278630"/>
            <a:ext cx="5410200" cy="944880"/>
            <a:chOff x="533400" y="4278630"/>
            <a:chExt cx="5410200" cy="944880"/>
          </a:xfrm>
        </p:grpSpPr>
        <p:sp>
          <p:nvSpPr>
            <p:cNvPr id="37" name="Rectangle 37"/>
            <p:cNvSpPr/>
            <p:nvPr/>
          </p:nvSpPr>
          <p:spPr>
            <a:xfrm>
              <a:off x="533400" y="4278630"/>
              <a:ext cx="5410200" cy="944880"/>
            </a:xfrm>
            <a:prstGeom prst="roundRect">
              <a:avLst>
                <a:gd name="adj" fmla="val 141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542925" y="4411980"/>
              <a:ext cx="47625" cy="67818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58190" y="4465320"/>
              <a:ext cx="56959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47234" y="4498181"/>
              <a:ext cx="3915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情况 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435227" y="4500562"/>
              <a:ext cx="20677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f(i−1) ≤ 0 时前面是累赘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1332" y="4826318"/>
              <a:ext cx="3984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a[i] + f(i−1) ≤ a[i]，从 a[i] 重开：f(i) = a[i]</a:t>
              </a:r>
            </a:p>
          </p:txBody>
        </p:sp>
      </p:grpSp>
      <p:grpSp>
        <p:nvGrpSpPr>
          <p:cNvPr id="58" name="c1-cells-4"/>
          <p:cNvGrpSpPr/>
          <p:nvPr/>
        </p:nvGrpSpPr>
        <p:grpSpPr>
          <a:xfrm>
            <a:off x="528638" y="5419249"/>
            <a:ext cx="1461134" cy="825817"/>
            <a:chOff x="528638" y="5419249"/>
            <a:chExt cx="1461134" cy="825817"/>
          </a:xfrm>
        </p:grpSpPr>
        <p:sp>
          <p:nvSpPr>
            <p:cNvPr id="44" name="TextBox 44"/>
            <p:cNvSpPr txBox="1"/>
            <p:nvPr/>
          </p:nvSpPr>
          <p:spPr>
            <a:xfrm>
              <a:off x="528638" y="578929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32472" y="5660708"/>
              <a:ext cx="419100" cy="36861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02276" y="578929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151572" y="5660708"/>
              <a:ext cx="419100" cy="36861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286391" y="578929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-9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570672" y="5660708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740476" y="578929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06903" y="60831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326003" y="60831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745103" y="60831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275225" y="5419249"/>
              <a:ext cx="17179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i−1</a:t>
              </a:r>
            </a:p>
          </p:txBody>
        </p:sp>
        <p:sp>
          <p:nvSpPr>
            <p:cNvPr id="55" name="Freeform 55"/>
            <p:cNvSpPr/>
            <p:nvPr/>
          </p:nvSpPr>
          <p:spPr>
            <a:xfrm>
              <a:off x="1323022" y="556545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758074" y="5419249"/>
              <a:ext cx="442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57" name="Freeform 57"/>
            <p:cNvSpPr/>
            <p:nvPr/>
          </p:nvSpPr>
          <p:spPr>
            <a:xfrm>
              <a:off x="1742122" y="556545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formula71"/>
              <p:cNvSpPr txBox="1">
                <a:spLocks noGrp="1"/>
              </p:cNvSpPr>
              <p:nvPr/>
            </p:nvSpPr>
            <p:spPr>
              <a:xfrm>
                <a:off x="6248400" y="2177415"/>
                <a:ext cx="5410200" cy="8324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  <m:d>
                                <m:dPr>
                                  <m:begChr m:val="["/>
                                  <m:sepChr m:val=""/>
                                  <m:endChr m:val="]"/>
                                  <m:grow m:val="on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&gt;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  <m:d>
                                <m:dPr>
                                  <m:begChr m:val="["/>
                                  <m:sepChr m:val=""/>
                                  <m:endChr m:val="]"/>
                                  <m:grow m:val="on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≤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formula72"/>
              <p:cNvSpPr txBox="1">
                <a:spLocks noGrp="1"/>
              </p:cNvSpPr>
              <p:nvPr/>
            </p:nvSpPr>
            <p:spPr>
              <a:xfrm>
                <a:off x="6248400" y="3179445"/>
                <a:ext cx="5410200" cy="5695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 m:val="on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answer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unc>
                        <m:funcPr/>
                        <m:fName>
                          <m:limLow>
                            <m:limLowPr/>
                            <m:e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≤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&lt;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lim>
                          </m:limLow>
                        </m:fName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66" name="c2-card-3"/>
          <p:cNvGrpSpPr/>
          <p:nvPr/>
        </p:nvGrpSpPr>
        <p:grpSpPr>
          <a:xfrm>
            <a:off x="6248400" y="3919538"/>
            <a:ext cx="5410200" cy="1446848"/>
            <a:chOff x="6248400" y="3919538"/>
            <a:chExt cx="5410200" cy="1446848"/>
          </a:xfrm>
        </p:grpSpPr>
        <p:sp>
          <p:nvSpPr>
            <p:cNvPr id="61" name="Rectangle 61"/>
            <p:cNvSpPr/>
            <p:nvPr/>
          </p:nvSpPr>
          <p:spPr>
            <a:xfrm>
              <a:off x="6248400" y="3919538"/>
              <a:ext cx="5410200" cy="1446848"/>
            </a:xfrm>
            <a:prstGeom prst="roundRect">
              <a:avLst>
                <a:gd name="adj" fmla="val 921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435090" y="4106228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508458" y="413908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为什么这样就够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428232" y="4450080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任何一个子数组都有唯一的结尾位置，所以按结尾位置把全部子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数组分成 n 类，每类的最大值就是 f(i)。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429375" y="5003959"/>
              <a:ext cx="37355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分类不重不漏，取 n 个 f(i) 的最大值就是全局最大和。</a:t>
              </a:r>
            </a:p>
          </p:txBody>
        </p:sp>
      </p:grpSp>
      <p:grpSp>
        <p:nvGrpSpPr>
          <p:cNvPr id="73" name="c2-callout-4"/>
          <p:cNvGrpSpPr/>
          <p:nvPr/>
        </p:nvGrpSpPr>
        <p:grpSpPr>
          <a:xfrm>
            <a:off x="6248400" y="5535930"/>
            <a:ext cx="5410200" cy="729615"/>
            <a:chOff x="6248400" y="5535930"/>
            <a:chExt cx="5410200" cy="729615"/>
          </a:xfrm>
        </p:grpSpPr>
        <p:sp>
          <p:nvSpPr>
            <p:cNvPr id="67" name="Rectangle 67"/>
            <p:cNvSpPr/>
            <p:nvPr/>
          </p:nvSpPr>
          <p:spPr>
            <a:xfrm>
              <a:off x="6248400" y="5535930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6441129" y="5797033"/>
              <a:ext cx="224134" cy="192560"/>
              <a:chOff x="6441129" y="5797033"/>
              <a:chExt cx="224134" cy="192560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6553200" y="586740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6441129" y="579703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553200" y="59451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6755892" y="5682615"/>
              <a:ext cx="441998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边界是 f(0) = a[0]，不是 0。数组全为负数时答案就是最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大的那个负数，写成 0 会返回错误的 0。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第5讲 数组与矩阵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082000" cy="909257"/>
            <a:chOff x="520446" y="342900"/>
            <a:chExt cx="408200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第5讲 数组与矩阵 · 动态规划初探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08200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Kadane 的代码与逐步执行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414384" cy="278702"/>
            <a:chOff x="526161" y="1547336"/>
            <a:chExt cx="6414384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4143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 只用到前一格，所以整张表可以压成一个变量。时间 O(n)，空间 O(1)。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41195"/>
            <a:ext cx="5193982" cy="1948815"/>
            <a:chOff x="533400" y="1941195"/>
            <a:chExt cx="5193982" cy="1948815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193982" cy="1948815"/>
            </a:xfrm>
            <a:prstGeom prst="roundRect">
              <a:avLst>
                <a:gd name="adj" fmla="val 488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9311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空间优化后的完整实现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988" y="2353342"/>
              <a:ext cx="2160905" cy="1453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maxSubArray(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a[],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 = a[0], maxsum = a[0];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 i &lt; n; i++)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(f &gt; 0) f = f + a[i];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f = a[i];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(f &gt; maxsum) maxsum = f;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maxsum;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4065270"/>
            <a:ext cx="5193982" cy="1527810"/>
            <a:chOff x="533400" y="4065270"/>
            <a:chExt cx="5193982" cy="1527810"/>
          </a:xfrm>
        </p:grpSpPr>
        <p:sp>
          <p:nvSpPr>
            <p:cNvPr id="13" name="Rectangle 13"/>
            <p:cNvSpPr/>
            <p:nvPr/>
          </p:nvSpPr>
          <p:spPr>
            <a:xfrm>
              <a:off x="533400" y="4065270"/>
              <a:ext cx="5193982" cy="1527810"/>
            </a:xfrm>
            <a:prstGeom prst="roundRect">
              <a:avLst>
                <a:gd name="adj" fmla="val 748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26129" y="4725471"/>
              <a:ext cx="224134" cy="192560"/>
              <a:chOff x="726129" y="4725471"/>
              <a:chExt cx="224134" cy="19256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838200" y="479583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26129" y="472547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38200" y="487362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892" y="4486275"/>
              <a:ext cx="4320540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复杂度 </a:t>
              </a:r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O(n)</a:t>
              </a: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 的前提是数组已经全在内存里、每次加法和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比较都是 O(1)。它只求出最大和；要顺带求出子数组的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起止位置，需要在换起点时记下新的起点。</a:t>
              </a:r>
            </a:p>
          </p:txBody>
        </p:sp>
      </p:grpSp>
      <p:grpSp>
        <p:nvGrpSpPr>
          <p:cNvPr id="94" name="c2-table-1"/>
          <p:cNvGrpSpPr/>
          <p:nvPr/>
        </p:nvGrpSpPr>
        <p:grpSpPr>
          <a:xfrm>
            <a:off x="6032182" y="1941195"/>
            <a:ext cx="5626418" cy="3651885"/>
            <a:chOff x="6032182" y="1941195"/>
            <a:chExt cx="5626418" cy="3651885"/>
          </a:xfrm>
        </p:grpSpPr>
        <p:sp>
          <p:nvSpPr>
            <p:cNvPr id="20" name="Rectangle 20"/>
            <p:cNvSpPr/>
            <p:nvPr/>
          </p:nvSpPr>
          <p:spPr>
            <a:xfrm>
              <a:off x="6032182" y="1941195"/>
              <a:ext cx="5626418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83708" y="2065496"/>
              <a:ext cx="589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828422" y="2065496"/>
              <a:ext cx="3201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a[i]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85265" y="2065496"/>
              <a:ext cx="494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f(i−1)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679868" y="2065496"/>
              <a:ext cx="6691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f(i) 取谁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979292" y="2065496"/>
              <a:ext cx="3201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f(i)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797078" y="2065496"/>
              <a:ext cx="5971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maxsum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63919" y="24712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941315" y="24712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85230" y="24712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82952" y="2471261"/>
              <a:ext cx="1195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边界 f(0) = a[0]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092185" y="24712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048495" y="24712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032182" y="274796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032182" y="2752725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63919" y="28770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99852" y="287702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785230" y="28770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82952" y="2877026"/>
              <a:ext cx="802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&gt; 0，接上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050722" y="287702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048495" y="28770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032182" y="315372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263919" y="32827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41315" y="32827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743767" y="328279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82952" y="3282791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≤ 0，重开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092185" y="32827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048495" y="32827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032182" y="35594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032182" y="3564255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263919" y="36885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899852" y="3688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785230" y="3688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382952" y="368855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 0，接上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050722" y="3688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007032" y="3688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032182" y="396525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263919" y="409432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899852" y="409432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−4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743767" y="409432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382952" y="4094321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 0，接上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092185" y="409432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007032" y="409432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032182" y="437102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032182" y="4375785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263919" y="45000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941315" y="450008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785230" y="450008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382952" y="450008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 0，接上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9755505" y="4385310"/>
              <a:ext cx="768668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10050722" y="450008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10543222" y="4385310"/>
              <a:ext cx="1105852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1007032" y="450008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032182" y="477678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263919" y="49058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899852" y="490585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743767" y="490585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382952" y="4905851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 0，接上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050722" y="490585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007032" y="490585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6032182" y="518255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6032182" y="5187315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263919" y="53116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899852" y="531161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−5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743767" y="531161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382952" y="531161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 0，接上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0092185" y="531161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007032" y="531161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6032182" y="1941195"/>
              <a:ext cx="5626418" cy="36518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9" name="Rectangle 89"/>
            <p:cNvSpPr/>
            <p:nvPr/>
          </p:nvSpPr>
          <p:spPr>
            <a:xfrm>
              <a:off x="6590348" y="1941195"/>
              <a:ext cx="9525" cy="3651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7378065" y="1941195"/>
              <a:ext cx="9525" cy="3651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1" name="Rectangle 91"/>
            <p:cNvSpPr/>
            <p:nvPr/>
          </p:nvSpPr>
          <p:spPr>
            <a:xfrm>
              <a:off x="8278178" y="1941195"/>
              <a:ext cx="9525" cy="3651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2" name="Rectangle 92"/>
            <p:cNvSpPr/>
            <p:nvPr/>
          </p:nvSpPr>
          <p:spPr>
            <a:xfrm>
              <a:off x="9741218" y="1941195"/>
              <a:ext cx="9525" cy="3651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10528935" y="1941195"/>
              <a:ext cx="9525" cy="3651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00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95" name="Rectangle 95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98" name="Group 98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96" name="Freeform 96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97" name="Freeform 97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99" name="TextBox 99"/>
            <p:cNvSpPr txBox="1"/>
            <p:nvPr/>
          </p:nvSpPr>
          <p:spPr>
            <a:xfrm>
              <a:off x="1040892" y="6023610"/>
              <a:ext cx="98729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最大值 16 出现在 i = 5，对应子数组 a[2…5] = 3, 10, −4, 7。要返回子数组本身时，只需在 f 重新开始时记下 start = i。</a:t>
              </a:r>
            </a:p>
          </p:txBody>
        </p:sp>
      </p:grpSp>
      <p:grpSp>
        <p:nvGrpSpPr>
          <p:cNvPr id="10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1" name="TextBox 101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第5讲 数组与矩阵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第5讲 数组与矩阵 · 动态规划初探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拓展：最大子数组乘积要同时记住最小值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11052864" cy="278702"/>
            <a:chOff x="526161" y="1547336"/>
            <a:chExt cx="11052864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1105286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换成求乘积最大的连续子数组后，只记最大值就不够了：一个很小的负数乘上另一个负数会变成很大的正数。这是 LeetCode 152。</a:t>
              </a:r>
            </a:p>
          </p:txBody>
        </p:sp>
      </p:grpSp>
      <p:grpSp>
        <p:nvGrpSpPr>
          <p:cNvPr id="14" name="c1-kv-1"/>
          <p:cNvGrpSpPr/>
          <p:nvPr/>
        </p:nvGrpSpPr>
        <p:grpSpPr>
          <a:xfrm>
            <a:off x="526542" y="1964055"/>
            <a:ext cx="5417058" cy="661226"/>
            <a:chOff x="526542" y="1964055"/>
            <a:chExt cx="5417058" cy="661226"/>
          </a:xfrm>
        </p:grpSpPr>
        <p:sp>
          <p:nvSpPr>
            <p:cNvPr id="9" name="TextBox 9"/>
            <p:cNvSpPr txBox="1"/>
            <p:nvPr/>
          </p:nvSpPr>
          <p:spPr>
            <a:xfrm>
              <a:off x="526542" y="1964055"/>
              <a:ext cx="385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f(i)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9952" y="1964055"/>
              <a:ext cx="27215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以位置 i 结尾的子数组的最大乘积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22526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6542" y="2361248"/>
              <a:ext cx="385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g(i)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9952" y="2361248"/>
              <a:ext cx="27215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以位置 i 结尾的子数组的最小乘积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formula81"/>
              <p:cNvSpPr txBox="1">
                <a:spLocks noGrp="1"/>
              </p:cNvSpPr>
              <p:nvPr/>
            </p:nvSpPr>
            <p:spPr>
              <a:xfrm>
                <a:off x="533400" y="2747962"/>
                <a:ext cx="541020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{"/>
                              <m:sepChr m:val=""/>
                              <m:endChr m:val="}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  <m:d>
                                <m:dPr>
                                  <m:begChr m:val="["/>
                                  <m:sepChr m:val=""/>
                                  <m:endChr m:val="]"/>
                                  <m:grow m:val="on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 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⋅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  <m:d>
                                <m:dPr>
                                  <m:begChr m:val="["/>
                                  <m:sepChr m:val=""/>
                                  <m:endChr m:val="]"/>
                                  <m:grow m:val="on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 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g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⋅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  <m:d>
                                <m:dPr>
                                  <m:begChr m:val="["/>
                                  <m:sepChr m:val=""/>
                                  <m:endChr m:val="]"/>
                                  <m:grow m:val="on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formula82"/>
              <p:cNvSpPr txBox="1">
                <a:spLocks noGrp="1"/>
              </p:cNvSpPr>
              <p:nvPr/>
            </p:nvSpPr>
            <p:spPr>
              <a:xfrm>
                <a:off x="533400" y="3361372"/>
                <a:ext cx="54102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g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sepChr m:val=""/>
                              <m:endChr m:val="}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  <m:d>
                                <m:dPr>
                                  <m:begChr m:val="["/>
                                  <m:sepChr m:val=""/>
                                  <m:endChr m:val="]"/>
                                  <m:grow m:val="on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 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⋅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  <m:d>
                                <m:dPr>
                                  <m:begChr m:val="["/>
                                  <m:sepChr m:val=""/>
                                  <m:endChr m:val="]"/>
                                  <m:grow m:val="on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 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g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⋅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  <m:d>
                                <m:dPr>
                                  <m:begChr m:val="["/>
                                  <m:sepChr m:val=""/>
                                  <m:endChr m:val="]"/>
                                  <m:grow m:val="on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23" name="c1-callout-4"/>
          <p:cNvGrpSpPr/>
          <p:nvPr/>
        </p:nvGrpSpPr>
        <p:grpSpPr>
          <a:xfrm>
            <a:off x="533400" y="3992880"/>
            <a:ext cx="5410200" cy="1218248"/>
            <a:chOff x="533400" y="3992880"/>
            <a:chExt cx="5410200" cy="1218248"/>
          </a:xfrm>
        </p:grpSpPr>
        <p:sp>
          <p:nvSpPr>
            <p:cNvPr id="17" name="Rectangle 17"/>
            <p:cNvSpPr/>
            <p:nvPr/>
          </p:nvSpPr>
          <p:spPr>
            <a:xfrm>
              <a:off x="533400" y="3992880"/>
              <a:ext cx="5410200" cy="1218248"/>
            </a:xfrm>
            <a:prstGeom prst="roundRect">
              <a:avLst>
                <a:gd name="adj" fmla="val 938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38188" y="4502468"/>
              <a:ext cx="200026" cy="200025"/>
              <a:chOff x="738188" y="4502468"/>
              <a:chExt cx="200026" cy="20002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38188" y="450246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77926" y="454691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12642" y="465804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0892" y="4383405"/>
              <a:ext cx="451427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a[i] 为负时，最大值会由上一格的最小值翻过来，所以两条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递推式必须同时更新，而且要用同一轮的旧值。</a:t>
              </a:r>
            </a:p>
          </p:txBody>
        </p:sp>
      </p:grpSp>
      <p:grpSp>
        <p:nvGrpSpPr>
          <p:cNvPr id="70" name="c2-table-1"/>
          <p:cNvGrpSpPr/>
          <p:nvPr/>
        </p:nvGrpSpPr>
        <p:grpSpPr>
          <a:xfrm>
            <a:off x="6243066" y="1941195"/>
            <a:ext cx="5415534" cy="1903666"/>
            <a:chOff x="6243066" y="1941195"/>
            <a:chExt cx="5415534" cy="1903666"/>
          </a:xfrm>
        </p:grpSpPr>
        <p:sp>
          <p:nvSpPr>
            <p:cNvPr id="24" name="Rectangle 24"/>
            <p:cNvSpPr/>
            <p:nvPr/>
          </p:nvSpPr>
          <p:spPr>
            <a:xfrm>
              <a:off x="6248400" y="1941195"/>
              <a:ext cx="541020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651373" y="2065496"/>
              <a:ext cx="589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89774" y="20654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038426" y="20654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88031" y="20654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336684" y="20654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986289" y="20654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635894" y="20654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284546" y="20654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48412" y="2471261"/>
              <a:ext cx="3201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a[i]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50384" y="24712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040500" y="24712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690105" y="24712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338757" y="24712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988362" y="24712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637967" y="24712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245157" y="24712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48400" y="27479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48400" y="275272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48412" y="2877026"/>
              <a:ext cx="3201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f(i)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350384" y="287702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040500" y="28770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690105" y="28770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338757" y="28770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988362" y="28770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69868" y="2762250"/>
              <a:ext cx="630555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96504" y="287702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286620" y="28770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248400" y="31537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348412" y="3282791"/>
              <a:ext cx="3201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g(i)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350384" y="328279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999037" y="328279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−8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690105" y="32827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338757" y="32827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988362" y="32827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637967" y="32827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203694" y="328279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−48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248400" y="1941195"/>
              <a:ext cx="5410200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7109460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7758112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8407718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9057322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9705975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10355580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11004232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243066" y="3639502"/>
              <a:ext cx="26468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答案 48 出现在 i = 5，对应子数组 3, 2, 8</a:t>
              </a:r>
            </a:p>
          </p:txBody>
        </p:sp>
      </p:grpSp>
      <p:grpSp>
        <p:nvGrpSpPr>
          <p:cNvPr id="77" name="c2-card-2"/>
          <p:cNvGrpSpPr/>
          <p:nvPr/>
        </p:nvGrpSpPr>
        <p:grpSpPr>
          <a:xfrm>
            <a:off x="6248400" y="3978592"/>
            <a:ext cx="5410200" cy="1233488"/>
            <a:chOff x="6248400" y="3978592"/>
            <a:chExt cx="5410200" cy="1233488"/>
          </a:xfrm>
        </p:grpSpPr>
        <p:sp>
          <p:nvSpPr>
            <p:cNvPr id="71" name="Rectangle 71"/>
            <p:cNvSpPr/>
            <p:nvPr/>
          </p:nvSpPr>
          <p:spPr>
            <a:xfrm>
              <a:off x="6248400" y="3978592"/>
              <a:ext cx="5410200" cy="1233488"/>
            </a:xfrm>
            <a:prstGeom prst="roundRect">
              <a:avLst>
                <a:gd name="adj" fmla="val 10811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6440805" y="4170998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528245" y="420528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复杂度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157847" y="4210050"/>
              <a:ext cx="19965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 O(n)，空间 O(1)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433947" y="4544378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每个位置做常数次乘法和比较，f 与 g 各用一个变量滚动即可。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435090" y="4842986"/>
              <a:ext cx="43537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前提是乘积不溢出。题目不保证时要改用 long long 或提前判断。</a:t>
              </a:r>
            </a:p>
          </p:txBody>
        </p:sp>
      </p:grpSp>
      <p:grpSp>
        <p:nvGrpSpPr>
          <p:cNvPr id="84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78" name="Rectangle 78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2" name="Group 82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3" name="TextBox 83"/>
            <p:cNvSpPr txBox="1"/>
            <p:nvPr/>
          </p:nvSpPr>
          <p:spPr>
            <a:xfrm>
              <a:off x="1040892" y="6023610"/>
              <a:ext cx="8918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这一题说明状态定义可以不止一个。当递推需要的信息不在当前状态里时，往往是把状态补全，而不是换算法。</a:t>
              </a:r>
            </a:p>
          </p:txBody>
        </p:sp>
      </p:grpSp>
      <p:grpSp>
        <p:nvGrpSpPr>
          <p:cNvPr id="8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5" name="TextBox 85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第5讲 数组与矩阵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436440" cy="3351847"/>
            <a:chOff x="667512" y="1835468"/>
            <a:chExt cx="4436440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区间问题处理技巧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265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四种预处理套路，把每次区间操作压到 O(1)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前缀和查区间和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差分数组改区间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525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 表查区间最值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尺取法找满足条件的区间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第5讲 数组与矩阵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第5讲 数组与矩阵 · 区间问题处理技巧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前缀和：把区间求和变成一次减法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1049781" cy="264033"/>
            <a:chOff x="526542" y="1545907"/>
            <a:chExt cx="11049781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10497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老师要统计学号 i 到学号 j 之间学生的平均分，查询次数 m 可能到 10⁵。每次现场累加是 O(n·m)，1e5 × 1e5 就是 10¹⁰ 次加法，超时。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88"/>
              <p:cNvSpPr txBox="1">
                <a:spLocks noGrp="1"/>
              </p:cNvSpPr>
              <p:nvPr/>
            </p:nvSpPr>
            <p:spPr>
              <a:xfrm>
                <a:off x="533400" y="1928812"/>
                <a:ext cx="54102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su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+⋯+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+⋯+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su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su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p:grpSp>
        <p:nvGrpSpPr>
          <p:cNvPr id="23" name="c1-cells-2"/>
          <p:cNvGrpSpPr/>
          <p:nvPr/>
        </p:nvGrpSpPr>
        <p:grpSpPr>
          <a:xfrm>
            <a:off x="528638" y="2517458"/>
            <a:ext cx="3273742" cy="368618"/>
            <a:chOff x="528638" y="2517458"/>
            <a:chExt cx="3273742" cy="368618"/>
          </a:xfrm>
        </p:grpSpPr>
        <p:sp>
          <p:nvSpPr>
            <p:cNvPr id="10" name="TextBox 10"/>
            <p:cNvSpPr txBox="1"/>
            <p:nvPr/>
          </p:nvSpPr>
          <p:spPr>
            <a:xfrm>
              <a:off x="528638" y="264604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32472" y="2517458"/>
              <a:ext cx="51149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13964" y="264604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244918" y="2517458"/>
              <a:ext cx="51149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460441" y="264604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756410" y="2517458"/>
              <a:ext cx="51149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866980" y="2646045"/>
              <a:ext cx="2894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aᵢ₋₁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2267902" y="2517458"/>
              <a:ext cx="511492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448441" y="264604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aᵢ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779395" y="2517458"/>
              <a:ext cx="511492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995871" y="264604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290888" y="2517458"/>
              <a:ext cx="511492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472379" y="264604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aⱼ</a:t>
              </a:r>
            </a:p>
          </p:txBody>
        </p:sp>
      </p:grpSp>
      <p:grpSp>
        <p:nvGrpSpPr>
          <p:cNvPr id="30" name="c1-card-3"/>
          <p:cNvGrpSpPr/>
          <p:nvPr/>
        </p:nvGrpSpPr>
        <p:grpSpPr>
          <a:xfrm>
            <a:off x="533400" y="3056572"/>
            <a:ext cx="5410200" cy="1463992"/>
            <a:chOff x="533400" y="3056572"/>
            <a:chExt cx="5410200" cy="1463992"/>
          </a:xfrm>
        </p:grpSpPr>
        <p:sp>
          <p:nvSpPr>
            <p:cNvPr id="24" name="Rectangle 24"/>
            <p:cNvSpPr/>
            <p:nvPr/>
          </p:nvSpPr>
          <p:spPr>
            <a:xfrm>
              <a:off x="533400" y="3056572"/>
              <a:ext cx="5410200" cy="1463992"/>
            </a:xfrm>
            <a:prstGeom prst="roundRect">
              <a:avLst>
                <a:gd name="adj" fmla="val 9109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20090" y="324326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04659" y="32761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递推建表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535240" y="3278505"/>
              <a:ext cx="17883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sumᵢ = sumᵢ₋₁ + aᵢ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3232" y="3604260"/>
              <a:ext cx="443712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 sum[0] = 0 出发扫一遍就能建好整张前缀和表，预处理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O(n)。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4375" y="4158139"/>
              <a:ext cx="28061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之后每次区间求和只要一次减法，O(1)。</a:t>
              </a:r>
            </a:p>
          </p:txBody>
        </p:sp>
      </p:grpSp>
      <p:grpSp>
        <p:nvGrpSpPr>
          <p:cNvPr id="37" name="c1-callout-4"/>
          <p:cNvGrpSpPr/>
          <p:nvPr/>
        </p:nvGrpSpPr>
        <p:grpSpPr>
          <a:xfrm>
            <a:off x="533400" y="4690110"/>
            <a:ext cx="5410200" cy="978218"/>
            <a:chOff x="533400" y="4690110"/>
            <a:chExt cx="5410200" cy="978218"/>
          </a:xfrm>
        </p:grpSpPr>
        <p:sp>
          <p:nvSpPr>
            <p:cNvPr id="31" name="Rectangle 31"/>
            <p:cNvSpPr/>
            <p:nvPr/>
          </p:nvSpPr>
          <p:spPr>
            <a:xfrm>
              <a:off x="533400" y="4690110"/>
              <a:ext cx="5410200" cy="978218"/>
            </a:xfrm>
            <a:prstGeom prst="roundRect">
              <a:avLst>
                <a:gd name="adj" fmla="val 1168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26129" y="5075038"/>
              <a:ext cx="224134" cy="192560"/>
              <a:chOff x="726129" y="5075038"/>
              <a:chExt cx="224134" cy="19256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838200" y="514540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26129" y="507503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38200" y="52231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892" y="4835842"/>
              <a:ext cx="4359974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下标要从 1 开始，并且让 sum[0] = 0，这样 i = 1 时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sum[i−1] 才有意义。下标从 0 起算时公式要改成 sum[j]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− sum[i] 并相应调整建表。</a:t>
              </a:r>
            </a:p>
          </p:txBody>
        </p:sp>
      </p:grpSp>
      <p:grpSp>
        <p:nvGrpSpPr>
          <p:cNvPr id="83" name="c2-table-1"/>
          <p:cNvGrpSpPr/>
          <p:nvPr/>
        </p:nvGrpSpPr>
        <p:grpSpPr>
          <a:xfrm>
            <a:off x="6248400" y="1928812"/>
            <a:ext cx="5410200" cy="1200150"/>
            <a:chOff x="6248400" y="1928812"/>
            <a:chExt cx="5410200" cy="1200150"/>
          </a:xfrm>
        </p:grpSpPr>
        <p:sp>
          <p:nvSpPr>
            <p:cNvPr id="38" name="Rectangle 38"/>
            <p:cNvSpPr/>
            <p:nvPr/>
          </p:nvSpPr>
          <p:spPr>
            <a:xfrm>
              <a:off x="6248400" y="1928812"/>
              <a:ext cx="5410200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52326" y="2050256"/>
              <a:ext cx="589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17384" y="20502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821256" y="20502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25129" y="20502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828049" y="20502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331921" y="20502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835794" y="20502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339666" y="20502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842586" y="20502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352174" y="20502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345555" y="24503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277994" y="24503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781867" y="24503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85739" y="24503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788659" y="24503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292532" y="24503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796404" y="24503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300277" y="24503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803197" y="24503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312784" y="24503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90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248400" y="272415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248400" y="2728912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345555" y="2850356"/>
              <a:ext cx="3043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sum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277994" y="28503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7627620" y="2738438"/>
              <a:ext cx="484822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781867" y="28503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285739" y="28503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747196" y="285035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251069" y="285035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150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9643110" y="2738438"/>
              <a:ext cx="484822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754941" y="285035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210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258814" y="285035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280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761734" y="285035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360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271321" y="285035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450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248400" y="1928812"/>
              <a:ext cx="5410200" cy="12001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7110412" y="1928812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7613332" y="1928812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8117205" y="1928812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8621078" y="1928812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9124950" y="1928812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9628822" y="1928812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10131742" y="1928812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10635615" y="1928812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11139488" y="1928812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1" name="c2-card-2"/>
          <p:cNvGrpSpPr/>
          <p:nvPr/>
        </p:nvGrpSpPr>
        <p:grpSpPr>
          <a:xfrm>
            <a:off x="6248400" y="3298508"/>
            <a:ext cx="5410200" cy="2369820"/>
            <a:chOff x="6248400" y="3298508"/>
            <a:chExt cx="5410200" cy="2369820"/>
          </a:xfrm>
        </p:grpSpPr>
        <p:sp>
          <p:nvSpPr>
            <p:cNvPr id="84" name="Rectangle 84"/>
            <p:cNvSpPr/>
            <p:nvPr/>
          </p:nvSpPr>
          <p:spPr>
            <a:xfrm>
              <a:off x="6248400" y="3298508"/>
              <a:ext cx="5410200" cy="2369820"/>
            </a:xfrm>
            <a:prstGeom prst="roundRect">
              <a:avLst>
                <a:gd name="adj" fmla="val 562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6257925" y="3431858"/>
              <a:ext cx="47625" cy="21031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6473190" y="3485198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568961" y="351805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914960" y="3520440"/>
              <a:ext cx="17247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查学号 3 到 6 的总分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6466332" y="3846195"/>
              <a:ext cx="477702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sum₆ − sum₂ = 210 − 30 = </a:t>
              </a: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180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，平均分 180 / 4 = 45，与逐个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相加 30+40+50+60 = 180 一致。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6467475" y="4400074"/>
              <a:ext cx="28082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查学号 1 到 9：450 − 0 = 450，平均 50。</a:t>
              </a:r>
            </a:p>
          </p:txBody>
        </p:sp>
      </p:grpSp>
      <p:grpSp>
        <p:nvGrpSpPr>
          <p:cNvPr id="97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92" name="Rectangle 92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95" name="Group 95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96" name="TextBox 96"/>
            <p:cNvSpPr txBox="1"/>
            <p:nvPr/>
          </p:nvSpPr>
          <p:spPr>
            <a:xfrm>
              <a:off x="1040892" y="6028373"/>
              <a:ext cx="89370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前缀和的适用场合是“数组本身不被修改，却要频繁查询某个区间的累加和”。一旦数组会变，整张表就得重建。</a:t>
              </a:r>
            </a:p>
          </p:txBody>
        </p:sp>
      </p:grpSp>
      <p:grpSp>
        <p:nvGrpSpPr>
          <p:cNvPr id="10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8" name="TextBox 98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第5讲 数组与矩阵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90719" cy="909257"/>
            <a:chOff x="520446" y="342900"/>
            <a:chExt cx="789071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第5讲 数组与矩阵 · 区间问题处理技巧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9071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前缀和的完整程序：预处理 O(n)，每次查询 O(1)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9740760" cy="264033"/>
            <a:chOff x="526542" y="1545907"/>
            <a:chExt cx="974076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97407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这是吉林大学 2019 级上机考试题，也是洛谷 B3612。输入 n 个成绩和 m 个查询，每个查询输出区间平均分并截尾取整。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5842635" cy="3349942"/>
            <a:chOff x="533400" y="1928812"/>
            <a:chExt cx="5842635" cy="334994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842635" cy="3349942"/>
            </a:xfrm>
            <a:prstGeom prst="roundRect">
              <a:avLst>
                <a:gd name="adj" fmla="val 284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7201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洛谷 B3612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988" y="2339816"/>
              <a:ext cx="2941066" cy="2853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#include &lt;stdio.h&gt;</a:t>
              </a:r>
              <a:br/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const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 = 1e5 + 10;</a:t>
              </a:r>
              <a:br/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sum[N], a[N];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放在函数外，避免占栈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m, i, j;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sum[0] = 0;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scanf(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"%d"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&amp;n);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1; i &lt;= n; i++)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scanf(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"%d"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&amp;a[i]);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sum[i] = sum[i-1] + a[i];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scanf(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"%d"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&amp;m);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(m--)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scanf(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"%d %d"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&amp;i, &amp;j);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printf(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"%d\n"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sum[j] - sum[i-1]);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0;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2" name="c2-card-1"/>
          <p:cNvGrpSpPr/>
          <p:nvPr/>
        </p:nvGrpSpPr>
        <p:grpSpPr>
          <a:xfrm>
            <a:off x="6680835" y="1928812"/>
            <a:ext cx="4977765" cy="2200275"/>
            <a:chOff x="6680835" y="1928812"/>
            <a:chExt cx="4977765" cy="2200275"/>
          </a:xfrm>
        </p:grpSpPr>
        <p:sp>
          <p:nvSpPr>
            <p:cNvPr id="13" name="Rectangle 13"/>
            <p:cNvSpPr/>
            <p:nvPr/>
          </p:nvSpPr>
          <p:spPr>
            <a:xfrm>
              <a:off x="6680835" y="1928812"/>
              <a:ext cx="4977765" cy="2200275"/>
            </a:xfrm>
            <a:prstGeom prst="roundRect">
              <a:avLst>
                <a:gd name="adj" fmla="val 60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6690360" y="2062162"/>
              <a:ext cx="47625" cy="19335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899910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992582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893433" y="2449354"/>
              <a:ext cx="435330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 `sum[N]`、`a[N]` 声明成 main 里的局部数组。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1e5+10 时两个数组约 800 KB，接近 Windows 默认 1 MB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的栈上限，很容易崩。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6909435" y="327279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064883" y="3220879"/>
              <a:ext cx="25028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已移到函数外（或加 `static`）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6909435" y="355758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064883" y="3505676"/>
              <a:ext cx="41907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原代码还多了一句 `using namespace std;`，C 程序里不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该出现，已删掉</a:t>
              </a:r>
            </a:p>
          </p:txBody>
        </p:sp>
      </p:grpSp>
      <p:grpSp>
        <p:nvGrpSpPr>
          <p:cNvPr id="29" name="c2-card-2"/>
          <p:cNvGrpSpPr/>
          <p:nvPr/>
        </p:nvGrpSpPr>
        <p:grpSpPr>
          <a:xfrm>
            <a:off x="6680835" y="4292918"/>
            <a:ext cx="4977765" cy="1406842"/>
            <a:chOff x="6680835" y="4292918"/>
            <a:chExt cx="4977765" cy="1406842"/>
          </a:xfrm>
        </p:grpSpPr>
        <p:sp>
          <p:nvSpPr>
            <p:cNvPr id="23" name="Rectangle 23"/>
            <p:cNvSpPr/>
            <p:nvPr/>
          </p:nvSpPr>
          <p:spPr>
            <a:xfrm>
              <a:off x="6680835" y="4292918"/>
              <a:ext cx="4977765" cy="1406842"/>
            </a:xfrm>
            <a:prstGeom prst="roundRect">
              <a:avLst>
                <a:gd name="adj" fmla="val 9479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861810" y="447389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947332" y="450675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总复杂度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77341" y="4514374"/>
              <a:ext cx="8056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O(n + m)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55333" y="4830604"/>
              <a:ext cx="429641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建表 O(n)，m 次查询各 O(1)。n = m = 10⁵ 时约 2×10⁵ 次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运算，而暴力法是 10¹⁰ 次。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56476" y="5354955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前提：数组在查询期间不被修改。</a:t>
              </a:r>
            </a:p>
          </p:txBody>
        </p:sp>
      </p:grpSp>
      <p:grpSp>
        <p:nvGrpSpPr>
          <p:cNvPr id="36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0" name="Rectangle 3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1273" y="6039326"/>
              <a:ext cx="75858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题目要的是平均分，把和除以区间长度 j − i + 1 即可；C 的整数除法本身就是截尾，不用额外取整。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第5讲 数组与矩阵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第5讲 数组与矩阵 · 区间问题处理技巧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差分数组：把区间加变成两次单点加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0732770" cy="293370"/>
            <a:chOff x="525780" y="1548765"/>
            <a:chExt cx="1073277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0732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现在反过来，要对区间 i 到 j 的所有元素加上 d，做 m 次，最后才要结果。暴力做法每次都要改一整段，仍是 O(n·m)。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91"/>
              <p:cNvSpPr txBox="1">
                <a:spLocks noGrp="1"/>
              </p:cNvSpPr>
              <p:nvPr/>
            </p:nvSpPr>
            <p:spPr>
              <a:xfrm>
                <a:off x="533400" y="1954530"/>
                <a:ext cx="5193982" cy="6915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diff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p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diff</m:t>
                          </m:r>
                          <m:d>
                            <m:dPr>
                              <m:begChr m:val="["/>
                              <m:sepChr m:val=""/>
                              <m:endChr m:val="]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e>
                          </m:d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19" name="c1-card-2"/>
          <p:cNvGrpSpPr/>
          <p:nvPr/>
        </p:nvGrpSpPr>
        <p:grpSpPr>
          <a:xfrm>
            <a:off x="533400" y="2831782"/>
            <a:ext cx="5193982" cy="1933575"/>
            <a:chOff x="533400" y="2831782"/>
            <a:chExt cx="5193982" cy="1933575"/>
          </a:xfrm>
        </p:grpSpPr>
        <p:sp>
          <p:nvSpPr>
            <p:cNvPr id="10" name="Rectangle 10"/>
            <p:cNvSpPr/>
            <p:nvPr/>
          </p:nvSpPr>
          <p:spPr>
            <a:xfrm>
              <a:off x="533400" y="2831782"/>
              <a:ext cx="5193982" cy="1933575"/>
            </a:xfrm>
            <a:prstGeom prst="roundRect">
              <a:avLst>
                <a:gd name="adj" fmla="val 689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37235" y="3035618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19544" y="307133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关键观察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22488" y="3075146"/>
              <a:ext cx="24790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整段加 d，差分只在两处变化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29996" y="3426619"/>
              <a:ext cx="449592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区间内部相邻两项同时加 d，差值不变；只有区间的左端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点和右端点的右邻，差值才被改动。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44855" y="4078605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01446" y="4018121"/>
              <a:ext cx="347448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`diff[i] += d`，让 a[i] 起往后都抬高 d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44855" y="4398645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1446" y="4338161"/>
              <a:ext cx="46023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`if (j &lt; n) diff[j+1] -= d`，把 a[j+1] 起的抬升撤掉</a:t>
              </a:r>
            </a:p>
          </p:txBody>
        </p:sp>
      </p:grpSp>
      <p:grpSp>
        <p:nvGrpSpPr>
          <p:cNvPr id="26" name="c1-callout-3"/>
          <p:cNvGrpSpPr/>
          <p:nvPr/>
        </p:nvGrpSpPr>
        <p:grpSpPr>
          <a:xfrm>
            <a:off x="533400" y="4950142"/>
            <a:ext cx="5193982" cy="1018222"/>
            <a:chOff x="533400" y="4950142"/>
            <a:chExt cx="5193982" cy="1018222"/>
          </a:xfrm>
        </p:grpSpPr>
        <p:sp>
          <p:nvSpPr>
            <p:cNvPr id="20" name="Rectangle 20"/>
            <p:cNvSpPr/>
            <p:nvPr/>
          </p:nvSpPr>
          <p:spPr>
            <a:xfrm>
              <a:off x="533400" y="4950142"/>
              <a:ext cx="5193982" cy="1018222"/>
            </a:xfrm>
            <a:prstGeom prst="roundRect">
              <a:avLst>
                <a:gd name="adj" fmla="val 1122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26129" y="5356026"/>
              <a:ext cx="224134" cy="192560"/>
              <a:chOff x="726129" y="5356026"/>
              <a:chExt cx="224134" cy="19256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38200" y="542639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26129" y="535602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38200" y="550418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511" y="5097304"/>
              <a:ext cx="4315587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一次区间操作 O(1)，但代价是操作期间读不到 a 的真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实值。所有操作做完后要用前缀和还原一遍 a，这一步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O(n)。</a:t>
              </a:r>
            </a:p>
          </p:txBody>
        </p:sp>
      </p:grpSp>
      <p:grpSp>
        <p:nvGrpSpPr>
          <p:cNvPr id="77" name="c2-cells-1"/>
          <p:cNvGrpSpPr/>
          <p:nvPr/>
        </p:nvGrpSpPr>
        <p:grpSpPr>
          <a:xfrm>
            <a:off x="6027230" y="1954530"/>
            <a:ext cx="3745420" cy="1375886"/>
            <a:chOff x="6027230" y="1954530"/>
            <a:chExt cx="3745420" cy="1375886"/>
          </a:xfrm>
        </p:grpSpPr>
        <p:sp>
          <p:nvSpPr>
            <p:cNvPr id="27" name="TextBox 27"/>
            <p:cNvSpPr txBox="1"/>
            <p:nvPr/>
          </p:nvSpPr>
          <p:spPr>
            <a:xfrm>
              <a:off x="6027230" y="209692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419850" y="195453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86353" y="209692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838950" y="195453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005453" y="209692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258050" y="195453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424553" y="209692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677150" y="195453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843653" y="209692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096250" y="195453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262753" y="209692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515350" y="195453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681853" y="209692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934450" y="195453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062859" y="209692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353550" y="195453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520053" y="209692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94281" y="24150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13381" y="24150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432481" y="24150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851581" y="24150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270681" y="24150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689781" y="24150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108881" y="24150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527981" y="24150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027230" y="2851309"/>
              <a:ext cx="2800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diff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419850" y="2707958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586353" y="285130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838950" y="2707958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005453" y="285130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258050" y="2707958"/>
              <a:ext cx="419100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424553" y="285130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677150" y="2707958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843653" y="285130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096250" y="2707958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262753" y="285130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8515350" y="2707958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643759" y="285130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934450" y="2707958"/>
              <a:ext cx="419100" cy="40671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100953" y="285130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9353550" y="2707958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481959" y="285130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-3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594281" y="31684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013381" y="31684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432481" y="31684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851581" y="31684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270681" y="31684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689781" y="31684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108881" y="31684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527981" y="31684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  <p:grpSp>
        <p:nvGrpSpPr>
          <p:cNvPr id="85" name="c2-card-2"/>
          <p:cNvGrpSpPr/>
          <p:nvPr/>
        </p:nvGrpSpPr>
        <p:grpSpPr>
          <a:xfrm>
            <a:off x="6032182" y="3481388"/>
            <a:ext cx="5626418" cy="1524000"/>
            <a:chOff x="6032182" y="3481388"/>
            <a:chExt cx="5626418" cy="1524000"/>
          </a:xfrm>
        </p:grpSpPr>
        <p:sp>
          <p:nvSpPr>
            <p:cNvPr id="78" name="Rectangle 78"/>
            <p:cNvSpPr/>
            <p:nvPr/>
          </p:nvSpPr>
          <p:spPr>
            <a:xfrm>
              <a:off x="6032182" y="3481388"/>
              <a:ext cx="5626418" cy="1524000"/>
            </a:xfrm>
            <a:prstGeom prst="roundRect">
              <a:avLst>
                <a:gd name="adj" fmla="val 87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6041708" y="3614738"/>
              <a:ext cx="47625" cy="12573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6274118" y="3685222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368275" y="372094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732651" y="3724751"/>
              <a:ext cx="13502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a[3…6] 加 3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266879" y="4076224"/>
              <a:ext cx="48761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diff[3] 由 3 变成 </a:t>
              </a: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6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，diff[7] 由 2 变成 </a:t>
              </a:r>
              <a:r>
                <a:rPr lang="zh-CN" sz="14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−1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，其余不动。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268022" y="4392930"/>
              <a:ext cx="48508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还原：a 变成 1, 2, 8, 9, 12, 11, 10, 7，正好是 a[3] 到 a[6] 各加了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3。</a:t>
              </a:r>
            </a:p>
          </p:txBody>
        </p:sp>
      </p:grpSp>
      <p:grpSp>
        <p:nvGrpSpPr>
          <p:cNvPr id="92" name="c2-callout-3"/>
          <p:cNvGrpSpPr/>
          <p:nvPr/>
        </p:nvGrpSpPr>
        <p:grpSpPr>
          <a:xfrm>
            <a:off x="6032182" y="5190172"/>
            <a:ext cx="5626418" cy="778192"/>
            <a:chOff x="6032182" y="5190172"/>
            <a:chExt cx="5626418" cy="778192"/>
          </a:xfrm>
        </p:grpSpPr>
        <p:sp>
          <p:nvSpPr>
            <p:cNvPr id="86" name="Rectangle 86"/>
            <p:cNvSpPr/>
            <p:nvPr/>
          </p:nvSpPr>
          <p:spPr>
            <a:xfrm>
              <a:off x="6032182" y="5190172"/>
              <a:ext cx="5626418" cy="778192"/>
            </a:xfrm>
            <a:prstGeom prst="roundRect">
              <a:avLst>
                <a:gd name="adj" fmla="val 14688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90" name="Group 90"/>
            <p:cNvGrpSpPr/>
            <p:nvPr/>
          </p:nvGrpSpPr>
          <p:grpSpPr>
            <a:xfrm>
              <a:off x="6236970" y="5479733"/>
              <a:ext cx="200026" cy="200026"/>
              <a:chOff x="6236970" y="5479733"/>
              <a:chExt cx="200026" cy="200026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6236970" y="547973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6336983" y="55464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6325870" y="557974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91" name="TextBox 91"/>
            <p:cNvSpPr txBox="1"/>
            <p:nvPr/>
          </p:nvSpPr>
          <p:spPr>
            <a:xfrm>
              <a:off x="6539294" y="5348764"/>
              <a:ext cx="473036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差分数组和前缀和互为逆运算：对 a 求差分再求前缀和，得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 a 本身。一个查区间，一个改区间。</a:t>
              </a:r>
            </a:p>
          </p:txBody>
        </p:sp>
      </p:grpSp>
      <p:grpSp>
        <p:nvGrpSpPr>
          <p:cNvPr id="9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3" name="TextBox 93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第5讲 数组与矩阵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第5讲 数组与矩阵 · 区间问题处理技巧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差分数组的执行过程：三次区间加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0009251" cy="264033"/>
            <a:chOff x="526542" y="1545907"/>
            <a:chExt cx="10009251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00092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初始 a = 6, 10, 20, 29, 35, 50, 60, 70, 80（下标 1 到 9），依次做三次操作：对 3…6 加 8、对 4…7 加 10、对 2…8 加 2。</a:t>
              </a:r>
            </a:p>
          </p:txBody>
        </p:sp>
      </p:grpSp>
      <p:grpSp>
        <p:nvGrpSpPr>
          <p:cNvPr id="84" name="c1-table-1"/>
          <p:cNvGrpSpPr/>
          <p:nvPr/>
        </p:nvGrpSpPr>
        <p:grpSpPr>
          <a:xfrm>
            <a:off x="528447" y="1928812"/>
            <a:ext cx="11130153" cy="2364772"/>
            <a:chOff x="528447" y="1928812"/>
            <a:chExt cx="11130153" cy="236477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11125200" cy="420052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586192" y="204930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阶段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420392" y="204930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83370" y="204930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345395" y="204930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08372" y="204930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71350" y="204930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33375" y="204930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196352" y="204930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158377" y="204930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121355" y="204930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6935" y="2470309"/>
              <a:ext cx="511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 a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22762" y="247030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38353" y="247030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300378" y="247030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263356" y="247030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26333" y="247030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88358" y="247030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151336" y="247030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113361" y="247030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076338" y="247030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276415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3400" y="2768918"/>
              <a:ext cx="11125200" cy="42005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26935" y="2890361"/>
              <a:ext cx="10455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 3 6 8 后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422762" y="289036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338353" y="289036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300378" y="289036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63356" y="289036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226333" y="289036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88358" y="289036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151336" y="289036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113361" y="289036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076338" y="289036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318420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26935" y="3310414"/>
              <a:ext cx="11450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 4 7 10 后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422762" y="33104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338353" y="33104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300378" y="33104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263356" y="33104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226333" y="33104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188358" y="33104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68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151336" y="33104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113361" y="33104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076338" y="33104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33400" y="36052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533400" y="3609975"/>
              <a:ext cx="11125200" cy="42005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26935" y="3730466"/>
              <a:ext cx="10455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 2 8 2 后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3005138" y="3619500"/>
              <a:ext cx="943928" cy="401002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3422762" y="373046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3968115" y="3619500"/>
              <a:ext cx="943928" cy="401002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4338353" y="373046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4930140" y="3619500"/>
              <a:ext cx="943928" cy="401002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300378" y="373046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893118" y="3619500"/>
              <a:ext cx="943928" cy="401002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263356" y="373046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855142" y="3619500"/>
              <a:ext cx="943928" cy="401002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226333" y="373046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7818120" y="3619500"/>
              <a:ext cx="943928" cy="401002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188358" y="373046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8780145" y="3619500"/>
              <a:ext cx="943928" cy="401002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151336" y="373046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72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9743122" y="3619500"/>
              <a:ext cx="943928" cy="401002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0113361" y="373046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72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076338" y="373046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533400" y="1928812"/>
              <a:ext cx="11125200" cy="2101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2990850" y="1928812"/>
              <a:ext cx="9525" cy="2101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3953828" y="1928812"/>
              <a:ext cx="9525" cy="2101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4915852" y="1928812"/>
              <a:ext cx="9525" cy="2101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5878830" y="1928812"/>
              <a:ext cx="9525" cy="2101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6840855" y="1928812"/>
              <a:ext cx="9525" cy="2101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7803832" y="1928812"/>
              <a:ext cx="9525" cy="2101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8765858" y="1928812"/>
              <a:ext cx="9525" cy="2101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9728835" y="1928812"/>
              <a:ext cx="9525" cy="2101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10690860" y="1928812"/>
              <a:ext cx="9525" cy="2101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528447" y="4102894"/>
              <a:ext cx="38555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表里是每次操作后 a 的真实值，实际运行时这三行并不会被算出来</a:t>
              </a:r>
            </a:p>
          </p:txBody>
        </p:sp>
      </p:grpSp>
      <p:grpSp>
        <p:nvGrpSpPr>
          <p:cNvPr id="91" name="c1-card-2"/>
          <p:cNvGrpSpPr/>
          <p:nvPr/>
        </p:nvGrpSpPr>
        <p:grpSpPr>
          <a:xfrm>
            <a:off x="533400" y="4420552"/>
            <a:ext cx="11125200" cy="1303020"/>
            <a:chOff x="533400" y="4420552"/>
            <a:chExt cx="11125200" cy="1303020"/>
          </a:xfrm>
        </p:grpSpPr>
        <p:sp>
          <p:nvSpPr>
            <p:cNvPr id="85" name="Rectangle 85"/>
            <p:cNvSpPr/>
            <p:nvPr/>
          </p:nvSpPr>
          <p:spPr>
            <a:xfrm>
              <a:off x="533400" y="4420552"/>
              <a:ext cx="11125200" cy="1303020"/>
            </a:xfrm>
            <a:prstGeom prst="roundRect">
              <a:avLst>
                <a:gd name="adj" fmla="val 1023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714375" y="4601528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791794" y="463438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实际发生的事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778508" y="4641056"/>
              <a:ext cx="22887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三次操作一共只改了 6 个位置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07898" y="4957286"/>
              <a:ext cx="105757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操作一改 diff[3] 和 diff[7]，操作二改 diff[4] 和 diff[8]，操作三改 diff[2] 和 diff[9]。最后一次前缀和还原，直接得到最后一行。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709041" y="5238750"/>
              <a:ext cx="43925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暴力做法要改 4 + 4 + 7 = 15 个位置，n 和 m 大起来差距就是量级的。</a:t>
              </a:r>
            </a:p>
          </p:txBody>
        </p:sp>
      </p:grpSp>
      <p:grpSp>
        <p:nvGrpSpPr>
          <p:cNvPr id="98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92" name="Rectangle 92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96" name="Group 96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5" name="Freeform 95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97" name="TextBox 97"/>
            <p:cNvSpPr txBox="1"/>
            <p:nvPr/>
          </p:nvSpPr>
          <p:spPr>
            <a:xfrm>
              <a:off x="1041273" y="6039326"/>
              <a:ext cx="94902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用脚本把暴力逐格修改和差分法还原的结果对比过，两者完全一致。做题时也建议这样自检：小数据暴力对拍，再上大数据。</a:t>
              </a:r>
            </a:p>
          </p:txBody>
        </p:sp>
      </p:grpSp>
      <p:grpSp>
        <p:nvGrpSpPr>
          <p:cNvPr id="10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9" name="TextBox 99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第5讲 数组与矩阵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第5讲 数组与矩阵 · 区间问题处理技巧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差分数组的完整代码与适用场合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842635" cy="3050858"/>
            <a:chOff x="533400" y="1524000"/>
            <a:chExt cx="5842635" cy="30508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050858"/>
            </a:xfrm>
            <a:prstGeom prst="roundRect">
              <a:avLst>
                <a:gd name="adj" fmla="val 312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7201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洛谷 P2367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004"/>
              <a:ext cx="3425317" cy="25546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const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 = 5e6 + 10;</a:t>
              </a:r>
              <a:br/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diff[N];   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放在函数外，20 MB 放不进栈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RangeIncrement(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a[],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i, j, d;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diff[1] = a[1];      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建差分数组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2; i &lt;= n; i++)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diff[i] = a[i] - a[i-1];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(m--) {                    /* 对 a[i]…a[j] 加 d */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scanf(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"%d %d %d"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&amp;i, &amp;j, &amp;d);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diff[i] += d;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&lt; n) diff[j+1] -= d;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a[1] = diff[1];      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前缀和还原 a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2; i &lt;= n; i++)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a[i] = a[i-1] + diff[i];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5" name="c1-card-2"/>
          <p:cNvGrpSpPr/>
          <p:nvPr/>
        </p:nvGrpSpPr>
        <p:grpSpPr>
          <a:xfrm>
            <a:off x="533400" y="4739640"/>
            <a:ext cx="5842635" cy="901065"/>
            <a:chOff x="533400" y="4739640"/>
            <a:chExt cx="5842635" cy="901065"/>
          </a:xfrm>
        </p:grpSpPr>
        <p:sp>
          <p:nvSpPr>
            <p:cNvPr id="11" name="Rectangle 11"/>
            <p:cNvSpPr/>
            <p:nvPr/>
          </p:nvSpPr>
          <p:spPr>
            <a:xfrm>
              <a:off x="533400" y="4739640"/>
              <a:ext cx="5842635" cy="901065"/>
            </a:xfrm>
            <a:prstGeom prst="roundRect">
              <a:avLst>
                <a:gd name="adj" fmla="val 14799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14375" y="4920615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87743" y="4953476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三段代码的分工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07898" y="5261134"/>
              <a:ext cx="55796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建表 O(n)，m 次区间操作各 O(1)，还原 O(n)。中间那段完全不碰 a。</a:t>
              </a:r>
            </a:p>
          </p:txBody>
        </p:sp>
      </p:grpSp>
      <p:grpSp>
        <p:nvGrpSpPr>
          <p:cNvPr id="23" name="c2-card-1"/>
          <p:cNvGrpSpPr/>
          <p:nvPr/>
        </p:nvGrpSpPr>
        <p:grpSpPr>
          <a:xfrm>
            <a:off x="6680835" y="1524000"/>
            <a:ext cx="4977765" cy="1671638"/>
            <a:chOff x="6680835" y="1524000"/>
            <a:chExt cx="4977765" cy="1671638"/>
          </a:xfrm>
        </p:grpSpPr>
        <p:sp>
          <p:nvSpPr>
            <p:cNvPr id="16" name="Rectangle 16"/>
            <p:cNvSpPr/>
            <p:nvPr/>
          </p:nvSpPr>
          <p:spPr>
            <a:xfrm>
              <a:off x="6680835" y="1524000"/>
              <a:ext cx="4977765" cy="1671638"/>
            </a:xfrm>
            <a:prstGeom prst="roundRect">
              <a:avLst>
                <a:gd name="adj" fmla="val 79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690360" y="1657350"/>
              <a:ext cx="47625" cy="14049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899910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992582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893433" y="2045494"/>
              <a:ext cx="428828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 `int diff[5000010]` 写在函数体里，约 20 MB，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必定栈溢出。已移到函数外。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6909435" y="262509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064883" y="2573179"/>
              <a:ext cx="421513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原代码里的双引号是中文弯引号，C 编译器不接受，已换成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ASCII 引号</a:t>
              </a:r>
            </a:p>
          </p:txBody>
        </p:sp>
      </p:grpSp>
      <p:grpSp>
        <p:nvGrpSpPr>
          <p:cNvPr id="29" name="c2-card-2"/>
          <p:cNvGrpSpPr/>
          <p:nvPr/>
        </p:nvGrpSpPr>
        <p:grpSpPr>
          <a:xfrm>
            <a:off x="6680835" y="3360420"/>
            <a:ext cx="4977765" cy="1160145"/>
            <a:chOff x="6680835" y="3360420"/>
            <a:chExt cx="4977765" cy="1160145"/>
          </a:xfrm>
        </p:grpSpPr>
        <p:sp>
          <p:nvSpPr>
            <p:cNvPr id="24" name="Rectangle 24"/>
            <p:cNvSpPr/>
            <p:nvPr/>
          </p:nvSpPr>
          <p:spPr>
            <a:xfrm>
              <a:off x="6680835" y="3360420"/>
              <a:ext cx="4977765" cy="1160145"/>
            </a:xfrm>
            <a:prstGeom prst="roundRect">
              <a:avLst>
                <a:gd name="adj" fmla="val 1149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861810" y="3541395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950431" y="357425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复杂度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52563" y="3581876"/>
              <a:ext cx="37738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预处理 O(n)，每次区间操作 O(1)，还原 O(n)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55333" y="3898106"/>
              <a:ext cx="434761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总计 </a:t>
              </a:r>
              <a:r>
                <a:rPr lang="en-US" sz="128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O(n + m)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。前提是所有修改做完之后才需要读 a；中途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要查值就得先还原，优势就没了。</a:t>
              </a:r>
            </a:p>
          </p:txBody>
        </p:sp>
      </p:grpSp>
      <p:grpSp>
        <p:nvGrpSpPr>
          <p:cNvPr id="36" name="c2-callout-3"/>
          <p:cNvGrpSpPr/>
          <p:nvPr/>
        </p:nvGrpSpPr>
        <p:grpSpPr>
          <a:xfrm>
            <a:off x="6680835" y="4686300"/>
            <a:ext cx="4977765" cy="955358"/>
            <a:chOff x="6680835" y="4686300"/>
            <a:chExt cx="4977765" cy="955358"/>
          </a:xfrm>
        </p:grpSpPr>
        <p:sp>
          <p:nvSpPr>
            <p:cNvPr id="30" name="Rectangle 30"/>
            <p:cNvSpPr/>
            <p:nvPr/>
          </p:nvSpPr>
          <p:spPr>
            <a:xfrm>
              <a:off x="6680835" y="4686300"/>
              <a:ext cx="4977765" cy="955358"/>
            </a:xfrm>
            <a:prstGeom prst="roundRect">
              <a:avLst>
                <a:gd name="adj" fmla="val 1196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6885623" y="5063490"/>
              <a:ext cx="200026" cy="200025"/>
              <a:chOff x="6885623" y="5063490"/>
              <a:chExt cx="200026" cy="200025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6885623" y="506349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925361" y="510794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960077" y="521906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7188708" y="4839176"/>
              <a:ext cx="4052570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课下思考：若 a 的下标从 0 开始，把 diff[1] = a[1] 改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成 diff[0] = a[0]，循环起点改为 1，右端判断改成 if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(j &lt; n−1) diff[j+1] -= d。</a:t>
              </a:r>
            </a:p>
          </p:txBody>
        </p:sp>
      </p:grpSp>
      <p:grpSp>
        <p:nvGrpSpPr>
          <p:cNvPr id="42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7" name="Rectangle 37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1273" y="6039326"/>
              <a:ext cx="83077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前缀和对应“只查不改”，差分数组对应“只改不查”。两者都靠一次 O(n) 的预处理，把单次操作压到 O(1)。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第5讲 数组与矩阵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36002" cy="909257"/>
            <a:chOff x="520446" y="342900"/>
            <a:chExt cx="513600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第5讲 数组与矩阵 · 区间问题处理技巧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3600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区间最值与 ST 表：用倍增拆区间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11296909" cy="278702"/>
            <a:chOff x="526161" y="1547336"/>
            <a:chExt cx="11296909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112969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做 m 次查询，每次问区间 i 到 j 的最大值（RMQ）。暴力仍是 O(n·m)。ST 表的思路是预先算好所有长度为 2 的幂的区间的最大值。</a:t>
              </a:r>
            </a:p>
          </p:txBody>
        </p:sp>
      </p:grpSp>
      <p:grpSp>
        <p:nvGrpSpPr>
          <p:cNvPr id="15" name="c1-card-1"/>
          <p:cNvGrpSpPr/>
          <p:nvPr/>
        </p:nvGrpSpPr>
        <p:grpSpPr>
          <a:xfrm>
            <a:off x="533400" y="1941195"/>
            <a:ext cx="5410200" cy="1272540"/>
            <a:chOff x="533400" y="1941195"/>
            <a:chExt cx="5410200" cy="1272540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410200" cy="1272540"/>
            </a:xfrm>
            <a:prstGeom prst="roundRect">
              <a:avLst>
                <a:gd name="adj" fmla="val 104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74545"/>
              <a:ext cx="47625" cy="100584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3905" y="213360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7344" y="216789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状态定义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7047" y="2490788"/>
              <a:ext cx="42439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F(i, j) = 从下标 i 开始、长度为 2ʲ 的区间的最大值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7047" y="2810827"/>
              <a:ext cx="33031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也就是子区间 [i, i + 2ʲ − 1] 的最大值。</a:t>
              </a:r>
            </a:p>
          </p:txBody>
        </p:sp>
      </p:grpSp>
      <p:grpSp>
        <p:nvGrpSpPr>
          <p:cNvPr id="28" name="c1-graph-2"/>
          <p:cNvGrpSpPr/>
          <p:nvPr/>
        </p:nvGrpSpPr>
        <p:grpSpPr>
          <a:xfrm>
            <a:off x="1493520" y="3532346"/>
            <a:ext cx="3593783" cy="1883569"/>
            <a:chOff x="1493520" y="3532346"/>
            <a:chExt cx="3593783" cy="1883569"/>
          </a:xfrm>
        </p:grpSpPr>
        <p:sp>
          <p:nvSpPr>
            <p:cNvPr id="16" name="Freeform 16"/>
            <p:cNvSpPr/>
            <p:nvPr/>
          </p:nvSpPr>
          <p:spPr>
            <a:xfrm>
              <a:off x="2271712" y="4453890"/>
              <a:ext cx="680085" cy="555307"/>
            </a:xfrm>
            <a:custGeom>
              <a:avLst/>
              <a:gdLst/>
              <a:ahLst/>
              <a:cxnLst/>
              <a:rect l="l" t="t" r="r" b="b"/>
              <a:pathLst>
                <a:path w="680085" h="555307">
                  <a:moveTo>
                    <a:pt x="0" y="0"/>
                  </a:moveTo>
                  <a:lnTo>
                    <a:pt x="680085" y="55530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2922270" y="4972050"/>
              <a:ext cx="103822" cy="97155"/>
            </a:xfrm>
            <a:custGeom>
              <a:avLst/>
              <a:gdLst/>
              <a:ahLst/>
              <a:cxnLst/>
              <a:rect l="l" t="t" r="r" b="b"/>
              <a:pathLst>
                <a:path w="103822" h="97155">
                  <a:moveTo>
                    <a:pt x="103822" y="97155"/>
                  </a:moveTo>
                  <a:lnTo>
                    <a:pt x="0" y="74295"/>
                  </a:lnTo>
                  <a:lnTo>
                    <a:pt x="6000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3525202" y="4453890"/>
              <a:ext cx="680085" cy="555307"/>
            </a:xfrm>
            <a:custGeom>
              <a:avLst/>
              <a:gdLst/>
              <a:ahLst/>
              <a:cxnLst/>
              <a:rect l="l" t="t" r="r" b="b"/>
              <a:pathLst>
                <a:path w="680085" h="555307">
                  <a:moveTo>
                    <a:pt x="680085" y="0"/>
                  </a:moveTo>
                  <a:lnTo>
                    <a:pt x="0" y="55530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3450908" y="4972050"/>
              <a:ext cx="103822" cy="97155"/>
            </a:xfrm>
            <a:custGeom>
              <a:avLst/>
              <a:gdLst/>
              <a:ahLst/>
              <a:cxnLst/>
              <a:rect l="l" t="t" r="r" b="b"/>
              <a:pathLst>
                <a:path w="103822" h="97155">
                  <a:moveTo>
                    <a:pt x="0" y="97155"/>
                  </a:moveTo>
                  <a:lnTo>
                    <a:pt x="43815" y="0"/>
                  </a:lnTo>
                  <a:lnTo>
                    <a:pt x="103822" y="7429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1493520" y="4089082"/>
              <a:ext cx="1109662" cy="363855"/>
            </a:xfrm>
            <a:prstGeom prst="roundRect">
              <a:avLst>
                <a:gd name="adj" fmla="val 26178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769995" y="4089082"/>
              <a:ext cx="1317308" cy="363855"/>
            </a:xfrm>
            <a:prstGeom prst="roundRect">
              <a:avLst>
                <a:gd name="adj" fmla="val 26178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981200" y="5069205"/>
              <a:ext cx="2513648" cy="346710"/>
            </a:xfrm>
            <a:prstGeom prst="roundRect">
              <a:avLst>
                <a:gd name="adj" fmla="val 27473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770918" y="4215765"/>
              <a:ext cx="55391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F(i, j−1)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973946" y="4215765"/>
              <a:ext cx="91035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F(i+2ʲ⁻¹, j−1)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803181" y="5186362"/>
              <a:ext cx="8706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F(i, j) 长度 2ʲ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702918" y="3532346"/>
              <a:ext cx="689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长度 2ʲ⁻¹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084168" y="3532346"/>
              <a:ext cx="689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长度 2ʲ⁻¹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formula96"/>
              <p:cNvSpPr txBox="1">
                <a:spLocks noGrp="1"/>
              </p:cNvSpPr>
              <p:nvPr/>
            </p:nvSpPr>
            <p:spPr>
              <a:xfrm>
                <a:off x="6248400" y="1941195"/>
                <a:ext cx="5410200" cy="7600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  <m:d>
                                <m:dPr>
                                  <m:begChr m:val="["/>
                                  <m:sepChr m:val=""/>
                                  <m:endChr m:val="]"/>
                                  <m:grow m:val="on"/>
                                  <m:ctrl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func>
                                <m:funcPr/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max</m:t>
                                  </m:r>
                                </m:fName>
                                <m:e>
                                  <m:d>
                                    <m:dPr>
                                      <m:begChr m:val="{"/>
                                      <m:sepChr m:val=""/>
                                      <m:endChr m:val="}"/>
                                      <m:grow m:val="on"/>
                                      <m:ctrlP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F</m:t>
                                      </m:r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5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5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5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,</m:t>
                                          </m:r>
                                          <m:r>
                                            <a:rPr lang="zh-CN" sz="15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j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5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−</m:t>
                                          </m:r>
                                          <m:r>
                                            <a:rPr lang="zh-CN" sz="15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  <m:r>
                                        <m:rPr>
                                          <m:sty m:val="p"/>
                                        </m:rP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,</m:t>
                                      </m:r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 xml:space="preserve"> </m:t>
                                      </m:r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F</m:t>
                                      </m:r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5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5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5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+</m:t>
                                          </m:r>
                                          <m:sSup>
                                            <m:e>
                                              <m:r>
                                                <a:rPr lang="zh-CN" sz="158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2</m:t>
                                              </m:r>
                                            </m:e>
                                            <m:sup>
                                              <m:r>
                                                <a:rPr lang="zh-CN" sz="158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j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zh-CN" sz="158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zh-CN" sz="158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1</m:t>
                                              </m:r>
                                            </m:sup>
                                          </m:sSup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5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,</m:t>
                                          </m:r>
                                          <m:r>
                                            <a:rPr lang="zh-CN" sz="15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j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5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−</m:t>
                                          </m:r>
                                          <m:r>
                                            <a:rPr lang="zh-CN" sz="15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&gt;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38" name="c2-card-2"/>
          <p:cNvGrpSpPr/>
          <p:nvPr/>
        </p:nvGrpSpPr>
        <p:grpSpPr>
          <a:xfrm>
            <a:off x="6248400" y="2876550"/>
            <a:ext cx="5410200" cy="1814512"/>
            <a:chOff x="6248400" y="2876550"/>
            <a:chExt cx="5410200" cy="1814512"/>
          </a:xfrm>
        </p:grpSpPr>
        <p:sp>
          <p:nvSpPr>
            <p:cNvPr id="30" name="Rectangle 30"/>
            <p:cNvSpPr/>
            <p:nvPr/>
          </p:nvSpPr>
          <p:spPr>
            <a:xfrm>
              <a:off x="6248400" y="2876550"/>
              <a:ext cx="5410200" cy="1814512"/>
            </a:xfrm>
            <a:prstGeom prst="roundRect">
              <a:avLst>
                <a:gd name="adj" fmla="val 7349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440805" y="3068955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12242" y="310324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为什么能这样拆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33947" y="3426142"/>
              <a:ext cx="472859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长度 2ʲ 的区间正好能对半劈成两段长度 2ʲ⁻¹ 的区间，整段的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最大值就是两半最大值中的较大者。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449378" y="4041457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05397" y="3985260"/>
              <a:ext cx="21309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 的范围：0 ≤ j ≤ ⌊log₂ n⌋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449378" y="434435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05397" y="4288155"/>
              <a:ext cx="36938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 的范围：1 ≤ i ≤ n − 2ʲ + 1，保证右端不越界</a:t>
              </a:r>
            </a:p>
          </p:txBody>
        </p:sp>
      </p:grpSp>
      <p:grpSp>
        <p:nvGrpSpPr>
          <p:cNvPr id="45" name="c2-callout-3"/>
          <p:cNvGrpSpPr/>
          <p:nvPr/>
        </p:nvGrpSpPr>
        <p:grpSpPr>
          <a:xfrm>
            <a:off x="6248400" y="4866322"/>
            <a:ext cx="5410200" cy="729615"/>
            <a:chOff x="6248400" y="4866322"/>
            <a:chExt cx="5410200" cy="729615"/>
          </a:xfrm>
        </p:grpSpPr>
        <p:sp>
          <p:nvSpPr>
            <p:cNvPr id="39" name="Rectangle 39"/>
            <p:cNvSpPr/>
            <p:nvPr/>
          </p:nvSpPr>
          <p:spPr>
            <a:xfrm>
              <a:off x="6248400" y="4866322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6453188" y="5131118"/>
              <a:ext cx="200026" cy="200025"/>
              <a:chOff x="6453188" y="5131118"/>
              <a:chExt cx="200026" cy="20002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6453188" y="513111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492926" y="517556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527642" y="528669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6755892" y="5012055"/>
              <a:ext cx="443712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这种“每次规模翻一倍”的预处理叫倍增思想，第 15 讲的最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短路和树上倍增求祖先用的是同一套想法。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6" name="Rectangle 46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0892" y="6023610"/>
              <a:ext cx="97328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最大值和最小值可以换，求和却不行：两段有重叠时最大值仍然对，和会被重复计入。ST 表只适用于可重复贡献的运算。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第5讲 数组与矩阵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006413" cy="909257"/>
            <a:chOff x="520446" y="342900"/>
            <a:chExt cx="50064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第5讲 数组与矩阵 · 区间问题处理技巧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0064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构建 ST 表：2ʲ 就是 1 左移 j 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table-1"/>
          <p:cNvGrpSpPr/>
          <p:nvPr/>
        </p:nvGrpSpPr>
        <p:grpSpPr>
          <a:xfrm>
            <a:off x="528447" y="1524000"/>
            <a:ext cx="5198935" cy="2170461"/>
            <a:chOff x="528447" y="1524000"/>
            <a:chExt cx="5198935" cy="2170461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38974" y="164115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十进制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49652" y="164115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二进制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523232" y="164115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相当于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69371" y="20231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542584" y="2023110"/>
              <a:ext cx="448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0 0 0 1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48481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28219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286952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69371" y="24041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542584" y="2404110"/>
              <a:ext cx="448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0 0 1 0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48481" y="240411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左移 1 位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66319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69371" y="27851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2²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42584" y="2785110"/>
              <a:ext cx="448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0 1 0 0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848481" y="278511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左移 2 位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04514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049905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69371" y="316706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2³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42584" y="3167062"/>
              <a:ext cx="448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1 0 0 0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848481" y="316706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左移 3 位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5193982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775460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749040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8447" y="3503771"/>
              <a:ext cx="17445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 语言位运算：2ʲ 写成 1 &lt;&lt; j</a:t>
              </a:r>
            </a:p>
          </p:txBody>
        </p:sp>
      </p:grpSp>
      <p:grpSp>
        <p:nvGrpSpPr>
          <p:cNvPr id="39" name="c1-callout-2"/>
          <p:cNvGrpSpPr/>
          <p:nvPr/>
        </p:nvGrpSpPr>
        <p:grpSpPr>
          <a:xfrm>
            <a:off x="533400" y="3821430"/>
            <a:ext cx="5193982" cy="1322070"/>
            <a:chOff x="533400" y="3821430"/>
            <a:chExt cx="5193982" cy="1322070"/>
          </a:xfrm>
        </p:grpSpPr>
        <p:sp>
          <p:nvSpPr>
            <p:cNvPr id="33" name="Rectangle 33"/>
            <p:cNvSpPr/>
            <p:nvPr/>
          </p:nvSpPr>
          <p:spPr>
            <a:xfrm>
              <a:off x="533400" y="3821430"/>
              <a:ext cx="5193982" cy="1322070"/>
            </a:xfrm>
            <a:prstGeom prst="roundRect">
              <a:avLst>
                <a:gd name="adj" fmla="val 864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26129" y="4378761"/>
              <a:ext cx="224134" cy="192560"/>
              <a:chOff x="726129" y="4378761"/>
              <a:chExt cx="224134" cy="19256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838200" y="444912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26129" y="437876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38200" y="452691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1273" y="4158139"/>
              <a:ext cx="4182618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`1 &lt;&lt; (j-1)` 的括号不能省。`&lt;&lt;` 的优先级低于加减，写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成 `1 &lt;&lt; j-1` 虽然碰巧对，但 `i + 1 &lt;&lt; j` 就会被解析成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`(i+1) &lt;&lt; j`。</a:t>
              </a:r>
            </a:p>
          </p:txBody>
        </p:sp>
      </p:grpSp>
      <p:grpSp>
        <p:nvGrpSpPr>
          <p:cNvPr id="43" name="c2-code-1"/>
          <p:cNvGrpSpPr/>
          <p:nvPr/>
        </p:nvGrpSpPr>
        <p:grpSpPr>
          <a:xfrm>
            <a:off x="6032182" y="1524000"/>
            <a:ext cx="5626418" cy="2751772"/>
            <a:chOff x="6032182" y="1524000"/>
            <a:chExt cx="5626418" cy="2751772"/>
          </a:xfrm>
        </p:grpSpPr>
        <p:sp>
          <p:nvSpPr>
            <p:cNvPr id="40" name="Rectangle 40"/>
            <p:cNvSpPr/>
            <p:nvPr/>
          </p:nvSpPr>
          <p:spPr>
            <a:xfrm>
              <a:off x="6032182" y="1524000"/>
              <a:ext cx="5626418" cy="2751772"/>
            </a:xfrm>
            <a:prstGeom prst="roundRect">
              <a:avLst>
                <a:gd name="adj" fmla="val 346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160580" y="167592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预处理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160770" y="1935004"/>
              <a:ext cx="2930652" cy="2255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const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maxn = 1e5 + 10;</a:t>
              </a:r>
              <a:br/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const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maxlogn = 18;</a:t>
              </a:r>
              <a:br/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a[maxn], F[maxn][maxlogn];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放在函数外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imax(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y) {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 &gt; y ? x : y;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BuildST(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 i &lt;= n; i++)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F[i][0] = a[i];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logn = 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)log2(n);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1; j &lt;= logn; j++)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 i &lt;= n - (1&lt;&lt;j) + 1; i++)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F[i][j] = imax(F[i][j-1],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       F[i + (1&lt;&lt;(j-1))][j-1]);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50" name="c2-callout-2"/>
          <p:cNvGrpSpPr/>
          <p:nvPr/>
        </p:nvGrpSpPr>
        <p:grpSpPr>
          <a:xfrm>
            <a:off x="6032182" y="4440555"/>
            <a:ext cx="5626418" cy="702945"/>
            <a:chOff x="6032182" y="4440555"/>
            <a:chExt cx="5626418" cy="702945"/>
          </a:xfrm>
        </p:grpSpPr>
        <p:sp>
          <p:nvSpPr>
            <p:cNvPr id="44" name="Rectangle 44"/>
            <p:cNvSpPr/>
            <p:nvPr/>
          </p:nvSpPr>
          <p:spPr>
            <a:xfrm>
              <a:off x="6032182" y="4440555"/>
              <a:ext cx="5626418" cy="702945"/>
            </a:xfrm>
            <a:prstGeom prst="roundRect">
              <a:avLst>
                <a:gd name="adj" fmla="val 1626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224912" y="4688323"/>
              <a:ext cx="224134" cy="192560"/>
              <a:chOff x="6224912" y="4688323"/>
              <a:chExt cx="224134" cy="19256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336983" y="475869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224912" y="468832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336983" y="48364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6540056" y="4585811"/>
              <a:ext cx="460486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预处理时间 </a:t>
              </a:r>
              <a:r>
                <a:rPr lang="en-US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O(n log n)</a:t>
              </a: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，空间也是 O(n log n)。maxlogn 取 18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是因为 2¹⁸ = 262144 &gt; 10⁵。表约 7 MB，必须放在函数外。</a:t>
              </a:r>
            </a:p>
          </p:txBody>
        </p:sp>
      </p:grpSp>
      <p:grpSp>
        <p:nvGrpSpPr>
          <p:cNvPr id="57" name="takeaway"/>
          <p:cNvGrpSpPr/>
          <p:nvPr/>
        </p:nvGrpSpPr>
        <p:grpSpPr>
          <a:xfrm>
            <a:off x="533400" y="5659755"/>
            <a:ext cx="11125200" cy="702945"/>
            <a:chOff x="533400" y="5659755"/>
            <a:chExt cx="11125200" cy="702945"/>
          </a:xfrm>
        </p:grpSpPr>
        <p:sp>
          <p:nvSpPr>
            <p:cNvPr id="51" name="Rectangle 51"/>
            <p:cNvSpPr/>
            <p:nvPr/>
          </p:nvSpPr>
          <p:spPr>
            <a:xfrm>
              <a:off x="533400" y="5659755"/>
              <a:ext cx="11125200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38188" y="5911215"/>
              <a:ext cx="200026" cy="200026"/>
              <a:chOff x="738188" y="5911215"/>
              <a:chExt cx="200026" cy="200026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38188" y="591121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38200" y="59778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27088" y="601122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1273" y="5805011"/>
              <a:ext cx="994537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`log2` 返回的是浮点数，在有些平台上 log2(8) 可能算成 2.9999 再截成 2。要稳妥就改用循环 `while ((1&lt;&lt;(k+1)) &lt;= x) k++;` 求整数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对数。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第5讲 数组与矩阵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第5讲 数组与矩阵 · 区间问题处理技巧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查询区间最值：两段有重叠也没关系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0283571" cy="512636"/>
            <a:chOff x="526542" y="1545907"/>
            <a:chExt cx="10283571" cy="512636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028357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取 k = ⌊log₂(R − L + 1)⌋，则 2ᵏ 是不超过区间长度的最大 2 的幂。用以 L 为起点和以 R 为终点的两个长度 2ᵏ 的区间，一定能盖住 [L,</a:t>
              </a:r>
              <a:br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R]。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103"/>
              <p:cNvSpPr txBox="1">
                <a:spLocks noGrp="1"/>
              </p:cNvSpPr>
              <p:nvPr/>
            </p:nvSpPr>
            <p:spPr>
              <a:xfrm>
                <a:off x="533400" y="2177415"/>
                <a:ext cx="54102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RMQ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{"/>
                              <m:sepChr m:val=""/>
                              <m:endChr m:val="}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L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</m:t>
                                  </m:r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 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R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p>
                                    <m:e>
                                      <m: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k</m:t>
                                      </m:r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</m:t>
                                  </m:r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13" name="c1-code-2"/>
          <p:cNvGrpSpPr/>
          <p:nvPr/>
        </p:nvGrpSpPr>
        <p:grpSpPr>
          <a:xfrm>
            <a:off x="533400" y="2761298"/>
            <a:ext cx="5410200" cy="1107758"/>
            <a:chOff x="533400" y="2761298"/>
            <a:chExt cx="5410200" cy="1107758"/>
          </a:xfrm>
        </p:grpSpPr>
        <p:sp>
          <p:nvSpPr>
            <p:cNvPr id="10" name="Rectangle 10"/>
            <p:cNvSpPr/>
            <p:nvPr/>
          </p:nvSpPr>
          <p:spPr>
            <a:xfrm>
              <a:off x="533400" y="2761298"/>
              <a:ext cx="5410200" cy="1107758"/>
            </a:xfrm>
            <a:prstGeom prst="roundRect">
              <a:avLst>
                <a:gd name="adj" fmla="val 859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797" y="291322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61988" y="3172301"/>
              <a:ext cx="2701544" cy="6105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QueryST(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 = 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)log2(R - L + 1);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imax(F[L][k], F[R - (1&lt;&lt;k) + 1][k]);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card-3"/>
          <p:cNvGrpSpPr/>
          <p:nvPr/>
        </p:nvGrpSpPr>
        <p:grpSpPr>
          <a:xfrm>
            <a:off x="533400" y="4033838"/>
            <a:ext cx="5410200" cy="1484948"/>
            <a:chOff x="533400" y="4033838"/>
            <a:chExt cx="5410200" cy="1484948"/>
          </a:xfrm>
        </p:grpSpPr>
        <p:sp>
          <p:nvSpPr>
            <p:cNvPr id="14" name="Rectangle 14"/>
            <p:cNvSpPr/>
            <p:nvPr/>
          </p:nvSpPr>
          <p:spPr>
            <a:xfrm>
              <a:off x="533400" y="4033838"/>
              <a:ext cx="5410200" cy="1484948"/>
            </a:xfrm>
            <a:prstGeom prst="roundRect">
              <a:avLst>
                <a:gd name="adj" fmla="val 898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14375" y="4214812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87743" y="424767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为什么允许重叠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7898" y="4555331"/>
              <a:ext cx="48491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2ᵏ 至少是区间长度的一半，所以两段合起来必定覆盖整个 [L, R]，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且都不超出边界。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9041" y="5079683"/>
              <a:ext cx="49720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取最大值时同一个元素被看两次不影响结果，这正是上一页说的“可重复贡献”。</a:t>
              </a:r>
            </a:p>
          </p:txBody>
        </p:sp>
      </p:grpSp>
      <p:grpSp>
        <p:nvGrpSpPr>
          <p:cNvPr id="48" name="c2-cells-1"/>
          <p:cNvGrpSpPr/>
          <p:nvPr/>
        </p:nvGrpSpPr>
        <p:grpSpPr>
          <a:xfrm>
            <a:off x="6243638" y="2177415"/>
            <a:ext cx="3975734" cy="571976"/>
            <a:chOff x="6243638" y="2177415"/>
            <a:chExt cx="3975734" cy="571976"/>
          </a:xfrm>
        </p:grpSpPr>
        <p:sp>
          <p:nvSpPr>
            <p:cNvPr id="20" name="TextBox 20"/>
            <p:cNvSpPr txBox="1"/>
            <p:nvPr/>
          </p:nvSpPr>
          <p:spPr>
            <a:xfrm>
              <a:off x="6243638" y="229933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447472" y="217741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617276" y="229933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866572" y="2177415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036376" y="229933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285672" y="2177415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455476" y="229933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704772" y="2177415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874576" y="229933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123872" y="2177415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293676" y="229933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542972" y="2177415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712776" y="229933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962072" y="2177415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131876" y="229933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9381172" y="217741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550976" y="229933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9800272" y="217741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970076" y="229933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21903" y="25874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041003" y="25874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460103" y="25874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879203" y="25874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98303" y="25874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717403" y="25874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136503" y="25874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555603" y="25874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974703" y="25874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  <p:grpSp>
        <p:nvGrpSpPr>
          <p:cNvPr id="61" name="c2-card-2"/>
          <p:cNvGrpSpPr/>
          <p:nvPr/>
        </p:nvGrpSpPr>
        <p:grpSpPr>
          <a:xfrm>
            <a:off x="6248400" y="2879408"/>
            <a:ext cx="5410200" cy="1772602"/>
            <a:chOff x="6248400" y="2879408"/>
            <a:chExt cx="5410200" cy="1772602"/>
          </a:xfrm>
        </p:grpSpPr>
        <p:sp>
          <p:nvSpPr>
            <p:cNvPr id="49" name="Rectangle 49"/>
            <p:cNvSpPr/>
            <p:nvPr/>
          </p:nvSpPr>
          <p:spPr>
            <a:xfrm>
              <a:off x="6248400" y="2879408"/>
              <a:ext cx="5410200" cy="1772602"/>
            </a:xfrm>
            <a:prstGeom prst="roundRect">
              <a:avLst>
                <a:gd name="adj" fmla="val 75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57925" y="3012758"/>
              <a:ext cx="47625" cy="150590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67475" y="3060382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63246" y="3093244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909626" y="3099911"/>
              <a:ext cx="20518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查询区间 [2, 7] 的最大值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60998" y="3416141"/>
              <a:ext cx="28819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区间长 6，k = ⌊log₂6⌋ = 2，2ᵏ = 4。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477000" y="375380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32448" y="3701891"/>
              <a:ext cx="30952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第一段 F(2, 2) 覆盖 a[2…5]，最大值 9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477000" y="403860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632448" y="3986689"/>
              <a:ext cx="30952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第二段 F(4, 2) 覆盖 a[4…7]，最大值 6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477000" y="432435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632448" y="4271486"/>
              <a:ext cx="34208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取较大者得 </a:t>
              </a: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9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，与直接扫 a[2…7] 的结果一致</a:t>
              </a:r>
            </a:p>
          </p:txBody>
        </p:sp>
      </p:grpSp>
      <p:grpSp>
        <p:nvGrpSpPr>
          <p:cNvPr id="68" name="c2-callout-3"/>
          <p:cNvGrpSpPr/>
          <p:nvPr/>
        </p:nvGrpSpPr>
        <p:grpSpPr>
          <a:xfrm>
            <a:off x="6248400" y="4816792"/>
            <a:ext cx="5410200" cy="702945"/>
            <a:chOff x="6248400" y="4816792"/>
            <a:chExt cx="5410200" cy="702945"/>
          </a:xfrm>
        </p:grpSpPr>
        <p:sp>
          <p:nvSpPr>
            <p:cNvPr id="62" name="Rectangle 62"/>
            <p:cNvSpPr/>
            <p:nvPr/>
          </p:nvSpPr>
          <p:spPr>
            <a:xfrm>
              <a:off x="6248400" y="4816792"/>
              <a:ext cx="5410200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6453188" y="5067300"/>
              <a:ext cx="200026" cy="200025"/>
              <a:chOff x="6453188" y="5067300"/>
              <a:chExt cx="200026" cy="200025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6453188" y="506730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492926" y="511175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6527642" y="522287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6756273" y="4961096"/>
              <a:ext cx="44427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这个 9 元素例子的全部 45 个区间都用脚本逐一核对过，ST 表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的结果与暴力扫描完全相同。</a:t>
              </a:r>
            </a:p>
          </p:txBody>
        </p:sp>
      </p:grpSp>
      <p:grpSp>
        <p:nvGrpSpPr>
          <p:cNvPr id="74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9" name="Rectangle 69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1041273" y="6039326"/>
              <a:ext cx="93988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总复杂度 O(n log n + m)：预处理 O(n log n)，每次查询 </a:t>
              </a:r>
              <a:r>
                <a:rPr lang="en-US" sz="128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O(1)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。前提是数组建表后不再修改，单点修改会让整张表失效。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第5讲 数组与矩阵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第5讲 数组与矩阵 · 区间问题处理技巧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尺取法：两个指针交替往右爬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9056075" cy="264033"/>
            <a:chOff x="526542" y="1545907"/>
            <a:chExt cx="905607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90560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给定长度为 n 的正整数数组 a 和整数 S，找出元素之和恰好等于 S 的所有区间。暴力枚举起点和终点是 O(n²)。</a:t>
              </a:r>
            </a:p>
          </p:txBody>
        </p:sp>
      </p:grpSp>
      <p:grpSp>
        <p:nvGrpSpPr>
          <p:cNvPr id="19" name="c1-card-1"/>
          <p:cNvGrpSpPr/>
          <p:nvPr/>
        </p:nvGrpSpPr>
        <p:grpSpPr>
          <a:xfrm>
            <a:off x="533400" y="1928812"/>
            <a:ext cx="5626418" cy="1730692"/>
            <a:chOff x="533400" y="1928812"/>
            <a:chExt cx="5626418" cy="173069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626418" cy="1730692"/>
            </a:xfrm>
            <a:prstGeom prst="roundRect">
              <a:avLst>
                <a:gd name="adj" fmla="val 770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146399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2475" y="2109788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1096" y="21426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尺取法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43228" y="2149316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维护指向区间起点和终点的两个指针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5998" y="2465546"/>
              <a:ext cx="48897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根据实际情况交替推进两个指针，直到得出答案。因为形似尺蠖爬行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而得名。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2000" y="304609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17448" y="2994184"/>
              <a:ext cx="32517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区间和 &lt; S：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区间右边扩一位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（终点右移）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62000" y="333089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17448" y="3278981"/>
              <a:ext cx="32517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区间和 ≥ S：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区间左边缩一位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（起点右移）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3823335"/>
            <a:ext cx="5626418" cy="1390650"/>
            <a:chOff x="533400" y="3823335"/>
            <a:chExt cx="5626418" cy="1390650"/>
          </a:xfrm>
        </p:grpSpPr>
        <p:sp>
          <p:nvSpPr>
            <p:cNvPr id="20" name="Rectangle 20"/>
            <p:cNvSpPr/>
            <p:nvPr/>
          </p:nvSpPr>
          <p:spPr>
            <a:xfrm>
              <a:off x="533400" y="3823335"/>
              <a:ext cx="5626418" cy="1390650"/>
            </a:xfrm>
            <a:prstGeom prst="roundRect">
              <a:avLst>
                <a:gd name="adj" fmla="val 9589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14375" y="4004310"/>
              <a:ext cx="106013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3809" y="4037171"/>
              <a:ext cx="9222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为什么是 O(n)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7898" y="4344829"/>
              <a:ext cx="48084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left 和 right 都只向右移动，各自最多走 n 步，总移动次数不超过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2n，所以时间 </a:t>
              </a:r>
              <a:r>
                <a:rPr lang="en-US" sz="128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O(n)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、空间 O(1)。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9041" y="4869180"/>
              <a:ext cx="52830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前提是数组元素 </a:t>
              </a:r>
              <a:r>
                <a:rPr lang="zh-CN" sz="10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全为正数</a:t>
              </a:r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：只有这样，右扩才必定使和增大、左缩才必定使和减小。</a:t>
              </a:r>
            </a:p>
          </p:txBody>
        </p:sp>
      </p:grpSp>
      <p:grpSp>
        <p:nvGrpSpPr>
          <p:cNvPr id="32" name="c1-callout-3"/>
          <p:cNvGrpSpPr/>
          <p:nvPr/>
        </p:nvGrpSpPr>
        <p:grpSpPr>
          <a:xfrm>
            <a:off x="533400" y="5378768"/>
            <a:ext cx="5626418" cy="702945"/>
            <a:chOff x="533400" y="5378768"/>
            <a:chExt cx="5626418" cy="702945"/>
          </a:xfrm>
        </p:grpSpPr>
        <p:sp>
          <p:nvSpPr>
            <p:cNvPr id="26" name="Rectangle 26"/>
            <p:cNvSpPr/>
            <p:nvPr/>
          </p:nvSpPr>
          <p:spPr>
            <a:xfrm>
              <a:off x="533400" y="5378768"/>
              <a:ext cx="5626418" cy="702945"/>
            </a:xfrm>
            <a:prstGeom prst="roundRect">
              <a:avLst>
                <a:gd name="adj" fmla="val 1626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26129" y="5626536"/>
              <a:ext cx="224134" cy="192560"/>
              <a:chOff x="726129" y="5626536"/>
              <a:chExt cx="224134" cy="19256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838200" y="569690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26129" y="562653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38200" y="577469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1273" y="5524024"/>
              <a:ext cx="457276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有负数时单调性被破坏，左缩也可能让和变大。例如 a = 1, −1,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5 求和 ≥ 5 的最短区间，尺取法给出 3，而正确答案是 1。</a:t>
              </a:r>
            </a:p>
          </p:txBody>
        </p:sp>
      </p:grpSp>
      <p:grpSp>
        <p:nvGrpSpPr>
          <p:cNvPr id="35" name="c2-image-1"/>
          <p:cNvGrpSpPr/>
          <p:nvPr/>
        </p:nvGrpSpPr>
        <p:grpSpPr>
          <a:xfrm>
            <a:off x="7408037" y="1928812"/>
            <a:ext cx="3308096" cy="2063782"/>
            <a:chOff x="7408037" y="1928812"/>
            <a:chExt cx="3308096" cy="2063782"/>
          </a:xfrm>
        </p:grpSpPr>
        <p:pic>
          <p:nvPicPr>
            <p:cNvPr id="33" name="Image 33"/>
            <p:cNvPicPr>
              <a:picLocks noChangeAspect="1"/>
            </p:cNvPicPr>
            <p:nvPr/>
          </p:nvPicPr>
          <p:blipFill>
            <a:blip r:embed="rId2"/>
            <a:srcRect l="6" t="0" r="7" b="0"/>
            <a:stretch>
              <a:fillRect/>
            </a:stretch>
          </p:blipFill>
          <p:spPr>
            <a:xfrm>
              <a:off x="7874318" y="1928812"/>
              <a:ext cx="2374582" cy="1781175"/>
            </a:xfrm>
            <a:prstGeom prst="roundRect">
              <a:avLst>
                <a:gd name="adj" fmla="val 7486"/>
              </a:avLst>
            </a:prstGeom>
          </p:spPr>
        </p:pic>
        <p:sp>
          <p:nvSpPr>
            <p:cNvPr id="34" name="TextBox 34"/>
            <p:cNvSpPr txBox="1"/>
            <p:nvPr/>
          </p:nvSpPr>
          <p:spPr>
            <a:xfrm>
              <a:off x="7408037" y="3801904"/>
              <a:ext cx="33080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前脚先够出去，后脚再跟上来，尺蠖就是这样丈量距离的</a:t>
              </a:r>
            </a:p>
          </p:txBody>
        </p:sp>
      </p:grpSp>
      <p:grpSp>
        <p:nvGrpSpPr>
          <p:cNvPr id="67" name="c2-cells-2"/>
          <p:cNvGrpSpPr/>
          <p:nvPr/>
        </p:nvGrpSpPr>
        <p:grpSpPr>
          <a:xfrm>
            <a:off x="6459855" y="4138612"/>
            <a:ext cx="4395787" cy="571977"/>
            <a:chOff x="6459855" y="4138612"/>
            <a:chExt cx="4395787" cy="571977"/>
          </a:xfrm>
        </p:grpSpPr>
        <p:sp>
          <p:nvSpPr>
            <p:cNvPr id="36" name="TextBox 36"/>
            <p:cNvSpPr txBox="1"/>
            <p:nvPr/>
          </p:nvSpPr>
          <p:spPr>
            <a:xfrm>
              <a:off x="6459855" y="426053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663690" y="41386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33493" y="426053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082790" y="41386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252593" y="426053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501890" y="4138612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71693" y="426053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920990" y="4138612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090793" y="426053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340090" y="4138612"/>
              <a:ext cx="419100" cy="356235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509893" y="426053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759190" y="4138612"/>
              <a:ext cx="419100" cy="356235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928993" y="426053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9178290" y="4138612"/>
              <a:ext cx="41910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348093" y="426053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9597390" y="4138612"/>
              <a:ext cx="41910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768146" y="426053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0017442" y="4138612"/>
              <a:ext cx="41910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187246" y="426053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0436542" y="41386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0606346" y="426053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838121" y="45486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257221" y="45486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676321" y="45486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095421" y="45486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514521" y="45486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933621" y="45486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352721" y="45486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772773" y="45486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191873" y="45486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610973" y="45486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  <p:grpSp>
        <p:nvGrpSpPr>
          <p:cNvPr id="74" name="c2-callout-3"/>
          <p:cNvGrpSpPr/>
          <p:nvPr/>
        </p:nvGrpSpPr>
        <p:grpSpPr>
          <a:xfrm>
            <a:off x="6464618" y="4840605"/>
            <a:ext cx="5193982" cy="1241108"/>
            <a:chOff x="6464618" y="4840605"/>
            <a:chExt cx="5193982" cy="1241108"/>
          </a:xfrm>
        </p:grpSpPr>
        <p:sp>
          <p:nvSpPr>
            <p:cNvPr id="68" name="Rectangle 68"/>
            <p:cNvSpPr/>
            <p:nvPr/>
          </p:nvSpPr>
          <p:spPr>
            <a:xfrm>
              <a:off x="6464618" y="4840605"/>
              <a:ext cx="5193982" cy="1241108"/>
            </a:xfrm>
            <a:prstGeom prst="roundRect">
              <a:avLst>
                <a:gd name="adj" fmla="val 921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6669405" y="5360670"/>
              <a:ext cx="200026" cy="200025"/>
              <a:chOff x="6669405" y="5360670"/>
              <a:chExt cx="200026" cy="200025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6669405" y="536067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709144" y="540512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6743859" y="551624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6972491" y="5254466"/>
              <a:ext cx="41988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 = 9 时三个解分别是 a[2…3]、a[4…5]、a[6…8]，在上图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中用三种颜色标出。下一页是完整的爬行过程。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第5讲 数组与矩阵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第5讲 数组与矩阵 · 区间问题处理技巧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尺取法的执行过程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0420160" cy="293370"/>
            <a:chOff x="525780" y="1548765"/>
            <a:chExt cx="1042016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04201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仍用 a = 5, 2, 3, 6, 2, 7, 1, 5, 3, 2，S = 9。表中把连续的多次右扩合并成一步，只列出每次动作切换时的区间。</a:t>
              </a:r>
            </a:p>
          </p:txBody>
        </p:sp>
      </p:grpSp>
      <p:grpSp>
        <p:nvGrpSpPr>
          <p:cNvPr id="80" name="c1-table-1"/>
          <p:cNvGrpSpPr/>
          <p:nvPr/>
        </p:nvGrpSpPr>
        <p:grpSpPr>
          <a:xfrm>
            <a:off x="533400" y="1954530"/>
            <a:ext cx="6276022" cy="4301490"/>
            <a:chOff x="533400" y="1954530"/>
            <a:chExt cx="6276022" cy="4301490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6276022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59904" y="208597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94517" y="2085975"/>
              <a:ext cx="10400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区间 [左, 右]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920556" y="208597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区间和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06215" y="20859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574982" y="20859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动作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4031" y="251555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62074" y="2515552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[0, 0]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118447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054678" y="2515552"/>
              <a:ext cx="2383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 9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81169" y="251555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右扩两格仍不够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80987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814638"/>
              <a:ext cx="627602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94031" y="29460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662074" y="2946082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[0, 2]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074022" y="294608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054678" y="2946082"/>
              <a:ext cx="2383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 9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781169" y="294608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左缩一位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24040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94031" y="337661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662074" y="3376612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[1, 3]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074022" y="337661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054678" y="3376612"/>
              <a:ext cx="2383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 9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781169" y="337661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左缩一位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66998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3674745"/>
              <a:ext cx="627602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94031" y="38061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662074" y="3806190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[2, 3]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118447" y="380619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680460" y="3684270"/>
              <a:ext cx="984885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054678" y="3806190"/>
              <a:ext cx="2383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9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781169" y="380619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记下解，再左缩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10051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94031" y="423672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662074" y="4236720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[3, 5]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074022" y="423672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054678" y="4236720"/>
              <a:ext cx="2383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 9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781169" y="423672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左缩一位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453104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33400" y="4535805"/>
              <a:ext cx="627602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94031" y="466629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662074" y="4666298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[4, 5]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118447" y="466629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3680460" y="4545330"/>
              <a:ext cx="984885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054678" y="4666298"/>
              <a:ext cx="2383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9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781169" y="4666298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记下解，再左缩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3400" y="496062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94031" y="509682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662074" y="5096828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[5, 7]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074022" y="509682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054678" y="5096828"/>
              <a:ext cx="2383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 9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781169" y="509682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左缩一位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33400" y="539115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533400" y="5395912"/>
              <a:ext cx="627602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94031" y="552735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662074" y="5527358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[6, 8]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3118447" y="552735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3680460" y="5405438"/>
              <a:ext cx="984885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4054678" y="5527358"/>
              <a:ext cx="2383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9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4781169" y="5527358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记下解，再左缩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533400" y="582072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94031" y="59569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662074" y="5956935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[7, 9]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3074022" y="595693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4054678" y="5956935"/>
              <a:ext cx="2383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 9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4781169" y="5956935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左缩后右端到头，结束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533400" y="1954530"/>
              <a:ext cx="6276022" cy="43014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1156335" y="1954530"/>
              <a:ext cx="9525" cy="43014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2662238" y="1954530"/>
              <a:ext cx="9525" cy="43014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3666172" y="1954530"/>
              <a:ext cx="9525" cy="43014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4671060" y="1954530"/>
              <a:ext cx="9525" cy="43014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8" name="c2-card-1"/>
          <p:cNvGrpSpPr/>
          <p:nvPr/>
        </p:nvGrpSpPr>
        <p:grpSpPr>
          <a:xfrm>
            <a:off x="7114222" y="1954530"/>
            <a:ext cx="4544378" cy="1574482"/>
            <a:chOff x="7114222" y="1954530"/>
            <a:chExt cx="4544378" cy="1574482"/>
          </a:xfrm>
        </p:grpSpPr>
        <p:sp>
          <p:nvSpPr>
            <p:cNvPr id="81" name="Rectangle 81"/>
            <p:cNvSpPr/>
            <p:nvPr/>
          </p:nvSpPr>
          <p:spPr>
            <a:xfrm>
              <a:off x="7114222" y="1954530"/>
              <a:ext cx="4544378" cy="1574482"/>
            </a:xfrm>
            <a:prstGeom prst="roundRect">
              <a:avLst>
                <a:gd name="adj" fmla="val 84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7123748" y="2087880"/>
              <a:ext cx="47625" cy="130778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7356158" y="21583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7446366" y="21940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956614" y="2197894"/>
              <a:ext cx="158342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三个和为 9 的区间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348918" y="2550319"/>
              <a:ext cx="384670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`[2, 3]` = 3 + 6，`[4, 5]` = 2 + 7，`[6, 8]`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1 + 5 + 3。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350062" y="3137535"/>
              <a:ext cx="35176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已用穷举全部 55 个子区间核对，结果完全一致。</a:t>
              </a:r>
            </a:p>
          </p:txBody>
        </p:sp>
      </p:grpSp>
      <p:grpSp>
        <p:nvGrpSpPr>
          <p:cNvPr id="96" name="c2-card-2"/>
          <p:cNvGrpSpPr/>
          <p:nvPr/>
        </p:nvGrpSpPr>
        <p:grpSpPr>
          <a:xfrm>
            <a:off x="7114222" y="3714750"/>
            <a:ext cx="4544378" cy="2541270"/>
            <a:chOff x="7114222" y="3714750"/>
            <a:chExt cx="4544378" cy="2541270"/>
          </a:xfrm>
        </p:grpSpPr>
        <p:sp>
          <p:nvSpPr>
            <p:cNvPr id="89" name="Rectangle 89"/>
            <p:cNvSpPr/>
            <p:nvPr/>
          </p:nvSpPr>
          <p:spPr>
            <a:xfrm>
              <a:off x="7114222" y="3714750"/>
              <a:ext cx="4544378" cy="2541270"/>
            </a:xfrm>
            <a:prstGeom prst="roundRect">
              <a:avLst>
                <a:gd name="adj" fmla="val 524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7318058" y="3918585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7378713" y="395430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两条规则背后的道理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7310818" y="4291489"/>
              <a:ext cx="39819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和不够就往右要更多元素；和够了或超了，继续右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扩只会更大，所以必须先从左边让出一位。</a:t>
              </a:r>
            </a:p>
          </p:txBody>
        </p:sp>
        <p:sp>
          <p:nvSpPr>
            <p:cNvPr id="93" name="Ellipse 93"/>
            <p:cNvSpPr/>
            <p:nvPr/>
          </p:nvSpPr>
          <p:spPr>
            <a:xfrm>
              <a:off x="7325677" y="494252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7482268" y="4882991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这保证每个可能的起点都被检查过，不会漏解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7311962" y="5198745"/>
              <a:ext cx="39538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两个指针合计只走了 18 步，暴力枚举要查 55 个区间。</a:t>
              </a:r>
            </a:p>
          </p:txBody>
        </p:sp>
      </p:grpSp>
      <p:grpSp>
        <p:nvGrpSpPr>
          <p:cNvPr id="9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7" name="TextBox 97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第5讲 数组与矩阵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613098" cy="909257"/>
            <a:chOff x="520446" y="342900"/>
            <a:chExt cx="561309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第5讲 数组与矩阵 · 区间问题处理技巧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6130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尺取法应用：和不小于 S 的最短区间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9983319" cy="264033"/>
            <a:chOff x="526542" y="1545907"/>
            <a:chExt cx="998331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99833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给定正整数数组 a 和正整数 S，找出元素之和大于等于 S 的最短区间并返回其长度，不存在则返回 0。这是 LeetCode 209。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6059805" cy="2453640"/>
            <a:chOff x="533400" y="1928812"/>
            <a:chExt cx="6059805" cy="245364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6059805" cy="2453640"/>
            </a:xfrm>
            <a:prstGeom prst="roundRect">
              <a:avLst>
                <a:gd name="adj" fmla="val 38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988" y="2339816"/>
              <a:ext cx="3477387" cy="19564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minSubArrayLen(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a[],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left = 0, right = 0, sum = a[0], min = n + 1;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(1)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(right &lt; n-1 &amp;&amp; sum &lt; S)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sum += a[++right];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右扩一位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(sum &lt; S)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break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扩到头仍不够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len = right - left + 1;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找到一个可行区间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(len &lt; min) min = len;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sum -= a[left++];   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左缩一位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(min == n + 1) min = 0;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min;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4546282"/>
            <a:ext cx="6059805" cy="1143952"/>
            <a:chOff x="533400" y="4546282"/>
            <a:chExt cx="6059805" cy="1143952"/>
          </a:xfrm>
        </p:grpSpPr>
        <p:sp>
          <p:nvSpPr>
            <p:cNvPr id="13" name="Rectangle 13"/>
            <p:cNvSpPr/>
            <p:nvPr/>
          </p:nvSpPr>
          <p:spPr>
            <a:xfrm>
              <a:off x="533400" y="4546282"/>
              <a:ext cx="6059805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4679632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52475" y="4727258"/>
              <a:ext cx="1230630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21769" y="4760119"/>
              <a:ext cx="10920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两层 while 的分工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5998" y="5067776"/>
              <a:ext cx="53774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内层负责右扩到和够为止，外层每转一轮处理一个可行区间并左缩一位。两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层加起来，两个指针仍然只走 2n 步。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898005" y="1928812"/>
            <a:ext cx="4760595" cy="1163955"/>
            <a:chOff x="6898005" y="1928812"/>
            <a:chExt cx="4760595" cy="1163955"/>
          </a:xfrm>
        </p:grpSpPr>
        <p:sp>
          <p:nvSpPr>
            <p:cNvPr id="19" name="Rectangle 19"/>
            <p:cNvSpPr/>
            <p:nvPr/>
          </p:nvSpPr>
          <p:spPr>
            <a:xfrm>
              <a:off x="6898005" y="1928812"/>
              <a:ext cx="4760595" cy="1163955"/>
            </a:xfrm>
            <a:prstGeom prst="roundRect">
              <a:avLst>
                <a:gd name="adj" fmla="val 114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907530" y="2062162"/>
              <a:ext cx="47625" cy="8972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117080" y="2109788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12851" y="214264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58278" y="2149316"/>
              <a:ext cx="22889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2, 3, 1, 1, 4, 3，S = 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10603" y="2465546"/>
              <a:ext cx="28694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答案是 </a:t>
              </a: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，对应 a[4…5] = 4 + 3 = 7。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11746" y="2747010"/>
              <a:ext cx="36857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长度为 1 的区间最大只有 4，凑不够 6，所以 2 已是最短。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898005" y="3256598"/>
            <a:ext cx="4760595" cy="1185862"/>
            <a:chOff x="6898005" y="3256598"/>
            <a:chExt cx="4760595" cy="1185862"/>
          </a:xfrm>
        </p:grpSpPr>
        <p:sp>
          <p:nvSpPr>
            <p:cNvPr id="27" name="Rectangle 27"/>
            <p:cNvSpPr/>
            <p:nvPr/>
          </p:nvSpPr>
          <p:spPr>
            <a:xfrm>
              <a:off x="6898005" y="3256598"/>
              <a:ext cx="4760595" cy="1185862"/>
            </a:xfrm>
            <a:prstGeom prst="roundRect">
              <a:avLst>
                <a:gd name="adj" fmla="val 11245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078980" y="3437572"/>
              <a:ext cx="1703070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133996" y="3470434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找到可行区间后要做两件事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078980" y="3767138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130887" y="380276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48728" y="3778091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和当前最短区间比较，必要时更新答案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078980" y="405193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130887" y="408755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48728" y="4062889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左边缩一位，去试更短的可能</a:t>
              </a:r>
            </a:p>
          </p:txBody>
        </p:sp>
      </p:grpSp>
      <p:grpSp>
        <p:nvGrpSpPr>
          <p:cNvPr id="43" name="c2-callout-3"/>
          <p:cNvGrpSpPr/>
          <p:nvPr/>
        </p:nvGrpSpPr>
        <p:grpSpPr>
          <a:xfrm>
            <a:off x="6898005" y="4608195"/>
            <a:ext cx="4760595" cy="1082992"/>
            <a:chOff x="6898005" y="4608195"/>
            <a:chExt cx="4760595" cy="1082992"/>
          </a:xfrm>
        </p:grpSpPr>
        <p:sp>
          <p:nvSpPr>
            <p:cNvPr id="37" name="Rectangle 37"/>
            <p:cNvSpPr/>
            <p:nvPr/>
          </p:nvSpPr>
          <p:spPr>
            <a:xfrm>
              <a:off x="6898005" y="4608195"/>
              <a:ext cx="4760595" cy="1082992"/>
            </a:xfrm>
            <a:prstGeom prst="roundRect">
              <a:avLst>
                <a:gd name="adj" fmla="val 10554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090734" y="5045511"/>
              <a:ext cx="224134" cy="192560"/>
              <a:chOff x="7090734" y="5045511"/>
              <a:chExt cx="224134" cy="19256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202805" y="511587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090734" y="504551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202805" y="519366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7405878" y="4942999"/>
              <a:ext cx="388188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`min` 初值取 n + 1 而不是 0，这样才能分辨“没找到”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和“找到了长度 0”。最后统一把 n + 1 换成 0 返回。</a:t>
              </a:r>
            </a:p>
          </p:txBody>
        </p:sp>
      </p:grpSp>
      <p:grpSp>
        <p:nvGrpSpPr>
          <p:cNvPr id="50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4" name="Rectangle 44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1273" y="6039326"/>
              <a:ext cx="86286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课下思考：数组里有负数时这个算法还行吗？不行。左缩可能让和变大，循环会提前退出，见上一页给出的反例。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第5讲 数组与矩阵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第5讲 数组与矩阵 · 区间问题处理技巧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四种区间技巧该怎么挑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8234375" cy="278702"/>
            <a:chOff x="526161" y="1547336"/>
            <a:chExt cx="8234375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82343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先问三个问题：数组改不改？查的是和还是最值？要找的是一个值还是一段区间？答案就出来了。</a:t>
              </a:r>
            </a:p>
          </p:txBody>
        </p:sp>
      </p:grpSp>
      <p:grpSp>
        <p:nvGrpSpPr>
          <p:cNvPr id="48" name="c1-table-1"/>
          <p:cNvGrpSpPr/>
          <p:nvPr/>
        </p:nvGrpSpPr>
        <p:grpSpPr>
          <a:xfrm>
            <a:off x="533400" y="1941195"/>
            <a:ext cx="11125200" cy="2028825"/>
            <a:chOff x="533400" y="1941195"/>
            <a:chExt cx="11125200" cy="2028825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1112520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56056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技巧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154934" y="206549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解决的问题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41238" y="206549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预处理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34631" y="20654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单次操作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682556" y="20654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适用前提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3412" y="247126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前缀和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190750" y="247126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反复查询区间和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083492" y="2471261"/>
              <a:ext cx="3835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773228" y="2356485"/>
              <a:ext cx="1538288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863715" y="2471261"/>
              <a:ext cx="393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21052" y="247126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数组建表后不再修改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27479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2752725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3412" y="287702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差分数组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190750" y="287702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反复对区间整体加减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083492" y="2877026"/>
              <a:ext cx="3835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773228" y="2762250"/>
              <a:ext cx="1538288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863715" y="2877026"/>
              <a:ext cx="393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21052" y="287702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全部修改做完才读取结果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15372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3412" y="3282791"/>
              <a:ext cx="3963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 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190750" y="328279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反复查询区间最值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083492" y="3282791"/>
              <a:ext cx="7648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 log n)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773228" y="3168015"/>
              <a:ext cx="1538288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863715" y="3282791"/>
              <a:ext cx="393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421052" y="3282791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数组不修改且运算可重复贡献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35594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33400" y="3564255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3412" y="36885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尺取法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190750" y="36885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找满足条件的区间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083492" y="368855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63715" y="3688556"/>
              <a:ext cx="743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均摊 O(1)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21052" y="368855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元素全为正数，和随区间单调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1941195"/>
              <a:ext cx="11125200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2085975" y="194119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4978718" y="194119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758940" y="194119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8316278" y="194119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5" name="c1-compare-2"/>
          <p:cNvGrpSpPr/>
          <p:nvPr/>
        </p:nvGrpSpPr>
        <p:grpSpPr>
          <a:xfrm>
            <a:off x="533400" y="4145280"/>
            <a:ext cx="11125200" cy="1557338"/>
            <a:chOff x="533400" y="4145280"/>
            <a:chExt cx="11125200" cy="1557338"/>
          </a:xfrm>
        </p:grpSpPr>
        <p:sp>
          <p:nvSpPr>
            <p:cNvPr id="49" name="Rectangle 49"/>
            <p:cNvSpPr/>
            <p:nvPr/>
          </p:nvSpPr>
          <p:spPr>
            <a:xfrm>
              <a:off x="533400" y="4145280"/>
              <a:ext cx="5353050" cy="1557338"/>
            </a:xfrm>
            <a:prstGeom prst="roundRect">
              <a:avLst>
                <a:gd name="adj" fmla="val 85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542925" y="4278630"/>
              <a:ext cx="47625" cy="12906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57047" y="436054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共同点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772478" y="473583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28497" y="4679632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都用一次线性或近线性的预处理，换来单次操作的常数时间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772478" y="503872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28497" y="4982528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都要求数据在使用期间保持稳定，或者只在最后才读取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305550" y="4145280"/>
              <a:ext cx="5353050" cy="1557338"/>
            </a:xfrm>
            <a:prstGeom prst="roundRect">
              <a:avLst>
                <a:gd name="adj" fmla="val 85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6315075" y="4278630"/>
              <a:ext cx="47625" cy="129063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529197" y="436054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都解决不了的情况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544628" y="473583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700647" y="4679632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修改和查询交替进行，且都很频繁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544628" y="503872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700647" y="498252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这时要用树状数组或线段树，不在本讲范围内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5934075" y="476250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010546" y="486298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71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6" name="Rectangle 66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1040892" y="6023610"/>
              <a:ext cx="97328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前缀和与差分是一对逆运算，ST 表把倍增用在最值上，尺取法靠的是单调性。四种技巧的共同套路是：用预处理换查询。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第5讲 数组与矩阵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023991" cy="2997517"/>
            <a:chOff x="667512" y="1835468"/>
            <a:chExt cx="6023991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子集生成与矩阵的应用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0140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用一个二进制计数器枚举幂集，再看看矩阵在工程里长什么样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幂集与二进制的对应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加一进位的写法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矩阵在图像与图论中的位置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第5讲 数组与矩阵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04185" cy="909257"/>
            <a:chOff x="520446" y="342900"/>
            <a:chExt cx="58041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第5讲 数组与矩阵 · 子集生成与矩阵的应用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041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子集生成：让二进制数从 0 数到 2ⁿ−1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0354551" cy="264033"/>
            <a:chOff x="526542" y="1545907"/>
            <a:chExt cx="10354551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03545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输出一个集合的幂集。n 元集合的子集共有 2ⁿ 个，每个子集对应一个长度为 n 的 0/1 串：第 i 位为 1 表示第 i 个元素在子集里。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4977765" cy="2901315"/>
            <a:chOff x="533400" y="1928812"/>
            <a:chExt cx="4977765" cy="290131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4977765" cy="2901315"/>
            </a:xfrm>
            <a:prstGeom prst="roundRect">
              <a:avLst>
                <a:gd name="adj" fmla="val 328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计数器加一与枚举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988" y="2339816"/>
              <a:ext cx="2831719" cy="24050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const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maxsize = 10;</a:t>
              </a:r>
              <a:br/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AddOne(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a[],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(a[i] != 0) a[i++] = 0;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逐位进位 */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a[i] = 1;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PowerSet(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s[],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a[maxsize] = {0};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(a[n] == 0) {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a[n] 是溢出位 */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printf(</a:t>
              </a:r>
              <a:r>
                <a:rPr lang="zh-CN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"{ 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n; i++)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(a[i] == 1) printf(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"%c "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s[i]);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printf(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"}\n"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AddOne(a, n);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8" name="c1-callout-2"/>
          <p:cNvGrpSpPr/>
          <p:nvPr/>
        </p:nvGrpSpPr>
        <p:grpSpPr>
          <a:xfrm>
            <a:off x="533400" y="4994910"/>
            <a:ext cx="4977765" cy="467678"/>
            <a:chOff x="533400" y="4994910"/>
            <a:chExt cx="4977765" cy="467678"/>
          </a:xfrm>
        </p:grpSpPr>
        <p:sp>
          <p:nvSpPr>
            <p:cNvPr id="13" name="Rectangle 13"/>
            <p:cNvSpPr/>
            <p:nvPr/>
          </p:nvSpPr>
          <p:spPr>
            <a:xfrm>
              <a:off x="533400" y="4994910"/>
              <a:ext cx="4977765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738188" y="5129215"/>
              <a:ext cx="200023" cy="200023"/>
              <a:chOff x="738188" y="5129215"/>
              <a:chExt cx="200023" cy="20002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38188" y="512921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71538" y="51958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041273" y="5140166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a[n] 是溢出位，1111 加一后循环自然结束。</a:t>
              </a:r>
            </a:p>
          </p:txBody>
        </p:sp>
      </p:grpSp>
      <p:grpSp>
        <p:nvGrpSpPr>
          <p:cNvPr id="71" name="c2-table-1"/>
          <p:cNvGrpSpPr/>
          <p:nvPr/>
        </p:nvGrpSpPr>
        <p:grpSpPr>
          <a:xfrm>
            <a:off x="5815965" y="1928812"/>
            <a:ext cx="5842635" cy="3432810"/>
            <a:chOff x="5815965" y="1928812"/>
            <a:chExt cx="5842635" cy="3432810"/>
          </a:xfrm>
        </p:grpSpPr>
        <p:sp>
          <p:nvSpPr>
            <p:cNvPr id="19" name="Rectangle 19"/>
            <p:cNvSpPr/>
            <p:nvPr/>
          </p:nvSpPr>
          <p:spPr>
            <a:xfrm>
              <a:off x="5815965" y="1928812"/>
              <a:ext cx="584263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916732" y="2045970"/>
              <a:ext cx="13167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a[3]a[2]a[1]a[0]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89558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子集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38049" y="2045970"/>
              <a:ext cx="13167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a[3]a[2]a[1]a[0]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810875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39725" y="2426970"/>
              <a:ext cx="4707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0 0 0 0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29881" y="2426970"/>
              <a:ext cx="208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 }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271997" y="2426970"/>
              <a:ext cx="448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1 0 0 0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351198" y="2426970"/>
              <a:ext cx="3287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 d }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815965" y="268700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815965" y="269176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39725" y="2808923"/>
              <a:ext cx="4707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0 0 0 1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29881" y="2808923"/>
              <a:ext cx="3287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 a }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271997" y="2808923"/>
              <a:ext cx="448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1 0 0 1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351198" y="2808923"/>
              <a:ext cx="448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 a d }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815965" y="306800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39725" y="3189923"/>
              <a:ext cx="4707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0 0 1 0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29881" y="3189923"/>
              <a:ext cx="3287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 b }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271997" y="3189923"/>
              <a:ext cx="448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1 0 1 0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351198" y="3189923"/>
              <a:ext cx="448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 b d }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815965" y="344900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815965" y="345376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39725" y="3571875"/>
              <a:ext cx="4707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0 0 1 1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429881" y="3571875"/>
              <a:ext cx="448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 a b }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271997" y="3571875"/>
              <a:ext cx="448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1 0 1 1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351198" y="3571875"/>
              <a:ext cx="5690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 a b d }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815965" y="383095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39725" y="3952875"/>
              <a:ext cx="4707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0 1 0 0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429881" y="3952875"/>
              <a:ext cx="3287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 c }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71997" y="3952875"/>
              <a:ext cx="448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1 1 0 0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351198" y="3952875"/>
              <a:ext cx="448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 c d }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815965" y="421195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815965" y="4216718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39725" y="4333875"/>
              <a:ext cx="4707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0 1 0 1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429881" y="4333875"/>
              <a:ext cx="448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 a c }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271997" y="4333875"/>
              <a:ext cx="448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1 1 0 1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351198" y="4333875"/>
              <a:ext cx="5690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 a c d }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815965" y="459390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339725" y="4715828"/>
              <a:ext cx="4707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0 1 1 0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429881" y="4715828"/>
              <a:ext cx="448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 b c }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271997" y="4715828"/>
              <a:ext cx="448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1 1 1 0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351198" y="4715828"/>
              <a:ext cx="5690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 b c d }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815965" y="497490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5815965" y="4979670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339725" y="5096828"/>
              <a:ext cx="4707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0 1 1 1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429881" y="5096828"/>
              <a:ext cx="5690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 a b c }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271997" y="5096828"/>
              <a:ext cx="448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1 1 1 1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351198" y="5096828"/>
              <a:ext cx="6891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 a b c d }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815965" y="1928812"/>
              <a:ext cx="5842635" cy="34328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7330440" y="1928812"/>
              <a:ext cx="9525" cy="3432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8732520" y="1928812"/>
              <a:ext cx="9525" cy="3432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10251758" y="1928812"/>
              <a:ext cx="9525" cy="3432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8" name="takeaway"/>
          <p:cNvGrpSpPr/>
          <p:nvPr/>
        </p:nvGrpSpPr>
        <p:grpSpPr>
          <a:xfrm>
            <a:off x="533400" y="5659755"/>
            <a:ext cx="11125200" cy="702945"/>
            <a:chOff x="533400" y="5659755"/>
            <a:chExt cx="11125200" cy="702945"/>
          </a:xfrm>
        </p:grpSpPr>
        <p:sp>
          <p:nvSpPr>
            <p:cNvPr id="72" name="Rectangle 72"/>
            <p:cNvSpPr/>
            <p:nvPr/>
          </p:nvSpPr>
          <p:spPr>
            <a:xfrm>
              <a:off x="533400" y="5659755"/>
              <a:ext cx="11125200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738188" y="5911215"/>
              <a:ext cx="200026" cy="200026"/>
              <a:chOff x="738188" y="5911215"/>
              <a:chExt cx="200026" cy="200026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738188" y="591121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838200" y="59778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27088" y="601122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1041273" y="5805011"/>
              <a:ext cx="92382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更正：原课件第 155 页的 `char s[]={'a','b','c’,'d’,…}` 混进了中文弯引号，第 156 页把 `AddOne` 误写成 `addOne` 且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`PowerSet` 用在定义之前，这三处都编译不过，已改正。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第5讲 数组与矩阵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996184" cy="909257"/>
            <a:chOff x="520446" y="342900"/>
            <a:chExt cx="299618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第5讲 数组与矩阵 · 子集生成与矩阵的应用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4288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矩阵不只是数表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283196" cy="264033"/>
            <a:chOff x="526542" y="1545907"/>
            <a:chExt cx="7283196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2831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本讲的压缩存储和数组技巧不是孤立的，后面的课程和实际工程里会反复用到同样的结构。</a:t>
              </a:r>
            </a:p>
          </p:txBody>
        </p:sp>
      </p:grpSp>
      <p:grpSp>
        <p:nvGrpSpPr>
          <p:cNvPr id="19" name="c1-card-1"/>
          <p:cNvGrpSpPr/>
          <p:nvPr/>
        </p:nvGrpSpPr>
        <p:grpSpPr>
          <a:xfrm>
            <a:off x="533400" y="1928812"/>
            <a:ext cx="5410200" cy="1973580"/>
            <a:chOff x="533400" y="1928812"/>
            <a:chExt cx="5410200" cy="197358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973580"/>
            </a:xfrm>
            <a:prstGeom prst="roundRect">
              <a:avLst>
                <a:gd name="adj" fmla="val 67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170688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2475" y="210978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37044" y="21426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图像处理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68006" y="214931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一张图片就是一个矩阵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5998" y="2465546"/>
              <a:ext cx="476783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黑白图像的每个像素存一个灰度值，整幅图是一个 m×n 的整数矩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阵；彩色图像每个像素存 R、G、B 三个分量，相当于三个矩阵叠在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一起。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2000" y="328898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17448" y="3237071"/>
              <a:ext cx="31662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1920×1080 的灰度图有 2 073 600 个元素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62000" y="357378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17448" y="3521869"/>
              <a:ext cx="46569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同尺寸彩色图有 6 220 800 个分量，每分量 1 字节约 5.9 MB</a:t>
              </a:r>
            </a:p>
          </p:txBody>
        </p:sp>
      </p:grpSp>
      <p:grpSp>
        <p:nvGrpSpPr>
          <p:cNvPr id="26" name="c1-callout-2"/>
          <p:cNvGrpSpPr/>
          <p:nvPr/>
        </p:nvGrpSpPr>
        <p:grpSpPr>
          <a:xfrm>
            <a:off x="533400" y="4066222"/>
            <a:ext cx="5410200" cy="1654492"/>
            <a:chOff x="533400" y="4066222"/>
            <a:chExt cx="5410200" cy="1654492"/>
          </a:xfrm>
        </p:grpSpPr>
        <p:sp>
          <p:nvSpPr>
            <p:cNvPr id="20" name="Rectangle 20"/>
            <p:cNvSpPr/>
            <p:nvPr/>
          </p:nvSpPr>
          <p:spPr>
            <a:xfrm>
              <a:off x="533400" y="4066222"/>
              <a:ext cx="5410200" cy="1654492"/>
            </a:xfrm>
            <a:prstGeom prst="roundRect">
              <a:avLst>
                <a:gd name="adj" fmla="val 6908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38188" y="4793933"/>
              <a:ext cx="200026" cy="200025"/>
              <a:chOff x="738188" y="4793933"/>
              <a:chExt cx="200026" cy="20002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38188" y="479393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77926" y="483838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12642" y="494950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1273" y="4686776"/>
              <a:ext cx="44020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图像的模糊、锐化、边缘检测都是在矩阵上做局部加权求和，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本讲的按行优先寻址决定了这些运算按什么顺序访存最快。</a:t>
              </a:r>
            </a:p>
          </p:txBody>
        </p:sp>
      </p:grpSp>
      <p:grpSp>
        <p:nvGrpSpPr>
          <p:cNvPr id="46" name="c2-table-1"/>
          <p:cNvGrpSpPr/>
          <p:nvPr/>
        </p:nvGrpSpPr>
        <p:grpSpPr>
          <a:xfrm>
            <a:off x="6248400" y="1928812"/>
            <a:ext cx="5410200" cy="2466975"/>
            <a:chOff x="6248400" y="1928812"/>
            <a:chExt cx="5410200" cy="2466975"/>
          </a:xfrm>
        </p:grpSpPr>
        <p:sp>
          <p:nvSpPr>
            <p:cNvPr id="27" name="Rectangle 27"/>
            <p:cNvSpPr/>
            <p:nvPr/>
          </p:nvSpPr>
          <p:spPr>
            <a:xfrm>
              <a:off x="6248400" y="1928812"/>
              <a:ext cx="5410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26187" y="2045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后续讲次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319260" y="204597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用到本讲的什么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43079" y="2520315"/>
              <a:ext cx="11556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12 讲 图的存储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074724" y="2426970"/>
              <a:ext cx="334441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邻接矩阵就是一个方阵；无向图的邻接矩阵对称，可按对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称矩阵压缩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248400" y="28736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48400" y="2878455"/>
              <a:ext cx="5410200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43079" y="3088958"/>
              <a:ext cx="11556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13 讲 图的遍历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074724" y="2995612"/>
              <a:ext cx="334441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稀疏图用邻接表而不是邻接矩阵，理由与本讲的稀疏矩阵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248400" y="34413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43079" y="3563302"/>
              <a:ext cx="10142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18 讲 堆排序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074724" y="3563302"/>
              <a:ext cx="3544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完全二叉树用一维数组存，下标映射与特殊矩阵同一思路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248400" y="38223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48400" y="3827145"/>
              <a:ext cx="5410200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43079" y="4038600"/>
              <a:ext cx="11556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21 讲 分布排序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989570" y="3836670"/>
              <a:ext cx="3659505" cy="5486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074724" y="3945255"/>
              <a:ext cx="334441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先统计个数、再求前缀和、最后一次落位，与快速转置完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全同构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48400" y="1928812"/>
              <a:ext cx="5410200" cy="24669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7975282" y="1928812"/>
              <a:ext cx="9525" cy="24669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2" name="c2-card-2"/>
          <p:cNvGrpSpPr/>
          <p:nvPr/>
        </p:nvGrpSpPr>
        <p:grpSpPr>
          <a:xfrm>
            <a:off x="6248400" y="4560570"/>
            <a:ext cx="5410200" cy="1160145"/>
            <a:chOff x="6248400" y="4560570"/>
            <a:chExt cx="5410200" cy="1160145"/>
          </a:xfrm>
        </p:grpSpPr>
        <p:sp>
          <p:nvSpPr>
            <p:cNvPr id="47" name="Rectangle 47"/>
            <p:cNvSpPr/>
            <p:nvPr/>
          </p:nvSpPr>
          <p:spPr>
            <a:xfrm>
              <a:off x="6248400" y="4560570"/>
              <a:ext cx="5410200" cy="1160145"/>
            </a:xfrm>
            <a:prstGeom prst="roundRect">
              <a:avLst>
                <a:gd name="adj" fmla="val 1149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429375" y="474154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13944" y="477440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一条主线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244906" y="478107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下标映射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22898" y="5097304"/>
              <a:ext cx="475157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 n 维数组寻址、特殊矩阵压缩，到堆的孩子结点下标，做的都是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同一件事：用算术把结构关系换算成一维下标。</a:t>
              </a:r>
            </a:p>
          </p:txBody>
        </p:sp>
      </p:grpSp>
      <p:grpSp>
        <p:nvGrpSpPr>
          <p:cNvPr id="5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3" name="Rectangle 5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1273" y="6039326"/>
              <a:ext cx="99726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三元组表按行优先排序后用前缀和定位，这套“计数加前缀和”的写法在第 21 讲会以计数排序的名字再出现一次，值得现在就记住。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第5讲 数组与矩阵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402652" cy="909257"/>
            <a:chOff x="520446" y="342900"/>
            <a:chExt cx="1402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8969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7064" y="407194"/>
              <a:ext cx="1201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第5讲 数组与矩阵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5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0009251" cy="264033"/>
            <a:chOff x="526542" y="1545907"/>
            <a:chExt cx="10009251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00092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先自己写出答案再看解答。另外自问两题：对称矩阵的压缩为什么不需要新公式？滚动数组为什么要求内层循环从左往右扫？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3505200" cy="1914525"/>
            <a:chOff x="533400" y="1928812"/>
            <a:chExt cx="3505200" cy="191452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1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7898" y="2449354"/>
              <a:ext cx="274762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 A[2][3][4][5] 按行优先，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A[1][1][1][1] 前面有多少个元素？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7898" y="2977991"/>
              <a:ext cx="292277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系数依次是 3×4×5 = 60、4×5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20、5、1，合计 86 个。系数只与后面的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维度有关，第一维长度 2 不进入计算。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4008120"/>
            <a:ext cx="3505200" cy="2157412"/>
            <a:chOff x="533400" y="4008120"/>
            <a:chExt cx="3505200" cy="2157412"/>
          </a:xfrm>
        </p:grpSpPr>
        <p:sp>
          <p:nvSpPr>
            <p:cNvPr id="15" name="Rectangle 15"/>
            <p:cNvSpPr/>
            <p:nvPr/>
          </p:nvSpPr>
          <p:spPr>
            <a:xfrm>
              <a:off x="533400" y="4008120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4375" y="418909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3832" y="422195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7898" y="4529614"/>
              <a:ext cx="28679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快速转置为什么能把 O(n·t) 降到 O(n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t)？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7898" y="5057299"/>
              <a:ext cx="300405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朴素算法每个列号都把 a 扫一遍。快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速转置先用 rowsize 统计各列个数，再求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前缀和得 start，扫一遍 a 即可落位。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4343400" y="1928812"/>
            <a:ext cx="3505200" cy="1914525"/>
            <a:chOff x="4343400" y="1928812"/>
            <a:chExt cx="3505200" cy="1914525"/>
          </a:xfrm>
        </p:grpSpPr>
        <p:sp>
          <p:nvSpPr>
            <p:cNvPr id="21" name="Rectangle 21"/>
            <p:cNvSpPr/>
            <p:nvPr/>
          </p:nvSpPr>
          <p:spPr>
            <a:xfrm>
              <a:off x="4343400" y="1928812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52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1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17898" y="2449354"/>
              <a:ext cx="295366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阶下三角矩阵压缩到 d，M(5, 3) 在哪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一格？前提是什么？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17898" y="2977991"/>
              <a:ext cx="296341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5×4/2 + 2 = 12，即 d[12]。前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提是按行优先、矩阵下标从 1 起算、数组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下标从 0 起算。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4343400" y="4008120"/>
            <a:ext cx="3505200" cy="2157412"/>
            <a:chOff x="4343400" y="4008120"/>
            <a:chExt cx="3505200" cy="2157412"/>
          </a:xfrm>
        </p:grpSpPr>
        <p:sp>
          <p:nvSpPr>
            <p:cNvPr id="27" name="Rectangle 27"/>
            <p:cNvSpPr/>
            <p:nvPr/>
          </p:nvSpPr>
          <p:spPr>
            <a:xfrm>
              <a:off x="4343400" y="4008120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524375" y="418909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13832" y="422195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17898" y="4529614"/>
              <a:ext cx="291221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尺取法为什么是 O(n)？有负数时还成立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吗？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17898" y="5057299"/>
              <a:ext cx="2841498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两个指针都只右移，合计不超过 2n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步。有负数时和不再单调，会漏解：a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−1, 5、S = 5 时给出 3，正确答案是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1。</a:t>
              </a:r>
            </a:p>
          </p:txBody>
        </p:sp>
      </p:grpSp>
      <p:grpSp>
        <p:nvGrpSpPr>
          <p:cNvPr id="38" name="c3-card-1"/>
          <p:cNvGrpSpPr/>
          <p:nvPr/>
        </p:nvGrpSpPr>
        <p:grpSpPr>
          <a:xfrm>
            <a:off x="8153400" y="1928812"/>
            <a:ext cx="3505200" cy="1914525"/>
            <a:chOff x="8153400" y="1928812"/>
            <a:chExt cx="3505200" cy="1914525"/>
          </a:xfrm>
        </p:grpSpPr>
        <p:sp>
          <p:nvSpPr>
            <p:cNvPr id="33" name="Rectangle 33"/>
            <p:cNvSpPr/>
            <p:nvPr/>
          </p:nvSpPr>
          <p:spPr>
            <a:xfrm>
              <a:off x="8153400" y="1928812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833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2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27898" y="2449354"/>
              <a:ext cx="27764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为什么三元组表在小矩阵上反而更费空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27898" y="2977991"/>
              <a:ext cx="296341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一个非零元要存 row、col、value，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外加行数、列数、非零元个数，共 3t + 3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个整数。本讲 4×4 例子 t = 6，21 &gt; 16。</a:t>
              </a:r>
            </a:p>
          </p:txBody>
        </p:sp>
      </p:grpSp>
      <p:grpSp>
        <p:nvGrpSpPr>
          <p:cNvPr id="44" name="c3-card-2"/>
          <p:cNvGrpSpPr/>
          <p:nvPr/>
        </p:nvGrpSpPr>
        <p:grpSpPr>
          <a:xfrm>
            <a:off x="8153400" y="4008120"/>
            <a:ext cx="3505200" cy="2157412"/>
            <a:chOff x="8153400" y="4008120"/>
            <a:chExt cx="3505200" cy="2157412"/>
          </a:xfrm>
        </p:grpSpPr>
        <p:sp>
          <p:nvSpPr>
            <p:cNvPr id="39" name="Rectangle 39"/>
            <p:cNvSpPr/>
            <p:nvPr/>
          </p:nvSpPr>
          <p:spPr>
            <a:xfrm>
              <a:off x="8153400" y="4008120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334375" y="418909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23832" y="422195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27898" y="452961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前缀和与差分数组各适合什么场合？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27898" y="4814411"/>
              <a:ext cx="295529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前缀和管“不改、反复查区间和”，差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分数组管“反复改区间、最后才读”，单次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操作都是 O(1)。两者互为逆运算。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第5讲 数组与矩阵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402652" cy="909257"/>
            <a:chOff x="520446" y="342900"/>
            <a:chExt cx="1402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8969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7064" y="407194"/>
              <a:ext cx="1201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第5讲 数组与矩阵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table-1"/>
          <p:cNvGrpSpPr/>
          <p:nvPr/>
        </p:nvGrpSpPr>
        <p:grpSpPr>
          <a:xfrm>
            <a:off x="533400" y="1524000"/>
            <a:ext cx="5842635" cy="2287905"/>
            <a:chOff x="533400" y="1524000"/>
            <a:chExt cx="5842635" cy="22879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70597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89286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8078" y="2023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数组寻址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96796" y="2023110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按行优先折成一个偏移，系数只看后面的维度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282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286952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8078" y="2404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特殊矩阵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96796" y="2404110"/>
              <a:ext cx="28447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对角 n、三角与对称 n(n+1)/2、三对角 3n−2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63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8078" y="2785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稀疏矩阵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96796" y="2785110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三元组表存得紧；十字链表改得快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45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04990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8078" y="31670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动态规划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96796" y="3167062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三个前提；自底向上填表，能压则用滚动数组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426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8078" y="35480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区间技巧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96796" y="3548062"/>
              <a:ext cx="34708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前缀和查和、差分改区间、ST 表查最值、尺取法找区间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524000"/>
              <a:ext cx="5842635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697355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9" name="c1-card-2"/>
          <p:cNvGrpSpPr/>
          <p:nvPr/>
        </p:nvGrpSpPr>
        <p:grpSpPr>
          <a:xfrm>
            <a:off x="533400" y="3976688"/>
            <a:ext cx="5842635" cy="1714500"/>
            <a:chOff x="533400" y="3976688"/>
            <a:chExt cx="5842635" cy="1714500"/>
          </a:xfrm>
        </p:grpSpPr>
        <p:sp>
          <p:nvSpPr>
            <p:cNvPr id="29" name="Rectangle 29"/>
            <p:cNvSpPr/>
            <p:nvPr/>
          </p:nvSpPr>
          <p:spPr>
            <a:xfrm>
              <a:off x="533400" y="3976688"/>
              <a:ext cx="5842635" cy="1714500"/>
            </a:xfrm>
            <a:prstGeom prst="roundRect">
              <a:avLst>
                <a:gd name="adj" fmla="val 77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110038"/>
              <a:ext cx="47625" cy="144780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52475" y="4157662"/>
              <a:ext cx="182784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3440" y="4190524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本讲义对源课件的更正与补充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62000" y="455104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17448" y="4498181"/>
              <a:ext cx="34988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第 50 页 `cur` 未声明，已改为 </a:t>
              </a:r>
              <a:r>
                <a:rPr lang="en-US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int cur = n;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62000" y="483584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17448" y="4782979"/>
              <a:ext cx="45878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108、115、126 页的大数组开在函数内会栈溢出，已移出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62000" y="512064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17448" y="5067776"/>
              <a:ext cx="49303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多处源码用了中文弯引号，`addOne`、`column` 拼写不一致，已更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</a:t>
              </a:r>
            </a:p>
          </p:txBody>
        </p:sp>
      </p:grpSp>
      <p:grpSp>
        <p:nvGrpSpPr>
          <p:cNvPr id="55" name="c2-bullets-1"/>
          <p:cNvGrpSpPr/>
          <p:nvPr/>
        </p:nvGrpSpPr>
        <p:grpSpPr>
          <a:xfrm>
            <a:off x="6681788" y="1533525"/>
            <a:ext cx="3818219" cy="1432845"/>
            <a:chOff x="6681788" y="1533525"/>
            <a:chExt cx="3818219" cy="1432845"/>
          </a:xfrm>
        </p:grpSpPr>
        <p:sp>
          <p:nvSpPr>
            <p:cNvPr id="40" name="Ellipse 40"/>
            <p:cNvSpPr/>
            <p:nvPr/>
          </p:nvSpPr>
          <p:spPr>
            <a:xfrm>
              <a:off x="6681788" y="153352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33694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951536" y="1545431"/>
              <a:ext cx="35484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压缩先回答两问：d 要多大、M(i, j) 落在哪格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681788" y="182689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33694" y="1862519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951536" y="1837849"/>
              <a:ext cx="31318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数“它前面有几个要存的元素”是统一推法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681788" y="212026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33694" y="215588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951536" y="2131219"/>
              <a:ext cx="33213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稀疏矩阵在“存得紧”和“改得快”之间二选一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681788" y="241363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733694" y="24483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951536" y="2424589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动态规划的关键是定义状态并写出递推式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681788" y="270605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33694" y="274167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951536" y="2717006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区间问题先分清只查、只改还是查最值</a:t>
              </a:r>
            </a:p>
          </p:txBody>
        </p:sp>
      </p:grpSp>
      <p:grpSp>
        <p:nvGrpSpPr>
          <p:cNvPr id="63" name="c2-card-2"/>
          <p:cNvGrpSpPr/>
          <p:nvPr/>
        </p:nvGrpSpPr>
        <p:grpSpPr>
          <a:xfrm>
            <a:off x="6680835" y="3081338"/>
            <a:ext cx="4977765" cy="2609850"/>
            <a:chOff x="6680835" y="3081338"/>
            <a:chExt cx="4977765" cy="2609850"/>
          </a:xfrm>
        </p:grpSpPr>
        <p:sp>
          <p:nvSpPr>
            <p:cNvPr id="56" name="Rectangle 56"/>
            <p:cNvSpPr/>
            <p:nvPr/>
          </p:nvSpPr>
          <p:spPr>
            <a:xfrm>
              <a:off x="6680835" y="3081338"/>
              <a:ext cx="4977765" cy="2609850"/>
            </a:xfrm>
            <a:prstGeom prst="roundRect">
              <a:avLst>
                <a:gd name="adj" fmla="val 5109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861810" y="326231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947332" y="329517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复习方法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871335" y="3654742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026783" y="3602831"/>
              <a:ext cx="416636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拿一个 5 阶矩阵，对四种特殊矩阵各算一次 M(4, 2) 的下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871335" y="4182428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026783" y="4130516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把本讲五个动态规划例子的递推式默写一遍</a:t>
              </a:r>
            </a:p>
          </p:txBody>
        </p:sp>
      </p:grpSp>
      <p:grpSp>
        <p:nvGrpSpPr>
          <p:cNvPr id="70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4" name="Rectangle 64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041273" y="6039326"/>
              <a:ext cx="89904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另补充了三元组表的空间账与尺取法遇负数的反例。下一讲字符串模式匹配会把“先预处理再快速回答”用到模式串上。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第5讲 数组与矩阵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s_l05">
  <a:themeElements>
    <a:clrScheme name="ds_l0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s_l05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s_l0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2026-09-19T10:09:40Z</dcterms:created>
  <dcterms:modified xsi:type="dcterms:W3CDTF">2026-09-19T10:09:40Z</dcterms:modified>
  <cp:category/>
  <cp:contentStatus/>
</cp:coreProperties>
</file>