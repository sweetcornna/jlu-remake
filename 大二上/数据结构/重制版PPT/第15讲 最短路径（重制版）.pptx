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bbc1e09b4b9115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1585fe9aabddbcb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a2b1df6a5fb753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462005" cy="3437763"/>
            <a:chOff x="666750" y="1619250"/>
            <a:chExt cx="4462005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第15讲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4520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BFS 数边数，到 Dijkstra、A*、Floyd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无权图用 BFS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509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正权图用 Dijkstra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37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每对顶点用 Floyd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k 短与带约束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15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问题的五种形态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从无权单源一路加条件到带约束的第 k 短路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无权图的最短路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22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BFS 一层一层推进，出队即定稿，O(n+e)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32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097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把顶点按与源点距离递增逐个放进集合 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8060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 初探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估价函数 f = g + h 让搜索朝目标点偏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878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与传递闭包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按中间顶点编号递推，一次算出所有点对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61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短与带约束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979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Yen 算法与改造过的优先队列 Dijkstra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539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给定一张无权图和源点，手推 BFS 的 dist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pre 数组并写出最短路径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 Dijkstra，逐轮填出 S、dist、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三张表，并画出最短路径树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Dijkstra 为什么要求权非负，并用一个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三顶点的图说明负权会错在哪里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手工递推 Floyd 的 D⁰ 到 Dⁿ 与 path 矩阵，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并用 path 还原任意两点的路径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272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给定一个具体问题，判断该用 BFS、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Dijkstra、A* 还是 Floyd，并说清代价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71033" cy="3351847"/>
            <a:chOff x="667512" y="1835468"/>
            <a:chExt cx="537103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无权图的单源最短路径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611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路径长度就是边的条数，BFS 天然按距离递增访问顶点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路径长度的两种定义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40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出队即定稿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 与 pre 两个数组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735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O(n+e)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无权图的单源最短路径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最短路径问题不是一个问题，而是一串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01053" cy="293370"/>
            <a:chOff x="525780" y="1548765"/>
            <a:chExt cx="690105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01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先把“路径长度”定义清楚，再看这一讲要解决的六种形态各自加了什么条件。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54530"/>
            <a:ext cx="4544378" cy="2435542"/>
            <a:chOff x="533400" y="1954530"/>
            <a:chExt cx="4544378" cy="243554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544378" cy="2435542"/>
            </a:xfrm>
            <a:prstGeom prst="roundRect">
              <a:avLst>
                <a:gd name="adj" fmla="val 54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1688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路径长度与最短路径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6098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550319"/>
              <a:ext cx="3512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无权图的路径长度：路径包含的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边的条数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29298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2870359"/>
              <a:ext cx="3895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带权图的路径长度：路径包含的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各边权值之和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319039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长度最小的路径称为最短路径；两个顶点间最短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路径的长度也叫这两个顶点间的最短距离。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239" y="3777615"/>
              <a:ext cx="3822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同一对顶点之间的最短路径可能不止一条，最短距离却只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有一个。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575810"/>
            <a:ext cx="4544378" cy="1018222"/>
            <a:chOff x="533400" y="4575810"/>
            <a:chExt cx="4544378" cy="1018222"/>
          </a:xfrm>
        </p:grpSpPr>
        <p:sp>
          <p:nvSpPr>
            <p:cNvPr id="21" name="Rectangle 21"/>
            <p:cNvSpPr/>
            <p:nvPr/>
          </p:nvSpPr>
          <p:spPr>
            <a:xfrm>
              <a:off x="533400" y="4575810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980741"/>
              <a:ext cx="224134" cy="192560"/>
              <a:chOff x="726129" y="498074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0511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9807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1288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722971"/>
              <a:ext cx="364832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无权图上把每条边当成权 1 也能用带权算法，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但反过来不行，带权图的最短路和边数没有关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系。</a:t>
              </a:r>
            </a:p>
          </p:txBody>
        </p:sp>
      </p:grpSp>
      <p:grpSp>
        <p:nvGrpSpPr>
          <p:cNvPr id="60" name="c2-flow-1"/>
          <p:cNvGrpSpPr/>
          <p:nvPr/>
        </p:nvGrpSpPr>
        <p:grpSpPr>
          <a:xfrm>
            <a:off x="5529262" y="2173605"/>
            <a:ext cx="5982652" cy="2369820"/>
            <a:chOff x="5529262" y="2173605"/>
            <a:chExt cx="5982652" cy="2369820"/>
          </a:xfrm>
        </p:grpSpPr>
        <p:sp>
          <p:nvSpPr>
            <p:cNvPr id="28" name="Freeform 28"/>
            <p:cNvSpPr/>
            <p:nvPr/>
          </p:nvSpPr>
          <p:spPr>
            <a:xfrm>
              <a:off x="7328535" y="2716530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516178" y="26641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420225" y="2716530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607868" y="26641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612755" y="3018472"/>
              <a:ext cx="9525" cy="816293"/>
            </a:xfrm>
            <a:custGeom>
              <a:avLst/>
              <a:gdLst/>
              <a:ahLst/>
              <a:cxnLst/>
              <a:rect l="l" t="t" r="r" b="b"/>
              <a:pathLst>
                <a:path w="9525" h="816293">
                  <a:moveTo>
                    <a:pt x="0" y="0"/>
                  </a:moveTo>
                  <a:lnTo>
                    <a:pt x="0" y="8162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60368" y="38347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525000" y="424148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20225" y="4189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433310" y="424148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328535" y="4189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29262" y="2414588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20952" y="2414588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712642" y="2414588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12642" y="3939540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952" y="3939540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29262" y="3939540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41326" y="2529840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无权图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单源最短路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33969" y="2529840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正权图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单源最短路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5659" y="2529840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正权图单源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单目标点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25659" y="4054792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任意两点间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4939" y="4054792"/>
              <a:ext cx="4922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17526" y="4054792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带约束的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226618" y="2173605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56907" y="22002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边有权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19235" y="2173605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37523" y="22002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只问一个终点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641330" y="338709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64571" y="34137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所有起点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185910" y="3698558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08198" y="37252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不止要最短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59942" y="369855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86232" y="37252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再加限制</a:t>
              </a:r>
            </a:p>
          </p:txBody>
        </p:sp>
      </p:grpSp>
      <p:grpSp>
        <p:nvGrpSpPr>
          <p:cNvPr id="62" name="c2-text-2"/>
          <p:cNvGrpSpPr/>
          <p:nvPr/>
        </p:nvGrpSpPr>
        <p:grpSpPr>
          <a:xfrm>
            <a:off x="5376482" y="5208270"/>
            <a:ext cx="4642904" cy="234696"/>
            <a:chOff x="5376482" y="5208270"/>
            <a:chExt cx="4642904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5376482" y="5208270"/>
              <a:ext cx="4642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本讲依次用 BFS、Dijkstra、A*、Floyd、Yen 解决这六种形态。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3" name="Rectangle 6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0408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判断一道题属于哪一种形态，比记住算法代码更要紧，选错形态算法一定跑偏。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4495" cy="909257"/>
            <a:chOff x="520446" y="342900"/>
            <a:chExt cx="557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无权图的单源最短路径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为什么一出队就能定下最短距离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74154" cy="264033"/>
            <a:chOff x="526542" y="1545907"/>
            <a:chExt cx="717415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74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广度优先搜索按“与源点相隔几条边”分层推进，第 k 层的顶点恰好就是距离为 k 的顶点。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2855671" cy="2149411"/>
            <a:chOff x="533400" y="1938338"/>
            <a:chExt cx="2855671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只有源点 v₁ 自己，距离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的全部邻接顶点 w₁ … wₖ，距离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2441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 w 的尚未访问的邻接顶点，距离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依此类推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直到队列为空，连通的顶点全部访问完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249102"/>
            <a:ext cx="5842635" cy="1444942"/>
            <a:chOff x="533400" y="4249102"/>
            <a:chExt cx="5842635" cy="1444942"/>
          </a:xfrm>
        </p:grpSpPr>
        <p:sp>
          <p:nvSpPr>
            <p:cNvPr id="27" name="Rectangle 27"/>
            <p:cNvSpPr/>
            <p:nvPr/>
          </p:nvSpPr>
          <p:spPr>
            <a:xfrm>
              <a:off x="533400" y="4249102"/>
              <a:ext cx="584263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8245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4300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044" y="44629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8006" y="446960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先访问的一定不比后访问的远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786789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队列保证访问次序按层递增。一个顶点第一次被发现时，发现它的那条边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来自上一层，所以 dist 只会被写一次，写下的就是最短距离。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53663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5314474"/>
              <a:ext cx="4246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写过之后 `dist[w] != INF`，后面再遇到 w 就直接跳过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7163999" y="1980724"/>
            <a:ext cx="4210510" cy="2275998"/>
            <a:chOff x="7163999" y="1980724"/>
            <a:chExt cx="4210510" cy="2275998"/>
          </a:xfrm>
        </p:grpSpPr>
        <p:sp>
          <p:nvSpPr>
            <p:cNvPr id="36" name="Freeform 36"/>
            <p:cNvSpPr/>
            <p:nvPr/>
          </p:nvSpPr>
          <p:spPr>
            <a:xfrm>
              <a:off x="7477125" y="2517458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0"/>
                  </a:moveTo>
                  <a:lnTo>
                    <a:pt x="0" y="474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57148" y="2405062"/>
              <a:ext cx="1432560" cy="699135"/>
            </a:xfrm>
            <a:custGeom>
              <a:avLst/>
              <a:gdLst/>
              <a:ahLst/>
              <a:cxnLst/>
              <a:rect l="l" t="t" r="r" b="b"/>
              <a:pathLst>
                <a:path w="1432560" h="699135">
                  <a:moveTo>
                    <a:pt x="0" y="0"/>
                  </a:moveTo>
                  <a:lnTo>
                    <a:pt x="1432560" y="699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677150" y="2317432"/>
              <a:ext cx="1392555" cy="9525"/>
            </a:xfrm>
            <a:custGeom>
              <a:avLst/>
              <a:gdLst/>
              <a:ahLst/>
              <a:cxnLst/>
              <a:rect l="l" t="t" r="r" b="b"/>
              <a:pathLst>
                <a:path w="1392555" h="9525">
                  <a:moveTo>
                    <a:pt x="0" y="0"/>
                  </a:moveTo>
                  <a:lnTo>
                    <a:pt x="13925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77125" y="3391852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0"/>
                  </a:moveTo>
                  <a:lnTo>
                    <a:pt x="0" y="474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269730" y="2517458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47434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657148" y="3279458"/>
              <a:ext cx="1432560" cy="699135"/>
            </a:xfrm>
            <a:custGeom>
              <a:avLst/>
              <a:gdLst/>
              <a:ahLst/>
              <a:cxnLst/>
              <a:rect l="l" t="t" r="r" b="b"/>
              <a:pathLst>
                <a:path w="1432560" h="699135">
                  <a:moveTo>
                    <a:pt x="1432560" y="0"/>
                  </a:moveTo>
                  <a:lnTo>
                    <a:pt x="0" y="699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448800" y="2405062"/>
              <a:ext cx="1432560" cy="699135"/>
            </a:xfrm>
            <a:custGeom>
              <a:avLst/>
              <a:gdLst/>
              <a:ahLst/>
              <a:cxnLst/>
              <a:rect l="l" t="t" r="r" b="b"/>
              <a:pathLst>
                <a:path w="1432560" h="699135">
                  <a:moveTo>
                    <a:pt x="0" y="699135"/>
                  </a:moveTo>
                  <a:lnTo>
                    <a:pt x="14325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69755" y="2317432"/>
              <a:ext cx="1391602" cy="9525"/>
            </a:xfrm>
            <a:custGeom>
              <a:avLst/>
              <a:gdLst/>
              <a:ahLst/>
              <a:cxnLst/>
              <a:rect l="l" t="t" r="r" b="b"/>
              <a:pathLst>
                <a:path w="1391602" h="9525">
                  <a:moveTo>
                    <a:pt x="0" y="0"/>
                  </a:moveTo>
                  <a:lnTo>
                    <a:pt x="13916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677150" y="4066222"/>
              <a:ext cx="1392555" cy="9525"/>
            </a:xfrm>
            <a:custGeom>
              <a:avLst/>
              <a:gdLst/>
              <a:ahLst/>
              <a:cxnLst/>
              <a:rect l="l" t="t" r="r" b="b"/>
              <a:pathLst>
                <a:path w="1392555" h="9525">
                  <a:moveTo>
                    <a:pt x="0" y="0"/>
                  </a:moveTo>
                  <a:lnTo>
                    <a:pt x="13925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061382" y="2517458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0"/>
                  </a:moveTo>
                  <a:lnTo>
                    <a:pt x="0" y="474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469755" y="4066222"/>
              <a:ext cx="1391602" cy="9525"/>
            </a:xfrm>
            <a:custGeom>
              <a:avLst/>
              <a:gdLst/>
              <a:ahLst/>
              <a:cxnLst/>
              <a:rect l="l" t="t" r="r" b="b"/>
              <a:pathLst>
                <a:path w="1391602" h="9525">
                  <a:moveTo>
                    <a:pt x="0" y="0"/>
                  </a:moveTo>
                  <a:lnTo>
                    <a:pt x="13916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286625" y="2126932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079230" y="212693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870882" y="212693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286625" y="30013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079230" y="30013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870882" y="30013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286625" y="38757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079230" y="38757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870882" y="38757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31922" y="22569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63999" y="2265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24527" y="22569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34611" y="19807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16179" y="22569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04270" y="22655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31922" y="31313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63999" y="3139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24527" y="31313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12618" y="3139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16179" y="31313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304270" y="3139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31922" y="40057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63999" y="40143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224527" y="40057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34611" y="37295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4475" y="4005739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04270" y="40143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6680835" y="4522470"/>
            <a:ext cx="4977765" cy="1172528"/>
            <a:chOff x="6680835" y="4522470"/>
            <a:chExt cx="4977765" cy="1172528"/>
          </a:xfrm>
        </p:grpSpPr>
        <p:sp>
          <p:nvSpPr>
            <p:cNvPr id="75" name="Rectangle 75"/>
            <p:cNvSpPr/>
            <p:nvPr/>
          </p:nvSpPr>
          <p:spPr>
            <a:xfrm>
              <a:off x="6680835" y="4522470"/>
              <a:ext cx="4977765" cy="1172528"/>
            </a:xfrm>
            <a:prstGeom prst="roundRect">
              <a:avLst>
                <a:gd name="adj" fmla="val 974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885623" y="5008245"/>
              <a:ext cx="200026" cy="200025"/>
              <a:chOff x="6885623" y="5008245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885623" y="50082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925361" y="50526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960077" y="51638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188708" y="4902041"/>
              <a:ext cx="40200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顶点旁的数字就是 dist，源点 A 为 0，四层分别是 A｜B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D｜E F｜G H｜I。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1273" y="6039326"/>
              <a:ext cx="5219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这一页的图就是下一页的例题，先自己数一数每个顶点离 A 几条边。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51028" cy="909257"/>
            <a:chOff x="520446" y="342900"/>
            <a:chExt cx="41510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无权图的单源最短路径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510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例1｜从 A 出发跑一遍 BFS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138961" cy="278702"/>
            <a:chOff x="526161" y="1547336"/>
            <a:chExt cx="913896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1389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初始时 dist[A]=0、A 入队。A 的邻接顺序是 B、C、D，其余按字母序，出队顺序因此是 A B C D E F G H I。</a:t>
              </a:r>
            </a:p>
          </p:txBody>
        </p:sp>
      </p:grpSp>
      <p:grpSp>
        <p:nvGrpSpPr>
          <p:cNvPr id="38" name="c1-graph-1"/>
          <p:cNvGrpSpPr/>
          <p:nvPr/>
        </p:nvGrpSpPr>
        <p:grpSpPr>
          <a:xfrm>
            <a:off x="1054418" y="2116455"/>
            <a:ext cx="3459480" cy="1903095"/>
            <a:chOff x="1054418" y="2116455"/>
            <a:chExt cx="3459480" cy="1903095"/>
          </a:xfrm>
        </p:grpSpPr>
        <p:sp>
          <p:nvSpPr>
            <p:cNvPr id="9" name="Freeform 9"/>
            <p:cNvSpPr/>
            <p:nvPr/>
          </p:nvSpPr>
          <p:spPr>
            <a:xfrm>
              <a:off x="1225868" y="2468880"/>
              <a:ext cx="9525" cy="418148"/>
            </a:xfrm>
            <a:custGeom>
              <a:avLst/>
              <a:gdLst/>
              <a:ahLst/>
              <a:cxnLst/>
              <a:rect l="l" t="t" r="r" b="b"/>
              <a:pathLst>
                <a:path w="9525" h="418148">
                  <a:moveTo>
                    <a:pt x="0" y="0"/>
                  </a:moveTo>
                  <a:lnTo>
                    <a:pt x="0" y="4181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87792" y="2368868"/>
              <a:ext cx="1234440" cy="618173"/>
            </a:xfrm>
            <a:custGeom>
              <a:avLst/>
              <a:gdLst/>
              <a:ahLst/>
              <a:cxnLst/>
              <a:rect l="l" t="t" r="r" b="b"/>
              <a:pathLst>
                <a:path w="1234440" h="618173">
                  <a:moveTo>
                    <a:pt x="0" y="0"/>
                  </a:moveTo>
                  <a:lnTo>
                    <a:pt x="1234440" y="6181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06842" y="2287905"/>
              <a:ext cx="1196340" cy="9525"/>
            </a:xfrm>
            <a:custGeom>
              <a:avLst/>
              <a:gdLst/>
              <a:ahLst/>
              <a:cxnLst/>
              <a:rect l="l" t="t" r="r" b="b"/>
              <a:pathLst>
                <a:path w="1196340" h="9525">
                  <a:moveTo>
                    <a:pt x="0" y="0"/>
                  </a:moveTo>
                  <a:lnTo>
                    <a:pt x="11963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25868" y="3248978"/>
              <a:ext cx="9525" cy="418147"/>
            </a:xfrm>
            <a:custGeom>
              <a:avLst/>
              <a:gdLst/>
              <a:ahLst/>
              <a:cxnLst/>
              <a:rect l="l" t="t" r="r" b="b"/>
              <a:pathLst>
                <a:path w="9525" h="418147">
                  <a:moveTo>
                    <a:pt x="0" y="0"/>
                  </a:moveTo>
                  <a:lnTo>
                    <a:pt x="0" y="418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784158" y="2468880"/>
              <a:ext cx="9525" cy="418148"/>
            </a:xfrm>
            <a:custGeom>
              <a:avLst/>
              <a:gdLst/>
              <a:ahLst/>
              <a:cxnLst/>
              <a:rect l="l" t="t" r="r" b="b"/>
              <a:pathLst>
                <a:path w="9525" h="418148">
                  <a:moveTo>
                    <a:pt x="0" y="41814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7792" y="3148965"/>
              <a:ext cx="1234440" cy="618172"/>
            </a:xfrm>
            <a:custGeom>
              <a:avLst/>
              <a:gdLst/>
              <a:ahLst/>
              <a:cxnLst/>
              <a:rect l="l" t="t" r="r" b="b"/>
              <a:pathLst>
                <a:path w="1234440" h="618172">
                  <a:moveTo>
                    <a:pt x="1234440" y="0"/>
                  </a:moveTo>
                  <a:lnTo>
                    <a:pt x="0" y="6181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46082" y="2368868"/>
              <a:ext cx="1234440" cy="618173"/>
            </a:xfrm>
            <a:custGeom>
              <a:avLst/>
              <a:gdLst/>
              <a:ahLst/>
              <a:cxnLst/>
              <a:rect l="l" t="t" r="r" b="b"/>
              <a:pathLst>
                <a:path w="1234440" h="618173">
                  <a:moveTo>
                    <a:pt x="0" y="618173"/>
                  </a:moveTo>
                  <a:lnTo>
                    <a:pt x="12344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5132" y="2287905"/>
              <a:ext cx="1196340" cy="9525"/>
            </a:xfrm>
            <a:custGeom>
              <a:avLst/>
              <a:gdLst/>
              <a:ahLst/>
              <a:cxnLst/>
              <a:rect l="l" t="t" r="r" b="b"/>
              <a:pathLst>
                <a:path w="1196340" h="9525">
                  <a:moveTo>
                    <a:pt x="0" y="0"/>
                  </a:moveTo>
                  <a:lnTo>
                    <a:pt x="11963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406842" y="3848100"/>
              <a:ext cx="1196340" cy="9525"/>
            </a:xfrm>
            <a:custGeom>
              <a:avLst/>
              <a:gdLst/>
              <a:ahLst/>
              <a:cxnLst/>
              <a:rect l="l" t="t" r="r" b="b"/>
              <a:pathLst>
                <a:path w="1196340" h="9525">
                  <a:moveTo>
                    <a:pt x="0" y="0"/>
                  </a:moveTo>
                  <a:lnTo>
                    <a:pt x="11963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42448" y="2468880"/>
              <a:ext cx="9525" cy="418148"/>
            </a:xfrm>
            <a:custGeom>
              <a:avLst/>
              <a:gdLst/>
              <a:ahLst/>
              <a:cxnLst/>
              <a:rect l="l" t="t" r="r" b="b"/>
              <a:pathLst>
                <a:path w="9525" h="418148">
                  <a:moveTo>
                    <a:pt x="0" y="0"/>
                  </a:moveTo>
                  <a:lnTo>
                    <a:pt x="0" y="4181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65132" y="3848100"/>
              <a:ext cx="1196340" cy="9525"/>
            </a:xfrm>
            <a:custGeom>
              <a:avLst/>
              <a:gdLst/>
              <a:ahLst/>
              <a:cxnLst/>
              <a:rect l="l" t="t" r="r" b="b"/>
              <a:pathLst>
                <a:path w="1196340" h="9525">
                  <a:moveTo>
                    <a:pt x="0" y="0"/>
                  </a:moveTo>
                  <a:lnTo>
                    <a:pt x="11963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054418" y="2116455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612708" y="211645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170998" y="211645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54418" y="289655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612708" y="289655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170998" y="289655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54418" y="3676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612708" y="3676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170998" y="3676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80664" y="22274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38954" y="22274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7244" y="22274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0664" y="300751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38954" y="300751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97244" y="300751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80664" y="3787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38954" y="3787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5540" y="3787616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4283392"/>
            <a:ext cx="4328160" cy="1309688"/>
            <a:chOff x="533400" y="4283392"/>
            <a:chExt cx="4328160" cy="1309688"/>
          </a:xfrm>
        </p:grpSpPr>
        <p:sp>
          <p:nvSpPr>
            <p:cNvPr id="39" name="Rectangle 39"/>
            <p:cNvSpPr/>
            <p:nvPr/>
          </p:nvSpPr>
          <p:spPr>
            <a:xfrm>
              <a:off x="533400" y="4283392"/>
              <a:ext cx="4328160" cy="1309688"/>
            </a:xfrm>
            <a:prstGeom prst="roundRect">
              <a:avLst>
                <a:gd name="adj" fmla="val 10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416742"/>
              <a:ext cx="47625" cy="1042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7047" y="4498658"/>
              <a:ext cx="3643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 dist：A 0｜B C D 1｜E F 2｜G H 3｜I 4</a:t>
              </a:r>
            </a:p>
          </p:txBody>
        </p:sp>
      </p:grpSp>
      <p:grpSp>
        <p:nvGrpSpPr>
          <p:cNvPr id="88" name="c2-table-1"/>
          <p:cNvGrpSpPr/>
          <p:nvPr/>
        </p:nvGrpSpPr>
        <p:grpSpPr>
          <a:xfrm>
            <a:off x="5166360" y="1941195"/>
            <a:ext cx="6492240" cy="3651885"/>
            <a:chOff x="5166360" y="1941195"/>
            <a:chExt cx="6492240" cy="3651885"/>
          </a:xfrm>
        </p:grpSpPr>
        <p:sp>
          <p:nvSpPr>
            <p:cNvPr id="43" name="Rectangle 43"/>
            <p:cNvSpPr/>
            <p:nvPr/>
          </p:nvSpPr>
          <p:spPr>
            <a:xfrm>
              <a:off x="5166360" y="1941195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52898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54062" y="20654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本轮新确定的顶点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31844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队列中剩下的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66372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15062" y="2356485"/>
              <a:ext cx="309753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5550" y="2471261"/>
              <a:ext cx="1388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1、C = 1、D = 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21178" y="247126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27479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166360" y="275272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6372" y="2877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05550" y="2877026"/>
              <a:ext cx="11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2（pre = B）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21178" y="287702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D E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66360" y="31537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66372" y="3282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05550" y="3282791"/>
              <a:ext cx="11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2（pre = C）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21178" y="328279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 F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3559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166360" y="356425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66372" y="36885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15062" y="3573780"/>
              <a:ext cx="309753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5550" y="3688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邻接点都已确定，无更新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21178" y="368855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F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39652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66372" y="40943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05550" y="4094321"/>
              <a:ext cx="11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3（pre = E）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21178" y="4094321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G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166360" y="4371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66360" y="437578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66372" y="45000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05550" y="4500086"/>
              <a:ext cx="11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3（pre = F）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21178" y="450008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H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166360" y="47767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266372" y="490585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15062" y="4791075"/>
              <a:ext cx="309753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05550" y="4905851"/>
              <a:ext cx="1143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4（pre = G）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21178" y="4905851"/>
              <a:ext cx="194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I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166360" y="51825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166360" y="518731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66372" y="5311616"/>
              <a:ext cx="304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H、I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05550" y="531161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都无更新，队列清空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21178" y="53116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（空）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166360" y="1941195"/>
              <a:ext cx="649224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200775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31640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9" name="Rectangle 8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892" y="6023610"/>
              <a:ext cx="7647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 出队时 C、F 早已有 dist，不会被改写。BFS 只写一次，这正是它不能用在带权图上的原因。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32273" cy="909257"/>
            <a:chOff x="520446" y="342900"/>
            <a:chExt cx="70322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无权图的单源最短路径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322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两个一维数组就够：dist 记距离，pre 记前驱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cells-1"/>
          <p:cNvGrpSpPr/>
          <p:nvPr/>
        </p:nvGrpSpPr>
        <p:grpSpPr>
          <a:xfrm>
            <a:off x="528447" y="1524000"/>
            <a:ext cx="4165473" cy="1360170"/>
            <a:chOff x="528447" y="1524000"/>
            <a:chExt cx="4165473" cy="1360170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416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220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3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411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054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602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245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93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436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984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627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175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818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366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009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557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0067" y="16416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7482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57462" y="1641634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214360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dist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220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85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411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076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602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267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793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458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984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649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175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840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366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031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5572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22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274820" y="202596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44132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8447" y="26455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220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50429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3411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5054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7602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9245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1793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3436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5984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7627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0175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818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4366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6009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85572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0200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274820" y="252793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39167" y="2645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</p:grpSp>
      <p:grpSp>
        <p:nvGrpSpPr>
          <p:cNvPr id="77" name="c1-card-2"/>
          <p:cNvGrpSpPr/>
          <p:nvPr/>
        </p:nvGrpSpPr>
        <p:grpSpPr>
          <a:xfrm>
            <a:off x="533400" y="3048952"/>
            <a:ext cx="6059805" cy="2283142"/>
            <a:chOff x="533400" y="3048952"/>
            <a:chExt cx="6059805" cy="2283142"/>
          </a:xfrm>
        </p:grpSpPr>
        <p:sp>
          <p:nvSpPr>
            <p:cNvPr id="65" name="Rectangle 65"/>
            <p:cNvSpPr/>
            <p:nvPr/>
          </p:nvSpPr>
          <p:spPr>
            <a:xfrm>
              <a:off x="533400" y="3048952"/>
              <a:ext cx="6059805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2925" y="3182302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52475" y="322992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48246" y="326278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94625" y="3269456"/>
              <a:ext cx="2535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pre 倒着走出 A 到 I 的最短路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52475" y="357473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4382" y="361035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2223" y="3586639"/>
              <a:ext cx="4871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pre[I] = G，pre[G] = E，pre[E] = B，pre[B] = A，到源点停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52475" y="38604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04382" y="38951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2223" y="3871436"/>
              <a:ext cx="3918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反转得 A → B → E → G → I，长度 4，与 dist[I] 一致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7141" y="4152900"/>
              <a:ext cx="4687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 pre 链存下的是源点到全部顶点的最短路，不必开二维的 Path 数组。</a:t>
              </a:r>
            </a:p>
          </p:txBody>
        </p:sp>
      </p:grpSp>
      <p:grpSp>
        <p:nvGrpSpPr>
          <p:cNvPr id="86" name="c2-card-1"/>
          <p:cNvGrpSpPr/>
          <p:nvPr/>
        </p:nvGrpSpPr>
        <p:grpSpPr>
          <a:xfrm>
            <a:off x="6898005" y="1524000"/>
            <a:ext cx="4760595" cy="1444942"/>
            <a:chOff x="6898005" y="1524000"/>
            <a:chExt cx="4760595" cy="1444942"/>
          </a:xfrm>
        </p:grpSpPr>
        <p:sp>
          <p:nvSpPr>
            <p:cNvPr id="78" name="Rectangle 78"/>
            <p:cNvSpPr/>
            <p:nvPr/>
          </p:nvSpPr>
          <p:spPr>
            <a:xfrm>
              <a:off x="6898005" y="1524000"/>
              <a:ext cx="4760595" cy="1444942"/>
            </a:xfrm>
            <a:prstGeom prst="roundRect">
              <a:avLst>
                <a:gd name="adj" fmla="val 92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7898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17069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44956" y="1744504"/>
              <a:ext cx="2041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dist 全置 ∞，pre 全置 −1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088505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243953" y="2061686"/>
              <a:ext cx="3670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`dist[i] == INF` 同时表示“还没访问过”和“还不可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及”，省掉 visited 数组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088505" y="26412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243953" y="2589371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`pre[i] == -1` 表示源点自己或者不可及</a:t>
              </a:r>
            </a:p>
          </p:txBody>
        </p:sp>
      </p:grpSp>
      <p:grpSp>
        <p:nvGrpSpPr>
          <p:cNvPr id="104" name="c2-table-2"/>
          <p:cNvGrpSpPr/>
          <p:nvPr/>
        </p:nvGrpSpPr>
        <p:grpSpPr>
          <a:xfrm>
            <a:off x="6898005" y="3133725"/>
            <a:ext cx="4760595" cy="1330643"/>
            <a:chOff x="6898005" y="3133725"/>
            <a:chExt cx="4760595" cy="1330643"/>
          </a:xfrm>
        </p:grpSpPr>
        <p:sp>
          <p:nvSpPr>
            <p:cNvPr id="87" name="Rectangle 87"/>
            <p:cNvSpPr/>
            <p:nvPr/>
          </p:nvSpPr>
          <p:spPr>
            <a:xfrm>
              <a:off x="6898005" y="3133725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284888" y="3251835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用什么表示 ∞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154668" y="32518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654665" y="32518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992684" y="3632835"/>
              <a:ext cx="779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`INT_MAX`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610981" y="363283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2³¹ − 1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954578" y="3525202"/>
              <a:ext cx="169449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039731" y="363283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相加或翻倍立刻溢出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898005" y="38919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898005" y="3896678"/>
              <a:ext cx="476059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907530" y="3906202"/>
              <a:ext cx="1599248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992684" y="4107180"/>
              <a:ext cx="99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`0x3f3f3f3f`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610981" y="410718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1061109567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039731" y="4013835"/>
              <a:ext cx="14508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翻倍才 2122219134，仍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int 内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898005" y="3133725"/>
              <a:ext cx="4760595" cy="13306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511540" y="3133725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9940290" y="3133725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1" name="c2-callout-3"/>
          <p:cNvGrpSpPr/>
          <p:nvPr/>
        </p:nvGrpSpPr>
        <p:grpSpPr>
          <a:xfrm>
            <a:off x="6898005" y="4630102"/>
            <a:ext cx="4760595" cy="702945"/>
            <a:chOff x="6898005" y="4630102"/>
            <a:chExt cx="4760595" cy="702945"/>
          </a:xfrm>
        </p:grpSpPr>
        <p:sp>
          <p:nvSpPr>
            <p:cNvPr id="105" name="Rectangle 105"/>
            <p:cNvSpPr/>
            <p:nvPr/>
          </p:nvSpPr>
          <p:spPr>
            <a:xfrm>
              <a:off x="6898005" y="463010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7102793" y="4880610"/>
              <a:ext cx="200026" cy="200025"/>
              <a:chOff x="7102793" y="4880610"/>
              <a:chExt cx="200026" cy="200025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7102793" y="48806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142531" y="49250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177247" y="50361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7405878" y="4774406"/>
              <a:ext cx="3873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图算法里习惯写 `const int INF = 0x3f3f3f3f;`，这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 `dist[v] + w` 不会因为一次相加就变成负数。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2" name="Rectangle 11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6039326"/>
              <a:ext cx="6638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0x3f3f3f3f 还有个好处：按字节全是 0x3f，可以直接用 memset 把整个数组刷成 ∞。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58090" cy="909257"/>
            <a:chOff x="520446" y="342900"/>
            <a:chExt cx="385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无权图的单源最短路径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5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求无权最短路的实现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3912870"/>
            <a:chOff x="533400" y="1524000"/>
            <a:chExt cx="6276022" cy="3912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912870"/>
            </a:xfrm>
            <a:prstGeom prst="roundRect">
              <a:avLst>
                <a:gd name="adj" fmla="val 24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邻接表存图，队列按层推进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790950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80498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416" y="1937385"/>
              <a:ext cx="4551236" cy="342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BFS(Vertex* Head,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dist[],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pre[])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 QInit(&amp;Q);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队列需预先实现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pre[i] = -1; dist[i] = INF;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dist[u] = 0; QEnqueue(&amp;Q, u);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源点 u 入队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(!QEmpty(&amp;Q))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QDequeue(&amp;Q);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出队一个顶点 v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(Edge* p = Head[v].adjacent; p; p = p-&gt;link)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p-&gt;VerAdj;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考察 v 的邻接点 w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(dist[w] == INF) {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w 还没被访问过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dist[w] = dist[v]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pre[w] = v;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QEnqueue(&amp;Q, w);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7114222" y="1524000"/>
            <a:ext cx="4544378" cy="2040255"/>
            <a:chOff x="7114222" y="1524000"/>
            <a:chExt cx="4544378" cy="2040255"/>
          </a:xfrm>
        </p:grpSpPr>
        <p:sp>
          <p:nvSpPr>
            <p:cNvPr id="13" name="Rectangle 13"/>
            <p:cNvSpPr/>
            <p:nvPr/>
          </p:nvSpPr>
          <p:spPr>
            <a:xfrm>
              <a:off x="7114222" y="1524000"/>
              <a:ext cx="4544378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23748" y="165735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50442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37882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7104" y="1756886"/>
              <a:ext cx="8529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43204" y="2100739"/>
              <a:ext cx="392785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 O(n)；每个顶点最多入队出队各一次，共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O(n)；每条边在它的两个端点处各被扫到一次，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O(e)。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44347" y="2957512"/>
              <a:ext cx="3761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前提是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邻接表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存图。换成邻接矩阵，找邻接点要扫一整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行，退化成 </a:t>
              </a:r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c2-bullets-2"/>
          <p:cNvGrpSpPr/>
          <p:nvPr/>
        </p:nvGrpSpPr>
        <p:grpSpPr>
          <a:xfrm>
            <a:off x="7114222" y="3767614"/>
            <a:ext cx="3764819" cy="932117"/>
            <a:chOff x="7114222" y="3767614"/>
            <a:chExt cx="3764819" cy="932117"/>
          </a:xfrm>
        </p:grpSpPr>
        <p:sp>
          <p:nvSpPr>
            <p:cNvPr id="21" name="Freeform 21"/>
            <p:cNvSpPr/>
            <p:nvPr/>
          </p:nvSpPr>
          <p:spPr>
            <a:xfrm>
              <a:off x="7114222" y="3797618"/>
              <a:ext cx="136208" cy="111442"/>
            </a:xfrm>
            <a:custGeom>
              <a:avLst/>
              <a:gdLst/>
              <a:ahLst/>
              <a:cxnLst/>
              <a:rect l="l" t="t" r="r" b="b"/>
              <a:pathLst>
                <a:path w="136208" h="111442">
                  <a:moveTo>
                    <a:pt x="0" y="59055"/>
                  </a:moveTo>
                  <a:lnTo>
                    <a:pt x="52388" y="111442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57491" y="3767614"/>
              <a:ext cx="34701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算法与第 13 讲的 BFS 遍历只差两行赋值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114222" y="4124325"/>
              <a:ext cx="136208" cy="111442"/>
            </a:xfrm>
            <a:custGeom>
              <a:avLst/>
              <a:gdLst/>
              <a:ahLst/>
              <a:cxnLst/>
              <a:rect l="l" t="t" r="r" b="b"/>
              <a:pathLst>
                <a:path w="136208" h="111442">
                  <a:moveTo>
                    <a:pt x="0" y="59055"/>
                  </a:moveTo>
                  <a:lnTo>
                    <a:pt x="52388" y="111442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57491" y="4094321"/>
              <a:ext cx="286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 兼作 visited，不必再开数组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114222" y="4451032"/>
              <a:ext cx="136208" cy="111442"/>
            </a:xfrm>
            <a:custGeom>
              <a:avLst/>
              <a:gdLst/>
              <a:ahLst/>
              <a:cxnLst/>
              <a:rect l="l" t="t" r="r" b="b"/>
              <a:pathLst>
                <a:path w="136208" h="111442">
                  <a:moveTo>
                    <a:pt x="0" y="59055"/>
                  </a:moveTo>
                  <a:lnTo>
                    <a:pt x="52388" y="111442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57491" y="4421029"/>
              <a:ext cx="3521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图不连通时，不可及的顶点 dist 保持 INF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8" name="Rectangle 2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6011704"/>
              <a:ext cx="7513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只要边没有权，就用这段代码，不要动用 Dijkstra，两者结果相同但代价差一个数量级。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15818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权值非负时，按与源点距离递增的顺序把顶点逐个定稿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82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 S 与 V−S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选最小再松弛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负权为什么不行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4652" cy="909257"/>
            <a:chOff x="520446" y="342900"/>
            <a:chExt cx="454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边一旦有权，BFS 就不管用了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65072" cy="308039"/>
            <a:chOff x="525399" y="1550194"/>
            <a:chExt cx="666507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650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BFS 只能回答“最少经过多少条边”，而带权图问的是“权值之和最小”。</a:t>
              </a:r>
            </a:p>
          </p:txBody>
        </p:sp>
      </p:grpSp>
      <p:grpSp>
        <p:nvGrpSpPr>
          <p:cNvPr id="24" name="c1-graph-1"/>
          <p:cNvGrpSpPr/>
          <p:nvPr/>
        </p:nvGrpSpPr>
        <p:grpSpPr>
          <a:xfrm>
            <a:off x="1102995" y="2234565"/>
            <a:ext cx="3188970" cy="1895475"/>
            <a:chOff x="1102995" y="2234565"/>
            <a:chExt cx="3188970" cy="1895475"/>
          </a:xfrm>
        </p:grpSpPr>
        <p:sp>
          <p:nvSpPr>
            <p:cNvPr id="9" name="Freeform 9"/>
            <p:cNvSpPr/>
            <p:nvPr/>
          </p:nvSpPr>
          <p:spPr>
            <a:xfrm>
              <a:off x="1531620" y="2444115"/>
              <a:ext cx="2331720" cy="9525"/>
            </a:xfrm>
            <a:custGeom>
              <a:avLst/>
              <a:gdLst/>
              <a:ahLst/>
              <a:cxnLst/>
              <a:rect l="l" t="t" r="r" b="b"/>
              <a:pathLst>
                <a:path w="2331720" h="9525">
                  <a:moveTo>
                    <a:pt x="0" y="0"/>
                  </a:moveTo>
                  <a:lnTo>
                    <a:pt x="233172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62088" y="2603182"/>
              <a:ext cx="1085850" cy="1157288"/>
            </a:xfrm>
            <a:custGeom>
              <a:avLst/>
              <a:gdLst/>
              <a:ahLst/>
              <a:cxnLst/>
              <a:rect l="l" t="t" r="r" b="b"/>
              <a:pathLst>
                <a:path w="1085850" h="1157288">
                  <a:moveTo>
                    <a:pt x="0" y="0"/>
                  </a:moveTo>
                  <a:lnTo>
                    <a:pt x="1085850" y="11572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7022" y="2603182"/>
              <a:ext cx="1085850" cy="1157288"/>
            </a:xfrm>
            <a:custGeom>
              <a:avLst/>
              <a:gdLst/>
              <a:ahLst/>
              <a:cxnLst/>
              <a:rect l="l" t="t" r="r" b="b"/>
              <a:pathLst>
                <a:path w="1085850" h="1157288">
                  <a:moveTo>
                    <a:pt x="0" y="1157288"/>
                  </a:moveTo>
                  <a:lnTo>
                    <a:pt x="10858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102995" y="2234565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872865" y="223456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487930" y="37109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9758" y="23741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9628" y="23741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04693" y="3850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65082" y="235839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92762" y="2389823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999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35480" y="309657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66932" y="3128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20415" y="309657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51867" y="31280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539615"/>
            <a:ext cx="4328160" cy="942975"/>
            <a:chOff x="533400" y="4539615"/>
            <a:chExt cx="4328160" cy="942975"/>
          </a:xfrm>
        </p:grpSpPr>
        <p:sp>
          <p:nvSpPr>
            <p:cNvPr id="25" name="Rectangle 25"/>
            <p:cNvSpPr/>
            <p:nvPr/>
          </p:nvSpPr>
          <p:spPr>
            <a:xfrm>
              <a:off x="533400" y="4539615"/>
              <a:ext cx="4328160" cy="942975"/>
            </a:xfrm>
            <a:prstGeom prst="roundRect">
              <a:avLst>
                <a:gd name="adj" fmla="val 1212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4907398"/>
              <a:ext cx="224134" cy="192560"/>
              <a:chOff x="726129" y="4907398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49777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49073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055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768215"/>
              <a:ext cx="3425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BFS 认为 v₂ 只隔一条边，直接写下 dist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= 999，再也不改。</a:t>
              </a:r>
            </a:p>
          </p:txBody>
        </p:sp>
      </p:grpSp>
      <p:grpSp>
        <p:nvGrpSpPr>
          <p:cNvPr id="52" name="c2-compare-1"/>
          <p:cNvGrpSpPr/>
          <p:nvPr/>
        </p:nvGrpSpPr>
        <p:grpSpPr>
          <a:xfrm>
            <a:off x="5166360" y="1967865"/>
            <a:ext cx="6492240" cy="1703070"/>
            <a:chOff x="5166360" y="1967865"/>
            <a:chExt cx="6492240" cy="1703070"/>
          </a:xfrm>
        </p:grpSpPr>
        <p:sp>
          <p:nvSpPr>
            <p:cNvPr id="32" name="Rectangle 32"/>
            <p:cNvSpPr/>
            <p:nvPr/>
          </p:nvSpPr>
          <p:spPr>
            <a:xfrm>
              <a:off x="5166360" y="1967865"/>
              <a:ext cx="303657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75885" y="2101215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06390" y="2202180"/>
              <a:ext cx="105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的答案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419725" y="26193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77840" y="255651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→ v₂，一条边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419725" y="2954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77840" y="2891790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长度记为 999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419725" y="3289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77840" y="322707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出队即定稿，不再更新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622030" y="1967865"/>
              <a:ext cx="303657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31555" y="2101215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62060" y="2202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正确答案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875395" y="26193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33510" y="255651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→ v₃ → v₂，两条边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875395" y="2954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33510" y="2891790"/>
              <a:ext cx="127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1 + 1 = 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875395" y="3289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33510" y="32270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边数多的路反而更短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250555" y="26574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20895" y="27536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5166360" y="3861435"/>
            <a:ext cx="6492240" cy="1621155"/>
            <a:chOff x="5166360" y="3861435"/>
            <a:chExt cx="6492240" cy="1621155"/>
          </a:xfrm>
        </p:grpSpPr>
        <p:sp>
          <p:nvSpPr>
            <p:cNvPr id="53" name="Rectangle 53"/>
            <p:cNvSpPr/>
            <p:nvPr/>
          </p:nvSpPr>
          <p:spPr>
            <a:xfrm>
              <a:off x="5166360" y="3861435"/>
              <a:ext cx="6492240" cy="1621155"/>
            </a:xfrm>
            <a:prstGeom prst="roundRect">
              <a:avLst>
                <a:gd name="adj" fmla="val 82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75910" y="40709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66118" y="4106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76938" y="4106228"/>
              <a:ext cx="2671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带权图需要“可以反悔”的机制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68290" y="4467225"/>
              <a:ext cx="5787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顶点第一次被看到时记下的只是一个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上界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，后面发现更短的路要能把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它改小。Dijkstra 用集合 S 来划清界限：S 里的定稿，S 外的随时可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8647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反过来，把每条边的权都看成 1，Dijkstra 会退化成 BFS，只是代价从 O(n+e) 涨到 O(n²+e)。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87294" cy="909257"/>
            <a:chOff x="520446" y="342900"/>
            <a:chExt cx="69872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872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Dijkstra：把顶点按距离递增一个个“拉起来”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425536" cy="278702"/>
            <a:chOff x="526161" y="1547336"/>
            <a:chExt cx="842553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像提起一张由绳子连成的珠网，谁离手最近谁先离开桌面，离开的先后正好是最短距离的大小次序。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41195"/>
            <a:ext cx="4977765" cy="2899982"/>
            <a:chOff x="533400" y="1941195"/>
            <a:chExt cx="4977765" cy="289998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5174" r="0" b="15174"/>
            <a:stretch>
              <a:fillRect/>
            </a:stretch>
          </p:blipFill>
          <p:spPr>
            <a:xfrm>
              <a:off x="533400" y="1941195"/>
              <a:ext cx="4977765" cy="2600325"/>
            </a:xfrm>
            <a:prstGeom prst="roundRect">
              <a:avLst>
                <a:gd name="adj" fmla="val 5128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250061" y="463581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绳子越短的珠子越早被提起，次序就是与源点的距离次序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5815965" y="1941195"/>
            <a:ext cx="5842635" cy="1226820"/>
            <a:chOff x="5815965" y="1941195"/>
            <a:chExt cx="5842635" cy="1226820"/>
          </a:xfrm>
        </p:grpSpPr>
        <p:sp>
          <p:nvSpPr>
            <p:cNvPr id="12" name="Rectangle 12"/>
            <p:cNvSpPr/>
            <p:nvPr/>
          </p:nvSpPr>
          <p:spPr>
            <a:xfrm>
              <a:off x="5815965" y="1941195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25490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46470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29909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96862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把顶点分成两个集合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39612" y="2507932"/>
              <a:ext cx="51417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装已确定最短路径的顶点，</a:t>
              </a: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V−S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装尚未确定的。按与源点最短距离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递增的顺序，逐个把顶点从 V−S 挪进 S。</a:t>
              </a:r>
            </a:p>
          </p:txBody>
        </p:sp>
      </p:grpSp>
      <p:grpSp>
        <p:nvGrpSpPr>
          <p:cNvPr id="36" name="c2-steps-2"/>
          <p:cNvGrpSpPr/>
          <p:nvPr/>
        </p:nvGrpSpPr>
        <p:grpSpPr>
          <a:xfrm>
            <a:off x="5815965" y="3352800"/>
            <a:ext cx="3861333" cy="2280762"/>
            <a:chOff x="5815965" y="3352800"/>
            <a:chExt cx="3861333" cy="2280762"/>
          </a:xfrm>
        </p:grpSpPr>
        <p:sp>
          <p:nvSpPr>
            <p:cNvPr id="19" name="Rectangle 19"/>
            <p:cNvSpPr/>
            <p:nvPr/>
          </p:nvSpPr>
          <p:spPr>
            <a:xfrm>
              <a:off x="5949315" y="349567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815965" y="33528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9589" y="3426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15965" y="39395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40133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4527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4601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51139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5187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8207" y="338518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9350" y="3652361"/>
              <a:ext cx="1403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Dᵤ = 0，其余 Dᵢ = 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207" y="397192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350" y="4239101"/>
              <a:ext cx="21556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V−S 中挑 Dᵥ 最小的 v 放进 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207" y="455866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350" y="4825841"/>
              <a:ext cx="3447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v 在 V−S 中的邻接点 w，能把它的 D 值改小就改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207" y="51454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350" y="5413534"/>
              <a:ext cx="1956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回到第二步，直到顶点全进 S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57891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v 被选中的那一刻，Dᵥ 就是源点到 v 的最短距离，以后不会再变。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8344" cy="909257"/>
            <a:chOff x="520446" y="342900"/>
            <a:chExt cx="6478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8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例2｜A 到各点：先看 D 值怎么一轮轮变小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52850" cy="278702"/>
            <a:chOff x="526161" y="1547336"/>
            <a:chExt cx="89528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528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无向带权图，源点 A。每轮选出 D 最小的顶点再松弛它的邻接点；表中 A 到 F 五列是各顶点当前的 D 值。</a:t>
              </a:r>
            </a:p>
          </p:txBody>
        </p:sp>
      </p:grpSp>
      <p:grpSp>
        <p:nvGrpSpPr>
          <p:cNvPr id="37" name="c1-graph-1"/>
          <p:cNvGrpSpPr/>
          <p:nvPr/>
        </p:nvGrpSpPr>
        <p:grpSpPr>
          <a:xfrm>
            <a:off x="962025" y="2158365"/>
            <a:ext cx="3951923" cy="3027997"/>
            <a:chOff x="962025" y="2158365"/>
            <a:chExt cx="3951923" cy="3027997"/>
          </a:xfrm>
        </p:grpSpPr>
        <p:sp>
          <p:nvSpPr>
            <p:cNvPr id="9" name="Freeform 9"/>
            <p:cNvSpPr/>
            <p:nvPr/>
          </p:nvSpPr>
          <p:spPr>
            <a:xfrm>
              <a:off x="1313498" y="2466975"/>
              <a:ext cx="1248728" cy="917258"/>
            </a:xfrm>
            <a:custGeom>
              <a:avLst/>
              <a:gdLst/>
              <a:ahLst/>
              <a:cxnLst/>
              <a:rect l="l" t="t" r="r" b="b"/>
              <a:pathLst>
                <a:path w="1248728" h="917258">
                  <a:moveTo>
                    <a:pt x="0" y="0"/>
                  </a:moveTo>
                  <a:lnTo>
                    <a:pt x="1248728" y="9172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63002" y="2548890"/>
              <a:ext cx="120968" cy="2246948"/>
            </a:xfrm>
            <a:custGeom>
              <a:avLst/>
              <a:gdLst/>
              <a:ahLst/>
              <a:cxnLst/>
              <a:rect l="l" t="t" r="r" b="b"/>
              <a:pathLst>
                <a:path w="120968" h="2246948">
                  <a:moveTo>
                    <a:pt x="0" y="0"/>
                  </a:moveTo>
                  <a:lnTo>
                    <a:pt x="120968" y="2246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89885" y="2527935"/>
              <a:ext cx="1285875" cy="862965"/>
            </a:xfrm>
            <a:custGeom>
              <a:avLst/>
              <a:gdLst/>
              <a:ahLst/>
              <a:cxnLst/>
              <a:rect l="l" t="t" r="r" b="b"/>
              <a:pathLst>
                <a:path w="1285875" h="862965">
                  <a:moveTo>
                    <a:pt x="0" y="862965"/>
                  </a:moveTo>
                  <a:lnTo>
                    <a:pt x="12858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33512" y="3647122"/>
              <a:ext cx="1151572" cy="1203960"/>
            </a:xfrm>
            <a:custGeom>
              <a:avLst/>
              <a:gdLst/>
              <a:ahLst/>
              <a:cxnLst/>
              <a:rect l="l" t="t" r="r" b="b"/>
              <a:pathLst>
                <a:path w="1151572" h="1203960">
                  <a:moveTo>
                    <a:pt x="1151572" y="0"/>
                  </a:moveTo>
                  <a:lnTo>
                    <a:pt x="0" y="12039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388168" y="2611755"/>
              <a:ext cx="289560" cy="1239203"/>
            </a:xfrm>
            <a:custGeom>
              <a:avLst/>
              <a:gdLst/>
              <a:ahLst/>
              <a:cxnLst/>
              <a:rect l="l" t="t" r="r" b="b"/>
              <a:pathLst>
                <a:path w="289560" h="1239203">
                  <a:moveTo>
                    <a:pt x="0" y="0"/>
                  </a:moveTo>
                  <a:lnTo>
                    <a:pt x="289560" y="12392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87805" y="4098608"/>
              <a:ext cx="3042285" cy="843915"/>
            </a:xfrm>
            <a:custGeom>
              <a:avLst/>
              <a:gdLst/>
              <a:ahLst/>
              <a:cxnLst/>
              <a:rect l="l" t="t" r="r" b="b"/>
              <a:pathLst>
                <a:path w="3042285" h="843915">
                  <a:moveTo>
                    <a:pt x="3042285" y="0"/>
                  </a:moveTo>
                  <a:lnTo>
                    <a:pt x="0" y="843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62025" y="2158365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151948" y="222599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532698" y="331184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532948" y="38547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104900" y="480536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04066" y="22831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93988" y="235172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74738" y="343757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74988" y="39804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6941" y="493014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70710" y="28470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03218" y="28760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28712" y="359378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58486" y="36228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66148" y="28813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97703" y="29103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42148" y="41709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74656" y="42000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66272" y="31527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97828" y="31818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942272" y="44424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73828" y="44715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108" name="c2-table-1"/>
          <p:cNvGrpSpPr/>
          <p:nvPr/>
        </p:nvGrpSpPr>
        <p:grpSpPr>
          <a:xfrm>
            <a:off x="5598795" y="1941195"/>
            <a:ext cx="6059805" cy="2840355"/>
            <a:chOff x="5598795" y="1941195"/>
            <a:chExt cx="6059805" cy="2840355"/>
          </a:xfrm>
        </p:grpSpPr>
        <p:sp>
          <p:nvSpPr>
            <p:cNvPr id="38" name="Rectangle 38"/>
            <p:cNvSpPr/>
            <p:nvPr/>
          </p:nvSpPr>
          <p:spPr>
            <a:xfrm>
              <a:off x="5598795" y="1941195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86711" y="2065496"/>
              <a:ext cx="957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选入 S 的顶点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3955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80705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46502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13252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80002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03332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本轮改写了谁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98808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（初始）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230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9905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580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3160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9835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6510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598795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98808" y="2877026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A（0）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230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08570" y="2762250"/>
              <a:ext cx="64770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9905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6580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3160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98355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65105" y="287702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和 F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98795" y="31537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98808" y="3282791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B（1）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32308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99058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275320" y="3168015"/>
              <a:ext cx="64770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65808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3160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607868" y="3168015"/>
              <a:ext cx="64770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69835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65105" y="3282791"/>
              <a:ext cx="115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和 F（15 → 9）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598795" y="3559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598795" y="35642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698808" y="3688556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C（2）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32308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99058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65808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941118" y="3573780"/>
              <a:ext cx="64770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031605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698355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365105" y="36885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598795" y="39652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698808" y="4094321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E（7）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32308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99058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65808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03160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607868" y="3979545"/>
              <a:ext cx="64770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69835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365105" y="4094321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无（7+6 &gt; 9）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598795" y="43710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598795" y="437578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698808" y="4500086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F（9）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032308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99058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365808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031605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698355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365105" y="4500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598795" y="1941195"/>
              <a:ext cx="605980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92753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59428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26103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92683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59358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26033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5" name="c2-callout-2"/>
          <p:cNvGrpSpPr/>
          <p:nvPr/>
        </p:nvGrpSpPr>
        <p:grpSpPr>
          <a:xfrm>
            <a:off x="5598795" y="4956810"/>
            <a:ext cx="6059805" cy="729615"/>
            <a:chOff x="5598795" y="4956810"/>
            <a:chExt cx="6059805" cy="729615"/>
          </a:xfrm>
        </p:grpSpPr>
        <p:sp>
          <p:nvSpPr>
            <p:cNvPr id="109" name="Rectangle 109"/>
            <p:cNvSpPr/>
            <p:nvPr/>
          </p:nvSpPr>
          <p:spPr>
            <a:xfrm>
              <a:off x="5598795" y="495681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5803583" y="5221605"/>
              <a:ext cx="200026" cy="200025"/>
              <a:chOff x="5803583" y="5221605"/>
              <a:chExt cx="200026" cy="200025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5803583" y="52216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5843321" y="52660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5878037" y="53771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6106287" y="5103495"/>
              <a:ext cx="49771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轮 F 从 15 改成 9，是全程唯一一次“反悔”。A 到 F 的直达边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 输给了绕道 A→B→F 的 9。</a:t>
              </a:r>
            </a:p>
          </p:txBody>
        </p:sp>
      </p:grpSp>
      <p:grpSp>
        <p:nvGrpSpPr>
          <p:cNvPr id="12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6" name="Rectangle 11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040892" y="6023610"/>
              <a:ext cx="716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 选中后没有任何改写，这很正常，它说明 E 的邻接点要么已在 S 里，要么绕它不划算。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算完之后得到的是一棵最短路径树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28541" cy="264033"/>
            <a:chOff x="526542" y="1545907"/>
            <a:chExt cx="75285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28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每个顶点只留下 pre 指向的那一条边，n 个顶点留下 n−1 条边，合起来就是以源点为根的树。</a:t>
              </a:r>
            </a:p>
          </p:txBody>
        </p:sp>
      </p:grpSp>
      <p:grpSp>
        <p:nvGrpSpPr>
          <p:cNvPr id="36" name="c1-graph-1"/>
          <p:cNvGrpSpPr/>
          <p:nvPr/>
        </p:nvGrpSpPr>
        <p:grpSpPr>
          <a:xfrm>
            <a:off x="1833809" y="2078355"/>
            <a:ext cx="3241818" cy="3268027"/>
            <a:chOff x="1833809" y="2078355"/>
            <a:chExt cx="3241818" cy="3268027"/>
          </a:xfrm>
        </p:grpSpPr>
        <p:sp>
          <p:nvSpPr>
            <p:cNvPr id="9" name="Freeform 9"/>
            <p:cNvSpPr/>
            <p:nvPr/>
          </p:nvSpPr>
          <p:spPr>
            <a:xfrm>
              <a:off x="3238500" y="2487930"/>
              <a:ext cx="9525" cy="490538"/>
            </a:xfrm>
            <a:custGeom>
              <a:avLst/>
              <a:gdLst/>
              <a:ahLst/>
              <a:cxnLst/>
              <a:rect l="l" t="t" r="r" b="b"/>
              <a:pathLst>
                <a:path w="9525" h="490538">
                  <a:moveTo>
                    <a:pt x="0" y="0"/>
                  </a:moveTo>
                  <a:lnTo>
                    <a:pt x="0" y="4905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06955" y="3333750"/>
              <a:ext cx="781050" cy="757238"/>
            </a:xfrm>
            <a:custGeom>
              <a:avLst/>
              <a:gdLst/>
              <a:ahLst/>
              <a:cxnLst/>
              <a:rect l="l" t="t" r="r" b="b"/>
              <a:pathLst>
                <a:path w="781050" h="757238">
                  <a:moveTo>
                    <a:pt x="781050" y="0"/>
                  </a:moveTo>
                  <a:lnTo>
                    <a:pt x="0" y="7572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10902" y="3307080"/>
              <a:ext cx="1170622" cy="810578"/>
            </a:xfrm>
            <a:custGeom>
              <a:avLst/>
              <a:gdLst/>
              <a:ahLst/>
              <a:cxnLst/>
              <a:rect l="l" t="t" r="r" b="b"/>
              <a:pathLst>
                <a:path w="1170622" h="810578">
                  <a:moveTo>
                    <a:pt x="0" y="0"/>
                  </a:moveTo>
                  <a:lnTo>
                    <a:pt x="1170622" y="8105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56460" y="4446270"/>
              <a:ext cx="9525" cy="490537"/>
            </a:xfrm>
            <a:custGeom>
              <a:avLst/>
              <a:gdLst/>
              <a:ahLst/>
              <a:cxnLst/>
              <a:rect l="l" t="t" r="r" b="b"/>
              <a:pathLst>
                <a:path w="9525" h="490537">
                  <a:moveTo>
                    <a:pt x="0" y="0"/>
                  </a:moveTo>
                  <a:lnTo>
                    <a:pt x="0" y="49053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038475" y="2078355"/>
              <a:ext cx="400050" cy="4000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038475" y="298799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956435" y="403669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552950" y="403669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956435" y="494633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93297" y="22178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15849" y="22274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93297" y="31275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15849" y="3136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1257" y="417623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33809" y="4185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07772" y="417623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5388" y="41857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11257" y="50858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3809" y="5095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171825" y="26546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203381" y="26836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30805" y="363378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62361" y="36628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929062" y="363378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60618" y="36628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089785" y="46129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21341" y="46420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8" name="c2-kv-1"/>
          <p:cNvGrpSpPr/>
          <p:nvPr/>
        </p:nvGrpSpPr>
        <p:grpSpPr>
          <a:xfrm>
            <a:off x="6241923" y="1949291"/>
            <a:ext cx="5416677" cy="1372362"/>
            <a:chOff x="6241923" y="1949291"/>
            <a:chExt cx="5416677" cy="1372362"/>
          </a:xfrm>
        </p:grpSpPr>
        <p:sp>
          <p:nvSpPr>
            <p:cNvPr id="37" name="TextBox 37"/>
            <p:cNvSpPr txBox="1"/>
            <p:nvPr/>
          </p:nvSpPr>
          <p:spPr>
            <a:xfrm>
              <a:off x="6241923" y="1949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树根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36346" y="1949291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 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2221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1923" y="23236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树边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36346" y="2323624"/>
              <a:ext cx="1942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指向的边，共 n−1 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5955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1923" y="26979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结点旁的数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6346" y="2697956"/>
              <a:ext cx="1779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该顶点的最短距离 dist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9698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1923" y="30722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被丢掉的边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36346" y="3072289"/>
              <a:ext cx="2974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A−F(15) 和 E−F(6)，绕它们都不更短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3435668"/>
            <a:ext cx="5410200" cy="1406842"/>
            <a:chOff x="6248400" y="3435668"/>
            <a:chExt cx="5410200" cy="1406842"/>
          </a:xfrm>
        </p:grpSpPr>
        <p:sp>
          <p:nvSpPr>
            <p:cNvPr id="49" name="Rectangle 49"/>
            <p:cNvSpPr/>
            <p:nvPr/>
          </p:nvSpPr>
          <p:spPr>
            <a:xfrm>
              <a:off x="6248400" y="3435668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569018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7475" y="36166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0147" y="36495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3451" y="3656171"/>
              <a:ext cx="3008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顶点离开桌面的次序是 A、B、C、E、F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0998" y="3973354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恰好就是 0、1、2、7、9 的递增次序。Dijkstra 每一轮选出的 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最小值只增不减，这个单调性正是它不用回头的底气。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2141" y="44967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权非负是这个单调性的前提，出现负边就不成立了。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5007292"/>
            <a:ext cx="5410200" cy="702945"/>
            <a:chOff x="6248400" y="5007292"/>
            <a:chExt cx="5410200" cy="702945"/>
          </a:xfrm>
        </p:grpSpPr>
        <p:sp>
          <p:nvSpPr>
            <p:cNvPr id="57" name="Rectangle 57"/>
            <p:cNvSpPr/>
            <p:nvPr/>
          </p:nvSpPr>
          <p:spPr>
            <a:xfrm>
              <a:off x="6248400" y="500729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258753"/>
              <a:ext cx="200026" cy="200026"/>
              <a:chOff x="6453188" y="525875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2587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53254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42088" y="53587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6273" y="5151596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最短路径树只对这一个源点有效，换一个源点要重算，它和第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讲的最小支撑树不是一回事。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5957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检查手算结果的快办法：数一数 pre 指向的边是不是恰好 n−1 条，且不成环。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实现要准备的三个辅助数组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4985385" cy="2019300"/>
            <a:chOff x="525780" y="1548765"/>
            <a:chExt cx="4985385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`dist[i]`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0212" y="1548765"/>
              <a:ext cx="32632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 u 到顶点 i 的当前最短距离；初值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dist[u]=0，其余 INF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`pre[i]`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0212" y="2270760"/>
              <a:ext cx="35680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到 i 最短路径上 i 的前驱顶点编号；初值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6802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`S[i]`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0212" y="2992755"/>
              <a:ext cx="35871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i 是否已进入集合 S；初值 0，进 S 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 1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699510"/>
            <a:ext cx="4977765" cy="1611630"/>
            <a:chOff x="533400" y="3699510"/>
            <a:chExt cx="4977765" cy="1611630"/>
          </a:xfrm>
        </p:grpSpPr>
        <p:sp>
          <p:nvSpPr>
            <p:cNvPr id="16" name="Rectangle 16"/>
            <p:cNvSpPr/>
            <p:nvPr/>
          </p:nvSpPr>
          <p:spPr>
            <a:xfrm>
              <a:off x="533400" y="3699510"/>
              <a:ext cx="4977765" cy="1611630"/>
            </a:xfrm>
            <a:prstGeom prst="roundRect">
              <a:avLst>
                <a:gd name="adj" fmla="val 70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4401621"/>
              <a:ext cx="224134" cy="192560"/>
              <a:chOff x="726129" y="4401621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44719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44016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5497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3848100"/>
              <a:ext cx="407289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源课件写 `const int maxn = 1e5+10;` 再 `int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S[maxn] = {0};`。这在 C++ 里没问题，在标准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里 const 变量不是常量表达式，这行属于变长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数组，只有编译器扩展才收。写成 `#define` 或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`static` 数组更稳。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5815965" y="1524000"/>
            <a:ext cx="5842635" cy="2125028"/>
            <a:chOff x="5815965" y="1524000"/>
            <a:chExt cx="5842635" cy="2125028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44362" y="1675924"/>
              <a:ext cx="16948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V−S 中找 D 值最小的顶点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43600" y="1937861"/>
              <a:ext cx="397992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findMin(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dist[],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-1, min = INF;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0 &amp;&amp; dist[i] &lt; min)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min = dist[i]; v = i;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v;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全不可及时返回 -1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5815965" y="3839528"/>
            <a:ext cx="5842635" cy="1471612"/>
            <a:chOff x="5815965" y="3839528"/>
            <a:chExt cx="5842635" cy="1471612"/>
          </a:xfrm>
        </p:grpSpPr>
        <p:sp>
          <p:nvSpPr>
            <p:cNvPr id="27" name="Rectangle 27"/>
            <p:cNvSpPr/>
            <p:nvPr/>
          </p:nvSpPr>
          <p:spPr>
            <a:xfrm>
              <a:off x="5815965" y="3839528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25490" y="397287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63615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53823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3690" y="4084320"/>
              <a:ext cx="1789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−1 意味着什么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55995" y="4445318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剩下的顶点 dist 全是 INF，说明它们与源点不在同一个连通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分量里。主循环看到 −1 就可以直接结束，不必跑满 n 轮。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9287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findMin 是整个算法里唯一一处线性扫描，把它换成优先队列，复杂度就从 O(n²+e) 降到 O(e log n)。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266894" cy="909257"/>
            <a:chOff x="520446" y="342900"/>
            <a:chExt cx="3266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266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的完整实现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276022" cy="4101465"/>
            <a:chOff x="533400" y="1524000"/>
            <a:chExt cx="6276022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101465"/>
            </a:xfrm>
            <a:prstGeom prst="roundRect">
              <a:avLst>
                <a:gd name="adj" fmla="val 2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065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邻接表存图，n 轮各选一个顶点定稿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33712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411855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170045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1937385"/>
              <a:ext cx="4851273" cy="36172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Dijkstra(Vertex* Head,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dist[],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pre[])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S[maxn] = {0};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pre[i] = -1; dist[i] = INF;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dist[u] = 0;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findMin(S, dist, n);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① 选 D 最小的 v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 == -1)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剩余顶点不可及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S[v] = 1;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② v 定稿，进入 S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(Edge* p = Head[v].adjacent; p; p = p-&gt;link)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p-&gt;VerAdj;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③ 松弛 v 的邻接点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(S[w] == 0 &amp;&amp; dist[v] + p-&gt;cost &lt; dist[w])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dist[w] = dist[v] + p-&gt;cost;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pre[w] = v;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bullets-1"/>
          <p:cNvGrpSpPr/>
          <p:nvPr/>
        </p:nvGrpSpPr>
        <p:grpSpPr>
          <a:xfrm>
            <a:off x="7114222" y="1535430"/>
            <a:ext cx="4328938" cy="1486948"/>
            <a:chOff x="7114222" y="1535430"/>
            <a:chExt cx="4328938" cy="1486948"/>
          </a:xfrm>
        </p:grpSpPr>
        <p:sp>
          <p:nvSpPr>
            <p:cNvPr id="14" name="Ellipse 14"/>
            <p:cNvSpPr/>
            <p:nvPr/>
          </p:nvSpPr>
          <p:spPr>
            <a:xfrm>
              <a:off x="7114222" y="15354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72567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05116" y="1547336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`S[w] == 0` 这个条件不能省：已定稿的顶点再被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松弛就破坏了单调性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114222" y="21336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72567" y="21729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05116" y="2145506"/>
              <a:ext cx="39278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判断写成 `&lt;` 而不是 `&lt;=`，相等时不改 pre，最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短路径树才唯一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14222" y="273177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72567" y="27711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05116" y="2743676"/>
              <a:ext cx="4038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外层循环跑满 n 轮，每轮恰好把一个顶点搬进 S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7114222" y="3147060"/>
            <a:ext cx="4544378" cy="2479358"/>
            <a:chOff x="7114222" y="3147060"/>
            <a:chExt cx="4544378" cy="2479358"/>
          </a:xfrm>
        </p:grpSpPr>
        <p:sp>
          <p:nvSpPr>
            <p:cNvPr id="24" name="Rectangle 24"/>
            <p:cNvSpPr/>
            <p:nvPr/>
          </p:nvSpPr>
          <p:spPr>
            <a:xfrm>
              <a:off x="7114222" y="3147060"/>
              <a:ext cx="4544378" cy="2479358"/>
            </a:xfrm>
            <a:prstGeom prst="roundRect">
              <a:avLst>
                <a:gd name="adj" fmla="val 5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3748" y="3280410"/>
              <a:ext cx="47625" cy="22126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50442" y="33451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41883" y="33794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3754" y="3379946"/>
              <a:ext cx="29784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松弛用的是 dist[v] 不是 dist[u]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43204" y="3723799"/>
              <a:ext cx="395490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松弛的起点永远是本轮刚选中的 v，不是源点。写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`dist[u] + p-&gt;cost` 会得到“只走一条边”的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结果，正好退化成邻接矩阵的一行。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11704"/>
              <a:ext cx="823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这段代码和 BFS 的骨架一模一样，差别只在“出队”换成“选 D 最小”，“没访问过”换成“能改小”。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400" cy="909257"/>
            <a:chOff x="520446" y="342900"/>
            <a:chExt cx="69474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4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复杂度：邻接表 O(n²+e)，邻接矩阵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64892" cy="278702"/>
            <a:chOff x="526161" y="1547336"/>
            <a:chExt cx="55648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648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 n 轮，每轮花 O(n) 找最小值，再花 O(dᵥ) 扫 v 的邻接表。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"/>
              <p:cNvSpPr txBox="1">
                <a:spLocks noGrp="1"/>
              </p:cNvSpPr>
              <p:nvPr/>
            </p:nvSpPr>
            <p:spPr>
              <a:xfrm>
                <a:off x="533400" y="1941195"/>
                <a:ext cx="5626418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2"/>
          <p:cNvGrpSpPr/>
          <p:nvPr/>
        </p:nvGrpSpPr>
        <p:grpSpPr>
          <a:xfrm>
            <a:off x="533400" y="2870835"/>
            <a:ext cx="5626418" cy="1490662"/>
            <a:chOff x="533400" y="2870835"/>
            <a:chExt cx="5626418" cy="1490662"/>
          </a:xfrm>
        </p:grpSpPr>
        <p:sp>
          <p:nvSpPr>
            <p:cNvPr id="10" name="Rectangle 10"/>
            <p:cNvSpPr/>
            <p:nvPr/>
          </p:nvSpPr>
          <p:spPr>
            <a:xfrm>
              <a:off x="533400" y="2870835"/>
              <a:ext cx="5626418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004185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3905" y="30632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5345" y="30975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7597" y="3103245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46 页的求和下标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437572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原式写作 O(Σᵢ₌₁ⁿ(n + dᵥ))，求和变量是 i，被加项却带 v。应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统一成 v，即上面这一行。结果 O(n²+e) 没有问题。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3993356"/>
              <a:ext cx="4284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对有向图 Σdᵥ 是出度之和 e；对无向图是 2e，都吸收进 O(e)。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536758"/>
            <a:ext cx="5626418" cy="881062"/>
            <a:chOff x="533400" y="4536758"/>
            <a:chExt cx="5626418" cy="881062"/>
          </a:xfrm>
        </p:grpSpPr>
        <p:sp>
          <p:nvSpPr>
            <p:cNvPr id="18" name="Rectangle 18"/>
            <p:cNvSpPr/>
            <p:nvPr/>
          </p:nvSpPr>
          <p:spPr>
            <a:xfrm>
              <a:off x="533400" y="4536758"/>
              <a:ext cx="5626418" cy="881062"/>
            </a:xfrm>
            <a:prstGeom prst="roundRect">
              <a:avLst>
                <a:gd name="adj" fmla="val 129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876800"/>
              <a:ext cx="200026" cy="200025"/>
              <a:chOff x="738188" y="487680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8768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9212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0323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758690"/>
              <a:ext cx="46085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源课件第 46 页的课下思考“用邻接矩阵存图复杂度是多少”，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答案是 O(n²)：每轮找最小 O(n)，扫一整行也是 O(n)。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464618" y="1941195"/>
            <a:ext cx="5193982" cy="2028825"/>
            <a:chOff x="6464618" y="1941195"/>
            <a:chExt cx="5193982" cy="2028825"/>
          </a:xfrm>
        </p:grpSpPr>
        <p:sp>
          <p:nvSpPr>
            <p:cNvPr id="25" name="Rectangle 25"/>
            <p:cNvSpPr/>
            <p:nvPr/>
          </p:nvSpPr>
          <p:spPr>
            <a:xfrm>
              <a:off x="6464618" y="1941195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888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实现方式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3966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找最小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775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松弛总量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7535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4630" y="2471261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 + 线性扫描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6742" y="247126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65920" y="247126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04145" y="2471261"/>
              <a:ext cx="664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O(n²+e)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7527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4630" y="287702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 + 线性扫描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6742" y="287702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65920" y="287702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04145" y="2877026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1537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4630" y="3282791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 + 二叉堆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26742" y="3282791"/>
              <a:ext cx="764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5920" y="3282791"/>
              <a:ext cx="764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 log n)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04145" y="3282791"/>
              <a:ext cx="1098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O((n+e) log 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559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356425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4630" y="368855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 + 斐波那契堆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26742" y="3688556"/>
              <a:ext cx="764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65920" y="368855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04145" y="3688556"/>
              <a:ext cx="1022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 + e)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1941195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2196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6114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19937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464618" y="4145280"/>
            <a:ext cx="5193982" cy="1272540"/>
            <a:chOff x="6464618" y="4145280"/>
            <a:chExt cx="5193982" cy="1272540"/>
          </a:xfrm>
        </p:grpSpPr>
        <p:sp>
          <p:nvSpPr>
            <p:cNvPr id="56" name="Rectangle 56"/>
            <p:cNvSpPr/>
            <p:nvPr/>
          </p:nvSpPr>
          <p:spPr>
            <a:xfrm>
              <a:off x="6464618" y="4145280"/>
              <a:ext cx="5193982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427863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5122" y="43376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6562" y="4371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78814" y="437769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这些结论什么时候成立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03695" y="47682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59714" y="4712018"/>
              <a:ext cx="4664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稠密图（e 接近 n²）用邻接矩阵版最好，O(n²) 已是下界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703695" y="50701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59714" y="5013960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堆优化只在稀疏图上划算，e 接近 n² 时反而更慢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8782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期末只要求会算 O(n²+e) 和邻接矩阵的 O(n²)；斐波那契堆的 O(1) 是摊还代价，常数大，知道存在即可。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例3｜五个顶点的有向带权图，逐轮填三张表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54331" cy="278702"/>
            <a:chOff x="526161" y="1547336"/>
            <a:chExt cx="635433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54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源点 v₁。每一轮先选 dist 最小且不在 S 里的顶点，再松弛它指出去的边。</a:t>
              </a:r>
            </a:p>
          </p:txBody>
        </p:sp>
      </p:grpSp>
      <p:grpSp>
        <p:nvGrpSpPr>
          <p:cNvPr id="51" name="c1-graph-1"/>
          <p:cNvGrpSpPr/>
          <p:nvPr/>
        </p:nvGrpSpPr>
        <p:grpSpPr>
          <a:xfrm>
            <a:off x="918210" y="2172652"/>
            <a:ext cx="3341370" cy="3118486"/>
            <a:chOff x="918210" y="2172652"/>
            <a:chExt cx="3341370" cy="3118486"/>
          </a:xfrm>
        </p:grpSpPr>
        <p:sp>
          <p:nvSpPr>
            <p:cNvPr id="9" name="Freeform 9"/>
            <p:cNvSpPr/>
            <p:nvPr/>
          </p:nvSpPr>
          <p:spPr>
            <a:xfrm>
              <a:off x="1341120" y="2486025"/>
              <a:ext cx="1090612" cy="853440"/>
            </a:xfrm>
            <a:custGeom>
              <a:avLst/>
              <a:gdLst/>
              <a:ahLst/>
              <a:cxnLst/>
              <a:rect l="l" t="t" r="r" b="b"/>
              <a:pathLst>
                <a:path w="1090612" h="853440">
                  <a:moveTo>
                    <a:pt x="1090612" y="0"/>
                  </a:moveTo>
                  <a:lnTo>
                    <a:pt x="0" y="853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66825" y="3301365"/>
              <a:ext cx="103823" cy="96202"/>
            </a:xfrm>
            <a:custGeom>
              <a:avLst/>
              <a:gdLst/>
              <a:ahLst/>
              <a:cxnLst/>
              <a:rect l="l" t="t" r="r" b="b"/>
              <a:pathLst>
                <a:path w="103823" h="96202">
                  <a:moveTo>
                    <a:pt x="0" y="96202"/>
                  </a:moveTo>
                  <a:lnTo>
                    <a:pt x="45720" y="0"/>
                  </a:lnTo>
                  <a:lnTo>
                    <a:pt x="103823" y="752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47010" y="2486025"/>
              <a:ext cx="1089660" cy="853440"/>
            </a:xfrm>
            <a:custGeom>
              <a:avLst/>
              <a:gdLst/>
              <a:ahLst/>
              <a:cxnLst/>
              <a:rect l="l" t="t" r="r" b="b"/>
              <a:pathLst>
                <a:path w="1089660" h="853440">
                  <a:moveTo>
                    <a:pt x="0" y="0"/>
                  </a:moveTo>
                  <a:lnTo>
                    <a:pt x="1089660" y="853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08095" y="3301365"/>
              <a:ext cx="103822" cy="96202"/>
            </a:xfrm>
            <a:custGeom>
              <a:avLst/>
              <a:gdLst/>
              <a:ahLst/>
              <a:cxnLst/>
              <a:rect l="l" t="t" r="r" b="b"/>
              <a:pathLst>
                <a:path w="103822" h="96202">
                  <a:moveTo>
                    <a:pt x="103822" y="96202"/>
                  </a:moveTo>
                  <a:lnTo>
                    <a:pt x="0" y="75247"/>
                  </a:lnTo>
                  <a:lnTo>
                    <a:pt x="5810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73480" y="3710940"/>
              <a:ext cx="375285" cy="1110615"/>
            </a:xfrm>
            <a:custGeom>
              <a:avLst/>
              <a:gdLst/>
              <a:ahLst/>
              <a:cxnLst/>
              <a:rect l="l" t="t" r="r" b="b"/>
              <a:pathLst>
                <a:path w="375285" h="1110615">
                  <a:moveTo>
                    <a:pt x="0" y="0"/>
                  </a:moveTo>
                  <a:lnTo>
                    <a:pt x="375285" y="1110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03998" y="4806315"/>
              <a:ext cx="90488" cy="104775"/>
            </a:xfrm>
            <a:custGeom>
              <a:avLst/>
              <a:gdLst/>
              <a:ahLst/>
              <a:cxnLst/>
              <a:rect l="l" t="t" r="r" b="b"/>
              <a:pathLst>
                <a:path w="90488" h="104775">
                  <a:moveTo>
                    <a:pt x="75248" y="104775"/>
                  </a:moveTo>
                  <a:lnTo>
                    <a:pt x="0" y="30480"/>
                  </a:lnTo>
                  <a:lnTo>
                    <a:pt x="904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76350" y="3629978"/>
              <a:ext cx="2010728" cy="1309688"/>
            </a:xfrm>
            <a:custGeom>
              <a:avLst/>
              <a:gdLst/>
              <a:ahLst/>
              <a:cxnLst/>
              <a:rect l="l" t="t" r="r" b="b"/>
              <a:pathLst>
                <a:path w="2010728" h="1309688">
                  <a:moveTo>
                    <a:pt x="0" y="0"/>
                  </a:moveTo>
                  <a:lnTo>
                    <a:pt x="2010728" y="13096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61360" y="4899660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105728" y="92393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11655" y="3682365"/>
              <a:ext cx="2010728" cy="1309688"/>
            </a:xfrm>
            <a:custGeom>
              <a:avLst/>
              <a:gdLst/>
              <a:ahLst/>
              <a:cxnLst/>
              <a:rect l="l" t="t" r="r" b="b"/>
              <a:pathLst>
                <a:path w="2010728" h="1309688">
                  <a:moveTo>
                    <a:pt x="0" y="1309688"/>
                  </a:moveTo>
                  <a:lnTo>
                    <a:pt x="20107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95712" y="3629978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0"/>
                  </a:moveTo>
                  <a:lnTo>
                    <a:pt x="52388" y="92392"/>
                  </a:lnTo>
                  <a:lnTo>
                    <a:pt x="0" y="123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686050" y="2642235"/>
              <a:ext cx="783908" cy="2269808"/>
            </a:xfrm>
            <a:custGeom>
              <a:avLst/>
              <a:gdLst/>
              <a:ahLst/>
              <a:cxnLst/>
              <a:rect l="l" t="t" r="r" b="b"/>
              <a:pathLst>
                <a:path w="783908" h="2269808">
                  <a:moveTo>
                    <a:pt x="783908" y="22698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640330" y="2551748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14288" y="0"/>
                  </a:moveTo>
                  <a:lnTo>
                    <a:pt x="90488" y="74295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939290" y="5100638"/>
              <a:ext cx="1395413" cy="9525"/>
            </a:xfrm>
            <a:custGeom>
              <a:avLst/>
              <a:gdLst/>
              <a:ahLst/>
              <a:cxnLst/>
              <a:rect l="l" t="t" r="r" b="b"/>
              <a:pathLst>
                <a:path w="1395413" h="9525">
                  <a:moveTo>
                    <a:pt x="139541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844040" y="5053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599498" y="3801428"/>
              <a:ext cx="375285" cy="1109662"/>
            </a:xfrm>
            <a:custGeom>
              <a:avLst/>
              <a:gdLst/>
              <a:ahLst/>
              <a:cxnLst/>
              <a:rect l="l" t="t" r="r" b="b"/>
              <a:pathLst>
                <a:path w="375285" h="1109662">
                  <a:moveTo>
                    <a:pt x="0" y="1109662"/>
                  </a:moveTo>
                  <a:lnTo>
                    <a:pt x="3752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30015" y="3710940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5247" y="0"/>
                  </a:moveTo>
                  <a:lnTo>
                    <a:pt x="89535" y="105727"/>
                  </a:lnTo>
                  <a:lnTo>
                    <a:pt x="0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398395" y="2172652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18210" y="333089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878580" y="333089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453515" y="49101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344228" y="49101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42746" y="22974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2561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22931" y="34556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97866" y="5035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88578" y="5035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782128" y="28632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13683" y="28932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233738" y="286321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63511" y="289321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281112" y="423291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10886" y="426196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55520" y="42329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287076" y="42619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761298" y="423291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91071" y="426196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67038" y="365379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996811" y="36828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522220" y="50225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53776" y="5051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707130" y="423291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36904" y="426196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103" name="c2-table-1"/>
          <p:cNvGrpSpPr/>
          <p:nvPr/>
        </p:nvGrpSpPr>
        <p:grpSpPr>
          <a:xfrm>
            <a:off x="4950142" y="1941195"/>
            <a:ext cx="6708458" cy="2840355"/>
            <a:chOff x="4950142" y="1941195"/>
            <a:chExt cx="6708458" cy="2840355"/>
          </a:xfrm>
        </p:grpSpPr>
        <p:sp>
          <p:nvSpPr>
            <p:cNvPr id="52" name="Rectangle 52"/>
            <p:cNvSpPr/>
            <p:nvPr/>
          </p:nvSpPr>
          <p:spPr>
            <a:xfrm>
              <a:off x="4950142" y="1941195"/>
              <a:ext cx="670845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9560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97007" y="206549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选入 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45373" y="2065496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dist[1..5]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78845" y="2065496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pre[1..5]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2962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50155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5501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94182" y="2471261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∞ ∞ ∞ ∞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38210" y="2471261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− − − 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14585" y="247126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只有源点为 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50142" y="27479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50142" y="2752725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050155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55017" y="287702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(0)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94182" y="287702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3 ∞ ∞ 30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38210" y="287702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− 1 − − 1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14585" y="287702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松弛 1→2、1→5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950142" y="315372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050155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855017" y="328279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 (3)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94182" y="3282791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0 3 28 11 30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38210" y="3282791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2 2 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14585" y="3282791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松弛 2→3、2→4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950142" y="35594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950142" y="3564255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050155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855017" y="368855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 (11)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703695" y="3573780"/>
              <a:ext cx="172497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94182" y="3688556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0 3 15 11 23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447722" y="3573780"/>
              <a:ext cx="14573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38210" y="368855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4 2 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014585" y="3688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和 5 都被改小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950142" y="396525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050155" y="4094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855017" y="4094321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 (15)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94182" y="4094321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0 3 15 11 23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38210" y="4094321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4 2 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014585" y="409432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15+10 &gt; 23，不改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950142" y="437102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4950142" y="4375785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050155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855017" y="450008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 (23)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794182" y="4500086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0 3 15 11 23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38210" y="450008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4 2 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014585" y="45000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全部定稿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0142" y="1941195"/>
              <a:ext cx="670845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575024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68940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433435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90981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0" name="c2-callout-2"/>
          <p:cNvGrpSpPr/>
          <p:nvPr/>
        </p:nvGrpSpPr>
        <p:grpSpPr>
          <a:xfrm>
            <a:off x="4950142" y="4956810"/>
            <a:ext cx="6708458" cy="729615"/>
            <a:chOff x="4950142" y="4956810"/>
            <a:chExt cx="6708458" cy="729615"/>
          </a:xfrm>
        </p:grpSpPr>
        <p:sp>
          <p:nvSpPr>
            <p:cNvPr id="104" name="Rectangle 104"/>
            <p:cNvSpPr/>
            <p:nvPr/>
          </p:nvSpPr>
          <p:spPr>
            <a:xfrm>
              <a:off x="4950142" y="4956810"/>
              <a:ext cx="670845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5154930" y="5221605"/>
              <a:ext cx="200026" cy="200025"/>
              <a:chOff x="5154930" y="5221605"/>
              <a:chExt cx="200026" cy="200025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5154930" y="52216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5194669" y="52660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5229384" y="53771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5457634" y="5103495"/>
              <a:ext cx="48314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轮选的是 v₄ 而不是编号更小的 v₃，因为 dist[4]=11 小于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dist[3]=28。选的依据永远是 dist，不是编号。</a:t>
              </a:r>
            </a:p>
          </p:txBody>
        </p:sp>
      </p:grpSp>
      <p:grpSp>
        <p:nvGrpSpPr>
          <p:cNvPr id="11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1" name="Rectangle 11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5" name="Group 115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1040892" y="6023610"/>
              <a:ext cx="6516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 4→1 的权 20 从头到尾没用上：v₁ 早就在 S 里，指向 S 内顶点的边一律跳过。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396" cy="909257"/>
            <a:chOff x="520446" y="342900"/>
            <a:chExt cx="7594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有了 pre，任意一个顶点的最短路都能倒着写出来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cells-1"/>
          <p:cNvGrpSpPr/>
          <p:nvPr/>
        </p:nvGrpSpPr>
        <p:grpSpPr>
          <a:xfrm>
            <a:off x="528066" y="1524000"/>
            <a:ext cx="2507552" cy="1993582"/>
            <a:chOff x="528066" y="1524000"/>
            <a:chExt cx="2507552" cy="1993582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497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4011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03518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5921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2618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7831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41718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9741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60818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1651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9918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066" y="218694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40118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0351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59218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2261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78318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4171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197418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6081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16518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77991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066" y="272415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dist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40118" y="259842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0351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359218" y="259842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22618" y="2724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778318" y="259842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00903" y="2724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197418" y="259842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20003" y="2724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616518" y="259842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39103" y="2724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066" y="326136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40118" y="31365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03518" y="3261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359218" y="31365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22618" y="3261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778318" y="31365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941718" y="3261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197418" y="313658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360818" y="3261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616518" y="3136582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779918" y="3261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5" name="c1-steps-2"/>
          <p:cNvGrpSpPr/>
          <p:nvPr/>
        </p:nvGrpSpPr>
        <p:grpSpPr>
          <a:xfrm>
            <a:off x="533400" y="3702368"/>
            <a:ext cx="4179098" cy="1693069"/>
            <a:chOff x="533400" y="3702368"/>
            <a:chExt cx="4179098" cy="1693069"/>
          </a:xfrm>
        </p:grpSpPr>
        <p:sp>
          <p:nvSpPr>
            <p:cNvPr id="52" name="Rectangle 52"/>
            <p:cNvSpPr/>
            <p:nvPr/>
          </p:nvSpPr>
          <p:spPr>
            <a:xfrm>
              <a:off x="666750" y="3845242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33400" y="37023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7024" y="3776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33400" y="42891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7024" y="4362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33400" y="48758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7024" y="4949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5642" y="3733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从终点起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785" y="400192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pre[5] = 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5642" y="43205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继续回溯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6785" y="458866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pre[4] = 2，pre[2] = 1，到源点停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5642" y="4908233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反转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785" y="5175409"/>
              <a:ext cx="3765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→ v₂ → v₄ → v₅，长度 3+8+12 = 23，与 dist[5] 对上</a:t>
              </a:r>
            </a:p>
          </p:txBody>
        </p:sp>
      </p:grpSp>
      <p:grpSp>
        <p:nvGrpSpPr>
          <p:cNvPr id="69" name="c2-code-1"/>
          <p:cNvGrpSpPr/>
          <p:nvPr/>
        </p:nvGrpSpPr>
        <p:grpSpPr>
          <a:xfrm>
            <a:off x="6248400" y="1524000"/>
            <a:ext cx="5410200" cy="1829752"/>
            <a:chOff x="6248400" y="1524000"/>
            <a:chExt cx="5410200" cy="1829752"/>
          </a:xfrm>
        </p:grpSpPr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76797" y="1675924"/>
              <a:ext cx="15158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递归输出 s 到 t 的最短路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76416" y="1937385"/>
              <a:ext cx="4304538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PrintPath(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 == t) {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回到源点，输出后返回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s);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PrintPath(pre, s, pre[t]);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先打印 s 到 t 前驱的路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t);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再打印 t 自己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248400" y="3529012"/>
            <a:ext cx="5410200" cy="2088832"/>
            <a:chOff x="6248400" y="3529012"/>
            <a:chExt cx="5410200" cy="2088832"/>
          </a:xfrm>
        </p:grpSpPr>
        <p:sp>
          <p:nvSpPr>
            <p:cNvPr id="70" name="Rectangle 70"/>
            <p:cNvSpPr/>
            <p:nvPr/>
          </p:nvSpPr>
          <p:spPr>
            <a:xfrm>
              <a:off x="6248400" y="3529012"/>
              <a:ext cx="5410200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3662362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78905" y="372141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54343" y="375570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为什么用递归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95997" y="37604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顺序要倒过来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72047" y="4094798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链是从终点往回走的，直接打印会得到逆序。递归让“打印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t”这一步压在栈底之后执行，出栈时顺序自然正过来。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87478" y="47110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43497" y="46548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非递归写法：先把顶点压进栈，再逐个弹出打印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87478" y="50130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43497" y="4956810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调用前要确认 `dist[t] != INF`，否则 pre 链走不到源点会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死循环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1" name="Rectangle 8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892" y="6023610"/>
              <a:ext cx="7734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 数组的价值在于一次 Dijkstra 就存下了源点到全部顶点的最短路，而不只是一个距离数字。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9405" cy="909257"/>
            <a:chOff x="520446" y="342900"/>
            <a:chExt cx="6329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9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为什么一条 pre 链就足以表示所有最短路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graph-1"/>
          <p:cNvGrpSpPr/>
          <p:nvPr/>
        </p:nvGrpSpPr>
        <p:grpSpPr>
          <a:xfrm>
            <a:off x="965835" y="2298065"/>
            <a:ext cx="4328160" cy="848995"/>
            <a:chOff x="965835" y="2298065"/>
            <a:chExt cx="4328160" cy="848995"/>
          </a:xfrm>
        </p:grpSpPr>
        <p:sp>
          <p:nvSpPr>
            <p:cNvPr id="7" name="Freeform 7"/>
            <p:cNvSpPr/>
            <p:nvPr/>
          </p:nvSpPr>
          <p:spPr>
            <a:xfrm>
              <a:off x="1356360" y="2956560"/>
              <a:ext cx="1478280" cy="9525"/>
            </a:xfrm>
            <a:custGeom>
              <a:avLst/>
              <a:gdLst/>
              <a:ahLst/>
              <a:cxnLst/>
              <a:rect l="l" t="t" r="r" b="b"/>
              <a:pathLst>
                <a:path w="1478280" h="9525">
                  <a:moveTo>
                    <a:pt x="0" y="0"/>
                  </a:moveTo>
                  <a:lnTo>
                    <a:pt x="1478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834640" y="2908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29940" y="2956560"/>
              <a:ext cx="1478280" cy="9525"/>
            </a:xfrm>
            <a:custGeom>
              <a:avLst/>
              <a:gdLst/>
              <a:ahLst/>
              <a:cxnLst/>
              <a:rect l="l" t="t" r="r" b="b"/>
              <a:pathLst>
                <a:path w="1478280" h="9525">
                  <a:moveTo>
                    <a:pt x="0" y="0"/>
                  </a:moveTo>
                  <a:lnTo>
                    <a:pt x="1478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808220" y="2908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04925" y="2298065"/>
              <a:ext cx="1605915" cy="524192"/>
            </a:xfrm>
            <a:custGeom>
              <a:avLst/>
              <a:gdLst/>
              <a:ahLst/>
              <a:cxnLst/>
              <a:rect l="l" t="t" r="r" b="b"/>
              <a:pathLst>
                <a:path w="1605915" h="524192">
                  <a:moveTo>
                    <a:pt x="0" y="524192"/>
                  </a:moveTo>
                  <a:cubicBezTo>
                    <a:pt x="558800" y="21272"/>
                    <a:pt x="1094105" y="0"/>
                    <a:pt x="1605915" y="460375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79408" y="2723198"/>
              <a:ext cx="101917" cy="99060"/>
            </a:xfrm>
            <a:custGeom>
              <a:avLst/>
              <a:gdLst/>
              <a:ahLst/>
              <a:cxnLst/>
              <a:rect l="l" t="t" r="r" b="b"/>
              <a:pathLst>
                <a:path w="101917" h="99060">
                  <a:moveTo>
                    <a:pt x="101917" y="99060"/>
                  </a:moveTo>
                  <a:lnTo>
                    <a:pt x="0" y="70485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5835" y="276606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939415" y="276606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912995" y="276606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07084" y="2886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0664" y="2886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8413" y="2886551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73592" y="287083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03158" y="290226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35742" y="2870835"/>
              <a:ext cx="16192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63936" y="2902268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10715" y="2359342"/>
              <a:ext cx="46482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27593" y="2391728"/>
              <a:ext cx="431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P′ 更短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019550"/>
            <a:ext cx="5193982" cy="1394460"/>
            <a:chOff x="533400" y="4019550"/>
            <a:chExt cx="5193982" cy="1394460"/>
          </a:xfrm>
        </p:grpSpPr>
        <p:sp>
          <p:nvSpPr>
            <p:cNvPr id="26" name="Rectangle 26"/>
            <p:cNvSpPr/>
            <p:nvPr/>
          </p:nvSpPr>
          <p:spPr>
            <a:xfrm>
              <a:off x="533400" y="4019550"/>
              <a:ext cx="5193982" cy="1394460"/>
            </a:xfrm>
            <a:prstGeom prst="roundRect">
              <a:avLst>
                <a:gd name="adj" fmla="val 819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616768"/>
              <a:ext cx="200026" cy="200026"/>
              <a:chOff x="738188" y="461676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616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4683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47167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4485799"/>
              <a:ext cx="42975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P、Q 表示两段路径，红弧 P′ 是假设中比 P 更短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的那条。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032182" y="1524000"/>
            <a:ext cx="5626418" cy="1293495"/>
            <a:chOff x="6032182" y="1524000"/>
            <a:chExt cx="5626418" cy="1293495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74118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4326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4574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最短路的前缀也是最短路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66879" y="2119789"/>
              <a:ext cx="49557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P+Q 是 u 到 w 的一条最短路，其中 P 是 u 到 v 的那一段。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那么 P 一定是 u 到 v 的最短路。</a:t>
              </a:r>
            </a:p>
          </p:txBody>
        </p:sp>
      </p:grpSp>
      <p:grpSp>
        <p:nvGrpSpPr>
          <p:cNvPr id="57" name="c2-steps-2"/>
          <p:cNvGrpSpPr/>
          <p:nvPr/>
        </p:nvGrpSpPr>
        <p:grpSpPr>
          <a:xfrm>
            <a:off x="6032182" y="3011805"/>
            <a:ext cx="3816629" cy="2411158"/>
            <a:chOff x="6032182" y="3011805"/>
            <a:chExt cx="3816629" cy="2411158"/>
          </a:xfrm>
        </p:grpSpPr>
        <p:sp>
          <p:nvSpPr>
            <p:cNvPr id="40" name="Rectangle 40"/>
            <p:cNvSpPr/>
            <p:nvPr/>
          </p:nvSpPr>
          <p:spPr>
            <a:xfrm>
              <a:off x="6165532" y="315468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032182" y="30118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806" y="30856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32182" y="36328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3706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2182" y="42538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5806" y="43276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32182" y="48748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806" y="49487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4044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5186" y="3326130"/>
              <a:ext cx="3403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u 到 v 的更短路 P′，即 len(P′) &lt; len(P)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044" y="366569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186" y="3946207"/>
              <a:ext cx="2543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那么 P′+Q 也是一条 u 到 w 的路径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044" y="42867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186" y="4567238"/>
              <a:ext cx="3117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len(P′+Q) &lt; len(P+Q)，与 P+Q 最短矛盾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044" y="49077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186" y="5188267"/>
              <a:ext cx="2544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P′ 不存在，P 就是 u 到 v 的最短路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8" name="Rectangle 5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5753576"/>
              <a:ext cx="999629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推论：v 的最短路接在它前驱的最短路后面即可，每个顶点记一个前驱就够。这个性质对负权边也成立，失效的是 Dijkstra 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贪心选择。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83299" cy="909257"/>
            <a:chOff x="520446" y="342900"/>
            <a:chExt cx="49832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832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能做什么，不能做什么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33400" y="1548765"/>
            <a:ext cx="5313998" cy="1327785"/>
            <a:chOff x="533400" y="1548765"/>
            <a:chExt cx="5313998" cy="1327785"/>
          </a:xfrm>
        </p:grpSpPr>
        <p:sp>
          <p:nvSpPr>
            <p:cNvPr id="7" name="Freeform 7"/>
            <p:cNvSpPr/>
            <p:nvPr/>
          </p:nvSpPr>
          <p:spPr>
            <a:xfrm>
              <a:off x="533400" y="1580198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3908" y="154876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有向图、无向图都适用，无向图把每条边按两条有向边存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192500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3908" y="1893570"/>
              <a:ext cx="42957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v 一进入 S，源点到 v 的最短路径就已确定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269808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3908" y="2238375"/>
              <a:ext cx="3895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顶点进入 S 的次序就是最短距离递增的次序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3400" y="261461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3908" y="2583180"/>
              <a:ext cx="4904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只想求源点到某一个 t 的最短路时，t 一进 S 就可以停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007995"/>
            <a:ext cx="5842635" cy="2567940"/>
            <a:chOff x="533400" y="3007995"/>
            <a:chExt cx="5842635" cy="2567940"/>
          </a:xfrm>
        </p:grpSpPr>
        <p:sp>
          <p:nvSpPr>
            <p:cNvPr id="16" name="Rectangle 16"/>
            <p:cNvSpPr/>
            <p:nvPr/>
          </p:nvSpPr>
          <p:spPr>
            <a:xfrm>
              <a:off x="533400" y="3007995"/>
              <a:ext cx="5842635" cy="2567940"/>
            </a:xfrm>
            <a:prstGeom prst="roundRect">
              <a:avLst>
                <a:gd name="adj" fmla="val 519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321754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9208" y="32532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85900" y="3252788"/>
              <a:ext cx="3308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用贪心的“形”，装着动态规划的“魂”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3613785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每轮挑最小值是贪心的做法，但它之所以正确，靠的是最优子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结构和权非负带来的单调性，本质上是在按 dist 递增的顺序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做动态规划。</a:t>
              </a:r>
            </a:p>
          </p:txBody>
        </p:sp>
      </p:grpSp>
      <p:grpSp>
        <p:nvGrpSpPr>
          <p:cNvPr id="40" name="c2-graph-1"/>
          <p:cNvGrpSpPr/>
          <p:nvPr/>
        </p:nvGrpSpPr>
        <p:grpSpPr>
          <a:xfrm>
            <a:off x="7237095" y="1619250"/>
            <a:ext cx="3865245" cy="1619250"/>
            <a:chOff x="7237095" y="1619250"/>
            <a:chExt cx="3865245" cy="1619250"/>
          </a:xfrm>
        </p:grpSpPr>
        <p:sp>
          <p:nvSpPr>
            <p:cNvPr id="22" name="Freeform 22"/>
            <p:cNvSpPr/>
            <p:nvPr/>
          </p:nvSpPr>
          <p:spPr>
            <a:xfrm>
              <a:off x="7668578" y="1925955"/>
              <a:ext cx="1338262" cy="950595"/>
            </a:xfrm>
            <a:custGeom>
              <a:avLst/>
              <a:gdLst/>
              <a:ahLst/>
              <a:cxnLst/>
              <a:rect l="l" t="t" r="r" b="b"/>
              <a:pathLst>
                <a:path w="1338262" h="950595">
                  <a:moveTo>
                    <a:pt x="1338262" y="0"/>
                  </a:moveTo>
                  <a:lnTo>
                    <a:pt x="0" y="950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590472" y="283845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93345"/>
                  </a:moveTo>
                  <a:lnTo>
                    <a:pt x="50483" y="0"/>
                  </a:lnTo>
                  <a:lnTo>
                    <a:pt x="105728" y="771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332595" y="1925955"/>
              <a:ext cx="1338262" cy="950595"/>
            </a:xfrm>
            <a:custGeom>
              <a:avLst/>
              <a:gdLst/>
              <a:ahLst/>
              <a:cxnLst/>
              <a:rect l="l" t="t" r="r" b="b"/>
              <a:pathLst>
                <a:path w="1338262" h="950595">
                  <a:moveTo>
                    <a:pt x="0" y="0"/>
                  </a:moveTo>
                  <a:lnTo>
                    <a:pt x="1338262" y="950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644188" y="283845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93345"/>
                  </a:moveTo>
                  <a:lnTo>
                    <a:pt x="0" y="77153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722870" y="3048000"/>
              <a:ext cx="2988945" cy="9525"/>
            </a:xfrm>
            <a:custGeom>
              <a:avLst/>
              <a:gdLst/>
              <a:ahLst/>
              <a:cxnLst/>
              <a:rect l="l" t="t" r="r" b="b"/>
              <a:pathLst>
                <a:path w="2988945" h="9525">
                  <a:moveTo>
                    <a:pt x="298894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627620" y="3000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979218" y="161925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237095" y="28575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721340" y="28575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6930" y="17397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34808" y="2977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19053" y="2977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66735" y="2343150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94415" y="237553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77425" y="2343150"/>
              <a:ext cx="32766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03219" y="237553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05888" y="2962275"/>
              <a:ext cx="32766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31681" y="299466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−999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680835" y="3619500"/>
            <a:ext cx="4977765" cy="1956435"/>
            <a:chOff x="6680835" y="3619500"/>
            <a:chExt cx="4977765" cy="1956435"/>
          </a:xfrm>
        </p:grpSpPr>
        <p:sp>
          <p:nvSpPr>
            <p:cNvPr id="41" name="Rectangle 41"/>
            <p:cNvSpPr/>
            <p:nvPr/>
          </p:nvSpPr>
          <p:spPr>
            <a:xfrm>
              <a:off x="6680835" y="3619500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37528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8485" y="38290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9646" y="3864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9512" y="3864292"/>
              <a:ext cx="2065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负权边会让“定稿”提前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0865" y="4225290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第一轮选 D 最小的 v₁（100）并定稿。但真正的最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短路是 v₀→v₂→v₁ = 1000 − 999 = 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34200" y="49091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92315" y="4846320"/>
              <a:ext cx="399954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负权图的单源最短路用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Bellman-Ford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，复杂度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O(ne)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29300"/>
            <a:ext cx="11144917" cy="533400"/>
            <a:chOff x="533400" y="5829300"/>
            <a:chExt cx="11144917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991225"/>
              <a:ext cx="10638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应用举例：OSPF 路由协议基于 Dijkstra；RIP 基于 Bellman-Ford；BGP 是在距离向量基础上发展出的路径向量协议。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辨析一｜把负边“抬”成正边，为什么不行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34031" cy="264033"/>
            <a:chOff x="526542" y="1545907"/>
            <a:chExt cx="733403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34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62 页的课下思考：最小边权是 −x，给每条边都加 x+1，再跑 Dijkstra，行不行。</a:t>
              </a:r>
            </a:p>
          </p:txBody>
        </p:sp>
      </p:grpSp>
      <p:grpSp>
        <p:nvGrpSpPr>
          <p:cNvPr id="27" name="c1-compare-1"/>
          <p:cNvGrpSpPr/>
          <p:nvPr/>
        </p:nvGrpSpPr>
        <p:grpSpPr>
          <a:xfrm>
            <a:off x="533400" y="1928812"/>
            <a:ext cx="5193982" cy="1453515"/>
            <a:chOff x="533400" y="1928812"/>
            <a:chExt cx="5193982" cy="145351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275522" cy="1453515"/>
            </a:xfrm>
            <a:prstGeom prst="roundRect">
              <a:avLst>
                <a:gd name="adj" fmla="val 9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7898" y="21302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24841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9348" y="2432209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v₁→v₂ = 1000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3900" y="27689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9348" y="2717006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v₂→v₃ = −999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3900" y="30546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9348" y="3001804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v₁→v₃ = 5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51860" y="1928812"/>
              <a:ext cx="2275522" cy="1453515"/>
            </a:xfrm>
            <a:prstGeom prst="roundRect">
              <a:avLst>
                <a:gd name="adj" fmla="val 9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26358" y="21302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变换后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42360" y="24841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97808" y="2432209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v₁→v₂ = 2000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42360" y="27689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97808" y="271700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v₂→v₃ = 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42360" y="30546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7808" y="300180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v₁→v₃ = 1005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2855595" y="2381250"/>
              <a:ext cx="548640" cy="54864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05554" y="2599373"/>
              <a:ext cx="4487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 1000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3547110"/>
            <a:ext cx="5193982" cy="1143952"/>
            <a:chOff x="533400" y="3547110"/>
            <a:chExt cx="5193982" cy="1143952"/>
          </a:xfrm>
        </p:grpSpPr>
        <p:sp>
          <p:nvSpPr>
            <p:cNvPr id="28" name="Rectangle 28"/>
            <p:cNvSpPr/>
            <p:nvPr/>
          </p:nvSpPr>
          <p:spPr>
            <a:xfrm>
              <a:off x="533400" y="354711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3817" y="3664268"/>
              <a:ext cx="1177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 到 v₃ 的两条路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01911" y="36642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原图长度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9526" y="366426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变换后长度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8078" y="4045268"/>
              <a:ext cx="1370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v₁→v₂→v₃（两条边）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620328" y="3937635"/>
              <a:ext cx="153924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705481" y="40452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63771" y="404526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3043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30911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427220"/>
              <a:ext cx="11255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v₁→v₃（一条边）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05481" y="4427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78618" y="4318635"/>
              <a:ext cx="153924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63771" y="442722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547110"/>
              <a:ext cx="5193982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606040" y="354711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164330" y="354711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allout-3"/>
          <p:cNvGrpSpPr/>
          <p:nvPr/>
        </p:nvGrpSpPr>
        <p:grpSpPr>
          <a:xfrm>
            <a:off x="533400" y="4855845"/>
            <a:ext cx="5193982" cy="768668"/>
            <a:chOff x="533400" y="4855845"/>
            <a:chExt cx="5193982" cy="768668"/>
          </a:xfrm>
        </p:grpSpPr>
        <p:sp>
          <p:nvSpPr>
            <p:cNvPr id="46" name="Rectangle 46"/>
            <p:cNvSpPr/>
            <p:nvPr/>
          </p:nvSpPr>
          <p:spPr>
            <a:xfrm>
              <a:off x="533400" y="4855845"/>
              <a:ext cx="5193982" cy="768668"/>
            </a:xfrm>
            <a:prstGeom prst="roundRect">
              <a:avLst>
                <a:gd name="adj" fmla="val 1487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135998"/>
              <a:ext cx="224134" cy="192560"/>
              <a:chOff x="726129" y="5135998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52063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1359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284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503348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两条边的那条路被加了 2000，一条边的那条只加了 1000，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长短关系因此翻转。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032182" y="1928812"/>
            <a:ext cx="5626418" cy="1687830"/>
            <a:chOff x="6032182" y="1928812"/>
            <a:chExt cx="5626418" cy="1687830"/>
          </a:xfrm>
        </p:grpSpPr>
        <p:sp>
          <p:nvSpPr>
            <p:cNvPr id="53" name="Rectangle 53"/>
            <p:cNvSpPr/>
            <p:nvPr/>
          </p:nvSpPr>
          <p:spPr>
            <a:xfrm>
              <a:off x="6032182" y="1928812"/>
              <a:ext cx="5626418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41708" y="2062162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1258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297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17233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不行，最短路会被换掉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44780" y="2465546"/>
              <a:ext cx="49539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每条路径增加的总量是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(x+1) × 该路径的边数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，与边数成正比。边多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的路径被抬得更高，两条路径的长短关系因此翻转。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44780" y="2994184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原图最短是绕行的 1，变换后最短变成直达的 1005，算出来的路径已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经不是原图的最短路。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032182" y="3781425"/>
            <a:ext cx="5626418" cy="1843088"/>
            <a:chOff x="6032182" y="3781425"/>
            <a:chExt cx="5626418" cy="1843088"/>
          </a:xfrm>
        </p:grpSpPr>
        <p:sp>
          <p:nvSpPr>
            <p:cNvPr id="61" name="Rectangle 61"/>
            <p:cNvSpPr/>
            <p:nvPr/>
          </p:nvSpPr>
          <p:spPr>
            <a:xfrm>
              <a:off x="6032182" y="3781425"/>
              <a:ext cx="5626418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41708" y="3914775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1258" y="396240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24625" y="399526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什么时候能改权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39216" y="4001929"/>
              <a:ext cx="1286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Johnson 重赋权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44780" y="4319111"/>
              <a:ext cx="49791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正确的做法是给每个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顶点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配一个势 h(v)，把边权改成 w(u,v)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h(u) − h(v)。这样同一对顶点之间所有路径增加的量相同，最短路不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45924" y="5086350"/>
              <a:ext cx="49712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由一次 Bellman-Ford 求出，这是 Johnson 算法的做法，超出本讲范围，知道方向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即可。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6061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判断一个变换能不能用，就看它对“同一对顶点的不同路径”是不是加了同样多。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26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102" y="407194"/>
              <a:ext cx="229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Dijkstra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辨析二｜用最短路算法求最长路，两种改法都错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56427" cy="264033"/>
            <a:chOff x="526542" y="1545907"/>
            <a:chExt cx="615642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56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63、64 页的两道课下思考，用的是同一张图，也被同一张图反驳。</a:t>
              </a:r>
            </a:p>
          </p:txBody>
        </p:sp>
      </p:grpSp>
      <p:grpSp>
        <p:nvGrpSpPr>
          <p:cNvPr id="37" name="c1-graph-1"/>
          <p:cNvGrpSpPr/>
          <p:nvPr/>
        </p:nvGrpSpPr>
        <p:grpSpPr>
          <a:xfrm>
            <a:off x="879158" y="1990725"/>
            <a:ext cx="3204210" cy="2105025"/>
            <a:chOff x="879158" y="1990725"/>
            <a:chExt cx="3204210" cy="2105025"/>
          </a:xfrm>
        </p:grpSpPr>
        <p:sp>
          <p:nvSpPr>
            <p:cNvPr id="9" name="Freeform 9"/>
            <p:cNvSpPr/>
            <p:nvPr/>
          </p:nvSpPr>
          <p:spPr>
            <a:xfrm>
              <a:off x="1337310" y="2302192"/>
              <a:ext cx="965835" cy="601980"/>
            </a:xfrm>
            <a:custGeom>
              <a:avLst/>
              <a:gdLst/>
              <a:ahLst/>
              <a:cxnLst/>
              <a:rect l="l" t="t" r="r" b="b"/>
              <a:pathLst>
                <a:path w="965835" h="601980">
                  <a:moveTo>
                    <a:pt x="965835" y="0"/>
                  </a:moveTo>
                  <a:lnTo>
                    <a:pt x="0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56348" y="2863215"/>
              <a:ext cx="106680" cy="91440"/>
            </a:xfrm>
            <a:custGeom>
              <a:avLst/>
              <a:gdLst/>
              <a:ahLst/>
              <a:cxnLst/>
              <a:rect l="l" t="t" r="r" b="b"/>
              <a:pathLst>
                <a:path w="106680" h="91440">
                  <a:moveTo>
                    <a:pt x="0" y="91440"/>
                  </a:moveTo>
                  <a:lnTo>
                    <a:pt x="56198" y="0"/>
                  </a:lnTo>
                  <a:lnTo>
                    <a:pt x="106680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58428" y="2302192"/>
              <a:ext cx="966788" cy="601980"/>
            </a:xfrm>
            <a:custGeom>
              <a:avLst/>
              <a:gdLst/>
              <a:ahLst/>
              <a:cxnLst/>
              <a:rect l="l" t="t" r="r" b="b"/>
              <a:pathLst>
                <a:path w="966788" h="601980">
                  <a:moveTo>
                    <a:pt x="0" y="0"/>
                  </a:moveTo>
                  <a:lnTo>
                    <a:pt x="966788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99498" y="286321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80962"/>
                  </a:lnTo>
                  <a:lnTo>
                    <a:pt x="504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81262" y="2400300"/>
              <a:ext cx="9525" cy="1190625"/>
            </a:xfrm>
            <a:custGeom>
              <a:avLst/>
              <a:gdLst/>
              <a:ahLst/>
              <a:cxnLst/>
              <a:rect l="l" t="t" r="r" b="b"/>
              <a:pathLst>
                <a:path w="9525" h="1190625">
                  <a:moveTo>
                    <a:pt x="0" y="0"/>
                  </a:moveTo>
                  <a:lnTo>
                    <a:pt x="0" y="1190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33638" y="3590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43200" y="3171825"/>
              <a:ext cx="960120" cy="568642"/>
            </a:xfrm>
            <a:custGeom>
              <a:avLst/>
              <a:gdLst/>
              <a:ahLst/>
              <a:cxnLst/>
              <a:rect l="l" t="t" r="r" b="b"/>
              <a:pathLst>
                <a:path w="960120" h="568642">
                  <a:moveTo>
                    <a:pt x="960120" y="0"/>
                  </a:moveTo>
                  <a:lnTo>
                    <a:pt x="0" y="5686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61285" y="3699510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89535"/>
                  </a:moveTo>
                  <a:lnTo>
                    <a:pt x="58103" y="0"/>
                  </a:lnTo>
                  <a:lnTo>
                    <a:pt x="106680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41120" y="3220402"/>
              <a:ext cx="960120" cy="568642"/>
            </a:xfrm>
            <a:custGeom>
              <a:avLst/>
              <a:gdLst/>
              <a:ahLst/>
              <a:cxnLst/>
              <a:rect l="l" t="t" r="r" b="b"/>
              <a:pathLst>
                <a:path w="960120" h="568642">
                  <a:moveTo>
                    <a:pt x="960120" y="56864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59205" y="317182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0"/>
                  </a:moveTo>
                  <a:lnTo>
                    <a:pt x="105728" y="7620"/>
                  </a:lnTo>
                  <a:lnTo>
                    <a:pt x="5715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281238" y="1990725"/>
              <a:ext cx="400050" cy="4000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79158" y="286512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683318" y="286512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281238" y="369570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00121" y="21302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8041" y="30046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02201" y="30046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00121" y="3835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13548" y="254984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45103" y="25788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15628" y="254984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47183" y="25788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414588" y="29651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46143" y="29941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15628" y="34023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47183" y="34313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713548" y="34023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45103" y="34313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279582"/>
            <a:ext cx="3895725" cy="1390650"/>
            <a:chOff x="533400" y="4279582"/>
            <a:chExt cx="3895725" cy="1390650"/>
          </a:xfrm>
        </p:grpSpPr>
        <p:sp>
          <p:nvSpPr>
            <p:cNvPr id="38" name="Rectangle 38"/>
            <p:cNvSpPr/>
            <p:nvPr/>
          </p:nvSpPr>
          <p:spPr>
            <a:xfrm>
              <a:off x="533400" y="4279582"/>
              <a:ext cx="3895725" cy="1390650"/>
            </a:xfrm>
            <a:prstGeom prst="roundRect">
              <a:avLst>
                <a:gd name="adj" fmla="val 821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874895"/>
              <a:ext cx="200026" cy="200026"/>
              <a:chOff x="738188" y="487489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874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4863" y="49526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767739"/>
              <a:ext cx="2849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v₁ 到 v₂ 的真正最长路是 v₁→v₃→v₄→v₂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5+2+3 = 10。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4733925" y="1928812"/>
            <a:ext cx="6924675" cy="1884998"/>
            <a:chOff x="4733925" y="1928812"/>
            <a:chExt cx="6924675" cy="1884998"/>
          </a:xfrm>
        </p:grpSpPr>
        <p:sp>
          <p:nvSpPr>
            <p:cNvPr id="44" name="Rectangle 44"/>
            <p:cNvSpPr/>
            <p:nvPr/>
          </p:nvSpPr>
          <p:spPr>
            <a:xfrm>
              <a:off x="4733925" y="1928812"/>
              <a:ext cx="692467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43450" y="206216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953000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41621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改法一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43753" y="2149316"/>
              <a:ext cx="3060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`&lt;` 改成 `&gt;`，每轮选 D 最大的顶点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46523" y="2465546"/>
              <a:ext cx="6141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第一轮从 v₁ 出发得到 D₂=6、D₃=5、D₄=1。第二轮选 D 最大的 v₂（6）并定稿，而此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时经 v₃、v₄ 绕过来的 10 还没算出来。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962525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17973" y="2994184"/>
              <a:ext cx="21380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算法输出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，正确答案是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47666" y="3274695"/>
              <a:ext cx="625144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根子上的原因：权为正时最长路没有“越走越大就不用回头”的单调性，一般图上的最长简单路径是 NP 难问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4733925" y="3978592"/>
            <a:ext cx="6924675" cy="1691640"/>
            <a:chOff x="4733925" y="3978592"/>
            <a:chExt cx="6924675" cy="1691640"/>
          </a:xfrm>
        </p:grpSpPr>
        <p:sp>
          <p:nvSpPr>
            <p:cNvPr id="54" name="Rectangle 54"/>
            <p:cNvSpPr/>
            <p:nvPr/>
          </p:nvSpPr>
          <p:spPr>
            <a:xfrm>
              <a:off x="4733925" y="3978592"/>
              <a:ext cx="6924675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743450" y="4111942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953000" y="415956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041621" y="41924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改法二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43753" y="419909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权值取倒数后求最短路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6523" y="4515326"/>
              <a:ext cx="5848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三条路的倒数和：v₁→v₂ 是 1/6 ≈ 0.167，v₁→v₄→v₂ 是 1 + 1/3 ≈ 1.333，v₁→v₃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→v₄→v₂ 是 1/5 + 1/2 + 1/3 ≈ 1.033。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46523" y="5043011"/>
              <a:ext cx="4851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最小的是直达边，算法输出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v₁→v₂（长 6）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，仍然不是最长路。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47666" y="5324475"/>
              <a:ext cx="6117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倒数把“和最大”换成了“倒数和最小”，但求和与取倒数不能交换，边数多的路径倒数和天然偏大。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7362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两种改法错在同一处：最短路算法的正确性依赖 min 的单调性，换成 max 之后这个前提就没了。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35588" cy="3351847"/>
            <a:chOff x="667512" y="1835468"/>
            <a:chExt cx="493558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72783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 算法初探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25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只问一个目标点时，把“离终点还有多远”也算进来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77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的盲目性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81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估价函数 f = g + h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可采纳条件 h ≤ h*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地图搜索的工程做法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9704" cy="909257"/>
            <a:chOff x="520446" y="342900"/>
            <a:chExt cx="66997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909" y="407194"/>
              <a:ext cx="216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A* 算法初探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97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只要一个终点时，Dijkstra 会往反方向白跑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52115" cy="264033"/>
            <a:chOff x="526542" y="1545907"/>
            <a:chExt cx="75521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521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70 页的例子：求顶点 1 到顶点 6 的最短路，Dijkstra 却先把 2、3、4 全走了一遍。</a:t>
              </a:r>
            </a:p>
          </p:txBody>
        </p:sp>
      </p:grpSp>
      <p:grpSp>
        <p:nvGrpSpPr>
          <p:cNvPr id="38" name="c1-graph-1"/>
          <p:cNvGrpSpPr/>
          <p:nvPr/>
        </p:nvGrpSpPr>
        <p:grpSpPr>
          <a:xfrm>
            <a:off x="1122045" y="2406968"/>
            <a:ext cx="10170795" cy="577691"/>
            <a:chOff x="1122045" y="2406968"/>
            <a:chExt cx="10170795" cy="577691"/>
          </a:xfrm>
        </p:grpSpPr>
        <p:sp>
          <p:nvSpPr>
            <p:cNvPr id="9" name="Freeform 9"/>
            <p:cNvSpPr/>
            <p:nvPr/>
          </p:nvSpPr>
          <p:spPr>
            <a:xfrm>
              <a:off x="1512570" y="2597468"/>
              <a:ext cx="1602105" cy="9525"/>
            </a:xfrm>
            <a:custGeom>
              <a:avLst/>
              <a:gdLst/>
              <a:ahLst/>
              <a:cxnLst/>
              <a:rect l="l" t="t" r="r" b="b"/>
              <a:pathLst>
                <a:path w="1602105" h="9525">
                  <a:moveTo>
                    <a:pt x="0" y="0"/>
                  </a:moveTo>
                  <a:lnTo>
                    <a:pt x="16021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14725" y="2597468"/>
              <a:ext cx="1602105" cy="9525"/>
            </a:xfrm>
            <a:custGeom>
              <a:avLst/>
              <a:gdLst/>
              <a:ahLst/>
              <a:cxnLst/>
              <a:rect l="l" t="t" r="r" b="b"/>
              <a:pathLst>
                <a:path w="1602105" h="9525">
                  <a:moveTo>
                    <a:pt x="0" y="0"/>
                  </a:moveTo>
                  <a:lnTo>
                    <a:pt x="16021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516880" y="2597468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631430" y="2597468"/>
              <a:ext cx="1824990" cy="9525"/>
            </a:xfrm>
            <a:custGeom>
              <a:avLst/>
              <a:gdLst/>
              <a:ahLst/>
              <a:cxnLst/>
              <a:rect l="l" t="t" r="r" b="b"/>
              <a:pathLst>
                <a:path w="1824990" h="9525">
                  <a:moveTo>
                    <a:pt x="0" y="0"/>
                  </a:moveTo>
                  <a:lnTo>
                    <a:pt x="1824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856470" y="2597468"/>
              <a:ext cx="1045845" cy="9525"/>
            </a:xfrm>
            <a:custGeom>
              <a:avLst/>
              <a:gdLst/>
              <a:ahLst/>
              <a:cxnLst/>
              <a:rect l="l" t="t" r="r" b="b"/>
              <a:pathLst>
                <a:path w="1045845" h="9525">
                  <a:moveTo>
                    <a:pt x="0" y="0"/>
                  </a:moveTo>
                  <a:lnTo>
                    <a:pt x="10458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22045" y="24069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124200" y="24069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126355" y="24069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240905" y="2406968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465945" y="24069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911840" y="2406968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69498" y="25369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1653" y="25369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808" y="25369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88358" y="25369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9339" y="282273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 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3398" y="25369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59293" y="25369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40274" y="282273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 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218372" y="251936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48146" y="25484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20528" y="251936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50301" y="25484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78880" y="251936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8654" y="25484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47722" y="251936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8449" y="25484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312718" y="25193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44273" y="2548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77" name="c1-table-2"/>
          <p:cNvGrpSpPr/>
          <p:nvPr/>
        </p:nvGrpSpPr>
        <p:grpSpPr>
          <a:xfrm>
            <a:off x="533400" y="3690938"/>
            <a:ext cx="11125200" cy="2000250"/>
            <a:chOff x="533400" y="3690938"/>
            <a:chExt cx="11125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533400" y="3690938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3171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63864" y="3812381"/>
              <a:ext cx="1434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Dijkstra 选中的顶点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5095" y="3812381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61180" y="3812381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离目标 6 还有多远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31782" y="3812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这一步有用吗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0555" y="42124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43075" y="4212431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1（起点）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12932" y="4212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48338" y="42124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8195" y="42124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必须的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486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49103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461248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–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43075" y="461248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2、3、4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412932" y="4612481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10、20、30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48338" y="4612481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42、52、62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30565" y="4500562"/>
              <a:ext cx="331851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18195" y="46124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一路背离目标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8863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0555" y="5012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43075" y="501253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12932" y="50125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48338" y="50125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18195" y="50125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终于转回来了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286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529113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0555" y="5412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43075" y="5412581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6（目标）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412932" y="54125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48338" y="5412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330565" y="5300662"/>
              <a:ext cx="331851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18195" y="5412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算法结束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3690938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641158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311015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646420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316278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8" name="Rectangle 7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8373"/>
              <a:ext cx="7006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Dijkstra 只看“离起点多近”，左边三个点的 g 值确实小，可它们通往目标的希望为零。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06950" cy="909257"/>
            <a:chOff x="520446" y="342900"/>
            <a:chExt cx="77069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909" y="407194"/>
              <a:ext cx="216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A* 算法初探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069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A*：给每个顶点再加一个“离目标还有多远”的估计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977765" cy="2621852"/>
            <a:chOff x="533400" y="1524000"/>
            <a:chExt cx="4977765" cy="262185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8886" r="0" b="18887"/>
            <a:stretch>
              <a:fillRect/>
            </a:stretch>
          </p:blipFill>
          <p:spPr>
            <a:xfrm>
              <a:off x="533400" y="1524000"/>
              <a:ext cx="4977765" cy="2323148"/>
            </a:xfrm>
            <a:prstGeom prst="roundRect">
              <a:avLst>
                <a:gd name="adj" fmla="val 5740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14848" y="3940493"/>
              <a:ext cx="4014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左半边是 Dijkstra 的均匀扩散，右半边是 A* 朝目标的定向搜索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0"/>
              <p:cNvSpPr txBox="1">
                <a:spLocks noGrp="1"/>
              </p:cNvSpPr>
              <p:nvPr/>
            </p:nvSpPr>
            <p:spPr>
              <a:xfrm>
                <a:off x="533400" y="4298632"/>
                <a:ext cx="497776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9" name="c2-kv-1"/>
          <p:cNvGrpSpPr/>
          <p:nvPr/>
        </p:nvGrpSpPr>
        <p:grpSpPr>
          <a:xfrm>
            <a:off x="5809107" y="1545907"/>
            <a:ext cx="5868176" cy="1060324"/>
            <a:chOff x="5809107" y="1545907"/>
            <a:chExt cx="5868176" cy="1060324"/>
          </a:xfrm>
        </p:grpSpPr>
        <p:sp>
          <p:nvSpPr>
            <p:cNvPr id="11" name="TextBox 11"/>
            <p:cNvSpPr txBox="1"/>
            <p:nvPr/>
          </p:nvSpPr>
          <p:spPr>
            <a:xfrm>
              <a:off x="5809107" y="1545907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g(v)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189" y="1545907"/>
              <a:ext cx="520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起点到 v 的最短距离，就是 Dijkstra 里的 dist[v]，是算出来的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815965" y="18354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09107" y="1944052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h(v)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9189" y="1944052"/>
              <a:ext cx="3984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启发函数，v 到目标点距离的估计值，是猜出来的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15965" y="22326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09107" y="234219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f(v)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9189" y="2342198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估价函数，经过 v 到达目标的总代价估计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5815965" y="2727960"/>
            <a:ext cx="5842635" cy="1272540"/>
            <a:chOff x="5815965" y="2727960"/>
            <a:chExt cx="5842635" cy="1272540"/>
          </a:xfrm>
        </p:grpSpPr>
        <p:sp>
          <p:nvSpPr>
            <p:cNvPr id="20" name="Rectangle 20"/>
            <p:cNvSpPr/>
            <p:nvPr/>
          </p:nvSpPr>
          <p:spPr>
            <a:xfrm>
              <a:off x="5815965" y="2727960"/>
              <a:ext cx="584263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25490" y="286131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6470" y="29203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37910" y="29546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30162" y="2960370"/>
              <a:ext cx="3824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每轮选 f 值最小的顶点，其余与 Dijkstra 相同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55042" y="33508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11062" y="3294698"/>
              <a:ext cx="3250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≡ 0 时 f = g，A* 原样退化成 Dijkstra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55042" y="3652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11062" y="3596640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越贴近真实距离，被展开的顶点越少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5815965" y="4174808"/>
            <a:ext cx="5842635" cy="1483995"/>
            <a:chOff x="5815965" y="4174808"/>
            <a:chExt cx="5842635" cy="1483995"/>
          </a:xfrm>
        </p:grpSpPr>
        <p:sp>
          <p:nvSpPr>
            <p:cNvPr id="30" name="Rectangle 30"/>
            <p:cNvSpPr/>
            <p:nvPr/>
          </p:nvSpPr>
          <p:spPr>
            <a:xfrm>
              <a:off x="5815965" y="4174808"/>
              <a:ext cx="584263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430815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46470" y="436721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9909" y="4401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可采纳性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6862" y="4407218"/>
              <a:ext cx="2143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h(v) ≤ h*(v) 才保证最优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39612" y="4741545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h*(v) 是 v 到目标点的实际最短距离。只要估计值不超过真值，A*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求出的一定是最短路；一旦高估，可能在更短的路被发现之前就把目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标点选出来，只能得到近似解。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7128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工程上常故意让 h 略微高估，用一点最优性换搜索速度，地图导航和游戏寻路都这么干。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21748" cy="909257"/>
            <a:chOff x="520446" y="342900"/>
            <a:chExt cx="50217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909" y="407194"/>
              <a:ext cx="216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A* 算法初探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217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同一个例子，A* 只展开三个顶点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82973" cy="264033"/>
            <a:chOff x="526542" y="1545907"/>
            <a:chExt cx="778297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82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h(v) 为 v 到顶点 6 的直线距离，六个顶点在一条直线上，h 依次是 62、52、42、32、1、0。</a:t>
              </a:r>
            </a:p>
          </p:txBody>
        </p:sp>
      </p:grpSp>
      <p:grpSp>
        <p:nvGrpSpPr>
          <p:cNvPr id="72" name="c1-table-1"/>
          <p:cNvGrpSpPr/>
          <p:nvPr/>
        </p:nvGrpSpPr>
        <p:grpSpPr>
          <a:xfrm>
            <a:off x="533400" y="1928812"/>
            <a:ext cx="6276022" cy="2856548"/>
            <a:chOff x="533400" y="1928812"/>
            <a:chExt cx="6276022" cy="28565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5676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0088" y="2139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6403" y="2139315"/>
              <a:ext cx="799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g（离起点）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6068" y="2139315"/>
              <a:ext cx="799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h（离目标）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6799" y="2139315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= g + 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2204" y="2045970"/>
              <a:ext cx="865442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Dijkstra 会展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46780" y="2139315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A* 会展开吗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26136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55776" y="26136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85441" y="261366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5106" y="261366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4771" y="2613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89282" y="2506028"/>
              <a:ext cx="111061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74436" y="2613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736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87845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29956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55776" y="29956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85441" y="29956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5106" y="29956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4771" y="29956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689282" y="2887980"/>
              <a:ext cx="111061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74436" y="29956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2546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3766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55776" y="33766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5441" y="33766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5106" y="33766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44771" y="33766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689282" y="3268980"/>
              <a:ext cx="111061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74436" y="33766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6356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64045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3758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55776" y="3758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85441" y="3758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15106" y="3758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44771" y="3758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689282" y="3649980"/>
              <a:ext cx="111061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74436" y="3758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0176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4139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55776" y="4139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85441" y="41395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15106" y="4139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44771" y="4139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689282" y="4031932"/>
              <a:ext cx="111061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74436" y="4139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3986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403408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8078" y="4520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55776" y="4520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85441" y="45205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515106" y="45205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644771" y="4520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689282" y="4412932"/>
              <a:ext cx="111061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774436" y="4520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928812"/>
              <a:ext cx="6276022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56335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286000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415665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545330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674995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1-callout-2"/>
          <p:cNvGrpSpPr/>
          <p:nvPr/>
        </p:nvGrpSpPr>
        <p:grpSpPr>
          <a:xfrm>
            <a:off x="533400" y="4950142"/>
            <a:ext cx="6276022" cy="702945"/>
            <a:chOff x="533400" y="4950142"/>
            <a:chExt cx="6276022" cy="702945"/>
          </a:xfrm>
        </p:grpSpPr>
        <p:sp>
          <p:nvSpPr>
            <p:cNvPr id="73" name="Rectangle 73"/>
            <p:cNvSpPr/>
            <p:nvPr/>
          </p:nvSpPr>
          <p:spPr>
            <a:xfrm>
              <a:off x="533400" y="4950142"/>
              <a:ext cx="6276022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200650"/>
              <a:ext cx="200026" cy="200026"/>
              <a:chOff x="738188" y="5200650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2006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04863" y="52784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5094446"/>
              <a:ext cx="52311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展开次数从 6 次降到 3 次，且答案一样是 1 → 5 → 6，长度 32。这里 h 恰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好等于 h*，可采纳条件满足。</a:t>
              </a:r>
            </a:p>
          </p:txBody>
        </p:sp>
      </p:grpSp>
      <p:grpSp>
        <p:nvGrpSpPr>
          <p:cNvPr id="90" name="c2-card-1"/>
          <p:cNvGrpSpPr/>
          <p:nvPr/>
        </p:nvGrpSpPr>
        <p:grpSpPr>
          <a:xfrm>
            <a:off x="7114222" y="1928812"/>
            <a:ext cx="4544378" cy="1973580"/>
            <a:chOff x="7114222" y="1928812"/>
            <a:chExt cx="4544378" cy="1973580"/>
          </a:xfrm>
        </p:grpSpPr>
        <p:sp>
          <p:nvSpPr>
            <p:cNvPr id="79" name="Rectangle 79"/>
            <p:cNvSpPr/>
            <p:nvPr/>
          </p:nvSpPr>
          <p:spPr>
            <a:xfrm>
              <a:off x="7114222" y="1928812"/>
              <a:ext cx="4544378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123748" y="2062162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33298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17867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工程做法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147876" y="21493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地图导航是怎么用的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342822" y="25184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498270" y="2465546"/>
              <a:ext cx="3768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岔路口是顶点，路段是边，边权取路程；要算“最快”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就把边权换成通行时间，算法一个字都不用改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342822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498270" y="299418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单行道画一条有向边，双行道画两条方向相反的边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342822" y="333089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498270" y="3278981"/>
              <a:ext cx="3727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取两点间的直线距离，它永远不超过实际路程，天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然满足可采纳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7114222" y="4066222"/>
            <a:ext cx="4544378" cy="1585912"/>
            <a:chOff x="7114222" y="4066222"/>
            <a:chExt cx="4544378" cy="1585912"/>
          </a:xfrm>
        </p:grpSpPr>
        <p:sp>
          <p:nvSpPr>
            <p:cNvPr id="91" name="Rectangle 91"/>
            <p:cNvSpPr/>
            <p:nvPr/>
          </p:nvSpPr>
          <p:spPr>
            <a:xfrm>
              <a:off x="7114222" y="4066222"/>
              <a:ext cx="4544378" cy="1585912"/>
            </a:xfrm>
            <a:prstGeom prst="roundRect">
              <a:avLst>
                <a:gd name="adj" fmla="val 84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123748" y="4199572"/>
              <a:ext cx="47625" cy="13192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333298" y="424719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417867" y="42800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再快一点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147876" y="42876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先圈出一个小区域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326820" y="4603909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大地图的顶点和边都极多，而两点间的合理路线一般只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出现在两点之间及附近。先划一个刚好覆盖两点的矩形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区域，只在区域内跑算法，可以避免遍历整张图。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8" name="Rectangle 9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1273" y="6039326"/>
              <a:ext cx="7344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实际系统还会预处理出层次化的路网（先上高速再下匝道），本讲只要求理解 f = g + h 这一层。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68326" cy="3351847"/>
            <a:chOff x="667512" y="1835468"/>
            <a:chExt cx="626832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6994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算法与传递闭包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5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按“允许经过哪些中间顶点”递推，一次算出所有点对的最短距离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72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中间顶点集合 Iₖ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两种情况取 min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97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三重循环 O(n³)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19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Warshall 与可及矩阵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每对顶点间的最短路径：两个方案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30174" cy="278702"/>
            <a:chOff x="526161" y="1547336"/>
            <a:chExt cx="573017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30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问题变成：对每一对顶点 vᵢ、vⱼ，都要求出 vᵢ 到 vⱼ 的最短路径。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41195"/>
            <a:ext cx="5627370" cy="2359342"/>
            <a:chOff x="533400" y="1941195"/>
            <a:chExt cx="5627370" cy="235934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2604135" cy="2359342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20926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047" y="2156460"/>
              <a:ext cx="2006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 跑 n 次 Dijkstra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476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依次把每个顶点当源点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8346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778442"/>
              <a:ext cx="17196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邻接矩阵版 n × O(n²)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O(n³)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3947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333851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要求权值非负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6966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3640455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代码就是前面那段，不用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新写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56635" y="1941195"/>
              <a:ext cx="2604135" cy="2359342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66160" y="2074545"/>
              <a:ext cx="47625" cy="20926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80282" y="2156460"/>
              <a:ext cx="1520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 Floyd 算法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795712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51732" y="2476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直接对着邻接矩阵递推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795712" y="28346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51732" y="2778442"/>
              <a:ext cx="2018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O(n³)，与方案一同量级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795712" y="31375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51732" y="3081338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允许负权边（但不许有负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795712" y="36966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51732" y="36404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三重循环，十行代码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185160" y="295941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1631" y="306085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476750"/>
            <a:ext cx="5626418" cy="729615"/>
            <a:chOff x="533400" y="4476750"/>
            <a:chExt cx="5626418" cy="729615"/>
          </a:xfrm>
        </p:grpSpPr>
        <p:sp>
          <p:nvSpPr>
            <p:cNvPr id="34" name="Rectangle 34"/>
            <p:cNvSpPr/>
            <p:nvPr/>
          </p:nvSpPr>
          <p:spPr>
            <a:xfrm>
              <a:off x="533400" y="447675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741545"/>
              <a:ext cx="200026" cy="200025"/>
              <a:chOff x="738188" y="4741545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741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4785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4897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4622482"/>
              <a:ext cx="46085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两者复杂度相当，Floyd 胜在形式简单、便于实现，而且能处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理负权。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941195"/>
            <a:ext cx="5193982" cy="1743075"/>
            <a:chOff x="6464618" y="1941195"/>
            <a:chExt cx="5193982" cy="1743075"/>
          </a:xfrm>
        </p:grpSpPr>
        <p:sp>
          <p:nvSpPr>
            <p:cNvPr id="41" name="Rectangle 41"/>
            <p:cNvSpPr/>
            <p:nvPr/>
          </p:nvSpPr>
          <p:spPr>
            <a:xfrm>
              <a:off x="6464618" y="1941195"/>
              <a:ext cx="5193982" cy="1743075"/>
            </a:xfrm>
            <a:prstGeom prst="roundRect">
              <a:avLst>
                <a:gd name="adj" fmla="val 765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57022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8462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40714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结果放在二维数组里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65595" y="25641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21614" y="2507932"/>
              <a:ext cx="4254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`D[i][j]`：从 i 到 j 的最短距离，初值等于邻接矩阵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65595" y="28670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21614" y="2810827"/>
              <a:ext cx="4526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`path[i][j]`：i 到 j 最短路径上 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的下一个顶点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的编号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1308" y="3109436"/>
              <a:ext cx="4591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注意和 Dijkstra 的 pre 相反：pre 存前驱，往回走；path 存后继，往前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3859530"/>
            <a:ext cx="5193982" cy="1345882"/>
            <a:chOff x="6464618" y="3859530"/>
            <a:chExt cx="5193982" cy="1345882"/>
          </a:xfrm>
        </p:grpSpPr>
        <p:sp>
          <p:nvSpPr>
            <p:cNvPr id="51" name="Rectangle 51"/>
            <p:cNvSpPr/>
            <p:nvPr/>
          </p:nvSpPr>
          <p:spPr>
            <a:xfrm>
              <a:off x="6464618" y="3859530"/>
              <a:ext cx="5193982" cy="1345882"/>
            </a:xfrm>
            <a:prstGeom prst="roundRect">
              <a:avLst>
                <a:gd name="adj" fmla="val 99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3992880"/>
              <a:ext cx="47625" cy="10791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5122" y="40519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6562" y="40862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78814" y="4091940"/>
              <a:ext cx="2553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用邻接矩阵，不用邻接表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8264" y="4426268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递推式要反复读 `D[i][k]` 和 `D[k][j]` 这两个任意位置的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值，只有矩阵能 O(1) 取到。图再稀疏也要开 n² 的空间。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7315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稀疏图上要算全部点对时，跑 n 次堆优化 Dijkstra 是 O(ne log n)，可能比 O(n³) 更快。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5795" cy="909257"/>
            <a:chOff x="520446" y="342900"/>
            <a:chExt cx="61957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57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的思路：一次只放开一个中间顶点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28586" cy="264033"/>
            <a:chOff x="526542" y="1545907"/>
            <a:chExt cx="74285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285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vᵢ 到 vⱼ 的路径看成“起点 + 中间顶点 + 终点”，然后限制中间顶点只能从某个集合里挑。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28812"/>
            <a:ext cx="5410200" cy="2800350"/>
            <a:chOff x="533400" y="1928812"/>
            <a:chExt cx="5410200" cy="28003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600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6553" y="2050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允许经过的中间顶点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8026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4503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7793" y="2450306"/>
              <a:ext cx="417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I₀ = 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39440" y="2338388"/>
              <a:ext cx="2794635" cy="38100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27070" y="2450306"/>
              <a:ext cx="180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不许中转，就是邻接矩阵 G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0555" y="28503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7793" y="2850356"/>
              <a:ext cx="662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 = {v₁}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7070" y="285035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最多中转 v₁ 一个点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32504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7793" y="3250406"/>
              <a:ext cx="956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I₂ = {v₁, v₂}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7070" y="32504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中间顶点从这两个里挑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87793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707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050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87793" y="4050506"/>
              <a:ext cx="1002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Iₖ = {v₁ … vₖ}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7070" y="40505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中间顶点编号都 ≤ k 时的最短距离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243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3291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44505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87793" y="4450556"/>
              <a:ext cx="933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Iₙ = 全部顶点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139440" y="4338638"/>
              <a:ext cx="279463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27070" y="4450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没有限制，就是真正的最短距离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28812"/>
              <a:ext cx="5410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28587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12515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llout-2"/>
          <p:cNvGrpSpPr/>
          <p:nvPr/>
        </p:nvGrpSpPr>
        <p:grpSpPr>
          <a:xfrm>
            <a:off x="533400" y="4898708"/>
            <a:ext cx="5410200" cy="762000"/>
            <a:chOff x="533400" y="4898708"/>
            <a:chExt cx="5410200" cy="762000"/>
          </a:xfrm>
        </p:grpSpPr>
        <p:sp>
          <p:nvSpPr>
            <p:cNvPr id="45" name="Rectangle 45"/>
            <p:cNvSpPr/>
            <p:nvPr/>
          </p:nvSpPr>
          <p:spPr>
            <a:xfrm>
              <a:off x="533400" y="4898708"/>
              <a:ext cx="5410200" cy="762000"/>
            </a:xfrm>
            <a:prstGeom prst="roundRect">
              <a:avLst>
                <a:gd name="adj" fmla="val 1500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179695"/>
              <a:ext cx="200026" cy="200026"/>
              <a:chOff x="738188" y="517969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1796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2463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2797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5061585"/>
              <a:ext cx="43856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中间顶点指路径上除起点和终点以外的顶点。i 和 j 本身不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受这个集合约束。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928812"/>
            <a:ext cx="5410200" cy="2103120"/>
            <a:chOff x="6248400" y="1928812"/>
            <a:chExt cx="5410200" cy="2103120"/>
          </a:xfrm>
        </p:grpSpPr>
        <p:sp>
          <p:nvSpPr>
            <p:cNvPr id="52" name="Rectangle 52"/>
            <p:cNvSpPr/>
            <p:nvPr/>
          </p:nvSpPr>
          <p:spPr>
            <a:xfrm>
              <a:off x="6248400" y="1928812"/>
              <a:ext cx="5410200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2062162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3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8784" y="2150745"/>
              <a:ext cx="17389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Dᵏ[i][j] 的准确说法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6332" y="2476500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vᵢ 到 vⱼ、且中间顶点的编号都不超过 k 的所有路径中，最短的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那条的长度。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1762" y="30899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37782" y="3033712"/>
              <a:ext cx="3953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vᵢ 和 vⱼ 之间有边，D⁰[i][j] 就是该边的权值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1762" y="3389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37782" y="3333750"/>
              <a:ext cx="1959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若没有边，D⁰[i][j] = ∞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81762" y="36899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37782" y="3633788"/>
              <a:ext cx="1651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对角线 D⁰[i][i] = 0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4201478"/>
            <a:ext cx="5410200" cy="1459230"/>
            <a:chOff x="6248400" y="4201478"/>
            <a:chExt cx="5410200" cy="1459230"/>
          </a:xfrm>
        </p:grpSpPr>
        <p:sp>
          <p:nvSpPr>
            <p:cNvPr id="65" name="Rectangle 65"/>
            <p:cNvSpPr/>
            <p:nvPr/>
          </p:nvSpPr>
          <p:spPr>
            <a:xfrm>
              <a:off x="6248400" y="4201478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4334828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3190" y="438816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50609" y="442102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为什么能递推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6942" y="4423410"/>
              <a:ext cx="233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放开 vₖ 之后只多出一种可能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6332" y="4749165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允许经过 vₖ 之后，i 到 j 的最短路要么根本没用上 vₖ（结果与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上一轮相同），要么恰好经过 vₖ 一次（可以从中间切成两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段）。只有这两种，所以取 min 就够。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2" name="Rectangle 7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7137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递推的对象不是“路径长度”，而是“允许使用的中间顶点集合”，集合从空一路长到全集。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4840" cy="909257"/>
            <a:chOff x="520446" y="342900"/>
            <a:chExt cx="57448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Dᵏ⁻¹ 推出 Dᵏ：两种情况取较小者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graph-1"/>
          <p:cNvGrpSpPr/>
          <p:nvPr/>
        </p:nvGrpSpPr>
        <p:grpSpPr>
          <a:xfrm>
            <a:off x="902970" y="1554480"/>
            <a:ext cx="4671060" cy="1081088"/>
            <a:chOff x="902970" y="1554480"/>
            <a:chExt cx="4671060" cy="1081088"/>
          </a:xfrm>
        </p:grpSpPr>
        <p:sp>
          <p:nvSpPr>
            <p:cNvPr id="7" name="Freeform 7"/>
            <p:cNvSpPr/>
            <p:nvPr/>
          </p:nvSpPr>
          <p:spPr>
            <a:xfrm>
              <a:off x="1255395" y="2464118"/>
              <a:ext cx="1401127" cy="9525"/>
            </a:xfrm>
            <a:custGeom>
              <a:avLst/>
              <a:gdLst/>
              <a:ahLst/>
              <a:cxnLst/>
              <a:rect l="l" t="t" r="r" b="b"/>
              <a:pathLst>
                <a:path w="1401127" h="9525">
                  <a:moveTo>
                    <a:pt x="0" y="0"/>
                  </a:moveTo>
                  <a:lnTo>
                    <a:pt x="14011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20478" y="2464118"/>
              <a:ext cx="1401128" cy="9525"/>
            </a:xfrm>
            <a:custGeom>
              <a:avLst/>
              <a:gdLst/>
              <a:ahLst/>
              <a:cxnLst/>
              <a:rect l="l" t="t" r="r" b="b"/>
              <a:pathLst>
                <a:path w="1401128" h="9525">
                  <a:moveTo>
                    <a:pt x="0" y="0"/>
                  </a:moveTo>
                  <a:lnTo>
                    <a:pt x="14011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02970" y="229266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56522" y="2293620"/>
              <a:ext cx="116395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231130" y="229266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067050" y="1554480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8688" y="2403634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8813" y="2403634"/>
              <a:ext cx="7793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 1 … k−1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76848" y="2403634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95453" y="166449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62338" y="1674019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没用上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047048"/>
            <a:ext cx="5410200" cy="756285"/>
            <a:chOff x="533400" y="3047048"/>
            <a:chExt cx="5410200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304704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325178"/>
              <a:ext cx="200026" cy="200026"/>
              <a:chOff x="738188" y="332517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33251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3391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34251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3194209"/>
              <a:ext cx="387375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情况一：最短路不经过 vₖ，结果与上一轮相同，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Dᵏ[i][j] = Dᵏ⁻¹[i][j]。</a:t>
              </a:r>
            </a:p>
          </p:txBody>
        </p:sp>
      </p:grpSp>
      <p:grpSp>
        <p:nvGrpSpPr>
          <p:cNvPr id="38" name="c1-graph-3"/>
          <p:cNvGrpSpPr/>
          <p:nvPr/>
        </p:nvGrpSpPr>
        <p:grpSpPr>
          <a:xfrm>
            <a:off x="902970" y="4053840"/>
            <a:ext cx="4671060" cy="1148715"/>
            <a:chOff x="902970" y="4053840"/>
            <a:chExt cx="4671060" cy="1148715"/>
          </a:xfrm>
        </p:grpSpPr>
        <p:sp>
          <p:nvSpPr>
            <p:cNvPr id="26" name="Freeform 26"/>
            <p:cNvSpPr/>
            <p:nvPr/>
          </p:nvSpPr>
          <p:spPr>
            <a:xfrm>
              <a:off x="1243965" y="4288155"/>
              <a:ext cx="1824990" cy="680085"/>
            </a:xfrm>
            <a:custGeom>
              <a:avLst/>
              <a:gdLst/>
              <a:ahLst/>
              <a:cxnLst/>
              <a:rect l="l" t="t" r="r" b="b"/>
              <a:pathLst>
                <a:path w="1824990" h="680085">
                  <a:moveTo>
                    <a:pt x="0" y="680085"/>
                  </a:moveTo>
                  <a:lnTo>
                    <a:pt x="1824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408045" y="4288155"/>
              <a:ext cx="1824990" cy="680085"/>
            </a:xfrm>
            <a:custGeom>
              <a:avLst/>
              <a:gdLst/>
              <a:ahLst/>
              <a:cxnLst/>
              <a:rect l="l" t="t" r="r" b="b"/>
              <a:pathLst>
                <a:path w="1824990" h="680085">
                  <a:moveTo>
                    <a:pt x="0" y="0"/>
                  </a:moveTo>
                  <a:lnTo>
                    <a:pt x="1824990" y="6800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02970" y="4859655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067050" y="405384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5231130" y="485965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8688" y="4970621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5453" y="416480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76848" y="4970621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759268" y="4550092"/>
              <a:ext cx="79438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65468" y="4579144"/>
              <a:ext cx="7819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D^{k-1}[i][k]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923348" y="4550092"/>
              <a:ext cx="79438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29548" y="4579144"/>
              <a:ext cx="7819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D^{k-1}[k][j]</a:t>
              </a:r>
            </a:p>
          </p:txBody>
        </p:sp>
      </p:grpSp>
      <p:grpSp>
        <p:nvGrpSpPr>
          <p:cNvPr id="45" name="c1-callout-4"/>
          <p:cNvGrpSpPr/>
          <p:nvPr/>
        </p:nvGrpSpPr>
        <p:grpSpPr>
          <a:xfrm>
            <a:off x="533400" y="5506402"/>
            <a:ext cx="5410200" cy="775335"/>
            <a:chOff x="533400" y="5506402"/>
            <a:chExt cx="5410200" cy="775335"/>
          </a:xfrm>
        </p:grpSpPr>
        <p:sp>
          <p:nvSpPr>
            <p:cNvPr id="39" name="Rectangle 39"/>
            <p:cNvSpPr/>
            <p:nvPr/>
          </p:nvSpPr>
          <p:spPr>
            <a:xfrm>
              <a:off x="533400" y="5506402"/>
              <a:ext cx="5410200" cy="775335"/>
            </a:xfrm>
            <a:prstGeom prst="roundRect">
              <a:avLst>
                <a:gd name="adj" fmla="val 1474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795010"/>
              <a:ext cx="200026" cy="200026"/>
              <a:chOff x="738188" y="5795010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7950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8616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8950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664041"/>
              <a:ext cx="43426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情况二：最短路经过 vₖ，在 vₖ 处切成两段，Dᵏ[i][j]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Dᵏ⁻¹[i][k] + Dᵏ⁻¹[k][j]。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24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53" name="c2-card-2"/>
          <p:cNvGrpSpPr/>
          <p:nvPr/>
        </p:nvGrpSpPr>
        <p:grpSpPr>
          <a:xfrm>
            <a:off x="6248400" y="2085022"/>
            <a:ext cx="5410200" cy="1540192"/>
            <a:chOff x="6248400" y="2085022"/>
            <a:chExt cx="5410200" cy="1540192"/>
          </a:xfrm>
        </p:grpSpPr>
        <p:sp>
          <p:nvSpPr>
            <p:cNvPr id="47" name="Rectangle 47"/>
            <p:cNvSpPr/>
            <p:nvPr/>
          </p:nvSpPr>
          <p:spPr>
            <a:xfrm>
              <a:off x="6248400" y="2085022"/>
              <a:ext cx="5410200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2218372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228314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6058" y="231743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为什么可以切开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34681" y="2318861"/>
              <a:ext cx="26496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 vₖ 的最短路只经过它一次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7381" y="2661761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若某条最短路两次经过 vₖ，中间那段就是一个环；没有负环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时去掉它路径不会变长。切开后两段的中间顶点编号都小于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k，正好是上一轮算过的量。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248400" y="3806190"/>
            <a:ext cx="5410200" cy="1540192"/>
            <a:chOff x="6248400" y="3806190"/>
            <a:chExt cx="5410200" cy="1540192"/>
          </a:xfrm>
        </p:grpSpPr>
        <p:sp>
          <p:nvSpPr>
            <p:cNvPr id="54" name="Rectangle 54"/>
            <p:cNvSpPr/>
            <p:nvPr/>
          </p:nvSpPr>
          <p:spPr>
            <a:xfrm>
              <a:off x="6248400" y="3806190"/>
              <a:ext cx="5410200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393954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84620" y="40043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6060" y="40386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67931" y="4039076"/>
              <a:ext cx="2348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三重循环里 k 必须在最外层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7381" y="4382929"/>
              <a:ext cx="47393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在外层时整个 Dᵏ⁻¹ 先算完，再整体推出 Dᵏ。把 k 放到内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层，同一轮会混用不同 k 的中间结果，某些格子还没轮到就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被当成 Dᵏ⁻¹ 用。</a:t>
              </a:r>
            </a:p>
          </p:txBody>
        </p:sp>
      </p:grpSp>
      <p:grpSp>
        <p:nvGrpSpPr>
          <p:cNvPr id="67" name="c2-callout-4"/>
          <p:cNvGrpSpPr/>
          <p:nvPr/>
        </p:nvGrpSpPr>
        <p:grpSpPr>
          <a:xfrm>
            <a:off x="6248400" y="5526405"/>
            <a:ext cx="5410200" cy="756285"/>
            <a:chOff x="6248400" y="5526405"/>
            <a:chExt cx="5410200" cy="756285"/>
          </a:xfrm>
        </p:grpSpPr>
        <p:sp>
          <p:nvSpPr>
            <p:cNvPr id="61" name="Rectangle 61"/>
            <p:cNvSpPr/>
            <p:nvPr/>
          </p:nvSpPr>
          <p:spPr>
            <a:xfrm>
              <a:off x="6248400" y="552640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53188" y="5804535"/>
              <a:ext cx="200026" cy="200025"/>
              <a:chOff x="6453188" y="580453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453188" y="58045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492926" y="58489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27642" y="59601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5511" y="5673566"/>
              <a:ext cx="43787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在最外层时原地改写是安全的：第 k 轮里 D[i][k] 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D[k][j] 不会被改动，因为 D[k][k] = 0。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36109" cy="909257"/>
            <a:chOff x="520446" y="342900"/>
            <a:chExt cx="41361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361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的实现只有三重循环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276022" cy="3495675"/>
            <a:chOff x="533400" y="1524000"/>
            <a:chExt cx="6276022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84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同时维护 D 与 path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00907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18528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36054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1935956"/>
              <a:ext cx="4366006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Floyd(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G[N][N],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D[N][N],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path[N][N])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初始化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D[i][j] = G[i][j];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!= j &amp;&amp; G[i][j] &lt; INF)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path[i][j] = j;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i、j 间有边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path[i][j] = -1;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1; k &lt;= n; k++)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递推 D1 … Dn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(D[i][k] + D[k][j] &lt; D[i][j])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D[i][j] = D[i][k] + D[k][j];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path[i][j] = path[i][k];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7114222" y="1524000"/>
            <a:ext cx="4544378" cy="1202055"/>
            <a:chOff x="7114222" y="1524000"/>
            <a:chExt cx="4544378" cy="1202055"/>
          </a:xfrm>
        </p:grpSpPr>
        <p:sp>
          <p:nvSpPr>
            <p:cNvPr id="14" name="Rectangle 14"/>
            <p:cNvSpPr/>
            <p:nvPr/>
          </p:nvSpPr>
          <p:spPr>
            <a:xfrm>
              <a:off x="7114222" y="1524000"/>
              <a:ext cx="454437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23748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39012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7633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9384" y="1745932"/>
              <a:ext cx="2197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O(n³)，空间 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32154" y="2071688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三重循环各跑 n 次，循环体常数时间。前提是邻接矩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阵存图；与稀疏稠密无关，e 再少也要跑满 n³ 次。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7114222" y="2896552"/>
            <a:ext cx="4544378" cy="1716405"/>
            <a:chOff x="7114222" y="2896552"/>
            <a:chExt cx="4544378" cy="1716405"/>
          </a:xfrm>
        </p:grpSpPr>
        <p:sp>
          <p:nvSpPr>
            <p:cNvPr id="21" name="Rectangle 21"/>
            <p:cNvSpPr/>
            <p:nvPr/>
          </p:nvSpPr>
          <p:spPr>
            <a:xfrm>
              <a:off x="7114222" y="2896552"/>
              <a:ext cx="4544378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23748" y="3029902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39012" y="30832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30732" y="31161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04607" y="3118485"/>
              <a:ext cx="2953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path[i][j] = path[i][k] 而不是 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32154" y="3444240"/>
              <a:ext cx="39227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path 存的是“从 i 出发的下一个顶点”。新路径 i → 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k → … → j 的第一步，和 i 到 k 的第一步是同一个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顶点，所以抄 `path[i][k]`。写成 `= k` 只在 i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相邻时才碰巧正确。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7114222" y="4783455"/>
            <a:ext cx="4544378" cy="729615"/>
            <a:chOff x="7114222" y="4783455"/>
            <a:chExt cx="4544378" cy="729615"/>
          </a:xfrm>
        </p:grpSpPr>
        <p:sp>
          <p:nvSpPr>
            <p:cNvPr id="28" name="Rectangle 28"/>
            <p:cNvSpPr/>
            <p:nvPr/>
          </p:nvSpPr>
          <p:spPr>
            <a:xfrm>
              <a:off x="7114222" y="4783455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19010" y="5048250"/>
              <a:ext cx="200026" cy="200025"/>
              <a:chOff x="7319010" y="504825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19010" y="50482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58749" y="50927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393464" y="52038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621714" y="4929188"/>
              <a:ext cx="36827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`D[i][k] + D[k][j]` 可能是 INF+INF，这正是不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INT_MAX 的理由。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5" name="Rectangle 3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8373"/>
              <a:ext cx="7274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初始化里 `i != j` 的判断不能少，否则自环会把 path[i][i] 写成 i，路径还原时原地打转。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53807" cy="909257"/>
            <a:chOff x="520446" y="342900"/>
            <a:chExt cx="53538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538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例4｜四个顶点，D 矩阵一轮轮收紧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1034415" y="1628775"/>
            <a:ext cx="3543300" cy="1536383"/>
            <a:chOff x="1034415" y="1628775"/>
            <a:chExt cx="3543300" cy="1536383"/>
          </a:xfrm>
        </p:grpSpPr>
        <p:sp>
          <p:nvSpPr>
            <p:cNvPr id="7" name="Freeform 7"/>
            <p:cNvSpPr/>
            <p:nvPr/>
          </p:nvSpPr>
          <p:spPr>
            <a:xfrm>
              <a:off x="1405890" y="2984182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10990" y="29365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39215" y="1663065"/>
              <a:ext cx="2774632" cy="1177290"/>
            </a:xfrm>
            <a:custGeom>
              <a:avLst/>
              <a:gdLst/>
              <a:ahLst/>
              <a:cxnLst/>
              <a:rect l="l" t="t" r="r" b="b"/>
              <a:pathLst>
                <a:path w="2774632" h="1177290">
                  <a:moveTo>
                    <a:pt x="0" y="1177290"/>
                  </a:moveTo>
                  <a:cubicBezTo>
                    <a:pt x="724535" y="337820"/>
                    <a:pt x="1649412" y="0"/>
                    <a:pt x="2774632" y="1638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06228" y="1779270"/>
              <a:ext cx="101917" cy="94297"/>
            </a:xfrm>
            <a:custGeom>
              <a:avLst/>
              <a:gdLst/>
              <a:ahLst/>
              <a:cxnLst/>
              <a:rect l="l" t="t" r="r" b="b"/>
              <a:pathLst>
                <a:path w="101917" h="94297">
                  <a:moveTo>
                    <a:pt x="101917" y="60960"/>
                  </a:moveTo>
                  <a:lnTo>
                    <a:pt x="0" y="94297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97330" y="1662748"/>
              <a:ext cx="2771775" cy="1179512"/>
            </a:xfrm>
            <a:custGeom>
              <a:avLst/>
              <a:gdLst/>
              <a:ahLst/>
              <a:cxnLst/>
              <a:rect l="l" t="t" r="r" b="b"/>
              <a:pathLst>
                <a:path w="2771775" h="1179512">
                  <a:moveTo>
                    <a:pt x="2771775" y="1179512"/>
                  </a:moveTo>
                  <a:cubicBezTo>
                    <a:pt x="2019300" y="338772"/>
                    <a:pt x="1095375" y="0"/>
                    <a:pt x="0" y="16319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03985" y="1778318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0" y="60960"/>
                  </a:moveTo>
                  <a:lnTo>
                    <a:pt x="86677" y="0"/>
                  </a:lnTo>
                  <a:lnTo>
                    <a:pt x="100965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96740" y="2153602"/>
              <a:ext cx="9525" cy="640080"/>
            </a:xfrm>
            <a:custGeom>
              <a:avLst/>
              <a:gdLst/>
              <a:ahLst/>
              <a:cxnLst/>
              <a:rect l="l" t="t" r="r" b="b"/>
              <a:pathLst>
                <a:path w="9525" h="640080">
                  <a:moveTo>
                    <a:pt x="0" y="6400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49115" y="20583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15390" y="2058352"/>
              <a:ext cx="9525" cy="640080"/>
            </a:xfrm>
            <a:custGeom>
              <a:avLst/>
              <a:gdLst/>
              <a:ahLst/>
              <a:cxnLst/>
              <a:rect l="l" t="t" r="r" b="b"/>
              <a:pathLst>
                <a:path w="9525" h="640080">
                  <a:moveTo>
                    <a:pt x="0" y="0"/>
                  </a:moveTo>
                  <a:lnTo>
                    <a:pt x="0" y="6400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167765" y="26984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46835" y="2005965"/>
              <a:ext cx="2765107" cy="1122045"/>
            </a:xfrm>
            <a:custGeom>
              <a:avLst/>
              <a:gdLst/>
              <a:ahLst/>
              <a:cxnLst/>
              <a:rect l="l" t="t" r="r" b="b"/>
              <a:pathLst>
                <a:path w="2765107" h="1122045">
                  <a:moveTo>
                    <a:pt x="0" y="0"/>
                  </a:moveTo>
                  <a:cubicBezTo>
                    <a:pt x="749300" y="786130"/>
                    <a:pt x="1671002" y="1122045"/>
                    <a:pt x="2765107" y="10077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07180" y="2967038"/>
              <a:ext cx="100012" cy="94297"/>
            </a:xfrm>
            <a:custGeom>
              <a:avLst/>
              <a:gdLst/>
              <a:ahLst/>
              <a:cxnLst/>
              <a:rect l="l" t="t" r="r" b="b"/>
              <a:pathLst>
                <a:path w="100012" h="94297">
                  <a:moveTo>
                    <a:pt x="100012" y="37147"/>
                  </a:moveTo>
                  <a:lnTo>
                    <a:pt x="9525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96365" y="1925955"/>
              <a:ext cx="2727960" cy="309880"/>
            </a:xfrm>
            <a:custGeom>
              <a:avLst/>
              <a:gdLst/>
              <a:ahLst/>
              <a:cxnLst/>
              <a:rect l="l" t="t" r="r" b="b"/>
              <a:pathLst>
                <a:path w="2727960" h="309880">
                  <a:moveTo>
                    <a:pt x="0" y="0"/>
                  </a:moveTo>
                  <a:cubicBezTo>
                    <a:pt x="939800" y="300355"/>
                    <a:pt x="1849120" y="309880"/>
                    <a:pt x="2727960" y="285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10038" y="190976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6192"/>
                  </a:moveTo>
                  <a:lnTo>
                    <a:pt x="28575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496378" y="1659890"/>
              <a:ext cx="2712720" cy="173672"/>
            </a:xfrm>
            <a:custGeom>
              <a:avLst/>
              <a:gdLst/>
              <a:ahLst/>
              <a:cxnLst/>
              <a:rect l="l" t="t" r="r" b="b"/>
              <a:pathLst>
                <a:path w="2712720" h="173672">
                  <a:moveTo>
                    <a:pt x="2712720" y="173672"/>
                  </a:moveTo>
                  <a:cubicBezTo>
                    <a:pt x="1777365" y="5397"/>
                    <a:pt x="873125" y="0"/>
                    <a:pt x="0" y="15748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403032" y="1769745"/>
              <a:ext cx="101917" cy="94297"/>
            </a:xfrm>
            <a:custGeom>
              <a:avLst/>
              <a:gdLst/>
              <a:ahLst/>
              <a:cxnLst/>
              <a:rect l="l" t="t" r="r" b="b"/>
              <a:pathLst>
                <a:path w="101917" h="94297">
                  <a:moveTo>
                    <a:pt x="0" y="63817"/>
                  </a:moveTo>
                  <a:lnTo>
                    <a:pt x="84772" y="0"/>
                  </a:lnTo>
                  <a:lnTo>
                    <a:pt x="101917" y="9429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34415" y="168687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215765" y="168687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34415" y="2803208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215765" y="280320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75643" y="18116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56993" y="18116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5643" y="29289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56993" y="29289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739390" y="29060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70946" y="2935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32698" y="18821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564253" y="1911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922270" y="18821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53826" y="19121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29112" y="23479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6162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48715" y="23479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8027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56510" y="27660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88066" y="2796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739390" y="20726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70946" y="2101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39390" y="16287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70946" y="16578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84" name="c1-table-2"/>
          <p:cNvGrpSpPr/>
          <p:nvPr/>
        </p:nvGrpSpPr>
        <p:grpSpPr>
          <a:xfrm>
            <a:off x="533400" y="3411855"/>
            <a:ext cx="4544378" cy="2000250"/>
            <a:chOff x="533400" y="3411855"/>
            <a:chExt cx="4544378" cy="2000250"/>
          </a:xfrm>
        </p:grpSpPr>
        <p:sp>
          <p:nvSpPr>
            <p:cNvPr id="48" name="Rectangle 48"/>
            <p:cNvSpPr/>
            <p:nvPr/>
          </p:nvSpPr>
          <p:spPr>
            <a:xfrm>
              <a:off x="533400" y="3411855"/>
              <a:ext cx="454437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7844" y="3533299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D⁰ = 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47176" y="3533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56814" y="3533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65499" y="3533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74184" y="3533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0555" y="39333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539240" y="39333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47925" y="39333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57562" y="39333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66248" y="39333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2071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4211955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0555" y="43333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539240" y="43333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447925" y="43333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57562" y="43333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266248" y="43333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46072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0555" y="4733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539240" y="47334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447925" y="47334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357562" y="47334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266248" y="47334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50072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33400" y="5012055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0555" y="51334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539240" y="51334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447925" y="51334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357562" y="51334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266248" y="513349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3411855"/>
              <a:ext cx="454437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437322" y="341185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2346008" y="341185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3255645" y="341185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164330" y="341185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0" name="c2-table-1"/>
          <p:cNvGrpSpPr/>
          <p:nvPr/>
        </p:nvGrpSpPr>
        <p:grpSpPr>
          <a:xfrm>
            <a:off x="5382578" y="1524000"/>
            <a:ext cx="6276022" cy="2000250"/>
            <a:chOff x="5382578" y="1524000"/>
            <a:chExt cx="6276022" cy="2000250"/>
          </a:xfrm>
        </p:grpSpPr>
        <p:sp>
          <p:nvSpPr>
            <p:cNvPr id="85" name="Rectangle 85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548517" y="164544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 k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681203" y="16454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本轮被改写的格子与新值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1838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479732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107430" y="2045494"/>
              <a:ext cx="1739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D[3][2]=4　D[3][4]=7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120188" y="20454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3→1→2 = 3+1　3→1→4 = 3+4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382578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382578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479732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107430" y="2445544"/>
              <a:ext cx="2766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D[1][3]=10　D[1][4]=3　D[3][4]=6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20188" y="2445544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1→2→3　1→2→4　3→2→4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82578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479732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107430" y="2845594"/>
              <a:ext cx="2853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D[2][1]=12　D[4][1]=9　D[4][2]=10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120188" y="2845594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都经过 v₃，如 4→3→1 = 6+3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382578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382578" y="31242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479732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019800" y="3133725"/>
              <a:ext cx="299370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107430" y="3245644"/>
              <a:ext cx="2766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D[1][3]=9　D[2][1]=11　D[2][3]=8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120188" y="3245644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都经过 v₄，如 2→4→1 = 2+9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382578" y="1524000"/>
              <a:ext cx="627602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00551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901827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8" name="c2-table-2"/>
          <p:cNvGrpSpPr/>
          <p:nvPr/>
        </p:nvGrpSpPr>
        <p:grpSpPr>
          <a:xfrm>
            <a:off x="5382578" y="3693795"/>
            <a:ext cx="6276022" cy="2000250"/>
            <a:chOff x="5382578" y="3693795"/>
            <a:chExt cx="6276022" cy="2000250"/>
          </a:xfrm>
        </p:grpSpPr>
        <p:sp>
          <p:nvSpPr>
            <p:cNvPr id="111" name="Rectangle 111"/>
            <p:cNvSpPr/>
            <p:nvPr/>
          </p:nvSpPr>
          <p:spPr>
            <a:xfrm>
              <a:off x="5382578" y="3693795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736694" y="3815239"/>
              <a:ext cx="547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D⁴ 最终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216419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471814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726256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981651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5479732" y="4215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735128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990522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244965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500360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5382578" y="44891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5382578" y="449389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5479732" y="46153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6647498" y="4503420"/>
              <a:ext cx="123634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735128" y="46153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7990522" y="46153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244965" y="46153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500360" y="46153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5382578" y="48891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5479732" y="50153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735128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990522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244965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500360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5382578" y="52892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5382578" y="529399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5479732" y="5415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735128" y="5415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990522" y="54154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244965" y="5415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500360" y="5415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5382578" y="3693795"/>
              <a:ext cx="627602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6633210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7888605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9143048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10398442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49" name="Rectangle 14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3" name="Group 153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1" name="Freeform 151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2" name="Freeform 152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54" name="TextBox 154"/>
            <p:cNvSpPr txBox="1"/>
            <p:nvPr/>
          </p:nvSpPr>
          <p:spPr>
            <a:xfrm>
              <a:off x="1040892" y="6028373"/>
              <a:ext cx="8052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D[3][4] 在 k=1、k=2 两轮里被连改两次（8 → 7 → 6），同一个格子可以反复收紧，不是只改一次。</a:t>
              </a:r>
            </a:p>
          </p:txBody>
        </p:sp>
      </p:grpSp>
      <p:grpSp>
        <p:nvGrpSpPr>
          <p:cNvPr id="1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6" name="TextBox 15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0747" cy="909257"/>
            <a:chOff x="520446" y="342900"/>
            <a:chExt cx="64907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07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 续｜用 path 矩阵把路径一步步走出来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5626418" cy="2000250"/>
            <a:chOff x="533400" y="1524000"/>
            <a:chExt cx="5626418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2932" y="16454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path⁰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7197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9783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2273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4763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5458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8131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06215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207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5458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8131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0621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207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5545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8131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06215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3207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1242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55458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81312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0621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32070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5354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7939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90429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03015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1-table-2"/>
          <p:cNvGrpSpPr/>
          <p:nvPr/>
        </p:nvGrpSpPr>
        <p:grpSpPr>
          <a:xfrm>
            <a:off x="533400" y="3693795"/>
            <a:ext cx="5626418" cy="2000250"/>
            <a:chOff x="533400" y="3693795"/>
            <a:chExt cx="5626418" cy="2000250"/>
          </a:xfrm>
        </p:grpSpPr>
        <p:sp>
          <p:nvSpPr>
            <p:cNvPr id="44" name="Rectangle 44"/>
            <p:cNvSpPr/>
            <p:nvPr/>
          </p:nvSpPr>
          <p:spPr>
            <a:xfrm>
              <a:off x="533400" y="3693795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2932" y="381523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path⁴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71979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97834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22736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47639" y="3815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555" y="4215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55458" y="42152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81312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06215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32070" y="42152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4891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449389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0555" y="46153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667828" y="4503420"/>
              <a:ext cx="110585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755458" y="46153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881312" y="46153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06215" y="46153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132070" y="46153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48891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555" y="50153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55458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881312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06215" y="50153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132070" y="50153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52892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3400" y="529399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0555" y="5415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55458" y="5415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881312" y="5415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006215" y="54154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132070" y="54154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" y="3693795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653540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2779395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904298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030152" y="369379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card-1"/>
          <p:cNvGrpSpPr/>
          <p:nvPr/>
        </p:nvGrpSpPr>
        <p:grpSpPr>
          <a:xfrm>
            <a:off x="6464618" y="1524000"/>
            <a:ext cx="5193982" cy="1545908"/>
            <a:chOff x="6464618" y="1524000"/>
            <a:chExt cx="5193982" cy="1545908"/>
          </a:xfrm>
        </p:grpSpPr>
        <p:sp>
          <p:nvSpPr>
            <p:cNvPr id="82" name="Rectangle 82"/>
            <p:cNvSpPr/>
            <p:nvPr/>
          </p:nvSpPr>
          <p:spPr>
            <a:xfrm>
              <a:off x="6464618" y="152400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74142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89408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8613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31177" y="1745932"/>
              <a:ext cx="2269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求顶点 2 到顶点 1 的最短路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689408" y="205930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45086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970204" y="2071688"/>
              <a:ext cx="2275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D[2][1] = 11，先知道长度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689408" y="23593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745086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970204" y="2371725"/>
              <a:ext cx="4357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path[2][1] = 4 → path[4][1] = 3 → path[3][1] = 1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689408" y="26603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745086" y="26987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70204" y="2671762"/>
              <a:ext cx="2836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路径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→ 4 → 3 →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，长 2+6+3 = 11</a:t>
              </a:r>
            </a:p>
          </p:txBody>
        </p:sp>
      </p:grpSp>
      <p:grpSp>
        <p:nvGrpSpPr>
          <p:cNvPr id="100" name="c2-code-2"/>
          <p:cNvGrpSpPr/>
          <p:nvPr/>
        </p:nvGrpSpPr>
        <p:grpSpPr>
          <a:xfrm>
            <a:off x="6464618" y="3239452"/>
            <a:ext cx="5193982" cy="1384935"/>
            <a:chOff x="6464618" y="3239452"/>
            <a:chExt cx="5193982" cy="1384935"/>
          </a:xfrm>
        </p:grpSpPr>
        <p:sp>
          <p:nvSpPr>
            <p:cNvPr id="97" name="Rectangle 97"/>
            <p:cNvSpPr/>
            <p:nvPr/>
          </p:nvSpPr>
          <p:spPr>
            <a:xfrm>
              <a:off x="6464618" y="3239452"/>
              <a:ext cx="519398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593015" y="3391376"/>
              <a:ext cx="13212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顺着 path 往前走即可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593015" y="3652361"/>
              <a:ext cx="2953385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PrintPath(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s; k != t; k = path[k][t])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path[k][t]);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07" name="c2-callout-3"/>
          <p:cNvGrpSpPr/>
          <p:nvPr/>
        </p:nvGrpSpPr>
        <p:grpSpPr>
          <a:xfrm>
            <a:off x="6464618" y="4794885"/>
            <a:ext cx="5193982" cy="899160"/>
            <a:chOff x="6464618" y="4794885"/>
            <a:chExt cx="5193982" cy="899160"/>
          </a:xfrm>
        </p:grpSpPr>
        <p:sp>
          <p:nvSpPr>
            <p:cNvPr id="101" name="Rectangle 101"/>
            <p:cNvSpPr/>
            <p:nvPr/>
          </p:nvSpPr>
          <p:spPr>
            <a:xfrm>
              <a:off x="6464618" y="4794885"/>
              <a:ext cx="5193982" cy="899160"/>
            </a:xfrm>
            <a:prstGeom prst="roundRect">
              <a:avLst>
                <a:gd name="adj" fmla="val 127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6669405" y="5144453"/>
              <a:ext cx="200026" cy="200025"/>
              <a:chOff x="6669405" y="5144453"/>
              <a:chExt cx="200026" cy="200025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6669405" y="51444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709144" y="51889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743859" y="53000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6972110" y="5026342"/>
              <a:ext cx="42828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path[i][j] 读作“从 i 走向 j，下一步该去哪”。因为存的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是后继，输出天然正序，不必像 pre 那样递归倒腾。</a:t>
              </a:r>
            </a:p>
          </p:txBody>
        </p:sp>
      </p:grpSp>
      <p:grpSp>
        <p:nvGrpSpPr>
          <p:cNvPr id="11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8" name="Rectangle 10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040892" y="6028373"/>
              <a:ext cx="10585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path 初值：i、j 间有边填 j，否则填 −1。调用 PrintPath 前先确认 D[s][t] &lt; INF，否则 path[s][t] = −1，循环会取到下标 −1。</a:t>
              </a:r>
            </a:p>
          </p:txBody>
        </p:sp>
      </p:grpSp>
      <p:grpSp>
        <p:nvGrpSpPr>
          <p:cNvPr id="11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4" name="TextBox 11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65952" cy="909257"/>
            <a:chOff x="520446" y="342900"/>
            <a:chExt cx="51659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65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允许负权边，但不允许负环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3400" y="1545431"/>
            <a:ext cx="4727908" cy="835152"/>
            <a:chOff x="533400" y="1545431"/>
            <a:chExt cx="4727908" cy="835152"/>
          </a:xfrm>
        </p:grpSpPr>
        <p:sp>
          <p:nvSpPr>
            <p:cNvPr id="7" name="Freeform 7"/>
            <p:cNvSpPr/>
            <p:nvPr/>
          </p:nvSpPr>
          <p:spPr>
            <a:xfrm>
              <a:off x="533400" y="157162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096" y="1545431"/>
              <a:ext cx="4497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O(n³)，与跑 n 次 Dijkstra 同量级，但代码紧凑得多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186499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4096" y="183784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有向图、无向图都适用，无向图把矩阵填成对称的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15836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4096" y="2131219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允许负权边，因为它不做“选最小值就定稿”的贪心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1011555" y="2748915"/>
            <a:ext cx="4724400" cy="1051560"/>
            <a:chOff x="1011555" y="2748915"/>
            <a:chExt cx="4724400" cy="1051560"/>
          </a:xfrm>
        </p:grpSpPr>
        <p:sp>
          <p:nvSpPr>
            <p:cNvPr id="14" name="Freeform 14"/>
            <p:cNvSpPr/>
            <p:nvPr/>
          </p:nvSpPr>
          <p:spPr>
            <a:xfrm>
              <a:off x="1350645" y="2986088"/>
              <a:ext cx="1198245" cy="470535"/>
            </a:xfrm>
            <a:custGeom>
              <a:avLst/>
              <a:gdLst/>
              <a:ahLst/>
              <a:cxnLst/>
              <a:rect l="l" t="t" r="r" b="b"/>
              <a:pathLst>
                <a:path w="1198245" h="470535">
                  <a:moveTo>
                    <a:pt x="0" y="0"/>
                  </a:moveTo>
                  <a:lnTo>
                    <a:pt x="1198245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30792" y="341280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79058"/>
                  </a:moveTo>
                  <a:lnTo>
                    <a:pt x="0" y="88583"/>
                  </a:lnTo>
                  <a:lnTo>
                    <a:pt x="3524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973705" y="3021330"/>
              <a:ext cx="1198245" cy="470535"/>
            </a:xfrm>
            <a:custGeom>
              <a:avLst/>
              <a:gdLst/>
              <a:ahLst/>
              <a:cxnLst/>
              <a:rect l="l" t="t" r="r" b="b"/>
              <a:pathLst>
                <a:path w="1198245" h="470535">
                  <a:moveTo>
                    <a:pt x="0" y="470535"/>
                  </a:moveTo>
                  <a:lnTo>
                    <a:pt x="119824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53852" y="297656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9525"/>
                  </a:moveTo>
                  <a:lnTo>
                    <a:pt x="35242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459230" y="2920365"/>
              <a:ext cx="2788920" cy="9525"/>
            </a:xfrm>
            <a:custGeom>
              <a:avLst/>
              <a:gdLst/>
              <a:ahLst/>
              <a:cxnLst/>
              <a:rect l="l" t="t" r="r" b="b"/>
              <a:pathLst>
                <a:path w="2788920" h="9525">
                  <a:moveTo>
                    <a:pt x="278892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363980" y="28727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582478" y="3015615"/>
              <a:ext cx="747712" cy="466725"/>
            </a:xfrm>
            <a:custGeom>
              <a:avLst/>
              <a:gdLst/>
              <a:ahLst/>
              <a:cxnLst/>
              <a:rect l="l" t="t" r="r" b="b"/>
              <a:pathLst>
                <a:path w="747712" h="466725">
                  <a:moveTo>
                    <a:pt x="0" y="0"/>
                  </a:moveTo>
                  <a:lnTo>
                    <a:pt x="747712" y="466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305425" y="344233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11555" y="274891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634615" y="338613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257675" y="274891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393055" y="345757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8274" y="286416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31334" y="35013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54394" y="286416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89774" y="35728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27860" y="3160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59416" y="3189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521392" y="316039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52119" y="31894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709862" y="284130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40589" y="287131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−9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30140" y="31956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61696" y="32256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4076700"/>
            <a:ext cx="5410200" cy="1388745"/>
            <a:chOff x="533400" y="4076700"/>
            <a:chExt cx="5410200" cy="1388745"/>
          </a:xfrm>
        </p:grpSpPr>
        <p:sp>
          <p:nvSpPr>
            <p:cNvPr id="39" name="Rectangle 39"/>
            <p:cNvSpPr/>
            <p:nvPr/>
          </p:nvSpPr>
          <p:spPr>
            <a:xfrm>
              <a:off x="533400" y="4076700"/>
              <a:ext cx="5410200" cy="1388745"/>
            </a:xfrm>
            <a:prstGeom prst="roundRect">
              <a:avLst>
                <a:gd name="adj" fmla="val 823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4667368"/>
              <a:ext cx="224134" cy="192560"/>
              <a:chOff x="726129" y="4667368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47377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46673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48155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4564856"/>
              <a:ext cx="4223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环 v₀→v₁→v₂→v₀ 的权和是 1−9−9 = −17，绕一圈就短 17，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绕无数圈就没有下界。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248400" y="1524000"/>
            <a:ext cx="5410200" cy="1406842"/>
            <a:chOff x="6248400" y="1524000"/>
            <a:chExt cx="5410200" cy="1406842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293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179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判负环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20128" y="1744504"/>
              <a:ext cx="3239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算完之后看对角线：D[i][i] &lt; 0 就有负环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2898" y="2061686"/>
              <a:ext cx="4832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i 到自己的最短距离本该是 0。算出负数，说明存在一条从 i 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发又回到 i、权和为负的回路，i 就落在某个负环上。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4041" y="2585085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负环存在时最短路径本身没有定义，算法输出的数没有意义。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3095625"/>
            <a:ext cx="5410200" cy="2370772"/>
            <a:chOff x="6248400" y="3095625"/>
            <a:chExt cx="5410200" cy="2370772"/>
          </a:xfrm>
        </p:grpSpPr>
        <p:sp>
          <p:nvSpPr>
            <p:cNvPr id="53" name="Rectangle 53"/>
            <p:cNvSpPr/>
            <p:nvPr/>
          </p:nvSpPr>
          <p:spPr>
            <a:xfrm>
              <a:off x="6248400" y="3095625"/>
              <a:ext cx="5410200" cy="2370772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3228975"/>
              <a:ext cx="47625" cy="21040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7475" y="32766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0147" y="33094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33451" y="3316129"/>
              <a:ext cx="2143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104 页那道思考题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0998" y="3632359"/>
              <a:ext cx="45808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题目问：不存在正环时，把所有边权取相反数再跑 Floyd 求最短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路，得到的是不是原图最长路。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0998" y="4160044"/>
              <a:ext cx="47190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答案是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。取反后原来的正环变成负环，Floyd 在负环上失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效；就算图无环，最长路问题本身也是 NP 难的，O(n³) 的算法解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不了。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2141" y="4927283"/>
              <a:ext cx="48246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只有一种例外：有向无环图上求最长路可以按拓扑序 DP，那是第 14 讲关键路径的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做法。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2" name="Rectangle 6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5805011"/>
              <a:ext cx="992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任意两点最短路的理论上界仍在被改进：1962 年 Floyd 给出 O(n³) 之后，Fredman、Han、Takaoka、Chan、Williams 等人一路把它降到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略低于 n³ 的量级。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34410" cy="909257"/>
            <a:chOff x="520446" y="342900"/>
            <a:chExt cx="69344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14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949" y="407194"/>
              <a:ext cx="2825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Floyd 算法与传递闭包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344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只问“能不能到”：可及矩阵与 Warshall 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99063" cy="264033"/>
            <a:chOff x="526542" y="1545907"/>
            <a:chExt cx="63990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99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Floyd 的加法换成与、取最小换成或，同一套三重循环就变成了判断可达性。</a:t>
              </a:r>
            </a:p>
          </p:txBody>
        </p:sp>
      </p:grpSp>
      <p:grpSp>
        <p:nvGrpSpPr>
          <p:cNvPr id="29" name="c1-graph-1"/>
          <p:cNvGrpSpPr/>
          <p:nvPr/>
        </p:nvGrpSpPr>
        <p:grpSpPr>
          <a:xfrm>
            <a:off x="1049655" y="1914525"/>
            <a:ext cx="3945255" cy="1476375"/>
            <a:chOff x="1049655" y="1914525"/>
            <a:chExt cx="3945255" cy="1476375"/>
          </a:xfrm>
        </p:grpSpPr>
        <p:sp>
          <p:nvSpPr>
            <p:cNvPr id="9" name="Freeform 9"/>
            <p:cNvSpPr/>
            <p:nvPr/>
          </p:nvSpPr>
          <p:spPr>
            <a:xfrm>
              <a:off x="1503045" y="2152650"/>
              <a:ext cx="1337310" cy="415290"/>
            </a:xfrm>
            <a:custGeom>
              <a:avLst/>
              <a:gdLst/>
              <a:ahLst/>
              <a:cxnLst/>
              <a:rect l="l" t="t" r="r" b="b"/>
              <a:pathLst>
                <a:path w="1337310" h="415290">
                  <a:moveTo>
                    <a:pt x="1337310" y="0"/>
                  </a:moveTo>
                  <a:lnTo>
                    <a:pt x="0" y="415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12558" y="252222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4295"/>
                  </a:moveTo>
                  <a:lnTo>
                    <a:pt x="76200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04210" y="2152650"/>
              <a:ext cx="1337310" cy="415290"/>
            </a:xfrm>
            <a:custGeom>
              <a:avLst/>
              <a:gdLst/>
              <a:ahLst/>
              <a:cxnLst/>
              <a:rect l="l" t="t" r="r" b="b"/>
              <a:pathLst>
                <a:path w="1337310" h="415290">
                  <a:moveTo>
                    <a:pt x="0" y="0"/>
                  </a:moveTo>
                  <a:lnTo>
                    <a:pt x="1337310" y="415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27232" y="252222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4295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16380" y="2652712"/>
              <a:ext cx="3107055" cy="9525"/>
            </a:xfrm>
            <a:custGeom>
              <a:avLst/>
              <a:gdLst/>
              <a:ahLst/>
              <a:cxnLst/>
              <a:rect l="l" t="t" r="r" b="b"/>
              <a:pathLst>
                <a:path w="3107055" h="9525">
                  <a:moveTo>
                    <a:pt x="310705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21130" y="26050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12558" y="2708910"/>
              <a:ext cx="1336358" cy="416243"/>
            </a:xfrm>
            <a:custGeom>
              <a:avLst/>
              <a:gdLst/>
              <a:ahLst/>
              <a:cxnLst/>
              <a:rect l="l" t="t" r="r" b="b"/>
              <a:pathLst>
                <a:path w="1336358" h="416243">
                  <a:moveTo>
                    <a:pt x="0" y="0"/>
                  </a:moveTo>
                  <a:lnTo>
                    <a:pt x="1336358" y="4162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34628" y="3079432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73342"/>
                  </a:moveTo>
                  <a:lnTo>
                    <a:pt x="0" y="9144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22282" y="2286000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974658" y="2924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12782" y="2465070"/>
              <a:ext cx="1416368" cy="531495"/>
            </a:xfrm>
            <a:custGeom>
              <a:avLst/>
              <a:gdLst/>
              <a:ahLst/>
              <a:cxnLst/>
              <a:rect l="l" t="t" r="r" b="b"/>
              <a:pathLst>
                <a:path w="1416368" h="531495">
                  <a:moveTo>
                    <a:pt x="1416368" y="142875"/>
                  </a:moveTo>
                  <a:cubicBezTo>
                    <a:pt x="830898" y="0"/>
                    <a:pt x="358775" y="129540"/>
                    <a:pt x="0" y="531495"/>
                  </a:cubicBez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3148965" y="296513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102870"/>
                  </a:moveTo>
                  <a:lnTo>
                    <a:pt x="27622" y="0"/>
                  </a:lnTo>
                  <a:lnTo>
                    <a:pt x="99060" y="6286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841308" y="1914525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49655" y="247173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632960" y="247173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841308" y="302895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82536" y="2039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0883" y="25965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4188" y="25965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82536" y="31537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7" name="c1-table-2"/>
          <p:cNvGrpSpPr/>
          <p:nvPr/>
        </p:nvGrpSpPr>
        <p:grpSpPr>
          <a:xfrm>
            <a:off x="528447" y="3486150"/>
            <a:ext cx="4982718" cy="2170461"/>
            <a:chOff x="528447" y="3486150"/>
            <a:chExt cx="4982718" cy="2170461"/>
          </a:xfrm>
        </p:grpSpPr>
        <p:sp>
          <p:nvSpPr>
            <p:cNvPr id="30" name="Rectangle 30"/>
            <p:cNvSpPr/>
            <p:nvPr/>
          </p:nvSpPr>
          <p:spPr>
            <a:xfrm>
              <a:off x="533400" y="348615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3098" y="36033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80771" y="36033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76133" y="36033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71496" y="36033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66858" y="36033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078" y="39843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23441" y="39843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18804" y="39843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4166" y="39843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9528" y="39843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2443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24910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3662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23441" y="4366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18804" y="4366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14166" y="4366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09528" y="4366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6253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78" y="47472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23441" y="4747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18804" y="4747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14166" y="4747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09528" y="47472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0063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501110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8078" y="5129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23441" y="51292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18804" y="51292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14166" y="51292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09528" y="51292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486150"/>
              <a:ext cx="497776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524000" y="34861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519362" y="34861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514725" y="34861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510088" y="34861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8447" y="5465921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图中虚线是传递闭包新添的虚边</a:t>
              </a:r>
            </a:p>
          </p:txBody>
        </p:sp>
      </p:grpSp>
      <p:grpSp>
        <p:nvGrpSpPr>
          <p:cNvPr id="76" name="c2-kv-1"/>
          <p:cNvGrpSpPr/>
          <p:nvPr/>
        </p:nvGrpSpPr>
        <p:grpSpPr>
          <a:xfrm>
            <a:off x="5809488" y="1949291"/>
            <a:ext cx="5849112" cy="998029"/>
            <a:chOff x="5809488" y="1949291"/>
            <a:chExt cx="5849112" cy="998029"/>
          </a:xfrm>
        </p:grpSpPr>
        <p:sp>
          <p:nvSpPr>
            <p:cNvPr id="68" name="TextBox 68"/>
            <p:cNvSpPr txBox="1"/>
            <p:nvPr/>
          </p:nvSpPr>
          <p:spPr>
            <a:xfrm>
              <a:off x="5809488" y="1949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可及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34366" y="1949291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vᵢ 到 vⱼ 存在一条路径；有传递性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15965" y="22221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09488" y="23236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可及矩阵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34366" y="2323624"/>
              <a:ext cx="2502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阶方阵 R，可及记 1，否则记 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25955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809488" y="26979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传递闭包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734366" y="2697956"/>
              <a:ext cx="2852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V、E 再加上表示可及的虚边构成的图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formula31"/>
              <p:cNvSpPr txBox="1">
                <a:spLocks noGrp="1"/>
              </p:cNvSpPr>
              <p:nvPr/>
            </p:nvSpPr>
            <p:spPr>
              <a:xfrm>
                <a:off x="5815965" y="3061335"/>
                <a:ext cx="584263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∨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81" name="c2-code-3"/>
          <p:cNvGrpSpPr/>
          <p:nvPr/>
        </p:nvGrpSpPr>
        <p:grpSpPr>
          <a:xfrm>
            <a:off x="5815965" y="3645218"/>
            <a:ext cx="5842635" cy="1855470"/>
            <a:chOff x="5815965" y="3645218"/>
            <a:chExt cx="5842635" cy="1855470"/>
          </a:xfrm>
        </p:grpSpPr>
        <p:sp>
          <p:nvSpPr>
            <p:cNvPr id="78" name="Rectangle 78"/>
            <p:cNvSpPr/>
            <p:nvPr/>
          </p:nvSpPr>
          <p:spPr>
            <a:xfrm>
              <a:off x="5815965" y="3645218"/>
              <a:ext cx="5842635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44362" y="3797141"/>
              <a:ext cx="143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Warshall 算法，O(n³)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944552" y="4056221"/>
              <a:ext cx="3331591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Warshall(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G[N][N],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R[N][N])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假定 G 是无权图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R[i][j] = G[i][j];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1; k &lt;= n; k++)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R[i][j] = R[i][j] || (R[i][k] &amp;&amp; R[k][j]);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1273" y="6039326"/>
              <a:ext cx="5474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 是带权图时，初始化改成：i != j 且 G[i][j] &lt; INF 就填 1，否则填 0。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75045" cy="3923347"/>
            <a:chOff x="667512" y="1835468"/>
            <a:chExt cx="6075045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075045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短路径与满足约束的最短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最短的那条不满足要求时，就按长度顺序一条条往下找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628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Yen 算法的偏离点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475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修改版 Dijkstra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短路可能含环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约束靠逐条测试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2254" cy="909257"/>
            <a:chOff x="520446" y="342900"/>
            <a:chExt cx="67022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642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19" y="407194"/>
              <a:ext cx="3612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第 k 短路径与满足约束的最短路径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2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短路径：Yen 算法沿着已求出的路“拆”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65380" cy="264033"/>
            <a:chOff x="526542" y="1545907"/>
            <a:chExt cx="64653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65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给定有向正权图、起点 s、终点 t，要按长度顺序给出第 1、2、…、k 短的路径。</a:t>
              </a:r>
            </a:p>
          </p:txBody>
        </p:sp>
      </p:grpSp>
      <p:grpSp>
        <p:nvGrpSpPr>
          <p:cNvPr id="38" name="c1-graph-1"/>
          <p:cNvGrpSpPr/>
          <p:nvPr/>
        </p:nvGrpSpPr>
        <p:grpSpPr>
          <a:xfrm>
            <a:off x="786765" y="2052002"/>
            <a:ext cx="4842510" cy="784543"/>
            <a:chOff x="786765" y="2052002"/>
            <a:chExt cx="4842510" cy="784543"/>
          </a:xfrm>
        </p:grpSpPr>
        <p:sp>
          <p:nvSpPr>
            <p:cNvPr id="9" name="Freeform 9"/>
            <p:cNvSpPr/>
            <p:nvPr/>
          </p:nvSpPr>
          <p:spPr>
            <a:xfrm>
              <a:off x="1120140" y="2674620"/>
              <a:ext cx="808672" cy="9525"/>
            </a:xfrm>
            <a:custGeom>
              <a:avLst/>
              <a:gdLst/>
              <a:ahLst/>
              <a:cxnLst/>
              <a:rect l="l" t="t" r="r" b="b"/>
              <a:pathLst>
                <a:path w="808672" h="9525">
                  <a:moveTo>
                    <a:pt x="0" y="0"/>
                  </a:moveTo>
                  <a:lnTo>
                    <a:pt x="808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28812" y="2626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66962" y="2674620"/>
              <a:ext cx="808672" cy="9525"/>
            </a:xfrm>
            <a:custGeom>
              <a:avLst/>
              <a:gdLst/>
              <a:ahLst/>
              <a:cxnLst/>
              <a:rect l="l" t="t" r="r" b="b"/>
              <a:pathLst>
                <a:path w="808672" h="9525">
                  <a:moveTo>
                    <a:pt x="0" y="0"/>
                  </a:moveTo>
                  <a:lnTo>
                    <a:pt x="808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75635" y="2626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13785" y="2674620"/>
              <a:ext cx="807720" cy="9525"/>
            </a:xfrm>
            <a:custGeom>
              <a:avLst/>
              <a:gdLst/>
              <a:ahLst/>
              <a:cxnLst/>
              <a:rect l="l" t="t" r="r" b="b"/>
              <a:pathLst>
                <a:path w="807720" h="9525">
                  <a:moveTo>
                    <a:pt x="0" y="0"/>
                  </a:moveTo>
                  <a:lnTo>
                    <a:pt x="80772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21505" y="2626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37748" y="2369820"/>
              <a:ext cx="397193" cy="220980"/>
            </a:xfrm>
            <a:custGeom>
              <a:avLst/>
              <a:gdLst/>
              <a:ahLst/>
              <a:cxnLst/>
              <a:rect l="l" t="t" r="r" b="b"/>
              <a:pathLst>
                <a:path w="397193" h="220980">
                  <a:moveTo>
                    <a:pt x="0" y="220980"/>
                  </a:moveTo>
                  <a:lnTo>
                    <a:pt x="3971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5211128" y="232314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0"/>
                  </a:moveTo>
                  <a:lnTo>
                    <a:pt x="46672" y="87630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574732" y="2052002"/>
              <a:ext cx="1631632" cy="514032"/>
            </a:xfrm>
            <a:custGeom>
              <a:avLst/>
              <a:gdLst/>
              <a:ahLst/>
              <a:cxnLst/>
              <a:rect l="l" t="t" r="r" b="b"/>
              <a:pathLst>
                <a:path w="1631632" h="514032">
                  <a:moveTo>
                    <a:pt x="0" y="514032"/>
                  </a:moveTo>
                  <a:cubicBezTo>
                    <a:pt x="470535" y="127318"/>
                    <a:pt x="1014412" y="0"/>
                    <a:pt x="1631632" y="132080"/>
                  </a:cubicBez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96840" y="213741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6675"/>
                  </a:moveTo>
                  <a:lnTo>
                    <a:pt x="0" y="93345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86765" y="2512695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033588" y="251269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280410" y="2512695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526280" y="251269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305425" y="2077402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943" y="26184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55766" y="26184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02588" y="26184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71990" y="236648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偏离点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8458" y="26184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27603" y="21831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76375" y="259651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07101" y="2625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723198" y="259651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52971" y="2625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50005" y="2596515"/>
              <a:ext cx="43053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72847" y="2625566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e₃ 禁用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263390" y="210693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89727" y="213598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P′</a:t>
              </a:r>
            </a:p>
          </p:txBody>
        </p:sp>
      </p:grpSp>
      <p:grpSp>
        <p:nvGrpSpPr>
          <p:cNvPr id="45" name="c1-callout-2"/>
          <p:cNvGrpSpPr/>
          <p:nvPr/>
        </p:nvGrpSpPr>
        <p:grpSpPr>
          <a:xfrm>
            <a:off x="533400" y="3129915"/>
            <a:ext cx="5193982" cy="702945"/>
            <a:chOff x="533400" y="3129915"/>
            <a:chExt cx="5193982" cy="702945"/>
          </a:xfrm>
        </p:grpSpPr>
        <p:sp>
          <p:nvSpPr>
            <p:cNvPr id="39" name="Rectangle 39"/>
            <p:cNvSpPr/>
            <p:nvPr/>
          </p:nvSpPr>
          <p:spPr>
            <a:xfrm>
              <a:off x="533400" y="312991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3381375"/>
              <a:ext cx="200026" cy="200026"/>
              <a:chOff x="738188" y="338137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33813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344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34813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3274219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固定前缀 s→a→b，禁掉 e₃，从偏离点 b 另找一条到 t 的最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短路 P′。</a:t>
              </a:r>
            </a:p>
          </p:txBody>
        </p:sp>
      </p:grpSp>
      <p:grpSp>
        <p:nvGrpSpPr>
          <p:cNvPr id="55" name="c1-card-3"/>
          <p:cNvGrpSpPr/>
          <p:nvPr/>
        </p:nvGrpSpPr>
        <p:grpSpPr>
          <a:xfrm>
            <a:off x="533400" y="3997642"/>
            <a:ext cx="5193982" cy="1687830"/>
            <a:chOff x="533400" y="3997642"/>
            <a:chExt cx="5193982" cy="1687830"/>
          </a:xfrm>
        </p:grpSpPr>
        <p:sp>
          <p:nvSpPr>
            <p:cNvPr id="46" name="Rectangle 46"/>
            <p:cNvSpPr/>
            <p:nvPr/>
          </p:nvSpPr>
          <p:spPr>
            <a:xfrm>
              <a:off x="533400" y="3997642"/>
              <a:ext cx="5193982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130992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2475" y="41786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7044" y="42114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两条限制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68006" y="42181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防环与防重复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62000" y="45872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7448" y="4534376"/>
              <a:ext cx="43370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防环：从偏离点 v 到 t 的最短路不能再经过 s 到 v 这段上的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62000" y="511492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7448" y="506206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防重复：从偏离点出发的边，不能与已求出路径中从该点出发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的边相同</a:t>
              </a:r>
            </a:p>
          </p:txBody>
        </p:sp>
      </p:grpSp>
      <p:grpSp>
        <p:nvGrpSpPr>
          <p:cNvPr id="73" name="c2-steps-1"/>
          <p:cNvGrpSpPr/>
          <p:nvPr/>
        </p:nvGrpSpPr>
        <p:grpSpPr>
          <a:xfrm>
            <a:off x="6032182" y="1938338"/>
            <a:ext cx="5338382" cy="2342769"/>
            <a:chOff x="6032182" y="1938338"/>
            <a:chExt cx="5338382" cy="2342769"/>
          </a:xfrm>
        </p:grpSpPr>
        <p:sp>
          <p:nvSpPr>
            <p:cNvPr id="56" name="Rectangle 56"/>
            <p:cNvSpPr/>
            <p:nvPr/>
          </p:nvSpPr>
          <p:spPr>
            <a:xfrm>
              <a:off x="6165532" y="2081212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032182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25806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032182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25806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032182" y="32375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5806" y="3311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032182" y="37909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25806" y="3864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44806" y="19683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45948" y="2223135"/>
              <a:ext cx="3378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求出 s 到 t 的最短路 P₁，设它的边依次是 e₁ e₂ … eₘ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4806" y="25217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5948" y="2776538"/>
              <a:ext cx="492461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依次以 P₁ 的每个顶点为偏离点：固定前缀、禁掉原来那条边，重算偏离点到 t 的最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短路，拼成候选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4806" y="32685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45948" y="3522345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候选集合中最短的那条就是第 2 短路径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44806" y="38209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5948" y="4075748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对第 2 短路径重复上述操作，直到求出第 k 短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032182" y="4442460"/>
            <a:ext cx="5626418" cy="1243012"/>
            <a:chOff x="6032182" y="4442460"/>
            <a:chExt cx="5626418" cy="1243012"/>
          </a:xfrm>
        </p:grpSpPr>
        <p:sp>
          <p:nvSpPr>
            <p:cNvPr id="74" name="Rectangle 74"/>
            <p:cNvSpPr/>
            <p:nvPr/>
          </p:nvSpPr>
          <p:spPr>
            <a:xfrm>
              <a:off x="6032182" y="4442460"/>
              <a:ext cx="5626418" cy="1243012"/>
            </a:xfrm>
            <a:prstGeom prst="roundRect">
              <a:avLst>
                <a:gd name="adj" fmla="val 10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41708" y="4575810"/>
              <a:ext cx="47625" cy="9763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1258" y="46234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2977" y="46562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直观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17233" y="4662964"/>
              <a:ext cx="1935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为什么盯着“偏离点”枚举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44780" y="498014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短路径一定与最短路共享一段前缀，然后在某个顶点上偏离出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去。把每个可能的偏离位置都试一遍，候选集合就覆盖了全部可能。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7047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时间复杂度 O(kn³)：求 k 条路径，每条要在最多 n 个偏离点上各跑一次 O(n²) 的最短路。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86530" cy="909257"/>
            <a:chOff x="520446" y="342900"/>
            <a:chExt cx="36865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642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19" y="407194"/>
              <a:ext cx="3612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第 k 短路径与满足约束的最短路径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865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例5｜Yen 算法的第一轮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graph-1"/>
          <p:cNvGrpSpPr/>
          <p:nvPr/>
        </p:nvGrpSpPr>
        <p:grpSpPr>
          <a:xfrm>
            <a:off x="708660" y="1595438"/>
            <a:ext cx="3977640" cy="1881187"/>
            <a:chOff x="708660" y="1595438"/>
            <a:chExt cx="3977640" cy="1881187"/>
          </a:xfrm>
        </p:grpSpPr>
        <p:sp>
          <p:nvSpPr>
            <p:cNvPr id="7" name="Freeform 7"/>
            <p:cNvSpPr/>
            <p:nvPr/>
          </p:nvSpPr>
          <p:spPr>
            <a:xfrm>
              <a:off x="1026795" y="1926908"/>
              <a:ext cx="709613" cy="503872"/>
            </a:xfrm>
            <a:custGeom>
              <a:avLst/>
              <a:gdLst/>
              <a:ahLst/>
              <a:cxnLst/>
              <a:rect l="l" t="t" r="r" b="b"/>
              <a:pathLst>
                <a:path w="709613" h="503872">
                  <a:moveTo>
                    <a:pt x="0" y="503872"/>
                  </a:moveTo>
                  <a:lnTo>
                    <a:pt x="70961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08785" y="1871662"/>
              <a:ext cx="105727" cy="94298"/>
            </a:xfrm>
            <a:custGeom>
              <a:avLst/>
              <a:gdLst/>
              <a:ahLst/>
              <a:cxnLst/>
              <a:rect l="l" t="t" r="r" b="b"/>
              <a:pathLst>
                <a:path w="105727" h="94298">
                  <a:moveTo>
                    <a:pt x="105727" y="0"/>
                  </a:moveTo>
                  <a:lnTo>
                    <a:pt x="55245" y="94298"/>
                  </a:lnTo>
                  <a:lnTo>
                    <a:pt x="0" y="161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26795" y="2641282"/>
              <a:ext cx="709613" cy="503872"/>
            </a:xfrm>
            <a:custGeom>
              <a:avLst/>
              <a:gdLst/>
              <a:ahLst/>
              <a:cxnLst/>
              <a:rect l="l" t="t" r="r" b="b"/>
              <a:pathLst>
                <a:path w="709613" h="503872">
                  <a:moveTo>
                    <a:pt x="0" y="0"/>
                  </a:moveTo>
                  <a:lnTo>
                    <a:pt x="709613" y="5038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08785" y="3106102"/>
              <a:ext cx="105727" cy="94297"/>
            </a:xfrm>
            <a:custGeom>
              <a:avLst/>
              <a:gdLst/>
              <a:ahLst/>
              <a:cxnLst/>
              <a:rect l="l" t="t" r="r" b="b"/>
              <a:pathLst>
                <a:path w="105727" h="94297">
                  <a:moveTo>
                    <a:pt x="105727" y="94297"/>
                  </a:moveTo>
                  <a:lnTo>
                    <a:pt x="0" y="78105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62150" y="1947862"/>
              <a:ext cx="9525" cy="1081088"/>
            </a:xfrm>
            <a:custGeom>
              <a:avLst/>
              <a:gdLst/>
              <a:ahLst/>
              <a:cxnLst/>
              <a:rect l="l" t="t" r="r" b="b"/>
              <a:pathLst>
                <a:path w="9525" h="1081088">
                  <a:moveTo>
                    <a:pt x="0" y="0"/>
                  </a:moveTo>
                  <a:lnTo>
                    <a:pt x="0" y="10810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14525" y="30289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143125" y="1766888"/>
              <a:ext cx="927735" cy="9525"/>
            </a:xfrm>
            <a:custGeom>
              <a:avLst/>
              <a:gdLst/>
              <a:ahLst/>
              <a:cxnLst/>
              <a:rect l="l" t="t" r="r" b="b"/>
              <a:pathLst>
                <a:path w="927735" h="9525">
                  <a:moveTo>
                    <a:pt x="0" y="0"/>
                  </a:moveTo>
                  <a:lnTo>
                    <a:pt x="9277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70860" y="1719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1202" y="1943100"/>
              <a:ext cx="1083945" cy="1273492"/>
            </a:xfrm>
            <a:custGeom>
              <a:avLst/>
              <a:gdLst/>
              <a:ahLst/>
              <a:cxnLst/>
              <a:rect l="l" t="t" r="r" b="b"/>
              <a:pathLst>
                <a:path w="1083945" h="1273492">
                  <a:moveTo>
                    <a:pt x="0" y="0"/>
                  </a:moveTo>
                  <a:cubicBezTo>
                    <a:pt x="147955" y="654050"/>
                    <a:pt x="509270" y="1078548"/>
                    <a:pt x="1083945" y="127349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69908" y="317087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6200"/>
                  </a:moveTo>
                  <a:lnTo>
                    <a:pt x="0" y="9048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83118" y="1972628"/>
              <a:ext cx="1079182" cy="1198245"/>
            </a:xfrm>
            <a:custGeom>
              <a:avLst/>
              <a:gdLst/>
              <a:ahLst/>
              <a:cxnLst/>
              <a:rect l="l" t="t" r="r" b="b"/>
              <a:pathLst>
                <a:path w="1079182" h="1198245">
                  <a:moveTo>
                    <a:pt x="0" y="1198245"/>
                  </a:moveTo>
                  <a:lnTo>
                    <a:pt x="10791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26105" y="190119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71438" y="102870"/>
                  </a:lnTo>
                  <a:lnTo>
                    <a:pt x="0" y="390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143125" y="3305175"/>
              <a:ext cx="927735" cy="9525"/>
            </a:xfrm>
            <a:custGeom>
              <a:avLst/>
              <a:gdLst/>
              <a:ahLst/>
              <a:cxnLst/>
              <a:rect l="l" t="t" r="r" b="b"/>
              <a:pathLst>
                <a:path w="927735" h="9525">
                  <a:moveTo>
                    <a:pt x="0" y="0"/>
                  </a:moveTo>
                  <a:lnTo>
                    <a:pt x="9277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70860" y="3257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347085" y="1947862"/>
              <a:ext cx="9525" cy="1081088"/>
            </a:xfrm>
            <a:custGeom>
              <a:avLst/>
              <a:gdLst/>
              <a:ahLst/>
              <a:cxnLst/>
              <a:rect l="l" t="t" r="r" b="b"/>
              <a:pathLst>
                <a:path w="9525" h="1081088">
                  <a:moveTo>
                    <a:pt x="0" y="0"/>
                  </a:moveTo>
                  <a:lnTo>
                    <a:pt x="0" y="10810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299460" y="30289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497580" y="1865948"/>
              <a:ext cx="786765" cy="518160"/>
            </a:xfrm>
            <a:custGeom>
              <a:avLst/>
              <a:gdLst/>
              <a:ahLst/>
              <a:cxnLst/>
              <a:rect l="l" t="t" r="r" b="b"/>
              <a:pathLst>
                <a:path w="786765" h="518160">
                  <a:moveTo>
                    <a:pt x="0" y="0"/>
                  </a:moveTo>
                  <a:lnTo>
                    <a:pt x="786765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58628" y="2344102"/>
              <a:ext cx="105727" cy="92393"/>
            </a:xfrm>
            <a:custGeom>
              <a:avLst/>
              <a:gdLst/>
              <a:ahLst/>
              <a:cxnLst/>
              <a:rect l="l" t="t" r="r" b="b"/>
              <a:pathLst>
                <a:path w="105727" h="92393">
                  <a:moveTo>
                    <a:pt x="105727" y="92393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497580" y="2687955"/>
              <a:ext cx="786765" cy="518160"/>
            </a:xfrm>
            <a:custGeom>
              <a:avLst/>
              <a:gdLst/>
              <a:ahLst/>
              <a:cxnLst/>
              <a:rect l="l" t="t" r="r" b="b"/>
              <a:pathLst>
                <a:path w="786765" h="518160">
                  <a:moveTo>
                    <a:pt x="0" y="518160"/>
                  </a:moveTo>
                  <a:lnTo>
                    <a:pt x="7867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258628" y="2635568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105727" y="0"/>
                  </a:moveTo>
                  <a:lnTo>
                    <a:pt x="52388" y="92392"/>
                  </a:lnTo>
                  <a:lnTo>
                    <a:pt x="0" y="123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08660" y="2364105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790700" y="159543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790700" y="3133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175635" y="159543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175635" y="3133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343400" y="2364105"/>
              <a:ext cx="342900" cy="3429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5379" y="24803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7419" y="17106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87419" y="32489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72354" y="17106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72354" y="32489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40119" y="24803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53502" y="20726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86011" y="21026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353502" y="28422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86011" y="28713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894522" y="24574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927031" y="24865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586990" y="16878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19498" y="17178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339340" y="268128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370896" y="27103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586990" y="24574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619498" y="24865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586990" y="32270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19498" y="3256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280410" y="24574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311966" y="24865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64292" y="20726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895848" y="21026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864292" y="28422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895848" y="28713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5" name="c1-callout-2"/>
          <p:cNvGrpSpPr/>
          <p:nvPr/>
        </p:nvGrpSpPr>
        <p:grpSpPr>
          <a:xfrm>
            <a:off x="533400" y="3712845"/>
            <a:ext cx="4328160" cy="1789748"/>
            <a:chOff x="533400" y="3712845"/>
            <a:chExt cx="4328160" cy="1789748"/>
          </a:xfrm>
        </p:grpSpPr>
        <p:sp>
          <p:nvSpPr>
            <p:cNvPr id="60" name="Rectangle 60"/>
            <p:cNvSpPr/>
            <p:nvPr/>
          </p:nvSpPr>
          <p:spPr>
            <a:xfrm>
              <a:off x="533400" y="3712845"/>
              <a:ext cx="4328160" cy="1789748"/>
            </a:xfrm>
            <a:prstGeom prst="roundRect">
              <a:avLst>
                <a:gd name="adj" fmla="val 638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4508183"/>
              <a:ext cx="200026" cy="200026"/>
              <a:chOff x="738188" y="4508183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45081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04863" y="45859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4283869"/>
              <a:ext cx="337794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求 v₁ 到 v₆。最短路是 v₁v₃v₅v₆，长 2+1+5 =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8；候选集合里最短的是 9，所以第 2 短是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v₁v₃v₄v₆。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5166360" y="1524000"/>
            <a:ext cx="6492240" cy="1525905"/>
            <a:chOff x="5166360" y="1524000"/>
            <a:chExt cx="6492240" cy="1525905"/>
          </a:xfrm>
        </p:grpSpPr>
        <p:sp>
          <p:nvSpPr>
            <p:cNvPr id="66" name="Rectangle 66"/>
            <p:cNvSpPr/>
            <p:nvPr/>
          </p:nvSpPr>
          <p:spPr>
            <a:xfrm>
              <a:off x="5166360" y="1524000"/>
              <a:ext cx="649224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857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偏离点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01169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固定的前缀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9964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禁用的边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29788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算出的候选路径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61038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40184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（空）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67981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96731" y="2023110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v₁v₂v₅v₆ = 12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166360" y="2282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166360" y="2286952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261038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40184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67981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v₃v₅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811578" y="2296478"/>
              <a:ext cx="283749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896731" y="240411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v₁v₃v₄v₆ = 9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166360" y="2663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261038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40184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v₁v₃v₅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467981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v₅v₆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96731" y="2785110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无路可走，∞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166360" y="1524000"/>
              <a:ext cx="649224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594074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36854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79729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8" name="c2-table-2"/>
          <p:cNvGrpSpPr/>
          <p:nvPr/>
        </p:nvGrpSpPr>
        <p:grpSpPr>
          <a:xfrm>
            <a:off x="5166360" y="3214688"/>
            <a:ext cx="6492240" cy="2287905"/>
            <a:chOff x="5166360" y="3214688"/>
            <a:chExt cx="6492240" cy="2287905"/>
          </a:xfrm>
        </p:grpSpPr>
        <p:sp>
          <p:nvSpPr>
            <p:cNvPr id="92" name="Rectangle 92"/>
            <p:cNvSpPr/>
            <p:nvPr/>
          </p:nvSpPr>
          <p:spPr>
            <a:xfrm>
              <a:off x="5166360" y="3214688"/>
              <a:ext cx="649224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279708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名次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958650" y="333184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全部九条简单路径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51420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136255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名次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434512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992803" y="3331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261038" y="37128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780151" y="3712845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v₁v₃v₅v₆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467981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117586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636698" y="3712845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v₁v₂v₃v₄v₆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714101" y="371284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166360" y="397192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166360" y="3976688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5261038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780151" y="409479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v₁v₃v₄v₆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467981" y="4094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117586" y="4094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636698" y="409479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v₁v₃v₄v₅v₆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714101" y="4094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166360" y="43538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261038" y="4475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5780151" y="447579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v₁v₂v₅v₆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467981" y="4475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117586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636698" y="447579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v₁v₂v₄v₅v₆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714101" y="4475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5166360" y="47348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5166360" y="4739640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5261038" y="4856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5780151" y="485679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v₁v₂v₄v₆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467981" y="4856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117586" y="4856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636698" y="4856798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v₁v₂v₃v₄v₅v₆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714101" y="4856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5166360" y="51168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5261038" y="52387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5780151" y="523875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v₁v₂v₃v₅v₆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467981" y="523875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166360" y="3214688"/>
              <a:ext cx="649224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5680710" y="3214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7368540" y="3214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8018145" y="3214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8537258" y="3214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10614660" y="3214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39" name="Rectangle 1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3" name="Group 14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4" name="TextBox 144"/>
            <p:cNvSpPr txBox="1"/>
            <p:nvPr/>
          </p:nvSpPr>
          <p:spPr>
            <a:xfrm>
              <a:off x="1041273" y="6039326"/>
              <a:ext cx="9512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对第 2 短路径再做一轮就得到第 3 短 v₁v₂v₅v₆ = 12。每轮都要在若干偏离点上重跑最短路，这就是 O(kn³) 里 n³ 的来历。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51883" cy="909257"/>
            <a:chOff x="520446" y="342900"/>
            <a:chExt cx="71518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642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19" y="407194"/>
              <a:ext cx="3612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第 k 短路径与满足约束的最短路径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518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另一条路子：把 Dijkstra 的队列改成优先队列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05910" cy="264033"/>
            <a:chOff x="526542" y="1545907"/>
            <a:chExt cx="75059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05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队列里存二元组 (v, Dᵥ)，出队的不是队头而是 D 值最小的那个；同一个顶点允许出现多次。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4824117" cy="2149411"/>
            <a:chOff x="533400" y="1938338"/>
            <a:chExt cx="4824117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1390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(u, 0) 放进队列 Q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19403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 Q 中 D 值最小的 (v, Dᵥ)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4410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v 的每个邻接点 w，把 (w, Dᵥ + weight(v,w)) 压进 Q，不做去重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重复，直到目标点 t 第 k 次出队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249102"/>
            <a:ext cx="5626418" cy="1427798"/>
            <a:chOff x="533400" y="4249102"/>
            <a:chExt cx="5626418" cy="1427798"/>
          </a:xfrm>
        </p:grpSpPr>
        <p:sp>
          <p:nvSpPr>
            <p:cNvPr id="27" name="Rectangle 27"/>
            <p:cNvSpPr/>
            <p:nvPr/>
          </p:nvSpPr>
          <p:spPr>
            <a:xfrm>
              <a:off x="533400" y="4249102"/>
              <a:ext cx="5626418" cy="1427798"/>
            </a:xfrm>
            <a:prstGeom prst="roundRect">
              <a:avLst>
                <a:gd name="adj" fmla="val 93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82452"/>
              <a:ext cx="47625" cy="11610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4300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044" y="44629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8006" y="4469606"/>
              <a:ext cx="3588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第 i 次出队时，Dₜ 就是 s 到 t 的第 i 短距离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78678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优先队列保证出队的 D 值单调不减。t 的每一次出队对应一条不同的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s−t 路径，按长度从小到大依次被取出。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6936105" y="1919288"/>
            <a:ext cx="4374833" cy="812482"/>
            <a:chOff x="6936105" y="1919288"/>
            <a:chExt cx="4374833" cy="812482"/>
          </a:xfrm>
        </p:grpSpPr>
        <p:sp>
          <p:nvSpPr>
            <p:cNvPr id="34" name="Freeform 34"/>
            <p:cNvSpPr/>
            <p:nvPr/>
          </p:nvSpPr>
          <p:spPr>
            <a:xfrm>
              <a:off x="7246620" y="2146935"/>
              <a:ext cx="1804035" cy="380048"/>
            </a:xfrm>
            <a:custGeom>
              <a:avLst/>
              <a:gdLst/>
              <a:ahLst/>
              <a:cxnLst/>
              <a:rect l="l" t="t" r="r" b="b"/>
              <a:pathLst>
                <a:path w="1804035" h="380048">
                  <a:moveTo>
                    <a:pt x="0" y="380048"/>
                  </a:moveTo>
                  <a:lnTo>
                    <a:pt x="18040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41130" y="2101215"/>
              <a:ext cx="102870" cy="92393"/>
            </a:xfrm>
            <a:custGeom>
              <a:avLst/>
              <a:gdLst/>
              <a:ahLst/>
              <a:cxnLst/>
              <a:rect l="l" t="t" r="r" b="b"/>
              <a:pathLst>
                <a:path w="102870" h="92393">
                  <a:moveTo>
                    <a:pt x="102870" y="26670"/>
                  </a:moveTo>
                  <a:lnTo>
                    <a:pt x="2000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496425" y="2135505"/>
              <a:ext cx="1375410" cy="355283"/>
            </a:xfrm>
            <a:custGeom>
              <a:avLst/>
              <a:gdLst/>
              <a:ahLst/>
              <a:cxnLst/>
              <a:rect l="l" t="t" r="r" b="b"/>
              <a:pathLst>
                <a:path w="1375410" h="355283">
                  <a:moveTo>
                    <a:pt x="0" y="0"/>
                  </a:moveTo>
                  <a:lnTo>
                    <a:pt x="1375410" y="3552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859452" y="244506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69533"/>
                  </a:moveTo>
                  <a:lnTo>
                    <a:pt x="0" y="92392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50430" y="2560320"/>
              <a:ext cx="3612832" cy="9525"/>
            </a:xfrm>
            <a:custGeom>
              <a:avLst/>
              <a:gdLst/>
              <a:ahLst/>
              <a:cxnLst/>
              <a:rect l="l" t="t" r="r" b="b"/>
              <a:pathLst>
                <a:path w="3612832" h="9525">
                  <a:moveTo>
                    <a:pt x="0" y="0"/>
                  </a:moveTo>
                  <a:lnTo>
                    <a:pt x="36128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863262" y="25126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936105" y="240792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149715" y="191928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968038" y="2388870"/>
              <a:ext cx="342900" cy="3429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48758" y="25041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81418" y="20345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99741" y="25041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28635" y="22488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60191" y="2277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63175" y="224694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94731" y="22759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008745" y="248126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38519" y="25112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99</a:t>
              </a:r>
            </a:p>
          </p:txBody>
        </p:sp>
      </p:grpSp>
      <p:grpSp>
        <p:nvGrpSpPr>
          <p:cNvPr id="79" name="c2-table-2"/>
          <p:cNvGrpSpPr/>
          <p:nvPr/>
        </p:nvGrpSpPr>
        <p:grpSpPr>
          <a:xfrm>
            <a:off x="6464618" y="2903220"/>
            <a:ext cx="5193982" cy="1906905"/>
            <a:chOff x="6464618" y="2903220"/>
            <a:chExt cx="5193982" cy="1906905"/>
          </a:xfrm>
        </p:grpSpPr>
        <p:sp>
          <p:nvSpPr>
            <p:cNvPr id="53" name="Rectangle 53"/>
            <p:cNvSpPr/>
            <p:nvPr/>
          </p:nvSpPr>
          <p:spPr>
            <a:xfrm>
              <a:off x="6464618" y="290322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48641" y="30203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07986" y="30203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出队的元素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68892" y="3020378"/>
              <a:ext cx="1070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 Q 中剩下的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59296" y="3401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78409" y="340137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44344" y="3401378"/>
              <a:ext cx="1092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5)　(3, 99)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36614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64618" y="366617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59296" y="3783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78409" y="378333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(2, 5)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44344" y="3783330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12)　(3, 99)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40424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9296" y="4164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993255" y="4056698"/>
              <a:ext cx="17468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78409" y="4164330"/>
              <a:ext cx="1127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12) ← 第 1 短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44344" y="416433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(3, 99)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44234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64618" y="442817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59296" y="45462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993255" y="4437698"/>
              <a:ext cx="17468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078409" y="4546282"/>
              <a:ext cx="1127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99) ← 第 2 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44344" y="454628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（空）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2903220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978968" y="29032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744902" y="29032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callout-3"/>
          <p:cNvGrpSpPr/>
          <p:nvPr/>
        </p:nvGrpSpPr>
        <p:grpSpPr>
          <a:xfrm>
            <a:off x="6464618" y="4974908"/>
            <a:ext cx="5193982" cy="702945"/>
            <a:chOff x="6464618" y="4974908"/>
            <a:chExt cx="5193982" cy="702945"/>
          </a:xfrm>
        </p:grpSpPr>
        <p:sp>
          <p:nvSpPr>
            <p:cNvPr id="80" name="Rectangle 80"/>
            <p:cNvSpPr/>
            <p:nvPr/>
          </p:nvSpPr>
          <p:spPr>
            <a:xfrm>
              <a:off x="6464618" y="497490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657347" y="5222676"/>
              <a:ext cx="224134" cy="192560"/>
              <a:chOff x="6657347" y="5222676"/>
              <a:chExt cx="224134" cy="19256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769418" y="52930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657347" y="52226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769418" y="53708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972491" y="5119211"/>
              <a:ext cx="3776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k 短路可能含环。A→C=1、A→B=1、B→E=6、E→A=5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时，A 到 C 的第 2 短是 A→B→E→A→C = 13。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7" name="Rectangle 8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273" y="6039326"/>
              <a:ext cx="10337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Yen 算法只产生简单路径，这里的第 k 短允许含环，两种定义不同，做题时看清题目要哪一种。k = 1 时它就是标准的堆优化 Dijkstra。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642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19" y="407194"/>
              <a:ext cx="3612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 · 第 k 短路径与满足约束的最短路径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满足约束的最短路径，以及算法怎么选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160145"/>
            <a:chOff x="533400" y="1524000"/>
            <a:chExt cx="4760595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在附加条件下找最短路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约束可以是：必须经过某些点或某些边，必须绕开某些点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或某些边，等等。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858452"/>
            <a:ext cx="3251454" cy="1596962"/>
            <a:chOff x="533400" y="2858452"/>
            <a:chExt cx="3251454" cy="1596962"/>
          </a:xfrm>
        </p:grpSpPr>
        <p:sp>
          <p:nvSpPr>
            <p:cNvPr id="14" name="Rectangle 14"/>
            <p:cNvSpPr/>
            <p:nvPr/>
          </p:nvSpPr>
          <p:spPr>
            <a:xfrm>
              <a:off x="666750" y="300132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8584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9322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118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85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643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38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8894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逐条生成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3144202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依次求出 s 到 t 的第 1、2、3、… 短路径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4418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逐条检验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6966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每生成一条就检查它是否满足给定的约束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9952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第一条命中的即所求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250055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因为生成是按长度递增的，先满足的一定最短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616768"/>
            <a:ext cx="4760595" cy="1060132"/>
            <a:chOff x="533400" y="4616768"/>
            <a:chExt cx="4760595" cy="1060132"/>
          </a:xfrm>
        </p:grpSpPr>
        <p:sp>
          <p:nvSpPr>
            <p:cNvPr id="28" name="Rectangle 28"/>
            <p:cNvSpPr/>
            <p:nvPr/>
          </p:nvSpPr>
          <p:spPr>
            <a:xfrm>
              <a:off x="533400" y="4616768"/>
              <a:ext cx="4760595" cy="1060132"/>
            </a:xfrm>
            <a:prstGeom prst="roundRect">
              <a:avLst>
                <a:gd name="adj" fmla="val 1078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5043606"/>
              <a:ext cx="224134" cy="192560"/>
              <a:chOff x="726129" y="5043606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51139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50436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1917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1273" y="4940141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这个方案的代价取决于要枚举到第几条，最坏情况下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路径条数是指数级的，只适合约束不太苛刻的场合。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5598795" y="1524000"/>
            <a:ext cx="6059805" cy="3050858"/>
            <a:chOff x="5598795" y="1524000"/>
            <a:chExt cx="6059805" cy="3050858"/>
          </a:xfrm>
        </p:grpSpPr>
        <p:sp>
          <p:nvSpPr>
            <p:cNvPr id="35" name="Rectangle 35"/>
            <p:cNvSpPr/>
            <p:nvPr/>
          </p:nvSpPr>
          <p:spPr>
            <a:xfrm>
              <a:off x="5598795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9847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问题形态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294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首选算法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5712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6187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适用前提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93474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无权图单源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68909" y="2023110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17255" y="1914525"/>
              <a:ext cx="13144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02409" y="2023110"/>
              <a:ext cx="539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O(n+e)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35909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邻接表存图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598795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3474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正权图单源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68909" y="2404110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2409" y="2404110"/>
              <a:ext cx="593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O(n²+e)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35909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权值非负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3474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负权图单源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68909" y="2785110"/>
              <a:ext cx="910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Bellman-Ford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02409" y="2785110"/>
              <a:ext cx="435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O(ne)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35909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无负环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98795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3474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单源单目标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68909" y="316706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02409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看启发函数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35909" y="3167062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≤ h* 才保证最优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598795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93474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任意两点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83755" y="3440430"/>
              <a:ext cx="131445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68909" y="3548062"/>
              <a:ext cx="368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02409" y="3548062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35909" y="3548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无负环，邻接矩阵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598795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598795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93474" y="3930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只问可达性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68909" y="3930015"/>
              <a:ext cx="594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Warshall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02409" y="3930015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935909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98795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693474" y="4311015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68909" y="4311015"/>
              <a:ext cx="979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Yen / 优先队列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02409" y="4311015"/>
              <a:ext cx="51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O(kn³)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935909" y="4311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正权图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598795" y="1524000"/>
              <a:ext cx="6059805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16946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50296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83646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callout-2"/>
          <p:cNvGrpSpPr/>
          <p:nvPr/>
        </p:nvGrpSpPr>
        <p:grpSpPr>
          <a:xfrm>
            <a:off x="5598795" y="4739640"/>
            <a:ext cx="6059805" cy="937260"/>
            <a:chOff x="5598795" y="4739640"/>
            <a:chExt cx="6059805" cy="937260"/>
          </a:xfrm>
        </p:grpSpPr>
        <p:sp>
          <p:nvSpPr>
            <p:cNvPr id="84" name="Rectangle 84"/>
            <p:cNvSpPr/>
            <p:nvPr/>
          </p:nvSpPr>
          <p:spPr>
            <a:xfrm>
              <a:off x="5598795" y="4739640"/>
              <a:ext cx="6059805" cy="937260"/>
            </a:xfrm>
            <a:prstGeom prst="roundRect">
              <a:avLst>
                <a:gd name="adj" fmla="val 1219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5803583" y="5108260"/>
              <a:ext cx="200023" cy="200023"/>
              <a:chOff x="5803583" y="5108260"/>
              <a:chExt cx="200023" cy="20002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5803583" y="51082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5936933" y="5174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106668" y="4884896"/>
              <a:ext cx="48409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选型口诀：边没权就 BFS，有正权就 Dijkstra，有负权就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Bellman-Ford；只要一个终点且能估距离就上 A*，要全部点对就上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Floyd。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0" name="Rectangle 9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1273" y="6039326"/>
              <a:ext cx="7456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带约束的题目先别急着改算法，多数情况下是“换一个图”或“加一维状态”，比逐条枚举划算得多。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993170" cy="264033"/>
            <a:chOff x="526542" y="1545907"/>
            <a:chExt cx="89931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993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先自己写出答案再看解答。另外自问两题：为什么 BFS 的 dist 能兼作 visited？Floyd 为什么必须用邻接矩阵？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9191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无权图上把每条边看成权 1 再跑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Dijkstra，结果对吗？该不该这么做？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146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结果对，但不该。BFS 是 O(n+e)，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 Dijkstra 是 O(n²+e)，白白多花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一个数量级。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6992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中 pre[5]=4、pre[4]=2、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pre[2]=1，写出 v₁ 到 v₅ 的最短路与长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2800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倒着回溯得 v₁ → v₂ → v₄ → v₅，长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3+8+12 = 23，与 dist[5] 一致。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894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用一个三顶点的图说明 Dijkstra 为什么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不能处理负权边。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8902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v₀→v₁=100、v₀→v₂=1000、v₂→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v₁=−999。第一轮选 D 最小的 v₁ 并定稿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100，真实最短却是 1000−999=1。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87685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 的 h(v) 取 0 会怎样？取得比真实距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离大又会怎样？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8780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0 时 f=g，退化成 Dijkstra，仍最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优但慢。高估时不再可采纳，可能在更短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的路被发现前就把目标点选出，只得到近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似解，但搜索更快。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157412"/>
            <a:chOff x="8153400" y="1928812"/>
            <a:chExt cx="3505200" cy="215741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1180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的三重循环里，k 为什么必须放在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最外层？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63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Dᵏ 要整体由 Dᵏ⁻¹ 推出。k 在内层会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在同一轮里混用不同 k 的中间结果，有些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格子还没算完就被当作 Dᵏ⁻¹ 使用，结果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可能偏大。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251008"/>
            <a:ext cx="3505200" cy="1914525"/>
            <a:chOff x="8153400" y="4251008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772501"/>
              <a:ext cx="276672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允许负权边却不允许负环，为什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么？怎么用 Floyd 判负环？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300186"/>
              <a:ext cx="29959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负环上绕圈能让长度无下界，最短路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根本不存在。跑完后若某个 D[i][i] &lt; 0，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说明顶点 i 落在一个负环上。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第15讲 最短路径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59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796" y="2023110"/>
              <a:ext cx="3088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出队即定稿，dist 兼作 visited，邻接表 O(n+e)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6796" y="2404110"/>
              <a:ext cx="2775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D 最小的进 S 再松弛；权非负；O(n²+e)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A*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796" y="2785110"/>
              <a:ext cx="3096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g + h；h ≤ h* 才最优；h ≡ 0 退化成 Dijkstra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796" y="3167062"/>
              <a:ext cx="2886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按中间顶点编号递推 O(n³)；许负权不许负环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6796" y="3548062"/>
              <a:ext cx="3100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Yen 只给简单路径 O(kn³)；优先队列版允许含环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976688"/>
            <a:ext cx="5842635" cy="1504950"/>
            <a:chOff x="533400" y="3976688"/>
            <a:chExt cx="5842635" cy="150495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504950"/>
            </a:xfrm>
            <a:prstGeom prst="roundRect">
              <a:avLst>
                <a:gd name="adj" fmla="val 8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50360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 4 处：第 40 页“更亲”应为“更新”；第 43 页“i 最是否在 S 中”多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一个“最”；第 46 页求和下标写 i 而被加项是 dᵥ；第 58 页“既已确定”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应为“即已确定”</a:t>
              </a:r>
            </a:p>
          </p:txBody>
        </p:sp>
      </p:grpSp>
      <p:grpSp>
        <p:nvGrpSpPr>
          <p:cNvPr id="51" name="c2-bullets-1"/>
          <p:cNvGrpSpPr/>
          <p:nvPr/>
        </p:nvGrpSpPr>
        <p:grpSpPr>
          <a:xfrm>
            <a:off x="6681788" y="1533525"/>
            <a:ext cx="4751086" cy="2161508"/>
            <a:chOff x="6681788" y="1533525"/>
            <a:chExt cx="4751086" cy="2161508"/>
          </a:xfrm>
        </p:grpSpPr>
        <p:sp>
          <p:nvSpPr>
            <p:cNvPr id="36" name="Ellipse 36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51536" y="1545431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看到“最短”先问三件事：边有没有权、权有没有负、要一个答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案还是全部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51536" y="2080736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的正确性靠权非负带来的单调性，最优子结构对负权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照样成立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1788" y="26060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3694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1536" y="2616994"/>
              <a:ext cx="4481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递推的是“允许使用的中间顶点集合”，不是路径本身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1788" y="289845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3694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51536" y="2910364"/>
              <a:ext cx="42260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往回走、path 往前走，两个数组方向相反，别记混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1536" y="3202781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每写一个复杂度就补一句前提，O(n+e) 的前提是邻接表，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 与稀疏无关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810000"/>
            <a:ext cx="4977765" cy="1671638"/>
            <a:chOff x="6680835" y="3810000"/>
            <a:chExt cx="4977765" cy="1671638"/>
          </a:xfrm>
        </p:grpSpPr>
        <p:sp>
          <p:nvSpPr>
            <p:cNvPr id="52" name="Rectangle 52"/>
            <p:cNvSpPr/>
            <p:nvPr/>
          </p:nvSpPr>
          <p:spPr>
            <a:xfrm>
              <a:off x="6680835" y="3810000"/>
              <a:ext cx="4977765" cy="1671638"/>
            </a:xfrm>
            <a:prstGeom prst="roundRect">
              <a:avLst>
                <a:gd name="adj" fmla="val 79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61810" y="3990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47332" y="4023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71335" y="4383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26783" y="4331494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画一张 5 到 6 个顶点的有向带权图，手推 Dijkstra 的 S、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dist、pre 三张表，再画出最短路径树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911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859179"/>
              <a:ext cx="3865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同一张图改用 Floyd，逐轮写出 D⁰ 到 D⁴ 和 path，用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path 还原两条路径并与 Dijkstra 的结果对账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0" name="Rectangle 6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5805011"/>
              <a:ext cx="9961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下一讲讲最小支撑树及图的应用。同样是贪心地一条条挑边，但目标从“源点到各点最短”换成“连通全图总权最小”，两棵树长得像，判据完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全不同。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第15讲 最短路径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5">
  <a:themeElements>
    <a:clrScheme name="ds_l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2026-09-19T13:55:31Z</dcterms:created>
  <dcterms:modified xsi:type="dcterms:W3CDTF">2026-09-19T13:55:31Z</dcterms:modified>
  <cp:category/>
  <cp:contentStatus/>
</cp:coreProperties>
</file>