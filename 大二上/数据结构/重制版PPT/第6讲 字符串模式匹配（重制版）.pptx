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ds_l0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ds_l0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e5bd19af12952cad.png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a75ab2bd780ee310.png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1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2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9fb9e42b36d1fe2.png"/>
</Relationships>
</file>

<file path=ppt/slides/_rels/slide3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3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_rels/slide4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ver-her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scrim"/>
          <p:cNvSpPr/>
          <p:nvPr/>
        </p:nvSpPr>
        <p:spPr>
          <a:xfrm>
            <a:off x="0" y="0"/>
            <a:ext cx="7620000" cy="6858000"/>
          </a:xfrm>
          <a:prstGeom prst="rect">
            <a:avLst/>
          </a:prstGeom>
          <a:gradFill>
            <a:gsLst>
              <a:gs pos="0">
                <a:srgbClr val="FFFFFF">
                  <a:alpha val="97000"/>
                </a:srgbClr>
              </a:gs>
              <a:gs pos="58000">
                <a:srgbClr val="FFFFFF">
                  <a:alpha val="85000"/>
                </a:srgbClr>
              </a:gs>
              <a:gs pos="100000">
                <a:srgbClr val="FFFFFF">
                  <a:alpha val="0"/>
                </a:srgbClr>
              </a:gs>
            </a:gsLst>
            <a:lin ang="0" scaled="1"/>
          </a:gradFill>
          <a:ln>
            <a:noFill/>
          </a:ln>
        </p:spPr>
      </p:sp>
      <p:grpSp>
        <p:nvGrpSpPr>
          <p:cNvPr id="17" name="cover-title"/>
          <p:cNvGrpSpPr/>
          <p:nvPr/>
        </p:nvGrpSpPr>
        <p:grpSpPr>
          <a:xfrm>
            <a:off x="666750" y="1619250"/>
            <a:ext cx="4915205" cy="3437763"/>
            <a:chOff x="666750" y="1619250"/>
            <a:chExt cx="4915205" cy="3437763"/>
          </a:xfrm>
        </p:grpSpPr>
        <p:sp>
          <p:nvSpPr>
            <p:cNvPr id="4" name="Rectangle 4"/>
            <p:cNvSpPr/>
            <p:nvPr/>
          </p:nvSpPr>
          <p:spPr>
            <a:xfrm>
              <a:off x="685800" y="1619250"/>
              <a:ext cx="1529715" cy="3429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815751" y="1718310"/>
              <a:ext cx="1269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数据结构 · 第6讲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666750" y="2407920"/>
              <a:ext cx="3995928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字符串模式匹配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685800" y="3147060"/>
              <a:ext cx="990600" cy="5715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76656" y="3467100"/>
              <a:ext cx="490529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从朴素匹配到 KMP，把 O(nm) 降到 O(n+m)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709612" y="3976688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9442" y="3921442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模式匹配问题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09612" y="4267200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442" y="4211955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朴素匹配与平均分析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09612" y="4557712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69442" y="4502468"/>
              <a:ext cx="1480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KMP 与 next 函数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09612" y="4848225"/>
              <a:ext cx="66675" cy="66675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69442" y="4792980"/>
              <a:ext cx="15584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next 的改进与应用</a:t>
              </a:r>
            </a:p>
          </p:txBody>
        </p:sp>
      </p:grpSp>
      <p:grpSp>
        <p:nvGrpSpPr>
          <p:cNvPr id="19" name="cover-credit"/>
          <p:cNvGrpSpPr/>
          <p:nvPr/>
        </p:nvGrpSpPr>
        <p:grpSpPr>
          <a:xfrm>
            <a:off x="680466" y="6192202"/>
            <a:ext cx="4152252" cy="205359"/>
            <a:chOff x="680466" y="6192202"/>
            <a:chExt cx="4152252" cy="205359"/>
          </a:xfrm>
        </p:grpSpPr>
        <p:sp>
          <p:nvSpPr>
            <p:cNvPr id="18" name="TextBox 18"/>
            <p:cNvSpPr txBox="1"/>
            <p:nvPr/>
          </p:nvSpPr>
          <p:spPr>
            <a:xfrm>
              <a:off x="680466" y="6192202"/>
              <a:ext cx="41522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重制讲义 · 自学复习版｜据吉林大学《数据结构》第 6 讲课件整理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2085594" cy="909257"/>
            <a:chOff x="520446" y="342900"/>
            <a:chExt cx="2085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2085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本讲学习路线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6" name="c1-agenda-1"/>
          <p:cNvGrpSpPr/>
          <p:nvPr/>
        </p:nvGrpSpPr>
        <p:grpSpPr>
          <a:xfrm>
            <a:off x="521970" y="1515428"/>
            <a:ext cx="6287453" cy="3689317"/>
            <a:chOff x="521970" y="1515428"/>
            <a:chExt cx="6287453" cy="3689317"/>
          </a:xfrm>
        </p:grpSpPr>
        <p:sp>
          <p:nvSpPr>
            <p:cNvPr id="7" name="TextBox 7"/>
            <p:cNvSpPr txBox="1"/>
            <p:nvPr/>
          </p:nvSpPr>
          <p:spPr>
            <a:xfrm>
              <a:off x="521970" y="151542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65086" y="1551622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模式匹配问题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66990" y="1868329"/>
              <a:ext cx="283889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目标串、模式串、返回首位置还是 -1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73468" y="218122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521970" y="2286952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65086" y="2323148"/>
              <a:ext cx="134950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朴素匹配算法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66990" y="2639854"/>
              <a:ext cx="41338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逐趟右移一位；最坏 O(nm)，平均比较次数不超过 2n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073468" y="2953702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21970" y="3058478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5086" y="3094673"/>
              <a:ext cx="9908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KMP 算法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66990" y="3412331"/>
              <a:ext cx="249427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失配后 i 不回退，j 退到 next[j]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1073468" y="3725228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521970" y="3830955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65086" y="3867150"/>
              <a:ext cx="17104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 数组的计算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66990" y="4183856"/>
              <a:ext cx="331828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由 next(j) 递推出 next(j+1)，整体 O(m)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073468" y="4497705"/>
              <a:ext cx="573595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21970" y="4602480"/>
              <a:ext cx="372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65086" y="4638675"/>
              <a:ext cx="1571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改进与隐藏应用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6990" y="4955381"/>
              <a:ext cx="289920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next2、出现次数、回文前缀、循环节</a:t>
              </a:r>
            </a:p>
          </p:txBody>
        </p:sp>
      </p:grpSp>
      <p:grpSp>
        <p:nvGrpSpPr>
          <p:cNvPr id="41" name="c2-card-1"/>
          <p:cNvGrpSpPr/>
          <p:nvPr/>
        </p:nvGrpSpPr>
        <p:grpSpPr>
          <a:xfrm>
            <a:off x="7114222" y="1524000"/>
            <a:ext cx="4544378" cy="3800475"/>
            <a:chOff x="7114222" y="1524000"/>
            <a:chExt cx="4544378" cy="3800475"/>
          </a:xfrm>
        </p:grpSpPr>
        <p:sp>
          <p:nvSpPr>
            <p:cNvPr id="27" name="Rectangle 27"/>
            <p:cNvSpPr/>
            <p:nvPr/>
          </p:nvSpPr>
          <p:spPr>
            <a:xfrm>
              <a:off x="7114222" y="1524000"/>
              <a:ext cx="4544378" cy="3800475"/>
            </a:xfrm>
            <a:prstGeom prst="roundRect">
              <a:avLst>
                <a:gd name="adj" fmla="val 35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123748" y="1657350"/>
              <a:ext cx="47625" cy="353377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7361872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44322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学习目标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367588" y="217360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525702" y="2110740"/>
              <a:ext cx="3215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手算任意模式串的 next 数组与改进的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next2 数组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367588" y="27946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7525702" y="2731770"/>
              <a:ext cx="37204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 S 和 P，写出朴素算法与 KMP 的完整比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对过程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367588" y="341566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525702" y="3352800"/>
              <a:ext cx="370141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说出 KMP 为什么能做到目标串指针 i 永不回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退</a:t>
              </a:r>
            </a:p>
          </p:txBody>
        </p:sp>
        <p:sp>
          <p:nvSpPr>
            <p:cNvPr id="37" name="Ellipse 37"/>
            <p:cNvSpPr/>
            <p:nvPr/>
          </p:nvSpPr>
          <p:spPr>
            <a:xfrm>
              <a:off x="7367588" y="403669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7525702" y="3973830"/>
              <a:ext cx="36537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解释 buildNext 为什么是 O(m)、KMP 为什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么是 O(n+m)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7367588" y="465772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7525702" y="4594860"/>
              <a:ext cx="35966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next 数组判断一个串能否由循环节重复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构成</a:t>
              </a:r>
            </a:p>
          </p:txBody>
        </p:sp>
      </p:grpSp>
      <p:grpSp>
        <p:nvGrpSpPr>
          <p:cNvPr id="4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2" name="TextBox 4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024884" cy="2997517"/>
            <a:chOff x="667512" y="1835468"/>
            <a:chExt cx="4024884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第一部分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2944368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模式匹配问题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01497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先把输入、输出和两个指针的约定说清楚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目标串与模式串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5095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返回首位置或 -1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编辑器里的查找与替换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78090" cy="909257"/>
            <a:chOff x="520446" y="342900"/>
            <a:chExt cx="7578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1297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05008" y="407194"/>
              <a:ext cx="198657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模式匹配问题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78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模式匹配：在目标串里找模式串第一次出现的位置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842635" cy="2137410"/>
            <a:chOff x="533400" y="1524000"/>
            <a:chExt cx="5842635" cy="213741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2137410"/>
            </a:xfrm>
            <a:prstGeom prst="roundRect">
              <a:avLst>
                <a:gd name="adj" fmla="val 623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87071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9620" y="172212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1060" y="175641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52931" y="175688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字符串模式匹配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62381" y="2100739"/>
              <a:ext cx="5145151" cy="82162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给定目标串 S（长度 n）和模式串 P（长度 m），m ≤ n。判断 P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是否为 S 的子串；是则返回 P 的第一个字符在 S 中的下标，不是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则返回 -1。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7240" y="302133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33831" y="2961799"/>
              <a:ext cx="202309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本讲所有下标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从 0 开始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63524" y="3275648"/>
              <a:ext cx="28376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大厂面试题 LeetCode 28 就是这道题。</a:t>
              </a:r>
            </a:p>
          </p:txBody>
        </p:sp>
      </p:grpSp>
      <p:grpSp>
        <p:nvGrpSpPr>
          <p:cNvPr id="51" name="c1-cells-2"/>
          <p:cNvGrpSpPr/>
          <p:nvPr/>
        </p:nvGrpSpPr>
        <p:grpSpPr>
          <a:xfrm>
            <a:off x="527304" y="3841432"/>
            <a:ext cx="3160776" cy="1140143"/>
            <a:chOff x="527304" y="3841432"/>
            <a:chExt cx="3160776" cy="1140143"/>
          </a:xfrm>
        </p:grpSpPr>
        <p:sp>
          <p:nvSpPr>
            <p:cNvPr id="17" name="TextBox 17"/>
            <p:cNvSpPr txBox="1"/>
            <p:nvPr/>
          </p:nvSpPr>
          <p:spPr>
            <a:xfrm>
              <a:off x="527304" y="3963352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754380" y="384143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11188" y="39633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173480" y="384143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330288" y="39633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1592580" y="3841432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1749388" y="39633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2011680" y="3841432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2168488" y="39633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2430780" y="3841432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2587588" y="39633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849880" y="3841432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006688" y="39633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3268980" y="3841432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3425788" y="39633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925849" y="429006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44949" y="429006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764049" y="429006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183149" y="429006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02249" y="429006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21349" y="429006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40449" y="429006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7304" y="470916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54380" y="4587240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1173480" y="4587240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1592580" y="4587240"/>
              <a:ext cx="419100" cy="3943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2011680" y="4587240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168488" y="47091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430780" y="4587240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587588" y="47091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2849880" y="4587240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006688" y="47091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268980" y="4587240"/>
              <a:ext cx="419100" cy="3943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425788" y="470916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53" name="c1-text-3"/>
          <p:cNvGrpSpPr/>
          <p:nvPr/>
        </p:nvGrpSpPr>
        <p:grpSpPr>
          <a:xfrm>
            <a:off x="527304" y="5180648"/>
            <a:ext cx="5560684" cy="234696"/>
            <a:chOff x="527304" y="5180648"/>
            <a:chExt cx="5560684" cy="234696"/>
          </a:xfrm>
        </p:grpSpPr>
        <p:sp>
          <p:nvSpPr>
            <p:cNvPr id="52" name="TextBox 52"/>
            <p:cNvSpPr txBox="1"/>
            <p:nvPr/>
          </p:nvSpPr>
          <p:spPr>
            <a:xfrm>
              <a:off x="527304" y="5180648"/>
              <a:ext cx="556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例：S = abaabab，P = abab。P 在 S 中第一次出现的下标是 3，所以返回 3。</a:t>
              </a:r>
            </a:p>
          </p:txBody>
        </p:sp>
      </p:grpSp>
      <p:grpSp>
        <p:nvGrpSpPr>
          <p:cNvPr id="59" name="c1-callout-4"/>
          <p:cNvGrpSpPr/>
          <p:nvPr/>
        </p:nvGrpSpPr>
        <p:grpSpPr>
          <a:xfrm>
            <a:off x="533400" y="5548312"/>
            <a:ext cx="5842635" cy="756285"/>
            <a:chOff x="533400" y="5548312"/>
            <a:chExt cx="5842635" cy="756285"/>
          </a:xfrm>
        </p:grpSpPr>
        <p:sp>
          <p:nvSpPr>
            <p:cNvPr id="54" name="Rectangle 54"/>
            <p:cNvSpPr/>
            <p:nvPr/>
          </p:nvSpPr>
          <p:spPr>
            <a:xfrm>
              <a:off x="533400" y="5548312"/>
              <a:ext cx="5842635" cy="756285"/>
            </a:xfrm>
            <a:prstGeom prst="roundRect">
              <a:avLst>
                <a:gd name="adj" fmla="val 1511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57" name="Group 57"/>
            <p:cNvGrpSpPr/>
            <p:nvPr/>
          </p:nvGrpSpPr>
          <p:grpSpPr>
            <a:xfrm>
              <a:off x="738188" y="5826445"/>
              <a:ext cx="200023" cy="200023"/>
              <a:chOff x="738188" y="5826445"/>
              <a:chExt cx="200023" cy="200023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738188" y="58264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71538" y="58931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58" name="TextBox 58"/>
            <p:cNvSpPr txBox="1"/>
            <p:nvPr/>
          </p:nvSpPr>
          <p:spPr>
            <a:xfrm>
              <a:off x="1040511" y="5695474"/>
              <a:ext cx="488365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返回的是首位置，不是出现次数。求全部出现位置的写法放在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本讲最后一部分。</a:t>
              </a:r>
            </a:p>
          </p:txBody>
        </p:sp>
      </p:grpSp>
      <p:grpSp>
        <p:nvGrpSpPr>
          <p:cNvPr id="84" name="c2-table-1"/>
          <p:cNvGrpSpPr/>
          <p:nvPr/>
        </p:nvGrpSpPr>
        <p:grpSpPr>
          <a:xfrm>
            <a:off x="6680835" y="1524000"/>
            <a:ext cx="4977765" cy="2548890"/>
            <a:chOff x="6680835" y="1524000"/>
            <a:chExt cx="4977765" cy="2548890"/>
          </a:xfrm>
        </p:grpSpPr>
        <p:sp>
          <p:nvSpPr>
            <p:cNvPr id="60" name="Rectangle 60"/>
            <p:cNvSpPr/>
            <p:nvPr/>
          </p:nvSpPr>
          <p:spPr>
            <a:xfrm>
              <a:off x="6680835" y="1524000"/>
              <a:ext cx="4977765" cy="42481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47954" y="1652588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应用场景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945148" y="1652588"/>
              <a:ext cx="6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目标串 S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37728" y="1652588"/>
              <a:ext cx="6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模式串 P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783324" y="2076450"/>
              <a:ext cx="1510665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编辑器里按 Ctrl+F 查</a:t>
              </a:r>
              <a:br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8575929" y="218313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整篇文档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0168509" y="218313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输入框里的文字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6680835" y="2581275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80835" y="2586038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83324" y="2714625"/>
              <a:ext cx="13045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编辑器的替换功能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575929" y="271462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整篇文档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168509" y="271462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被替换的那一段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6680835" y="300609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6783324" y="3246120"/>
              <a:ext cx="1466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杀毒软件扫描特征码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575929" y="3139440"/>
              <a:ext cx="1231392" cy="4480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8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可执行文件的字节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流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168509" y="324612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病毒特征串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6680835" y="3643312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680835" y="3648075"/>
              <a:ext cx="4977765" cy="42481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783324" y="3776662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基因序列比对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575929" y="3776662"/>
              <a:ext cx="99121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DNA 碱基序列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0168509" y="3776662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待查的片段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6680835" y="1524000"/>
              <a:ext cx="4977765" cy="254889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82" name="Rectangle 82"/>
            <p:cNvSpPr/>
            <p:nvPr/>
          </p:nvSpPr>
          <p:spPr>
            <a:xfrm>
              <a:off x="8468678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3" name="Rectangle 83"/>
            <p:cNvSpPr/>
            <p:nvPr/>
          </p:nvSpPr>
          <p:spPr>
            <a:xfrm>
              <a:off x="10061258" y="1524000"/>
              <a:ext cx="9525" cy="254889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94" name="c2-card-2"/>
          <p:cNvGrpSpPr/>
          <p:nvPr/>
        </p:nvGrpSpPr>
        <p:grpSpPr>
          <a:xfrm>
            <a:off x="6680835" y="4252912"/>
            <a:ext cx="4977765" cy="2051685"/>
            <a:chOff x="6680835" y="4252912"/>
            <a:chExt cx="4977765" cy="2051685"/>
          </a:xfrm>
        </p:grpSpPr>
        <p:sp>
          <p:nvSpPr>
            <p:cNvPr id="85" name="Rectangle 85"/>
            <p:cNvSpPr/>
            <p:nvPr/>
          </p:nvSpPr>
          <p:spPr>
            <a:xfrm>
              <a:off x="6680835" y="4252912"/>
              <a:ext cx="4977765" cy="2051685"/>
            </a:xfrm>
            <a:prstGeom prst="roundRect">
              <a:avLst>
                <a:gd name="adj" fmla="val 65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6878955" y="4451032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962394" y="4485322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两个指针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728966" y="4486751"/>
              <a:ext cx="157167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扫描 S，j 扫描 P</a:t>
              </a:r>
            </a:p>
          </p:txBody>
        </p:sp>
        <p:sp>
          <p:nvSpPr>
            <p:cNvPr id="89" name="Ellipse 89"/>
            <p:cNvSpPr/>
            <p:nvPr/>
          </p:nvSpPr>
          <p:spPr>
            <a:xfrm>
              <a:off x="6886575" y="489013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7043166" y="4829651"/>
              <a:ext cx="4521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第 i 趟匹配</a:t>
              </a: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指的是：看 P 是否出现在 S 的第 i 个位置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886575" y="5207317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7043166" y="5147786"/>
              <a:ext cx="361785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一趟内部用 j 从 0 开始逐个比 s[i] 与 p[j]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872859" y="5461635"/>
              <a:ext cx="4180332" cy="4556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本讲三个算法的全部差别，都在“一趟失败之后 i 和 j 各自怎么</a:t>
              </a:r>
              <a:br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变”。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4913376" cy="2997517"/>
            <a:chOff x="667512" y="1835468"/>
            <a:chExt cx="4913376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第二部分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391363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朴素模式匹配算法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90347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每个位置都试一遍，失配就把模式串整体右移一位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逐趟比对的过程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成功与失败时指针怎么变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26849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 O(nm) 与平均不超过 2n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99660" cy="909257"/>
            <a:chOff x="520446" y="342900"/>
            <a:chExt cx="62996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朴素模式匹配算法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996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朴素算法：把 P 从左到右逐个位置试过去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7617146" cy="264033"/>
            <a:chOff x="526542" y="1545907"/>
            <a:chExt cx="7617146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761714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也叫 Brute Force 算法、暴力算法。第 i 趟就是把 P 的首字符对齐到 s[i]，然后逐字符比对。</a:t>
              </a:r>
            </a:p>
          </p:txBody>
        </p:sp>
      </p:grpSp>
      <p:grpSp>
        <p:nvGrpSpPr>
          <p:cNvPr id="89" name="c1-cells-1"/>
          <p:cNvGrpSpPr/>
          <p:nvPr/>
        </p:nvGrpSpPr>
        <p:grpSpPr>
          <a:xfrm>
            <a:off x="527685" y="1928812"/>
            <a:ext cx="3948113" cy="3148014"/>
            <a:chOff x="527685" y="1928812"/>
            <a:chExt cx="3948113" cy="3148014"/>
          </a:xfrm>
        </p:grpSpPr>
        <p:sp>
          <p:nvSpPr>
            <p:cNvPr id="9" name="TextBox 9"/>
            <p:cNvSpPr txBox="1"/>
            <p:nvPr/>
          </p:nvSpPr>
          <p:spPr>
            <a:xfrm>
              <a:off x="527685" y="204263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22998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28329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42098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0239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961198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2149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380298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4059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799398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95969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18498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7879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37598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79789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056698" y="192881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216996" y="20426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29742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71652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3562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55472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97382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39292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1202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4231128" y="23512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527685" y="2743676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0 趟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122998" y="262890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83296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542098" y="262890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702396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961198" y="262890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2121496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2380298" y="2628900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540596" y="274367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27685" y="3263741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趟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1122998" y="3148965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1542098" y="3148965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702396" y="32637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961198" y="314896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121496" y="32637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380298" y="314896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540596" y="32637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799398" y="3148965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959696" y="326374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7685" y="378285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2 趟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122998" y="366903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1542098" y="3669030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1961198" y="366903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2121496" y="3782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2380298" y="3669030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540596" y="3782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799398" y="366903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959696" y="3782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3218498" y="366903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3378796" y="37828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527685" y="4302919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3 趟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122998" y="4188142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1542098" y="4188142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961198" y="4188142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2380298" y="4188142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2540596" y="43029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0" name="Rectangle 70"/>
            <p:cNvSpPr/>
            <p:nvPr/>
          </p:nvSpPr>
          <p:spPr>
            <a:xfrm>
              <a:off x="2799398" y="4188142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2959696" y="43029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218498" y="418814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378796" y="43029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637598" y="4188142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797896" y="43029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527685" y="4822031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4 趟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1122998" y="470820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1542098" y="470820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Rectangle 79"/>
            <p:cNvSpPr/>
            <p:nvPr/>
          </p:nvSpPr>
          <p:spPr>
            <a:xfrm>
              <a:off x="1961198" y="470820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Rectangle 80"/>
            <p:cNvSpPr/>
            <p:nvPr/>
          </p:nvSpPr>
          <p:spPr>
            <a:xfrm>
              <a:off x="2380298" y="4708208"/>
              <a:ext cx="419100" cy="3686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2799398" y="470820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2959696" y="4822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3218498" y="470820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3378796" y="4822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3637598" y="470820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3797896" y="4822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4056698" y="4708208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4216996" y="48220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91" name="c1-text-2"/>
          <p:cNvGrpSpPr/>
          <p:nvPr/>
        </p:nvGrpSpPr>
        <p:grpSpPr>
          <a:xfrm>
            <a:off x="527685" y="5264944"/>
            <a:ext cx="5891632" cy="220028"/>
            <a:chOff x="527685" y="5264944"/>
            <a:chExt cx="5891632" cy="220028"/>
          </a:xfrm>
        </p:grpSpPr>
        <p:sp>
          <p:nvSpPr>
            <p:cNvPr id="90" name="TextBox 90"/>
            <p:cNvSpPr txBox="1"/>
            <p:nvPr/>
          </p:nvSpPr>
          <p:spPr>
            <a:xfrm>
              <a:off x="527685" y="5264944"/>
              <a:ext cx="58916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绿色是本趟对上的字符，红色是本趟失配的那一对。第 4 趟四个字符全部对上，返回 4。</a:t>
              </a:r>
            </a:p>
          </p:txBody>
        </p:sp>
      </p:grpSp>
      <p:grpSp>
        <p:nvGrpSpPr>
          <p:cNvPr id="121" name="c2-table-1"/>
          <p:cNvGrpSpPr/>
          <p:nvPr/>
        </p:nvGrpSpPr>
        <p:grpSpPr>
          <a:xfrm>
            <a:off x="7114222" y="1928812"/>
            <a:ext cx="4544378" cy="2400300"/>
            <a:chOff x="7114222" y="1928812"/>
            <a:chExt cx="4544378" cy="2400300"/>
          </a:xfrm>
        </p:grpSpPr>
        <p:sp>
          <p:nvSpPr>
            <p:cNvPr id="92" name="Rectangle 92"/>
            <p:cNvSpPr/>
            <p:nvPr/>
          </p:nvSpPr>
          <p:spPr>
            <a:xfrm>
              <a:off x="7114222" y="1928812"/>
              <a:ext cx="454437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7487463" y="2050256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趟</a:t>
              </a: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9033904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本趟结果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10851274" y="2050256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7321046" y="2450306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趟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120062" y="2450306"/>
              <a:ext cx="20167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3 个字符对上，第 4 对失配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1111360" y="2450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9" name="Rectangle 99"/>
            <p:cNvSpPr/>
            <p:nvPr/>
          </p:nvSpPr>
          <p:spPr>
            <a:xfrm>
              <a:off x="7114222" y="27241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0" name="Rectangle 100"/>
            <p:cNvSpPr/>
            <p:nvPr/>
          </p:nvSpPr>
          <p:spPr>
            <a:xfrm>
              <a:off x="7114222" y="2728912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7321046" y="2850356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趟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8120062" y="2850356"/>
              <a:ext cx="93869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对就失配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1111360" y="28503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7114222" y="31242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321046" y="3250406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趟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8120062" y="325040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对对上，第 2 对失配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11111360" y="32504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7114222" y="352425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7114222" y="3529012"/>
              <a:ext cx="454437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321046" y="3650456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趟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8120062" y="3650456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对对上，第 2 对失配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11111360" y="36504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7114222" y="392430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321046" y="4050506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趟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8032432" y="3938588"/>
              <a:ext cx="2616518" cy="38100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8120062" y="4050506"/>
              <a:ext cx="179810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四个字符全部对上，返回 4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11111360" y="40505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18" name="Rectangle 118"/>
            <p:cNvSpPr/>
            <p:nvPr/>
          </p:nvSpPr>
          <p:spPr>
            <a:xfrm>
              <a:off x="7114222" y="1928812"/>
              <a:ext cx="4544378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19" name="Rectangle 119"/>
            <p:cNvSpPr/>
            <p:nvPr/>
          </p:nvSpPr>
          <p:spPr>
            <a:xfrm>
              <a:off x="8018145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0" name="Rectangle 120"/>
            <p:cNvSpPr/>
            <p:nvPr/>
          </p:nvSpPr>
          <p:spPr>
            <a:xfrm>
              <a:off x="10653712" y="1928812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27" name="c2-card-2"/>
          <p:cNvGrpSpPr/>
          <p:nvPr/>
        </p:nvGrpSpPr>
        <p:grpSpPr>
          <a:xfrm>
            <a:off x="7114222" y="4498658"/>
            <a:ext cx="4544378" cy="1202055"/>
            <a:chOff x="7114222" y="4498658"/>
            <a:chExt cx="4544378" cy="1202055"/>
          </a:xfrm>
        </p:grpSpPr>
        <p:sp>
          <p:nvSpPr>
            <p:cNvPr id="122" name="Rectangle 122"/>
            <p:cNvSpPr/>
            <p:nvPr/>
          </p:nvSpPr>
          <p:spPr>
            <a:xfrm>
              <a:off x="7114222" y="4498658"/>
              <a:ext cx="4544378" cy="1202055"/>
            </a:xfrm>
            <a:prstGeom prst="roundRect">
              <a:avLst>
                <a:gd name="adj" fmla="val 110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3" name="Rectangle 123"/>
            <p:cNvSpPr/>
            <p:nvPr/>
          </p:nvSpPr>
          <p:spPr>
            <a:xfrm>
              <a:off x="7300912" y="468534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7392632" y="471820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结构</a:t>
              </a:r>
            </a:p>
          </p:txBody>
        </p:sp>
        <p:sp>
          <p:nvSpPr>
            <p:cNvPr id="125" name="TextBox 125"/>
            <p:cNvSpPr txBox="1"/>
            <p:nvPr/>
          </p:nvSpPr>
          <p:spPr>
            <a:xfrm>
              <a:off x="7866507" y="4720590"/>
              <a:ext cx="21554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两层循环，合计 13 次比较</a:t>
              </a:r>
            </a:p>
          </p:txBody>
        </p:sp>
        <p:sp>
          <p:nvSpPr>
            <p:cNvPr id="126" name="TextBox 126"/>
            <p:cNvSpPr txBox="1"/>
            <p:nvPr/>
          </p:nvSpPr>
          <p:spPr>
            <a:xfrm>
              <a:off x="7294054" y="5046345"/>
              <a:ext cx="399992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外层枚举对齐位置 i（0 到 n − m），内层用 j 从 0 数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到 m − 1 逐字符比对。</a:t>
              </a:r>
            </a:p>
          </p:txBody>
        </p:sp>
      </p:grpSp>
      <p:grpSp>
        <p:nvGrpSpPr>
          <p:cNvPr id="134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28" name="Rectangle 128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32" name="Group 132"/>
            <p:cNvGrpSpPr/>
            <p:nvPr/>
          </p:nvGrpSpPr>
          <p:grpSpPr>
            <a:xfrm>
              <a:off x="738188" y="6022658"/>
              <a:ext cx="200026" cy="200026"/>
              <a:chOff x="738188" y="6022658"/>
              <a:chExt cx="200026" cy="200026"/>
            </a:xfrm>
          </p:grpSpPr>
          <p:sp>
            <p:nvSpPr>
              <p:cNvPr id="129" name="Freeform 129"/>
              <p:cNvSpPr/>
              <p:nvPr/>
            </p:nvSpPr>
            <p:spPr>
              <a:xfrm>
                <a:off x="738188" y="60226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0" name="Freeform 130"/>
              <p:cNvSpPr/>
              <p:nvPr/>
            </p:nvSpPr>
            <p:spPr>
              <a:xfrm>
                <a:off x="838200" y="60893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1" name="Freeform 131"/>
              <p:cNvSpPr/>
              <p:nvPr/>
            </p:nvSpPr>
            <p:spPr>
              <a:xfrm>
                <a:off x="827088" y="61226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33" name="TextBox 133"/>
            <p:cNvSpPr txBox="1"/>
            <p:nvPr/>
          </p:nvSpPr>
          <p:spPr>
            <a:xfrm>
              <a:off x="1040892" y="6028373"/>
              <a:ext cx="80792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一共只有 n − m + 1 个对齐位置，所以外层循环的条件写成 i ≤ n − m，再往后 P 已经伸出 S 的尾部。</a:t>
              </a:r>
            </a:p>
          </p:txBody>
        </p:sp>
      </p:grpSp>
      <p:grpSp>
        <p:nvGrpSpPr>
          <p:cNvPr id="13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35" name="TextBox 13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14074" cy="909257"/>
            <a:chOff x="520446" y="342900"/>
            <a:chExt cx="571407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朴素模式匹配算法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1407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匹配成功时，返回的是 i − m 而不是 i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4" name="c1-cells-1"/>
          <p:cNvGrpSpPr/>
          <p:nvPr/>
        </p:nvGrpSpPr>
        <p:grpSpPr>
          <a:xfrm>
            <a:off x="527304" y="1571149"/>
            <a:ext cx="3579876" cy="1427321"/>
            <a:chOff x="527304" y="1571149"/>
            <a:chExt cx="3579876" cy="1427321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95738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54380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11188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173480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0288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592580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749388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11680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168488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30780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587588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849880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06688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268980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25788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688080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844888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25849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44949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764049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183149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602249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021349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40449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59549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15953" y="157114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 = 5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021330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7304" y="272034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54380" y="2591752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173480" y="259175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330288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1592580" y="259175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749388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011680" y="259175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168488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430780" y="259175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2587588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46" name="c1-text-2"/>
          <p:cNvGrpSpPr/>
          <p:nvPr/>
        </p:nvGrpSpPr>
        <p:grpSpPr>
          <a:xfrm>
            <a:off x="527304" y="3204210"/>
            <a:ext cx="5772912" cy="470916"/>
            <a:chOff x="527304" y="3204210"/>
            <a:chExt cx="5772912" cy="470916"/>
          </a:xfrm>
        </p:grpSpPr>
        <p:sp>
          <p:nvSpPr>
            <p:cNvPr id="45" name="TextBox 45"/>
            <p:cNvSpPr txBox="1"/>
            <p:nvPr/>
          </p:nvSpPr>
          <p:spPr>
            <a:xfrm>
              <a:off x="527304" y="3204210"/>
              <a:ext cx="57729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babaabab，P = abaa。本趟从 s[1] 开始比，四个字符全部对上，内层循环结束时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5、j = 4 = m。</a:t>
              </a:r>
            </a:p>
          </p:txBody>
        </p:sp>
      </p:grpSp>
      <p:grpSp>
        <p:nvGrpSpPr>
          <p:cNvPr id="50" name="c1-code-3"/>
          <p:cNvGrpSpPr/>
          <p:nvPr/>
        </p:nvGrpSpPr>
        <p:grpSpPr>
          <a:xfrm>
            <a:off x="533400" y="3812858"/>
            <a:ext cx="6059805" cy="1516380"/>
            <a:chOff x="533400" y="3812858"/>
            <a:chExt cx="6059805" cy="1516380"/>
          </a:xfrm>
        </p:grpSpPr>
        <p:sp>
          <p:nvSpPr>
            <p:cNvPr id="47" name="Rectangle 47"/>
            <p:cNvSpPr/>
            <p:nvPr/>
          </p:nvSpPr>
          <p:spPr>
            <a:xfrm>
              <a:off x="533400" y="3812858"/>
              <a:ext cx="6059805" cy="1516380"/>
            </a:xfrm>
            <a:prstGeom prst="roundRect">
              <a:avLst>
                <a:gd name="adj" fmla="val 6281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61797" y="3964781"/>
              <a:ext cx="11972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内层循环与成功判定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61035" y="4226719"/>
              <a:ext cx="4705350" cy="1031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  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j 扫描模式串 p */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 m &amp;&amp; s[i] == p[j]) {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i++; j++;          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对上一个就同时前进一格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== m)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- m;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匹配成功 */</a:t>
              </a:r>
            </a:p>
          </p:txBody>
        </p:sp>
      </p:grpSp>
      <p:grpSp>
        <p:nvGrpSpPr>
          <p:cNvPr id="57" name="c1-callout-4"/>
          <p:cNvGrpSpPr/>
          <p:nvPr/>
        </p:nvGrpSpPr>
        <p:grpSpPr>
          <a:xfrm>
            <a:off x="533400" y="5514975"/>
            <a:ext cx="6059805" cy="756285"/>
            <a:chOff x="533400" y="5514975"/>
            <a:chExt cx="6059805" cy="756285"/>
          </a:xfrm>
        </p:grpSpPr>
        <p:sp>
          <p:nvSpPr>
            <p:cNvPr id="51" name="Rectangle 51"/>
            <p:cNvSpPr/>
            <p:nvPr/>
          </p:nvSpPr>
          <p:spPr>
            <a:xfrm>
              <a:off x="533400" y="5514975"/>
              <a:ext cx="6059805" cy="756285"/>
            </a:xfrm>
            <a:prstGeom prst="roundRect">
              <a:avLst>
                <a:gd name="adj" fmla="val 15113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738188" y="5793105"/>
              <a:ext cx="200026" cy="200025"/>
              <a:chOff x="738188" y="5793105"/>
              <a:chExt cx="200026" cy="200025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38188" y="5793105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7926" y="5837555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812642" y="5948681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1040511" y="5662136"/>
              <a:ext cx="510908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用 j 是否等于 m 判断成功，代码就不必记住本趟的起点，起点由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 − m 现算出来。</a:t>
              </a:r>
            </a:p>
          </p:txBody>
        </p:sp>
      </p:grpSp>
      <p:grpSp>
        <p:nvGrpSpPr>
          <p:cNvPr id="67" name="c2-card-1"/>
          <p:cNvGrpSpPr/>
          <p:nvPr/>
        </p:nvGrpSpPr>
        <p:grpSpPr>
          <a:xfrm>
            <a:off x="6898005" y="1524000"/>
            <a:ext cx="4760595" cy="1894522"/>
            <a:chOff x="6898005" y="1524000"/>
            <a:chExt cx="4760595" cy="1894522"/>
          </a:xfrm>
        </p:grpSpPr>
        <p:sp>
          <p:nvSpPr>
            <p:cNvPr id="58" name="Rectangle 58"/>
            <p:cNvSpPr/>
            <p:nvPr/>
          </p:nvSpPr>
          <p:spPr>
            <a:xfrm>
              <a:off x="6898005" y="1524000"/>
              <a:ext cx="4760595" cy="1894522"/>
            </a:xfrm>
            <a:prstGeom prst="roundRect">
              <a:avLst>
                <a:gd name="adj" fmla="val 703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7101840" y="172783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192048" y="176355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推导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702296" y="1767364"/>
              <a:ext cx="16632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为什么起点是 i − m</a:t>
              </a:r>
            </a:p>
          </p:txBody>
        </p:sp>
        <p:sp>
          <p:nvSpPr>
            <p:cNvPr id="62" name="Ellipse 62"/>
            <p:cNvSpPr/>
            <p:nvPr/>
          </p:nvSpPr>
          <p:spPr>
            <a:xfrm>
              <a:off x="7109460" y="217932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266051" y="2119789"/>
              <a:ext cx="386473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内层循环每对上一个字符，i 和 j 同时加 1，所以</a:t>
              </a:r>
              <a:br/>
              <a:r>
                <a:rPr lang="zh-CN" sz="142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i 和 j 增加的步数始终相等</a:t>
              </a:r>
            </a:p>
          </p:txBody>
        </p:sp>
        <p:sp>
          <p:nvSpPr>
            <p:cNvPr id="64" name="Ellipse 64"/>
            <p:cNvSpPr/>
            <p:nvPr/>
          </p:nvSpPr>
          <p:spPr>
            <a:xfrm>
              <a:off x="7109460" y="2770823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7266051" y="2711291"/>
              <a:ext cx="398105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成功时 j = m，说明 i 也比本趟起点多走了 m 步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7095744" y="3027045"/>
              <a:ext cx="40314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本趟起点 = i − m = 5 − 4 = 1，正是 P 在 S 中的首位置。</a:t>
              </a:r>
            </a:p>
          </p:txBody>
        </p:sp>
      </p:grpSp>
      <p:grpSp>
        <p:nvGrpSpPr>
          <p:cNvPr id="79" name="c2-card-2"/>
          <p:cNvGrpSpPr/>
          <p:nvPr/>
        </p:nvGrpSpPr>
        <p:grpSpPr>
          <a:xfrm>
            <a:off x="6898005" y="3604260"/>
            <a:ext cx="4760595" cy="2667000"/>
            <a:chOff x="6898005" y="3604260"/>
            <a:chExt cx="4760595" cy="2667000"/>
          </a:xfrm>
        </p:grpSpPr>
        <p:sp>
          <p:nvSpPr>
            <p:cNvPr id="68" name="Rectangle 68"/>
            <p:cNvSpPr/>
            <p:nvPr/>
          </p:nvSpPr>
          <p:spPr>
            <a:xfrm>
              <a:off x="6898005" y="3604260"/>
              <a:ext cx="4760595" cy="266700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07530" y="3737610"/>
              <a:ext cx="47625" cy="24003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139940" y="380809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230148" y="384381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740396" y="3847624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三个容易写错的地方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7147560" y="425958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7304151" y="4199096"/>
              <a:ext cx="340757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返回 i 而不是 i − m，位置整体偏了 m 格</a:t>
              </a:r>
            </a:p>
          </p:txBody>
        </p:sp>
        <p:sp>
          <p:nvSpPr>
            <p:cNvPr id="75" name="Ellipse 75"/>
            <p:cNvSpPr/>
            <p:nvPr/>
          </p:nvSpPr>
          <p:spPr>
            <a:xfrm>
              <a:off x="7147560" y="45796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7304151" y="4519136"/>
              <a:ext cx="37067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内层循环条件漏掉 j &lt; m，i 会越过 S 的尾部</a:t>
              </a:r>
            </a:p>
          </p:txBody>
        </p:sp>
        <p:sp>
          <p:nvSpPr>
            <p:cNvPr id="77" name="Ellipse 77"/>
            <p:cNvSpPr/>
            <p:nvPr/>
          </p:nvSpPr>
          <p:spPr>
            <a:xfrm>
              <a:off x="7147560" y="489966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304151" y="4839176"/>
              <a:ext cx="38663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j 是否等于 m 判断成功，不要用 i 是否走完</a:t>
              </a:r>
            </a:p>
          </p:txBody>
        </p:sp>
      </p:grpSp>
      <p:grpSp>
        <p:nvGrpSpPr>
          <p:cNvPr id="8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0" name="TextBox 8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86202" cy="909257"/>
            <a:chOff x="520446" y="342900"/>
            <a:chExt cx="558620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朴素模式匹配算法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8620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本趟失败时，i 退回 i − j + 1，j 归零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5" name="c1-cells-1"/>
          <p:cNvGrpSpPr/>
          <p:nvPr/>
        </p:nvGrpSpPr>
        <p:grpSpPr>
          <a:xfrm>
            <a:off x="527304" y="1571149"/>
            <a:ext cx="4085654" cy="2000727"/>
            <a:chOff x="527304" y="1571149"/>
            <a:chExt cx="4085654" cy="2000727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95738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260158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4169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679258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8360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098358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2551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517458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6742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936558" y="1828800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0933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355658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5124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774758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9315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193858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3506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4316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507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698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6889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080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271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9462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3653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002631" y="157114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 = 4</a:t>
              </a:r>
            </a:p>
          </p:txBody>
        </p:sp>
        <p:sp>
          <p:nvSpPr>
            <p:cNvPr id="33" name="Freeform 33"/>
            <p:cNvSpPr/>
            <p:nvPr/>
          </p:nvSpPr>
          <p:spPr>
            <a:xfrm>
              <a:off x="3108008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27304" y="2720340"/>
              <a:ext cx="4876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本趟 P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1260158" y="2591752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Rectangle 36"/>
            <p:cNvSpPr/>
            <p:nvPr/>
          </p:nvSpPr>
          <p:spPr>
            <a:xfrm>
              <a:off x="1679258" y="259175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1836066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2098358" y="259175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2255166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517458" y="259175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2674266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2936558" y="2591752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3093366" y="272034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27304" y="3293745"/>
              <a:ext cx="6491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下一趟 P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1260158" y="3165158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679258" y="3165158"/>
              <a:ext cx="419100" cy="406718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2098358" y="31651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2255166" y="32937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2517458" y="31651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674266" y="32937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936558" y="31651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093366" y="32937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3355658" y="31651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3512466" y="32937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</p:grpSp>
      <p:grpSp>
        <p:nvGrpSpPr>
          <p:cNvPr id="57" name="c1-text-2"/>
          <p:cNvGrpSpPr/>
          <p:nvPr/>
        </p:nvGrpSpPr>
        <p:grpSpPr>
          <a:xfrm>
            <a:off x="527304" y="3776662"/>
            <a:ext cx="5742432" cy="470916"/>
            <a:chOff x="527304" y="3776662"/>
            <a:chExt cx="5742432" cy="470916"/>
          </a:xfrm>
        </p:grpSpPr>
        <p:sp>
          <p:nvSpPr>
            <p:cNvPr id="56" name="TextBox 56"/>
            <p:cNvSpPr txBox="1"/>
            <p:nvPr/>
          </p:nvSpPr>
          <p:spPr>
            <a:xfrm>
              <a:off x="527304" y="3776662"/>
              <a:ext cx="57424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bababbab，P = abaa。本趟起点是 1，对上 3 个字符后在 s[4] 与 p[3] 处失配，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此时 i = 4、j = 3。</a:t>
              </a:r>
            </a:p>
          </p:txBody>
        </p:sp>
      </p:grpSp>
      <p:grpSp>
        <p:nvGrpSpPr>
          <p:cNvPr id="63" name="c1-callout-3"/>
          <p:cNvGrpSpPr/>
          <p:nvPr/>
        </p:nvGrpSpPr>
        <p:grpSpPr>
          <a:xfrm>
            <a:off x="533400" y="4385310"/>
            <a:ext cx="6059805" cy="1601152"/>
            <a:chOff x="533400" y="4385310"/>
            <a:chExt cx="6059805" cy="1601152"/>
          </a:xfrm>
        </p:grpSpPr>
        <p:sp>
          <p:nvSpPr>
            <p:cNvPr id="58" name="Rectangle 58"/>
            <p:cNvSpPr/>
            <p:nvPr/>
          </p:nvSpPr>
          <p:spPr>
            <a:xfrm>
              <a:off x="533400" y="4385310"/>
              <a:ext cx="6059805" cy="1601152"/>
            </a:xfrm>
            <a:prstGeom prst="roundRect">
              <a:avLst>
                <a:gd name="adj" fmla="val 7139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738188" y="5086352"/>
              <a:ext cx="200023" cy="200023"/>
              <a:chOff x="738188" y="5086352"/>
              <a:chExt cx="200023" cy="200023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738188" y="508635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1538" y="515302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0511" y="4955381"/>
              <a:ext cx="4946777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本趟起点 = i − j = 1，下一趟起点 = i − j + 1 = 2。i 要往回走 2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格，这正是朴素算法慢的地方。</a:t>
              </a:r>
            </a:p>
          </p:txBody>
        </p:sp>
      </p:grpSp>
      <p:grpSp>
        <p:nvGrpSpPr>
          <p:cNvPr id="74" name="c2-bullets-1"/>
          <p:cNvGrpSpPr/>
          <p:nvPr/>
        </p:nvGrpSpPr>
        <p:grpSpPr>
          <a:xfrm>
            <a:off x="6890766" y="1547336"/>
            <a:ext cx="2866535" cy="1275970"/>
            <a:chOff x="6890766" y="1547336"/>
            <a:chExt cx="2866535" cy="1275970"/>
          </a:xfrm>
        </p:grpSpPr>
        <p:sp>
          <p:nvSpPr>
            <p:cNvPr id="64" name="TextBox 64"/>
            <p:cNvSpPr txBox="1"/>
            <p:nvPr/>
          </p:nvSpPr>
          <p:spPr>
            <a:xfrm>
              <a:off x="6890766" y="1547336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每次失配后的三件事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6898005" y="187356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956350" y="1913906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87946" y="1886426"/>
              <a:ext cx="256935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模式串 P 相对目标串右移 1 位</a:t>
              </a:r>
            </a:p>
          </p:txBody>
        </p:sp>
        <p:sp>
          <p:nvSpPr>
            <p:cNvPr id="68" name="Ellipse 68"/>
            <p:cNvSpPr/>
            <p:nvPr/>
          </p:nvSpPr>
          <p:spPr>
            <a:xfrm>
              <a:off x="6898005" y="2203132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956350" y="2243471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187946" y="2215039"/>
              <a:ext cx="243265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目标串指针 i 回退到 i − j + 1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898005" y="2532698"/>
              <a:ext cx="201930" cy="20193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956350" y="2572083"/>
              <a:ext cx="85241" cy="1892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187946" y="2544604"/>
              <a:ext cx="187829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模式串指针 j 回退到 0</a:t>
              </a:r>
            </a:p>
          </p:txBody>
        </p:sp>
      </p:grpSp>
      <p:grpSp>
        <p:nvGrpSpPr>
          <p:cNvPr id="83" name="c2-card-2"/>
          <p:cNvGrpSpPr/>
          <p:nvPr/>
        </p:nvGrpSpPr>
        <p:grpSpPr>
          <a:xfrm>
            <a:off x="6898005" y="2952750"/>
            <a:ext cx="4760595" cy="1574482"/>
            <a:chOff x="6898005" y="2952750"/>
            <a:chExt cx="4760595" cy="1574482"/>
          </a:xfrm>
        </p:grpSpPr>
        <p:sp>
          <p:nvSpPr>
            <p:cNvPr id="75" name="Rectangle 75"/>
            <p:cNvSpPr/>
            <p:nvPr/>
          </p:nvSpPr>
          <p:spPr>
            <a:xfrm>
              <a:off x="6898005" y="2952750"/>
              <a:ext cx="4760595" cy="1574482"/>
            </a:xfrm>
            <a:prstGeom prst="roundRect">
              <a:avLst>
                <a:gd name="adj" fmla="val 8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907530" y="3086100"/>
              <a:ext cx="47625" cy="130778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7139940" y="3156585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230148" y="319230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740396" y="3196114"/>
              <a:ext cx="24995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已经比对过的字符又要重新比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7147560" y="360807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7304151" y="3547586"/>
              <a:ext cx="39278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本趟已经确认 s[1]s[2]s[3] = aba，下一趟又从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s[2] 开始重新比一遍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7133844" y="4135755"/>
              <a:ext cx="37715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这段信息其实完全没用上，KMP 就是从这里入手的。</a:t>
              </a:r>
            </a:p>
          </p:txBody>
        </p:sp>
      </p:grpSp>
      <p:grpSp>
        <p:nvGrpSpPr>
          <p:cNvPr id="89" name="c2-card-3"/>
          <p:cNvGrpSpPr/>
          <p:nvPr/>
        </p:nvGrpSpPr>
        <p:grpSpPr>
          <a:xfrm>
            <a:off x="6898005" y="4712018"/>
            <a:ext cx="4760595" cy="1274445"/>
            <a:chOff x="6898005" y="4712018"/>
            <a:chExt cx="4760595" cy="1274445"/>
          </a:xfrm>
        </p:grpSpPr>
        <p:sp>
          <p:nvSpPr>
            <p:cNvPr id="84" name="Rectangle 84"/>
            <p:cNvSpPr/>
            <p:nvPr/>
          </p:nvSpPr>
          <p:spPr>
            <a:xfrm>
              <a:off x="6898005" y="4712018"/>
              <a:ext cx="4760595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5" name="Rectangle 85"/>
            <p:cNvSpPr/>
            <p:nvPr/>
          </p:nvSpPr>
          <p:spPr>
            <a:xfrm>
              <a:off x="6907530" y="484536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86" name="Rectangle 86"/>
            <p:cNvSpPr/>
            <p:nvPr/>
          </p:nvSpPr>
          <p:spPr>
            <a:xfrm>
              <a:off x="7139940" y="491585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230148" y="495157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写法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7132701" y="5289709"/>
              <a:ext cx="412623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源课件把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 = i - j + 1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写在内层循环之后、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 = 0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写在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内层循环之前，两句合起来就是上面的三条规则。</a:t>
              </a:r>
            </a:p>
          </p:txBody>
        </p:sp>
      </p:grpSp>
      <p:grpSp>
        <p:nvGrpSpPr>
          <p:cNvPr id="9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0" name="TextBox 9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42121" cy="909257"/>
            <a:chOff x="520446" y="342900"/>
            <a:chExt cx="644212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朴素模式匹配算法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4212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朴素算法的完整代码，最坏情况是 O(nm)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453640"/>
            <a:chOff x="533400" y="1524000"/>
            <a:chExt cx="6059805" cy="245364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453640"/>
            </a:xfrm>
            <a:prstGeom prst="roundRect">
              <a:avLst>
                <a:gd name="adj" fmla="val 3882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朴素模式匹配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883533" cy="195643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StringMatching(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*p) {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返回 p 在 s 中的首位置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 = strlen(s), m = strlen(p);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= 0;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 扫描目标串 s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(i &lt;= n - m) {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看 p 是否在 s 的第 i 个位置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j 扫描模式串 p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 m &amp;&amp; s[i] == p[j]) {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i++; j++;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== m)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i - m;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匹配成功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i = i - j + 1;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本趟失败，i 退回起点的下一格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-1;              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p 不在 s 中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55" name="c1-cells-2"/>
          <p:cNvGrpSpPr/>
          <p:nvPr/>
        </p:nvGrpSpPr>
        <p:grpSpPr>
          <a:xfrm>
            <a:off x="528066" y="4142422"/>
            <a:ext cx="3919156" cy="1541145"/>
            <a:chOff x="528066" y="4142422"/>
            <a:chExt cx="3919156" cy="1541145"/>
          </a:xfrm>
        </p:grpSpPr>
        <p:sp>
          <p:nvSpPr>
            <p:cNvPr id="11" name="TextBox 11"/>
            <p:cNvSpPr txBox="1"/>
            <p:nvPr/>
          </p:nvSpPr>
          <p:spPr>
            <a:xfrm>
              <a:off x="528066" y="425481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94422" y="41424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57823" y="4254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513522" y="41424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76923" y="4254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932622" y="41424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96023" y="4254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351722" y="41424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515123" y="4254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770822" y="41424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934223" y="4254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189922" y="41424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53323" y="4254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609022" y="41424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72423" y="4254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028122" y="414242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91523" y="425481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68853" y="4552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87953" y="4552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107053" y="4552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526153" y="4552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45253" y="4552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64353" y="4552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83453" y="4552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02553" y="45524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8066" y="4937760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0 趟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94422" y="482536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257823" y="49377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513522" y="482536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676923" y="49377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932622" y="482536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96023" y="49377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351722" y="4825365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515123" y="493776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28066" y="5439728"/>
              <a:ext cx="4640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 1 趟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094422" y="5327332"/>
              <a:ext cx="41910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Rectangle 47"/>
            <p:cNvSpPr/>
            <p:nvPr/>
          </p:nvSpPr>
          <p:spPr>
            <a:xfrm>
              <a:off x="1513522" y="532733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676923" y="5439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932622" y="532733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2096023" y="5439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351722" y="5327332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515123" y="5439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770822" y="5327332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934223" y="54397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57" name="c1-text-3"/>
          <p:cNvGrpSpPr/>
          <p:nvPr/>
        </p:nvGrpSpPr>
        <p:grpSpPr>
          <a:xfrm>
            <a:off x="528066" y="5865495"/>
            <a:ext cx="5751386" cy="412052"/>
            <a:chOff x="528066" y="5865495"/>
            <a:chExt cx="5751386" cy="412052"/>
          </a:xfrm>
        </p:grpSpPr>
        <p:sp>
          <p:nvSpPr>
            <p:cNvPr id="56" name="TextBox 56"/>
            <p:cNvSpPr txBox="1"/>
            <p:nvPr/>
          </p:nvSpPr>
          <p:spPr>
            <a:xfrm>
              <a:off x="528066" y="5865495"/>
              <a:ext cx="5751386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最坏输入的特点：每趟都要对上 m − 1 个字符，到最后一个才失配。关键运算是字符比较，复杂度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按它的执行次数计算。</a:t>
              </a:r>
            </a:p>
          </p:txBody>
        </p:sp>
      </p:grpSp>
      <p:grpSp>
        <p:nvGrpSpPr>
          <p:cNvPr id="68" name="c2-card-1"/>
          <p:cNvGrpSpPr/>
          <p:nvPr/>
        </p:nvGrpSpPr>
        <p:grpSpPr>
          <a:xfrm>
            <a:off x="6898005" y="1524000"/>
            <a:ext cx="4760595" cy="1448752"/>
            <a:chOff x="6898005" y="1524000"/>
            <a:chExt cx="4760595" cy="1448752"/>
          </a:xfrm>
        </p:grpSpPr>
        <p:sp>
          <p:nvSpPr>
            <p:cNvPr id="58" name="Rectangle 58"/>
            <p:cNvSpPr/>
            <p:nvPr/>
          </p:nvSpPr>
          <p:spPr>
            <a:xfrm>
              <a:off x="6898005" y="1524000"/>
              <a:ext cx="4760595" cy="1448752"/>
            </a:xfrm>
            <a:prstGeom prst="roundRect">
              <a:avLst>
                <a:gd name="adj" fmla="val 92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07530" y="1657350"/>
              <a:ext cx="47625" cy="118205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0" name="Rectangle 60"/>
            <p:cNvSpPr/>
            <p:nvPr/>
          </p:nvSpPr>
          <p:spPr>
            <a:xfrm>
              <a:off x="7117080" y="1704975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12851" y="1737836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58278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最坏情况长什么样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7126605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7282053" y="2061686"/>
              <a:ext cx="27324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aaaaaaaa（8 个 a），P = aaab</a:t>
              </a:r>
            </a:p>
          </p:txBody>
        </p:sp>
        <p:sp>
          <p:nvSpPr>
            <p:cNvPr id="65" name="Ellipse 65"/>
            <p:cNvSpPr/>
            <p:nvPr/>
          </p:nvSpPr>
          <p:spPr>
            <a:xfrm>
              <a:off x="7126605" y="239839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7282053" y="2346484"/>
              <a:ext cx="420017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每趟都要比到最后一个字符才失配，共 5 趟、每趟 4 次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7111746" y="2627948"/>
              <a:ext cx="27698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实测 </a:t>
              </a:r>
              <a:r>
                <a:rPr lang="zh-CN" sz="10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20 次</a:t>
              </a: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 比较，正好是 (n − m + 1) × m。</a:t>
              </a:r>
            </a:p>
          </p:txBody>
        </p:sp>
      </p:grpSp>
      <p:grpSp>
        <p:nvGrpSpPr>
          <p:cNvPr id="85" name="c2-compare-2"/>
          <p:cNvGrpSpPr/>
          <p:nvPr/>
        </p:nvGrpSpPr>
        <p:grpSpPr>
          <a:xfrm>
            <a:off x="6898005" y="3137535"/>
            <a:ext cx="4760595" cy="1654492"/>
            <a:chOff x="6898005" y="3137535"/>
            <a:chExt cx="4760595" cy="1654492"/>
          </a:xfrm>
        </p:grpSpPr>
        <p:sp>
          <p:nvSpPr>
            <p:cNvPr id="69" name="Rectangle 69"/>
            <p:cNvSpPr/>
            <p:nvPr/>
          </p:nvSpPr>
          <p:spPr>
            <a:xfrm>
              <a:off x="6898005" y="3137535"/>
              <a:ext cx="2170748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6907530" y="3270885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110603" y="33389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优点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7126605" y="36928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282053" y="3640931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思路简单，不需预处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理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7126605" y="42205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282053" y="4168616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只用几个整型变量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9487852" y="3137535"/>
              <a:ext cx="2170748" cy="1654492"/>
            </a:xfrm>
            <a:prstGeom prst="roundRect">
              <a:avLst>
                <a:gd name="adj" fmla="val 806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9497378" y="3270885"/>
              <a:ext cx="47625" cy="1387792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9700450" y="3338989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缺点</a:t>
              </a:r>
            </a:p>
          </p:txBody>
        </p:sp>
        <p:sp>
          <p:nvSpPr>
            <p:cNvPr id="79" name="Ellipse 79"/>
            <p:cNvSpPr/>
            <p:nvPr/>
          </p:nvSpPr>
          <p:spPr>
            <a:xfrm>
              <a:off x="9716452" y="369284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871900" y="3640931"/>
              <a:ext cx="14109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要回退，比对结果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被丢弃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9716452" y="422052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9871900" y="4168616"/>
              <a:ext cx="147599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字符集越小越接近最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坏</a:t>
              </a:r>
            </a:p>
          </p:txBody>
        </p:sp>
        <p:sp>
          <p:nvSpPr>
            <p:cNvPr id="83" name="Ellipse 83"/>
            <p:cNvSpPr/>
            <p:nvPr/>
          </p:nvSpPr>
          <p:spPr>
            <a:xfrm>
              <a:off x="9116378" y="3802380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199611" y="3908108"/>
              <a:ext cx="1573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90" name="c2-card-3"/>
          <p:cNvGrpSpPr/>
          <p:nvPr/>
        </p:nvGrpSpPr>
        <p:grpSpPr>
          <a:xfrm>
            <a:off x="6898005" y="4955858"/>
            <a:ext cx="4760595" cy="1280160"/>
            <a:chOff x="6898005" y="4955858"/>
            <a:chExt cx="4760595" cy="1280160"/>
          </a:xfrm>
        </p:grpSpPr>
        <p:sp>
          <p:nvSpPr>
            <p:cNvPr id="86" name="Rectangle 86"/>
            <p:cNvSpPr/>
            <p:nvPr/>
          </p:nvSpPr>
          <p:spPr>
            <a:xfrm>
              <a:off x="6898005" y="4955858"/>
              <a:ext cx="4760595" cy="1280160"/>
            </a:xfrm>
            <a:prstGeom prst="roundRect">
              <a:avLst>
                <a:gd name="adj" fmla="val 1041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Rectangle 87"/>
            <p:cNvSpPr/>
            <p:nvPr/>
          </p:nvSpPr>
          <p:spPr>
            <a:xfrm>
              <a:off x="7078980" y="513683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170699" y="516969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072503" y="5477351"/>
              <a:ext cx="4175709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最坏时间复杂度 </a:t>
              </a:r>
              <a:r>
                <a:rPr lang="en-US" sz="1280" b="1" dirty="0">
                  <a:solidFill>
                    <a:srgbClr val="FFC2BD"/>
                  </a:solidFill>
                  <a:latin typeface="+mn-lt"/>
                  <a:ea typeface="+mn-ea"/>
                  <a:cs typeface="+mn-cs"/>
                </a:rPr>
                <a:t>O(nm)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。前提是按字符比较计数、单次比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较为 O(1)。</a:t>
              </a:r>
            </a:p>
          </p:txBody>
        </p:sp>
      </p:grpSp>
      <p:grpSp>
        <p:nvGrpSpPr>
          <p:cNvPr id="9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1" name="TextBox 9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581087" y="6581299"/>
              <a:ext cx="8246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962759" cy="909257"/>
            <a:chOff x="520446" y="342900"/>
            <a:chExt cx="6962759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朴素模式匹配算法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962759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平均情况：一趟匹配平均只比较不到 2 个字符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161" y="1547336"/>
            <a:ext cx="6972717" cy="278702"/>
            <a:chOff x="526161" y="1547336"/>
            <a:chExt cx="6972717" cy="278702"/>
          </a:xfrm>
        </p:grpSpPr>
        <p:sp>
          <p:nvSpPr>
            <p:cNvPr id="7" name="TextBox 7"/>
            <p:cNvSpPr txBox="1"/>
            <p:nvPr/>
          </p:nvSpPr>
          <p:spPr>
            <a:xfrm>
              <a:off x="526161" y="1547336"/>
              <a:ext cx="69727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东京大学考研题：证明朴素模式匹配算法在平均情况下的字符比较次数不超过 2n。</a:t>
              </a:r>
            </a:p>
          </p:txBody>
        </p:sp>
      </p:grpSp>
      <p:grpSp>
        <p:nvGrpSpPr>
          <p:cNvPr id="19" name="c1-card-1"/>
          <p:cNvGrpSpPr/>
          <p:nvPr/>
        </p:nvGrpSpPr>
        <p:grpSpPr>
          <a:xfrm>
            <a:off x="533400" y="1941195"/>
            <a:ext cx="5626418" cy="1535430"/>
            <a:chOff x="533400" y="1941195"/>
            <a:chExt cx="5626418" cy="1535430"/>
          </a:xfrm>
        </p:grpSpPr>
        <p:sp>
          <p:nvSpPr>
            <p:cNvPr id="9" name="Rectangle 9"/>
            <p:cNvSpPr/>
            <p:nvPr/>
          </p:nvSpPr>
          <p:spPr>
            <a:xfrm>
              <a:off x="533400" y="1941195"/>
              <a:ext cx="5626418" cy="1535430"/>
            </a:xfrm>
            <a:prstGeom prst="roundRect">
              <a:avLst>
                <a:gd name="adj" fmla="val 86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542925" y="2074545"/>
              <a:ext cx="47625" cy="126873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3905" y="213360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55345" y="21678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建模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347597" y="2173605"/>
              <a:ext cx="31409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每个字符等概率地取自一个 k 元字符集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72478" y="256413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8497" y="2507932"/>
              <a:ext cx="41209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两个字符相等的概率是 1/k，不等的概率是 1 − 1/k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72478" y="286702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28497" y="2810827"/>
              <a:ext cx="33539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考察第 i 趟匹配，本趟的比较次数记作 Tᵢ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58190" y="3109436"/>
              <a:ext cx="42934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本趟比到第 j 对字符才停，说明前 j − 1 对都相等而第 j 对不等。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33400" y="3652838"/>
            <a:ext cx="5626418" cy="2634615"/>
            <a:chOff x="533400" y="3652838"/>
            <a:chExt cx="5626418" cy="2634615"/>
          </a:xfrm>
        </p:grpSpPr>
        <p:sp>
          <p:nvSpPr>
            <p:cNvPr id="20" name="Rectangle 20"/>
            <p:cNvSpPr/>
            <p:nvPr/>
          </p:nvSpPr>
          <p:spPr>
            <a:xfrm>
              <a:off x="533400" y="3652838"/>
              <a:ext cx="5626418" cy="405765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4487" y="3777139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本趟比较次数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682494" y="377713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发生的条件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03216" y="37771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103274" y="418290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71662" y="4182904"/>
              <a:ext cx="12402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对字符就不等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01443" y="4182904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1 − 1/k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445960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533400" y="4464368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03274" y="45886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871662" y="4588669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对相等，第 2 对不等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711202" y="4588669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(1/k)(1 − 1/k)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86537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03274" y="49944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71662" y="4994434"/>
              <a:ext cx="17151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2 对相等，第 3 对不等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669739" y="4994434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(1/k)²(1 − 1/k)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533400" y="5271135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533400" y="5275898"/>
              <a:ext cx="5626418" cy="405765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23063" y="5400199"/>
              <a:ext cx="589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871662" y="5400199"/>
              <a:ext cx="18961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j − 1 对相等，第 j 对不等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877054" y="5400199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见右侧通项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5676900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87443" y="5905976"/>
              <a:ext cx="13016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71662" y="5805964"/>
              <a:ext cx="2059686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 m − 1 对相等（第 m 对等或不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877054" y="5905976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见右侧通项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533400" y="3652838"/>
              <a:ext cx="5626418" cy="26346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1766888" y="3652838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354830" y="3652838"/>
              <a:ext cx="9525" cy="26346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formula9"/>
              <p:cNvSpPr txBox="1">
                <a:spLocks noGrp="1"/>
              </p:cNvSpPr>
              <p:nvPr/>
            </p:nvSpPr>
            <p:spPr>
              <a:xfrm>
                <a:off x="6464618" y="1941195"/>
                <a:ext cx="5193982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≤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m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0" name="formula10"/>
              <p:cNvSpPr txBox="1">
                <a:spLocks noGrp="1"/>
              </p:cNvSpPr>
              <p:nvPr/>
            </p:nvSpPr>
            <p:spPr>
              <a:xfrm>
                <a:off x="6464618" y="2733675"/>
                <a:ext cx="5193982" cy="617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Pr</m:t>
                          </m:r>
                        </m:fName>
                        <m:e>
                          <m:d>
                            <m:dPr>
                              <m:begChr m:val="["/>
                              <m:sepChr m:val=""/>
                              <m:endChr m:val="]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sSub>
                                <m:e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T</m:t>
                                  </m:r>
                                </m:e>
                                <m:sub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i</m:t>
                                  </m:r>
                                </m:sub>
                              </m:sSub>
                              <m:r>
                                <m:rPr>
                                  <m:sty m:val="p"/>
                                </m:r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e>
                          </m:d>
                        </m:e>
                      </m:func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p>
                      </m:sSup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den>
                          </m:f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sSup>
                        <m:e>
                          <m:d>
                            <m:dPr>
                              <m:begChr m:val="("/>
                              <m:sepChr m:val=""/>
                              <m:endChr m:val=")"/>
                              <m:grow m:val="on"/>
                              <m:ctrlPr>
                                <a:rPr lang="zh-CN" sz="18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dPr>
                            <m:e>
                              <m:f>
                                <m:fPr>
                                  <m:type m:val="bar"/>
                                  <m:ctrlP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fPr>
                                <m:num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zh-CN" sz="18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sup>
                      </m:sSup>
                    </m:oMath>
                  </m:oMathPara>
                </a14:m>
              </a:p>
            </p:txBody>
          </p:sp>
        </mc:Choice>
      </mc:AlternateContent>
      <p:grpSp>
        <p:nvGrpSpPr>
          <p:cNvPr id="58" name="c2-card-3"/>
          <p:cNvGrpSpPr/>
          <p:nvPr/>
        </p:nvGrpSpPr>
        <p:grpSpPr>
          <a:xfrm>
            <a:off x="6464618" y="3526155"/>
            <a:ext cx="5193982" cy="1697355"/>
            <a:chOff x="6464618" y="3526155"/>
            <a:chExt cx="5193982" cy="1697355"/>
          </a:xfrm>
        </p:grpSpPr>
        <p:sp>
          <p:nvSpPr>
            <p:cNvPr id="51" name="Rectangle 51"/>
            <p:cNvSpPr/>
            <p:nvPr/>
          </p:nvSpPr>
          <p:spPr>
            <a:xfrm>
              <a:off x="6464618" y="3526155"/>
              <a:ext cx="5193982" cy="1697355"/>
            </a:xfrm>
            <a:prstGeom prst="roundRect">
              <a:avLst>
                <a:gd name="adj" fmla="val 785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6474142" y="3659505"/>
              <a:ext cx="47625" cy="1430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5122" y="371856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6786562" y="375285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278814" y="375856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最后一行为什么多一项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688264" y="4092892"/>
              <a:ext cx="453142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比到第 m 对字符时，不论这一对相等还是不等，本趟都已经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结束，所以要把两种情况的概率加起来。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89408" y="4648676"/>
              <a:ext cx="4591558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前面第 m − 1 对相等的概率是 (1/k) 的 m−1 次方，再乘以第 m 对不等或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相等两种情形。</a:t>
              </a:r>
            </a:p>
          </p:txBody>
        </p:sp>
      </p:grpSp>
      <p:grpSp>
        <p:nvGrpSpPr>
          <p:cNvPr id="64" name="c2-callout-4"/>
          <p:cNvGrpSpPr/>
          <p:nvPr/>
        </p:nvGrpSpPr>
        <p:grpSpPr>
          <a:xfrm>
            <a:off x="6464618" y="5398770"/>
            <a:ext cx="5193982" cy="887730"/>
            <a:chOff x="6464618" y="5398770"/>
            <a:chExt cx="5193982" cy="887730"/>
          </a:xfrm>
        </p:grpSpPr>
        <p:sp>
          <p:nvSpPr>
            <p:cNvPr id="59" name="Rectangle 59"/>
            <p:cNvSpPr/>
            <p:nvPr/>
          </p:nvSpPr>
          <p:spPr>
            <a:xfrm>
              <a:off x="6464618" y="5398770"/>
              <a:ext cx="5193982" cy="887730"/>
            </a:xfrm>
            <a:prstGeom prst="roundRect">
              <a:avLst>
                <a:gd name="adj" fmla="val 1287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6669405" y="5742625"/>
              <a:ext cx="200023" cy="200023"/>
              <a:chOff x="6669405" y="5742625"/>
              <a:chExt cx="200023" cy="200023"/>
            </a:xfrm>
          </p:grpSpPr>
          <p:sp>
            <p:nvSpPr>
              <p:cNvPr id="60" name="Freeform 60"/>
              <p:cNvSpPr/>
              <p:nvPr/>
            </p:nvSpPr>
            <p:spPr>
              <a:xfrm>
                <a:off x="6669405" y="574262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6802755" y="58092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6972110" y="5748338"/>
              <a:ext cx="40755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这一列概率之和为 1，脚本已对多组 k 与 m 复核。</a:t>
              </a:r>
            </a:p>
          </p:txBody>
        </p:sp>
      </p:grpSp>
      <p:grpSp>
        <p:nvGrpSpPr>
          <p:cNvPr id="6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5" name="TextBox 6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810663" cy="909257"/>
            <a:chOff x="520446" y="342900"/>
            <a:chExt cx="781066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41458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96156" y="407194"/>
              <a:ext cx="22881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朴素模式匹配算法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81066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错位相减：平均一趟比较不到 2 次，总数不超过 2n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6098134" cy="264033"/>
            <a:chOff x="526542" y="1545907"/>
            <a:chExt cx="6098134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60981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把上一页的概率乘以对应的比较次数求和，就得到本趟的期望比较次数 Tᵢ。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formula35"/>
              <p:cNvSpPr txBox="1">
                <a:spLocks noGrp="1"/>
              </p:cNvSpPr>
              <p:nvPr/>
            </p:nvSpPr>
            <p:spPr>
              <a:xfrm>
                <a:off x="533400" y="1928812"/>
                <a:ext cx="5842635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den>
                          </m:f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formula36"/>
              <p:cNvSpPr txBox="1">
                <a:spLocks noGrp="1"/>
              </p:cNvSpPr>
              <p:nvPr/>
            </p:nvSpPr>
            <p:spPr>
              <a:xfrm>
                <a:off x="533400" y="2659380"/>
                <a:ext cx="5842635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2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3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3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formula37"/>
              <p:cNvSpPr txBox="1">
                <a:spLocks noGrp="1"/>
              </p:cNvSpPr>
              <p:nvPr/>
            </p:nvSpPr>
            <p:spPr>
              <a:xfrm>
                <a:off x="533400" y="3389948"/>
                <a:ext cx="5842635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f>
                            <m:fPr>
                              <m:type m:val="bar"/>
                              <m:ctrl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</m:ctrlPr>
                            </m:fPr>
                            <m:num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den>
                          </m:f>
                        </m:e>
                      </m:d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S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formula38"/>
              <p:cNvSpPr txBox="1">
                <a:spLocks noGrp="1"/>
              </p:cNvSpPr>
              <p:nvPr/>
            </p:nvSpPr>
            <p:spPr>
              <a:xfrm>
                <a:off x="533400" y="4120515"/>
                <a:ext cx="5842635" cy="5657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T</m:t>
                          </m:r>
                        </m:e>
                        <m:sub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+⋯+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num>
                        <m:den>
                          <m:sSup>
                            <m:e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  <m:r>
                                <m:rPr>
                                  <m:sty m:val="p"/>
                                </m:rP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sup>
                          </m:sSup>
                        </m:den>
                      </m:f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f>
                        <m:fPr>
                          <m:type m:val="bar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fPr>
                        <m:num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sSup>
                            <m:e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/</m:t>
                                  </m:r>
                                  <m:r>
                                    <a:rPr lang="zh-CN" sz="16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k</m:t>
                                  </m:r>
                                </m:e>
                              </m:d>
                            </m:e>
                            <m:sup>
                              <m:r>
                                <a:rPr lang="zh-CN" sz="16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m</m:t>
                              </m:r>
                            </m:sup>
                          </m:sSup>
                        </m:num>
                        <m:den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/</m:t>
                          </m:r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den>
                      </m:f>
                    </m:oMath>
                  </m:oMathPara>
                </a14:m>
              </a:p>
            </p:txBody>
          </p:sp>
        </mc:Choice>
      </mc:AlternateContent>
      <p:grpSp>
        <p:nvGrpSpPr>
          <p:cNvPr id="18" name="c1-callout-5"/>
          <p:cNvGrpSpPr/>
          <p:nvPr/>
        </p:nvGrpSpPr>
        <p:grpSpPr>
          <a:xfrm>
            <a:off x="533400" y="4851082"/>
            <a:ext cx="5842635" cy="1237298"/>
            <a:chOff x="533400" y="4851082"/>
            <a:chExt cx="5842635" cy="1237298"/>
          </a:xfrm>
        </p:grpSpPr>
        <p:sp>
          <p:nvSpPr>
            <p:cNvPr id="13" name="Rectangle 13"/>
            <p:cNvSpPr/>
            <p:nvPr/>
          </p:nvSpPr>
          <p:spPr>
            <a:xfrm>
              <a:off x="533400" y="4851082"/>
              <a:ext cx="5842635" cy="1237298"/>
            </a:xfrm>
            <a:prstGeom prst="roundRect">
              <a:avLst>
                <a:gd name="adj" fmla="val 923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738188" y="5369245"/>
              <a:ext cx="200023" cy="200023"/>
              <a:chOff x="738188" y="5369245"/>
              <a:chExt cx="200023" cy="200023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738188" y="536924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871538" y="543591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1041273" y="5380196"/>
              <a:ext cx="47085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两式相减时 m/kᵐ 恰好抵消，剩下一个公比 1/k 的等比数列。</a:t>
              </a:r>
            </a:p>
          </p:txBody>
        </p:sp>
      </p:grpSp>
      <p:grpSp>
        <p:nvGrpSpPr>
          <p:cNvPr id="24" name="c2-card-1"/>
          <p:cNvGrpSpPr/>
          <p:nvPr/>
        </p:nvGrpSpPr>
        <p:grpSpPr>
          <a:xfrm>
            <a:off x="6680835" y="1928812"/>
            <a:ext cx="4977765" cy="1160145"/>
            <a:chOff x="6680835" y="1928812"/>
            <a:chExt cx="4977765" cy="1160145"/>
          </a:xfrm>
        </p:grpSpPr>
        <p:sp>
          <p:nvSpPr>
            <p:cNvPr id="19" name="Rectangle 19"/>
            <p:cNvSpPr/>
            <p:nvPr/>
          </p:nvSpPr>
          <p:spPr>
            <a:xfrm>
              <a:off x="6680835" y="1928812"/>
              <a:ext cx="4977765" cy="1160145"/>
            </a:xfrm>
            <a:prstGeom prst="roundRect">
              <a:avLst>
                <a:gd name="adj" fmla="val 11494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6861810" y="210978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954482" y="214264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428738" y="2149316"/>
              <a:ext cx="130013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为什么能卡到 2n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855333" y="2465546"/>
              <a:ext cx="42070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字符集至少 2 种字符，k ≥ 2 时 Tᵢ &lt; k/(k−1) ≤ 2；一共至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多 n − m + 1 趟，故 T ≤ (n − m + 1)·Tᵢ &lt; </a:t>
              </a:r>
              <a:r>
                <a:rPr lang="en-US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2n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46" name="c2-table-2"/>
          <p:cNvGrpSpPr/>
          <p:nvPr/>
        </p:nvGrpSpPr>
        <p:grpSpPr>
          <a:xfrm>
            <a:off x="6680835" y="3253740"/>
            <a:ext cx="4977765" cy="1525905"/>
            <a:chOff x="6680835" y="3253740"/>
            <a:chExt cx="4977765" cy="1525905"/>
          </a:xfrm>
        </p:grpSpPr>
        <p:sp>
          <p:nvSpPr>
            <p:cNvPr id="25" name="Rectangle 25"/>
            <p:cNvSpPr/>
            <p:nvPr/>
          </p:nvSpPr>
          <p:spPr>
            <a:xfrm>
              <a:off x="6680835" y="3253740"/>
              <a:ext cx="497776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06746" y="3370898"/>
              <a:ext cx="84357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字符集大小 k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32139" y="3370898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典型例子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06746" y="3370898"/>
              <a:ext cx="9111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Tᵢ（m = 10）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82386" y="3752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069961" y="37528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二进制串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075545" y="3644265"/>
              <a:ext cx="157353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0662618" y="375285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1.998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680835" y="401193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6680835" y="4016692"/>
              <a:ext cx="497776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282386" y="413385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69961" y="4133850"/>
              <a:ext cx="5846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DNA 碱基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662618" y="413385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1.333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6680835" y="4392930"/>
              <a:ext cx="497776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241571" y="451485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069961" y="4514850"/>
              <a:ext cx="8587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英文小写字母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0075545" y="4407218"/>
              <a:ext cx="1573530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10662618" y="4514850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1.040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680835" y="3253740"/>
              <a:ext cx="4977765" cy="1525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7970520" y="32537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10061258" y="3253740"/>
              <a:ext cx="9525" cy="1525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2" name="c2-card-3"/>
          <p:cNvGrpSpPr/>
          <p:nvPr/>
        </p:nvGrpSpPr>
        <p:grpSpPr>
          <a:xfrm>
            <a:off x="6680835" y="4944428"/>
            <a:ext cx="4977765" cy="1143952"/>
            <a:chOff x="6680835" y="4944428"/>
            <a:chExt cx="4977765" cy="1143952"/>
          </a:xfrm>
        </p:grpSpPr>
        <p:sp>
          <p:nvSpPr>
            <p:cNvPr id="47" name="Rectangle 47"/>
            <p:cNvSpPr/>
            <p:nvPr/>
          </p:nvSpPr>
          <p:spPr>
            <a:xfrm>
              <a:off x="6680835" y="4944428"/>
              <a:ext cx="4977765" cy="1143952"/>
            </a:xfrm>
            <a:prstGeom prst="roundRect">
              <a:avLst>
                <a:gd name="adj" fmla="val 1165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690360" y="5077778"/>
              <a:ext cx="47625" cy="87725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899910" y="5125402"/>
              <a:ext cx="956310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77329" y="5158264"/>
              <a:ext cx="80147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怎么读这张表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893433" y="5464969"/>
              <a:ext cx="440207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字符集越大，单次比对成功的概率越低，一趟平均比不了几个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字符就失配，越接近线性。前提是各字符独立等概率。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494435" cy="2997517"/>
            <a:chOff x="667512" y="1835468"/>
            <a:chExt cx="6494435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第三部分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494435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KMP 算法：原理与 next 函数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579196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把模式串自身的重复性提前算好，失配时不回退目标串指针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失配后能多移几位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152971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 函数的定义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匹配主过程与代码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动机：失配之后，三件事都还有改进余地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1" name="c1-table-1"/>
          <p:cNvGrpSpPr/>
          <p:nvPr/>
        </p:nvGrpSpPr>
        <p:grpSpPr>
          <a:xfrm>
            <a:off x="533400" y="1524000"/>
            <a:ext cx="6059805" cy="1950720"/>
            <a:chOff x="533400" y="1524000"/>
            <a:chExt cx="6059805" cy="19507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8768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89635" y="166306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朴素算法每次失败后的做法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424362" y="166306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可能的优化途径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40080" y="2150745"/>
              <a:ext cx="19302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模式串 P 只右移 1 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790950" y="2150745"/>
              <a:ext cx="161010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能不能多移几位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49459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499360"/>
              <a:ext cx="6059805" cy="48768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40080" y="2638425"/>
              <a:ext cx="26166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目标串指针 i 回退到 i − j + 1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790950" y="2638425"/>
              <a:ext cx="154990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可不可以不回退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982278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0080" y="3126105"/>
              <a:ext cx="2001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模式串指针 j 回退到 0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790950" y="3126105"/>
              <a:ext cx="1721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可不可以不退到 0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1524000"/>
              <a:ext cx="6059805" cy="195072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3679508" y="1524000"/>
              <a:ext cx="9525" cy="195072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0" name="c1-card-2"/>
          <p:cNvGrpSpPr/>
          <p:nvPr/>
        </p:nvGrpSpPr>
        <p:grpSpPr>
          <a:xfrm>
            <a:off x="533400" y="3665220"/>
            <a:ext cx="6059805" cy="1670685"/>
            <a:chOff x="533400" y="3665220"/>
            <a:chExt cx="6059805" cy="1670685"/>
          </a:xfrm>
        </p:grpSpPr>
        <p:sp>
          <p:nvSpPr>
            <p:cNvPr id="22" name="Rectangle 22"/>
            <p:cNvSpPr/>
            <p:nvPr/>
          </p:nvSpPr>
          <p:spPr>
            <a:xfrm>
              <a:off x="533400" y="3665220"/>
              <a:ext cx="6059805" cy="1670685"/>
            </a:xfrm>
            <a:prstGeom prst="roundRect">
              <a:avLst>
                <a:gd name="adj" fmla="val 798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742950" y="3874770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29208" y="3910489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突破口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85900" y="3910012"/>
              <a:ext cx="32461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失配那一刻，我们其实知道不少信息</a:t>
              </a:r>
            </a:p>
          </p:txBody>
        </p:sp>
        <p:sp>
          <p:nvSpPr>
            <p:cNvPr id="26" name="Ellipse 26"/>
            <p:cNvSpPr/>
            <p:nvPr/>
          </p:nvSpPr>
          <p:spPr>
            <a:xfrm>
              <a:off x="748665" y="433387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06780" y="4271010"/>
              <a:ext cx="52680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 的前 j 个字符已经和 S 对上了，这段信息目前被整个丢掉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748665" y="46691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06780" y="4606290"/>
              <a:ext cx="52730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而这段信息只和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模式串自己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有关，与目标串无关，可以提前算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好</a:t>
              </a:r>
            </a:p>
          </p:txBody>
        </p:sp>
      </p:grpSp>
      <p:grpSp>
        <p:nvGrpSpPr>
          <p:cNvPr id="36" name="c1-callout-3"/>
          <p:cNvGrpSpPr/>
          <p:nvPr/>
        </p:nvGrpSpPr>
        <p:grpSpPr>
          <a:xfrm>
            <a:off x="533400" y="5526405"/>
            <a:ext cx="6059805" cy="821055"/>
            <a:chOff x="533400" y="5526405"/>
            <a:chExt cx="6059805" cy="821055"/>
          </a:xfrm>
        </p:grpSpPr>
        <p:sp>
          <p:nvSpPr>
            <p:cNvPr id="31" name="Rectangle 31"/>
            <p:cNvSpPr/>
            <p:nvPr/>
          </p:nvSpPr>
          <p:spPr>
            <a:xfrm>
              <a:off x="533400" y="5526405"/>
              <a:ext cx="6059805" cy="821055"/>
            </a:xfrm>
            <a:prstGeom prst="roundRect">
              <a:avLst>
                <a:gd name="adj" fmla="val 1392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738188" y="5836922"/>
              <a:ext cx="200023" cy="200023"/>
              <a:chOff x="738188" y="5836922"/>
              <a:chExt cx="200023" cy="200023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738188" y="583692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71538" y="590359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040130" y="5694045"/>
              <a:ext cx="505396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利用模式串中子串的重复性加速匹配，这就是 KMP 的全部思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路。</a:t>
              </a:r>
            </a:p>
          </p:txBody>
        </p:sp>
      </p:grpSp>
      <p:grpSp>
        <p:nvGrpSpPr>
          <p:cNvPr id="39" name="c2-image-1"/>
          <p:cNvGrpSpPr/>
          <p:nvPr/>
        </p:nvGrpSpPr>
        <p:grpSpPr>
          <a:xfrm>
            <a:off x="7991005" y="1524000"/>
            <a:ext cx="2574595" cy="2219802"/>
            <a:chOff x="7991005" y="1524000"/>
            <a:chExt cx="2574595" cy="2219802"/>
          </a:xfrm>
        </p:grpSpPr>
        <p:pic>
          <p:nvPicPr>
            <p:cNvPr id="37" name="Image 37"/>
            <p:cNvPicPr>
              <a:picLocks noChangeAspect="1"/>
            </p:cNvPicPr>
            <p:nvPr/>
          </p:nvPicPr>
          <p:blipFill>
            <a:blip r:embed="rId2"/>
            <a:srcRect l="0" t="6" r="0" b="6"/>
            <a:stretch>
              <a:fillRect/>
            </a:stretch>
          </p:blipFill>
          <p:spPr>
            <a:xfrm>
              <a:off x="8007668" y="1524000"/>
              <a:ext cx="2540318" cy="1905000"/>
            </a:xfrm>
            <a:prstGeom prst="roundRect">
              <a:avLst>
                <a:gd name="adj" fmla="val 7000"/>
              </a:avLst>
            </a:prstGeom>
          </p:spPr>
        </p:pic>
        <p:sp>
          <p:nvSpPr>
            <p:cNvPr id="38" name="TextBox 38"/>
            <p:cNvSpPr txBox="1"/>
            <p:nvPr/>
          </p:nvSpPr>
          <p:spPr>
            <a:xfrm>
              <a:off x="7991005" y="3523774"/>
              <a:ext cx="257459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一次滑过好几格，目标串上的标记不动</a:t>
              </a:r>
            </a:p>
          </p:txBody>
        </p:sp>
      </p:grpSp>
      <p:grpSp>
        <p:nvGrpSpPr>
          <p:cNvPr id="47" name="c2-card-2"/>
          <p:cNvGrpSpPr/>
          <p:nvPr/>
        </p:nvGrpSpPr>
        <p:grpSpPr>
          <a:xfrm>
            <a:off x="6898005" y="3909060"/>
            <a:ext cx="4760595" cy="2438400"/>
            <a:chOff x="6898005" y="3909060"/>
            <a:chExt cx="4760595" cy="2438400"/>
          </a:xfrm>
        </p:grpSpPr>
        <p:sp>
          <p:nvSpPr>
            <p:cNvPr id="40" name="Rectangle 40"/>
            <p:cNvSpPr/>
            <p:nvPr/>
          </p:nvSpPr>
          <p:spPr>
            <a:xfrm>
              <a:off x="6898005" y="3909060"/>
              <a:ext cx="4760595" cy="2438400"/>
            </a:xfrm>
            <a:prstGeom prst="roundRect">
              <a:avLst>
                <a:gd name="adj" fmla="val 546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1" name="Rectangle 41"/>
            <p:cNvSpPr/>
            <p:nvPr/>
          </p:nvSpPr>
          <p:spPr>
            <a:xfrm>
              <a:off x="6907530" y="4042410"/>
              <a:ext cx="47625" cy="21717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7145655" y="411861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35863" y="415432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出处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745730" y="4153852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算法名字里的三个人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138035" y="4514850"/>
              <a:ext cx="4082415" cy="11506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Knuth（斯坦福大学，图灵奖）、Morris（卡内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基梅隆大学）、Pratt（斯坦福大学）1977 年发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表 Fast Pattern Matching in Strings，算法以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三人姓氏首字母命名。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139178" y="5704046"/>
              <a:ext cx="4076954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源课件还提到，管纪文、苏运霖、陆汝钤三位先生翻译的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《计算机程序设计技巧》把这项工作介绍到国内。</a:t>
              </a:r>
            </a:p>
          </p:txBody>
        </p:sp>
      </p:grpSp>
      <p:grpSp>
        <p:nvGrpSpPr>
          <p:cNvPr id="5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8" name="TextBox 4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714172" cy="909257"/>
            <a:chOff x="520446" y="342900"/>
            <a:chExt cx="67141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7141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先看一个例子：失配后 P 可以一次右移 4 位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429479" cy="264033"/>
            <a:chOff x="526542" y="1545907"/>
            <a:chExt cx="5429479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429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目标串与模式串都以 abcx 开头，在模式串的最后一个字符处失配。</a:t>
              </a:r>
            </a:p>
          </p:txBody>
        </p:sp>
      </p:grpSp>
      <p:grpSp>
        <p:nvGrpSpPr>
          <p:cNvPr id="86" name="c1-cells-1"/>
          <p:cNvGrpSpPr/>
          <p:nvPr/>
        </p:nvGrpSpPr>
        <p:grpSpPr>
          <a:xfrm>
            <a:off x="528066" y="1973104"/>
            <a:ext cx="5728906" cy="1782603"/>
            <a:chOff x="528066" y="1973104"/>
            <a:chExt cx="5728906" cy="1782603"/>
          </a:xfrm>
        </p:grpSpPr>
        <p:sp>
          <p:nvSpPr>
            <p:cNvPr id="9" name="TextBox 9"/>
            <p:cNvSpPr txBox="1"/>
            <p:nvPr/>
          </p:nvSpPr>
          <p:spPr>
            <a:xfrm>
              <a:off x="528066" y="2326958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2277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911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6468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8102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0659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2293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4850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6484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9041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0675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3232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4866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7423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9057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161472" y="2214562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3248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5805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439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49996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1630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4187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5821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837872" y="22145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01273" y="23269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4022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8213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2404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6595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0786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4977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9168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3359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7550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174103" y="262461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562846" y="26246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981946" y="2624614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50352" y="1973104"/>
              <a:ext cx="2413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 = 7</a:t>
              </a:r>
            </a:p>
          </p:txBody>
        </p:sp>
        <p:sp>
          <p:nvSpPr>
            <p:cNvPr id="47" name="Freeform 47"/>
            <p:cNvSpPr/>
            <p:nvPr/>
          </p:nvSpPr>
          <p:spPr>
            <a:xfrm>
              <a:off x="4332922" y="211931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528066" y="3009900"/>
              <a:ext cx="4266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本趟 P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227772" y="289750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391173" y="30099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646872" y="289750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810273" y="30099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065972" y="289750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229373" y="30099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485072" y="289750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648473" y="30099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2904172" y="289750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067573" y="30099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323272" y="289750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486673" y="30099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742372" y="289750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3905773" y="30099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161472" y="2897505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324873" y="300990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528066" y="3511868"/>
              <a:ext cx="60540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右移 4 位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227772" y="3399472"/>
              <a:ext cx="41910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Rectangle 67"/>
            <p:cNvSpPr/>
            <p:nvPr/>
          </p:nvSpPr>
          <p:spPr>
            <a:xfrm>
              <a:off x="1646872" y="3399472"/>
              <a:ext cx="41910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2065972" y="3399472"/>
              <a:ext cx="41910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2485072" y="3399472"/>
              <a:ext cx="419100" cy="356235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2904172" y="3399472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3067573" y="3511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3323272" y="3399472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3486673" y="3511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4" name="Rectangle 74"/>
            <p:cNvSpPr/>
            <p:nvPr/>
          </p:nvSpPr>
          <p:spPr>
            <a:xfrm>
              <a:off x="3742372" y="3399472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3905773" y="3511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4161472" y="339947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4324873" y="3511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4580572" y="339947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4743973" y="3511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4999672" y="339947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163073" y="3511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5418772" y="339947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5582173" y="3511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5837872" y="339947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6001273" y="351186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</p:grpSp>
      <p:grpSp>
        <p:nvGrpSpPr>
          <p:cNvPr id="98" name="c1-card-2"/>
          <p:cNvGrpSpPr/>
          <p:nvPr/>
        </p:nvGrpSpPr>
        <p:grpSpPr>
          <a:xfrm>
            <a:off x="533400" y="3920490"/>
            <a:ext cx="11125200" cy="1733550"/>
            <a:chOff x="533400" y="3920490"/>
            <a:chExt cx="11125200" cy="1733550"/>
          </a:xfrm>
        </p:grpSpPr>
        <p:sp>
          <p:nvSpPr>
            <p:cNvPr id="87" name="Rectangle 87"/>
            <p:cNvSpPr/>
            <p:nvPr/>
          </p:nvSpPr>
          <p:spPr>
            <a:xfrm>
              <a:off x="533400" y="3920490"/>
              <a:ext cx="11125200" cy="1733550"/>
            </a:xfrm>
            <a:prstGeom prst="roundRect">
              <a:avLst>
                <a:gd name="adj" fmla="val 7692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714375" y="410146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07047" y="413432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推理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280350" y="4140994"/>
              <a:ext cx="159953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为什么能一步移 4 位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723900" y="451008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879348" y="4457224"/>
              <a:ext cx="486918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失配前已经确认 s[0..6] = abcxabc，其中末尾三个字符是 </a:t>
              </a:r>
              <a:r>
                <a:rPr lang="en-US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abc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723900" y="47948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879348" y="4742974"/>
              <a:ext cx="584804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而 P 的开头三个字符也是 abc，把这两段 abc 对齐，P 就要右移 7 − 3 = 4 位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23900" y="507968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79348" y="5027771"/>
              <a:ext cx="44500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对齐后这 3 个字符不用再比，直接从 s[7] 与 p[3] 接着比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709041" y="5309235"/>
              <a:ext cx="471765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朴素算法要试 i = 1, 2, 3 三个位置才走到这里，而且每次都要把 i 拉回去。</a:t>
              </a:r>
            </a:p>
          </p:txBody>
        </p:sp>
      </p:grpSp>
      <p:grpSp>
        <p:nvGrpSpPr>
          <p:cNvPr id="104" name="c1-callout-3"/>
          <p:cNvGrpSpPr/>
          <p:nvPr/>
        </p:nvGrpSpPr>
        <p:grpSpPr>
          <a:xfrm>
            <a:off x="533400" y="5818822"/>
            <a:ext cx="11125200" cy="543878"/>
            <a:chOff x="533400" y="5818822"/>
            <a:chExt cx="11125200" cy="543878"/>
          </a:xfrm>
        </p:grpSpPr>
        <p:sp>
          <p:nvSpPr>
            <p:cNvPr id="99" name="Rectangle 99"/>
            <p:cNvSpPr/>
            <p:nvPr/>
          </p:nvSpPr>
          <p:spPr>
            <a:xfrm>
              <a:off x="533400" y="5818822"/>
              <a:ext cx="11125200" cy="543878"/>
            </a:xfrm>
            <a:prstGeom prst="roundRect">
              <a:avLst>
                <a:gd name="adj" fmla="val 2101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2" name="Group 102"/>
            <p:cNvGrpSpPr/>
            <p:nvPr/>
          </p:nvGrpSpPr>
          <p:grpSpPr>
            <a:xfrm>
              <a:off x="738188" y="5990275"/>
              <a:ext cx="200023" cy="200023"/>
              <a:chOff x="738188" y="5990275"/>
              <a:chExt cx="200023" cy="200023"/>
            </a:xfrm>
          </p:grpSpPr>
          <p:sp>
            <p:nvSpPr>
              <p:cNvPr id="100" name="Freeform 100"/>
              <p:cNvSpPr/>
              <p:nvPr/>
            </p:nvSpPr>
            <p:spPr>
              <a:xfrm>
                <a:off x="738188" y="599027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1" name="Freeform 101"/>
              <p:cNvSpPr/>
              <p:nvPr/>
            </p:nvSpPr>
            <p:spPr>
              <a:xfrm>
                <a:off x="871538" y="605694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3" name="TextBox 103"/>
            <p:cNvSpPr txBox="1"/>
            <p:nvPr/>
          </p:nvSpPr>
          <p:spPr>
            <a:xfrm>
              <a:off x="1041273" y="6001226"/>
              <a:ext cx="72501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起作用的是模式串前 j 个字符里“开头一段和结尾一段相同”这件事，它有个名字：相等前后缀。</a:t>
              </a:r>
            </a:p>
          </p:txBody>
        </p:sp>
      </p:grpSp>
      <p:grpSp>
        <p:nvGrpSpPr>
          <p:cNvPr id="10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5" name="TextBox 10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04966" cy="909257"/>
            <a:chOff x="520446" y="342900"/>
            <a:chExt cx="620496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0496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相等前后缀要取最长的，否则会漏掉答案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5399" y="1550194"/>
            <a:ext cx="9581705" cy="308039"/>
            <a:chOff x="525399" y="1550194"/>
            <a:chExt cx="9581705" cy="308039"/>
          </a:xfrm>
        </p:grpSpPr>
        <p:sp>
          <p:nvSpPr>
            <p:cNvPr id="7" name="TextBox 7"/>
            <p:cNvSpPr txBox="1"/>
            <p:nvPr/>
          </p:nvSpPr>
          <p:spPr>
            <a:xfrm>
              <a:off x="525399" y="1550194"/>
              <a:ext cx="9581705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S = abcabcabcabcx，P = abcabcabcx，在 j = 9 处失配。p[0..8] = abcabcabc 有两组相等前后缀。</a:t>
              </a:r>
            </a:p>
          </p:txBody>
        </p:sp>
      </p:grpSp>
      <p:grpSp>
        <p:nvGrpSpPr>
          <p:cNvPr id="94" name="c1-cells-1"/>
          <p:cNvGrpSpPr/>
          <p:nvPr/>
        </p:nvGrpSpPr>
        <p:grpSpPr>
          <a:xfrm>
            <a:off x="527304" y="1967865"/>
            <a:ext cx="6452616" cy="1790700"/>
            <a:chOff x="527304" y="1967865"/>
            <a:chExt cx="6452616" cy="1790700"/>
          </a:xfrm>
        </p:grpSpPr>
        <p:sp>
          <p:nvSpPr>
            <p:cNvPr id="9" name="TextBox 9"/>
            <p:cNvSpPr txBox="1"/>
            <p:nvPr/>
          </p:nvSpPr>
          <p:spPr>
            <a:xfrm>
              <a:off x="527304" y="210216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5316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884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9507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1075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3698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5266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7889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9457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2080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3648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6271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7839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0462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030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4653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6221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8844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0412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303520" y="1967865"/>
              <a:ext cx="41910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4603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57226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8794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1417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2985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560820" y="19678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717628" y="21021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7030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1221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5412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9603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3794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7985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176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6367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0558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5474989" y="244221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860771" y="244221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279871" y="244221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98971" y="244221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527304" y="2883218"/>
              <a:ext cx="929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方案一 k = 3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531620" y="27489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Rectangle 51"/>
            <p:cNvSpPr/>
            <p:nvPr/>
          </p:nvSpPr>
          <p:spPr>
            <a:xfrm>
              <a:off x="1950720" y="27489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Rectangle 52"/>
            <p:cNvSpPr/>
            <p:nvPr/>
          </p:nvSpPr>
          <p:spPr>
            <a:xfrm>
              <a:off x="2369820" y="27489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2788920" y="27489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3208020" y="27489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3627120" y="27489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Rectangle 56"/>
            <p:cNvSpPr/>
            <p:nvPr/>
          </p:nvSpPr>
          <p:spPr>
            <a:xfrm>
              <a:off x="4046220" y="27489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4203028" y="28832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4465320" y="27489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4622128" y="28832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4884420" y="274891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D9DFE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5041228" y="28832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5303520" y="2748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5460328" y="28832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5722620" y="2748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5879428" y="28832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6141720" y="2748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6298528" y="28832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6560820" y="274891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17628" y="288321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527304" y="3473768"/>
              <a:ext cx="9293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方案二 k = 6</a:t>
              </a: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1531620" y="33394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Rectangle 72"/>
            <p:cNvSpPr/>
            <p:nvPr/>
          </p:nvSpPr>
          <p:spPr>
            <a:xfrm>
              <a:off x="1950720" y="33394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3" name="Rectangle 73"/>
            <p:cNvSpPr/>
            <p:nvPr/>
          </p:nvSpPr>
          <p:spPr>
            <a:xfrm>
              <a:off x="2369820" y="3339465"/>
              <a:ext cx="419100" cy="4191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2788920" y="333946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29457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6" name="Rectangle 76"/>
            <p:cNvSpPr/>
            <p:nvPr/>
          </p:nvSpPr>
          <p:spPr>
            <a:xfrm>
              <a:off x="3208020" y="333946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3648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8" name="Rectangle 78"/>
            <p:cNvSpPr/>
            <p:nvPr/>
          </p:nvSpPr>
          <p:spPr>
            <a:xfrm>
              <a:off x="3627120" y="333946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79" name="TextBox 79"/>
            <p:cNvSpPr txBox="1"/>
            <p:nvPr/>
          </p:nvSpPr>
          <p:spPr>
            <a:xfrm>
              <a:off x="37839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4046220" y="333946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42030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4465320" y="333946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46221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4884420" y="333946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50412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5303520" y="33394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54603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5722620" y="33394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58794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141720" y="3339465"/>
              <a:ext cx="41910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62985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6560820" y="3339465"/>
              <a:ext cx="41910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6717628" y="347376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111" name="c1-compare-2"/>
          <p:cNvGrpSpPr/>
          <p:nvPr/>
        </p:nvGrpSpPr>
        <p:grpSpPr>
          <a:xfrm>
            <a:off x="533400" y="3949065"/>
            <a:ext cx="11125200" cy="1367790"/>
            <a:chOff x="533400" y="3949065"/>
            <a:chExt cx="11125200" cy="1367790"/>
          </a:xfrm>
        </p:grpSpPr>
        <p:sp>
          <p:nvSpPr>
            <p:cNvPr id="95" name="Rectangle 95"/>
            <p:cNvSpPr/>
            <p:nvPr/>
          </p:nvSpPr>
          <p:spPr>
            <a:xfrm>
              <a:off x="533400" y="3949065"/>
              <a:ext cx="53530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6" name="Rectangle 96"/>
            <p:cNvSpPr/>
            <p:nvPr/>
          </p:nvSpPr>
          <p:spPr>
            <a:xfrm>
              <a:off x="542925" y="4082415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73430" y="4183380"/>
              <a:ext cx="30537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方案一：取较短的相等前后缀 abc</a:t>
              </a:r>
            </a:p>
          </p:txBody>
        </p:sp>
        <p:sp>
          <p:nvSpPr>
            <p:cNvPr id="98" name="Ellipse 98"/>
            <p:cNvSpPr/>
            <p:nvPr/>
          </p:nvSpPr>
          <p:spPr>
            <a:xfrm>
              <a:off x="786765" y="46005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944880" y="4537710"/>
              <a:ext cx="380104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3，P 右移 j − k = 6 位，直接跳到 i = 6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786765" y="49358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944880" y="4872990"/>
              <a:ext cx="33066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真正的答案在 i = 3，被整个跳过去了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6305550" y="3949065"/>
              <a:ext cx="5353050" cy="1367790"/>
            </a:xfrm>
            <a:prstGeom prst="roundRect">
              <a:avLst>
                <a:gd name="adj" fmla="val 97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03" name="Rectangle 103"/>
            <p:cNvSpPr/>
            <p:nvPr/>
          </p:nvSpPr>
          <p:spPr>
            <a:xfrm>
              <a:off x="6315075" y="4082415"/>
              <a:ext cx="47625" cy="11010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545580" y="4183380"/>
              <a:ext cx="34036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方案二：取最长的相等前后缀 abcabc</a:t>
              </a:r>
            </a:p>
          </p:txBody>
        </p:sp>
        <p:sp>
          <p:nvSpPr>
            <p:cNvPr id="105" name="Ellipse 105"/>
            <p:cNvSpPr/>
            <p:nvPr/>
          </p:nvSpPr>
          <p:spPr>
            <a:xfrm>
              <a:off x="6558915" y="460057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6" name="TextBox 106"/>
            <p:cNvSpPr txBox="1"/>
            <p:nvPr/>
          </p:nvSpPr>
          <p:spPr>
            <a:xfrm>
              <a:off x="6717030" y="4537710"/>
              <a:ext cx="339718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6，P 右移 j − k = 3 位，落在 i = 3</a:t>
              </a:r>
            </a:p>
          </p:txBody>
        </p:sp>
        <p:sp>
          <p:nvSpPr>
            <p:cNvPr id="107" name="Ellipse 107"/>
            <p:cNvSpPr/>
            <p:nvPr/>
          </p:nvSpPr>
          <p:spPr>
            <a:xfrm>
              <a:off x="6558915" y="49358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6717030" y="4872990"/>
              <a:ext cx="30167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S[3..12] 正好等于 P，匹配成功</a:t>
              </a:r>
            </a:p>
          </p:txBody>
        </p:sp>
        <p:sp>
          <p:nvSpPr>
            <p:cNvPr id="109" name="Ellipse 109"/>
            <p:cNvSpPr/>
            <p:nvPr/>
          </p:nvSpPr>
          <p:spPr>
            <a:xfrm>
              <a:off x="5934075" y="4471035"/>
              <a:ext cx="323850" cy="323850"/>
            </a:xfrm>
            <a:prstGeom prst="ellipse">
              <a:avLst/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6004415" y="4567238"/>
              <a:ext cx="1831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VS</a:t>
              </a:r>
            </a:p>
          </p:txBody>
        </p:sp>
      </p:grpSp>
      <p:grpSp>
        <p:nvGrpSpPr>
          <p:cNvPr id="117" name="c1-callout-3"/>
          <p:cNvGrpSpPr/>
          <p:nvPr/>
        </p:nvGrpSpPr>
        <p:grpSpPr>
          <a:xfrm>
            <a:off x="533400" y="5507355"/>
            <a:ext cx="11125200" cy="855345"/>
            <a:chOff x="533400" y="5507355"/>
            <a:chExt cx="11125200" cy="855345"/>
          </a:xfrm>
        </p:grpSpPr>
        <p:sp>
          <p:nvSpPr>
            <p:cNvPr id="112" name="Rectangle 112"/>
            <p:cNvSpPr/>
            <p:nvPr/>
          </p:nvSpPr>
          <p:spPr>
            <a:xfrm>
              <a:off x="533400" y="5507355"/>
              <a:ext cx="11125200" cy="855345"/>
            </a:xfrm>
            <a:prstGeom prst="roundRect">
              <a:avLst>
                <a:gd name="adj" fmla="val 1336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15" name="Group 115"/>
            <p:cNvGrpSpPr/>
            <p:nvPr/>
          </p:nvGrpSpPr>
          <p:grpSpPr>
            <a:xfrm>
              <a:off x="738188" y="5835017"/>
              <a:ext cx="200023" cy="200023"/>
              <a:chOff x="738188" y="5835017"/>
              <a:chExt cx="200023" cy="200023"/>
            </a:xfrm>
          </p:grpSpPr>
          <p:sp>
            <p:nvSpPr>
              <p:cNvPr id="113" name="Freeform 113"/>
              <p:cNvSpPr/>
              <p:nvPr/>
            </p:nvSpPr>
            <p:spPr>
              <a:xfrm>
                <a:off x="738188" y="583501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871538" y="590169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16" name="TextBox 116"/>
            <p:cNvSpPr txBox="1"/>
            <p:nvPr/>
          </p:nvSpPr>
          <p:spPr>
            <a:xfrm>
              <a:off x="1040130" y="5830252"/>
              <a:ext cx="919295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取得越大，右移位数 j − k 就越小，移动越保守。只有取最长，才能保证不跳过任何可能的匹配位置。</a:t>
              </a:r>
            </a:p>
          </p:txBody>
        </p:sp>
      </p:grpSp>
      <p:grpSp>
        <p:nvGrpSpPr>
          <p:cNvPr id="12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8" name="TextBox 11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672784" cy="909257"/>
            <a:chOff x="520446" y="342900"/>
            <a:chExt cx="767278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67278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失配那一刻已知的信息，正好够算出 P 的下次位置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621155"/>
            <a:chOff x="533400" y="1524000"/>
            <a:chExt cx="5842635" cy="162115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621155"/>
            </a:xfrm>
            <a:prstGeom prst="roundRect">
              <a:avLst>
                <a:gd name="adj" fmla="val 8226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35445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81050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63359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已知条件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5922" y="1768792"/>
              <a:ext cx="136362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p[j] 处失配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73430" y="2129790"/>
              <a:ext cx="4834890" cy="8648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设目标串 S = s[0]s[1]…s[n−1]，模式串 P = p[0]p[1]…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p[m−1]。当前这一趟已经对上了 j 个字符，在位置 j 处失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配。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formula43"/>
              <p:cNvSpPr txBox="1">
                <a:spLocks noGrp="1"/>
              </p:cNvSpPr>
              <p:nvPr/>
            </p:nvSpPr>
            <p:spPr>
              <a:xfrm>
                <a:off x="533400" y="3335655"/>
                <a:ext cx="584263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≠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16" name="c1-text-3"/>
          <p:cNvGrpSpPr/>
          <p:nvPr/>
        </p:nvGrpSpPr>
        <p:grpSpPr>
          <a:xfrm>
            <a:off x="526923" y="4042886"/>
            <a:ext cx="5556250" cy="500824"/>
            <a:chOff x="526923" y="4042886"/>
            <a:chExt cx="5556250" cy="500824"/>
          </a:xfrm>
        </p:grpSpPr>
        <p:sp>
          <p:nvSpPr>
            <p:cNvPr id="15" name="TextBox 15"/>
            <p:cNvSpPr txBox="1"/>
            <p:nvPr/>
          </p:nvSpPr>
          <p:spPr>
            <a:xfrm>
              <a:off x="526923" y="4042886"/>
              <a:ext cx="5556250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p[0..j−1] 的最长相等前后缀长度为 k，即 p[0..k−1] = p[j−k..j−1]。把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这两段代进上式：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formula44"/>
              <p:cNvSpPr txBox="1">
                <a:spLocks noGrp="1"/>
              </p:cNvSpPr>
              <p:nvPr/>
            </p:nvSpPr>
            <p:spPr>
              <a:xfrm>
                <a:off x="533400" y="4683442"/>
                <a:ext cx="584263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s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i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</a:p>
            </p:txBody>
          </p:sp>
        </mc:Choice>
      </mc:AlternateContent>
      <p:grpSp>
        <p:nvGrpSpPr>
          <p:cNvPr id="23" name="c1-callout-5"/>
          <p:cNvGrpSpPr/>
          <p:nvPr/>
        </p:nvGrpSpPr>
        <p:grpSpPr>
          <a:xfrm>
            <a:off x="533400" y="5369242"/>
            <a:ext cx="5842635" cy="939165"/>
            <a:chOff x="533400" y="5369242"/>
            <a:chExt cx="5842635" cy="939165"/>
          </a:xfrm>
        </p:grpSpPr>
        <p:sp>
          <p:nvSpPr>
            <p:cNvPr id="18" name="Rectangle 18"/>
            <p:cNvSpPr/>
            <p:nvPr/>
          </p:nvSpPr>
          <p:spPr>
            <a:xfrm>
              <a:off x="533400" y="5369242"/>
              <a:ext cx="5842635" cy="939165"/>
            </a:xfrm>
            <a:prstGeom prst="roundRect">
              <a:avLst>
                <a:gd name="adj" fmla="val 12170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38188" y="5738815"/>
              <a:ext cx="200023" cy="200023"/>
              <a:chOff x="738188" y="5738815"/>
              <a:chExt cx="200023" cy="200023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38188" y="5738815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871538" y="580548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040130" y="5595938"/>
              <a:ext cx="483489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目标串末尾这 k 个字符，和模式串开头这 k 个字符本来就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相等，下一趟不必再比它们。</a:t>
              </a:r>
            </a:p>
          </p:txBody>
        </p:sp>
      </p:grpSp>
      <p:grpSp>
        <p:nvGrpSpPr>
          <p:cNvPr id="34" name="c2-card-1"/>
          <p:cNvGrpSpPr/>
          <p:nvPr/>
        </p:nvGrpSpPr>
        <p:grpSpPr>
          <a:xfrm>
            <a:off x="6680835" y="1524000"/>
            <a:ext cx="4977765" cy="2005965"/>
            <a:chOff x="6680835" y="1524000"/>
            <a:chExt cx="4977765" cy="2005965"/>
          </a:xfrm>
        </p:grpSpPr>
        <p:sp>
          <p:nvSpPr>
            <p:cNvPr id="24" name="Rectangle 24"/>
            <p:cNvSpPr/>
            <p:nvPr/>
          </p:nvSpPr>
          <p:spPr>
            <a:xfrm>
              <a:off x="6680835" y="1524000"/>
              <a:ext cx="4977765" cy="2005965"/>
            </a:xfrm>
            <a:prstGeom prst="roundRect">
              <a:avLst>
                <a:gd name="adj" fmla="val 664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6890385" y="173355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981546" y="176926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7491412" y="1768792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下一趟怎么走</a:t>
              </a:r>
            </a:p>
          </p:txBody>
        </p:sp>
        <p:sp>
          <p:nvSpPr>
            <p:cNvPr id="28" name="Ellipse 28"/>
            <p:cNvSpPr/>
            <p:nvPr/>
          </p:nvSpPr>
          <p:spPr>
            <a:xfrm>
              <a:off x="6896100" y="219265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054215" y="2129790"/>
              <a:ext cx="41780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把 P 右移，让 p[0..k−1] 对齐到 s[i−k..i−1]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896100" y="252793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54215" y="2465070"/>
              <a:ext cx="4159091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目标串指针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i 不动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，模式串指针 </a:t>
              </a:r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j 退到 k</a:t>
              </a: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，接着比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s[i] 与 p[k]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896100" y="3148965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54215" y="3086100"/>
              <a:ext cx="29634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这等价于模式串整体右移 j − k 位</a:t>
              </a:r>
            </a:p>
          </p:txBody>
        </p:sp>
      </p:grpSp>
      <p:grpSp>
        <p:nvGrpSpPr>
          <p:cNvPr id="54" name="c2-cells-2"/>
          <p:cNvGrpSpPr/>
          <p:nvPr/>
        </p:nvGrpSpPr>
        <p:grpSpPr>
          <a:xfrm>
            <a:off x="6674739" y="3720465"/>
            <a:ext cx="4983861" cy="419100"/>
            <a:chOff x="6674739" y="3720465"/>
            <a:chExt cx="4983861" cy="419100"/>
          </a:xfrm>
        </p:grpSpPr>
        <p:sp>
          <p:nvSpPr>
            <p:cNvPr id="35" name="TextBox 35"/>
            <p:cNvSpPr txBox="1"/>
            <p:nvPr/>
          </p:nvSpPr>
          <p:spPr>
            <a:xfrm>
              <a:off x="6674739" y="385572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失配时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7271385" y="3720465"/>
              <a:ext cx="48768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322546" y="385572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p[0]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759065" y="3720465"/>
              <a:ext cx="48768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950163" y="3855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8246745" y="3720465"/>
              <a:ext cx="487680" cy="4191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294575" y="3879056"/>
              <a:ext cx="39202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p[k−1]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8734425" y="3720465"/>
              <a:ext cx="4876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8784633" y="3855720"/>
              <a:ext cx="385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p[k]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9221152" y="3720465"/>
              <a:ext cx="487680" cy="4191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412251" y="3855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9708832" y="3720465"/>
              <a:ext cx="4876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753906" y="3873818"/>
              <a:ext cx="3975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p[j−k]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0196512" y="3720465"/>
              <a:ext cx="4876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387611" y="385572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0684192" y="3720465"/>
              <a:ext cx="487680" cy="4191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0728313" y="3873818"/>
              <a:ext cx="39753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p[j−1]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11170920" y="3720465"/>
              <a:ext cx="487680" cy="4191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243283" y="3855720"/>
              <a:ext cx="3429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p[j]</a:t>
              </a:r>
            </a:p>
          </p:txBody>
        </p:sp>
      </p:grpSp>
      <p:grpSp>
        <p:nvGrpSpPr>
          <p:cNvPr id="56" name="c2-text-3"/>
          <p:cNvGrpSpPr/>
          <p:nvPr/>
        </p:nvGrpSpPr>
        <p:grpSpPr>
          <a:xfrm>
            <a:off x="6674358" y="4351496"/>
            <a:ext cx="4727194" cy="500824"/>
            <a:chOff x="6674358" y="4351496"/>
            <a:chExt cx="4727194" cy="500824"/>
          </a:xfrm>
        </p:grpSpPr>
        <p:sp>
          <p:nvSpPr>
            <p:cNvPr id="55" name="TextBox 55"/>
            <p:cNvSpPr txBox="1"/>
            <p:nvPr/>
          </p:nvSpPr>
          <p:spPr>
            <a:xfrm>
              <a:off x="6674358" y="4351496"/>
              <a:ext cx="4727194" cy="50082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80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绿色是前缀，蓝色是与它相等的后缀，红色是失配的位置。下一趟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就是把绿色那一段搬到蓝色那一段的位置上。</a:t>
              </a:r>
            </a:p>
          </p:txBody>
        </p:sp>
      </p:grpSp>
      <p:grpSp>
        <p:nvGrpSpPr>
          <p:cNvPr id="62" name="c2-card-4"/>
          <p:cNvGrpSpPr/>
          <p:nvPr/>
        </p:nvGrpSpPr>
        <p:grpSpPr>
          <a:xfrm>
            <a:off x="6680835" y="4992052"/>
            <a:ext cx="4977765" cy="1316355"/>
            <a:chOff x="6680835" y="4992052"/>
            <a:chExt cx="4977765" cy="1316355"/>
          </a:xfrm>
        </p:grpSpPr>
        <p:sp>
          <p:nvSpPr>
            <p:cNvPr id="57" name="Rectangle 57"/>
            <p:cNvSpPr/>
            <p:nvPr/>
          </p:nvSpPr>
          <p:spPr>
            <a:xfrm>
              <a:off x="6680835" y="4992052"/>
              <a:ext cx="4977765" cy="1316355"/>
            </a:xfrm>
            <a:prstGeom prst="roundRect">
              <a:avLst>
                <a:gd name="adj" fmla="val 1013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90360" y="5125402"/>
              <a:ext cx="47625" cy="104965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59" name="Rectangle 59"/>
            <p:cNvSpPr/>
            <p:nvPr/>
          </p:nvSpPr>
          <p:spPr>
            <a:xfrm>
              <a:off x="6928485" y="5201602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19646" y="5237321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注意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20865" y="5578792"/>
              <a:ext cx="4177665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只由模式串决定，和目标串没有关系，所以可以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在匹配开始之前一次算好。</a:t>
              </a:r>
            </a:p>
          </p:txBody>
        </p:sp>
      </p:grpSp>
      <p:grpSp>
        <p:nvGrpSpPr>
          <p:cNvPr id="6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3" name="TextBox 6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859678" cy="909257"/>
            <a:chOff x="520446" y="342900"/>
            <a:chExt cx="885967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85967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next(j)：在 p[j] 处失配后，下次从 P 的哪个字符开始比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626418" cy="1831658"/>
            <a:chOff x="533400" y="1524000"/>
            <a:chExt cx="5626418" cy="1831658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2853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 函数（失败函数、前缀函数）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89146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next(j) 是 p[0..j−1] 的最长相等前后缀的长度，也就是在 p[j]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处失配后，P 下次用来和 s[i] 比对的那个下标。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72478" y="2706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8497" y="2649855"/>
              <a:ext cx="33585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约定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next(0) = −1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，表示在 p₀ 处就失配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72478" y="300894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28497" y="2952750"/>
              <a:ext cx="32122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找不到非空的相等前后缀时 next(j) = 0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formula49"/>
              <p:cNvSpPr txBox="1">
                <a:spLocks noGrp="1"/>
              </p:cNvSpPr>
              <p:nvPr/>
            </p:nvSpPr>
            <p:spPr>
              <a:xfrm>
                <a:off x="533400" y="3530918"/>
                <a:ext cx="5626418" cy="80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next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2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2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func>
                                <m:funcPr/>
                                <m:fName>
                                  <m:r>
                                    <m:rPr>
                                      <m:sty m:val="p"/>
                                    </m:rPr>
                                    <a:rPr lang="zh-CN" sz="120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max</m:t>
                                  </m:r>
                                </m:fName>
                                <m:e>
                                  <m:d>
                                    <m:dPr>
                                      <m:begChr m:val="{"/>
                                      <m:sepChr m:val=""/>
                                      <m:endChr m:val="}"/>
                                      <m:grow m:val="on"/>
                                      <m:ctrl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∣</m:t>
                                      </m:r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0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⋯</m:t>
                                      </m:r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=</m:t>
                                      </m:r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k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⋯</m:t>
                                      </m:r>
                                      <m:sSub>
                                        <m:e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p</m:t>
                                          </m:r>
                                        </m:e>
                                        <m:sub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j</m:t>
                                          </m:r>
                                          <m:r>
                                            <m:rPr>
                                              <m:sty m:val="p"/>
                                            </m:rP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−</m:t>
                                          </m:r>
                                          <m:r>
                                            <a:rPr lang="zh-CN" sz="1200" dirty="0">
                                              <a:solidFill>
                                                <a:srgbClr val="1F2937"/>
                                              </a:solidFill>
                                              <a:latin typeface="Cambria Math"/>
                                              <a:ea typeface="Cambria Math"/>
                                              <a:cs typeface="Cambria Math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,</m:t>
                                      </m:r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 xml:space="preserve"> </m:t>
                                      </m:r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0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&lt;</m:t>
                                      </m:r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k</m:t>
                                      </m:r>
                                      <m:r>
                                        <m:rPr>
                                          <m:sty m:val="p"/>
                                        </m:rP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&lt;</m:t>
                                      </m:r>
                                      <m:r>
                                        <a:rPr lang="zh-CN" sz="1200" dirty="0">
                                          <a:solidFill>
                                            <a:srgbClr val="1F2937"/>
                                          </a:solidFill>
                                          <a:latin typeface="Cambria Math"/>
                                          <a:ea typeface="Cambria Math"/>
                                          <a:cs typeface="Cambria Math"/>
                                        </a:rPr>
                                        <m:t>j</m:t>
                                      </m:r>
                                    </m:e>
                                  </m:d>
                                </m:e>
                              </m:func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存在这样的 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k</m:t>
                              </m:r>
                            </m:e>
                            <m:e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m:rPr>
                                  <m:nor m:val="on"/>
                                </m:rPr>
                                <a:rPr lang="zh-CN" sz="120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其他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25" name="c1-callout-3"/>
          <p:cNvGrpSpPr/>
          <p:nvPr/>
        </p:nvGrpSpPr>
        <p:grpSpPr>
          <a:xfrm>
            <a:off x="533400" y="4506278"/>
            <a:ext cx="5626418" cy="1545908"/>
            <a:chOff x="533400" y="4506278"/>
            <a:chExt cx="5626418" cy="1545908"/>
          </a:xfrm>
        </p:grpSpPr>
        <p:sp>
          <p:nvSpPr>
            <p:cNvPr id="19" name="Rectangle 19"/>
            <p:cNvSpPr/>
            <p:nvPr/>
          </p:nvSpPr>
          <p:spPr>
            <a:xfrm>
              <a:off x="533400" y="4506278"/>
              <a:ext cx="5626418" cy="1545908"/>
            </a:xfrm>
            <a:prstGeom prst="roundRect">
              <a:avLst>
                <a:gd name="adj" fmla="val 739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26129" y="5175051"/>
              <a:ext cx="224134" cy="192560"/>
              <a:chOff x="726129" y="5175051"/>
              <a:chExt cx="224134" cy="19256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838200" y="524541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26129" y="517505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38200" y="532320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892" y="5060633"/>
              <a:ext cx="4642866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相等前后缀必须是真前缀、真后缀，即 0 &lt; k &lt; j。否则取整个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p[0..j−1] 自己，任何串的答案都成了 j。</a:t>
              </a:r>
            </a:p>
          </p:txBody>
        </p:sp>
      </p:grpSp>
      <p:grpSp>
        <p:nvGrpSpPr>
          <p:cNvPr id="35" name="c2-card-1"/>
          <p:cNvGrpSpPr/>
          <p:nvPr/>
        </p:nvGrpSpPr>
        <p:grpSpPr>
          <a:xfrm>
            <a:off x="6464618" y="1524000"/>
            <a:ext cx="5193982" cy="1792605"/>
            <a:chOff x="6464618" y="1524000"/>
            <a:chExt cx="5193982" cy="1792605"/>
          </a:xfrm>
        </p:grpSpPr>
        <p:sp>
          <p:nvSpPr>
            <p:cNvPr id="26" name="Rectangle 26"/>
            <p:cNvSpPr/>
            <p:nvPr/>
          </p:nvSpPr>
          <p:spPr>
            <a:xfrm>
              <a:off x="6464618" y="1524000"/>
              <a:ext cx="5193982" cy="1792605"/>
            </a:xfrm>
            <a:prstGeom prst="roundRect">
              <a:avLst>
                <a:gd name="adj" fmla="val 743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6657022" y="1716405"/>
              <a:ext cx="12763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6724460" y="1750695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为什么可以预处理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040814" y="1756410"/>
              <a:ext cx="17629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 只和模式串有关</a:t>
              </a:r>
            </a:p>
          </p:txBody>
        </p:sp>
        <p:sp>
          <p:nvSpPr>
            <p:cNvPr id="30" name="Ellipse 30"/>
            <p:cNvSpPr/>
            <p:nvPr/>
          </p:nvSpPr>
          <p:spPr>
            <a:xfrm>
              <a:off x="6665595" y="214693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21614" y="2090738"/>
              <a:ext cx="3908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定义里只出现 P 的字符，目标串 S 一次都没出现</a:t>
              </a:r>
            </a:p>
          </p:txBody>
        </p:sp>
        <p:sp>
          <p:nvSpPr>
            <p:cNvPr id="32" name="Ellipse 32"/>
            <p:cNvSpPr/>
            <p:nvPr/>
          </p:nvSpPr>
          <p:spPr>
            <a:xfrm>
              <a:off x="6665595" y="2448877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821614" y="2392680"/>
              <a:ext cx="436854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匹配开始前把 next[0..m−1] 全算出来存进数组，匹配时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失配就直接 </a:t>
              </a:r>
              <a:r>
                <a:rPr lang="en-US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j ← next[j]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51308" y="2948464"/>
              <a:ext cx="332576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预处理的代价是 O(m)，本讲第四部分给出证明。</a:t>
              </a:r>
            </a:p>
          </p:txBody>
        </p:sp>
      </p:grpSp>
      <p:grpSp>
        <p:nvGrpSpPr>
          <p:cNvPr id="43" name="c2-bullets-2"/>
          <p:cNvGrpSpPr/>
          <p:nvPr/>
        </p:nvGrpSpPr>
        <p:grpSpPr>
          <a:xfrm>
            <a:off x="6457760" y="3514725"/>
            <a:ext cx="4328464" cy="1206056"/>
            <a:chOff x="6457760" y="3514725"/>
            <a:chExt cx="4328464" cy="1206056"/>
          </a:xfrm>
        </p:grpSpPr>
        <p:sp>
          <p:nvSpPr>
            <p:cNvPr id="36" name="TextBox 36"/>
            <p:cNvSpPr txBox="1"/>
            <p:nvPr/>
          </p:nvSpPr>
          <p:spPr>
            <a:xfrm>
              <a:off x="6457760" y="3514725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读定义时要抓住的三点</a:t>
              </a:r>
            </a:p>
          </p:txBody>
        </p:sp>
        <p:sp>
          <p:nvSpPr>
            <p:cNvPr id="37" name="Freeform 37"/>
            <p:cNvSpPr/>
            <p:nvPr/>
          </p:nvSpPr>
          <p:spPr>
            <a:xfrm>
              <a:off x="6464618" y="3862388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6197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701599" y="3833812"/>
              <a:ext cx="34848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数的是 p[j] 前面那一段，不包括 p[j] 自己</a:t>
              </a:r>
            </a:p>
          </p:txBody>
        </p:sp>
        <p:sp>
          <p:nvSpPr>
            <p:cNvPr id="39" name="Freeform 39"/>
            <p:cNvSpPr/>
            <p:nvPr/>
          </p:nvSpPr>
          <p:spPr>
            <a:xfrm>
              <a:off x="6464618" y="4173855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701599" y="4145280"/>
              <a:ext cx="3466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取最长，是为了右移位数最少，不跳过答案</a:t>
              </a:r>
            </a:p>
          </p:txBody>
        </p:sp>
        <p:sp>
          <p:nvSpPr>
            <p:cNvPr id="41" name="Freeform 41"/>
            <p:cNvSpPr/>
            <p:nvPr/>
          </p:nvSpPr>
          <p:spPr>
            <a:xfrm>
              <a:off x="6464618" y="4485322"/>
              <a:ext cx="129540" cy="104775"/>
            </a:xfrm>
            <a:custGeom>
              <a:avLst/>
              <a:gdLst/>
              <a:ahLst/>
              <a:cxnLst/>
              <a:rect l="l" t="t" r="r" b="b"/>
              <a:pathLst>
                <a:path w="129540" h="104775">
                  <a:moveTo>
                    <a:pt x="0" y="55245"/>
                  </a:moveTo>
                  <a:lnTo>
                    <a:pt x="49530" y="104775"/>
                  </a:lnTo>
                  <a:lnTo>
                    <a:pt x="129540" y="0"/>
                  </a:lnTo>
                </a:path>
              </a:pathLst>
            </a:custGeom>
            <a:noFill/>
            <a:ln w="24765" cap="rnd">
              <a:solidFill>
                <a:srgbClr val="14A38B"/>
              </a:solidFill>
              <a:round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01599" y="4456748"/>
              <a:ext cx="40846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next(0) = −1 不是长度，是一个让代码统一的约定</a:t>
              </a:r>
            </a:p>
          </p:txBody>
        </p:sp>
      </p:grpSp>
      <p:grpSp>
        <p:nvGrpSpPr>
          <p:cNvPr id="49" name="c2-card-3"/>
          <p:cNvGrpSpPr/>
          <p:nvPr/>
        </p:nvGrpSpPr>
        <p:grpSpPr>
          <a:xfrm>
            <a:off x="6464618" y="4842510"/>
            <a:ext cx="5193982" cy="1209675"/>
            <a:chOff x="6464618" y="4842510"/>
            <a:chExt cx="5193982" cy="1209675"/>
          </a:xfrm>
        </p:grpSpPr>
        <p:sp>
          <p:nvSpPr>
            <p:cNvPr id="44" name="Rectangle 44"/>
            <p:cNvSpPr/>
            <p:nvPr/>
          </p:nvSpPr>
          <p:spPr>
            <a:xfrm>
              <a:off x="6464618" y="4842510"/>
              <a:ext cx="5193982" cy="1209675"/>
            </a:xfrm>
            <a:prstGeom prst="roundRect">
              <a:avLst>
                <a:gd name="adj" fmla="val 1102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5" name="Rectangle 45"/>
            <p:cNvSpPr/>
            <p:nvPr/>
          </p:nvSpPr>
          <p:spPr>
            <a:xfrm>
              <a:off x="6474142" y="4975860"/>
              <a:ext cx="47625" cy="94297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6695122" y="503491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6786562" y="506920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记号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6688264" y="5391150"/>
              <a:ext cx="439426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部分教材用失败函数 f(j)，它数的是 p[0..j] 而不是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p[0..j−1]，并且要减 1。两者的换算写在本讲最后一页。</a:t>
              </a:r>
            </a:p>
          </p:txBody>
        </p:sp>
      </p:grpSp>
      <p:grpSp>
        <p:nvGrpSpPr>
          <p:cNvPr id="5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0" name="TextBox 5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18404" cy="909257"/>
            <a:chOff x="520446" y="342900"/>
            <a:chExt cx="551840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1840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三个例子：把最长相等前后缀数出来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cells-1"/>
          <p:cNvGrpSpPr/>
          <p:nvPr/>
        </p:nvGrpSpPr>
        <p:grpSpPr>
          <a:xfrm>
            <a:off x="527304" y="1571149"/>
            <a:ext cx="5038154" cy="895825"/>
            <a:chOff x="527304" y="1571149"/>
            <a:chExt cx="5038154" cy="895825"/>
          </a:xfrm>
        </p:grpSpPr>
        <p:sp>
          <p:nvSpPr>
            <p:cNvPr id="7" name="TextBox 7"/>
            <p:cNvSpPr txBox="1"/>
            <p:nvPr/>
          </p:nvSpPr>
          <p:spPr>
            <a:xfrm>
              <a:off x="527304" y="1957388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55358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121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74458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312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93558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503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212658" y="1828800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694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631758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885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50858" y="1828800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2076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69958" y="182880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6267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89058" y="182880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458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308158" y="182880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649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727258" y="1828800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8840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146358" y="1828800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303166" y="195738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268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459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650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841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8032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223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414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605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796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98727" y="2290762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84508" y="2290762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74336" y="1571149"/>
              <a:ext cx="3631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= 10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317808" y="173355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80" name="c1-cells-2"/>
          <p:cNvGrpSpPr/>
          <p:nvPr/>
        </p:nvGrpSpPr>
        <p:grpSpPr>
          <a:xfrm>
            <a:off x="527304" y="2657951"/>
            <a:ext cx="5038154" cy="895826"/>
            <a:chOff x="527304" y="2657951"/>
            <a:chExt cx="5038154" cy="895826"/>
          </a:xfrm>
        </p:grpSpPr>
        <p:sp>
          <p:nvSpPr>
            <p:cNvPr id="44" name="TextBox 44"/>
            <p:cNvSpPr txBox="1"/>
            <p:nvPr/>
          </p:nvSpPr>
          <p:spPr>
            <a:xfrm>
              <a:off x="527304" y="3044190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955358" y="291560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1121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1374458" y="2915602"/>
              <a:ext cx="419100" cy="4067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5312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793558" y="2915602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9503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2212658" y="2915602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23694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631758" y="2915602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7885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3050858" y="2915602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32076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469958" y="2915602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6267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889058" y="2915602"/>
              <a:ext cx="419100" cy="4067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0458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4308158" y="291560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4649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727258" y="2915602"/>
              <a:ext cx="419100" cy="4067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8840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5146358" y="2915602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5303166" y="30441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268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5459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9650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23841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28032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32223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36414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40605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796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898727" y="3377565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5284508" y="3377565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5174336" y="2657951"/>
              <a:ext cx="3631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= 10</a:t>
              </a:r>
            </a:p>
          </p:txBody>
        </p:sp>
        <p:sp>
          <p:nvSpPr>
            <p:cNvPr id="79" name="Freeform 79"/>
            <p:cNvSpPr/>
            <p:nvPr/>
          </p:nvSpPr>
          <p:spPr>
            <a:xfrm>
              <a:off x="5317808" y="2820352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17" name="c1-cells-3"/>
          <p:cNvGrpSpPr/>
          <p:nvPr/>
        </p:nvGrpSpPr>
        <p:grpSpPr>
          <a:xfrm>
            <a:off x="527304" y="3745706"/>
            <a:ext cx="5038154" cy="895826"/>
            <a:chOff x="527304" y="3745706"/>
            <a:chExt cx="5038154" cy="895826"/>
          </a:xfrm>
        </p:grpSpPr>
        <p:sp>
          <p:nvSpPr>
            <p:cNvPr id="81" name="TextBox 81"/>
            <p:cNvSpPr txBox="1"/>
            <p:nvPr/>
          </p:nvSpPr>
          <p:spPr>
            <a:xfrm>
              <a:off x="527304" y="4131945"/>
              <a:ext cx="317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例 3</a:t>
              </a:r>
            </a:p>
          </p:txBody>
        </p:sp>
        <p:sp>
          <p:nvSpPr>
            <p:cNvPr id="82" name="Rectangle 82"/>
            <p:cNvSpPr/>
            <p:nvPr/>
          </p:nvSpPr>
          <p:spPr>
            <a:xfrm>
              <a:off x="9553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11121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4" name="Rectangle 84"/>
            <p:cNvSpPr/>
            <p:nvPr/>
          </p:nvSpPr>
          <p:spPr>
            <a:xfrm>
              <a:off x="13744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15312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17935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9503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22126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23694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26317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27885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30508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32076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f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34699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36267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g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38890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40458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43081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44649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4727258" y="4003358"/>
              <a:ext cx="419100" cy="4067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48840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5146358" y="4003358"/>
              <a:ext cx="419100" cy="4067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5303166" y="4131945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1268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5459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9650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23841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28032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32223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36414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40605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44796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4898727" y="446532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5284508" y="4465320"/>
              <a:ext cx="142799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5174336" y="3745706"/>
              <a:ext cx="36314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= 10</a:t>
              </a:r>
            </a:p>
          </p:txBody>
        </p:sp>
        <p:sp>
          <p:nvSpPr>
            <p:cNvPr id="116" name="Freeform 116"/>
            <p:cNvSpPr/>
            <p:nvPr/>
          </p:nvSpPr>
          <p:spPr>
            <a:xfrm>
              <a:off x="5317808" y="3908108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19" name="c1-text-4"/>
          <p:cNvGrpSpPr/>
          <p:nvPr/>
        </p:nvGrpSpPr>
        <p:grpSpPr>
          <a:xfrm>
            <a:off x="527304" y="4805362"/>
            <a:ext cx="6001512" cy="470916"/>
            <a:chOff x="527304" y="4805362"/>
            <a:chExt cx="6001512" cy="470916"/>
          </a:xfrm>
        </p:grpSpPr>
        <p:sp>
          <p:nvSpPr>
            <p:cNvPr id="118" name="TextBox 118"/>
            <p:cNvSpPr txBox="1"/>
            <p:nvPr/>
          </p:nvSpPr>
          <p:spPr>
            <a:xfrm>
              <a:off x="527304" y="4805362"/>
              <a:ext cx="600151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2 中绿色是只属于前缀的部分，蓝色是只属于后缀的部分，中间深色是两者重叠的 6 个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字符。</a:t>
              </a:r>
            </a:p>
          </p:txBody>
        </p:sp>
      </p:grpSp>
      <p:grpSp>
        <p:nvGrpSpPr>
          <p:cNvPr id="126" name="c1-callout-5"/>
          <p:cNvGrpSpPr/>
          <p:nvPr/>
        </p:nvGrpSpPr>
        <p:grpSpPr>
          <a:xfrm>
            <a:off x="533400" y="5414010"/>
            <a:ext cx="6276022" cy="923925"/>
            <a:chOff x="533400" y="5414010"/>
            <a:chExt cx="6276022" cy="923925"/>
          </a:xfrm>
        </p:grpSpPr>
        <p:sp>
          <p:nvSpPr>
            <p:cNvPr id="120" name="Rectangle 120"/>
            <p:cNvSpPr/>
            <p:nvPr/>
          </p:nvSpPr>
          <p:spPr>
            <a:xfrm>
              <a:off x="533400" y="5414010"/>
              <a:ext cx="6276022" cy="923925"/>
            </a:xfrm>
            <a:prstGeom prst="roundRect">
              <a:avLst>
                <a:gd name="adj" fmla="val 12371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24" name="Group 124"/>
            <p:cNvGrpSpPr/>
            <p:nvPr/>
          </p:nvGrpSpPr>
          <p:grpSpPr>
            <a:xfrm>
              <a:off x="738188" y="5776913"/>
              <a:ext cx="200026" cy="200025"/>
              <a:chOff x="738188" y="5776913"/>
              <a:chExt cx="200026" cy="200025"/>
            </a:xfrm>
          </p:grpSpPr>
          <p:sp>
            <p:nvSpPr>
              <p:cNvPr id="121" name="Freeform 121"/>
              <p:cNvSpPr/>
              <p:nvPr/>
            </p:nvSpPr>
            <p:spPr>
              <a:xfrm>
                <a:off x="738188" y="577691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2" name="Freeform 122"/>
              <p:cNvSpPr/>
              <p:nvPr/>
            </p:nvSpPr>
            <p:spPr>
              <a:xfrm>
                <a:off x="777926" y="582136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23" name="Freeform 123"/>
              <p:cNvSpPr/>
              <p:nvPr/>
            </p:nvSpPr>
            <p:spPr>
              <a:xfrm>
                <a:off x="812642" y="593248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25" name="TextBox 125"/>
            <p:cNvSpPr txBox="1"/>
            <p:nvPr/>
          </p:nvSpPr>
          <p:spPr>
            <a:xfrm>
              <a:off x="1040511" y="5645944"/>
              <a:ext cx="5244338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读法提醒：next(j) 数的是 p[j] 之前那一段“开头与结尾最多有几</a:t>
              </a:r>
              <a:br/>
              <a:r>
                <a:rPr lang="zh-CN" sz="142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个字符相同”，与 p[j] 本身是什么无关。</a:t>
              </a:r>
            </a:p>
          </p:txBody>
        </p:sp>
      </p:grpSp>
      <p:grpSp>
        <p:nvGrpSpPr>
          <p:cNvPr id="152" name="c2-table-1"/>
          <p:cNvGrpSpPr/>
          <p:nvPr/>
        </p:nvGrpSpPr>
        <p:grpSpPr>
          <a:xfrm>
            <a:off x="7114222" y="1524000"/>
            <a:ext cx="4544378" cy="1720215"/>
            <a:chOff x="7114222" y="1524000"/>
            <a:chExt cx="4544378" cy="1720215"/>
          </a:xfrm>
        </p:grpSpPr>
        <p:sp>
          <p:nvSpPr>
            <p:cNvPr id="127" name="Rectangle 127"/>
            <p:cNvSpPr/>
            <p:nvPr/>
          </p:nvSpPr>
          <p:spPr>
            <a:xfrm>
              <a:off x="7114222" y="1524000"/>
              <a:ext cx="4544378" cy="43053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8" name="TextBox 128"/>
            <p:cNvSpPr txBox="1"/>
            <p:nvPr/>
          </p:nvSpPr>
          <p:spPr>
            <a:xfrm>
              <a:off x="7345489" y="1655445"/>
              <a:ext cx="1737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29" name="TextBox 129"/>
            <p:cNvSpPr txBox="1"/>
            <p:nvPr/>
          </p:nvSpPr>
          <p:spPr>
            <a:xfrm>
              <a:off x="8118264" y="1655445"/>
              <a:ext cx="8094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p[0..j−1]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9450705" y="165544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最长相等前后缀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10892843" y="1655445"/>
              <a:ext cx="6228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next(j)</a:t>
              </a:r>
            </a:p>
          </p:txBody>
        </p:sp>
        <p:sp>
          <p:nvSpPr>
            <p:cNvPr id="132" name="TextBox 132"/>
            <p:cNvSpPr txBox="1"/>
            <p:nvPr/>
          </p:nvSpPr>
          <p:spPr>
            <a:xfrm>
              <a:off x="7379616" y="208502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7855839" y="2085022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axaxayaxax</a:t>
              </a:r>
            </a:p>
          </p:txBody>
        </p:sp>
        <p:sp>
          <p:nvSpPr>
            <p:cNvPr id="134" name="TextBox 134"/>
            <p:cNvSpPr txBox="1"/>
            <p:nvPr/>
          </p:nvSpPr>
          <p:spPr>
            <a:xfrm>
              <a:off x="9400794" y="2085022"/>
              <a:ext cx="3675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axax</a:t>
              </a:r>
            </a:p>
          </p:txBody>
        </p:sp>
        <p:sp>
          <p:nvSpPr>
            <p:cNvPr id="135" name="TextBox 135"/>
            <p:cNvSpPr txBox="1"/>
            <p:nvPr/>
          </p:nvSpPr>
          <p:spPr>
            <a:xfrm>
              <a:off x="11153737" y="208502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36" name="Rectangle 136"/>
            <p:cNvSpPr/>
            <p:nvPr/>
          </p:nvSpPr>
          <p:spPr>
            <a:xfrm>
              <a:off x="7114222" y="237934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7" name="Rectangle 137"/>
            <p:cNvSpPr/>
            <p:nvPr/>
          </p:nvSpPr>
          <p:spPr>
            <a:xfrm>
              <a:off x="7114222" y="2384108"/>
              <a:ext cx="4544378" cy="43053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38" name="TextBox 138"/>
            <p:cNvSpPr txBox="1"/>
            <p:nvPr/>
          </p:nvSpPr>
          <p:spPr>
            <a:xfrm>
              <a:off x="7379616" y="251555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9" name="TextBox 139"/>
            <p:cNvSpPr txBox="1"/>
            <p:nvPr/>
          </p:nvSpPr>
          <p:spPr>
            <a:xfrm>
              <a:off x="7855839" y="2515552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ababababab</a:t>
              </a:r>
            </a:p>
          </p:txBody>
        </p:sp>
        <p:sp>
          <p:nvSpPr>
            <p:cNvPr id="140" name="Rectangle 140"/>
            <p:cNvSpPr/>
            <p:nvPr/>
          </p:nvSpPr>
          <p:spPr>
            <a:xfrm>
              <a:off x="9304972" y="2393632"/>
              <a:ext cx="1435418" cy="41148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41" name="TextBox 141"/>
            <p:cNvSpPr txBox="1"/>
            <p:nvPr/>
          </p:nvSpPr>
          <p:spPr>
            <a:xfrm>
              <a:off x="9400794" y="2515552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abababab</a:t>
              </a:r>
            </a:p>
          </p:txBody>
        </p:sp>
        <p:sp>
          <p:nvSpPr>
            <p:cNvPr id="142" name="TextBox 142"/>
            <p:cNvSpPr txBox="1"/>
            <p:nvPr/>
          </p:nvSpPr>
          <p:spPr>
            <a:xfrm>
              <a:off x="11153737" y="251555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143" name="Rectangle 143"/>
            <p:cNvSpPr/>
            <p:nvPr/>
          </p:nvSpPr>
          <p:spPr>
            <a:xfrm>
              <a:off x="7114222" y="2809875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7379616" y="2946082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855839" y="2946082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abcdefghxy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9400794" y="2946082"/>
              <a:ext cx="1118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没有（长度 0）</a:t>
              </a:r>
            </a:p>
          </p:txBody>
        </p:sp>
        <p:sp>
          <p:nvSpPr>
            <p:cNvPr id="147" name="TextBox 147"/>
            <p:cNvSpPr txBox="1"/>
            <p:nvPr/>
          </p:nvSpPr>
          <p:spPr>
            <a:xfrm>
              <a:off x="11153737" y="2946082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48" name="Rectangle 148"/>
            <p:cNvSpPr/>
            <p:nvPr/>
          </p:nvSpPr>
          <p:spPr>
            <a:xfrm>
              <a:off x="7114222" y="1524000"/>
              <a:ext cx="4544378" cy="172021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49" name="Rectangle 149"/>
            <p:cNvSpPr/>
            <p:nvPr/>
          </p:nvSpPr>
          <p:spPr>
            <a:xfrm>
              <a:off x="7745730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0" name="Rectangle 150"/>
            <p:cNvSpPr/>
            <p:nvPr/>
          </p:nvSpPr>
          <p:spPr>
            <a:xfrm>
              <a:off x="9290685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51" name="Rectangle 151"/>
            <p:cNvSpPr/>
            <p:nvPr/>
          </p:nvSpPr>
          <p:spPr>
            <a:xfrm>
              <a:off x="10745152" y="1524000"/>
              <a:ext cx="9525" cy="172021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64" name="c2-card-2"/>
          <p:cNvGrpSpPr/>
          <p:nvPr/>
        </p:nvGrpSpPr>
        <p:grpSpPr>
          <a:xfrm>
            <a:off x="7114222" y="3429952"/>
            <a:ext cx="4544378" cy="2205038"/>
            <a:chOff x="7114222" y="3429952"/>
            <a:chExt cx="4544378" cy="2205038"/>
          </a:xfrm>
        </p:grpSpPr>
        <p:sp>
          <p:nvSpPr>
            <p:cNvPr id="153" name="Rectangle 153"/>
            <p:cNvSpPr/>
            <p:nvPr/>
          </p:nvSpPr>
          <p:spPr>
            <a:xfrm>
              <a:off x="7114222" y="3429952"/>
              <a:ext cx="4544378" cy="2205038"/>
            </a:xfrm>
            <a:prstGeom prst="roundRect">
              <a:avLst>
                <a:gd name="adj" fmla="val 604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54" name="Rectangle 154"/>
            <p:cNvSpPr/>
            <p:nvPr/>
          </p:nvSpPr>
          <p:spPr>
            <a:xfrm>
              <a:off x="7123748" y="3563302"/>
              <a:ext cx="47625" cy="193833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155" name="Rectangle 155"/>
            <p:cNvSpPr/>
            <p:nvPr/>
          </p:nvSpPr>
          <p:spPr>
            <a:xfrm>
              <a:off x="7356158" y="3633788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56" name="TextBox 156"/>
            <p:cNvSpPr txBox="1"/>
            <p:nvPr/>
          </p:nvSpPr>
          <p:spPr>
            <a:xfrm>
              <a:off x="7446366" y="3669506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157" name="TextBox 157"/>
            <p:cNvSpPr txBox="1"/>
            <p:nvPr/>
          </p:nvSpPr>
          <p:spPr>
            <a:xfrm>
              <a:off x="7956614" y="3673316"/>
              <a:ext cx="13526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三个常见的数错</a:t>
              </a:r>
            </a:p>
          </p:txBody>
        </p:sp>
        <p:sp>
          <p:nvSpPr>
            <p:cNvPr id="158" name="Ellipse 158"/>
            <p:cNvSpPr/>
            <p:nvPr/>
          </p:nvSpPr>
          <p:spPr>
            <a:xfrm>
              <a:off x="7363777" y="408527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9" name="TextBox 159"/>
            <p:cNvSpPr txBox="1"/>
            <p:nvPr/>
          </p:nvSpPr>
          <p:spPr>
            <a:xfrm>
              <a:off x="7520368" y="4025741"/>
              <a:ext cx="372948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例 2 说明相等前后缀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可以重叠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，前缀 p[0..7]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与后缀 p[2..9] 重叠了 6 个字符</a:t>
              </a:r>
            </a:p>
          </p:txBody>
        </p:sp>
        <p:sp>
          <p:nvSpPr>
            <p:cNvPr id="160" name="Ellipse 160"/>
            <p:cNvSpPr/>
            <p:nvPr/>
          </p:nvSpPr>
          <p:spPr>
            <a:xfrm>
              <a:off x="7363777" y="467677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1" name="TextBox 161"/>
            <p:cNvSpPr txBox="1"/>
            <p:nvPr/>
          </p:nvSpPr>
          <p:spPr>
            <a:xfrm>
              <a:off x="7520368" y="4617244"/>
              <a:ext cx="302615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不要把 p[j] 自己算进去，例 1 数的是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axaxayaxax 而不是 axaxayaxaxb</a:t>
              </a:r>
            </a:p>
          </p:txBody>
        </p:sp>
        <p:sp>
          <p:nvSpPr>
            <p:cNvPr id="162" name="Ellipse 162"/>
            <p:cNvSpPr/>
            <p:nvPr/>
          </p:nvSpPr>
          <p:spPr>
            <a:xfrm>
              <a:off x="7363777" y="5268277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63" name="TextBox 163"/>
            <p:cNvSpPr txBox="1"/>
            <p:nvPr/>
          </p:nvSpPr>
          <p:spPr>
            <a:xfrm>
              <a:off x="7520368" y="5208746"/>
              <a:ext cx="28818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 3 十个字符互不相同，只能是 0</a:t>
              </a:r>
            </a:p>
          </p:txBody>
        </p:sp>
      </p:grpSp>
      <p:grpSp>
        <p:nvGrpSpPr>
          <p:cNvPr id="171" name="c2-callout-3"/>
          <p:cNvGrpSpPr/>
          <p:nvPr/>
        </p:nvGrpSpPr>
        <p:grpSpPr>
          <a:xfrm>
            <a:off x="7114222" y="5819775"/>
            <a:ext cx="4544378" cy="518160"/>
            <a:chOff x="7114222" y="5819775"/>
            <a:chExt cx="4544378" cy="518160"/>
          </a:xfrm>
        </p:grpSpPr>
        <p:sp>
          <p:nvSpPr>
            <p:cNvPr id="165" name="Rectangle 165"/>
            <p:cNvSpPr/>
            <p:nvPr/>
          </p:nvSpPr>
          <p:spPr>
            <a:xfrm>
              <a:off x="7114222" y="5819775"/>
              <a:ext cx="4544378" cy="518160"/>
            </a:xfrm>
            <a:prstGeom prst="roundRect">
              <a:avLst>
                <a:gd name="adj" fmla="val 2205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69" name="Group 169"/>
            <p:cNvGrpSpPr/>
            <p:nvPr/>
          </p:nvGrpSpPr>
          <p:grpSpPr>
            <a:xfrm>
              <a:off x="7319010" y="5979795"/>
              <a:ext cx="200026" cy="200026"/>
              <a:chOff x="7319010" y="5979795"/>
              <a:chExt cx="200026" cy="200026"/>
            </a:xfrm>
          </p:grpSpPr>
          <p:sp>
            <p:nvSpPr>
              <p:cNvPr id="166" name="Freeform 166"/>
              <p:cNvSpPr/>
              <p:nvPr/>
            </p:nvSpPr>
            <p:spPr>
              <a:xfrm>
                <a:off x="7319010" y="5979795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7" name="Freeform 167"/>
              <p:cNvSpPr/>
              <p:nvPr/>
            </p:nvSpPr>
            <p:spPr>
              <a:xfrm>
                <a:off x="7419023" y="604647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68" name="Freeform 168"/>
              <p:cNvSpPr/>
              <p:nvPr/>
            </p:nvSpPr>
            <p:spPr>
              <a:xfrm>
                <a:off x="7407910" y="6079808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70" name="TextBox 170"/>
            <p:cNvSpPr txBox="1"/>
            <p:nvPr/>
          </p:nvSpPr>
          <p:spPr>
            <a:xfrm>
              <a:off x="7621334" y="5980271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三个例子都用脚本按定义枚举验算过。</a:t>
              </a:r>
            </a:p>
          </p:txBody>
        </p:sp>
      </p:grpSp>
      <p:grpSp>
        <p:nvGrpSpPr>
          <p:cNvPr id="17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2" name="TextBox 17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73" name="TextBox 17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02372" cy="909257"/>
            <a:chOff x="520446" y="342900"/>
            <a:chExt cx="680237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023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KMP 的匹配过程：i 不回退，j 退到 next[j]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4" name="c1-steps-1"/>
          <p:cNvGrpSpPr/>
          <p:nvPr/>
        </p:nvGrpSpPr>
        <p:grpSpPr>
          <a:xfrm>
            <a:off x="533400" y="1533525"/>
            <a:ext cx="5685892" cy="2398776"/>
            <a:chOff x="533400" y="1533525"/>
            <a:chExt cx="5685892" cy="2398776"/>
          </a:xfrm>
        </p:grpSpPr>
        <p:sp>
          <p:nvSpPr>
            <p:cNvPr id="7" name="Rectangle 7"/>
            <p:cNvSpPr/>
            <p:nvPr/>
          </p:nvSpPr>
          <p:spPr>
            <a:xfrm>
              <a:off x="666750" y="1676400"/>
              <a:ext cx="19050" cy="1850708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533400" y="153352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27024" y="160734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533400" y="215074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627024" y="222456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533400" y="276701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627024" y="284083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533400" y="3384232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024" y="34580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5261" y="1566386"/>
              <a:ext cx="58795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对上了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404" y="1846898"/>
              <a:ext cx="326730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s[i] 与 p[j] 相等，i 与 j 各加 1，继续往后比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5261" y="2183606"/>
              <a:ext cx="10496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失配且 j &gt; 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946404" y="2464118"/>
              <a:ext cx="42793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不动，j ← next[j]，用 P 更靠前的那个字符接着和 s[i] 比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5261" y="2799874"/>
              <a:ext cx="104961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失配且 j = 0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404" y="3080385"/>
              <a:ext cx="5272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next[0] = −1 使 j 变成 −1，随后 i 与 j 一起加 1，等价于 P 整体右移一位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5261" y="3417094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匹配成功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46404" y="3697605"/>
              <a:ext cx="23465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增到 m 时匹配成功，返回 i − m</a:t>
              </a:r>
            </a:p>
          </p:txBody>
        </p:sp>
      </p:grpSp>
      <p:grpSp>
        <p:nvGrpSpPr>
          <p:cNvPr id="52" name="c1-cells-2"/>
          <p:cNvGrpSpPr/>
          <p:nvPr/>
        </p:nvGrpSpPr>
        <p:grpSpPr>
          <a:xfrm>
            <a:off x="527304" y="4150519"/>
            <a:ext cx="2322576" cy="1397794"/>
            <a:chOff x="527304" y="4150519"/>
            <a:chExt cx="2322576" cy="1397794"/>
          </a:xfrm>
        </p:grpSpPr>
        <p:sp>
          <p:nvSpPr>
            <p:cNvPr id="25" name="TextBox 25"/>
            <p:cNvSpPr txBox="1"/>
            <p:nvPr/>
          </p:nvSpPr>
          <p:spPr>
            <a:xfrm>
              <a:off x="527304" y="4530090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54380" y="4408170"/>
              <a:ext cx="419100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911188" y="4530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1173480" y="44081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330288" y="4530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1592580" y="44081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749388" y="4530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2011680" y="44081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168488" y="4530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2430780" y="4408170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2587588" y="453009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25849" y="48577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344949" y="48577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764049" y="48577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183149" y="48577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602249" y="4857750"/>
              <a:ext cx="76162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20453" y="4150519"/>
              <a:ext cx="2869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 = 0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925830" y="431292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27304" y="5275898"/>
              <a:ext cx="1107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754380" y="5153978"/>
              <a:ext cx="419100" cy="3943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11188" y="52758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73480" y="515397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330288" y="52758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1592580" y="515397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749388" y="52758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2011680" y="5153978"/>
              <a:ext cx="419100" cy="3943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2168488" y="5275898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</p:grpSp>
      <p:grpSp>
        <p:nvGrpSpPr>
          <p:cNvPr id="54" name="c1-text-3"/>
          <p:cNvGrpSpPr/>
          <p:nvPr/>
        </p:nvGrpSpPr>
        <p:grpSpPr>
          <a:xfrm>
            <a:off x="527304" y="5747385"/>
            <a:ext cx="5628132" cy="470916"/>
            <a:chOff x="527304" y="5747385"/>
            <a:chExt cx="5628132" cy="470916"/>
          </a:xfrm>
        </p:grpSpPr>
        <p:sp>
          <p:nvSpPr>
            <p:cNvPr id="53" name="TextBox 53"/>
            <p:cNvSpPr txBox="1"/>
            <p:nvPr/>
          </p:nvSpPr>
          <p:spPr>
            <a:xfrm>
              <a:off x="527304" y="5747385"/>
              <a:ext cx="5628132" cy="4709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60"/>
                </a:lnSpc>
              </a:pPr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p₀ 处就失配的特例：j = 0，next[0] = −1，于是 j 先变成 −1，再与 i 一起加 1，</a:t>
              </a:r>
              <a:br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下一趟从 s[1] 开始。</a:t>
              </a:r>
            </a:p>
          </p:txBody>
        </p:sp>
      </p:grpSp>
      <p:grpSp>
        <p:nvGrpSpPr>
          <p:cNvPr id="64" name="c2-card-1"/>
          <p:cNvGrpSpPr/>
          <p:nvPr/>
        </p:nvGrpSpPr>
        <p:grpSpPr>
          <a:xfrm>
            <a:off x="6680835" y="1524000"/>
            <a:ext cx="4977765" cy="1865948"/>
            <a:chOff x="6680835" y="1524000"/>
            <a:chExt cx="4977765" cy="1865948"/>
          </a:xfrm>
        </p:grpSpPr>
        <p:sp>
          <p:nvSpPr>
            <p:cNvPr id="55" name="Rectangle 55"/>
            <p:cNvSpPr/>
            <p:nvPr/>
          </p:nvSpPr>
          <p:spPr>
            <a:xfrm>
              <a:off x="6680835" y="1524000"/>
              <a:ext cx="4977765" cy="1865948"/>
            </a:xfrm>
            <a:prstGeom prst="roundRect">
              <a:avLst>
                <a:gd name="adj" fmla="val 7147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6878955" y="1722120"/>
              <a:ext cx="87630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6958394" y="175641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两个不变量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862316" y="1756886"/>
              <a:ext cx="21172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整个匹配过程中始终成立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86575" y="2161222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43166" y="2100739"/>
              <a:ext cx="24230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只增不减，最多从 0 走到 n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886575" y="2478405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7043166" y="2418874"/>
              <a:ext cx="418033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的增加与 i 同步，j 的减少只发生在失配时，且永远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不小于 −1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872859" y="3004185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第四部分的复杂度证明，全部依据这两条。</a:t>
              </a:r>
            </a:p>
          </p:txBody>
        </p:sp>
      </p:grpSp>
      <p:grpSp>
        <p:nvGrpSpPr>
          <p:cNvPr id="73" name="c2-card-2"/>
          <p:cNvGrpSpPr/>
          <p:nvPr/>
        </p:nvGrpSpPr>
        <p:grpSpPr>
          <a:xfrm>
            <a:off x="6680835" y="3569970"/>
            <a:ext cx="4977765" cy="1568768"/>
            <a:chOff x="6680835" y="3569970"/>
            <a:chExt cx="4977765" cy="1568768"/>
          </a:xfrm>
        </p:grpSpPr>
        <p:sp>
          <p:nvSpPr>
            <p:cNvPr id="65" name="Rectangle 65"/>
            <p:cNvSpPr/>
            <p:nvPr/>
          </p:nvSpPr>
          <p:spPr>
            <a:xfrm>
              <a:off x="6680835" y="3569970"/>
              <a:ext cx="4977765" cy="1568768"/>
            </a:xfrm>
            <a:prstGeom prst="roundRect">
              <a:avLst>
                <a:gd name="adj" fmla="val 850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6690360" y="3703320"/>
              <a:ext cx="47625" cy="130206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7" name="Rectangle 67"/>
            <p:cNvSpPr/>
            <p:nvPr/>
          </p:nvSpPr>
          <p:spPr>
            <a:xfrm>
              <a:off x="6917055" y="3768090"/>
              <a:ext cx="7429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7000494" y="380238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由此得到</a:t>
              </a:r>
            </a:p>
          </p:txBody>
        </p:sp>
        <p:sp>
          <p:nvSpPr>
            <p:cNvPr id="69" name="Ellipse 69"/>
            <p:cNvSpPr/>
            <p:nvPr/>
          </p:nvSpPr>
          <p:spPr>
            <a:xfrm>
              <a:off x="6924675" y="418909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81266" y="4128611"/>
              <a:ext cx="370387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已经比对过的目标串字符 </a:t>
              </a:r>
              <a:r>
                <a:rPr lang="zh-CN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一次都不会重新比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924675" y="450627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7081266" y="4446746"/>
              <a:ext cx="377456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可以是一个只允许顺序读一遍的字符流，这是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KMP 常用于流式处理的原因</a:t>
              </a:r>
            </a:p>
          </p:txBody>
        </p:sp>
      </p:grpSp>
      <p:grpSp>
        <p:nvGrpSpPr>
          <p:cNvPr id="80" name="c2-callout-3"/>
          <p:cNvGrpSpPr/>
          <p:nvPr/>
        </p:nvGrpSpPr>
        <p:grpSpPr>
          <a:xfrm>
            <a:off x="6680835" y="5318760"/>
            <a:ext cx="4977765" cy="1018222"/>
            <a:chOff x="6680835" y="5318760"/>
            <a:chExt cx="4977765" cy="1018222"/>
          </a:xfrm>
        </p:grpSpPr>
        <p:sp>
          <p:nvSpPr>
            <p:cNvPr id="74" name="Rectangle 74"/>
            <p:cNvSpPr/>
            <p:nvPr/>
          </p:nvSpPr>
          <p:spPr>
            <a:xfrm>
              <a:off x="6680835" y="5318760"/>
              <a:ext cx="4977765" cy="1018222"/>
            </a:xfrm>
            <a:prstGeom prst="roundRect">
              <a:avLst>
                <a:gd name="adj" fmla="val 11225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78" name="Group 78"/>
            <p:cNvGrpSpPr/>
            <p:nvPr/>
          </p:nvGrpSpPr>
          <p:grpSpPr>
            <a:xfrm>
              <a:off x="6873564" y="5724643"/>
              <a:ext cx="224134" cy="192560"/>
              <a:chOff x="6873564" y="5724643"/>
              <a:chExt cx="224134" cy="192560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985635" y="5795010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873564" y="5724643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77" name="Freeform 77"/>
              <p:cNvSpPr/>
              <p:nvPr/>
            </p:nvSpPr>
            <p:spPr>
              <a:xfrm>
                <a:off x="6985635" y="58727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79" name="TextBox 79"/>
            <p:cNvSpPr txBox="1"/>
            <p:nvPr/>
          </p:nvSpPr>
          <p:spPr>
            <a:xfrm>
              <a:off x="7187946" y="5465921"/>
              <a:ext cx="4027043" cy="8044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j ← next[j] 之后不要立刻让 i 前进。这一步只是换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一个模式串位置，s[i] 还要和新的 p[j] 再比一</a:t>
              </a:r>
              <a:br/>
              <a:r>
                <a:rPr lang="zh-CN" sz="14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次。</a:t>
              </a:r>
            </a:p>
          </p:txBody>
        </p:sp>
      </p:grpSp>
      <p:grpSp>
        <p:nvGrpSpPr>
          <p:cNvPr id="8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1" name="TextBox 8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50664" cy="909257"/>
            <a:chOff x="520446" y="342900"/>
            <a:chExt cx="565066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506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KMP 的代码只比朴素算法少一层循环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733675"/>
            <a:chOff x="533400" y="1524000"/>
            <a:chExt cx="6059805" cy="273367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733675"/>
            </a:xfrm>
            <a:prstGeom prst="roundRect">
              <a:avLst>
                <a:gd name="adj" fmla="val 3484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72037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KMP 主过程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035" y="1937861"/>
              <a:ext cx="4812030" cy="22488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98"/>
                </a:lnSpc>
              </a:pP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const</a:t>
              </a:r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maxm = 1e4 + 10;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</a:t>
              </a:r>
              <a:br/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KMP(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next[maxm], i = 0, j = 0;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i、j 分别扫描 S 和 P */</a:t>
              </a:r>
              <a:br/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buildNext(P, next, m);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计算失败函数，O(m)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 m &amp;&amp; i &lt; n) {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== -1 || S[i] == P[j]) i++, j++;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next[j];           </a:t>
              </a:r>
              <a:r>
                <a:rPr lang="zh-CN" sz="11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确定 P 下次匹配的位置 */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11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== m) ? i - m : -1;</a:t>
              </a:r>
              <a:br/>
              <a:r>
                <a:rPr lang="zh-CN" sz="11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llout-2"/>
          <p:cNvGrpSpPr/>
          <p:nvPr/>
        </p:nvGrpSpPr>
        <p:grpSpPr>
          <a:xfrm>
            <a:off x="533400" y="4443412"/>
            <a:ext cx="6059805" cy="1608772"/>
            <a:chOff x="533400" y="4443412"/>
            <a:chExt cx="6059805" cy="1608772"/>
          </a:xfrm>
        </p:grpSpPr>
        <p:sp>
          <p:nvSpPr>
            <p:cNvPr id="11" name="Rectangle 11"/>
            <p:cNvSpPr/>
            <p:nvPr/>
          </p:nvSpPr>
          <p:spPr>
            <a:xfrm>
              <a:off x="533400" y="4443412"/>
              <a:ext cx="6059805" cy="1608772"/>
            </a:xfrm>
            <a:prstGeom prst="roundRect">
              <a:avLst>
                <a:gd name="adj" fmla="val 710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738188" y="5147310"/>
              <a:ext cx="200026" cy="200026"/>
              <a:chOff x="738188" y="5147310"/>
              <a:chExt cx="200026" cy="200026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738188" y="514731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838200" y="52139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827088" y="524732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040511" y="5016341"/>
              <a:ext cx="5018913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外层不再枚举对齐位置，只剩一个 while。对齐位置的信息被折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叠进了 j 的取值。</a:t>
              </a:r>
            </a:p>
          </p:txBody>
        </p:sp>
      </p:grpSp>
      <p:grpSp>
        <p:nvGrpSpPr>
          <p:cNvPr id="27" name="c2-card-1"/>
          <p:cNvGrpSpPr/>
          <p:nvPr/>
        </p:nvGrpSpPr>
        <p:grpSpPr>
          <a:xfrm>
            <a:off x="6898005" y="1524000"/>
            <a:ext cx="4760595" cy="1623060"/>
            <a:chOff x="6898005" y="1524000"/>
            <a:chExt cx="4760595" cy="1623060"/>
          </a:xfrm>
        </p:grpSpPr>
        <p:sp>
          <p:nvSpPr>
            <p:cNvPr id="18" name="Rectangle 18"/>
            <p:cNvSpPr/>
            <p:nvPr/>
          </p:nvSpPr>
          <p:spPr>
            <a:xfrm>
              <a:off x="6898005" y="1524000"/>
              <a:ext cx="4760595" cy="1623060"/>
            </a:xfrm>
            <a:prstGeom prst="roundRect">
              <a:avLst>
                <a:gd name="adj" fmla="val 821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101840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7183196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关键一行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87094" y="1767364"/>
              <a:ext cx="222620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== -1 把两种情况合并了</a:t>
              </a:r>
            </a:p>
          </p:txBody>
        </p:sp>
        <p:sp>
          <p:nvSpPr>
            <p:cNvPr id="22" name="Ellipse 22"/>
            <p:cNvSpPr/>
            <p:nvPr/>
          </p:nvSpPr>
          <p:spPr>
            <a:xfrm>
              <a:off x="7109460" y="217932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7266051" y="2119789"/>
              <a:ext cx="34458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 为 −1 时不比字符，直接让 i 与 j 各加 1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109460" y="2499360"/>
              <a:ext cx="60960" cy="6096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266051" y="2439829"/>
              <a:ext cx="341713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于是“在 p₀ 处失配”不用单独写一个分支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95744" y="2755582"/>
              <a:ext cx="29684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这也是 next[0] 取 −1 而不是 0 的原因。</a:t>
              </a:r>
            </a:p>
          </p:txBody>
        </p:sp>
      </p:grpSp>
      <p:grpSp>
        <p:nvGrpSpPr>
          <p:cNvPr id="33" name="c2-kv-2"/>
          <p:cNvGrpSpPr/>
          <p:nvPr/>
        </p:nvGrpSpPr>
        <p:grpSpPr>
          <a:xfrm>
            <a:off x="6890766" y="3356134"/>
            <a:ext cx="4767834" cy="700659"/>
            <a:chOff x="6890766" y="3356134"/>
            <a:chExt cx="4767834" cy="700659"/>
          </a:xfrm>
        </p:grpSpPr>
        <p:sp>
          <p:nvSpPr>
            <p:cNvPr id="28" name="TextBox 28"/>
            <p:cNvSpPr txBox="1"/>
            <p:nvPr/>
          </p:nvSpPr>
          <p:spPr>
            <a:xfrm>
              <a:off x="6890766" y="3356134"/>
              <a:ext cx="147207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循环结束时 j = m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509064" y="3356134"/>
              <a:ext cx="221282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匹配成功，首位置是 i − m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98005" y="3661410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890766" y="3778091"/>
              <a:ext cx="143193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循环结束时 i = n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509064" y="3778091"/>
              <a:ext cx="183302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不在 S 中，返回 −1</a:t>
              </a:r>
            </a:p>
          </p:txBody>
        </p:sp>
      </p:grpSp>
      <p:grpSp>
        <p:nvGrpSpPr>
          <p:cNvPr id="42" name="c2-card-3"/>
          <p:cNvGrpSpPr/>
          <p:nvPr/>
        </p:nvGrpSpPr>
        <p:grpSpPr>
          <a:xfrm>
            <a:off x="6898005" y="4185285"/>
            <a:ext cx="4760595" cy="1865948"/>
            <a:chOff x="6898005" y="4185285"/>
            <a:chExt cx="4760595" cy="1865948"/>
          </a:xfrm>
        </p:grpSpPr>
        <p:sp>
          <p:nvSpPr>
            <p:cNvPr id="34" name="Rectangle 34"/>
            <p:cNvSpPr/>
            <p:nvPr/>
          </p:nvSpPr>
          <p:spPr>
            <a:xfrm>
              <a:off x="6898005" y="4185285"/>
              <a:ext cx="4760595" cy="1865948"/>
            </a:xfrm>
            <a:prstGeom prst="roundRect">
              <a:avLst>
                <a:gd name="adj" fmla="val 714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6907530" y="4318635"/>
              <a:ext cx="47625" cy="1599248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7139940" y="4389120"/>
              <a:ext cx="494348" cy="25717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230148" y="4424839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147560" y="4822508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7304151" y="4762024"/>
              <a:ext cx="3819652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循环条件要同时写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 &lt; m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和 </a:t>
              </a: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 &lt; n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，少一个就会越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界或漏判</a:t>
              </a:r>
            </a:p>
          </p:txBody>
        </p:sp>
        <p:sp>
          <p:nvSpPr>
            <p:cNvPr id="40" name="Ellipse 40"/>
            <p:cNvSpPr/>
            <p:nvPr/>
          </p:nvSpPr>
          <p:spPr>
            <a:xfrm>
              <a:off x="7147560" y="541401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304151" y="5353526"/>
              <a:ext cx="3972941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i++, j++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用的是逗号运算符，两句都要执行，写成</a:t>
              </a:r>
              <a:br/>
              <a:r>
                <a:rPr lang="en-US" sz="142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i++; j++;</a:t>
              </a: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需要加大括号</a:t>
              </a:r>
            </a:p>
          </p:txBody>
        </p:sp>
      </p:grpSp>
      <p:grpSp>
        <p:nvGrpSpPr>
          <p:cNvPr id="4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3" name="TextBox 4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32112" cy="909257"/>
            <a:chOff x="520446" y="342900"/>
            <a:chExt cx="82321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32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例题：S = abaaabab、P = abab 的两种算法逐步对照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57" name="c1-table-1"/>
          <p:cNvGrpSpPr/>
          <p:nvPr/>
        </p:nvGrpSpPr>
        <p:grpSpPr>
          <a:xfrm>
            <a:off x="533400" y="1524000"/>
            <a:ext cx="6059805" cy="3600450"/>
            <a:chOff x="533400" y="1524000"/>
            <a:chExt cx="6059805" cy="360045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55193" y="164544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479774" y="1645444"/>
              <a:ext cx="28847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i / j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98286" y="1645444"/>
              <a:ext cx="8746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s[i] 与 p[j]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695126" y="164544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结果与动作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99972" y="2145506"/>
              <a:ext cx="2726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1–3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282824" y="2145506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0/0 → 2/2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264474" y="2045494"/>
              <a:ext cx="11422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a、b、a 连三对相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60457" y="2145506"/>
              <a:ext cx="10291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i、j 各前进到 3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5193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52412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87044" y="26455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448676" y="264556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/ 3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626332" y="2645569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3572828" y="2533650"/>
              <a:ext cx="301085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3660457" y="264556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不等，j ← next[3] = 1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29194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787044" y="30456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48676" y="304561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/ 1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626332" y="3045619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3572828" y="2933700"/>
              <a:ext cx="301085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660457" y="304561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不等，j ← next[1] = 0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33400" y="33194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33400" y="332422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87044" y="34456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448676" y="344566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 / 0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626332" y="3445669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660457" y="3445669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相等，i、j 各加 1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533400" y="37195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787044" y="384571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448676" y="384571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/ 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626332" y="3845719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b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3572828" y="3733800"/>
              <a:ext cx="3010852" cy="38100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3660457" y="3845719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不等，j ← next[1] = 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411956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Rectangle 42"/>
            <p:cNvSpPr/>
            <p:nvPr/>
          </p:nvSpPr>
          <p:spPr>
            <a:xfrm>
              <a:off x="533400" y="4124325"/>
              <a:ext cx="605980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87044" y="4245769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448676" y="4245769"/>
              <a:ext cx="3506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 / 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626332" y="4245769"/>
              <a:ext cx="4185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 与 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660457" y="4245769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相等，i、j 各加 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519612"/>
              <a:ext cx="605980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56436" y="474583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9–11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1282824" y="4745831"/>
              <a:ext cx="6823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5/1 → 7/3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264474" y="4645819"/>
              <a:ext cx="1142238" cy="420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575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b、a、b 连三对相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等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572828" y="4533900"/>
              <a:ext cx="3010852" cy="581025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3660457" y="4745831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增到 4 = m，匹配成功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533400" y="1524000"/>
              <a:ext cx="6059805" cy="36004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4" name="Rectangle 54"/>
            <p:cNvSpPr/>
            <p:nvPr/>
          </p:nvSpPr>
          <p:spPr>
            <a:xfrm>
              <a:off x="1134428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2104072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3558540" y="1524000"/>
              <a:ext cx="9525" cy="36004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59" name="c1-text-2"/>
          <p:cNvGrpSpPr/>
          <p:nvPr/>
        </p:nvGrpSpPr>
        <p:grpSpPr>
          <a:xfrm>
            <a:off x="527685" y="5312569"/>
            <a:ext cx="5439308" cy="220028"/>
            <a:chOff x="527685" y="5312569"/>
            <a:chExt cx="5439308" cy="220028"/>
          </a:xfrm>
        </p:grpSpPr>
        <p:sp>
          <p:nvSpPr>
            <p:cNvPr id="58" name="TextBox 58"/>
            <p:cNvSpPr txBox="1"/>
            <p:nvPr/>
          </p:nvSpPr>
          <p:spPr>
            <a:xfrm>
              <a:off x="527685" y="5312569"/>
              <a:ext cx="54393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next(abab) = [−1, 0, 0, 1]。i 的取值序列是 0 1 2 3 3 3 4 4 5 6 7，只增不减。</a:t>
              </a:r>
            </a:p>
          </p:txBody>
        </p:sp>
      </p:grpSp>
      <p:grpSp>
        <p:nvGrpSpPr>
          <p:cNvPr id="96" name="c2-table-1"/>
          <p:cNvGrpSpPr/>
          <p:nvPr/>
        </p:nvGrpSpPr>
        <p:grpSpPr>
          <a:xfrm>
            <a:off x="6893052" y="1524000"/>
            <a:ext cx="4765548" cy="2663856"/>
            <a:chOff x="6893052" y="1524000"/>
            <a:chExt cx="4765548" cy="2663856"/>
          </a:xfrm>
        </p:grpSpPr>
        <p:sp>
          <p:nvSpPr>
            <p:cNvPr id="60" name="Rectangle 60"/>
            <p:cNvSpPr/>
            <p:nvPr/>
          </p:nvSpPr>
          <p:spPr>
            <a:xfrm>
              <a:off x="6898005" y="1524000"/>
              <a:ext cx="476059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7256539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朴素算法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502819" y="1645444"/>
              <a:ext cx="4079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起点 i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391764" y="1645444"/>
              <a:ext cx="91607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对上的字符数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0779836" y="164544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比较次数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995160" y="204549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0 趟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65962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802625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039922" y="20454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6898005" y="23193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898005" y="23241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995160" y="24455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趟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865962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9802625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039922" y="24455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6898005" y="27193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6995160" y="284559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趟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865962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9802625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039922" y="28455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898005" y="311943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898005" y="312420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995160" y="324564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趟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865962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9802625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1039922" y="324564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6898005" y="351948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6995160" y="3645694"/>
              <a:ext cx="49503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4 趟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8659625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9802625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1039922" y="364569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6898005" y="1524000"/>
              <a:ext cx="4760595" cy="24003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822579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9178290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10510838" y="1524000"/>
              <a:ext cx="9525" cy="24003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893052" y="3997166"/>
              <a:ext cx="115767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合计 13 次字符比较</a:t>
              </a:r>
            </a:p>
          </p:txBody>
        </p:sp>
      </p:grpSp>
      <p:grpSp>
        <p:nvGrpSpPr>
          <p:cNvPr id="107" name="c2-card-2"/>
          <p:cNvGrpSpPr/>
          <p:nvPr/>
        </p:nvGrpSpPr>
        <p:grpSpPr>
          <a:xfrm>
            <a:off x="6898005" y="4319588"/>
            <a:ext cx="4760595" cy="1975485"/>
            <a:chOff x="6898005" y="4319588"/>
            <a:chExt cx="4760595" cy="1975485"/>
          </a:xfrm>
        </p:grpSpPr>
        <p:sp>
          <p:nvSpPr>
            <p:cNvPr id="97" name="Rectangle 97"/>
            <p:cNvSpPr/>
            <p:nvPr/>
          </p:nvSpPr>
          <p:spPr>
            <a:xfrm>
              <a:off x="6898005" y="4319588"/>
              <a:ext cx="4760595" cy="1975485"/>
            </a:xfrm>
            <a:prstGeom prst="roundRect">
              <a:avLst>
                <a:gd name="adj" fmla="val 675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8" name="Rectangle 98"/>
            <p:cNvSpPr/>
            <p:nvPr/>
          </p:nvSpPr>
          <p:spPr>
            <a:xfrm>
              <a:off x="7084695" y="450627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7176414" y="453913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7650289" y="454152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同一组输入的两个数字</a:t>
              </a:r>
            </a:p>
          </p:txBody>
        </p:sp>
        <p:sp>
          <p:nvSpPr>
            <p:cNvPr id="101" name="Ellipse 101"/>
            <p:cNvSpPr/>
            <p:nvPr/>
          </p:nvSpPr>
          <p:spPr>
            <a:xfrm>
              <a:off x="7093267" y="492347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2" name="TextBox 102"/>
            <p:cNvSpPr txBox="1"/>
            <p:nvPr/>
          </p:nvSpPr>
          <p:spPr>
            <a:xfrm>
              <a:off x="7249287" y="4867275"/>
              <a:ext cx="36702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朴素算法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13 次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字符比较，指针 i 回退了 3 次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7093267" y="522351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7249287" y="5167312"/>
              <a:ext cx="34561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KMP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11 次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字符比较，指针 i 一次都没回退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7078980" y="5464016"/>
              <a:ext cx="4143502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两者都返回 4。小例子上差距不明显，规模一大就按 n·m 与 n + m</a:t>
              </a:r>
              <a:br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的比例拉开。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078980" y="5932646"/>
              <a:ext cx="42331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两组数字都由脚本逐步模拟得到，可以照着表格手工复算一遍。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154526" cy="909257"/>
            <a:chOff x="520446" y="342900"/>
            <a:chExt cx="5154526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153728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60067" y="407194"/>
              <a:ext cx="31013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KMP 算法：原理与 next 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15452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两道练习：把 next 的值手算出来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410200" cy="1503045"/>
            <a:chOff x="533400" y="1524000"/>
            <a:chExt cx="5410200" cy="15030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68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练习一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48562" y="1745932"/>
              <a:ext cx="23653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吉林大学 2021 级期末考试题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1332" y="2071688"/>
              <a:ext cx="474573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模式串 abcabcaaa 用 KMP 匹配，若在 j = 7 处失配，下一次该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用模式串的哪个位置与失配位置比对？下标从 0 开始。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22782" y="2628900"/>
              <a:ext cx="16843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A. 0 B. 2 C. 3 D. 4</a:t>
              </a:r>
            </a:p>
          </p:txBody>
        </p:sp>
      </p:grpSp>
      <p:grpSp>
        <p:nvGrpSpPr>
          <p:cNvPr id="46" name="c1-cells-2"/>
          <p:cNvGrpSpPr/>
          <p:nvPr/>
        </p:nvGrpSpPr>
        <p:grpSpPr>
          <a:xfrm>
            <a:off x="528066" y="3240881"/>
            <a:ext cx="3987736" cy="825818"/>
            <a:chOff x="528066" y="3240881"/>
            <a:chExt cx="3987736" cy="825818"/>
          </a:xfrm>
        </p:grpSpPr>
        <p:sp>
          <p:nvSpPr>
            <p:cNvPr id="16" name="TextBox 16"/>
            <p:cNvSpPr txBox="1"/>
            <p:nvPr/>
          </p:nvSpPr>
          <p:spPr>
            <a:xfrm>
              <a:off x="528066" y="360140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43902" y="348234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303" y="3601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63002" y="348234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26403" y="3601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582102" y="3482340"/>
              <a:ext cx="419100" cy="368618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45503" y="3601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01202" y="3482340"/>
              <a:ext cx="419100" cy="368618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164603" y="3601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420302" y="348234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83703" y="3601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39402" y="348234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02803" y="3601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58502" y="3482340"/>
              <a:ext cx="419100" cy="368618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21903" y="3601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677602" y="3482340"/>
              <a:ext cx="419100" cy="368618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41003" y="3601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96702" y="3482340"/>
              <a:ext cx="419100" cy="368618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60103" y="360140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8333" y="39047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337433" y="39047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756533" y="39047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175633" y="39047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594733" y="39047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3013833" y="39047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432933" y="39047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852033" y="39047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71133" y="390477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766482" y="3240881"/>
              <a:ext cx="2413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= 7</a:t>
              </a:r>
            </a:p>
          </p:txBody>
        </p:sp>
        <p:sp>
          <p:nvSpPr>
            <p:cNvPr id="45" name="Freeform 45"/>
            <p:cNvSpPr/>
            <p:nvPr/>
          </p:nvSpPr>
          <p:spPr>
            <a:xfrm>
              <a:off x="3849052" y="338709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55" name="c1-card-3"/>
          <p:cNvGrpSpPr/>
          <p:nvPr/>
        </p:nvGrpSpPr>
        <p:grpSpPr>
          <a:xfrm>
            <a:off x="533400" y="4202430"/>
            <a:ext cx="5410200" cy="1485900"/>
            <a:chOff x="533400" y="4202430"/>
            <a:chExt cx="5410200" cy="1485900"/>
          </a:xfrm>
        </p:grpSpPr>
        <p:sp>
          <p:nvSpPr>
            <p:cNvPr id="47" name="Rectangle 47"/>
            <p:cNvSpPr/>
            <p:nvPr/>
          </p:nvSpPr>
          <p:spPr>
            <a:xfrm>
              <a:off x="533400" y="4202430"/>
              <a:ext cx="5410200" cy="1485900"/>
            </a:xfrm>
            <a:prstGeom prst="roundRect">
              <a:avLst>
                <a:gd name="adj" fmla="val 89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542925" y="4335780"/>
              <a:ext cx="47625" cy="121920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758190" y="438912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0862" y="442198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解答</a:t>
              </a:r>
            </a:p>
          </p:txBody>
        </p:sp>
        <p:sp>
          <p:nvSpPr>
            <p:cNvPr id="51" name="Ellipse 51"/>
            <p:cNvSpPr/>
            <p:nvPr/>
          </p:nvSpPr>
          <p:spPr>
            <a:xfrm>
              <a:off x="766762" y="47891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2782" y="4732972"/>
              <a:ext cx="4576000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p[0..6] = abcabca 的最长相等前后缀是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abca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，长度 4；前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缀 p[0..3] 与后缀 p[3..6] 在下标 3 处重叠，这是允许的</a:t>
              </a:r>
            </a:p>
          </p:txBody>
        </p:sp>
        <p:sp>
          <p:nvSpPr>
            <p:cNvPr id="53" name="Ellipse 53"/>
            <p:cNvSpPr/>
            <p:nvPr/>
          </p:nvSpPr>
          <p:spPr>
            <a:xfrm>
              <a:off x="766762" y="534638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22782" y="5290185"/>
              <a:ext cx="40592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next(7) = 4，下次用 p[4] 与失配位置比对，选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</p:grpSp>
      <p:grpSp>
        <p:nvGrpSpPr>
          <p:cNvPr id="62" name="c2-card-1"/>
          <p:cNvGrpSpPr/>
          <p:nvPr/>
        </p:nvGrpSpPr>
        <p:grpSpPr>
          <a:xfrm>
            <a:off x="6248400" y="1524000"/>
            <a:ext cx="5410200" cy="944880"/>
            <a:chOff x="6248400" y="1524000"/>
            <a:chExt cx="5410200" cy="944880"/>
          </a:xfrm>
        </p:grpSpPr>
        <p:sp>
          <p:nvSpPr>
            <p:cNvPr id="56" name="Rectangle 56"/>
            <p:cNvSpPr/>
            <p:nvPr/>
          </p:nvSpPr>
          <p:spPr>
            <a:xfrm>
              <a:off x="6248400" y="1524000"/>
              <a:ext cx="5410200" cy="944880"/>
            </a:xfrm>
            <a:prstGeom prst="roundRect">
              <a:avLst>
                <a:gd name="adj" fmla="val 1411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57925" y="1657350"/>
              <a:ext cx="47625" cy="67818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473190" y="1710690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1811" y="1743551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练习二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163562" y="1745932"/>
              <a:ext cx="30020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写出 P = abcabcd 的完整 next 数组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466332" y="207168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从左往右逐列填，每一列只看它左边那一段子串。</a:t>
              </a:r>
            </a:p>
          </p:txBody>
        </p:sp>
      </p:grpSp>
      <p:grpSp>
        <p:nvGrpSpPr>
          <p:cNvPr id="98" name="c2-table-2"/>
          <p:cNvGrpSpPr/>
          <p:nvPr/>
        </p:nvGrpSpPr>
        <p:grpSpPr>
          <a:xfrm>
            <a:off x="6248400" y="2639378"/>
            <a:ext cx="5410200" cy="1316355"/>
            <a:chOff x="6248400" y="2639378"/>
            <a:chExt cx="5410200" cy="1316355"/>
          </a:xfrm>
        </p:grpSpPr>
        <p:sp>
          <p:nvSpPr>
            <p:cNvPr id="63" name="Rectangle 63"/>
            <p:cNvSpPr/>
            <p:nvPr/>
          </p:nvSpPr>
          <p:spPr>
            <a:xfrm>
              <a:off x="6248400" y="2639378"/>
              <a:ext cx="5410200" cy="43910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08231" y="2764155"/>
              <a:ext cx="709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676870" y="276415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272183" y="276415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8867495" y="276415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461855" y="276415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057168" y="276415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52480" y="276415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274463" y="2764155"/>
              <a:ext cx="1186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6344412" y="3203258"/>
              <a:ext cx="385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p[j]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7679369" y="320325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8274682" y="320325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8869994" y="320325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64354" y="320325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059667" y="320325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654979" y="320325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276962" y="3203258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6248400" y="3511868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81" name="Rectangle 81"/>
            <p:cNvSpPr/>
            <p:nvPr/>
          </p:nvSpPr>
          <p:spPr>
            <a:xfrm>
              <a:off x="6248400" y="3516630"/>
              <a:ext cx="5410200" cy="43910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6344412" y="3642360"/>
              <a:ext cx="7006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next(j)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629392" y="3642360"/>
              <a:ext cx="2136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8274682" y="364236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8869994" y="364236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9464354" y="364236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59667" y="364236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8" name="TextBox 88"/>
            <p:cNvSpPr txBox="1"/>
            <p:nvPr/>
          </p:nvSpPr>
          <p:spPr>
            <a:xfrm>
              <a:off x="10654979" y="364236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11276962" y="3642360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6248400" y="2639378"/>
              <a:ext cx="5410200" cy="131635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91" name="Rectangle 91"/>
            <p:cNvSpPr/>
            <p:nvPr/>
          </p:nvSpPr>
          <p:spPr>
            <a:xfrm>
              <a:off x="7434262" y="2639378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2" name="Rectangle 92"/>
            <p:cNvSpPr/>
            <p:nvPr/>
          </p:nvSpPr>
          <p:spPr>
            <a:xfrm>
              <a:off x="8028622" y="2639378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8623935" y="2639378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4" name="Rectangle 94"/>
            <p:cNvSpPr/>
            <p:nvPr/>
          </p:nvSpPr>
          <p:spPr>
            <a:xfrm>
              <a:off x="9219248" y="2639378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5" name="Rectangle 95"/>
            <p:cNvSpPr/>
            <p:nvPr/>
          </p:nvSpPr>
          <p:spPr>
            <a:xfrm>
              <a:off x="9814560" y="2639378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6" name="Rectangle 96"/>
            <p:cNvSpPr/>
            <p:nvPr/>
          </p:nvSpPr>
          <p:spPr>
            <a:xfrm>
              <a:off x="10409872" y="2639378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97" name="Rectangle 97"/>
            <p:cNvSpPr/>
            <p:nvPr/>
          </p:nvSpPr>
          <p:spPr>
            <a:xfrm>
              <a:off x="11004232" y="2639378"/>
              <a:ext cx="9525" cy="131635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09" name="c2-bullets-3"/>
          <p:cNvGrpSpPr/>
          <p:nvPr/>
        </p:nvGrpSpPr>
        <p:grpSpPr>
          <a:xfrm>
            <a:off x="6241542" y="4148138"/>
            <a:ext cx="5489962" cy="1198435"/>
            <a:chOff x="6241542" y="4148138"/>
            <a:chExt cx="5489962" cy="1198435"/>
          </a:xfrm>
        </p:grpSpPr>
        <p:sp>
          <p:nvSpPr>
            <p:cNvPr id="99" name="TextBox 99"/>
            <p:cNvSpPr txBox="1"/>
            <p:nvPr/>
          </p:nvSpPr>
          <p:spPr>
            <a:xfrm>
              <a:off x="6241542" y="414813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后三列是怎么来的</a:t>
              </a:r>
            </a:p>
          </p:txBody>
        </p:sp>
        <p:sp>
          <p:nvSpPr>
            <p:cNvPr id="100" name="Ellipse 100"/>
            <p:cNvSpPr/>
            <p:nvPr/>
          </p:nvSpPr>
          <p:spPr>
            <a:xfrm>
              <a:off x="6248400" y="445293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6304078" y="44913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6529197" y="4465320"/>
              <a:ext cx="48024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next(4) 看 p[0..3] = abca，最长相等前后缀是 a，长度 1</a:t>
              </a:r>
            </a:p>
          </p:txBody>
        </p:sp>
        <p:sp>
          <p:nvSpPr>
            <p:cNvPr id="103" name="Ellipse 103"/>
            <p:cNvSpPr/>
            <p:nvPr/>
          </p:nvSpPr>
          <p:spPr>
            <a:xfrm>
              <a:off x="6248400" y="476154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4" name="TextBox 104"/>
            <p:cNvSpPr txBox="1"/>
            <p:nvPr/>
          </p:nvSpPr>
          <p:spPr>
            <a:xfrm>
              <a:off x="6304078" y="479993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6529197" y="4773930"/>
              <a:ext cx="50023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next(5) 看 p[0..4] = abcab，最长相等前后缀是 ab，长度 2</a:t>
              </a:r>
            </a:p>
          </p:txBody>
        </p:sp>
        <p:sp>
          <p:nvSpPr>
            <p:cNvPr id="106" name="Ellipse 106"/>
            <p:cNvSpPr/>
            <p:nvPr/>
          </p:nvSpPr>
          <p:spPr>
            <a:xfrm>
              <a:off x="6248400" y="507015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6304078" y="510854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6529197" y="5082540"/>
              <a:ext cx="5202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next(6) 看 p[0..5] = abcabc，最长相等前后缀是 abc，长度 3</a:t>
              </a:r>
            </a:p>
          </p:txBody>
        </p:sp>
      </p:grpSp>
      <p:grpSp>
        <p:nvGrpSpPr>
          <p:cNvPr id="116" name="takeaway"/>
          <p:cNvGrpSpPr/>
          <p:nvPr/>
        </p:nvGrpSpPr>
        <p:grpSpPr>
          <a:xfrm>
            <a:off x="533400" y="5881688"/>
            <a:ext cx="11125200" cy="481012"/>
            <a:chOff x="533400" y="5881688"/>
            <a:chExt cx="11125200" cy="481012"/>
          </a:xfrm>
        </p:grpSpPr>
        <p:sp>
          <p:nvSpPr>
            <p:cNvPr id="110" name="Rectangle 110"/>
            <p:cNvSpPr/>
            <p:nvPr/>
          </p:nvSpPr>
          <p:spPr>
            <a:xfrm>
              <a:off x="533400" y="5881688"/>
              <a:ext cx="11125200" cy="481012"/>
            </a:xfrm>
            <a:prstGeom prst="roundRect">
              <a:avLst>
                <a:gd name="adj" fmla="val 23762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738188" y="6022658"/>
              <a:ext cx="200026" cy="200025"/>
              <a:chOff x="738188" y="6022658"/>
              <a:chExt cx="200026" cy="200025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738188" y="6022658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777926" y="606710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812642" y="6178233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1040892" y="6028373"/>
              <a:ext cx="65289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手算时先把 next(0) = −1 和 next(1) = 0 写上，这两个值对任何模式串都成立。</a:t>
              </a:r>
            </a:p>
          </p:txBody>
        </p:sp>
      </p:grpSp>
      <p:grpSp>
        <p:nvGrpSpPr>
          <p:cNvPr id="1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17" name="TextBox 1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5670423" cy="2997517"/>
            <a:chOff x="667512" y="1835468"/>
            <a:chExt cx="5670423" cy="29975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第四部分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5670423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 数组的计算与复杂度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0413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377565"/>
              <a:ext cx="4713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从 O(m²) 的暴力法，递推到 O(m) 的标准写法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38881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3830955"/>
              <a:ext cx="14287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暴力法为什么慢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2424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185285"/>
              <a:ext cx="2478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next(j) 推出 next(j+1)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45967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4539615"/>
              <a:ext cx="17167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O 的完整证明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38560" cy="909257"/>
            <a:chOff x="520446" y="342900"/>
            <a:chExt cx="563856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98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005" y="407194"/>
              <a:ext cx="2834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数组的计算与复杂度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3856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直接按定义算 next，代价是 O(m²)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6" name="c1-card-1"/>
          <p:cNvGrpSpPr/>
          <p:nvPr/>
        </p:nvGrpSpPr>
        <p:grpSpPr>
          <a:xfrm>
            <a:off x="533400" y="1524000"/>
            <a:ext cx="5626418" cy="1503045"/>
            <a:chOff x="533400" y="1524000"/>
            <a:chExt cx="5626418" cy="15030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503045"/>
            </a:xfrm>
            <a:prstGeom prst="roundRect">
              <a:avLst>
                <a:gd name="adj" fmla="val 887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2363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8190" y="171069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2759" y="174355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暴力方案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73340" y="174593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从长到短逐个试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66762" y="2127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22782" y="2071688"/>
              <a:ext cx="48486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对每个 j，先看长度 j − 1 的前缀是不是等于同长度的后缀，不等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就缩短一格再看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66762" y="268509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22782" y="2628900"/>
              <a:ext cx="43299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第一个相等的长度就是 next(j)，一个都不相等就是 0</a:t>
              </a:r>
            </a:p>
          </p:txBody>
        </p:sp>
      </p:grpSp>
      <p:grpSp>
        <p:nvGrpSpPr>
          <p:cNvPr id="48" name="c1-table-2"/>
          <p:cNvGrpSpPr/>
          <p:nvPr/>
        </p:nvGrpSpPr>
        <p:grpSpPr>
          <a:xfrm>
            <a:off x="528447" y="3196590"/>
            <a:ext cx="5631371" cy="2263806"/>
            <a:chOff x="528447" y="3196590"/>
            <a:chExt cx="5631371" cy="2263806"/>
          </a:xfrm>
        </p:grpSpPr>
        <p:sp>
          <p:nvSpPr>
            <p:cNvPr id="17" name="Rectangle 17"/>
            <p:cNvSpPr/>
            <p:nvPr/>
          </p:nvSpPr>
          <p:spPr>
            <a:xfrm>
              <a:off x="533400" y="3196590"/>
              <a:ext cx="5626418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83641" y="33180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177136" y="33180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前缀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752571" y="331803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后缀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121034" y="331803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是否相等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90879" y="37180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162058" y="371808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abaa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37493" y="3718084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baab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347195" y="37180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39919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533400" y="399669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990879" y="41181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203521" y="411813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778956" y="4118134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aab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347195" y="41181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533400" y="439197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90879" y="45181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244984" y="451818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820419" y="451818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347195" y="451818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✓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533400" y="4792028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533400" y="4796790"/>
              <a:ext cx="5626418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90879" y="491823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286447" y="491823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861882" y="491823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5347195" y="491823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✗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533400" y="3196590"/>
              <a:ext cx="5626418" cy="200025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44" name="Rectangle 44"/>
            <p:cNvSpPr/>
            <p:nvPr/>
          </p:nvSpPr>
          <p:spPr>
            <a:xfrm>
              <a:off x="1541145" y="319659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5" name="Rectangle 45"/>
            <p:cNvSpPr/>
            <p:nvPr/>
          </p:nvSpPr>
          <p:spPr>
            <a:xfrm>
              <a:off x="3116580" y="319659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4692015" y="3196590"/>
              <a:ext cx="9525" cy="200025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28447" y="5269706"/>
              <a:ext cx="442288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例：p[0..4] = abaab，从长到短第一个相等的是长度 2，所以 next(5) = 2</a:t>
              </a:r>
            </a:p>
          </p:txBody>
        </p:sp>
      </p:grpSp>
      <p:grpSp>
        <p:nvGrpSpPr>
          <p:cNvPr id="55" name="c1-callout-3"/>
          <p:cNvGrpSpPr/>
          <p:nvPr/>
        </p:nvGrpSpPr>
        <p:grpSpPr>
          <a:xfrm>
            <a:off x="533400" y="5592128"/>
            <a:ext cx="5626418" cy="729615"/>
            <a:chOff x="533400" y="5592128"/>
            <a:chExt cx="5626418" cy="729615"/>
          </a:xfrm>
        </p:grpSpPr>
        <p:sp>
          <p:nvSpPr>
            <p:cNvPr id="49" name="Rectangle 49"/>
            <p:cNvSpPr/>
            <p:nvPr/>
          </p:nvSpPr>
          <p:spPr>
            <a:xfrm>
              <a:off x="533400" y="5592128"/>
              <a:ext cx="562641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38188" y="5856923"/>
              <a:ext cx="200026" cy="200026"/>
              <a:chOff x="738188" y="5856923"/>
              <a:chExt cx="200026" cy="200026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738188" y="5856923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838200" y="5923598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27088" y="5956935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0892" y="5738812"/>
              <a:ext cx="466858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 1 那一行虽然不等，但已经用不上了，因为从长到短第一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个相等的就是答案。</a:t>
              </a:r>
            </a:p>
          </p:txBody>
        </p:sp>
      </p:grpSp>
      <p:grpSp>
        <p:nvGrpSpPr>
          <p:cNvPr id="66" name="c2-card-1"/>
          <p:cNvGrpSpPr/>
          <p:nvPr/>
        </p:nvGrpSpPr>
        <p:grpSpPr>
          <a:xfrm>
            <a:off x="6464618" y="1524000"/>
            <a:ext cx="5193982" cy="1506855"/>
            <a:chOff x="6464618" y="1524000"/>
            <a:chExt cx="5193982" cy="1506855"/>
          </a:xfrm>
        </p:grpSpPr>
        <p:sp>
          <p:nvSpPr>
            <p:cNvPr id="56" name="Rectangle 56"/>
            <p:cNvSpPr/>
            <p:nvPr/>
          </p:nvSpPr>
          <p:spPr>
            <a:xfrm>
              <a:off x="6464618" y="1524000"/>
              <a:ext cx="5193982" cy="1506855"/>
            </a:xfrm>
            <a:prstGeom prst="roundRect">
              <a:avLst>
                <a:gd name="adj" fmla="val 885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6474142" y="1657350"/>
              <a:ext cx="47625" cy="124015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6689408" y="17106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782079" y="17435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代价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255954" y="1745932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两层循环套一次串比较</a:t>
              </a:r>
            </a:p>
          </p:txBody>
        </p:sp>
        <p:sp>
          <p:nvSpPr>
            <p:cNvPr id="61" name="Ellipse 61"/>
            <p:cNvSpPr/>
            <p:nvPr/>
          </p:nvSpPr>
          <p:spPr>
            <a:xfrm>
              <a:off x="6697980" y="212788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6853999" y="2071688"/>
              <a:ext cx="40846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每个 j 最多试 j − 1 个长度，每次比较最多 j 个字符</a:t>
              </a:r>
            </a:p>
          </p:txBody>
        </p:sp>
        <p:sp>
          <p:nvSpPr>
            <p:cNvPr id="63" name="Ellipse 63"/>
            <p:cNvSpPr/>
            <p:nvPr/>
          </p:nvSpPr>
          <p:spPr>
            <a:xfrm>
              <a:off x="6697980" y="242792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6853999" y="2371725"/>
              <a:ext cx="25673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全部 m 个位置加起来是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O(m²)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6683692" y="2668429"/>
              <a:ext cx="4502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m 和 n 同阶时，光预处理就抵消了 KMP 相对朴素算法的全部优势。</a:t>
              </a:r>
            </a:p>
          </p:txBody>
        </p:sp>
      </p:grpSp>
      <p:grpSp>
        <p:nvGrpSpPr>
          <p:cNvPr id="75" name="c2-card-2"/>
          <p:cNvGrpSpPr/>
          <p:nvPr/>
        </p:nvGrpSpPr>
        <p:grpSpPr>
          <a:xfrm>
            <a:off x="6464618" y="3200400"/>
            <a:ext cx="5193982" cy="1760220"/>
            <a:chOff x="6464618" y="3200400"/>
            <a:chExt cx="5193982" cy="1760220"/>
          </a:xfrm>
        </p:grpSpPr>
        <p:sp>
          <p:nvSpPr>
            <p:cNvPr id="67" name="Rectangle 67"/>
            <p:cNvSpPr/>
            <p:nvPr/>
          </p:nvSpPr>
          <p:spPr>
            <a:xfrm>
              <a:off x="6464618" y="3200400"/>
              <a:ext cx="5193982" cy="1760220"/>
            </a:xfrm>
            <a:prstGeom prst="roundRect">
              <a:avLst>
                <a:gd name="adj" fmla="val 757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51308" y="33870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6743979" y="34199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思路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217854" y="342233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换成递推</a:t>
              </a:r>
            </a:p>
          </p:txBody>
        </p:sp>
        <p:sp>
          <p:nvSpPr>
            <p:cNvPr id="71" name="Ellipse 71"/>
            <p:cNvSpPr/>
            <p:nvPr/>
          </p:nvSpPr>
          <p:spPr>
            <a:xfrm>
              <a:off x="6659880" y="3804285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6815899" y="3748088"/>
              <a:ext cx="43342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next(j) 和 next(j+1) 看的是相差一个字符的两段子串，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它们之间应该有关系</a:t>
              </a:r>
            </a:p>
          </p:txBody>
        </p:sp>
        <p:sp>
          <p:nvSpPr>
            <p:cNvPr id="73" name="Ellipse 73"/>
            <p:cNvSpPr/>
            <p:nvPr/>
          </p:nvSpPr>
          <p:spPr>
            <a:xfrm>
              <a:off x="6659880" y="436245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6815899" y="4306252"/>
              <a:ext cx="393992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假定 next(j) = k 已经算出来，看看能不能直接得到</a:t>
              </a:r>
              <a:br/>
              <a:r>
                <a:rPr lang="en-US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next(j+1)</a:t>
              </a:r>
            </a:p>
          </p:txBody>
        </p:sp>
      </p:grpSp>
      <p:grpSp>
        <p:nvGrpSpPr>
          <p:cNvPr id="81" name="c2-callout-3"/>
          <p:cNvGrpSpPr/>
          <p:nvPr/>
        </p:nvGrpSpPr>
        <p:grpSpPr>
          <a:xfrm>
            <a:off x="6464618" y="5130165"/>
            <a:ext cx="5193982" cy="1191578"/>
            <a:chOff x="6464618" y="5130165"/>
            <a:chExt cx="5193982" cy="1191578"/>
          </a:xfrm>
        </p:grpSpPr>
        <p:sp>
          <p:nvSpPr>
            <p:cNvPr id="76" name="Rectangle 76"/>
            <p:cNvSpPr/>
            <p:nvPr/>
          </p:nvSpPr>
          <p:spPr>
            <a:xfrm>
              <a:off x="6464618" y="5130165"/>
              <a:ext cx="5193982" cy="1191578"/>
            </a:xfrm>
            <a:prstGeom prst="roundRect">
              <a:avLst>
                <a:gd name="adj" fmla="val 9592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79" name="Group 79"/>
            <p:cNvGrpSpPr/>
            <p:nvPr/>
          </p:nvGrpSpPr>
          <p:grpSpPr>
            <a:xfrm>
              <a:off x="6669405" y="5626420"/>
              <a:ext cx="200023" cy="200023"/>
              <a:chOff x="6669405" y="5626420"/>
              <a:chExt cx="200023" cy="200023"/>
            </a:xfrm>
          </p:grpSpPr>
          <p:sp>
            <p:nvSpPr>
              <p:cNvPr id="77" name="Freeform 77"/>
              <p:cNvSpPr/>
              <p:nvPr/>
            </p:nvSpPr>
            <p:spPr>
              <a:xfrm>
                <a:off x="6669405" y="5626420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78" name="Freeform 78"/>
              <p:cNvSpPr/>
              <p:nvPr/>
            </p:nvSpPr>
            <p:spPr>
              <a:xfrm>
                <a:off x="6802755" y="569309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80" name="TextBox 80"/>
            <p:cNvSpPr txBox="1"/>
            <p:nvPr/>
          </p:nvSpPr>
          <p:spPr>
            <a:xfrm>
              <a:off x="6972110" y="5507355"/>
              <a:ext cx="41370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下面分两种情形讨论，分界线是模式串里 p[k] 与 p[j]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这两个字符是否相等。</a:t>
              </a:r>
            </a:p>
          </p:txBody>
        </p:sp>
      </p:grpSp>
      <p:grpSp>
        <p:nvGrpSpPr>
          <p:cNvPr id="84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82" name="TextBox 82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652090" cy="909257"/>
            <a:chOff x="520446" y="342900"/>
            <a:chExt cx="66520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98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005" y="407194"/>
              <a:ext cx="2834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数组的计算与复杂度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6520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情形一：p[k] 等于 p[j] 时，长度直接加一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3" name="c1-card-1"/>
          <p:cNvGrpSpPr/>
          <p:nvPr/>
        </p:nvGrpSpPr>
        <p:grpSpPr>
          <a:xfrm>
            <a:off x="533400" y="1524000"/>
            <a:ext cx="5842635" cy="1226820"/>
            <a:chOff x="533400" y="1524000"/>
            <a:chExt cx="5842635" cy="122682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1226820"/>
            </a:xfrm>
            <a:prstGeom prst="roundRect">
              <a:avLst>
                <a:gd name="adj" fmla="val 1087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96012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5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已知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47597" y="1756410"/>
              <a:ext cx="16275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next(j) = k 的含义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3429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p[0..j−1] 的最长相等前后缀长度是 k，也就是 p[0..k−1] =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p[j−k..j−1]。</a:t>
              </a:r>
            </a:p>
          </p:txBody>
        </p:sp>
      </p:grpSp>
      <p:grpSp>
        <p:nvGrpSpPr>
          <p:cNvPr id="33" name="c1-cells-2"/>
          <p:cNvGrpSpPr/>
          <p:nvPr/>
        </p:nvGrpSpPr>
        <p:grpSpPr>
          <a:xfrm>
            <a:off x="527685" y="2926080"/>
            <a:ext cx="5848350" cy="381000"/>
            <a:chOff x="527685" y="2926080"/>
            <a:chExt cx="5848350" cy="381000"/>
          </a:xfrm>
        </p:grpSpPr>
        <p:sp>
          <p:nvSpPr>
            <p:cNvPr id="14" name="TextBox 14"/>
            <p:cNvSpPr txBox="1"/>
            <p:nvPr/>
          </p:nvSpPr>
          <p:spPr>
            <a:xfrm>
              <a:off x="527685" y="3046571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48665" y="2926080"/>
              <a:ext cx="62484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81226" y="304657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p[0]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374458" y="2926080"/>
              <a:ext cx="62484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637626" y="30465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999298" y="2926080"/>
              <a:ext cx="62484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044786" y="3046571"/>
              <a:ext cx="5338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p[k−1]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2625090" y="2926080"/>
              <a:ext cx="62484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2757651" y="3046571"/>
              <a:ext cx="3597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p[k]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249930" y="2926080"/>
              <a:ext cx="62484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513099" y="30465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3875722" y="2926080"/>
              <a:ext cx="62484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3941000" y="304657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p[j−k]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4500562" y="2926080"/>
              <a:ext cx="62484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4763731" y="304657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…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5125402" y="2926080"/>
              <a:ext cx="62484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5191632" y="3046571"/>
              <a:ext cx="4942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p[j−1]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751195" y="2926080"/>
              <a:ext cx="62484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903545" y="3046571"/>
              <a:ext cx="3201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p[j]</a:t>
              </a:r>
            </a:p>
          </p:txBody>
        </p:sp>
      </p:grpSp>
      <p:grpSp>
        <p:nvGrpSpPr>
          <p:cNvPr id="35" name="c1-text-3"/>
          <p:cNvGrpSpPr/>
          <p:nvPr/>
        </p:nvGrpSpPr>
        <p:grpSpPr>
          <a:xfrm>
            <a:off x="527685" y="3500914"/>
            <a:ext cx="4994524" cy="220028"/>
            <a:chOff x="527685" y="3500914"/>
            <a:chExt cx="4994524" cy="220028"/>
          </a:xfrm>
        </p:grpSpPr>
        <p:sp>
          <p:nvSpPr>
            <p:cNvPr id="34" name="TextBox 34"/>
            <p:cNvSpPr txBox="1"/>
            <p:nvPr/>
          </p:nvSpPr>
          <p:spPr>
            <a:xfrm>
              <a:off x="527685" y="3500914"/>
              <a:ext cx="4994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绿色和蓝色是那对相等的前后缀，深色的两格就是要比较的 p[k] 与 p[j]。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formula54"/>
              <p:cNvSpPr txBox="1">
                <a:spLocks noGrp="1"/>
              </p:cNvSpPr>
              <p:nvPr/>
            </p:nvSpPr>
            <p:spPr>
              <a:xfrm>
                <a:off x="533400" y="3851910"/>
                <a:ext cx="5842635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next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4" name="c1-cells-5"/>
          <p:cNvGrpSpPr/>
          <p:nvPr/>
        </p:nvGrpSpPr>
        <p:grpSpPr>
          <a:xfrm>
            <a:off x="527685" y="4530090"/>
            <a:ext cx="3573780" cy="846296"/>
            <a:chOff x="527685" y="4530090"/>
            <a:chExt cx="3573780" cy="846296"/>
          </a:xfrm>
        </p:grpSpPr>
        <p:sp>
          <p:nvSpPr>
            <p:cNvPr id="37" name="TextBox 37"/>
            <p:cNvSpPr txBox="1"/>
            <p:nvPr/>
          </p:nvSpPr>
          <p:spPr>
            <a:xfrm>
              <a:off x="527685" y="490013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748665" y="4779645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8964" y="4900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1167765" y="4779645"/>
              <a:ext cx="41910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328064" y="4900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586865" y="477964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747164" y="4900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4" name="Rectangle 44"/>
            <p:cNvSpPr/>
            <p:nvPr/>
          </p:nvSpPr>
          <p:spPr>
            <a:xfrm>
              <a:off x="2005965" y="4779645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2166264" y="4900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2425065" y="4779645"/>
              <a:ext cx="41910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2585364" y="4900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2844165" y="477964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3004464" y="4900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3263265" y="477964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3423564" y="4900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3682365" y="4779645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3842664" y="490013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309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34219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76129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18039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9949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301859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343769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3856796" y="521446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2502637" y="453009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= 4</a:t>
              </a:r>
            </a:p>
          </p:txBody>
        </p:sp>
        <p:sp>
          <p:nvSpPr>
            <p:cNvPr id="63" name="Freeform 63"/>
            <p:cNvSpPr/>
            <p:nvPr/>
          </p:nvSpPr>
          <p:spPr>
            <a:xfrm>
              <a:off x="2596515" y="468439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66" name="c1-text-6"/>
          <p:cNvGrpSpPr/>
          <p:nvPr/>
        </p:nvGrpSpPr>
        <p:grpSpPr>
          <a:xfrm>
            <a:off x="527685" y="5535454"/>
            <a:ext cx="5558790" cy="441008"/>
            <a:chOff x="527685" y="5535454"/>
            <a:chExt cx="5558790" cy="441008"/>
          </a:xfrm>
        </p:grpSpPr>
        <p:sp>
          <p:nvSpPr>
            <p:cNvPr id="65" name="TextBox 65"/>
            <p:cNvSpPr txBox="1"/>
            <p:nvPr/>
          </p:nvSpPr>
          <p:spPr>
            <a:xfrm>
              <a:off x="527685" y="5535454"/>
              <a:ext cx="5558790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右侧例子的图示。绿色是前缀 p[0]，蓝色是与它相等的后缀 p[3]，两个深色格就是要比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较的 p[1] 与 p[4]。</a:t>
              </a:r>
            </a:p>
          </p:txBody>
        </p:sp>
      </p:grpSp>
      <p:grpSp>
        <p:nvGrpSpPr>
          <p:cNvPr id="76" name="c2-card-1"/>
          <p:cNvGrpSpPr/>
          <p:nvPr/>
        </p:nvGrpSpPr>
        <p:grpSpPr>
          <a:xfrm>
            <a:off x="6680835" y="1524000"/>
            <a:ext cx="4977765" cy="1786890"/>
            <a:chOff x="6680835" y="1524000"/>
            <a:chExt cx="4977765" cy="1786890"/>
          </a:xfrm>
        </p:grpSpPr>
        <p:sp>
          <p:nvSpPr>
            <p:cNvPr id="67" name="Rectangle 67"/>
            <p:cNvSpPr/>
            <p:nvPr/>
          </p:nvSpPr>
          <p:spPr>
            <a:xfrm>
              <a:off x="6680835" y="1524000"/>
              <a:ext cx="4977765" cy="1786890"/>
            </a:xfrm>
            <a:prstGeom prst="roundRect">
              <a:avLst>
                <a:gd name="adj" fmla="val 7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6690360" y="1657350"/>
              <a:ext cx="47625" cy="152019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69" name="Rectangle 69"/>
            <p:cNvSpPr/>
            <p:nvPr/>
          </p:nvSpPr>
          <p:spPr>
            <a:xfrm>
              <a:off x="6911340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7002780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495032" y="1756410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前后缀各往右扩一个字符</a:t>
              </a:r>
            </a:p>
          </p:txBody>
        </p:sp>
        <p:sp>
          <p:nvSpPr>
            <p:cNvPr id="72" name="Ellipse 72"/>
            <p:cNvSpPr/>
            <p:nvPr/>
          </p:nvSpPr>
          <p:spPr>
            <a:xfrm>
              <a:off x="6919912" y="21469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7075932" y="2090738"/>
              <a:ext cx="321983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前缀由 p[0..k−1] 变成 p[0..k]，后缀由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p[j−k..j−1] 变成 p[j−k..j]</a:t>
              </a:r>
            </a:p>
          </p:txBody>
        </p:sp>
        <p:sp>
          <p:nvSpPr>
            <p:cNvPr id="74" name="Ellipse 74"/>
            <p:cNvSpPr/>
            <p:nvPr/>
          </p:nvSpPr>
          <p:spPr>
            <a:xfrm>
              <a:off x="6919912" y="2706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7075932" y="2649855"/>
              <a:ext cx="412851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两端各加上的那个字符相等，所以扩完之后仍然相等，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长度加 1</a:t>
              </a:r>
            </a:p>
          </p:txBody>
        </p:sp>
      </p:grpSp>
      <p:grpSp>
        <p:nvGrpSpPr>
          <p:cNvPr id="88" name="c2-card-2"/>
          <p:cNvGrpSpPr/>
          <p:nvPr/>
        </p:nvGrpSpPr>
        <p:grpSpPr>
          <a:xfrm>
            <a:off x="6680835" y="3485198"/>
            <a:ext cx="4977765" cy="1831658"/>
            <a:chOff x="6680835" y="3485198"/>
            <a:chExt cx="4977765" cy="1831658"/>
          </a:xfrm>
        </p:grpSpPr>
        <p:sp>
          <p:nvSpPr>
            <p:cNvPr id="77" name="Rectangle 77"/>
            <p:cNvSpPr/>
            <p:nvPr/>
          </p:nvSpPr>
          <p:spPr>
            <a:xfrm>
              <a:off x="6680835" y="3485198"/>
              <a:ext cx="4977765" cy="1831658"/>
            </a:xfrm>
            <a:prstGeom prst="roundRect">
              <a:avLst>
                <a:gd name="adj" fmla="val 7280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6690360" y="3618548"/>
              <a:ext cx="47625" cy="156495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6911340" y="3677602"/>
              <a:ext cx="342900" cy="247650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006781" y="3711893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7361682" y="3717608"/>
              <a:ext cx="2340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abaabcac，求 next(5)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919912" y="410813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075932" y="4051935"/>
              <a:ext cx="22672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已知 next(4) = 1，即 k = 1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6919912" y="4411028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075932" y="4354830"/>
              <a:ext cx="252168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p[1] = b，p[4] = b，两者相等</a:t>
              </a:r>
            </a:p>
          </p:txBody>
        </p:sp>
        <p:sp>
          <p:nvSpPr>
            <p:cNvPr id="86" name="Ellipse 86"/>
            <p:cNvSpPr/>
            <p:nvPr/>
          </p:nvSpPr>
          <p:spPr>
            <a:xfrm>
              <a:off x="6919912" y="4712970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7075932" y="4656772"/>
              <a:ext cx="406465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所以 next(5) = k + 1 = </a:t>
              </a:r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2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，对应 p[0..4] = abaab 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相等前后缀 ab</a:t>
              </a:r>
            </a:p>
          </p:txBody>
        </p:sp>
      </p:grpSp>
      <p:grpSp>
        <p:nvGrpSpPr>
          <p:cNvPr id="94" name="c2-callout-3"/>
          <p:cNvGrpSpPr/>
          <p:nvPr/>
        </p:nvGrpSpPr>
        <p:grpSpPr>
          <a:xfrm>
            <a:off x="6680835" y="5492115"/>
            <a:ext cx="4977765" cy="729615"/>
            <a:chOff x="6680835" y="5492115"/>
            <a:chExt cx="4977765" cy="729615"/>
          </a:xfrm>
        </p:grpSpPr>
        <p:sp>
          <p:nvSpPr>
            <p:cNvPr id="89" name="Rectangle 89"/>
            <p:cNvSpPr/>
            <p:nvPr/>
          </p:nvSpPr>
          <p:spPr>
            <a:xfrm>
              <a:off x="6680835" y="5492115"/>
              <a:ext cx="4977765" cy="729615"/>
            </a:xfrm>
            <a:prstGeom prst="roundRect">
              <a:avLst>
                <a:gd name="adj" fmla="val 15666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92" name="Group 92"/>
            <p:cNvGrpSpPr/>
            <p:nvPr/>
          </p:nvGrpSpPr>
          <p:grpSpPr>
            <a:xfrm>
              <a:off x="6885623" y="5756912"/>
              <a:ext cx="200023" cy="200023"/>
              <a:chOff x="6885623" y="5756912"/>
              <a:chExt cx="200023" cy="200023"/>
            </a:xfrm>
          </p:grpSpPr>
          <p:sp>
            <p:nvSpPr>
              <p:cNvPr id="90" name="Freeform 90"/>
              <p:cNvSpPr/>
              <p:nvPr/>
            </p:nvSpPr>
            <p:spPr>
              <a:xfrm>
                <a:off x="6885623" y="575691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7018973" y="582358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7188327" y="5638800"/>
              <a:ext cx="381133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这一情形对应 buildNext 里 next[j+1] = ++k 那一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行。</a:t>
              </a:r>
            </a:p>
          </p:txBody>
        </p:sp>
      </p:grpSp>
      <p:grpSp>
        <p:nvGrpSpPr>
          <p:cNvPr id="9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95" name="TextBox 9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368495" cy="909257"/>
            <a:chOff x="520446" y="342900"/>
            <a:chExt cx="8368495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98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005" y="407194"/>
              <a:ext cx="2834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数组的计算与复杂度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368495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情形二：p[k] 不等于 p[j] 时，退到次长的相等前后缀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8" name="c1-card-1"/>
          <p:cNvGrpSpPr/>
          <p:nvPr/>
        </p:nvGrpSpPr>
        <p:grpSpPr>
          <a:xfrm>
            <a:off x="533400" y="1524000"/>
            <a:ext cx="5410200" cy="2476500"/>
            <a:chOff x="533400" y="1524000"/>
            <a:chExt cx="5410200" cy="247650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476500"/>
            </a:xfrm>
            <a:prstGeom prst="roundRect">
              <a:avLst>
                <a:gd name="adj" fmla="val 538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2098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75335" y="1727835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7644" y="1763554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关键一步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660588" y="1767364"/>
              <a:ext cx="314138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次长的相等前后缀长度就是 next(k)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82955" y="2179320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39546" y="2119789"/>
              <a:ext cx="452297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 p[0..j−1] 第二长的相等前后缀长度为 h，它一定比 k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短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82955" y="2770823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39546" y="2711291"/>
              <a:ext cx="4495927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它是 p[0..j−1] 的后缀 p[j−h..j−1]；而 p[j−k..j−1]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p[0..k−1]，所以 p[j−h..j−1] 也等于 p[k−h..k−1]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82955" y="3362325"/>
              <a:ext cx="60960" cy="6096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939546" y="3302794"/>
              <a:ext cx="4468876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于是 h 既是 p[0..k−1] 的前缀长度又是它的后缀长度，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取最大就有 </a:t>
              </a:r>
              <a:r>
                <a:rPr lang="en-US" sz="14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h = next(k)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9" name="formula57"/>
              <p:cNvSpPr txBox="1">
                <a:spLocks noGrp="1"/>
              </p:cNvSpPr>
              <p:nvPr/>
            </p:nvSpPr>
            <p:spPr>
              <a:xfrm>
                <a:off x="533400" y="4185285"/>
                <a:ext cx="5410200" cy="457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next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h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⟹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 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next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80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h</m:t>
                      </m:r>
                      <m:r>
                        <m:rPr>
                          <m:sty m:val="p"/>
                        </m:rP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+</m:t>
                      </m:r>
                      <m:r>
                        <a:rPr lang="zh-CN" sz="180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25" name="c1-callout-3"/>
          <p:cNvGrpSpPr/>
          <p:nvPr/>
        </p:nvGrpSpPr>
        <p:grpSpPr>
          <a:xfrm>
            <a:off x="533400" y="4828222"/>
            <a:ext cx="5410200" cy="1424940"/>
            <a:chOff x="533400" y="4828222"/>
            <a:chExt cx="5410200" cy="1424940"/>
          </a:xfrm>
        </p:grpSpPr>
        <p:sp>
          <p:nvSpPr>
            <p:cNvPr id="20" name="Rectangle 20"/>
            <p:cNvSpPr/>
            <p:nvPr/>
          </p:nvSpPr>
          <p:spPr>
            <a:xfrm>
              <a:off x="533400" y="4828222"/>
              <a:ext cx="5410200" cy="1424940"/>
            </a:xfrm>
            <a:prstGeom prst="roundRect">
              <a:avLst>
                <a:gd name="adj" fmla="val 8021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23" name="Group 23"/>
            <p:cNvGrpSpPr/>
            <p:nvPr/>
          </p:nvGrpSpPr>
          <p:grpSpPr>
            <a:xfrm>
              <a:off x="738188" y="5440682"/>
              <a:ext cx="200023" cy="200023"/>
              <a:chOff x="738188" y="5440682"/>
              <a:chExt cx="200023" cy="200023"/>
            </a:xfrm>
          </p:grpSpPr>
          <p:sp>
            <p:nvSpPr>
              <p:cNvPr id="21" name="Freeform 21"/>
              <p:cNvSpPr/>
              <p:nvPr/>
            </p:nvSpPr>
            <p:spPr>
              <a:xfrm>
                <a:off x="738188" y="544068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871538" y="55073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24" name="TextBox 24"/>
            <p:cNvSpPr txBox="1"/>
            <p:nvPr/>
          </p:nvSpPr>
          <p:spPr>
            <a:xfrm>
              <a:off x="1040511" y="5309711"/>
              <a:ext cx="4378706" cy="5415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70"/>
                </a:lnSpc>
              </a:pPr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 p[h] 仍不等于 p[j]，就再取 r = next(h) 继续往回</a:t>
              </a:r>
              <a:br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退，一直退到 −1 为止。</a:t>
              </a:r>
            </a:p>
          </p:txBody>
        </p:sp>
      </p:grpSp>
      <p:grpSp>
        <p:nvGrpSpPr>
          <p:cNvPr id="32" name="c2-card-1"/>
          <p:cNvGrpSpPr/>
          <p:nvPr/>
        </p:nvGrpSpPr>
        <p:grpSpPr>
          <a:xfrm>
            <a:off x="6248400" y="1524000"/>
            <a:ext cx="5410200" cy="1293495"/>
            <a:chOff x="6248400" y="1524000"/>
            <a:chExt cx="5410200" cy="1293495"/>
          </a:xfrm>
        </p:grpSpPr>
        <p:sp>
          <p:nvSpPr>
            <p:cNvPr id="26" name="Rectangle 26"/>
            <p:cNvSpPr/>
            <p:nvPr/>
          </p:nvSpPr>
          <p:spPr>
            <a:xfrm>
              <a:off x="6248400" y="1524000"/>
              <a:ext cx="5410200" cy="1293495"/>
            </a:xfrm>
            <a:prstGeom prst="roundRect">
              <a:avLst>
                <a:gd name="adj" fmla="val 1030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6257925" y="1657350"/>
              <a:ext cx="47625" cy="1026795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6490335" y="1727835"/>
              <a:ext cx="351472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6585445" y="1763554"/>
              <a:ext cx="16220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948868" y="1767364"/>
              <a:ext cx="345473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abcdabceabcdabcd，求 next(16)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483096" y="2119789"/>
              <a:ext cx="4577080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失配位置的字符是 p[15] = d，前面那一段是 p[0..14] =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abcdabceabcdabc。</a:t>
              </a:r>
            </a:p>
          </p:txBody>
        </p:sp>
      </p:grpSp>
      <p:grpSp>
        <p:nvGrpSpPr>
          <p:cNvPr id="46" name="c2-steps-2"/>
          <p:cNvGrpSpPr/>
          <p:nvPr/>
        </p:nvGrpSpPr>
        <p:grpSpPr>
          <a:xfrm>
            <a:off x="6248400" y="3011805"/>
            <a:ext cx="3938778" cy="1790129"/>
            <a:chOff x="6248400" y="3011805"/>
            <a:chExt cx="3938778" cy="1790129"/>
          </a:xfrm>
        </p:grpSpPr>
        <p:sp>
          <p:nvSpPr>
            <p:cNvPr id="33" name="Rectangle 33"/>
            <p:cNvSpPr/>
            <p:nvPr/>
          </p:nvSpPr>
          <p:spPr>
            <a:xfrm>
              <a:off x="6381750" y="3154680"/>
              <a:ext cx="19050" cy="124206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Ellipse 34"/>
            <p:cNvSpPr/>
            <p:nvPr/>
          </p:nvSpPr>
          <p:spPr>
            <a:xfrm>
              <a:off x="6248400" y="301180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6342024" y="308562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248400" y="363283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342024" y="370665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6248400" y="4253865"/>
              <a:ext cx="285750" cy="2857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342024" y="432768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0261" y="3045619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1 步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404" y="3326130"/>
              <a:ext cx="35257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= next(15) = 7，p[7] = e，与 p[15] = d 不等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60261" y="366569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2 步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61404" y="3946207"/>
              <a:ext cx="34369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h = next(7) = 3，p[3] = d，与 p[15] = d 相等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660261" y="4286726"/>
              <a:ext cx="62762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第 3 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661404" y="4567238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next(16) = h + 1 = 4，对应相等前后缀 abcd</a:t>
              </a:r>
            </a:p>
          </p:txBody>
        </p:sp>
      </p:grpSp>
      <p:grpSp>
        <p:nvGrpSpPr>
          <p:cNvPr id="52" name="c2-card-3"/>
          <p:cNvGrpSpPr/>
          <p:nvPr/>
        </p:nvGrpSpPr>
        <p:grpSpPr>
          <a:xfrm>
            <a:off x="6248400" y="4978718"/>
            <a:ext cx="5410200" cy="1274445"/>
            <a:chOff x="6248400" y="4978718"/>
            <a:chExt cx="5410200" cy="1274445"/>
          </a:xfrm>
        </p:grpSpPr>
        <p:sp>
          <p:nvSpPr>
            <p:cNvPr id="47" name="Rectangle 47"/>
            <p:cNvSpPr/>
            <p:nvPr/>
          </p:nvSpPr>
          <p:spPr>
            <a:xfrm>
              <a:off x="6248400" y="4978718"/>
              <a:ext cx="5410200" cy="1274445"/>
            </a:xfrm>
            <a:prstGeom prst="roundRect">
              <a:avLst>
                <a:gd name="adj" fmla="val 10463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8" name="Rectangle 48"/>
            <p:cNvSpPr/>
            <p:nvPr/>
          </p:nvSpPr>
          <p:spPr>
            <a:xfrm>
              <a:off x="6257925" y="5112068"/>
              <a:ext cx="47625" cy="1007745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490335" y="5182552"/>
              <a:ext cx="1204912" cy="25717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59842" y="5218271"/>
              <a:ext cx="10668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为什么不会太慢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83096" y="5555456"/>
              <a:ext cx="4703318" cy="5501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38"/>
                </a:lnSpc>
              </a:pPr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每退一次 k 至少变小 1，而 k 每轮最多加 1。退的总次数因</a:t>
              </a:r>
              <a:br/>
              <a:r>
                <a:rPr lang="zh-CN" sz="14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此被加的总次数卡住，这正是下一页 O(m) 证明的关键。</a:t>
              </a:r>
            </a:p>
          </p:txBody>
        </p:sp>
      </p:grpSp>
      <p:grpSp>
        <p:nvGrpSpPr>
          <p:cNvPr id="55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3" name="TextBox 53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41127" cy="909257"/>
            <a:chOff x="520446" y="342900"/>
            <a:chExt cx="5641127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98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005" y="407194"/>
              <a:ext cx="2834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数组的计算与复杂度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4112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把“不断退回去”写成一个 while 循环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2088832"/>
            <a:chOff x="533400" y="1524000"/>
            <a:chExt cx="6059805" cy="208883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2088832"/>
            </a:xfrm>
            <a:prstGeom prst="roundRect">
              <a:avLst>
                <a:gd name="adj" fmla="val 4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158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next 数组的计算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797" y="1935956"/>
              <a:ext cx="3855720" cy="16003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388"/>
                </a:lnSpc>
              </a:pP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buildNext(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next[],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next[0] = -1;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m - 1; j++) {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求 next[j+1]，此刻必有 k = next[j]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98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&gt;= 0 &amp;&amp; P[k] != P[j])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k = next[k];  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换成更短的相等前后缀 */</a:t>
              </a:r>
              <a:br/>
              <a:r>
                <a:rPr lang="en-US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next[j + 1] = ++k;      </a:t>
              </a:r>
              <a:r>
                <a:rPr lang="zh-CN" sz="98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两种情形合并成这一句 */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98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17" name="c1-card-2"/>
          <p:cNvGrpSpPr/>
          <p:nvPr/>
        </p:nvGrpSpPr>
        <p:grpSpPr>
          <a:xfrm>
            <a:off x="533400" y="3777615"/>
            <a:ext cx="6059805" cy="1779270"/>
            <a:chOff x="533400" y="3777615"/>
            <a:chExt cx="6059805" cy="1779270"/>
          </a:xfrm>
        </p:grpSpPr>
        <p:sp>
          <p:nvSpPr>
            <p:cNvPr id="11" name="Rectangle 11"/>
            <p:cNvSpPr/>
            <p:nvPr/>
          </p:nvSpPr>
          <p:spPr>
            <a:xfrm>
              <a:off x="533400" y="3777615"/>
              <a:ext cx="6059805" cy="1779270"/>
            </a:xfrm>
            <a:prstGeom prst="roundRect">
              <a:avLst>
                <a:gd name="adj" fmla="val 7495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542925" y="3910965"/>
              <a:ext cx="47625" cy="1512570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752475" y="395859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45147" y="399145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说明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318450" y="3998119"/>
              <a:ext cx="15637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源课件给了两个版本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45998" y="4314349"/>
              <a:ext cx="538556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源课件第 68 页在循环体开头还写了一句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k = next[j];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69 页指出它可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以省去：上一轮结束时 k 已经等于 next[j]。上面用的是省去之后的版本。</a:t>
              </a:r>
            </a:p>
          </p:txBody>
        </p:sp>
      </p:grpSp>
      <p:grpSp>
        <p:nvGrpSpPr>
          <p:cNvPr id="38" name="c2-flow-1"/>
          <p:cNvGrpSpPr/>
          <p:nvPr/>
        </p:nvGrpSpPr>
        <p:grpSpPr>
          <a:xfrm>
            <a:off x="6855142" y="1656398"/>
            <a:ext cx="4636770" cy="1645920"/>
            <a:chOff x="6855142" y="1656398"/>
            <a:chExt cx="4636770" cy="1645920"/>
          </a:xfrm>
        </p:grpSpPr>
        <p:sp>
          <p:nvSpPr>
            <p:cNvPr id="18" name="Freeform 18"/>
            <p:cNvSpPr/>
            <p:nvPr/>
          </p:nvSpPr>
          <p:spPr>
            <a:xfrm>
              <a:off x="8087678" y="2003108"/>
              <a:ext cx="9525" cy="25717"/>
            </a:xfrm>
            <a:custGeom>
              <a:avLst/>
              <a:gdLst/>
              <a:ahLst/>
              <a:cxnLst/>
              <a:rect l="l" t="t" r="r" b="b"/>
              <a:pathLst>
                <a:path w="9525" h="25717">
                  <a:moveTo>
                    <a:pt x="0" y="2571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8035290" y="2003108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0" name="Freeform 20"/>
            <p:cNvSpPr/>
            <p:nvPr/>
          </p:nvSpPr>
          <p:spPr>
            <a:xfrm>
              <a:off x="8087678" y="2825115"/>
              <a:ext cx="9525" cy="25717"/>
            </a:xfrm>
            <a:custGeom>
              <a:avLst/>
              <a:gdLst/>
              <a:ahLst/>
              <a:cxnLst/>
              <a:rect l="l" t="t" r="r" b="b"/>
              <a:pathLst>
                <a:path w="9525" h="25717">
                  <a:moveTo>
                    <a:pt x="0" y="25717"/>
                  </a:moveTo>
                  <a:lnTo>
                    <a:pt x="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8035290" y="2825115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52388" y="104775"/>
                  </a:moveTo>
                  <a:lnTo>
                    <a:pt x="0" y="0"/>
                  </a:lnTo>
                  <a:lnTo>
                    <a:pt x="104775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2" name="Freeform 22"/>
            <p:cNvSpPr/>
            <p:nvPr/>
          </p:nvSpPr>
          <p:spPr>
            <a:xfrm>
              <a:off x="9111615" y="2479358"/>
              <a:ext cx="228600" cy="9525"/>
            </a:xfrm>
            <a:custGeom>
              <a:avLst/>
              <a:gdLst/>
              <a:ahLst/>
              <a:cxnLst/>
              <a:rect l="l" t="t" r="r" b="b"/>
              <a:pathLst>
                <a:path w="228600" h="9525">
                  <a:moveTo>
                    <a:pt x="0" y="0"/>
                  </a:moveTo>
                  <a:lnTo>
                    <a:pt x="228600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3" name="Freeform 23"/>
            <p:cNvSpPr/>
            <p:nvPr/>
          </p:nvSpPr>
          <p:spPr>
            <a:xfrm>
              <a:off x="9340215" y="24269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4" name="Freeform 24"/>
            <p:cNvSpPr/>
            <p:nvPr/>
          </p:nvSpPr>
          <p:spPr>
            <a:xfrm>
              <a:off x="6855142" y="2479358"/>
              <a:ext cx="209550" cy="637222"/>
            </a:xfrm>
            <a:custGeom>
              <a:avLst/>
              <a:gdLst/>
              <a:ahLst/>
              <a:cxnLst/>
              <a:rect l="l" t="t" r="r" b="b"/>
              <a:pathLst>
                <a:path w="209550" h="637222">
                  <a:moveTo>
                    <a:pt x="209550" y="637222"/>
                  </a:moveTo>
                  <a:lnTo>
                    <a:pt x="0" y="637222"/>
                  </a:lnTo>
                  <a:lnTo>
                    <a:pt x="0" y="0"/>
                  </a:lnTo>
                  <a:lnTo>
                    <a:pt x="104775" y="0"/>
                  </a:lnTo>
                </a:path>
              </a:pathLst>
            </a:custGeom>
            <a:noFill/>
            <a:ln w="15240">
              <a:solidFill>
                <a:srgbClr val="5B6475"/>
              </a:solidFill>
            </a:ln>
          </p:spPr>
        </p:sp>
        <p:sp>
          <p:nvSpPr>
            <p:cNvPr id="25" name="Freeform 25"/>
            <p:cNvSpPr/>
            <p:nvPr/>
          </p:nvSpPr>
          <p:spPr>
            <a:xfrm>
              <a:off x="6959918" y="2426970"/>
              <a:ext cx="104775" cy="104775"/>
            </a:xfrm>
            <a:custGeom>
              <a:avLst/>
              <a:gdLst/>
              <a:ahLst/>
              <a:cxnLst/>
              <a:rect l="l" t="t" r="r" b="b"/>
              <a:pathLst>
                <a:path w="104775" h="104775">
                  <a:moveTo>
                    <a:pt x="104775" y="52388"/>
                  </a:moveTo>
                  <a:lnTo>
                    <a:pt x="0" y="10477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B6475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7064692" y="1656398"/>
              <a:ext cx="2046922" cy="3724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7" name="Freeform 27"/>
            <p:cNvSpPr/>
            <p:nvPr/>
          </p:nvSpPr>
          <p:spPr>
            <a:xfrm>
              <a:off x="7064692" y="2107882"/>
              <a:ext cx="2046922" cy="742950"/>
            </a:xfrm>
            <a:custGeom>
              <a:avLst/>
              <a:gdLst/>
              <a:ahLst/>
              <a:cxnLst/>
              <a:rect l="l" t="t" r="r" b="b"/>
              <a:pathLst>
                <a:path w="2046922" h="742950">
                  <a:moveTo>
                    <a:pt x="1022985" y="0"/>
                  </a:moveTo>
                  <a:lnTo>
                    <a:pt x="2046922" y="371475"/>
                  </a:lnTo>
                  <a:lnTo>
                    <a:pt x="1022985" y="742950"/>
                  </a:lnTo>
                  <a:lnTo>
                    <a:pt x="0" y="371475"/>
                  </a:lnTo>
                  <a:close/>
                </a:path>
              </a:pathLst>
            </a:cu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064692" y="2929890"/>
              <a:ext cx="2046922" cy="372428"/>
            </a:xfrm>
            <a:prstGeom prst="roundRect">
              <a:avLst>
                <a:gd name="adj" fmla="val 25575"/>
              </a:avLst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9444990" y="2293620"/>
              <a:ext cx="2046922" cy="372428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689034" y="1768792"/>
              <a:ext cx="79728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= next(j)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622286" y="2316480"/>
              <a:ext cx="930783" cy="38538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41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≥ 0 且 p[k] ≠</a:t>
              </a:r>
              <a:br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p[j] ?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690094" y="3043238"/>
              <a:ext cx="79516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← next(k)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861546" y="2406015"/>
              <a:ext cx="121285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next(j+1) ← k + 1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9168765" y="2811780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9211628" y="2834640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是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9173528" y="2283142"/>
              <a:ext cx="209550" cy="165735"/>
            </a:xfrm>
            <a:prstGeom prst="roundRect">
              <a:avLst>
                <a:gd name="adj" fmla="val 22989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212961" y="2306002"/>
              <a:ext cx="130683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否</a:t>
              </a:r>
            </a:p>
          </p:txBody>
        </p:sp>
      </p:grpSp>
      <p:grpSp>
        <p:nvGrpSpPr>
          <p:cNvPr id="48" name="c2-card-2"/>
          <p:cNvGrpSpPr/>
          <p:nvPr/>
        </p:nvGrpSpPr>
        <p:grpSpPr>
          <a:xfrm>
            <a:off x="6898005" y="3599498"/>
            <a:ext cx="4760595" cy="1957388"/>
            <a:chOff x="6898005" y="3599498"/>
            <a:chExt cx="4760595" cy="1957388"/>
          </a:xfrm>
        </p:grpSpPr>
        <p:sp>
          <p:nvSpPr>
            <p:cNvPr id="39" name="Rectangle 39"/>
            <p:cNvSpPr/>
            <p:nvPr/>
          </p:nvSpPr>
          <p:spPr>
            <a:xfrm>
              <a:off x="6898005" y="3599498"/>
              <a:ext cx="4760595" cy="1957388"/>
            </a:xfrm>
            <a:prstGeom prst="roundRect">
              <a:avLst>
                <a:gd name="adj" fmla="val 681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7078980" y="3780472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7163549" y="3813334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三处要点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7088505" y="417290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243953" y="4120991"/>
              <a:ext cx="40038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k = next[k]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：当前这对相等前后缀用不上，换成更短的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一对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7088505" y="470058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7243953" y="4648676"/>
              <a:ext cx="3545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k &gt;= 0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：退到 −1 就停，表示一个字符都接不上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7088505" y="498538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243953" y="4933474"/>
              <a:ext cx="388188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next[j+1] = ++k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：p[k] = p[j] 时 k 加 1；退到 −1 时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++k 得到 0</a:t>
              </a:r>
            </a:p>
          </p:txBody>
        </p:sp>
      </p:grpSp>
      <p:grpSp>
        <p:nvGrpSpPr>
          <p:cNvPr id="55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49" name="Rectangle 49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1041273" y="6039326"/>
              <a:ext cx="86286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这个版本只算到 next[m−1]。后面几个应用要用到 next[m] 或 next[n]，调用时必须把第三个参数写成 m + 1。</a:t>
              </a:r>
            </a:p>
          </p:txBody>
        </p:sp>
      </p:grpSp>
      <p:grpSp>
        <p:nvGrpSpPr>
          <p:cNvPr id="58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56" name="TextBox 56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484594" cy="909257"/>
            <a:chOff x="520446" y="342900"/>
            <a:chExt cx="648459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98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005" y="407194"/>
              <a:ext cx="2834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数组的计算与复杂度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48459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buildNext 是 O(m)，KMP 总共 O(n+m)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3" name="c1-card-1"/>
          <p:cNvGrpSpPr/>
          <p:nvPr/>
        </p:nvGrpSpPr>
        <p:grpSpPr>
          <a:xfrm>
            <a:off x="533400" y="1524000"/>
            <a:ext cx="5410200" cy="2912745"/>
            <a:chOff x="533400" y="1524000"/>
            <a:chExt cx="5410200" cy="291274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2912745"/>
            </a:xfrm>
            <a:prstGeom prst="roundRect">
              <a:avLst>
                <a:gd name="adj" fmla="val 45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264604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3905" y="1716405"/>
              <a:ext cx="60960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51344" y="1750695"/>
              <a:ext cx="4347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预处理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480947" y="1756410"/>
              <a:ext cx="292402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buildNext 的关键运算不超过 2m 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7047" y="2090738"/>
              <a:ext cx="465143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关键运算是字符比较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P[k] != P[j]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，它的次数取决于 k 增加与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减少的次数之和。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3905" y="263747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19583" y="267681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4702" y="2649855"/>
              <a:ext cx="442855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++k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在 for 循环体内，最多执行 m 次，所以 k 最多增加 m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次，每次加 1</a:t>
              </a:r>
            </a:p>
          </p:txBody>
        </p:sp>
        <p:sp>
          <p:nvSpPr>
            <p:cNvPr id="16" name="Ellipse 16"/>
            <p:cNvSpPr/>
            <p:nvPr/>
          </p:nvSpPr>
          <p:spPr>
            <a:xfrm>
              <a:off x="763905" y="319754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19583" y="323592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4702" y="3209925"/>
              <a:ext cx="32213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 的初值是 −1，过程中永远不会小于 −1</a:t>
              </a:r>
            </a:p>
          </p:txBody>
        </p:sp>
        <p:sp>
          <p:nvSpPr>
            <p:cNvPr id="19" name="Ellipse 19"/>
            <p:cNvSpPr/>
            <p:nvPr/>
          </p:nvSpPr>
          <p:spPr>
            <a:xfrm>
              <a:off x="763905" y="350043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19583" y="3538823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4702" y="3511868"/>
              <a:ext cx="4274248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由 2 可知 k 减少（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k = next[k]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）的次数不超过增加的次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数，也就是不超过 m 次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8190" y="4068604"/>
              <a:ext cx="21233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合计不超过 2m 次，即 </a:t>
              </a:r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O(m)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30" name="c1-callout-2"/>
          <p:cNvGrpSpPr/>
          <p:nvPr/>
        </p:nvGrpSpPr>
        <p:grpSpPr>
          <a:xfrm>
            <a:off x="533400" y="4611052"/>
            <a:ext cx="5410200" cy="729615"/>
            <a:chOff x="533400" y="4611052"/>
            <a:chExt cx="5410200" cy="729615"/>
          </a:xfrm>
        </p:grpSpPr>
        <p:sp>
          <p:nvSpPr>
            <p:cNvPr id="24" name="Rectangle 24"/>
            <p:cNvSpPr/>
            <p:nvPr/>
          </p:nvSpPr>
          <p:spPr>
            <a:xfrm>
              <a:off x="533400" y="4611052"/>
              <a:ext cx="5410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738188" y="4875848"/>
              <a:ext cx="200026" cy="200026"/>
              <a:chOff x="738188" y="4875848"/>
              <a:chExt cx="200026" cy="20002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738188" y="487584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838200" y="494252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827088" y="497586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1040892" y="4757737"/>
              <a:ext cx="44799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这类论证叫摊还分析：单次 while 可能转很多圈，但整个过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程的总圈数有上界。</a:t>
              </a:r>
            </a:p>
          </p:txBody>
        </p:sp>
      </p:grpSp>
      <p:grpSp>
        <p:nvGrpSpPr>
          <p:cNvPr id="46" name="c2-card-1"/>
          <p:cNvGrpSpPr/>
          <p:nvPr/>
        </p:nvGrpSpPr>
        <p:grpSpPr>
          <a:xfrm>
            <a:off x="6248400" y="1524000"/>
            <a:ext cx="5410200" cy="2095500"/>
            <a:chOff x="6248400" y="1524000"/>
            <a:chExt cx="5410200" cy="2095500"/>
          </a:xfrm>
        </p:grpSpPr>
        <p:sp>
          <p:nvSpPr>
            <p:cNvPr id="31" name="Rectangle 31"/>
            <p:cNvSpPr/>
            <p:nvPr/>
          </p:nvSpPr>
          <p:spPr>
            <a:xfrm>
              <a:off x="6248400" y="1524000"/>
              <a:ext cx="5410200" cy="2095500"/>
            </a:xfrm>
            <a:prstGeom prst="roundRect">
              <a:avLst>
                <a:gd name="adj" fmla="val 636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6257925" y="1657350"/>
              <a:ext cx="47625" cy="1828800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6478905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6570345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匹配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62597" y="1756410"/>
              <a:ext cx="295245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KMP 主循环的关键运算不超过 2n 次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6478905" y="2078355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6534583" y="2116741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759702" y="2090738"/>
              <a:ext cx="45117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从 0 出发，循环内永不减小，最多增加 n 次，每次加 1</a:t>
              </a:r>
            </a:p>
          </p:txBody>
        </p:sp>
        <p:sp>
          <p:nvSpPr>
            <p:cNvPr id="39" name="Ellipse 39"/>
            <p:cNvSpPr/>
            <p:nvPr/>
          </p:nvSpPr>
          <p:spPr>
            <a:xfrm>
              <a:off x="6478905" y="2380298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534583" y="2419636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759702" y="2392680"/>
              <a:ext cx="360302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j++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与 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i++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同步执行，所以 j 最多也增加 n 次</a:t>
              </a:r>
            </a:p>
          </p:txBody>
        </p:sp>
        <p:sp>
          <p:nvSpPr>
            <p:cNvPr id="42" name="Ellipse 42"/>
            <p:cNvSpPr/>
            <p:nvPr/>
          </p:nvSpPr>
          <p:spPr>
            <a:xfrm>
              <a:off x="6478905" y="2683192"/>
              <a:ext cx="192405" cy="19240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534583" y="2721578"/>
              <a:ext cx="81049" cy="1790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759702" y="2695575"/>
              <a:ext cx="4257104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最小从 −1 开始，迭代中永远不小于 −1，故 j 减少（</a:t>
              </a:r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 =</a:t>
              </a:r>
              <a:br/>
              <a:r>
                <a:rPr lang="en-US" sz="135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next[j]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）的次数不超过增加的次数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473190" y="3251359"/>
              <a:ext cx="20606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 xml:space="preserve">合计不超过 2n 次，即 </a:t>
              </a:r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O(n)</a:t>
              </a: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。</a:t>
              </a:r>
            </a:p>
          </p:txBody>
        </p:sp>
      </p:grpSp>
      <p:grpSp>
        <p:nvGrpSpPr>
          <p:cNvPr id="66" name="c2-table-2"/>
          <p:cNvGrpSpPr/>
          <p:nvPr/>
        </p:nvGrpSpPr>
        <p:grpSpPr>
          <a:xfrm>
            <a:off x="6248400" y="3794760"/>
            <a:ext cx="5410200" cy="1333500"/>
            <a:chOff x="6248400" y="3794760"/>
            <a:chExt cx="5410200" cy="1333500"/>
          </a:xfrm>
        </p:grpSpPr>
        <p:sp>
          <p:nvSpPr>
            <p:cNvPr id="47" name="Rectangle 47"/>
            <p:cNvSpPr/>
            <p:nvPr/>
          </p:nvSpPr>
          <p:spPr>
            <a:xfrm>
              <a:off x="6248400" y="3794760"/>
              <a:ext cx="5410200" cy="44481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60845" y="392239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算法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87284" y="3922395"/>
              <a:ext cx="558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预处理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336405" y="392239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匹配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724198" y="3922395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合计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347270" y="4367212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朴素算法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169021" y="4367212"/>
              <a:ext cx="1954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无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211924" y="4367212"/>
              <a:ext cx="626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O(nm)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599716" y="4367212"/>
              <a:ext cx="62615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O(nm)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6248400" y="4678680"/>
              <a:ext cx="5410200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248400" y="4683442"/>
              <a:ext cx="5410200" cy="44481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347270" y="4812030"/>
              <a:ext cx="3867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KMP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16945" y="4812030"/>
              <a:ext cx="4996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O(m)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293885" y="4812030"/>
              <a:ext cx="4622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0487922" y="4812030"/>
              <a:ext cx="8497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O(n + m)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6248400" y="3794760"/>
              <a:ext cx="5410200" cy="13335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63" name="Rectangle 63"/>
            <p:cNvSpPr/>
            <p:nvPr/>
          </p:nvSpPr>
          <p:spPr>
            <a:xfrm>
              <a:off x="7646670" y="3794760"/>
              <a:ext cx="9525" cy="1333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4" name="Rectangle 64"/>
            <p:cNvSpPr/>
            <p:nvPr/>
          </p:nvSpPr>
          <p:spPr>
            <a:xfrm>
              <a:off x="8878252" y="3794760"/>
              <a:ext cx="9525" cy="1333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5" name="Rectangle 65"/>
            <p:cNvSpPr/>
            <p:nvPr/>
          </p:nvSpPr>
          <p:spPr>
            <a:xfrm>
              <a:off x="10162222" y="3794760"/>
              <a:ext cx="9525" cy="13335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73" name="takeaway"/>
          <p:cNvGrpSpPr/>
          <p:nvPr/>
        </p:nvGrpSpPr>
        <p:grpSpPr>
          <a:xfrm>
            <a:off x="533400" y="5633085"/>
            <a:ext cx="11125200" cy="729615"/>
            <a:chOff x="533400" y="5633085"/>
            <a:chExt cx="11125200" cy="729615"/>
          </a:xfrm>
        </p:grpSpPr>
        <p:sp>
          <p:nvSpPr>
            <p:cNvPr id="67" name="Rectangle 67"/>
            <p:cNvSpPr/>
            <p:nvPr/>
          </p:nvSpPr>
          <p:spPr>
            <a:xfrm>
              <a:off x="533400" y="5633085"/>
              <a:ext cx="11125200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1" name="Group 71"/>
            <p:cNvGrpSpPr/>
            <p:nvPr/>
          </p:nvGrpSpPr>
          <p:grpSpPr>
            <a:xfrm>
              <a:off x="738188" y="5897880"/>
              <a:ext cx="200026" cy="200026"/>
              <a:chOff x="738188" y="5897880"/>
              <a:chExt cx="200026" cy="200026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738188" y="5897880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9" name="Freeform 69"/>
              <p:cNvSpPr/>
              <p:nvPr/>
            </p:nvSpPr>
            <p:spPr>
              <a:xfrm>
                <a:off x="838200" y="596455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27088" y="5997893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2" name="TextBox 72"/>
            <p:cNvSpPr txBox="1"/>
            <p:nvPr/>
          </p:nvSpPr>
          <p:spPr>
            <a:xfrm>
              <a:off x="1040892" y="5779770"/>
              <a:ext cx="9966389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两个结论的前提：关键运算按字符比较计数，单次字符比较是 O(1)，并额外用 O(m) 空间存 next 数组。若 m 极小且只判断是否出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现，朴素算法的常数更小。</a:t>
              </a:r>
            </a:p>
          </p:txBody>
        </p:sp>
      </p:grpSp>
      <p:grpSp>
        <p:nvGrpSpPr>
          <p:cNvPr id="7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4" name="TextBox 7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211573" cy="909257"/>
            <a:chOff x="520446" y="342900"/>
            <a:chExt cx="62115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292989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81005" y="407194"/>
              <a:ext cx="2834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数组的计算与复杂度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2115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例题：手算 P = abaabcac 的 next 数组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4929702" cy="264033"/>
            <a:chOff x="526542" y="1545907"/>
            <a:chExt cx="4929702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49297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逐列推进，每一轮开始时 k 恰好等于上一轮算出的 next[j]。</a:t>
              </a:r>
            </a:p>
          </p:txBody>
        </p:sp>
      </p:grpSp>
      <p:grpSp>
        <p:nvGrpSpPr>
          <p:cNvPr id="75" name="c1-table-1"/>
          <p:cNvGrpSpPr/>
          <p:nvPr/>
        </p:nvGrpSpPr>
        <p:grpSpPr>
          <a:xfrm>
            <a:off x="528447" y="1928812"/>
            <a:ext cx="5847588" cy="3696367"/>
            <a:chOff x="528447" y="1928812"/>
            <a:chExt cx="5847588" cy="3696367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798221" y="2045970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713" y="2045970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p[j]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15137" y="2045970"/>
              <a:ext cx="5608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 的变化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743537" y="2045970"/>
              <a:ext cx="7082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next[j+1]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41024" y="204597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校验的子串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9668" y="242697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42454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13954" y="2426970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53449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18114" y="242697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2687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533400" y="2691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79668" y="2808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42454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913954" y="2808923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 → −1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053449" y="2808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718114" y="2808923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3068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79668" y="318992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42454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913954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053449" y="3189923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718114" y="3189923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33400" y="344900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3400" y="345376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9668" y="3571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42454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828800" y="3463290"/>
              <a:ext cx="173355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913954" y="3571875"/>
              <a:ext cx="3287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0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053449" y="3571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18114" y="3571875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abaa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33400" y="3830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779668" y="3952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42454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913954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053449" y="3952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18114" y="3952875"/>
              <a:ext cx="39938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abaab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533400" y="421195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533400" y="4216718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79668" y="43338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42454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828800" y="4226242"/>
              <a:ext cx="173355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913954" y="4333875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 → 0 → −1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053449" y="433387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718114" y="4333875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abaabc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533400" y="45939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779668" y="4715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424549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913954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053449" y="4715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4718114" y="4715828"/>
              <a:ext cx="5548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abaabca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533400" y="4974908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533400" y="4979670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779668" y="509682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424549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1828800" y="4989195"/>
              <a:ext cx="1733550" cy="361950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1913954" y="5096828"/>
              <a:ext cx="64674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 → 0 → −1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053449" y="50968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718114" y="5096828"/>
              <a:ext cx="63261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abaabcac</a:t>
              </a:r>
            </a:p>
          </p:txBody>
        </p:sp>
        <p:sp>
          <p:nvSpPr>
            <p:cNvPr id="69" name="Rectangle 69"/>
            <p:cNvSpPr/>
            <p:nvPr/>
          </p:nvSpPr>
          <p:spPr>
            <a:xfrm>
              <a:off x="533400" y="1928812"/>
              <a:ext cx="5842635" cy="343281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1112520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181451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2" name="Rectangle 72"/>
            <p:cNvSpPr/>
            <p:nvPr/>
          </p:nvSpPr>
          <p:spPr>
            <a:xfrm>
              <a:off x="356711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3" name="Rectangle 73"/>
            <p:cNvSpPr/>
            <p:nvPr/>
          </p:nvSpPr>
          <p:spPr>
            <a:xfrm>
              <a:off x="4618672" y="1928812"/>
              <a:ext cx="9525" cy="343281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528447" y="5434489"/>
              <a:ext cx="427116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箭头表示这一轮里 k 被 k = next[k] 改了几次，红色的三行走的是情形二</a:t>
              </a:r>
            </a:p>
          </p:txBody>
        </p:sp>
      </p:grpSp>
      <p:grpSp>
        <p:nvGrpSpPr>
          <p:cNvPr id="127" name="c2-cells-1"/>
          <p:cNvGrpSpPr/>
          <p:nvPr/>
        </p:nvGrpSpPr>
        <p:grpSpPr>
          <a:xfrm>
            <a:off x="6675501" y="1928812"/>
            <a:ext cx="3996309" cy="1360171"/>
            <a:chOff x="6675501" y="1928812"/>
            <a:chExt cx="3996309" cy="1360171"/>
          </a:xfrm>
        </p:grpSpPr>
        <p:sp>
          <p:nvSpPr>
            <p:cNvPr id="76" name="TextBox 76"/>
            <p:cNvSpPr txBox="1"/>
            <p:nvPr/>
          </p:nvSpPr>
          <p:spPr>
            <a:xfrm>
              <a:off x="6675501" y="2041207"/>
              <a:ext cx="55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j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731901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748241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773811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90151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815721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832061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857631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73971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899541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915881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87" name="Rectangle 87"/>
            <p:cNvSpPr/>
            <p:nvPr/>
          </p:nvSpPr>
          <p:spPr>
            <a:xfrm>
              <a:off x="941451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957791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89" name="Rectangle 89"/>
            <p:cNvSpPr/>
            <p:nvPr/>
          </p:nvSpPr>
          <p:spPr>
            <a:xfrm>
              <a:off x="983361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999701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91" name="Rectangle 91"/>
            <p:cNvSpPr/>
            <p:nvPr/>
          </p:nvSpPr>
          <p:spPr>
            <a:xfrm>
              <a:off x="10252710" y="192881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10416111" y="2041207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6675501" y="2543175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p[j]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731901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748241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773811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790151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815721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832061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857631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873971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2" name="Rectangle 102"/>
            <p:cNvSpPr/>
            <p:nvPr/>
          </p:nvSpPr>
          <p:spPr>
            <a:xfrm>
              <a:off x="899541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915881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04" name="Rectangle 104"/>
            <p:cNvSpPr/>
            <p:nvPr/>
          </p:nvSpPr>
          <p:spPr>
            <a:xfrm>
              <a:off x="941451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957791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06" name="Rectangle 106"/>
            <p:cNvSpPr/>
            <p:nvPr/>
          </p:nvSpPr>
          <p:spPr>
            <a:xfrm>
              <a:off x="983361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7" name="TextBox 107"/>
            <p:cNvSpPr txBox="1"/>
            <p:nvPr/>
          </p:nvSpPr>
          <p:spPr>
            <a:xfrm>
              <a:off x="999701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8" name="Rectangle 108"/>
            <p:cNvSpPr/>
            <p:nvPr/>
          </p:nvSpPr>
          <p:spPr>
            <a:xfrm>
              <a:off x="10252710" y="243078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09" name="TextBox 109"/>
            <p:cNvSpPr txBox="1"/>
            <p:nvPr/>
          </p:nvSpPr>
          <p:spPr>
            <a:xfrm>
              <a:off x="10416111" y="254317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6675501" y="3045143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next(j)</a:t>
              </a:r>
            </a:p>
          </p:txBody>
        </p:sp>
        <p:sp>
          <p:nvSpPr>
            <p:cNvPr id="111" name="Rectangle 111"/>
            <p:cNvSpPr/>
            <p:nvPr/>
          </p:nvSpPr>
          <p:spPr>
            <a:xfrm>
              <a:off x="7319010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7441596" y="3045143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13" name="Rectangle 113"/>
            <p:cNvSpPr/>
            <p:nvPr/>
          </p:nvSpPr>
          <p:spPr>
            <a:xfrm>
              <a:off x="7738110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7901511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5" name="Rectangle 115"/>
            <p:cNvSpPr/>
            <p:nvPr/>
          </p:nvSpPr>
          <p:spPr>
            <a:xfrm>
              <a:off x="8157210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8320611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8576310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8739711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9" name="Rectangle 119"/>
            <p:cNvSpPr/>
            <p:nvPr/>
          </p:nvSpPr>
          <p:spPr>
            <a:xfrm>
              <a:off x="8995410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0" name="TextBox 120"/>
            <p:cNvSpPr txBox="1"/>
            <p:nvPr/>
          </p:nvSpPr>
          <p:spPr>
            <a:xfrm>
              <a:off x="9158811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9414510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9577911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3" name="Rectangle 123"/>
            <p:cNvSpPr/>
            <p:nvPr/>
          </p:nvSpPr>
          <p:spPr>
            <a:xfrm>
              <a:off x="9833610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4" name="TextBox 124"/>
            <p:cNvSpPr txBox="1"/>
            <p:nvPr/>
          </p:nvSpPr>
          <p:spPr>
            <a:xfrm>
              <a:off x="9997011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10252710" y="293274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10416111" y="304514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137" name="c2-card-2"/>
          <p:cNvGrpSpPr/>
          <p:nvPr/>
        </p:nvGrpSpPr>
        <p:grpSpPr>
          <a:xfrm>
            <a:off x="6680835" y="3453765"/>
            <a:ext cx="4977765" cy="2132648"/>
            <a:chOff x="6680835" y="3453765"/>
            <a:chExt cx="4977765" cy="2132648"/>
          </a:xfrm>
        </p:grpSpPr>
        <p:sp>
          <p:nvSpPr>
            <p:cNvPr id="128" name="Rectangle 128"/>
            <p:cNvSpPr/>
            <p:nvPr/>
          </p:nvSpPr>
          <p:spPr>
            <a:xfrm>
              <a:off x="6680835" y="3453765"/>
              <a:ext cx="4977765" cy="2132648"/>
            </a:xfrm>
            <a:prstGeom prst="roundRect">
              <a:avLst>
                <a:gd name="adj" fmla="val 625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29" name="Rectangle 129"/>
            <p:cNvSpPr/>
            <p:nvPr/>
          </p:nvSpPr>
          <p:spPr>
            <a:xfrm>
              <a:off x="6861810" y="3634740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30" name="TextBox 130"/>
            <p:cNvSpPr txBox="1"/>
            <p:nvPr/>
          </p:nvSpPr>
          <p:spPr>
            <a:xfrm>
              <a:off x="6947332" y="3667601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自查办法</a:t>
              </a:r>
            </a:p>
          </p:txBody>
        </p:sp>
        <p:sp>
          <p:nvSpPr>
            <p:cNvPr id="131" name="TextBox 131"/>
            <p:cNvSpPr txBox="1"/>
            <p:nvPr/>
          </p:nvSpPr>
          <p:spPr>
            <a:xfrm>
              <a:off x="7677341" y="3674269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每算一个就回头数一遍</a:t>
              </a:r>
            </a:p>
          </p:txBody>
        </p:sp>
        <p:sp>
          <p:nvSpPr>
            <p:cNvPr id="132" name="Ellipse 132"/>
            <p:cNvSpPr/>
            <p:nvPr/>
          </p:nvSpPr>
          <p:spPr>
            <a:xfrm>
              <a:off x="6871335" y="4043362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3" name="TextBox 133"/>
            <p:cNvSpPr txBox="1"/>
            <p:nvPr/>
          </p:nvSpPr>
          <p:spPr>
            <a:xfrm>
              <a:off x="7026783" y="3990499"/>
              <a:ext cx="4125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next[5] = 2，对应 p[0..4] = abaab，前缀 ab 等于后缀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ab，长度确实是 2</a:t>
              </a:r>
            </a:p>
          </p:txBody>
        </p:sp>
        <p:sp>
          <p:nvSpPr>
            <p:cNvPr id="134" name="Ellipse 134"/>
            <p:cNvSpPr/>
            <p:nvPr/>
          </p:nvSpPr>
          <p:spPr>
            <a:xfrm>
              <a:off x="6871335" y="457104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7026783" y="4519136"/>
              <a:ext cx="412572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next[6] = 0，对应 p[0..5] = abaabc，末尾是 c 而开头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是 a，接不上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6856476" y="5042535"/>
              <a:ext cx="432454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若还要用到 next[8]，把循环条件改成 j &lt; m。abaabcac 没有非空的相等</a:t>
              </a:r>
              <a:br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前后缀，所以 next[8] = 0。</a:t>
              </a:r>
            </a:p>
          </p:txBody>
        </p:sp>
      </p:grpSp>
      <p:grpSp>
        <p:nvGrpSpPr>
          <p:cNvPr id="144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138" name="Rectangle 138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142" name="Group 142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139" name="Freeform 139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0" name="Freeform 140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141" name="Freeform 141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143" name="TextBox 143"/>
            <p:cNvSpPr txBox="1"/>
            <p:nvPr/>
          </p:nvSpPr>
          <p:spPr>
            <a:xfrm>
              <a:off x="1041273" y="6039326"/>
              <a:ext cx="835293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 3、5、7 行的 k 退了不止一次，正是情形二。把这三行的退化过程按上一页的图走一遍，递推就算吃透了。</a:t>
              </a:r>
            </a:p>
          </p:txBody>
        </p:sp>
      </p:grpSp>
      <p:grpSp>
        <p:nvGrpSpPr>
          <p:cNvPr id="1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45" name="TextBox 1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46" name="TextBox 1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-disc"/>
          <p:cNvSpPr/>
          <p:nvPr/>
        </p:nvSpPr>
        <p:spPr>
          <a:xfrm>
            <a:off x="7715250" y="571500"/>
            <a:ext cx="5715000" cy="5715000"/>
          </a:xfrm>
          <a:prstGeom prst="ellipse">
            <a:avLst/>
          </a:prstGeom>
          <a:solidFill>
            <a:srgbClr val="1F5FA8"/>
          </a:solidFill>
          <a:ln>
            <a:noFill/>
          </a:ln>
        </p:spPr>
      </p:sp>
      <p:sp>
        <p:nvSpPr>
          <p:cNvPr id="3" name="section-ring"/>
          <p:cNvSpPr/>
          <p:nvPr/>
        </p:nvSpPr>
        <p:spPr>
          <a:xfrm>
            <a:off x="7334250" y="190500"/>
            <a:ext cx="6477000" cy="6477000"/>
          </a:xfrm>
          <a:prstGeom prst="ellipse">
            <a:avLst/>
          </a:prstGeom>
          <a:noFill/>
          <a:ln w="133350">
            <a:solidFill>
              <a:srgbClr val="E6EFF9"/>
            </a:solidFill>
          </a:ln>
        </p:spPr>
      </p:sp>
      <p:grpSp>
        <p:nvGrpSpPr>
          <p:cNvPr id="5" name="section-num"/>
          <p:cNvGrpSpPr/>
          <p:nvPr/>
        </p:nvGrpSpPr>
        <p:grpSpPr>
          <a:xfrm>
            <a:off x="8954033" y="2705100"/>
            <a:ext cx="1903933" cy="2305050"/>
            <a:chOff x="8954033" y="2705100"/>
            <a:chExt cx="1903933" cy="2305050"/>
          </a:xfrm>
        </p:grpSpPr>
        <p:sp>
          <p:nvSpPr>
            <p:cNvPr id="4" name="TextBox 4"/>
            <p:cNvSpPr txBox="1"/>
            <p:nvPr/>
          </p:nvSpPr>
          <p:spPr>
            <a:xfrm>
              <a:off x="8954033" y="2705100"/>
              <a:ext cx="1903933" cy="2305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16" name="section-title"/>
          <p:cNvGrpSpPr/>
          <p:nvPr/>
        </p:nvGrpSpPr>
        <p:grpSpPr>
          <a:xfrm>
            <a:off x="667512" y="1835468"/>
            <a:ext cx="6070473" cy="3569017"/>
            <a:chOff x="667512" y="1835468"/>
            <a:chExt cx="6070473" cy="3569017"/>
          </a:xfrm>
        </p:grpSpPr>
        <p:sp>
          <p:nvSpPr>
            <p:cNvPr id="6" name="TextBox 6"/>
            <p:cNvSpPr txBox="1"/>
            <p:nvPr/>
          </p:nvSpPr>
          <p:spPr>
            <a:xfrm>
              <a:off x="678942" y="18354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第五部分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67512" y="2240280"/>
              <a:ext cx="6070473" cy="12755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4500"/>
                </a:lnSpc>
              </a:pPr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 的改进与 KMP 的隐藏应</a:t>
              </a:r>
              <a:br/>
              <a:r>
                <a:rPr lang="zh-CN" sz="36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85800" y="3612832"/>
              <a:ext cx="762000" cy="47625"/>
            </a:xfrm>
            <a:prstGeom prst="roundRect">
              <a:avLst>
                <a:gd name="adj" fmla="val 50000"/>
              </a:avLst>
            </a:prstGeom>
            <a:solidFill>
              <a:srgbClr val="F26B3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677418" y="3949065"/>
              <a:ext cx="512559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把失败比对的教训也用上，顺便解决几道面试常考题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723900" y="445960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06780" y="4402455"/>
              <a:ext cx="159029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 next 的浪费</a:t>
              </a:r>
            </a:p>
          </p:txBody>
        </p:sp>
        <p:sp>
          <p:nvSpPr>
            <p:cNvPr id="12" name="Ellipse 12"/>
            <p:cNvSpPr/>
            <p:nvPr/>
          </p:nvSpPr>
          <p:spPr>
            <a:xfrm>
              <a:off x="723900" y="481393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06780" y="4756785"/>
              <a:ext cx="17013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改进的 next2 函数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723900" y="5168265"/>
              <a:ext cx="76200" cy="7620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906780" y="5111115"/>
              <a:ext cx="26403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出现次数、回文前缀、循环节</a:t>
              </a:r>
            </a:p>
          </p:txBody>
        </p:sp>
      </p:grpSp>
      <p:grpSp>
        <p:nvGrpSpPr>
          <p:cNvPr id="1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7" name="TextBox 1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7557493" cy="909257"/>
            <a:chOff x="520446" y="342900"/>
            <a:chExt cx="755749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95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974" y="407194"/>
              <a:ext cx="3244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的改进与 KMP 的隐藏应用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75574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 next 的浪费：有些失配是可以预先看出来的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7" name="c1-cells-1"/>
          <p:cNvGrpSpPr/>
          <p:nvPr/>
        </p:nvGrpSpPr>
        <p:grpSpPr>
          <a:xfrm>
            <a:off x="527685" y="1569720"/>
            <a:ext cx="6281738" cy="1885950"/>
            <a:chOff x="527685" y="1569720"/>
            <a:chExt cx="6281738" cy="1885950"/>
          </a:xfrm>
        </p:grpSpPr>
        <p:sp>
          <p:nvSpPr>
            <p:cNvPr id="7" name="TextBox 7"/>
            <p:cNvSpPr txBox="1"/>
            <p:nvPr/>
          </p:nvSpPr>
          <p:spPr>
            <a:xfrm>
              <a:off x="527685" y="1939766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1683068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83098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2077402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222531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2471738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261965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866072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01398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3260408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340832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654742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80265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4049078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19699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4443412" y="1819275"/>
              <a:ext cx="394335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59132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837748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98566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232082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37999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626418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77433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020752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6168669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415088" y="1819275"/>
              <a:ext cx="394335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63004" y="1939766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845116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3945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633786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02812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422456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81679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11126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60546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999796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394131" y="225409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758109" y="2254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6152444" y="2254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546779" y="225409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508602" y="1569720"/>
              <a:ext cx="26395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i = 7</a:t>
              </a:r>
            </a:p>
          </p:txBody>
        </p:sp>
        <p:sp>
          <p:nvSpPr>
            <p:cNvPr id="48" name="Freeform 48"/>
            <p:cNvSpPr/>
            <p:nvPr/>
          </p:nvSpPr>
          <p:spPr>
            <a:xfrm>
              <a:off x="4602480" y="172402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527685" y="2657951"/>
              <a:ext cx="4551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本趟 P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1683068" y="253746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84336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2102168" y="253746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226246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2521268" y="2537460"/>
              <a:ext cx="419100" cy="381000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268156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2940368" y="2537460"/>
              <a:ext cx="419100" cy="381000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310066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3359468" y="253746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351976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3778568" y="253746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393886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4197668" y="2537460"/>
              <a:ext cx="419100" cy="381000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435796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4616768" y="253746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4777066" y="2657951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527685" y="3196114"/>
              <a:ext cx="10883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next(7) = 3 后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1683068" y="307467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8" name="Rectangle 68"/>
            <p:cNvSpPr/>
            <p:nvPr/>
          </p:nvSpPr>
          <p:spPr>
            <a:xfrm>
              <a:off x="2102168" y="307467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2521268" y="307467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0" name="Rectangle 70"/>
            <p:cNvSpPr/>
            <p:nvPr/>
          </p:nvSpPr>
          <p:spPr>
            <a:xfrm>
              <a:off x="2940368" y="3074670"/>
              <a:ext cx="419100" cy="381000"/>
            </a:xfrm>
            <a:prstGeom prst="rect">
              <a:avLst/>
            </a:prstGeom>
            <a:solidFill>
              <a:srgbClr val="F4F6FB"/>
            </a:solidFill>
            <a:ln w="15240">
              <a:solidFill>
                <a:srgbClr val="1F5FA8"/>
              </a:solidFill>
            </a:ln>
          </p:spPr>
        </p:sp>
        <p:sp>
          <p:nvSpPr>
            <p:cNvPr id="71" name="Rectangle 71"/>
            <p:cNvSpPr/>
            <p:nvPr/>
          </p:nvSpPr>
          <p:spPr>
            <a:xfrm>
              <a:off x="3359468" y="30746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3519766" y="31961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3778568" y="30746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3938866" y="31961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75" name="Rectangle 75"/>
            <p:cNvSpPr/>
            <p:nvPr/>
          </p:nvSpPr>
          <p:spPr>
            <a:xfrm>
              <a:off x="4197668" y="30746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4357966" y="31961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77" name="Rectangle 77"/>
            <p:cNvSpPr/>
            <p:nvPr/>
          </p:nvSpPr>
          <p:spPr>
            <a:xfrm>
              <a:off x="4616768" y="3074670"/>
              <a:ext cx="419100" cy="381000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4777066" y="31961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79" name="Rectangle 79"/>
            <p:cNvSpPr/>
            <p:nvPr/>
          </p:nvSpPr>
          <p:spPr>
            <a:xfrm>
              <a:off x="5035868" y="30746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5196166" y="31961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1" name="Rectangle 81"/>
            <p:cNvSpPr/>
            <p:nvPr/>
          </p:nvSpPr>
          <p:spPr>
            <a:xfrm>
              <a:off x="5454968" y="30746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5615266" y="31961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83" name="Rectangle 83"/>
            <p:cNvSpPr/>
            <p:nvPr/>
          </p:nvSpPr>
          <p:spPr>
            <a:xfrm>
              <a:off x="5874068" y="30746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6034366" y="31961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5" name="Rectangle 85"/>
            <p:cNvSpPr/>
            <p:nvPr/>
          </p:nvSpPr>
          <p:spPr>
            <a:xfrm>
              <a:off x="6293168" y="3074670"/>
              <a:ext cx="419100" cy="381000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6453466" y="3196114"/>
              <a:ext cx="985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</p:grpSp>
      <p:grpSp>
        <p:nvGrpSpPr>
          <p:cNvPr id="89" name="c1-text-2"/>
          <p:cNvGrpSpPr/>
          <p:nvPr/>
        </p:nvGrpSpPr>
        <p:grpSpPr>
          <a:xfrm>
            <a:off x="527685" y="3650456"/>
            <a:ext cx="5992622" cy="441008"/>
            <a:chOff x="527685" y="3650456"/>
            <a:chExt cx="5992622" cy="441008"/>
          </a:xfrm>
        </p:grpSpPr>
        <p:sp>
          <p:nvSpPr>
            <p:cNvPr id="88" name="TextBox 88"/>
            <p:cNvSpPr txBox="1"/>
            <p:nvPr/>
          </p:nvSpPr>
          <p:spPr>
            <a:xfrm>
              <a:off x="527685" y="3650456"/>
              <a:ext cx="5992622" cy="4410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40"/>
                </a:lnSpc>
              </a:pPr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abaxabax，在 j = 7 处失配。next(7) = 3，P 右移 4 位，新的 j = 3，对应的字符仍是 p[3]</a:t>
              </a:r>
              <a:br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x。</a:t>
              </a:r>
            </a:p>
          </p:txBody>
        </p:sp>
      </p:grpSp>
      <p:grpSp>
        <p:nvGrpSpPr>
          <p:cNvPr id="96" name="c1-callout-3"/>
          <p:cNvGrpSpPr/>
          <p:nvPr/>
        </p:nvGrpSpPr>
        <p:grpSpPr>
          <a:xfrm>
            <a:off x="533400" y="4222432"/>
            <a:ext cx="6276022" cy="1864995"/>
            <a:chOff x="533400" y="4222432"/>
            <a:chExt cx="6276022" cy="1864995"/>
          </a:xfrm>
        </p:grpSpPr>
        <p:sp>
          <p:nvSpPr>
            <p:cNvPr id="90" name="Rectangle 90"/>
            <p:cNvSpPr/>
            <p:nvPr/>
          </p:nvSpPr>
          <p:spPr>
            <a:xfrm>
              <a:off x="533400" y="4222432"/>
              <a:ext cx="6276022" cy="1864995"/>
            </a:xfrm>
            <a:prstGeom prst="roundRect">
              <a:avLst>
                <a:gd name="adj" fmla="val 6129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94" name="Group 94"/>
            <p:cNvGrpSpPr/>
            <p:nvPr/>
          </p:nvGrpSpPr>
          <p:grpSpPr>
            <a:xfrm>
              <a:off x="726129" y="5051226"/>
              <a:ext cx="224134" cy="192560"/>
              <a:chOff x="726129" y="5051226"/>
              <a:chExt cx="224134" cy="192560"/>
            </a:xfrm>
          </p:grpSpPr>
          <p:sp>
            <p:nvSpPr>
              <p:cNvPr id="91" name="Freeform 91"/>
              <p:cNvSpPr/>
              <p:nvPr/>
            </p:nvSpPr>
            <p:spPr>
              <a:xfrm>
                <a:off x="838200" y="512159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2" name="Freeform 92"/>
              <p:cNvSpPr/>
              <p:nvPr/>
            </p:nvSpPr>
            <p:spPr>
              <a:xfrm>
                <a:off x="726129" y="505122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3" name="Freeform 93"/>
              <p:cNvSpPr/>
              <p:nvPr/>
            </p:nvSpPr>
            <p:spPr>
              <a:xfrm>
                <a:off x="838200" y="519938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95" name="TextBox 95"/>
            <p:cNvSpPr txBox="1"/>
            <p:nvPr/>
          </p:nvSpPr>
          <p:spPr>
            <a:xfrm>
              <a:off x="1040892" y="4936808"/>
              <a:ext cx="511435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s[7] ≠ p[7] = x，而 p[3] 也是 x，所以 s[7] ≠ p[3]。右移之后的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第一次比对必然再次失败。</a:t>
              </a:r>
            </a:p>
          </p:txBody>
        </p:sp>
      </p:grpSp>
      <p:grpSp>
        <p:nvGrpSpPr>
          <p:cNvPr id="107" name="c2-card-1"/>
          <p:cNvGrpSpPr/>
          <p:nvPr/>
        </p:nvGrpSpPr>
        <p:grpSpPr>
          <a:xfrm>
            <a:off x="7114222" y="1524000"/>
            <a:ext cx="4544378" cy="2257425"/>
            <a:chOff x="7114222" y="1524000"/>
            <a:chExt cx="4544378" cy="2257425"/>
          </a:xfrm>
        </p:grpSpPr>
        <p:sp>
          <p:nvSpPr>
            <p:cNvPr id="97" name="Rectangle 97"/>
            <p:cNvSpPr/>
            <p:nvPr/>
          </p:nvSpPr>
          <p:spPr>
            <a:xfrm>
              <a:off x="7114222" y="1524000"/>
              <a:ext cx="4544378" cy="2257425"/>
            </a:xfrm>
            <a:prstGeom prst="roundRect">
              <a:avLst>
                <a:gd name="adj" fmla="val 590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8" name="Rectangle 98"/>
            <p:cNvSpPr/>
            <p:nvPr/>
          </p:nvSpPr>
          <p:spPr>
            <a:xfrm>
              <a:off x="7123748" y="1657350"/>
              <a:ext cx="47625" cy="1990725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9" name="Rectangle 99"/>
            <p:cNvSpPr/>
            <p:nvPr/>
          </p:nvSpPr>
          <p:spPr>
            <a:xfrm>
              <a:off x="7344728" y="1716405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436168" y="1750695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问题</a:t>
              </a:r>
            </a:p>
          </p:txBody>
        </p:sp>
        <p:sp>
          <p:nvSpPr>
            <p:cNvPr id="101" name="TextBox 101"/>
            <p:cNvSpPr txBox="1"/>
            <p:nvPr/>
          </p:nvSpPr>
          <p:spPr>
            <a:xfrm>
              <a:off x="7928420" y="1756410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只用了成功的经验，没用失败的教训</a:t>
              </a:r>
            </a:p>
          </p:txBody>
        </p:sp>
        <p:sp>
          <p:nvSpPr>
            <p:cNvPr id="102" name="Ellipse 102"/>
            <p:cNvSpPr/>
            <p:nvPr/>
          </p:nvSpPr>
          <p:spPr>
            <a:xfrm>
              <a:off x="7353300" y="214693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7509320" y="2090738"/>
              <a:ext cx="3640312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在 p[j] 处失配说明 </a:t>
              </a:r>
              <a:r>
                <a:rPr lang="en-US" sz="135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s[i] ≠ p[j]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，这是一条确定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的信息</a:t>
              </a:r>
            </a:p>
          </p:txBody>
        </p:sp>
        <p:sp>
          <p:nvSpPr>
            <p:cNvPr id="104" name="Ellipse 104"/>
            <p:cNvSpPr/>
            <p:nvPr/>
          </p:nvSpPr>
          <p:spPr>
            <a:xfrm>
              <a:off x="7353300" y="2706052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5" name="TextBox 105"/>
            <p:cNvSpPr txBox="1"/>
            <p:nvPr/>
          </p:nvSpPr>
          <p:spPr>
            <a:xfrm>
              <a:off x="7509320" y="2649855"/>
              <a:ext cx="364845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 p[k] = p[j]，则必有 s[i] ≠ p[k]，下一趟第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一次比对一定失败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7339012" y="3205639"/>
              <a:ext cx="3837686" cy="4276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35"/>
                </a:lnSpc>
              </a:pPr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原始 next 只保证“前面那一段能对上”，没有管新的那个字符</a:t>
              </a:r>
              <a:br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会不会立刻失配。</a:t>
              </a:r>
            </a:p>
          </p:txBody>
        </p:sp>
      </p:grpSp>
      <p:grpSp>
        <p:nvGrpSpPr>
          <p:cNvPr id="113" name="c2-card-2"/>
          <p:cNvGrpSpPr/>
          <p:nvPr/>
        </p:nvGrpSpPr>
        <p:grpSpPr>
          <a:xfrm>
            <a:off x="7114222" y="3956685"/>
            <a:ext cx="4544378" cy="1226820"/>
            <a:chOff x="7114222" y="3956685"/>
            <a:chExt cx="4544378" cy="1226820"/>
          </a:xfrm>
        </p:grpSpPr>
        <p:sp>
          <p:nvSpPr>
            <p:cNvPr id="108" name="Rectangle 108"/>
            <p:cNvSpPr/>
            <p:nvPr/>
          </p:nvSpPr>
          <p:spPr>
            <a:xfrm>
              <a:off x="7114222" y="3956685"/>
              <a:ext cx="4544378" cy="1226820"/>
            </a:xfrm>
            <a:prstGeom prst="roundRect">
              <a:avLst>
                <a:gd name="adj" fmla="val 1087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9" name="Rectangle 109"/>
            <p:cNvSpPr/>
            <p:nvPr/>
          </p:nvSpPr>
          <p:spPr>
            <a:xfrm>
              <a:off x="7306628" y="4149090"/>
              <a:ext cx="476250" cy="247650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10" name="TextBox 110"/>
            <p:cNvSpPr txBox="1"/>
            <p:nvPr/>
          </p:nvSpPr>
          <p:spPr>
            <a:xfrm>
              <a:off x="7398068" y="418338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改法</a:t>
              </a:r>
            </a:p>
          </p:txBody>
        </p:sp>
        <p:sp>
          <p:nvSpPr>
            <p:cNvPr id="111" name="TextBox 111"/>
            <p:cNvSpPr txBox="1"/>
            <p:nvPr/>
          </p:nvSpPr>
          <p:spPr>
            <a:xfrm>
              <a:off x="7890320" y="4189095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挑相等前后缀时多加一个条件</a:t>
              </a:r>
            </a:p>
          </p:txBody>
        </p:sp>
        <p:sp>
          <p:nvSpPr>
            <p:cNvPr id="112" name="TextBox 112"/>
            <p:cNvSpPr txBox="1"/>
            <p:nvPr/>
          </p:nvSpPr>
          <p:spPr>
            <a:xfrm>
              <a:off x="7299770" y="4522470"/>
              <a:ext cx="387134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前缀后面的那个字符 p[k]，不能等于当前失配位置</a:t>
              </a:r>
              <a:br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的字符 p[j]。</a:t>
              </a:r>
            </a:p>
          </p:txBody>
        </p:sp>
      </p:grpSp>
      <p:grpSp>
        <p:nvGrpSpPr>
          <p:cNvPr id="120" name="c2-callout-3"/>
          <p:cNvGrpSpPr/>
          <p:nvPr/>
        </p:nvGrpSpPr>
        <p:grpSpPr>
          <a:xfrm>
            <a:off x="7114222" y="5358765"/>
            <a:ext cx="4544378" cy="729615"/>
            <a:chOff x="7114222" y="5358765"/>
            <a:chExt cx="4544378" cy="729615"/>
          </a:xfrm>
        </p:grpSpPr>
        <p:sp>
          <p:nvSpPr>
            <p:cNvPr id="114" name="Rectangle 114"/>
            <p:cNvSpPr/>
            <p:nvPr/>
          </p:nvSpPr>
          <p:spPr>
            <a:xfrm>
              <a:off x="7114222" y="5358765"/>
              <a:ext cx="4544378" cy="729615"/>
            </a:xfrm>
            <a:prstGeom prst="roundRect">
              <a:avLst>
                <a:gd name="adj" fmla="val 15666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18" name="Group 118"/>
            <p:cNvGrpSpPr/>
            <p:nvPr/>
          </p:nvGrpSpPr>
          <p:grpSpPr>
            <a:xfrm>
              <a:off x="7319010" y="5622608"/>
              <a:ext cx="200026" cy="200026"/>
              <a:chOff x="7319010" y="5622608"/>
              <a:chExt cx="200026" cy="200026"/>
            </a:xfrm>
          </p:grpSpPr>
          <p:sp>
            <p:nvSpPr>
              <p:cNvPr id="115" name="Freeform 115"/>
              <p:cNvSpPr/>
              <p:nvPr/>
            </p:nvSpPr>
            <p:spPr>
              <a:xfrm>
                <a:off x="7319010" y="562260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7419023" y="568928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17" name="Freeform 117"/>
              <p:cNvSpPr/>
              <p:nvPr/>
            </p:nvSpPr>
            <p:spPr>
              <a:xfrm>
                <a:off x="7407910" y="572262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19" name="TextBox 119"/>
            <p:cNvSpPr txBox="1"/>
            <p:nvPr/>
          </p:nvSpPr>
          <p:spPr>
            <a:xfrm>
              <a:off x="7621714" y="5504498"/>
              <a:ext cx="3605594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改进后的函数记作 next2，也写作 nextval。它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只改预处理，KMP 主循环一个字符都不用动。</a:t>
              </a:r>
            </a:p>
          </p:txBody>
        </p:sp>
      </p:grpSp>
      <p:grpSp>
        <p:nvGrpSpPr>
          <p:cNvPr id="12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21" name="TextBox 12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31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8292973" cy="909257"/>
            <a:chOff x="520446" y="342900"/>
            <a:chExt cx="8292973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95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974" y="407194"/>
              <a:ext cx="3244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的改进与 KMP 的隐藏应用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829297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改进的 next2：在相等前后缀之外再要求 p[k] ≠ p[j]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formula59"/>
              <p:cNvSpPr txBox="1">
                <a:spLocks noGrp="1"/>
              </p:cNvSpPr>
              <p:nvPr/>
            </p:nvSpPr>
            <p:spPr>
              <a:xfrm>
                <a:off x="533400" y="1524000"/>
                <a:ext cx="5842635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0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⋯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−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sub>
                      </m:sSub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m:rPr>
                          <m:nor m:val="on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且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k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≠</m:t>
                      </m:r>
                      <m:sSub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p</m:t>
                          </m:r>
                        </m:e>
                        <m:sub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sub>
                      </m:sSub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k</m:t>
                      </m:r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&lt;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j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34" name="c1-table-2"/>
          <p:cNvGrpSpPr/>
          <p:nvPr/>
        </p:nvGrpSpPr>
        <p:grpSpPr>
          <a:xfrm>
            <a:off x="533400" y="2209800"/>
            <a:ext cx="5842635" cy="2697480"/>
            <a:chOff x="533400" y="2209800"/>
            <a:chExt cx="5842635" cy="2697480"/>
          </a:xfrm>
        </p:grpSpPr>
        <p:sp>
          <p:nvSpPr>
            <p:cNvPr id="8" name="Rectangle 8"/>
            <p:cNvSpPr/>
            <p:nvPr/>
          </p:nvSpPr>
          <p:spPr>
            <a:xfrm>
              <a:off x="533400" y="2209800"/>
              <a:ext cx="5842635" cy="448628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523327" y="2345531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情形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31867" y="2345531"/>
              <a:ext cx="763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next2(j)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742955" y="2345531"/>
              <a:ext cx="104683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匹配时的效果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794159"/>
              <a:ext cx="37481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= 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412523" y="2794159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263580" y="2794159"/>
              <a:ext cx="1201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整体右移一位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33400" y="310229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533400" y="3107055"/>
              <a:ext cx="5842635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41223" y="3242786"/>
              <a:ext cx="13729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存在满足上式的 k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003278" y="3242786"/>
              <a:ext cx="10209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最大的那个 k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263580" y="3242786"/>
              <a:ext cx="16843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j 退到 k，继续比 s[i]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533400" y="355187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41223" y="3804761"/>
              <a:ext cx="188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不存在，但 p[0] ≠ p[j]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2880360" y="3566160"/>
              <a:ext cx="1266825" cy="656272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459909" y="3804761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63580" y="3691414"/>
              <a:ext cx="1858010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移到失配位置，p[0] 与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s[i] 比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533400" y="4227195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533400" y="4231958"/>
              <a:ext cx="5842635" cy="675322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41223" y="4480084"/>
              <a:ext cx="188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不存在，且 p[0] = p[j]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2880360" y="4241482"/>
              <a:ext cx="1266825" cy="656272"/>
            </a:xfrm>
            <a:prstGeom prst="rect">
              <a:avLst/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3412523" y="448008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263580" y="4366736"/>
              <a:ext cx="1874266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78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整体移过失配位置，i 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进一格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533400" y="2209800"/>
              <a:ext cx="5842635" cy="269748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32" name="Rectangle 32"/>
            <p:cNvSpPr/>
            <p:nvPr/>
          </p:nvSpPr>
          <p:spPr>
            <a:xfrm>
              <a:off x="2866072" y="22098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4150995" y="2209800"/>
              <a:ext cx="9525" cy="269748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40" name="c1-callout-3"/>
          <p:cNvGrpSpPr/>
          <p:nvPr/>
        </p:nvGrpSpPr>
        <p:grpSpPr>
          <a:xfrm>
            <a:off x="533400" y="5097780"/>
            <a:ext cx="5842635" cy="1187768"/>
            <a:chOff x="533400" y="5097780"/>
            <a:chExt cx="5842635" cy="1187768"/>
          </a:xfrm>
        </p:grpSpPr>
        <p:sp>
          <p:nvSpPr>
            <p:cNvPr id="35" name="Rectangle 35"/>
            <p:cNvSpPr/>
            <p:nvPr/>
          </p:nvSpPr>
          <p:spPr>
            <a:xfrm>
              <a:off x="533400" y="5097780"/>
              <a:ext cx="5842635" cy="1187768"/>
            </a:xfrm>
            <a:prstGeom prst="roundRect">
              <a:avLst>
                <a:gd name="adj" fmla="val 9623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738188" y="5591177"/>
              <a:ext cx="200023" cy="200023"/>
              <a:chOff x="738188" y="5591177"/>
              <a:chExt cx="200023" cy="20002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738188" y="5591177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1538" y="565785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1040130" y="5448300"/>
              <a:ext cx="48063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后两行是原始 next 里没有的。它们把“连 p[0] 都注定失</a:t>
              </a:r>
              <a:br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配”这种情况也提前算掉了。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680835" y="1524000"/>
            <a:ext cx="4977765" cy="1681162"/>
            <a:chOff x="6680835" y="1524000"/>
            <a:chExt cx="4977765" cy="1681162"/>
          </a:xfrm>
        </p:grpSpPr>
        <p:sp>
          <p:nvSpPr>
            <p:cNvPr id="41" name="Rectangle 41"/>
            <p:cNvSpPr/>
            <p:nvPr/>
          </p:nvSpPr>
          <p:spPr>
            <a:xfrm>
              <a:off x="6680835" y="1524000"/>
              <a:ext cx="4977765" cy="1681162"/>
            </a:xfrm>
            <a:prstGeom prst="roundRect">
              <a:avLst>
                <a:gd name="adj" fmla="val 7932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2" name="Rectangle 42"/>
            <p:cNvSpPr/>
            <p:nvPr/>
          </p:nvSpPr>
          <p:spPr>
            <a:xfrm>
              <a:off x="6690360" y="1657350"/>
              <a:ext cx="47625" cy="14144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6928485" y="1733550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7016321" y="1769269"/>
              <a:ext cx="304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A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14273" y="1768792"/>
              <a:ext cx="22104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abcx，在 j = 3 失配</a:t>
              </a:r>
            </a:p>
          </p:txBody>
        </p:sp>
        <p:sp>
          <p:nvSpPr>
            <p:cNvPr id="46" name="Ellipse 46"/>
            <p:cNvSpPr/>
            <p:nvPr/>
          </p:nvSpPr>
          <p:spPr>
            <a:xfrm>
              <a:off x="6934200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092315" y="2129790"/>
              <a:ext cx="34379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p[0..2] = abc 没有非空的相等前后缀</a:t>
              </a:r>
            </a:p>
          </p:txBody>
        </p:sp>
        <p:sp>
          <p:nvSpPr>
            <p:cNvPr id="48" name="Ellipse 48"/>
            <p:cNvSpPr/>
            <p:nvPr/>
          </p:nvSpPr>
          <p:spPr>
            <a:xfrm>
              <a:off x="6934200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92315" y="2465070"/>
              <a:ext cx="3873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p[0] = a 与 p[3] = x 不等，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next2(3) = 0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6922008" y="2797016"/>
              <a:ext cx="32524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至少可以把 p[0] 搬到失配位置再比一次。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680835" y="3395662"/>
            <a:ext cx="4977765" cy="1916430"/>
            <a:chOff x="6680835" y="3395662"/>
            <a:chExt cx="4977765" cy="1916430"/>
          </a:xfrm>
        </p:grpSpPr>
        <p:sp>
          <p:nvSpPr>
            <p:cNvPr id="52" name="Rectangle 52"/>
            <p:cNvSpPr/>
            <p:nvPr/>
          </p:nvSpPr>
          <p:spPr>
            <a:xfrm>
              <a:off x="6680835" y="3395662"/>
              <a:ext cx="4977765" cy="1916430"/>
            </a:xfrm>
            <a:prstGeom prst="roundRect">
              <a:avLst>
                <a:gd name="adj" fmla="val 695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53" name="Rectangle 53"/>
            <p:cNvSpPr/>
            <p:nvPr/>
          </p:nvSpPr>
          <p:spPr>
            <a:xfrm>
              <a:off x="6690360" y="3529012"/>
              <a:ext cx="47625" cy="1649730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6928485" y="3605212"/>
              <a:ext cx="479108" cy="25717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7016321" y="3640931"/>
              <a:ext cx="3043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 B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7514273" y="3640455"/>
              <a:ext cx="221049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abca，在 j = 3 失配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934200" y="406431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92315" y="4001452"/>
              <a:ext cx="384181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p[0..2] = abc 同样没有非空的相等前后缀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934200" y="4399598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92315" y="4336732"/>
              <a:ext cx="425223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但 p[0] = a 与 p[3] = a 相等，</a:t>
              </a:r>
              <a:r>
                <a:rPr lang="en-US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next2(3) = −1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922008" y="4668679"/>
              <a:ext cx="41826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p[0] 放到失配位置也必然失败，直接把 P 整体移过失配位</a:t>
              </a:r>
              <a:br/>
              <a:r>
                <a:rPr lang="zh-CN" sz="12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置。</a:t>
              </a:r>
            </a:p>
          </p:txBody>
        </p:sp>
      </p:grpSp>
      <p:grpSp>
        <p:nvGrpSpPr>
          <p:cNvPr id="69" name="c2-callout-3"/>
          <p:cNvGrpSpPr/>
          <p:nvPr/>
        </p:nvGrpSpPr>
        <p:grpSpPr>
          <a:xfrm>
            <a:off x="6680835" y="5502592"/>
            <a:ext cx="4977765" cy="782955"/>
            <a:chOff x="6680835" y="5502592"/>
            <a:chExt cx="4977765" cy="782955"/>
          </a:xfrm>
        </p:grpSpPr>
        <p:sp>
          <p:nvSpPr>
            <p:cNvPr id="63" name="Rectangle 63"/>
            <p:cNvSpPr/>
            <p:nvPr/>
          </p:nvSpPr>
          <p:spPr>
            <a:xfrm>
              <a:off x="6680835" y="5502592"/>
              <a:ext cx="4977765" cy="782955"/>
            </a:xfrm>
            <a:prstGeom prst="roundRect">
              <a:avLst>
                <a:gd name="adj" fmla="val 14599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6885623" y="5794058"/>
              <a:ext cx="200026" cy="200026"/>
              <a:chOff x="6885623" y="5794058"/>
              <a:chExt cx="200026" cy="200026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6885623" y="57940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6985635" y="58607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6974523" y="58940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7187565" y="5651182"/>
              <a:ext cx="4082415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next2(j) 永远不大于 next(j)，因为它是在更严</a:t>
              </a:r>
              <a:br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格的条件下取最大值。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567322" cy="909257"/>
            <a:chOff x="520446" y="342900"/>
            <a:chExt cx="556732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95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974" y="407194"/>
              <a:ext cx="3244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的改进与 KMP 的隐藏应用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56732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三个例子：next2 与 next 差在哪里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43" name="c1-cells-1"/>
          <p:cNvGrpSpPr/>
          <p:nvPr/>
        </p:nvGrpSpPr>
        <p:grpSpPr>
          <a:xfrm>
            <a:off x="528066" y="1568291"/>
            <a:ext cx="5001196" cy="813435"/>
            <a:chOff x="528066" y="1568291"/>
            <a:chExt cx="5001196" cy="813435"/>
          </a:xfrm>
        </p:grpSpPr>
        <p:sp>
          <p:nvSpPr>
            <p:cNvPr id="7" name="TextBox 7"/>
            <p:cNvSpPr txBox="1"/>
            <p:nvPr/>
          </p:nvSpPr>
          <p:spPr>
            <a:xfrm>
              <a:off x="528066" y="1922145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例 1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919162" y="180975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825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338262" y="180975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5016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757362" y="180975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9207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2176462" y="180975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23398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2595562" y="1809750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7589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014662" y="180975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31780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3433762" y="18097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5971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852862" y="18097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0162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4271962" y="18097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44353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4691062" y="18097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8544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5110162" y="1809750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273563" y="1922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935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26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9317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3508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699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1890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36081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0272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4463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865493" y="22198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5254236" y="221980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167168" y="1568291"/>
              <a:ext cx="3050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= 10</a:t>
              </a:r>
            </a:p>
          </p:txBody>
        </p:sp>
        <p:sp>
          <p:nvSpPr>
            <p:cNvPr id="42" name="Freeform 42"/>
            <p:cNvSpPr/>
            <p:nvPr/>
          </p:nvSpPr>
          <p:spPr>
            <a:xfrm>
              <a:off x="5281612" y="17145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45" name="c1-text-2"/>
          <p:cNvGrpSpPr/>
          <p:nvPr/>
        </p:nvGrpSpPr>
        <p:grpSpPr>
          <a:xfrm>
            <a:off x="528066" y="2528888"/>
            <a:ext cx="5099304" cy="205359"/>
            <a:chOff x="528066" y="2528888"/>
            <a:chExt cx="5099304" cy="205359"/>
          </a:xfrm>
        </p:grpSpPr>
        <p:sp>
          <p:nvSpPr>
            <p:cNvPr id="44" name="TextBox 44"/>
            <p:cNvSpPr txBox="1"/>
            <p:nvPr/>
          </p:nvSpPr>
          <p:spPr>
            <a:xfrm>
              <a:off x="528066" y="2528888"/>
              <a:ext cx="50993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next(10) = 4，检查 p[4] = a 与 p[10] = b，不等，条件满足，next2(10) = 4。</a:t>
              </a:r>
            </a:p>
          </p:txBody>
        </p:sp>
      </p:grpSp>
      <p:grpSp>
        <p:nvGrpSpPr>
          <p:cNvPr id="82" name="c1-cells-3"/>
          <p:cNvGrpSpPr/>
          <p:nvPr/>
        </p:nvGrpSpPr>
        <p:grpSpPr>
          <a:xfrm>
            <a:off x="528066" y="2901791"/>
            <a:ext cx="5001196" cy="813435"/>
            <a:chOff x="528066" y="2901791"/>
            <a:chExt cx="5001196" cy="813435"/>
          </a:xfrm>
        </p:grpSpPr>
        <p:sp>
          <p:nvSpPr>
            <p:cNvPr id="46" name="TextBox 46"/>
            <p:cNvSpPr txBox="1"/>
            <p:nvPr/>
          </p:nvSpPr>
          <p:spPr>
            <a:xfrm>
              <a:off x="528066" y="3256598"/>
              <a:ext cx="2781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例 2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19162" y="314325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825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338262" y="314325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016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757362" y="314325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9207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176462" y="3143250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3398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595562" y="3143250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7589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014662" y="314325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1780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y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33762" y="31432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5971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852862" y="31432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0162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271962" y="31432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4353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4691062" y="3143250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48544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67" name="Rectangle 67"/>
            <p:cNvSpPr/>
            <p:nvPr/>
          </p:nvSpPr>
          <p:spPr>
            <a:xfrm>
              <a:off x="5110162" y="3143250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8" name="TextBox 68"/>
            <p:cNvSpPr txBox="1"/>
            <p:nvPr/>
          </p:nvSpPr>
          <p:spPr>
            <a:xfrm>
              <a:off x="5273563" y="325659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10935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5126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9317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23508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27699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31890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36081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0272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44463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4865493" y="3553301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5254236" y="3553301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5167168" y="2901791"/>
              <a:ext cx="305090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= 10</a:t>
              </a:r>
            </a:p>
          </p:txBody>
        </p:sp>
        <p:sp>
          <p:nvSpPr>
            <p:cNvPr id="81" name="Freeform 81"/>
            <p:cNvSpPr/>
            <p:nvPr/>
          </p:nvSpPr>
          <p:spPr>
            <a:xfrm>
              <a:off x="5281612" y="3048000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84" name="c1-text-4"/>
          <p:cNvGrpSpPr/>
          <p:nvPr/>
        </p:nvGrpSpPr>
        <p:grpSpPr>
          <a:xfrm>
            <a:off x="528066" y="3863340"/>
            <a:ext cx="5591366" cy="412052"/>
            <a:chOff x="528066" y="3863340"/>
            <a:chExt cx="5591366" cy="412052"/>
          </a:xfrm>
        </p:grpSpPr>
        <p:sp>
          <p:nvSpPr>
            <p:cNvPr id="83" name="TextBox 83"/>
            <p:cNvSpPr txBox="1"/>
            <p:nvPr/>
          </p:nvSpPr>
          <p:spPr>
            <a:xfrm>
              <a:off x="528066" y="3863340"/>
              <a:ext cx="5591366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next(10) = 4，但 p[4] = b 与 p[10] = b 相等，只好退到 next(4) = 2；p[2] = a 与 b 不等，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next2(10) = 2。</a:t>
              </a:r>
            </a:p>
          </p:txBody>
        </p:sp>
      </p:grpSp>
      <p:grpSp>
        <p:nvGrpSpPr>
          <p:cNvPr id="112" name="c1-cells-5"/>
          <p:cNvGrpSpPr/>
          <p:nvPr/>
        </p:nvGrpSpPr>
        <p:grpSpPr>
          <a:xfrm>
            <a:off x="528066" y="4442936"/>
            <a:ext cx="3758184" cy="813435"/>
            <a:chOff x="528066" y="4442936"/>
            <a:chExt cx="3758184" cy="813435"/>
          </a:xfrm>
        </p:grpSpPr>
        <p:sp>
          <p:nvSpPr>
            <p:cNvPr id="85" name="TextBox 85"/>
            <p:cNvSpPr txBox="1"/>
            <p:nvPr/>
          </p:nvSpPr>
          <p:spPr>
            <a:xfrm>
              <a:off x="528066" y="47967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回顾</a:t>
              </a:r>
            </a:p>
          </p:txBody>
        </p:sp>
        <p:sp>
          <p:nvSpPr>
            <p:cNvPr id="86" name="Rectangle 86"/>
            <p:cNvSpPr/>
            <p:nvPr/>
          </p:nvSpPr>
          <p:spPr>
            <a:xfrm>
              <a:off x="933450" y="468439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7" name="TextBox 87"/>
            <p:cNvSpPr txBox="1"/>
            <p:nvPr/>
          </p:nvSpPr>
          <p:spPr>
            <a:xfrm>
              <a:off x="1096851" y="47967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88" name="Rectangle 88"/>
            <p:cNvSpPr/>
            <p:nvPr/>
          </p:nvSpPr>
          <p:spPr>
            <a:xfrm>
              <a:off x="1352550" y="468439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1515951" y="47967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0" name="Rectangle 90"/>
            <p:cNvSpPr/>
            <p:nvPr/>
          </p:nvSpPr>
          <p:spPr>
            <a:xfrm>
              <a:off x="1771650" y="468439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935051" y="47967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2" name="Rectangle 92"/>
            <p:cNvSpPr/>
            <p:nvPr/>
          </p:nvSpPr>
          <p:spPr>
            <a:xfrm>
              <a:off x="2190750" y="4684395"/>
              <a:ext cx="419100" cy="356235"/>
            </a:xfrm>
            <a:prstGeom prst="rect">
              <a:avLst/>
            </a:prstGeom>
            <a:solidFill>
              <a:srgbClr val="1F5FA8"/>
            </a:solidFill>
            <a:ln w="15240">
              <a:solidFill>
                <a:srgbClr val="1F5FA8"/>
              </a:solidFill>
            </a:ln>
          </p:spPr>
        </p:sp>
        <p:sp>
          <p:nvSpPr>
            <p:cNvPr id="93" name="TextBox 93"/>
            <p:cNvSpPr txBox="1"/>
            <p:nvPr/>
          </p:nvSpPr>
          <p:spPr>
            <a:xfrm>
              <a:off x="2354151" y="47967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2609850" y="468439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2773251" y="47967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96" name="Rectangle 96"/>
            <p:cNvSpPr/>
            <p:nvPr/>
          </p:nvSpPr>
          <p:spPr>
            <a:xfrm>
              <a:off x="3028950" y="468439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3192351" y="47967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3448050" y="468439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3611451" y="47967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3867150" y="4684395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4030551" y="47967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x</a:t>
              </a:r>
            </a:p>
          </p:txBody>
        </p:sp>
        <p:sp>
          <p:nvSpPr>
            <p:cNvPr id="102" name="TextBox 102"/>
            <p:cNvSpPr txBox="1"/>
            <p:nvPr/>
          </p:nvSpPr>
          <p:spPr>
            <a:xfrm>
              <a:off x="1107881" y="5094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103" name="TextBox 103"/>
            <p:cNvSpPr txBox="1"/>
            <p:nvPr/>
          </p:nvSpPr>
          <p:spPr>
            <a:xfrm>
              <a:off x="1526981" y="5094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946081" y="5094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2365181" y="5094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2784281" y="5094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3203381" y="5094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108" name="TextBox 108"/>
            <p:cNvSpPr txBox="1"/>
            <p:nvPr/>
          </p:nvSpPr>
          <p:spPr>
            <a:xfrm>
              <a:off x="3622481" y="5094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4041581" y="509444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110" name="TextBox 110"/>
            <p:cNvSpPr txBox="1"/>
            <p:nvPr/>
          </p:nvSpPr>
          <p:spPr>
            <a:xfrm>
              <a:off x="3956030" y="4442936"/>
              <a:ext cx="24134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82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j = 7</a:t>
              </a:r>
            </a:p>
          </p:txBody>
        </p:sp>
        <p:sp>
          <p:nvSpPr>
            <p:cNvPr id="111" name="Freeform 111"/>
            <p:cNvSpPr/>
            <p:nvPr/>
          </p:nvSpPr>
          <p:spPr>
            <a:xfrm>
              <a:off x="4038600" y="4589145"/>
              <a:ext cx="76200" cy="76200"/>
            </a:xfrm>
            <a:custGeom>
              <a:avLst/>
              <a:gdLst/>
              <a:ahLst/>
              <a:cxnLst/>
              <a:rect l="l" t="t" r="r" b="b"/>
              <a:pathLst>
                <a:path w="76200" h="76200">
                  <a:moveTo>
                    <a:pt x="38100" y="76200"/>
                  </a:moveTo>
                  <a:lnTo>
                    <a:pt x="0" y="0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C2410C"/>
            </a:solidFill>
            <a:ln>
              <a:noFill/>
            </a:ln>
          </p:spPr>
        </p:sp>
      </p:grpSp>
      <p:grpSp>
        <p:nvGrpSpPr>
          <p:cNvPr id="114" name="c1-text-6"/>
          <p:cNvGrpSpPr/>
          <p:nvPr/>
        </p:nvGrpSpPr>
        <p:grpSpPr>
          <a:xfrm>
            <a:off x="528066" y="5403533"/>
            <a:ext cx="5878068" cy="412052"/>
            <a:chOff x="528066" y="5403533"/>
            <a:chExt cx="5878068" cy="412052"/>
          </a:xfrm>
        </p:grpSpPr>
        <p:sp>
          <p:nvSpPr>
            <p:cNvPr id="113" name="TextBox 113"/>
            <p:cNvSpPr txBox="1"/>
            <p:nvPr/>
          </p:nvSpPr>
          <p:spPr>
            <a:xfrm>
              <a:off x="528066" y="5403533"/>
              <a:ext cx="5878068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next(7) = 3，但 p[3] = x 与 p[7] = x 相等，退到 next(3) = 1；p[1] = b 与 x 不等，next2(7) =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141" name="c2-table-1"/>
          <p:cNvGrpSpPr/>
          <p:nvPr/>
        </p:nvGrpSpPr>
        <p:grpSpPr>
          <a:xfrm>
            <a:off x="7114222" y="1524000"/>
            <a:ext cx="4544378" cy="1899285"/>
            <a:chOff x="7114222" y="1524000"/>
            <a:chExt cx="4544378" cy="1899285"/>
          </a:xfrm>
        </p:grpSpPr>
        <p:sp>
          <p:nvSpPr>
            <p:cNvPr id="115" name="Rectangle 115"/>
            <p:cNvSpPr/>
            <p:nvPr/>
          </p:nvSpPr>
          <p:spPr>
            <a:xfrm>
              <a:off x="7114222" y="1524000"/>
              <a:ext cx="4544378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16" name="TextBox 116"/>
            <p:cNvSpPr txBox="1"/>
            <p:nvPr/>
          </p:nvSpPr>
          <p:spPr>
            <a:xfrm>
              <a:off x="7310628" y="1641157"/>
              <a:ext cx="1520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17" name="TextBox 117"/>
            <p:cNvSpPr txBox="1"/>
            <p:nvPr/>
          </p:nvSpPr>
          <p:spPr>
            <a:xfrm>
              <a:off x="7796140" y="1641157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next(j)</a:t>
              </a:r>
            </a:p>
          </p:txBody>
        </p:sp>
        <p:sp>
          <p:nvSpPr>
            <p:cNvPr id="118" name="TextBox 118"/>
            <p:cNvSpPr txBox="1"/>
            <p:nvPr/>
          </p:nvSpPr>
          <p:spPr>
            <a:xfrm>
              <a:off x="8618290" y="1641157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next2(j)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10375583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原因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7340488" y="211645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21" name="TextBox 121"/>
            <p:cNvSpPr txBox="1"/>
            <p:nvPr/>
          </p:nvSpPr>
          <p:spPr>
            <a:xfrm>
              <a:off x="8024422" y="211645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2" name="TextBox 122"/>
            <p:cNvSpPr txBox="1"/>
            <p:nvPr/>
          </p:nvSpPr>
          <p:spPr>
            <a:xfrm>
              <a:off x="8887387" y="211645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9480614" y="2023110"/>
              <a:ext cx="189090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p[4] ≠ p[10]，条件已满足，沿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</a:t>
              </a:r>
            </a:p>
          </p:txBody>
        </p:sp>
        <p:sp>
          <p:nvSpPr>
            <p:cNvPr id="124" name="Rectangle 124"/>
            <p:cNvSpPr/>
            <p:nvPr/>
          </p:nvSpPr>
          <p:spPr>
            <a:xfrm>
              <a:off x="7114222" y="246888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25" name="Rectangle 125"/>
            <p:cNvSpPr/>
            <p:nvPr/>
          </p:nvSpPr>
          <p:spPr>
            <a:xfrm>
              <a:off x="7114222" y="2473642"/>
              <a:ext cx="4544378" cy="56769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7340488" y="268414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8024422" y="26841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28" name="Rectangle 128"/>
            <p:cNvSpPr/>
            <p:nvPr/>
          </p:nvSpPr>
          <p:spPr>
            <a:xfrm>
              <a:off x="8486775" y="2483168"/>
              <a:ext cx="889635" cy="54864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29" name="TextBox 129"/>
            <p:cNvSpPr txBox="1"/>
            <p:nvPr/>
          </p:nvSpPr>
          <p:spPr>
            <a:xfrm>
              <a:off x="8887387" y="2684145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0" name="TextBox 130"/>
            <p:cNvSpPr txBox="1"/>
            <p:nvPr/>
          </p:nvSpPr>
          <p:spPr>
            <a:xfrm>
              <a:off x="9480614" y="2590800"/>
              <a:ext cx="1890903" cy="39204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470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p[4] = p[10]，退到 next(4) =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31" name="Rectangle 131"/>
            <p:cNvSpPr/>
            <p:nvPr/>
          </p:nvSpPr>
          <p:spPr>
            <a:xfrm>
              <a:off x="7114222" y="3036570"/>
              <a:ext cx="454437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2" name="TextBox 132"/>
            <p:cNvSpPr txBox="1"/>
            <p:nvPr/>
          </p:nvSpPr>
          <p:spPr>
            <a:xfrm>
              <a:off x="7239952" y="3158490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回顾</a:t>
              </a:r>
            </a:p>
          </p:txBody>
        </p:sp>
        <p:sp>
          <p:nvSpPr>
            <p:cNvPr id="133" name="TextBox 133"/>
            <p:cNvSpPr txBox="1"/>
            <p:nvPr/>
          </p:nvSpPr>
          <p:spPr>
            <a:xfrm>
              <a:off x="8024422" y="31584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4" name="Rectangle 134"/>
            <p:cNvSpPr/>
            <p:nvPr/>
          </p:nvSpPr>
          <p:spPr>
            <a:xfrm>
              <a:off x="8486775" y="3050858"/>
              <a:ext cx="889635" cy="361950"/>
            </a:xfrm>
            <a:prstGeom prst="rect">
              <a:avLst/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35" name="TextBox 135"/>
            <p:cNvSpPr txBox="1"/>
            <p:nvPr/>
          </p:nvSpPr>
          <p:spPr>
            <a:xfrm>
              <a:off x="8887387" y="3158490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6" name="TextBox 136"/>
            <p:cNvSpPr txBox="1"/>
            <p:nvPr/>
          </p:nvSpPr>
          <p:spPr>
            <a:xfrm>
              <a:off x="9480614" y="3158490"/>
              <a:ext cx="20461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p[3] = p[7]，退到 next(3) = 1</a:t>
              </a:r>
            </a:p>
          </p:txBody>
        </p:sp>
        <p:sp>
          <p:nvSpPr>
            <p:cNvPr id="137" name="Rectangle 137"/>
            <p:cNvSpPr/>
            <p:nvPr/>
          </p:nvSpPr>
          <p:spPr>
            <a:xfrm>
              <a:off x="7114222" y="1524000"/>
              <a:ext cx="4544378" cy="189928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138" name="Rectangle 138"/>
            <p:cNvSpPr/>
            <p:nvPr/>
          </p:nvSpPr>
          <p:spPr>
            <a:xfrm>
              <a:off x="7654290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9" name="Rectangle 139"/>
            <p:cNvSpPr/>
            <p:nvPr/>
          </p:nvSpPr>
          <p:spPr>
            <a:xfrm>
              <a:off x="8472488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40" name="Rectangle 140"/>
            <p:cNvSpPr/>
            <p:nvPr/>
          </p:nvSpPr>
          <p:spPr>
            <a:xfrm>
              <a:off x="9381172" y="1524000"/>
              <a:ext cx="9525" cy="189928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151" name="c2-card-2"/>
          <p:cNvGrpSpPr/>
          <p:nvPr/>
        </p:nvGrpSpPr>
        <p:grpSpPr>
          <a:xfrm>
            <a:off x="7114222" y="3588068"/>
            <a:ext cx="4544378" cy="1691640"/>
            <a:chOff x="7114222" y="3588068"/>
            <a:chExt cx="4544378" cy="1691640"/>
          </a:xfrm>
        </p:grpSpPr>
        <p:sp>
          <p:nvSpPr>
            <p:cNvPr id="142" name="Rectangle 142"/>
            <p:cNvSpPr/>
            <p:nvPr/>
          </p:nvSpPr>
          <p:spPr>
            <a:xfrm>
              <a:off x="7114222" y="3588068"/>
              <a:ext cx="4544378" cy="1691640"/>
            </a:xfrm>
            <a:prstGeom prst="roundRect">
              <a:avLst>
                <a:gd name="adj" fmla="val 788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3" name="Rectangle 143"/>
            <p:cNvSpPr/>
            <p:nvPr/>
          </p:nvSpPr>
          <p:spPr>
            <a:xfrm>
              <a:off x="7295198" y="3769042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144" name="TextBox 144"/>
            <p:cNvSpPr txBox="1"/>
            <p:nvPr/>
          </p:nvSpPr>
          <p:spPr>
            <a:xfrm>
              <a:off x="7386917" y="3801904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效果</a:t>
              </a:r>
            </a:p>
          </p:txBody>
        </p:sp>
        <p:sp>
          <p:nvSpPr>
            <p:cNvPr id="145" name="TextBox 145"/>
            <p:cNvSpPr txBox="1"/>
            <p:nvPr/>
          </p:nvSpPr>
          <p:spPr>
            <a:xfrm>
              <a:off x="7861173" y="3808571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回顾那一例省掉了什么</a:t>
              </a:r>
            </a:p>
          </p:txBody>
        </p:sp>
        <p:sp>
          <p:nvSpPr>
            <p:cNvPr id="146" name="Ellipse 146"/>
            <p:cNvSpPr/>
            <p:nvPr/>
          </p:nvSpPr>
          <p:spPr>
            <a:xfrm>
              <a:off x="7304722" y="417766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7" name="TextBox 147"/>
            <p:cNvSpPr txBox="1"/>
            <p:nvPr/>
          </p:nvSpPr>
          <p:spPr>
            <a:xfrm>
              <a:off x="7460170" y="4124801"/>
              <a:ext cx="35486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用原始 next：j 退到 3，与 s[7] 比一次，必然失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败，再退到 1</a:t>
              </a:r>
            </a:p>
          </p:txBody>
        </p:sp>
        <p:sp>
          <p:nvSpPr>
            <p:cNvPr id="148" name="Ellipse 148"/>
            <p:cNvSpPr/>
            <p:nvPr/>
          </p:nvSpPr>
          <p:spPr>
            <a:xfrm>
              <a:off x="7304722" y="470535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9" name="TextBox 149"/>
            <p:cNvSpPr txBox="1"/>
            <p:nvPr/>
          </p:nvSpPr>
          <p:spPr>
            <a:xfrm>
              <a:off x="7460170" y="4652486"/>
              <a:ext cx="406232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用 next2：j 直接退到 1，少比了一次注定失败的字符</a:t>
              </a:r>
            </a:p>
          </p:txBody>
        </p:sp>
        <p:sp>
          <p:nvSpPr>
            <p:cNvPr id="150" name="TextBox 150"/>
            <p:cNvSpPr txBox="1"/>
            <p:nvPr/>
          </p:nvSpPr>
          <p:spPr>
            <a:xfrm>
              <a:off x="7289864" y="4933950"/>
              <a:ext cx="269633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模式串里重复片段越多，省掉的次数越多。</a:t>
              </a:r>
            </a:p>
          </p:txBody>
        </p:sp>
      </p:grpSp>
      <p:grpSp>
        <p:nvGrpSpPr>
          <p:cNvPr id="158" name="c2-callout-3"/>
          <p:cNvGrpSpPr/>
          <p:nvPr/>
        </p:nvGrpSpPr>
        <p:grpSpPr>
          <a:xfrm>
            <a:off x="7114222" y="5443538"/>
            <a:ext cx="4544378" cy="702945"/>
            <a:chOff x="7114222" y="5443538"/>
            <a:chExt cx="4544378" cy="702945"/>
          </a:xfrm>
        </p:grpSpPr>
        <p:sp>
          <p:nvSpPr>
            <p:cNvPr id="152" name="Rectangle 152"/>
            <p:cNvSpPr/>
            <p:nvPr/>
          </p:nvSpPr>
          <p:spPr>
            <a:xfrm>
              <a:off x="7114222" y="5443538"/>
              <a:ext cx="4544378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156" name="Group 156"/>
            <p:cNvGrpSpPr/>
            <p:nvPr/>
          </p:nvGrpSpPr>
          <p:grpSpPr>
            <a:xfrm>
              <a:off x="7319010" y="5694998"/>
              <a:ext cx="200026" cy="200026"/>
              <a:chOff x="7319010" y="5694998"/>
              <a:chExt cx="200026" cy="200026"/>
            </a:xfrm>
          </p:grpSpPr>
          <p:sp>
            <p:nvSpPr>
              <p:cNvPr id="153" name="Freeform 153"/>
              <p:cNvSpPr/>
              <p:nvPr/>
            </p:nvSpPr>
            <p:spPr>
              <a:xfrm>
                <a:off x="7319010" y="56949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4" name="Freeform 154"/>
              <p:cNvSpPr/>
              <p:nvPr/>
            </p:nvSpPr>
            <p:spPr>
              <a:xfrm>
                <a:off x="7419023" y="57616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155" name="Freeform 155"/>
              <p:cNvSpPr/>
              <p:nvPr/>
            </p:nvSpPr>
            <p:spPr>
              <a:xfrm>
                <a:off x="7407910" y="57950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157" name="TextBox 157"/>
            <p:cNvSpPr txBox="1"/>
            <p:nvPr/>
          </p:nvSpPr>
          <p:spPr>
            <a:xfrm>
              <a:off x="7622096" y="5588794"/>
              <a:ext cx="361365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三个例子的 next 与 next2 都用脚本按定义枚举验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算过。</a:t>
              </a:r>
            </a:p>
          </p:txBody>
        </p:sp>
      </p:grpSp>
      <p:grpSp>
        <p:nvGrpSpPr>
          <p:cNvPr id="161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59" name="TextBox 159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60" name="TextBox 160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686790" cy="909257"/>
            <a:chOff x="520446" y="342900"/>
            <a:chExt cx="5686790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95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974" y="407194"/>
              <a:ext cx="3244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的改进与 KMP 的隐藏应用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68679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buildNext2：算出 k 之后再多问一句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0" name="c1-code-1"/>
          <p:cNvGrpSpPr/>
          <p:nvPr/>
        </p:nvGrpSpPr>
        <p:grpSpPr>
          <a:xfrm>
            <a:off x="533400" y="1524000"/>
            <a:ext cx="6059805" cy="1855470"/>
            <a:chOff x="533400" y="1524000"/>
            <a:chExt cx="6059805" cy="1855470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6059805" cy="1855470"/>
            </a:xfrm>
            <a:prstGeom prst="roundRect">
              <a:avLst>
                <a:gd name="adj" fmla="val 5133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661797" y="1675924"/>
              <a:ext cx="105741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改进的 next 数组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61988" y="1935004"/>
              <a:ext cx="3388868" cy="135826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void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buildNext2(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*P,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next2[],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 = next2[0] = -1;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for</a:t>
              </a:r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0; j &lt; m - 1; j++)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(k &gt;= 0 &amp;&amp; P[k] != P[j])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k = next2[k];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++k 之后的 k 就是原始的 next[j+1] */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next2[j + 1] = (P[j + 1] != P[++k]) ? k : next2[k];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0" name="c1-cells-2"/>
          <p:cNvGrpSpPr/>
          <p:nvPr/>
        </p:nvGrpSpPr>
        <p:grpSpPr>
          <a:xfrm>
            <a:off x="528066" y="3544252"/>
            <a:ext cx="3876294" cy="1541145"/>
            <a:chOff x="528066" y="3544252"/>
            <a:chExt cx="3876294" cy="1541145"/>
          </a:xfrm>
        </p:grpSpPr>
        <p:sp>
          <p:nvSpPr>
            <p:cNvPr id="11" name="TextBox 11"/>
            <p:cNvSpPr txBox="1"/>
            <p:nvPr/>
          </p:nvSpPr>
          <p:spPr>
            <a:xfrm>
              <a:off x="528066" y="3656648"/>
              <a:ext cx="3000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p[j]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1051560" y="35442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14961" y="36566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470660" y="35442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634061" y="36566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889760" y="35442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2053161" y="36566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308860" y="35442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472261" y="36566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2727960" y="35442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891361" y="36566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3147060" y="35442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3310461" y="36566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3566160" y="35442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729561" y="36566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985260" y="354425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148661" y="365664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225991" y="3954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645091" y="3954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2064191" y="3954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483291" y="3954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902391" y="3954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3321491" y="3954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740591" y="3954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159691" y="3954304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28066" y="4339590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next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1051560" y="422719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174146" y="4339590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470660" y="422719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634061" y="43395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1889760" y="422719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2053161" y="43395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2308860" y="422719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2472261" y="43395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2727960" y="422719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2891361" y="43395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3147060" y="422719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3310461" y="43395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3566160" y="422719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3729561" y="43395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3985260" y="422719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4148661" y="4339590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28066" y="4841558"/>
              <a:ext cx="4188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next2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1051560" y="47291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174146" y="48415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1470660" y="47291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634061" y="48415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1889760" y="4729162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2012346" y="48415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0" name="Rectangle 60"/>
            <p:cNvSpPr/>
            <p:nvPr/>
          </p:nvSpPr>
          <p:spPr>
            <a:xfrm>
              <a:off x="2308860" y="47291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2472261" y="48415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62" name="Rectangle 62"/>
            <p:cNvSpPr/>
            <p:nvPr/>
          </p:nvSpPr>
          <p:spPr>
            <a:xfrm>
              <a:off x="2727960" y="4729162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891361" y="48415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3147060" y="47291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3310461" y="48415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3566160" y="4729162"/>
              <a:ext cx="419100" cy="356235"/>
            </a:xfrm>
            <a:prstGeom prst="rect">
              <a:avLst/>
            </a:prstGeom>
            <a:solidFill>
              <a:srgbClr val="FDECEA"/>
            </a:solidFill>
            <a:ln w="15240">
              <a:solidFill>
                <a:srgbClr val="B42318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3688746" y="4841558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3985260" y="4729162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148661" y="4841558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77" name="c1-callout-3"/>
          <p:cNvGrpSpPr/>
          <p:nvPr/>
        </p:nvGrpSpPr>
        <p:grpSpPr>
          <a:xfrm>
            <a:off x="533400" y="5250180"/>
            <a:ext cx="6059805" cy="937260"/>
            <a:chOff x="533400" y="5250180"/>
            <a:chExt cx="6059805" cy="937260"/>
          </a:xfrm>
        </p:grpSpPr>
        <p:sp>
          <p:nvSpPr>
            <p:cNvPr id="71" name="Rectangle 71"/>
            <p:cNvSpPr/>
            <p:nvPr/>
          </p:nvSpPr>
          <p:spPr>
            <a:xfrm>
              <a:off x="533400" y="5250180"/>
              <a:ext cx="6059805" cy="937260"/>
            </a:xfrm>
            <a:prstGeom prst="roundRect">
              <a:avLst>
                <a:gd name="adj" fmla="val 12195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738188" y="5618798"/>
              <a:ext cx="200026" cy="200026"/>
              <a:chOff x="738188" y="5618798"/>
              <a:chExt cx="200026" cy="200026"/>
            </a:xfrm>
          </p:grpSpPr>
          <p:sp>
            <p:nvSpPr>
              <p:cNvPr id="72" name="Freeform 72"/>
              <p:cNvSpPr/>
              <p:nvPr/>
            </p:nvSpPr>
            <p:spPr>
              <a:xfrm>
                <a:off x="738188" y="561879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3" name="Freeform 73"/>
              <p:cNvSpPr/>
              <p:nvPr/>
            </p:nvSpPr>
            <p:spPr>
              <a:xfrm>
                <a:off x="838200" y="568547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827088" y="571881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041273" y="5394484"/>
              <a:ext cx="5101082" cy="7179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abaabcac 的两个数组，标红三处取值不同，正好对应 p[k] =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p[j]。源课件第 96 页把最后一行写成 if-else 两句，第 97 页合并成三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目运算符，两者等价。</a:t>
              </a:r>
            </a:p>
          </p:txBody>
        </p:sp>
      </p:grpSp>
      <p:grpSp>
        <p:nvGrpSpPr>
          <p:cNvPr id="90" name="c2-card-1"/>
          <p:cNvGrpSpPr/>
          <p:nvPr/>
        </p:nvGrpSpPr>
        <p:grpSpPr>
          <a:xfrm>
            <a:off x="6898005" y="1524000"/>
            <a:ext cx="4760595" cy="1714500"/>
            <a:chOff x="6898005" y="1524000"/>
            <a:chExt cx="4760595" cy="1714500"/>
          </a:xfrm>
        </p:grpSpPr>
        <p:sp>
          <p:nvSpPr>
            <p:cNvPr id="78" name="Rectangle 78"/>
            <p:cNvSpPr/>
            <p:nvPr/>
          </p:nvSpPr>
          <p:spPr>
            <a:xfrm>
              <a:off x="6898005" y="1524000"/>
              <a:ext cx="4760595" cy="1714500"/>
            </a:xfrm>
            <a:prstGeom prst="roundRect">
              <a:avLst>
                <a:gd name="adj" fmla="val 7778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79" name="Rectangle 79"/>
            <p:cNvSpPr/>
            <p:nvPr/>
          </p:nvSpPr>
          <p:spPr>
            <a:xfrm>
              <a:off x="7078980" y="1704975"/>
              <a:ext cx="108108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7152348" y="1737836"/>
              <a:ext cx="93339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那一行在做什么</a:t>
              </a:r>
            </a:p>
          </p:txBody>
        </p:sp>
        <p:sp>
          <p:nvSpPr>
            <p:cNvPr id="81" name="Ellipse 81"/>
            <p:cNvSpPr/>
            <p:nvPr/>
          </p:nvSpPr>
          <p:spPr>
            <a:xfrm>
              <a:off x="7078980" y="203358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7130887" y="206921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7348728" y="2045494"/>
              <a:ext cx="37866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++k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 之后的 k 就是原始 next 会给出的下一个位置</a:t>
              </a:r>
            </a:p>
          </p:txBody>
        </p:sp>
        <p:sp>
          <p:nvSpPr>
            <p:cNvPr id="84" name="Ellipse 84"/>
            <p:cNvSpPr/>
            <p:nvPr/>
          </p:nvSpPr>
          <p:spPr>
            <a:xfrm>
              <a:off x="7078980" y="231933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5" name="TextBox 85"/>
            <p:cNvSpPr txBox="1"/>
            <p:nvPr/>
          </p:nvSpPr>
          <p:spPr>
            <a:xfrm>
              <a:off x="7130887" y="235400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7348728" y="2330291"/>
              <a:ext cx="40346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若 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P[j+1] != P[k]</a:t>
              </a: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，这个 k 满足附加条件，直接采用</a:t>
              </a:r>
            </a:p>
          </p:txBody>
        </p:sp>
        <p:sp>
          <p:nvSpPr>
            <p:cNvPr id="87" name="Ellipse 87"/>
            <p:cNvSpPr/>
            <p:nvPr/>
          </p:nvSpPr>
          <p:spPr>
            <a:xfrm>
              <a:off x="7078980" y="260413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8" name="TextBox 88"/>
            <p:cNvSpPr txBox="1"/>
            <p:nvPr/>
          </p:nvSpPr>
          <p:spPr>
            <a:xfrm>
              <a:off x="7130887" y="263975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89" name="TextBox 89"/>
            <p:cNvSpPr txBox="1"/>
            <p:nvPr/>
          </p:nvSpPr>
          <p:spPr>
            <a:xfrm>
              <a:off x="7348728" y="2615089"/>
              <a:ext cx="393877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若两者相等，说明退到 k 之后会在同样的地方再失配一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次，改取已经算好的 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next2[k]</a:t>
              </a:r>
            </a:p>
          </p:txBody>
        </p:sp>
      </p:grpSp>
      <p:grpSp>
        <p:nvGrpSpPr>
          <p:cNvPr id="101" name="c2-card-2"/>
          <p:cNvGrpSpPr/>
          <p:nvPr/>
        </p:nvGrpSpPr>
        <p:grpSpPr>
          <a:xfrm>
            <a:off x="6898005" y="3403282"/>
            <a:ext cx="4760595" cy="1714500"/>
            <a:chOff x="6898005" y="3403282"/>
            <a:chExt cx="4760595" cy="1714500"/>
          </a:xfrm>
        </p:grpSpPr>
        <p:sp>
          <p:nvSpPr>
            <p:cNvPr id="91" name="Rectangle 91"/>
            <p:cNvSpPr/>
            <p:nvPr/>
          </p:nvSpPr>
          <p:spPr>
            <a:xfrm>
              <a:off x="6898005" y="3403282"/>
              <a:ext cx="4760595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92" name="Rectangle 92"/>
            <p:cNvSpPr/>
            <p:nvPr/>
          </p:nvSpPr>
          <p:spPr>
            <a:xfrm>
              <a:off x="6907530" y="3536632"/>
              <a:ext cx="47625" cy="1447800"/>
            </a:xfrm>
            <a:prstGeom prst="roundRect">
              <a:avLst>
                <a:gd name="adj" fmla="val 50000"/>
              </a:avLst>
            </a:prstGeom>
            <a:solidFill>
              <a:srgbClr val="B42318"/>
            </a:solidFill>
            <a:ln>
              <a:noFill/>
            </a:ln>
          </p:spPr>
        </p:sp>
        <p:sp>
          <p:nvSpPr>
            <p:cNvPr id="93" name="Rectangle 93"/>
            <p:cNvSpPr/>
            <p:nvPr/>
          </p:nvSpPr>
          <p:spPr>
            <a:xfrm>
              <a:off x="7117080" y="3584258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DECEA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7208799" y="3617119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易错</a:t>
              </a:r>
            </a:p>
          </p:txBody>
        </p:sp>
        <p:sp>
          <p:nvSpPr>
            <p:cNvPr id="95" name="Ellipse 95"/>
            <p:cNvSpPr/>
            <p:nvPr/>
          </p:nvSpPr>
          <p:spPr>
            <a:xfrm>
              <a:off x="7126605" y="397668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7282053" y="3923824"/>
              <a:ext cx="389813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while 里退的是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next2[k]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而不是 next[k]，全程只用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一个数组</a:t>
              </a:r>
            </a:p>
          </p:txBody>
        </p:sp>
        <p:sp>
          <p:nvSpPr>
            <p:cNvPr id="97" name="Ellipse 97"/>
            <p:cNvSpPr/>
            <p:nvPr/>
          </p:nvSpPr>
          <p:spPr>
            <a:xfrm>
              <a:off x="7126605" y="450437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8" name="TextBox 98"/>
            <p:cNvSpPr txBox="1"/>
            <p:nvPr/>
          </p:nvSpPr>
          <p:spPr>
            <a:xfrm>
              <a:off x="7282053" y="4451509"/>
              <a:ext cx="421740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三目运算符里的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++k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只写一次，两个分支都会让 k 前进</a:t>
              </a:r>
            </a:p>
          </p:txBody>
        </p:sp>
        <p:sp>
          <p:nvSpPr>
            <p:cNvPr id="99" name="Ellipse 99"/>
            <p:cNvSpPr/>
            <p:nvPr/>
          </p:nvSpPr>
          <p:spPr>
            <a:xfrm>
              <a:off x="7126605" y="478917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00" name="TextBox 100"/>
            <p:cNvSpPr txBox="1"/>
            <p:nvPr/>
          </p:nvSpPr>
          <p:spPr>
            <a:xfrm>
              <a:off x="7282053" y="4737259"/>
              <a:ext cx="3545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循环条件写成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 &lt; m - 1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时只算到 next2[m−1]</a:t>
              </a:r>
            </a:p>
          </p:txBody>
        </p:sp>
      </p:grpSp>
      <p:grpSp>
        <p:nvGrpSpPr>
          <p:cNvPr id="107" name="c2-callout-3"/>
          <p:cNvGrpSpPr/>
          <p:nvPr/>
        </p:nvGrpSpPr>
        <p:grpSpPr>
          <a:xfrm>
            <a:off x="6898005" y="5281612"/>
            <a:ext cx="4760595" cy="905828"/>
            <a:chOff x="6898005" y="5281612"/>
            <a:chExt cx="4760595" cy="905828"/>
          </a:xfrm>
        </p:grpSpPr>
        <p:sp>
          <p:nvSpPr>
            <p:cNvPr id="102" name="Rectangle 102"/>
            <p:cNvSpPr/>
            <p:nvPr/>
          </p:nvSpPr>
          <p:spPr>
            <a:xfrm>
              <a:off x="6898005" y="5281612"/>
              <a:ext cx="4760595" cy="905828"/>
            </a:xfrm>
            <a:prstGeom prst="roundRect">
              <a:avLst>
                <a:gd name="adj" fmla="val 12618"/>
              </a:avLst>
            </a:prstGeom>
            <a:solidFill>
              <a:srgbClr val="1F5FA8"/>
            </a:solidFill>
            <a:ln>
              <a:noFill/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7102793" y="5634992"/>
              <a:ext cx="200023" cy="200023"/>
              <a:chOff x="7102793" y="5634992"/>
              <a:chExt cx="200023" cy="200023"/>
            </a:xfrm>
          </p:grpSpPr>
          <p:sp>
            <p:nvSpPr>
              <p:cNvPr id="103" name="Freeform 103"/>
              <p:cNvSpPr/>
              <p:nvPr/>
            </p:nvSpPr>
            <p:spPr>
              <a:xfrm>
                <a:off x="7102793" y="5634992"/>
                <a:ext cx="200023" cy="200023"/>
              </a:xfrm>
              <a:custGeom>
                <a:avLst/>
                <a:gdLst/>
                <a:ahLst/>
                <a:cxnLst/>
                <a:rect l="l" t="t" r="r" b="b"/>
                <a:pathLst>
                  <a:path w="200023" h="200023">
                    <a:moveTo>
                      <a:pt x="150630" y="9366"/>
                    </a:moveTo>
                    <a:lnTo>
                      <a:pt x="190658" y="49393"/>
                    </a:lnTo>
                    <a:cubicBezTo>
                      <a:pt x="196654" y="55389"/>
                      <a:pt x="200023" y="63522"/>
                      <a:pt x="200023" y="72002"/>
                    </a:cubicBezTo>
                    <a:cubicBezTo>
                      <a:pt x="200023" y="80482"/>
                      <a:pt x="196654" y="88614"/>
                      <a:pt x="190658" y="94610"/>
                    </a:cubicBezTo>
                    <a:lnTo>
                      <a:pt x="161287" y="123980"/>
                    </a:lnTo>
                    <a:cubicBezTo>
                      <a:pt x="155291" y="129977"/>
                      <a:pt x="147159" y="133346"/>
                      <a:pt x="138679" y="133346"/>
                    </a:cubicBezTo>
                    <a:cubicBezTo>
                      <a:pt x="130199" y="133346"/>
                      <a:pt x="122066" y="129977"/>
                      <a:pt x="116070" y="123980"/>
                    </a:cubicBezTo>
                    <a:lnTo>
                      <a:pt x="112726" y="120636"/>
                    </a:lnTo>
                    <a:lnTo>
                      <a:pt x="39850" y="193511"/>
                    </a:lnTo>
                    <a:cubicBezTo>
                      <a:pt x="36157" y="197203"/>
                      <a:pt x="31283" y="199477"/>
                      <a:pt x="26081" y="199935"/>
                    </a:cubicBezTo>
                    <a:lnTo>
                      <a:pt x="24136" y="200023"/>
                    </a:lnTo>
                    <a:lnTo>
                      <a:pt x="11113" y="200023"/>
                    </a:lnTo>
                    <a:cubicBezTo>
                      <a:pt x="5479" y="200023"/>
                      <a:pt x="737" y="195806"/>
                      <a:pt x="78" y="190211"/>
                    </a:cubicBezTo>
                    <a:lnTo>
                      <a:pt x="0" y="188911"/>
                    </a:lnTo>
                    <a:lnTo>
                      <a:pt x="0" y="175887"/>
                    </a:lnTo>
                    <a:cubicBezTo>
                      <a:pt x="1" y="170669"/>
                      <a:pt x="1838" y="165618"/>
                      <a:pt x="5190" y="161619"/>
                    </a:cubicBezTo>
                    <a:lnTo>
                      <a:pt x="6512" y="160174"/>
                    </a:lnTo>
                    <a:lnTo>
                      <a:pt x="11113" y="155573"/>
                    </a:lnTo>
                    <a:lnTo>
                      <a:pt x="33338" y="155573"/>
                    </a:lnTo>
                    <a:lnTo>
                      <a:pt x="33338" y="133348"/>
                    </a:lnTo>
                    <a:lnTo>
                      <a:pt x="55563" y="133348"/>
                    </a:lnTo>
                    <a:lnTo>
                      <a:pt x="55563" y="111123"/>
                    </a:lnTo>
                    <a:lnTo>
                      <a:pt x="79388" y="87298"/>
                    </a:lnTo>
                    <a:lnTo>
                      <a:pt x="76043" y="83953"/>
                    </a:lnTo>
                    <a:cubicBezTo>
                      <a:pt x="70046" y="77957"/>
                      <a:pt x="66677" y="69825"/>
                      <a:pt x="66677" y="61345"/>
                    </a:cubicBezTo>
                    <a:cubicBezTo>
                      <a:pt x="66677" y="52865"/>
                      <a:pt x="70046" y="44732"/>
                      <a:pt x="76043" y="38736"/>
                    </a:cubicBezTo>
                    <a:lnTo>
                      <a:pt x="105413" y="9366"/>
                    </a:lnTo>
                    <a:cubicBezTo>
                      <a:pt x="111409" y="3369"/>
                      <a:pt x="119542" y="0"/>
                      <a:pt x="128022" y="0"/>
                    </a:cubicBezTo>
                    <a:cubicBezTo>
                      <a:pt x="136502" y="0"/>
                      <a:pt x="144635" y="3369"/>
                      <a:pt x="150630" y="9366"/>
                    </a:cubicBez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7236143" y="5701665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FFFFFF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7405878" y="5527834"/>
              <a:ext cx="3800602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主循环里把 next 换成 next2 即可，KMP 的 O(n+m)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结论不受影响。</a:t>
              </a:r>
            </a:p>
          </p:txBody>
        </p:sp>
      </p:grpSp>
      <p:grpSp>
        <p:nvGrpSpPr>
          <p:cNvPr id="11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8" name="TextBox 10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09" name="TextBox 10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5707791" cy="909257"/>
            <a:chOff x="520446" y="342900"/>
            <a:chExt cx="570779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95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974" y="407194"/>
              <a:ext cx="3244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的改进与 KMP 的隐藏应用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570779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拓展：输出 P 在 S 中出现的全部位置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5047831" cy="264033"/>
            <a:chOff x="526542" y="1545907"/>
            <a:chExt cx="504783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5047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吉林大学 20 级数据结构上机考试题。相邻两次出现允许重叠。</a:t>
              </a:r>
            </a:p>
          </p:txBody>
        </p:sp>
      </p:grpSp>
      <p:grpSp>
        <p:nvGrpSpPr>
          <p:cNvPr id="12" name="c1-code-1"/>
          <p:cNvGrpSpPr/>
          <p:nvPr/>
        </p:nvGrpSpPr>
        <p:grpSpPr>
          <a:xfrm>
            <a:off x="533400" y="1928812"/>
            <a:ext cx="6059805" cy="2675572"/>
            <a:chOff x="533400" y="1928812"/>
            <a:chExt cx="6059805" cy="2675572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6059805" cy="2675572"/>
            </a:xfrm>
            <a:prstGeom prst="roundRect">
              <a:avLst>
                <a:gd name="adj" fmla="val 356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661797" y="2080736"/>
              <a:ext cx="146111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统计出现次数并输出位置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1988" y="2339435"/>
              <a:ext cx="3706622" cy="217360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215"/>
                </a:lnSpc>
              </a:pP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KMP_all(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S[],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P[],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n,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m)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next[N], i = 0, j = 0, cnt = 0;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buildNext(P, next, m + 1);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多算一位，要用到 next[m]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while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&lt; m &amp;&amp; i &lt; n) {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== -1 || S[i] == P[j]) i++, j++;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else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j = next[j];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if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(j == m) {   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本次匹配成功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cnt++;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printf(</a:t>
              </a:r>
              <a:r>
                <a:rPr lang="en-US" sz="860" dirty="0">
                  <a:solidFill>
                    <a:srgbClr val="C2410C"/>
                  </a:solidFill>
                  <a:latin typeface="Consolas"/>
                  <a:ea typeface="Consolas"/>
                  <a:cs typeface="Consolas"/>
                </a:rPr>
                <a:t>"%d\n"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, i - m);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输出这次出现的位置 */</a:t>
              </a:r>
              <a:br/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    j = next[j];         </a:t>
              </a:r>
              <a:r>
                <a:rPr lang="zh-CN" sz="86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假装此处失配，继续往后找 */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}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6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cnt;</a:t>
              </a:r>
              <a:br/>
              <a:r>
                <a:rPr lang="zh-CN" sz="86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23" name="c1-card-2"/>
          <p:cNvGrpSpPr/>
          <p:nvPr/>
        </p:nvGrpSpPr>
        <p:grpSpPr>
          <a:xfrm>
            <a:off x="533400" y="4773930"/>
            <a:ext cx="6059805" cy="1578292"/>
            <a:chOff x="533400" y="4773930"/>
            <a:chExt cx="6059805" cy="1578292"/>
          </a:xfrm>
        </p:grpSpPr>
        <p:sp>
          <p:nvSpPr>
            <p:cNvPr id="13" name="Rectangle 13"/>
            <p:cNvSpPr/>
            <p:nvPr/>
          </p:nvSpPr>
          <p:spPr>
            <a:xfrm>
              <a:off x="533400" y="4773930"/>
              <a:ext cx="6059805" cy="1578292"/>
            </a:xfrm>
            <a:prstGeom prst="roundRect">
              <a:avLst>
                <a:gd name="adj" fmla="val 844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542925" y="4907280"/>
              <a:ext cx="47625" cy="131159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758190" y="4960620"/>
              <a:ext cx="334328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53961" y="4993481"/>
              <a:ext cx="14183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例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99960" y="4995862"/>
              <a:ext cx="317684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为什么 j ← next[m] 能找到重叠的出现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66762" y="537781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22782" y="5321618"/>
              <a:ext cx="424724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S = aaaaa，P = aa，next 算到第 2 位是 [−1, 0, 1]</a:t>
              </a:r>
            </a:p>
          </p:txBody>
        </p:sp>
        <p:sp>
          <p:nvSpPr>
            <p:cNvPr id="20" name="Ellipse 20"/>
            <p:cNvSpPr/>
            <p:nvPr/>
          </p:nvSpPr>
          <p:spPr>
            <a:xfrm>
              <a:off x="766762" y="5678805"/>
              <a:ext cx="59055" cy="5905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22782" y="5622608"/>
              <a:ext cx="44571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= 2 时第一次成功，记下位置 0，再令 j = next[2] = 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52475" y="5918359"/>
              <a:ext cx="46500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相当于 P 只右移 1 位而不是 2 位，于是位置 1、2、3 也都能被找到。</a:t>
              </a:r>
            </a:p>
          </p:txBody>
        </p:sp>
      </p:grpSp>
      <p:grpSp>
        <p:nvGrpSpPr>
          <p:cNvPr id="33" name="c2-card-1"/>
          <p:cNvGrpSpPr/>
          <p:nvPr/>
        </p:nvGrpSpPr>
        <p:grpSpPr>
          <a:xfrm>
            <a:off x="6898005" y="1928812"/>
            <a:ext cx="4760595" cy="1528762"/>
            <a:chOff x="6898005" y="1928812"/>
            <a:chExt cx="4760595" cy="1528762"/>
          </a:xfrm>
        </p:grpSpPr>
        <p:sp>
          <p:nvSpPr>
            <p:cNvPr id="24" name="Rectangle 24"/>
            <p:cNvSpPr/>
            <p:nvPr/>
          </p:nvSpPr>
          <p:spPr>
            <a:xfrm>
              <a:off x="6898005" y="1928812"/>
              <a:ext cx="4760595" cy="1528762"/>
            </a:xfrm>
            <a:prstGeom prst="roundRect">
              <a:avLst>
                <a:gd name="adj" fmla="val 872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7084695" y="2115502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7165213" y="2148364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只改了三处</a:t>
              </a:r>
            </a:p>
          </p:txBody>
        </p:sp>
        <p:sp>
          <p:nvSpPr>
            <p:cNvPr id="27" name="Ellipse 27"/>
            <p:cNvSpPr/>
            <p:nvPr/>
          </p:nvSpPr>
          <p:spPr>
            <a:xfrm>
              <a:off x="7093267" y="2515552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249287" y="2459355"/>
              <a:ext cx="30123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匹配成功时不返回，先记下位置 i − m</a:t>
              </a:r>
            </a:p>
          </p:txBody>
        </p:sp>
        <p:sp>
          <p:nvSpPr>
            <p:cNvPr id="29" name="Ellipse 29"/>
            <p:cNvSpPr/>
            <p:nvPr/>
          </p:nvSpPr>
          <p:spPr>
            <a:xfrm>
              <a:off x="7093267" y="281559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249287" y="2759392"/>
              <a:ext cx="361210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然后令 </a:t>
              </a:r>
              <a:r>
                <a:rPr lang="en-US" sz="135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j = next[m]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，相当于假装在末尾失配</a:t>
              </a:r>
            </a:p>
          </p:txBody>
        </p:sp>
        <p:sp>
          <p:nvSpPr>
            <p:cNvPr id="31" name="Ellipse 31"/>
            <p:cNvSpPr/>
            <p:nvPr/>
          </p:nvSpPr>
          <p:spPr>
            <a:xfrm>
              <a:off x="7093267" y="3116580"/>
              <a:ext cx="59055" cy="5905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7249287" y="3060382"/>
              <a:ext cx="35485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这要求 next 数组 </a:t>
              </a:r>
              <a:r>
                <a:rPr lang="zh-CN" sz="135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多算一位</a:t>
              </a:r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，算到 next[m]</a:t>
              </a:r>
            </a:p>
          </p:txBody>
        </p:sp>
      </p:grpSp>
      <p:grpSp>
        <p:nvGrpSpPr>
          <p:cNvPr id="59" name="c2-table-2"/>
          <p:cNvGrpSpPr/>
          <p:nvPr/>
        </p:nvGrpSpPr>
        <p:grpSpPr>
          <a:xfrm>
            <a:off x="6893052" y="3627120"/>
            <a:ext cx="4765548" cy="1864709"/>
            <a:chOff x="6893052" y="3627120"/>
            <a:chExt cx="4765548" cy="1864709"/>
          </a:xfrm>
        </p:grpSpPr>
        <p:sp>
          <p:nvSpPr>
            <p:cNvPr id="34" name="Rectangle 34"/>
            <p:cNvSpPr/>
            <p:nvPr/>
          </p:nvSpPr>
          <p:spPr>
            <a:xfrm>
              <a:off x="6898005" y="3627120"/>
              <a:ext cx="4760595" cy="40005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7702587" y="37485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9036087" y="3748564"/>
              <a:ext cx="1034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9894824" y="3748564"/>
              <a:ext cx="7653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输出的位置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1168736" y="3748564"/>
              <a:ext cx="31297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次数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995160" y="4148614"/>
              <a:ext cx="105629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abcabcabcabc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833310" y="4148614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abcabc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661208" y="4148614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0, 3, 6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1278047" y="41486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6898005" y="442245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898005" y="4427220"/>
              <a:ext cx="4760595" cy="40005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995160" y="4548664"/>
              <a:ext cx="44679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aaaaa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999162" y="4548664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9661208" y="4548664"/>
              <a:ext cx="727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0, 1, 2, 3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278047" y="454866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898005" y="4822508"/>
              <a:ext cx="476059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995160" y="4948714"/>
              <a:ext cx="8425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mississippi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953929" y="4948714"/>
              <a:ext cx="26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issi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661208" y="4948714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1, 4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1278047" y="4948714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4" name="Rectangle 54"/>
            <p:cNvSpPr/>
            <p:nvPr/>
          </p:nvSpPr>
          <p:spPr>
            <a:xfrm>
              <a:off x="6898005" y="3627120"/>
              <a:ext cx="4760595" cy="1600200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55" name="Rectangle 55"/>
            <p:cNvSpPr/>
            <p:nvPr/>
          </p:nvSpPr>
          <p:spPr>
            <a:xfrm>
              <a:off x="8606790" y="362712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9559290" y="362712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10987088" y="3627120"/>
              <a:ext cx="9525" cy="1600200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6893052" y="5301139"/>
              <a:ext cx="159303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脚本与暴力枚举对拍的结果</a:t>
              </a:r>
            </a:p>
          </p:txBody>
        </p:sp>
      </p:grpSp>
      <p:grpSp>
        <p:nvGrpSpPr>
          <p:cNvPr id="66" name="c2-callout-3"/>
          <p:cNvGrpSpPr/>
          <p:nvPr/>
        </p:nvGrpSpPr>
        <p:grpSpPr>
          <a:xfrm>
            <a:off x="6898005" y="5623560"/>
            <a:ext cx="4760595" cy="729615"/>
            <a:chOff x="6898005" y="5623560"/>
            <a:chExt cx="4760595" cy="729615"/>
          </a:xfrm>
        </p:grpSpPr>
        <p:sp>
          <p:nvSpPr>
            <p:cNvPr id="60" name="Rectangle 60"/>
            <p:cNvSpPr/>
            <p:nvPr/>
          </p:nvSpPr>
          <p:spPr>
            <a:xfrm>
              <a:off x="6898005" y="5623560"/>
              <a:ext cx="4760595" cy="729615"/>
            </a:xfrm>
            <a:prstGeom prst="roundRect">
              <a:avLst>
                <a:gd name="adj" fmla="val 15666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64" name="Group 64"/>
            <p:cNvGrpSpPr/>
            <p:nvPr/>
          </p:nvGrpSpPr>
          <p:grpSpPr>
            <a:xfrm>
              <a:off x="7090734" y="5883711"/>
              <a:ext cx="224134" cy="192560"/>
              <a:chOff x="7090734" y="5883711"/>
              <a:chExt cx="224134" cy="192560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7202805" y="595407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2" name="Freeform 62"/>
              <p:cNvSpPr/>
              <p:nvPr/>
            </p:nvSpPr>
            <p:spPr>
              <a:xfrm>
                <a:off x="7090734" y="588371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7202805" y="603186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65" name="TextBox 65"/>
            <p:cNvSpPr txBox="1"/>
            <p:nvPr/>
          </p:nvSpPr>
          <p:spPr>
            <a:xfrm>
              <a:off x="7405497" y="5769292"/>
              <a:ext cx="3794188" cy="5126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58"/>
                </a:lnSpc>
              </a:pPr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若要求出现位置不重叠，成功后应把 j 置 0 而不是</a:t>
              </a:r>
              <a:br/>
              <a:r>
                <a:rPr lang="zh-CN" sz="135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next[m]，第二行的答案会变成 0 与 2。</a:t>
              </a:r>
            </a:p>
          </p:txBody>
        </p:sp>
      </p:grpSp>
      <p:grpSp>
        <p:nvGrpSpPr>
          <p:cNvPr id="69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7" name="TextBox 67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4703112" cy="909257"/>
            <a:chOff x="520446" y="342900"/>
            <a:chExt cx="470311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95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974" y="407194"/>
              <a:ext cx="3244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的改进与 KMP 的隐藏应用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470311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 数组顺便回答的几个问题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7" name="c1-card-1"/>
          <p:cNvGrpSpPr/>
          <p:nvPr/>
        </p:nvGrpSpPr>
        <p:grpSpPr>
          <a:xfrm>
            <a:off x="533400" y="1524000"/>
            <a:ext cx="5410200" cy="1487805"/>
            <a:chOff x="533400" y="1524000"/>
            <a:chExt cx="5410200" cy="14878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410200" cy="1487805"/>
            </a:xfrm>
            <a:prstGeom prst="roundRect">
              <a:avLst>
                <a:gd name="adj" fmla="val 8963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714375" y="1704975"/>
              <a:ext cx="83153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795846" y="1737836"/>
              <a:ext cx="66954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直接读数组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53730" y="1744504"/>
              <a:ext cx="279538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长度为 n 的串，三个量都在 next 里</a:t>
              </a:r>
            </a:p>
          </p:txBody>
        </p:sp>
        <p:sp>
          <p:nvSpPr>
            <p:cNvPr id="11" name="Ellipse 11"/>
            <p:cNvSpPr/>
            <p:nvPr/>
          </p:nvSpPr>
          <p:spPr>
            <a:xfrm>
              <a:off x="723900" y="2113598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79348" y="2061686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最长相等前后缀的长度：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next[n]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23900" y="239839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79348" y="2346484"/>
              <a:ext cx="33127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第二长相等前后缀的长度：</a:t>
              </a:r>
              <a:r>
                <a:rPr lang="en-US" sz="1280" dirty="0">
                  <a:solidFill>
                    <a:srgbClr val="E6EFF9"/>
                  </a:solidFill>
                  <a:latin typeface="+mn-lt"/>
                  <a:ea typeface="+mn-ea"/>
                  <a:cs typeface="+mn-cs"/>
                </a:rPr>
                <a:t>next[next[n]]</a:t>
              </a:r>
            </a:p>
          </p:txBody>
        </p:sp>
        <p:sp>
          <p:nvSpPr>
            <p:cNvPr id="15" name="Ellipse 15"/>
            <p:cNvSpPr/>
            <p:nvPr/>
          </p:nvSpPr>
          <p:spPr>
            <a:xfrm>
              <a:off x="723900" y="268414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79348" y="2631281"/>
              <a:ext cx="34247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最长重复前缀的长度：next 数组中的 </a:t>
              </a:r>
              <a:r>
                <a:rPr lang="zh-CN" sz="128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最大值</a:t>
              </a:r>
            </a:p>
          </p:txBody>
        </p:sp>
      </p:grpSp>
      <p:grpSp>
        <p:nvGrpSpPr>
          <p:cNvPr id="65" name="c1-cells-2"/>
          <p:cNvGrpSpPr/>
          <p:nvPr/>
        </p:nvGrpSpPr>
        <p:grpSpPr>
          <a:xfrm>
            <a:off x="528066" y="3176588"/>
            <a:ext cx="4218242" cy="1039177"/>
            <a:chOff x="528066" y="3176588"/>
            <a:chExt cx="4218242" cy="1039177"/>
          </a:xfrm>
        </p:grpSpPr>
        <p:sp>
          <p:nvSpPr>
            <p:cNvPr id="18" name="TextBox 18"/>
            <p:cNvSpPr txBox="1"/>
            <p:nvPr/>
          </p:nvSpPr>
          <p:spPr>
            <a:xfrm>
              <a:off x="528066" y="3288982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74408" y="31765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37808" y="3288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393508" y="31765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556908" y="3288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812608" y="31765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1976008" y="3288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231708" y="31765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395108" y="3288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650808" y="31765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2814208" y="3288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069908" y="31765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233308" y="3288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489008" y="31765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652408" y="3288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3908108" y="31765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071508" y="3288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327208" y="3176588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490608" y="3288982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148838" y="3586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567938" y="3586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987038" y="3586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2406138" y="3586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2825238" y="3586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244338" y="3586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3663438" y="3586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082538" y="3586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501638" y="3586639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28066" y="3971925"/>
              <a:ext cx="3371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next</a:t>
              </a:r>
            </a:p>
          </p:txBody>
        </p:sp>
        <p:sp>
          <p:nvSpPr>
            <p:cNvPr id="47" name="Rectangle 47"/>
            <p:cNvSpPr/>
            <p:nvPr/>
          </p:nvSpPr>
          <p:spPr>
            <a:xfrm>
              <a:off x="974408" y="38595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96993" y="3971925"/>
              <a:ext cx="1739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−1</a:t>
              </a: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1393508" y="38595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1556908" y="3971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1812608" y="38595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976008" y="3971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2231708" y="38595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2395108" y="3971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2650808" y="38595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2814208" y="3971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57" name="Rectangle 57"/>
            <p:cNvSpPr/>
            <p:nvPr/>
          </p:nvSpPr>
          <p:spPr>
            <a:xfrm>
              <a:off x="3069908" y="38595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3233308" y="3971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3489008" y="38595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3652408" y="3971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3908108" y="38595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4071508" y="3971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63" name="Rectangle 63"/>
            <p:cNvSpPr/>
            <p:nvPr/>
          </p:nvSpPr>
          <p:spPr>
            <a:xfrm>
              <a:off x="4327208" y="3859530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4490608" y="3971925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  <p:grpSp>
        <p:nvGrpSpPr>
          <p:cNvPr id="67" name="c1-text-3"/>
          <p:cNvGrpSpPr/>
          <p:nvPr/>
        </p:nvGrpSpPr>
        <p:grpSpPr>
          <a:xfrm>
            <a:off x="528066" y="4397692"/>
            <a:ext cx="4984623" cy="412052"/>
            <a:chOff x="528066" y="4397692"/>
            <a:chExt cx="4984623" cy="412052"/>
          </a:xfrm>
        </p:grpSpPr>
        <p:sp>
          <p:nvSpPr>
            <p:cNvPr id="66" name="TextBox 66"/>
            <p:cNvSpPr txBox="1"/>
            <p:nvPr/>
          </p:nvSpPr>
          <p:spPr>
            <a:xfrm>
              <a:off x="528066" y="4397692"/>
              <a:ext cx="4984623" cy="4120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628"/>
                </a:lnSpc>
              </a:pPr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再多算一位得到 next[9] = 6。于是最长相等前后缀是 abcabc（长度 6），第二长是</a:t>
              </a:r>
              <a:br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next[6] = 3，数组最大值也是 6。</a:t>
              </a:r>
            </a:p>
          </p:txBody>
        </p:sp>
      </p:grpSp>
      <p:grpSp>
        <p:nvGrpSpPr>
          <p:cNvPr id="74" name="c1-callout-4"/>
          <p:cNvGrpSpPr/>
          <p:nvPr/>
        </p:nvGrpSpPr>
        <p:grpSpPr>
          <a:xfrm>
            <a:off x="533400" y="4932998"/>
            <a:ext cx="5410200" cy="702945"/>
            <a:chOff x="533400" y="4932998"/>
            <a:chExt cx="5410200" cy="702945"/>
          </a:xfrm>
        </p:grpSpPr>
        <p:sp>
          <p:nvSpPr>
            <p:cNvPr id="68" name="Rectangle 68"/>
            <p:cNvSpPr/>
            <p:nvPr/>
          </p:nvSpPr>
          <p:spPr>
            <a:xfrm>
              <a:off x="533400" y="4932998"/>
              <a:ext cx="5410200" cy="702945"/>
            </a:xfrm>
            <a:prstGeom prst="roundRect">
              <a:avLst>
                <a:gd name="adj" fmla="val 16260"/>
              </a:avLst>
            </a:prstGeom>
            <a:solidFill>
              <a:srgbClr val="F4F6FB"/>
            </a:solidFill>
            <a:ln>
              <a:noFill/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738188" y="5184458"/>
              <a:ext cx="200026" cy="200026"/>
              <a:chOff x="738188" y="5184458"/>
              <a:chExt cx="200026" cy="200026"/>
            </a:xfrm>
          </p:grpSpPr>
          <p:sp>
            <p:nvSpPr>
              <p:cNvPr id="69" name="Freeform 69"/>
              <p:cNvSpPr/>
              <p:nvPr/>
            </p:nvSpPr>
            <p:spPr>
              <a:xfrm>
                <a:off x="738188" y="5184458"/>
                <a:ext cx="200026" cy="200026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200026">
                    <a:moveTo>
                      <a:pt x="0" y="100013"/>
                    </a:moveTo>
                    <a:cubicBezTo>
                      <a:pt x="0" y="155248"/>
                      <a:pt x="44777" y="200026"/>
                      <a:pt x="100013" y="200026"/>
                    </a:cubicBezTo>
                    <a:cubicBezTo>
                      <a:pt x="155248" y="200026"/>
                      <a:pt x="200026" y="155248"/>
                      <a:pt x="200026" y="100013"/>
                    </a:cubicBezTo>
                    <a:cubicBezTo>
                      <a:pt x="200026" y="44777"/>
                      <a:pt x="155248" y="0"/>
                      <a:pt x="100013" y="0"/>
                    </a:cubicBezTo>
                    <a:cubicBezTo>
                      <a:pt x="44777" y="0"/>
                      <a:pt x="0" y="44777"/>
                      <a:pt x="0" y="100013"/>
                    </a:cubicBez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0" name="Freeform 70"/>
              <p:cNvSpPr/>
              <p:nvPr/>
            </p:nvSpPr>
            <p:spPr>
              <a:xfrm>
                <a:off x="838200" y="5251133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27088" y="5284470"/>
                <a:ext cx="222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44450">
                    <a:moveTo>
                      <a:pt x="0" y="0"/>
                    </a:moveTo>
                    <a:lnTo>
                      <a:pt x="11113" y="0"/>
                    </a:lnTo>
                    <a:lnTo>
                      <a:pt x="11113" y="44450"/>
                    </a:lnTo>
                    <a:lnTo>
                      <a:pt x="22225" y="44450"/>
                    </a:lnTo>
                  </a:path>
                </a:pathLst>
              </a:custGeom>
              <a:noFill/>
              <a:ln w="22225">
                <a:solidFill>
                  <a:srgbClr val="1F2937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1041273" y="5078254"/>
              <a:ext cx="4385818" cy="4836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845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这三条都要用到 next[n]，记得把 buildNext 的参数写成 n +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1。</a:t>
              </a:r>
            </a:p>
          </p:txBody>
        </p:sp>
      </p:grpSp>
      <p:grpSp>
        <p:nvGrpSpPr>
          <p:cNvPr id="85" name="c2-card-1"/>
          <p:cNvGrpSpPr/>
          <p:nvPr/>
        </p:nvGrpSpPr>
        <p:grpSpPr>
          <a:xfrm>
            <a:off x="6248400" y="1524000"/>
            <a:ext cx="5410200" cy="1884998"/>
            <a:chOff x="6248400" y="1524000"/>
            <a:chExt cx="5410200" cy="1884998"/>
          </a:xfrm>
        </p:grpSpPr>
        <p:sp>
          <p:nvSpPr>
            <p:cNvPr id="75" name="Rectangle 75"/>
            <p:cNvSpPr/>
            <p:nvPr/>
          </p:nvSpPr>
          <p:spPr>
            <a:xfrm>
              <a:off x="6248400" y="1524000"/>
              <a:ext cx="5410200" cy="1884998"/>
            </a:xfrm>
            <a:prstGeom prst="roundRect">
              <a:avLst>
                <a:gd name="adj" fmla="val 707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76" name="Rectangle 76"/>
            <p:cNvSpPr/>
            <p:nvPr/>
          </p:nvSpPr>
          <p:spPr>
            <a:xfrm>
              <a:off x="6257925" y="1657350"/>
              <a:ext cx="47625" cy="1618298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77" name="Rectangle 77"/>
            <p:cNvSpPr/>
            <p:nvPr/>
          </p:nvSpPr>
          <p:spPr>
            <a:xfrm>
              <a:off x="6467475" y="170497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6556096" y="173783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应用一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7158228" y="1744504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最长回文前缀（搜狗校园招聘笔试题）</a:t>
              </a:r>
            </a:p>
          </p:txBody>
        </p:sp>
        <p:sp>
          <p:nvSpPr>
            <p:cNvPr id="80" name="Ellipse 80"/>
            <p:cNvSpPr/>
            <p:nvPr/>
          </p:nvSpPr>
          <p:spPr>
            <a:xfrm>
              <a:off x="6477000" y="211359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6632448" y="2061686"/>
              <a:ext cx="464591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构造新串 t = p + 分隔符 + reverse(p)，分隔符取一个 p 中不出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现的字符</a:t>
              </a:r>
            </a:p>
          </p:txBody>
        </p:sp>
        <p:sp>
          <p:nvSpPr>
            <p:cNvPr id="82" name="Ellipse 82"/>
            <p:cNvSpPr/>
            <p:nvPr/>
          </p:nvSpPr>
          <p:spPr>
            <a:xfrm>
              <a:off x="6477000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6632448" y="2589371"/>
              <a:ext cx="43207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t 的最长相等前后缀长度，就是 p 的最长回文前缀的长度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462141" y="2870835"/>
              <a:ext cx="4697920" cy="39871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522"/>
                </a:lnSpc>
              </a:pPr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t 的前缀取自 p 的开头，后缀取自 p 的结尾倒过来，两者相等正说明这一段正着</a:t>
              </a:r>
              <a:br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反着一样。</a:t>
              </a:r>
            </a:p>
          </p:txBody>
        </p:sp>
      </p:grpSp>
      <p:grpSp>
        <p:nvGrpSpPr>
          <p:cNvPr id="96" name="c2-card-2"/>
          <p:cNvGrpSpPr/>
          <p:nvPr/>
        </p:nvGrpSpPr>
        <p:grpSpPr>
          <a:xfrm>
            <a:off x="6248400" y="3573780"/>
            <a:ext cx="5410200" cy="2062162"/>
            <a:chOff x="6248400" y="3573780"/>
            <a:chExt cx="5410200" cy="2062162"/>
          </a:xfrm>
        </p:grpSpPr>
        <p:sp>
          <p:nvSpPr>
            <p:cNvPr id="86" name="Rectangle 86"/>
            <p:cNvSpPr/>
            <p:nvPr/>
          </p:nvSpPr>
          <p:spPr>
            <a:xfrm>
              <a:off x="6248400" y="3573780"/>
              <a:ext cx="5410200" cy="2062162"/>
            </a:xfrm>
            <a:prstGeom prst="roundRect">
              <a:avLst>
                <a:gd name="adj" fmla="val 646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7" name="Rectangle 87"/>
            <p:cNvSpPr/>
            <p:nvPr/>
          </p:nvSpPr>
          <p:spPr>
            <a:xfrm>
              <a:off x="6257925" y="3707130"/>
              <a:ext cx="47625" cy="1795462"/>
            </a:xfrm>
            <a:prstGeom prst="roundRect">
              <a:avLst>
                <a:gd name="adj" fmla="val 50000"/>
              </a:avLst>
            </a:prstGeom>
            <a:solidFill>
              <a:srgbClr val="14A38B"/>
            </a:solidFill>
            <a:ln>
              <a:noFill/>
            </a:ln>
          </p:spPr>
        </p:sp>
        <p:sp>
          <p:nvSpPr>
            <p:cNvPr id="88" name="Rectangle 88"/>
            <p:cNvSpPr/>
            <p:nvPr/>
          </p:nvSpPr>
          <p:spPr>
            <a:xfrm>
              <a:off x="6467475" y="3754755"/>
              <a:ext cx="582930" cy="238125"/>
            </a:xfrm>
            <a:prstGeom prst="roundRect">
              <a:avLst>
                <a:gd name="adj" fmla="val 50000"/>
              </a:avLst>
            </a:prstGeom>
            <a:solidFill>
              <a:srgbClr val="E3F5F1"/>
            </a:solidFill>
            <a:ln>
              <a:noFill/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6556096" y="3787616"/>
              <a:ext cx="405689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应用二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7158228" y="3794284"/>
              <a:ext cx="23843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最短回文串（LeetCode 214）</a:t>
              </a:r>
            </a:p>
          </p:txBody>
        </p:sp>
        <p:sp>
          <p:nvSpPr>
            <p:cNvPr id="91" name="Ellipse 91"/>
            <p:cNvSpPr/>
            <p:nvPr/>
          </p:nvSpPr>
          <p:spPr>
            <a:xfrm>
              <a:off x="6477000" y="4163378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6632448" y="4110514"/>
              <a:ext cx="454025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设最长回文前缀长度为 L，把 p 的后 n − L 个字符倒过来接到最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前面</a:t>
              </a:r>
            </a:p>
          </p:txBody>
        </p:sp>
        <p:sp>
          <p:nvSpPr>
            <p:cNvPr id="93" name="Ellipse 93"/>
            <p:cNvSpPr/>
            <p:nvPr/>
          </p:nvSpPr>
          <p:spPr>
            <a:xfrm>
              <a:off x="6477000" y="469106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6632448" y="4639151"/>
              <a:ext cx="48592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例：p = aacecaaa，L = 7，只需补 1 个字符，得到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aaacecaaa</a:t>
              </a:r>
            </a:p>
          </p:txBody>
        </p:sp>
        <p:sp>
          <p:nvSpPr>
            <p:cNvPr id="95" name="TextBox 95"/>
            <p:cNvSpPr txBox="1"/>
            <p:nvPr/>
          </p:nvSpPr>
          <p:spPr>
            <a:xfrm>
              <a:off x="6462141" y="4919662"/>
              <a:ext cx="18384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补的字符数 n − L 就是答案。</a:t>
              </a:r>
            </a:p>
          </p:txBody>
        </p:sp>
      </p:grpSp>
      <p:grpSp>
        <p:nvGrpSpPr>
          <p:cNvPr id="103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97" name="Rectangle 97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101" name="Group 101"/>
            <p:cNvGrpSpPr/>
            <p:nvPr/>
          </p:nvGrpSpPr>
          <p:grpSpPr>
            <a:xfrm>
              <a:off x="726129" y="6024681"/>
              <a:ext cx="224134" cy="192560"/>
              <a:chOff x="726129" y="6024681"/>
              <a:chExt cx="224134" cy="192560"/>
            </a:xfrm>
          </p:grpSpPr>
          <p:sp>
            <p:nvSpPr>
              <p:cNvPr id="98" name="Freeform 98"/>
              <p:cNvSpPr/>
              <p:nvPr/>
            </p:nvSpPr>
            <p:spPr>
              <a:xfrm>
                <a:off x="838200" y="6095048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99" name="Freeform 99"/>
              <p:cNvSpPr/>
              <p:nvPr/>
            </p:nvSpPr>
            <p:spPr>
              <a:xfrm>
                <a:off x="726129" y="6024681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100" name="Freeform 100"/>
              <p:cNvSpPr/>
              <p:nvPr/>
            </p:nvSpPr>
            <p:spPr>
              <a:xfrm>
                <a:off x="838200" y="6172836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102" name="TextBox 102"/>
            <p:cNvSpPr txBox="1"/>
            <p:nvPr/>
          </p:nvSpPr>
          <p:spPr>
            <a:xfrm>
              <a:off x="1041273" y="6039326"/>
              <a:ext cx="73190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分隔符不能省。省掉之后前缀和后缀可能跨过 p 与 reverse(p) 的分界，会得到超过 n 的长度。</a:t>
              </a:r>
            </a:p>
          </p:txBody>
        </p:sp>
      </p:grpSp>
      <p:grpSp>
        <p:nvGrpSpPr>
          <p:cNvPr id="106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104" name="TextBox 104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70931" cy="909257"/>
            <a:chOff x="520446" y="342900"/>
            <a:chExt cx="6870931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95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974" y="407194"/>
              <a:ext cx="3244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的改进与 KMP 的隐藏应用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7093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用 next 判断一个串能不能由循环节重复构成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15" name="c1-card-1"/>
          <p:cNvGrpSpPr/>
          <p:nvPr/>
        </p:nvGrpSpPr>
        <p:grpSpPr>
          <a:xfrm>
            <a:off x="533400" y="1524000"/>
            <a:ext cx="5626418" cy="1444942"/>
            <a:chOff x="533400" y="1524000"/>
            <a:chExt cx="5626418" cy="1444942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1444942"/>
            </a:xfrm>
            <a:prstGeom prst="roundRect">
              <a:avLst>
                <a:gd name="adj" fmla="val 92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42925" y="1657350"/>
              <a:ext cx="47625" cy="1178242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52475" y="170497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45147" y="173783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18450" y="1744504"/>
              <a:ext cx="13914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循环节与循环周期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5998" y="2061686"/>
              <a:ext cx="496290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若字符串 S 可由它的一个最小子串 P 重复 k 次构成，P 称为 S 的循环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节，k 称为循环周期。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762000" y="2641282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917448" y="2589371"/>
              <a:ext cx="389344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例：S = abcabcabcabc 的循环节是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abc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，周期是 4</a:t>
              </a:r>
            </a:p>
          </p:txBody>
        </p:sp>
      </p:grpSp>
      <p:grpSp>
        <p:nvGrpSpPr>
          <p:cNvPr id="53" name="c1-cells-2"/>
          <p:cNvGrpSpPr/>
          <p:nvPr/>
        </p:nvGrpSpPr>
        <p:grpSpPr>
          <a:xfrm>
            <a:off x="528066" y="3133725"/>
            <a:ext cx="5245036" cy="571976"/>
            <a:chOff x="528066" y="3133725"/>
            <a:chExt cx="5245036" cy="571976"/>
          </a:xfrm>
        </p:grpSpPr>
        <p:sp>
          <p:nvSpPr>
            <p:cNvPr id="16" name="TextBox 16"/>
            <p:cNvSpPr txBox="1"/>
            <p:nvPr/>
          </p:nvSpPr>
          <p:spPr>
            <a:xfrm>
              <a:off x="528066" y="3247073"/>
              <a:ext cx="9691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43902" y="313372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9073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1163002" y="313372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3264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1582102" y="3133725"/>
              <a:ext cx="419100" cy="356235"/>
            </a:xfrm>
            <a:prstGeom prst="rect">
              <a:avLst/>
            </a:prstGeom>
            <a:solidFill>
              <a:srgbClr val="E3F5F1"/>
            </a:solidFill>
            <a:ln w="15240">
              <a:solidFill>
                <a:srgbClr val="14A38B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7455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2001202" y="313372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1646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2420302" y="313372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25837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2839402" y="313372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30028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3258502" y="313372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34219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677602" y="313372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8410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096702" y="3133725"/>
              <a:ext cx="419100" cy="356235"/>
            </a:xfrm>
            <a:prstGeom prst="rect">
              <a:avLst/>
            </a:prstGeom>
            <a:solidFill>
              <a:srgbClr val="FFFFFF"/>
            </a:solidFill>
            <a:ln w="15240">
              <a:solidFill>
                <a:srgbClr val="1F5FA8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2601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4515802" y="313372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46792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4934902" y="313372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50983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354002" y="3133725"/>
              <a:ext cx="419100" cy="356235"/>
            </a:xfrm>
            <a:prstGeom prst="rect">
              <a:avLst/>
            </a:prstGeom>
            <a:solidFill>
              <a:srgbClr val="FDEEE7"/>
            </a:solidFill>
            <a:ln w="15240">
              <a:solidFill>
                <a:srgbClr val="F26B3A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517403" y="3247073"/>
              <a:ext cx="9229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c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9183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0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3374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7565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1756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25947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30138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4329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38520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2711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690233" y="3543776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9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5078976" y="354377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5498076" y="3543776"/>
              <a:ext cx="130952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55" name="c1-text-3"/>
          <p:cNvGrpSpPr/>
          <p:nvPr/>
        </p:nvGrpSpPr>
        <p:grpSpPr>
          <a:xfrm>
            <a:off x="528066" y="3853815"/>
            <a:ext cx="5270525" cy="205359"/>
            <a:chOff x="528066" y="3853815"/>
            <a:chExt cx="5270525" cy="205359"/>
          </a:xfrm>
        </p:grpSpPr>
        <p:sp>
          <p:nvSpPr>
            <p:cNvPr id="54" name="TextBox 54"/>
            <p:cNvSpPr txBox="1"/>
            <p:nvPr/>
          </p:nvSpPr>
          <p:spPr>
            <a:xfrm>
              <a:off x="528066" y="3853815"/>
              <a:ext cx="52705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 = 12，next[12] = 9，前 9 个与后 9 个字符相等，空出的 L = 3 就是循环节长度。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formula72"/>
              <p:cNvSpPr txBox="1">
                <a:spLocks noGrp="1"/>
              </p:cNvSpPr>
              <p:nvPr/>
            </p:nvSpPr>
            <p:spPr>
              <a:xfrm>
                <a:off x="533400" y="4182428"/>
                <a:ext cx="5626418" cy="419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L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next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,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  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next</m:t>
                      </m:r>
                      <m:d>
                        <m:dPr>
                          <m:begChr m:val="["/>
                          <m:sepChr m:val=""/>
                          <m:endChr m:val="]"/>
                          <m:grow m:val="on"/>
                          <m:ctrl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n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&gt;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m:rPr>
                          <m:nor m:val="on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且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 xml:space="preserve"> 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</m:t>
                      </m:r>
                      <m:func>
                        <m:funcPr/>
                        <m:fName>
                          <m:r>
                            <m:rPr>
                              <m:sty m:val="p"/>
                            </m:rP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mod</m:t>
                          </m:r>
                        </m:fName>
                        <m:e>
                          <m:r>
                            <a:rPr lang="zh-CN" sz="16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L</m:t>
                          </m:r>
                        </m:e>
                      </m:func>
                      <m:r>
                        <m:rPr>
                          <m:sty m:val="p"/>
                        </m:rP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6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0</m:t>
                      </m:r>
                    </m:oMath>
                  </m:oMathPara>
                </a14:m>
              </a:p>
            </p:txBody>
          </p:sp>
        </mc:Choice>
      </mc:AlternateContent>
      <p:grpSp>
        <p:nvGrpSpPr>
          <p:cNvPr id="63" name="c1-card-5"/>
          <p:cNvGrpSpPr/>
          <p:nvPr/>
        </p:nvGrpSpPr>
        <p:grpSpPr>
          <a:xfrm>
            <a:off x="533400" y="4766310"/>
            <a:ext cx="5626418" cy="1578292"/>
            <a:chOff x="533400" y="4766310"/>
            <a:chExt cx="5626418" cy="1578292"/>
          </a:xfrm>
        </p:grpSpPr>
        <p:sp>
          <p:nvSpPr>
            <p:cNvPr id="57" name="Rectangle 57"/>
            <p:cNvSpPr/>
            <p:nvPr/>
          </p:nvSpPr>
          <p:spPr>
            <a:xfrm>
              <a:off x="533400" y="4766310"/>
              <a:ext cx="5626418" cy="1578292"/>
            </a:xfrm>
            <a:prstGeom prst="roundRect">
              <a:avLst>
                <a:gd name="adj" fmla="val 8449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714375" y="4947285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07047" y="4980146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</a:t>
              </a:r>
            </a:p>
          </p:txBody>
        </p:sp>
        <p:sp>
          <p:nvSpPr>
            <p:cNvPr id="60" name="Ellipse 60"/>
            <p:cNvSpPr/>
            <p:nvPr/>
          </p:nvSpPr>
          <p:spPr>
            <a:xfrm>
              <a:off x="723900" y="533971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879348" y="5286851"/>
              <a:ext cx="4792218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成立时循环节长 L、周期 n / L；不成立即不是任何子串的整数次重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09041" y="5811202"/>
              <a:ext cx="418052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练手：abab、aba、aaa、abcab 的 next[n] 依次是 2、1、2、2。</a:t>
              </a:r>
            </a:p>
          </p:txBody>
        </p:sp>
      </p:grpSp>
      <p:grpSp>
        <p:nvGrpSpPr>
          <p:cNvPr id="67" name="c2-code-1"/>
          <p:cNvGrpSpPr/>
          <p:nvPr/>
        </p:nvGrpSpPr>
        <p:grpSpPr>
          <a:xfrm>
            <a:off x="6464618" y="1524000"/>
            <a:ext cx="5193982" cy="1406842"/>
            <a:chOff x="6464618" y="1524000"/>
            <a:chExt cx="5193982" cy="1406842"/>
          </a:xfrm>
        </p:grpSpPr>
        <p:sp>
          <p:nvSpPr>
            <p:cNvPr id="64" name="Rectangle 64"/>
            <p:cNvSpPr/>
            <p:nvPr/>
          </p:nvSpPr>
          <p:spPr>
            <a:xfrm>
              <a:off x="6464618" y="1524000"/>
              <a:ext cx="5193982" cy="1406842"/>
            </a:xfrm>
            <a:prstGeom prst="roundRect">
              <a:avLst>
                <a:gd name="adj" fmla="val 6770"/>
              </a:avLst>
            </a:prstGeom>
            <a:solidFill>
              <a:srgbClr val="F6F8FA"/>
            </a:solidFill>
            <a:ln w="11430">
              <a:solidFill>
                <a:srgbClr val="D9DFEA"/>
              </a:solidFill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6593015" y="1675924"/>
              <a:ext cx="90198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LeetCode 459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6593205" y="1935004"/>
              <a:ext cx="3534664" cy="909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178"/>
                </a:lnSpc>
              </a:pP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bool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repeatedSubstringPattern(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char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*s) {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next[N], n = strlen(s);</a:t>
              </a:r>
              <a:br/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buildNext(s, next, n + 1);   </a:t>
              </a:r>
              <a:r>
                <a:rPr lang="zh-CN" sz="820" dirty="0">
                  <a:solidFill>
                    <a:srgbClr val="0F7A68"/>
                  </a:solidFill>
                  <a:latin typeface="Consolas"/>
                  <a:ea typeface="Microsoft YaHei"/>
                  <a:cs typeface="Consolas"/>
                </a:rPr>
                <a:t>/* 多算一位，要用到 next[n] */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int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L = n - next[n];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   </a:t>
              </a:r>
              <a:r>
                <a:rPr lang="en-US" sz="820" b="1" dirty="0">
                  <a:solidFill>
                    <a:srgbClr val="1F5FA8"/>
                  </a:solidFill>
                  <a:latin typeface="Consolas"/>
                  <a:ea typeface="Consolas"/>
                  <a:cs typeface="Consolas"/>
                </a:rPr>
                <a:t>return</a:t>
              </a:r>
              <a:r>
                <a:rPr lang="en-US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 xml:space="preserve"> next[n] &gt; 0 &amp;&amp; n % L == 0;</a:t>
              </a:r>
              <a:br/>
              <a:r>
                <a:rPr lang="zh-CN" sz="820" dirty="0">
                  <a:solidFill>
                    <a:srgbClr val="1F2937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grpSp>
        <p:nvGrpSpPr>
          <p:cNvPr id="74" name="c2-card-2"/>
          <p:cNvGrpSpPr/>
          <p:nvPr/>
        </p:nvGrpSpPr>
        <p:grpSpPr>
          <a:xfrm>
            <a:off x="6464618" y="3095625"/>
            <a:ext cx="5193982" cy="1403032"/>
            <a:chOff x="6464618" y="3095625"/>
            <a:chExt cx="5193982" cy="1403032"/>
          </a:xfrm>
        </p:grpSpPr>
        <p:sp>
          <p:nvSpPr>
            <p:cNvPr id="68" name="Rectangle 68"/>
            <p:cNvSpPr/>
            <p:nvPr/>
          </p:nvSpPr>
          <p:spPr>
            <a:xfrm>
              <a:off x="6464618" y="3095625"/>
              <a:ext cx="5193982" cy="1403032"/>
            </a:xfrm>
            <a:prstGeom prst="roundRect">
              <a:avLst>
                <a:gd name="adj" fmla="val 9504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69" name="Rectangle 69"/>
            <p:cNvSpPr/>
            <p:nvPr/>
          </p:nvSpPr>
          <p:spPr>
            <a:xfrm>
              <a:off x="6474142" y="3228975"/>
              <a:ext cx="47625" cy="1136332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6683692" y="3276600"/>
              <a:ext cx="458152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6776364" y="3309461"/>
              <a:ext cx="27376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更正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250620" y="3316129"/>
              <a:ext cx="25606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源课件第 82 页的调用写少了一位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677216" y="3633311"/>
              <a:ext cx="4540250" cy="7351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更正：源课件写作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buildNext(s, next, n);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，但它的循环是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j &lt;</a:t>
              </a:r>
              <a:br/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m - 1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，只填到 next[n−1]，next[n] 是未初始化的值。应传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</a:t>
              </a:r>
              <a:br/>
              <a:r>
                <a:rPr lang="zh-CN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+ 1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，第 72 页同样。</a:t>
              </a:r>
            </a:p>
          </p:txBody>
        </p:sp>
      </p:grpSp>
      <p:grpSp>
        <p:nvGrpSpPr>
          <p:cNvPr id="77" name="c2-image-3"/>
          <p:cNvGrpSpPr/>
          <p:nvPr/>
        </p:nvGrpSpPr>
        <p:grpSpPr>
          <a:xfrm>
            <a:off x="7671892" y="4663440"/>
            <a:ext cx="2780386" cy="1699926"/>
            <a:chOff x="7671892" y="4663440"/>
            <a:chExt cx="2780386" cy="1699926"/>
          </a:xfrm>
        </p:grpSpPr>
        <p:pic>
          <p:nvPicPr>
            <p:cNvPr id="75" name="Image 75"/>
            <p:cNvPicPr>
              <a:picLocks noChangeAspect="1"/>
            </p:cNvPicPr>
            <p:nvPr/>
          </p:nvPicPr>
          <p:blipFill>
            <a:blip r:embed="rId2"/>
            <a:srcRect l="25" t="0" r="25" b="0"/>
            <a:stretch>
              <a:fillRect/>
            </a:stretch>
          </p:blipFill>
          <p:spPr>
            <a:xfrm>
              <a:off x="8117205" y="4663440"/>
              <a:ext cx="1888808" cy="1417320"/>
            </a:xfrm>
            <a:prstGeom prst="roundRect">
              <a:avLst>
                <a:gd name="adj" fmla="val 9408"/>
              </a:avLst>
            </a:prstGeom>
          </p:spPr>
        </p:pic>
        <p:sp>
          <p:nvSpPr>
            <p:cNvPr id="76" name="TextBox 76"/>
            <p:cNvSpPr txBox="1"/>
            <p:nvPr/>
          </p:nvSpPr>
          <p:spPr>
            <a:xfrm>
              <a:off x="7671892" y="6172676"/>
              <a:ext cx="278038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量一段最小重复单元，整条路正好是它的整数倍</a:t>
              </a:r>
            </a:p>
          </p:txBody>
        </p:sp>
      </p:grpSp>
      <p:grpSp>
        <p:nvGrpSpPr>
          <p:cNvPr id="80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8" name="TextBox 78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6891528" cy="909257"/>
            <a:chOff x="520446" y="342900"/>
            <a:chExt cx="6891528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329565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58974" y="407194"/>
              <a:ext cx="32445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 · next 的改进与 KMP 的隐藏应用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689152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两种算法的适用场合，以及和教材记号的换算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32" name="c1-table-1"/>
          <p:cNvGrpSpPr/>
          <p:nvPr/>
        </p:nvGrpSpPr>
        <p:grpSpPr>
          <a:xfrm>
            <a:off x="527685" y="1524000"/>
            <a:ext cx="5632133" cy="2544604"/>
            <a:chOff x="527685" y="1524000"/>
            <a:chExt cx="5632133" cy="2544604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626418" cy="675322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56170" y="1773079"/>
              <a:ext cx="52989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字符集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264918" y="1659731"/>
              <a:ext cx="115087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单次比对成功概</a:t>
              </a:r>
              <a:br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率 1/k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52291" y="1773079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朴素算法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413580" y="1773079"/>
              <a:ext cx="36662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KMP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41223" y="2448401"/>
              <a:ext cx="116357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二进制串 k = 2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596947" y="2448401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0.500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971798" y="2335054"/>
              <a:ext cx="663194" cy="4760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1785"/>
                </a:lnSpc>
              </a:pPr>
              <a:r>
                <a:rPr lang="zh-CN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接近最坏</a:t>
              </a:r>
              <a:br/>
              <a:r>
                <a:rPr lang="en-US" sz="1280" b="1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O(nm)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265618" y="2448401"/>
              <a:ext cx="662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86988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33400" y="2874645"/>
              <a:ext cx="5626418" cy="448628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41223" y="3010376"/>
              <a:ext cx="11917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DNA 碱基 k = 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596947" y="3010376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0.250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24604" y="3010376"/>
              <a:ext cx="357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偏慢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65618" y="3010376"/>
              <a:ext cx="662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533400" y="3319462"/>
              <a:ext cx="5626418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641223" y="3459004"/>
              <a:ext cx="12630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英文小写 k = 26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596947" y="345900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0.038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873437" y="3459004"/>
              <a:ext cx="8599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接近 O(n)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265618" y="3459004"/>
              <a:ext cx="6625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O(n+m)</a:t>
              </a:r>
            </a:p>
          </p:txBody>
        </p:sp>
        <p:sp>
          <p:nvSpPr>
            <p:cNvPr id="27" name="Rectangle 27"/>
            <p:cNvSpPr/>
            <p:nvPr/>
          </p:nvSpPr>
          <p:spPr>
            <a:xfrm>
              <a:off x="533400" y="1524000"/>
              <a:ext cx="5626418" cy="2248852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210407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356711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5030152" y="1524000"/>
              <a:ext cx="9525" cy="2248852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527685" y="3848576"/>
              <a:ext cx="43838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字符集越小，单次比对成功的概率越高，朴素算法越接近最坏情况</a:t>
              </a:r>
            </a:p>
          </p:txBody>
        </p:sp>
      </p:grpSp>
      <p:grpSp>
        <p:nvGrpSpPr>
          <p:cNvPr id="41" name="c1-card-2"/>
          <p:cNvGrpSpPr/>
          <p:nvPr/>
        </p:nvGrpSpPr>
        <p:grpSpPr>
          <a:xfrm>
            <a:off x="533400" y="4214812"/>
            <a:ext cx="5626418" cy="1947862"/>
            <a:chOff x="533400" y="4214812"/>
            <a:chExt cx="5626418" cy="1947862"/>
          </a:xfrm>
        </p:grpSpPr>
        <p:sp>
          <p:nvSpPr>
            <p:cNvPr id="33" name="Rectangle 33"/>
            <p:cNvSpPr/>
            <p:nvPr/>
          </p:nvSpPr>
          <p:spPr>
            <a:xfrm>
              <a:off x="533400" y="4214812"/>
              <a:ext cx="5626418" cy="1947862"/>
            </a:xfrm>
            <a:prstGeom prst="roundRect">
              <a:avLst>
                <a:gd name="adj" fmla="val 6846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742950" y="4424362"/>
              <a:ext cx="636270" cy="25717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29208" y="4460081"/>
              <a:ext cx="4637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怎么选</a:t>
              </a:r>
            </a:p>
          </p:txBody>
        </p:sp>
        <p:sp>
          <p:nvSpPr>
            <p:cNvPr id="36" name="Ellipse 36"/>
            <p:cNvSpPr/>
            <p:nvPr/>
          </p:nvSpPr>
          <p:spPr>
            <a:xfrm>
              <a:off x="748665" y="486441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906780" y="4801552"/>
              <a:ext cx="4053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字符集大、模式串短：朴素算法常数小，够用</a:t>
              </a:r>
            </a:p>
          </p:txBody>
        </p:sp>
        <p:sp>
          <p:nvSpPr>
            <p:cNvPr id="38" name="Ellipse 38"/>
            <p:cNvSpPr/>
            <p:nvPr/>
          </p:nvSpPr>
          <p:spPr>
            <a:xfrm>
              <a:off x="748665" y="5199698"/>
              <a:ext cx="64770" cy="6477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906780" y="5136832"/>
              <a:ext cx="477774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字符集小、模式串里重复片段多（二进制串、基因串）：</a:t>
              </a:r>
              <a:br/>
              <a:r>
                <a:rPr lang="zh-CN" sz="1500" b="1" dirty="0">
                  <a:solidFill>
                    <a:srgbClr val="FFD58A"/>
                  </a:solidFill>
                  <a:latin typeface="+mn-lt"/>
                  <a:ea typeface="+mn-ea"/>
                  <a:cs typeface="+mn-cs"/>
                </a:rPr>
                <a:t>KMP 的优势最大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36473" y="5753576"/>
              <a:ext cx="44545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两者的最好情况都是 O(n)，差别全在最坏情况和常数上。</a:t>
              </a:r>
            </a:p>
          </p:txBody>
        </p:sp>
      </p:grpSp>
      <p:grpSp>
        <p:nvGrpSpPr>
          <p:cNvPr id="51" name="c2-card-1"/>
          <p:cNvGrpSpPr/>
          <p:nvPr/>
        </p:nvGrpSpPr>
        <p:grpSpPr>
          <a:xfrm>
            <a:off x="6464618" y="1524000"/>
            <a:ext cx="5193982" cy="1384935"/>
            <a:chOff x="6464618" y="1524000"/>
            <a:chExt cx="5193982" cy="1384935"/>
          </a:xfrm>
        </p:grpSpPr>
        <p:sp>
          <p:nvSpPr>
            <p:cNvPr id="42" name="Rectangle 42"/>
            <p:cNvSpPr/>
            <p:nvPr/>
          </p:nvSpPr>
          <p:spPr>
            <a:xfrm>
              <a:off x="6464618" y="1524000"/>
              <a:ext cx="5193982" cy="1384935"/>
            </a:xfrm>
            <a:prstGeom prst="roundRect">
              <a:avLst>
                <a:gd name="adj" fmla="val 9629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6474142" y="1657350"/>
              <a:ext cx="47625" cy="1118235"/>
            </a:xfrm>
            <a:prstGeom prst="roundRect">
              <a:avLst>
                <a:gd name="adj" fmla="val 5000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6712268" y="1733550"/>
              <a:ext cx="778192" cy="25717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94576" y="1769269"/>
              <a:ext cx="61452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两套记号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598092" y="1768792"/>
              <a:ext cx="31365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next(j) 与教材中的失败函数 f(j)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717983" y="219265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876098" y="2129790"/>
              <a:ext cx="417499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next(j)：p[0..j−1] 的最长相等前后缀的长度</a:t>
              </a:r>
            </a:p>
          </p:txBody>
        </p:sp>
        <p:sp>
          <p:nvSpPr>
            <p:cNvPr id="49" name="Ellipse 49"/>
            <p:cNvSpPr/>
            <p:nvPr/>
          </p:nvSpPr>
          <p:spPr>
            <a:xfrm>
              <a:off x="6717983" y="2527935"/>
              <a:ext cx="64770" cy="6477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876098" y="2465070"/>
              <a:ext cx="406242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f(j)：p[0..j] 的最长相等前后缀的长度 </a:t>
              </a:r>
              <a:r>
                <a:rPr lang="zh-CN" sz="150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减 1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formula76"/>
              <p:cNvSpPr txBox="1">
                <a:spLocks noGrp="1"/>
              </p:cNvSpPr>
              <p:nvPr/>
            </p:nvSpPr>
            <p:spPr>
              <a:xfrm>
                <a:off x="6464618" y="3099435"/>
                <a:ext cx="5193982" cy="495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f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next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  <m:r>
                            <m:rPr>
                              <m:sty m:val="p"/>
                            </m:r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+</m:t>
                          </m:r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1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−</m:t>
                      </m:r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1</m:t>
                      </m:r>
                    </m:oMath>
                  </m:oMathPara>
                </a14:m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formula77"/>
              <p:cNvSpPr txBox="1">
                <a:spLocks noGrp="1"/>
              </p:cNvSpPr>
              <p:nvPr/>
            </p:nvSpPr>
            <p:spPr>
              <a:xfrm>
                <a:off x="6464618" y="3785235"/>
                <a:ext cx="5193982" cy="9410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lIns="0" tIns="0" rIns="0" bIns="0" wrap="none" anchor="ctr">
                <a:normAutofit/>
              </a:bodyPr>
              <a:lstStyle/>
              <a:p>
                <a:pPr algn="ctr"/>
                <a14:m>
                  <m:oMathPara xmlns:a="http://schemas.openxmlformats.org/drawingml/2006/main" xmlns:m="http://schemas.openxmlformats.org/officeDocument/2006/math">
                    <m:oMathParaPr>
                      <m:jc m:val="center"/>
                    </m:oMathParaPr>
                    <m:oMath>
                      <m: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next</m:t>
                      </m:r>
                      <m:d>
                        <m:dPr>
                          <m:begChr m:val="("/>
                          <m:sepChr m:val=""/>
                          <m:endChr m:val=")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  <m:t>j</m:t>
                          </m:r>
                        </m:e>
                      </m:d>
                      <m:r>
                        <m:rPr>
                          <m:sty m:val="p"/>
                        </m:rPr>
                        <a:rPr lang="zh-CN" sz="1950" dirty="0">
                          <a:solidFill>
                            <a:srgbClr val="1F2937"/>
                          </a:solidFill>
                          <a:latin typeface="Cambria Math"/>
                          <a:ea typeface="Cambria Math"/>
                          <a:cs typeface="Cambria Math"/>
                        </a:rPr>
                        <m:t>=</m:t>
                      </m:r>
                      <m:d>
                        <m:dPr>
                          <m:begChr m:val="{"/>
                          <m:sepChr m:val=""/>
                          <m:endChr m:val=""/>
                          <m:grow m:val="on"/>
                          <m:ctrlPr>
                            <a:rPr lang="zh-CN" sz="1950" dirty="0">
                              <a:solidFill>
                                <a:srgbClr val="1F2937"/>
                              </a:solidFill>
                              <a:latin typeface="Cambria Math"/>
                              <a:ea typeface="Cambria Math"/>
                              <a:cs typeface="Cambria Math"/>
                            </a:rPr>
                          </m:ctrlPr>
                        </m:dPr>
                        <m:e>
                          <m:eqArr>
                            <m:eqArrPr>
                              <m:baseJc m:val="center"/>
                            </m:eqArrPr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−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=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0</m:t>
                              </m:r>
                            </m:e>
                            <m:e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&amp;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f</m:t>
                              </m:r>
                              <m:d>
                                <m:dPr>
                                  <m:begChr m:val="("/>
                                  <m:sepChr m:val=""/>
                                  <m:endChr m:val=")"/>
                                  <m:grow m:val="on"/>
                                  <m:ctrl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j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−</m:t>
                                  </m:r>
                                  <m:r>
                                    <a:rPr lang="zh-CN" sz="1950" dirty="0">
                                      <a:solidFill>
                                        <a:srgbClr val="1F2937"/>
                                      </a:solidFill>
                                      <a:latin typeface="Cambria Math"/>
                                      <a:ea typeface="Cambria Math"/>
                                      <a:cs typeface="Cambria Math"/>
                                    </a:rPr>
                                    <m:t>1</m:t>
                                  </m:r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+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,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 xml:space="preserve"> 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j</m:t>
                              </m:r>
                              <m:r>
                                <m:rPr>
                                  <m:sty m:val="p"/>
                                </m:rP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≥</m:t>
                              </m:r>
                              <m:r>
                                <a:rPr lang="zh-CN" sz="1950" dirty="0">
                                  <a:solidFill>
                                    <a:srgbClr val="1F2937"/>
                                  </a:solidFill>
                                  <a:latin typeface="Cambria Math"/>
                                  <a:ea typeface="Cambria Math"/>
                                  <a:cs typeface="Cambria Math"/>
                                </a:rPr>
                                <m:t>1</m:t>
                              </m:r>
                            </m:e>
                          </m:eqArr>
                        </m:e>
                      </m:d>
                    </m:oMath>
                  </m:oMathPara>
                </a14:m>
              </a:p>
            </p:txBody>
          </p:sp>
        </mc:Choice>
      </mc:AlternateContent>
      <p:grpSp>
        <p:nvGrpSpPr>
          <p:cNvPr id="60" name="c2-callout-4"/>
          <p:cNvGrpSpPr/>
          <p:nvPr/>
        </p:nvGrpSpPr>
        <p:grpSpPr>
          <a:xfrm>
            <a:off x="6464618" y="4916805"/>
            <a:ext cx="5193982" cy="1245870"/>
            <a:chOff x="6464618" y="4916805"/>
            <a:chExt cx="5193982" cy="1245870"/>
          </a:xfrm>
        </p:grpSpPr>
        <p:sp>
          <p:nvSpPr>
            <p:cNvPr id="54" name="Rectangle 54"/>
            <p:cNvSpPr/>
            <p:nvPr/>
          </p:nvSpPr>
          <p:spPr>
            <a:xfrm>
              <a:off x="6464618" y="4916805"/>
              <a:ext cx="5193982" cy="1245870"/>
            </a:xfrm>
            <a:prstGeom prst="roundRect">
              <a:avLst>
                <a:gd name="adj" fmla="val 9174"/>
              </a:avLst>
            </a:prstGeom>
            <a:solidFill>
              <a:srgbClr val="FDECEA"/>
            </a:solidFill>
            <a:ln>
              <a:noFill/>
            </a:ln>
          </p:spPr>
        </p:sp>
        <p:grpSp>
          <p:nvGrpSpPr>
            <p:cNvPr id="58" name="Group 58"/>
            <p:cNvGrpSpPr/>
            <p:nvPr/>
          </p:nvGrpSpPr>
          <p:grpSpPr>
            <a:xfrm>
              <a:off x="6657347" y="5436036"/>
              <a:ext cx="224134" cy="192560"/>
              <a:chOff x="6657347" y="5436036"/>
              <a:chExt cx="224134" cy="192560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6769418" y="5506403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6657347" y="5436036"/>
                <a:ext cx="224134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4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3"/>
                    </a:cubicBezTo>
                    <a:cubicBezTo>
                      <a:pt x="7482" y="188388"/>
                      <a:pt x="14426" y="192476"/>
                      <a:pt x="21982" y="192560"/>
                    </a:cubicBezTo>
                    <a:lnTo>
                      <a:pt x="202160" y="192560"/>
                    </a:lnTo>
                    <a:cubicBezTo>
                      <a:pt x="209713" y="192473"/>
                      <a:pt x="216653" y="188387"/>
                      <a:pt x="220393" y="181826"/>
                    </a:cubicBezTo>
                    <a:cubicBezTo>
                      <a:pt x="224134" y="175264"/>
                      <a:pt x="224114" y="167211"/>
                      <a:pt x="220341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10" y="0"/>
                      <a:pt x="112071" y="0"/>
                    </a:cubicBezTo>
                    <a:cubicBezTo>
                      <a:pt x="104633" y="0"/>
                      <a:pt x="97734" y="3886"/>
                      <a:pt x="93880" y="10248"/>
                    </a:cubicBez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6769418" y="5584191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22225">
                <a:solidFill>
                  <a:srgbClr val="B42318"/>
                </a:solidFill>
              </a:ln>
            </p:spPr>
          </p:sp>
        </p:grpSp>
        <p:sp>
          <p:nvSpPr>
            <p:cNvPr id="59" name="TextBox 59"/>
            <p:cNvSpPr txBox="1"/>
            <p:nvPr/>
          </p:nvSpPr>
          <p:spPr>
            <a:xfrm>
              <a:off x="6971348" y="5296852"/>
              <a:ext cx="4206240" cy="56959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175"/>
                </a:lnSpc>
              </a:pPr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做题前先看清题目用的是哪一套记号。两者只差一</a:t>
              </a:r>
              <a:br/>
              <a:r>
                <a:rPr lang="zh-CN" sz="1500" dirty="0">
                  <a:solidFill>
                    <a:srgbClr val="B42318"/>
                  </a:solidFill>
                  <a:latin typeface="+mn-lt"/>
                  <a:ea typeface="+mn-ea"/>
                  <a:cs typeface="+mn-cs"/>
                </a:rPr>
                <a:t>个平移，但下标对不上就会整体错位一格。</a:t>
              </a:r>
            </a:p>
          </p:txBody>
        </p:sp>
      </p:grpSp>
      <p:grpSp>
        <p:nvGrpSpPr>
          <p:cNvPr id="63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61" name="TextBox 61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117854" cy="909257"/>
            <a:chOff x="520446" y="342900"/>
            <a:chExt cx="1117854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05575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自测题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8" name="lead"/>
          <p:cNvGrpSpPr/>
          <p:nvPr/>
        </p:nvGrpSpPr>
        <p:grpSpPr>
          <a:xfrm>
            <a:off x="526542" y="1545907"/>
            <a:ext cx="10029311" cy="264033"/>
            <a:chOff x="526542" y="1545907"/>
            <a:chExt cx="10029311" cy="264033"/>
          </a:xfrm>
        </p:grpSpPr>
        <p:sp>
          <p:nvSpPr>
            <p:cNvPr id="7" name="TextBox 7"/>
            <p:cNvSpPr txBox="1"/>
            <p:nvPr/>
          </p:nvSpPr>
          <p:spPr>
            <a:xfrm>
              <a:off x="526542" y="1545907"/>
              <a:ext cx="100293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先自己写出答案再看解答。另外自问两题：KMP 为什么能保证目标串指针 i 不回退？换成 next2 之后 KMP 主循环要不要改？</a:t>
              </a:r>
            </a:p>
          </p:txBody>
        </p:sp>
      </p:grpSp>
      <p:grpSp>
        <p:nvGrpSpPr>
          <p:cNvPr id="14" name="c1-card-1"/>
          <p:cNvGrpSpPr/>
          <p:nvPr/>
        </p:nvGrpSpPr>
        <p:grpSpPr>
          <a:xfrm>
            <a:off x="533400" y="1928812"/>
            <a:ext cx="3505200" cy="2000250"/>
            <a:chOff x="533400" y="1928812"/>
            <a:chExt cx="3505200" cy="2000250"/>
          </a:xfrm>
        </p:grpSpPr>
        <p:sp>
          <p:nvSpPr>
            <p:cNvPr id="9" name="Rectangle 9"/>
            <p:cNvSpPr/>
            <p:nvPr/>
          </p:nvSpPr>
          <p:spPr>
            <a:xfrm>
              <a:off x="53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72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80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Q1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13232" y="2459355"/>
              <a:ext cx="2909506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朴素算法失配后 i 和 j 分别怎么变？为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什么这会拖慢算法？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13232" y="3016568"/>
              <a:ext cx="299694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i 退到 i − j + 1，j 归 0。i 回退使已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经比对过的字符要重新比，最坏共 (n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− m + 1)·m 次比较，即 O(nm)。</a:t>
              </a:r>
            </a:p>
          </p:txBody>
        </p:sp>
      </p:grpSp>
      <p:grpSp>
        <p:nvGrpSpPr>
          <p:cNvPr id="20" name="c1-card-2"/>
          <p:cNvGrpSpPr/>
          <p:nvPr/>
        </p:nvGrpSpPr>
        <p:grpSpPr>
          <a:xfrm>
            <a:off x="533400" y="4098608"/>
            <a:ext cx="3505200" cy="2257425"/>
            <a:chOff x="533400" y="4098608"/>
            <a:chExt cx="3505200" cy="2257425"/>
          </a:xfrm>
        </p:grpSpPr>
        <p:sp>
          <p:nvSpPr>
            <p:cNvPr id="15" name="Rectangle 15"/>
            <p:cNvSpPr/>
            <p:nvPr/>
          </p:nvSpPr>
          <p:spPr>
            <a:xfrm>
              <a:off x="53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72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0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Q4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13232" y="4630102"/>
              <a:ext cx="2926223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buildNext 里有两层循环，为什么时间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仍是 O(m)？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232" y="5187315"/>
              <a:ext cx="2954084" cy="103555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关键运算次数等于 k 的增加次数加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减少次数。++k 每轮至多一次，增加不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 m 次；k 不小于 −1，减少次数不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超过增加次数。</a:t>
              </a:r>
            </a:p>
          </p:txBody>
        </p:sp>
      </p:grpSp>
      <p:grpSp>
        <p:nvGrpSpPr>
          <p:cNvPr id="26" name="c2-card-1"/>
          <p:cNvGrpSpPr/>
          <p:nvPr/>
        </p:nvGrpSpPr>
        <p:grpSpPr>
          <a:xfrm>
            <a:off x="4343400" y="1928812"/>
            <a:ext cx="3505200" cy="2000250"/>
            <a:chOff x="4343400" y="1928812"/>
            <a:chExt cx="3505200" cy="2000250"/>
          </a:xfrm>
        </p:grpSpPr>
        <p:sp>
          <p:nvSpPr>
            <p:cNvPr id="21" name="Rectangle 21"/>
            <p:cNvSpPr/>
            <p:nvPr/>
          </p:nvSpPr>
          <p:spPr>
            <a:xfrm>
              <a:off x="434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453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61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523232" y="2459355"/>
              <a:ext cx="3005947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next(j) 的定义是什么？next(0) 为什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么规定成 −1？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523232" y="3016568"/>
              <a:ext cx="296265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p[0..j−1] 的最长相等前后缀的长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度。−1 是约定，使 j 变成 −1 后 i、j 各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加 1，等价于 P 整体右移一位。</a:t>
              </a:r>
            </a:p>
          </p:txBody>
        </p:sp>
      </p:grpSp>
      <p:grpSp>
        <p:nvGrpSpPr>
          <p:cNvPr id="32" name="c2-card-2"/>
          <p:cNvGrpSpPr/>
          <p:nvPr/>
        </p:nvGrpSpPr>
        <p:grpSpPr>
          <a:xfrm>
            <a:off x="4343400" y="4098608"/>
            <a:ext cx="3505200" cy="2257425"/>
            <a:chOff x="4343400" y="4098608"/>
            <a:chExt cx="3505200" cy="2257425"/>
          </a:xfrm>
        </p:grpSpPr>
        <p:sp>
          <p:nvSpPr>
            <p:cNvPr id="27" name="Rectangle 27"/>
            <p:cNvSpPr/>
            <p:nvPr/>
          </p:nvSpPr>
          <p:spPr>
            <a:xfrm>
              <a:off x="434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453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61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Q5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23232" y="4630102"/>
              <a:ext cx="2918079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原始 next 在什么情况下会白比一次？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next2 加了什么条件？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23232" y="5187315"/>
              <a:ext cx="2928366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当 p[k] = p[j] 时，由 s[i] ≠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p[j] 可知 s[i] ≠ p[k]，退到 k 后必然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再失配。next2 要求 p[k] ≠ p[j]。</a:t>
              </a:r>
            </a:p>
          </p:txBody>
        </p:sp>
      </p:grpSp>
      <p:grpSp>
        <p:nvGrpSpPr>
          <p:cNvPr id="38" name="c3-card-1"/>
          <p:cNvGrpSpPr/>
          <p:nvPr/>
        </p:nvGrpSpPr>
        <p:grpSpPr>
          <a:xfrm>
            <a:off x="8153400" y="1928812"/>
            <a:ext cx="3505200" cy="2000250"/>
            <a:chOff x="8153400" y="1928812"/>
            <a:chExt cx="3505200" cy="2000250"/>
          </a:xfrm>
        </p:grpSpPr>
        <p:sp>
          <p:nvSpPr>
            <p:cNvPr id="33" name="Rectangle 33"/>
            <p:cNvSpPr/>
            <p:nvPr/>
          </p:nvSpPr>
          <p:spPr>
            <a:xfrm>
              <a:off x="8153400" y="1928812"/>
              <a:ext cx="3505200" cy="2000250"/>
            </a:xfrm>
            <a:prstGeom prst="roundRect">
              <a:avLst>
                <a:gd name="adj" fmla="val 666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8340090" y="2115502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429547" y="2148364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Q3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333232" y="2459355"/>
              <a:ext cx="2933081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 = abcabcaaa 在 j = 7 处失配，下一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次用 P 的哪个位置比对？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333232" y="3016568"/>
              <a:ext cx="295408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p[0..6] = abcabca 的最长相等前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后缀是 abca，长度 4，所以 next(7)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= 4，用 p[4]。前后缀重叠是允许的。</a:t>
              </a:r>
            </a:p>
          </p:txBody>
        </p:sp>
      </p:grpSp>
      <p:grpSp>
        <p:nvGrpSpPr>
          <p:cNvPr id="44" name="c3-card-2"/>
          <p:cNvGrpSpPr/>
          <p:nvPr/>
        </p:nvGrpSpPr>
        <p:grpSpPr>
          <a:xfrm>
            <a:off x="8153400" y="4098608"/>
            <a:ext cx="3505200" cy="2257425"/>
            <a:chOff x="8153400" y="4098608"/>
            <a:chExt cx="3505200" cy="2257425"/>
          </a:xfrm>
        </p:grpSpPr>
        <p:sp>
          <p:nvSpPr>
            <p:cNvPr id="39" name="Rectangle 39"/>
            <p:cNvSpPr/>
            <p:nvPr/>
          </p:nvSpPr>
          <p:spPr>
            <a:xfrm>
              <a:off x="8153400" y="4098608"/>
              <a:ext cx="3505200" cy="2257425"/>
            </a:xfrm>
            <a:prstGeom prst="roundRect">
              <a:avLst>
                <a:gd name="adj" fmla="val 5907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340090" y="4285298"/>
              <a:ext cx="379095" cy="238125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29547" y="4318159"/>
              <a:ext cx="20018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Q6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333232" y="4630102"/>
              <a:ext cx="2953655" cy="52120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怎样用 next 判断串 S 能否由一个子串</a:t>
              </a:r>
              <a:br/>
              <a:r>
                <a:rPr lang="zh-CN" sz="13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重复构成？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333232" y="5187315"/>
              <a:ext cx="2885504" cy="77838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025"/>
                </a:lnSpc>
              </a:pPr>
              <a:r>
                <a:rPr lang="zh-CN" sz="1350" b="1" dirty="0">
                  <a:solidFill>
                    <a:srgbClr val="0F7A68"/>
                  </a:solidFill>
                  <a:latin typeface="+mn-lt"/>
                  <a:ea typeface="+mn-ea"/>
                  <a:cs typeface="+mn-cs"/>
                </a:rPr>
                <a:t>答：</a:t>
              </a:r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取 L = n − next[n]。若 next[n]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&gt; 0 且 n % L == 0 则可以，循环节长</a:t>
              </a:r>
              <a:br/>
              <a:r>
                <a:rPr lang="zh-CN" sz="13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L、周期 n / L。next 要算到第 n 位。</a:t>
              </a:r>
            </a:p>
          </p:txBody>
        </p:sp>
      </p:grpSp>
      <p:grpSp>
        <p:nvGrpSpPr>
          <p:cNvPr id="47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45" name="TextBox 45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39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header"/>
          <p:cNvGrpSpPr/>
          <p:nvPr/>
        </p:nvGrpSpPr>
        <p:grpSpPr>
          <a:xfrm>
            <a:off x="520446" y="342900"/>
            <a:ext cx="1399032" cy="909257"/>
            <a:chOff x="520446" y="342900"/>
            <a:chExt cx="1399032" cy="909257"/>
          </a:xfrm>
        </p:grpSpPr>
        <p:sp>
          <p:nvSpPr>
            <p:cNvPr id="2" name="Rectangle 2"/>
            <p:cNvSpPr/>
            <p:nvPr/>
          </p:nvSpPr>
          <p:spPr>
            <a:xfrm>
              <a:off x="533400" y="342900"/>
              <a:ext cx="1104900" cy="266700"/>
            </a:xfrm>
            <a:prstGeom prst="roundRect">
              <a:avLst>
                <a:gd name="adj" fmla="val 50000"/>
              </a:avLst>
            </a:prstGeom>
            <a:solidFill>
              <a:srgbClr val="E6EFF9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635916" y="407194"/>
              <a:ext cx="89986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1F5FA8"/>
                  </a:solidFill>
                  <a:latin typeface="+mn-lt"/>
                  <a:ea typeface="+mn-ea"/>
                  <a:cs typeface="+mn-cs"/>
                </a:rPr>
                <a:t>第6讲 串匹配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20446" y="7534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本讲小结</a:t>
              </a:r>
            </a:p>
          </p:txBody>
        </p:sp>
        <p:sp>
          <p:nvSpPr>
            <p:cNvPr id="5" name="Rectangle 5"/>
            <p:cNvSpPr/>
            <p:nvPr/>
          </p:nvSpPr>
          <p:spPr>
            <a:xfrm>
              <a:off x="533400" y="1181100"/>
              <a:ext cx="60960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5FA8"/>
                </a:gs>
                <a:gs pos="100000">
                  <a:srgbClr val="F26B3A"/>
                </a:gs>
              </a:gsLst>
              <a:lin ang="0" scaled="1"/>
            </a:gradFill>
            <a:ln>
              <a:noFill/>
            </a:ln>
          </p:spPr>
        </p:sp>
      </p:grpSp>
      <p:grpSp>
        <p:nvGrpSpPr>
          <p:cNvPr id="28" name="c1-table-1"/>
          <p:cNvGrpSpPr/>
          <p:nvPr/>
        </p:nvGrpSpPr>
        <p:grpSpPr>
          <a:xfrm>
            <a:off x="533400" y="1524000"/>
            <a:ext cx="5842635" cy="2287905"/>
            <a:chOff x="533400" y="1524000"/>
            <a:chExt cx="5842635" cy="2287905"/>
          </a:xfrm>
        </p:grpSpPr>
        <p:sp>
          <p:nvSpPr>
            <p:cNvPr id="7" name="Rectangle 7"/>
            <p:cNvSpPr/>
            <p:nvPr/>
          </p:nvSpPr>
          <p:spPr>
            <a:xfrm>
              <a:off x="533400" y="1524000"/>
              <a:ext cx="5842635" cy="381000"/>
            </a:xfrm>
            <a:prstGeom prst="rect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70597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892868" y="1641157"/>
              <a:ext cx="2933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要点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28078" y="2023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模式匹配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96796" y="2023110"/>
              <a:ext cx="295503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在 S 中找 P 第一次出现的下标，找不到返回 −1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533400" y="2282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533400" y="2286952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28078" y="240411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朴素算法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96796" y="2404110"/>
              <a:ext cx="411198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失配时 i 退到 i − j + 1、j 归 0；最坏 O(nm)，平均比较不超过 2n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533400" y="2663190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28078" y="2785110"/>
              <a:ext cx="54497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next(j)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96796" y="2785110"/>
              <a:ext cx="426533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p[0..j−1] 的最长相等前后缀长度，next(0) = −1，只与模式串有关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33400" y="3045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533400" y="3049905"/>
              <a:ext cx="5842635" cy="381000"/>
            </a:xfrm>
            <a:prstGeom prst="rect">
              <a:avLst/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628078" y="3167062"/>
              <a:ext cx="30078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KMP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796796" y="3167062"/>
              <a:ext cx="454696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失配时 i 不动、j ← next[j]；O(m) 预处理加 O(n) 匹配，合计 O(n+m)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533400" y="3426142"/>
              <a:ext cx="5842635" cy="952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28078" y="3548062"/>
              <a:ext cx="6266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next2(j)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96796" y="3548062"/>
              <a:ext cx="292249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再要求 p[k] ≠ p[j]，避开那次注定失败的比对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533400" y="1524000"/>
              <a:ext cx="5842635" cy="2287905"/>
            </a:xfrm>
            <a:prstGeom prst="rect">
              <a:avLst/>
            </a:prstGeom>
            <a:noFill/>
            <a:ln w="14288">
              <a:solidFill>
                <a:srgbClr val="D9DFEA"/>
              </a:solidFill>
            </a:ln>
          </p:spPr>
        </p:sp>
        <p:sp>
          <p:nvSpPr>
            <p:cNvPr id="27" name="Rectangle 27"/>
            <p:cNvSpPr/>
            <p:nvPr/>
          </p:nvSpPr>
          <p:spPr>
            <a:xfrm>
              <a:off x="1697355" y="1524000"/>
              <a:ext cx="9525" cy="2287905"/>
            </a:xfrm>
            <a:prstGeom prst="rect">
              <a:avLst/>
            </a:prstGeom>
            <a:solidFill>
              <a:srgbClr val="D9DFEA"/>
            </a:solidFill>
            <a:ln>
              <a:noFill/>
            </a:ln>
          </p:spPr>
        </p:sp>
      </p:grpSp>
      <p:grpSp>
        <p:nvGrpSpPr>
          <p:cNvPr id="37" name="c1-card-2"/>
          <p:cNvGrpSpPr/>
          <p:nvPr/>
        </p:nvGrpSpPr>
        <p:grpSpPr>
          <a:xfrm>
            <a:off x="533400" y="3976688"/>
            <a:ext cx="5842635" cy="1671638"/>
            <a:chOff x="533400" y="3976688"/>
            <a:chExt cx="5842635" cy="1671638"/>
          </a:xfrm>
        </p:grpSpPr>
        <p:sp>
          <p:nvSpPr>
            <p:cNvPr id="29" name="Rectangle 29"/>
            <p:cNvSpPr/>
            <p:nvPr/>
          </p:nvSpPr>
          <p:spPr>
            <a:xfrm>
              <a:off x="533400" y="3976688"/>
              <a:ext cx="5842635" cy="1671638"/>
            </a:xfrm>
            <a:prstGeom prst="roundRect">
              <a:avLst>
                <a:gd name="adj" fmla="val 7977"/>
              </a:avLst>
            </a:prstGeom>
            <a:solidFill>
              <a:srgbClr val="FFFFFF"/>
            </a:solidFill>
            <a:ln w="14288">
              <a:solidFill>
                <a:srgbClr val="D9DFEA"/>
              </a:solidFill>
            </a:ln>
          </p:spPr>
        </p:sp>
        <p:sp>
          <p:nvSpPr>
            <p:cNvPr id="30" name="Rectangle 30"/>
            <p:cNvSpPr/>
            <p:nvPr/>
          </p:nvSpPr>
          <p:spPr>
            <a:xfrm>
              <a:off x="542925" y="4110038"/>
              <a:ext cx="47625" cy="1404938"/>
            </a:xfrm>
            <a:prstGeom prst="roundRect">
              <a:avLst>
                <a:gd name="adj" fmla="val 50000"/>
              </a:avLst>
            </a:prstGeom>
            <a:solidFill>
              <a:srgbClr val="5B6475"/>
            </a:solidFill>
            <a:ln>
              <a:noFill/>
            </a:ln>
          </p:spPr>
        </p:sp>
        <p:sp>
          <p:nvSpPr>
            <p:cNvPr id="31" name="Rectangle 31"/>
            <p:cNvSpPr/>
            <p:nvPr/>
          </p:nvSpPr>
          <p:spPr>
            <a:xfrm>
              <a:off x="752475" y="4157662"/>
              <a:ext cx="1827848" cy="238125"/>
            </a:xfrm>
            <a:prstGeom prst="roundRect">
              <a:avLst>
                <a:gd name="adj" fmla="val 50000"/>
              </a:avLst>
            </a:prstGeom>
            <a:solidFill>
              <a:srgbClr val="F4F6FB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803440" y="4190524"/>
              <a:ext cx="1724965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本讲义对源课件的更正与补充</a:t>
              </a:r>
            </a:p>
          </p:txBody>
        </p:sp>
        <p:sp>
          <p:nvSpPr>
            <p:cNvPr id="33" name="Ellipse 33"/>
            <p:cNvSpPr/>
            <p:nvPr/>
          </p:nvSpPr>
          <p:spPr>
            <a:xfrm>
              <a:off x="762000" y="4551045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917448" y="4498181"/>
              <a:ext cx="488162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第 82、72 页的 </a:t>
              </a:r>
              <a:r>
                <a:rPr lang="en-US" sz="1280" dirty="0">
                  <a:solidFill>
                    <a:srgbClr val="174A85"/>
                  </a:solidFill>
                  <a:latin typeface="+mn-lt"/>
                  <a:ea typeface="+mn-ea"/>
                  <a:cs typeface="+mn-cs"/>
                </a:rPr>
                <a:t>buildNext(s, next, n)</a:t>
              </a: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 只能填到倒数第二位，要用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 xml:space="preserve">next[n] 必须传 </a:t>
              </a:r>
              <a:r>
                <a:rPr lang="en-US" sz="1280" b="1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n + 1</a:t>
              </a:r>
            </a:p>
          </p:txBody>
        </p:sp>
        <p:sp>
          <p:nvSpPr>
            <p:cNvPr id="35" name="Ellipse 35"/>
            <p:cNvSpPr/>
            <p:nvPr/>
          </p:nvSpPr>
          <p:spPr>
            <a:xfrm>
              <a:off x="762000" y="5078730"/>
              <a:ext cx="57150" cy="57150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917448" y="5025866"/>
              <a:ext cx="4971034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补充：两种算法在同一组输入上的逐步对照、next 的完整手算例题、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循环节与回文前缀的对拍验证</a:t>
              </a:r>
            </a:p>
          </p:txBody>
        </p:sp>
      </p:grpSp>
      <p:grpSp>
        <p:nvGrpSpPr>
          <p:cNvPr id="53" name="c2-bullets-1"/>
          <p:cNvGrpSpPr/>
          <p:nvPr/>
        </p:nvGrpSpPr>
        <p:grpSpPr>
          <a:xfrm>
            <a:off x="6681788" y="1533525"/>
            <a:ext cx="4728718" cy="2161508"/>
            <a:chOff x="6681788" y="1533525"/>
            <a:chExt cx="4728718" cy="2161508"/>
          </a:xfrm>
        </p:grpSpPr>
        <p:sp>
          <p:nvSpPr>
            <p:cNvPr id="38" name="Ellipse 38"/>
            <p:cNvSpPr/>
            <p:nvPr/>
          </p:nvSpPr>
          <p:spPr>
            <a:xfrm>
              <a:off x="6681788" y="153352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6733694" y="156914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951536" y="1545431"/>
              <a:ext cx="4303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朴素算法慢在 i 回退，已经比对过的字符被重新比了一遍</a:t>
              </a:r>
            </a:p>
          </p:txBody>
        </p:sp>
        <p:sp>
          <p:nvSpPr>
            <p:cNvPr id="41" name="Ellipse 41"/>
            <p:cNvSpPr/>
            <p:nvPr/>
          </p:nvSpPr>
          <p:spPr>
            <a:xfrm>
              <a:off x="6681788" y="182689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733694" y="1862519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951536" y="1837849"/>
              <a:ext cx="430356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next(j) 只与模式串有关，所以可以在匹配之前一次算好</a:t>
              </a:r>
            </a:p>
          </p:txBody>
        </p:sp>
        <p:sp>
          <p:nvSpPr>
            <p:cNvPr id="44" name="Ellipse 44"/>
            <p:cNvSpPr/>
            <p:nvPr/>
          </p:nvSpPr>
          <p:spPr>
            <a:xfrm>
              <a:off x="6681788" y="2120265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6733694" y="2155888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51536" y="2131219"/>
              <a:ext cx="4312666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失配时 j ← next[j] 等价于 P 右移 j − next[j] 位，取最长前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后缀才不会漏解</a:t>
              </a:r>
            </a:p>
          </p:txBody>
        </p:sp>
        <p:sp>
          <p:nvSpPr>
            <p:cNvPr id="47" name="Ellipse 47"/>
            <p:cNvSpPr/>
            <p:nvPr/>
          </p:nvSpPr>
          <p:spPr>
            <a:xfrm>
              <a:off x="6681788" y="2656522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6733694" y="2691193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6951536" y="2667476"/>
              <a:ext cx="445897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两个 O 的证明用的是同一句话：指针的减少次数不超过增加次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数</a:t>
              </a:r>
            </a:p>
          </p:txBody>
        </p:sp>
        <p:sp>
          <p:nvSpPr>
            <p:cNvPr id="50" name="Ellipse 50"/>
            <p:cNvSpPr/>
            <p:nvPr/>
          </p:nvSpPr>
          <p:spPr>
            <a:xfrm>
              <a:off x="6681788" y="3191828"/>
              <a:ext cx="180975" cy="180975"/>
            </a:xfrm>
            <a:prstGeom prst="ellipse">
              <a:avLst/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6733694" y="3227451"/>
              <a:ext cx="77161" cy="1704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7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951536" y="3202781"/>
              <a:ext cx="4410202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next2 把失败比对的信息也用上，代价只是预处理时多比一次</a:t>
              </a:r>
              <a:br/>
              <a:r>
                <a:rPr lang="zh-CN" sz="1280" dirty="0">
                  <a:solidFill>
                    <a:srgbClr val="1F2937"/>
                  </a:solidFill>
                  <a:latin typeface="+mn-lt"/>
                  <a:ea typeface="+mn-ea"/>
                  <a:cs typeface="+mn-cs"/>
                </a:rPr>
                <a:t>字符</a:t>
              </a:r>
            </a:p>
          </p:txBody>
        </p:sp>
      </p:grpSp>
      <p:grpSp>
        <p:nvGrpSpPr>
          <p:cNvPr id="62" name="c2-card-2"/>
          <p:cNvGrpSpPr/>
          <p:nvPr/>
        </p:nvGrpSpPr>
        <p:grpSpPr>
          <a:xfrm>
            <a:off x="6680835" y="3810000"/>
            <a:ext cx="4977765" cy="1839278"/>
            <a:chOff x="6680835" y="3810000"/>
            <a:chExt cx="4977765" cy="1839278"/>
          </a:xfrm>
        </p:grpSpPr>
        <p:sp>
          <p:nvSpPr>
            <p:cNvPr id="54" name="Rectangle 54"/>
            <p:cNvSpPr/>
            <p:nvPr/>
          </p:nvSpPr>
          <p:spPr>
            <a:xfrm>
              <a:off x="6680835" y="3810000"/>
              <a:ext cx="4977765" cy="1839278"/>
            </a:xfrm>
            <a:prstGeom prst="roundRect">
              <a:avLst>
                <a:gd name="adj" fmla="val 7250"/>
              </a:avLst>
            </a:prstGeom>
            <a:solidFill>
              <a:srgbClr val="1F5FA8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6861810" y="3990975"/>
              <a:ext cx="707708" cy="238125"/>
            </a:xfrm>
            <a:prstGeom prst="roundRect">
              <a:avLst>
                <a:gd name="adj" fmla="val 50000"/>
              </a:avLst>
            </a:prstGeom>
            <a:solidFill>
              <a:srgbClr val="174A85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6947332" y="4023836"/>
              <a:ext cx="53761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复习方法</a:t>
              </a:r>
            </a:p>
          </p:txBody>
        </p:sp>
        <p:sp>
          <p:nvSpPr>
            <p:cNvPr id="57" name="Ellipse 57"/>
            <p:cNvSpPr/>
            <p:nvPr/>
          </p:nvSpPr>
          <p:spPr>
            <a:xfrm>
              <a:off x="6871335" y="4383405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7026783" y="4331494"/>
              <a:ext cx="4215130" cy="49225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随便写一个模式串，先手算 next 再手算 next2，两行逐位</a:t>
              </a:r>
              <a:br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对照</a:t>
              </a:r>
            </a:p>
          </p:txBody>
        </p:sp>
        <p:sp>
          <p:nvSpPr>
            <p:cNvPr id="59" name="Ellipse 59"/>
            <p:cNvSpPr/>
            <p:nvPr/>
          </p:nvSpPr>
          <p:spPr>
            <a:xfrm>
              <a:off x="6871335" y="4911090"/>
              <a:ext cx="57150" cy="571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7026783" y="4859179"/>
              <a:ext cx="3816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再用它跑一遍 KMP，把每一步的 i 与 j 写成一张表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856476" y="5140642"/>
              <a:ext cx="297903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这两件事能独立做对，本讲的内容就算掌握了。</a:t>
              </a:r>
            </a:p>
          </p:txBody>
        </p:sp>
      </p:grpSp>
      <p:grpSp>
        <p:nvGrpSpPr>
          <p:cNvPr id="69" name="takeaway"/>
          <p:cNvGrpSpPr/>
          <p:nvPr/>
        </p:nvGrpSpPr>
        <p:grpSpPr>
          <a:xfrm>
            <a:off x="533400" y="5895022"/>
            <a:ext cx="11125200" cy="467678"/>
            <a:chOff x="533400" y="5895022"/>
            <a:chExt cx="11125200" cy="467678"/>
          </a:xfrm>
        </p:grpSpPr>
        <p:sp>
          <p:nvSpPr>
            <p:cNvPr id="63" name="Rectangle 63"/>
            <p:cNvSpPr/>
            <p:nvPr/>
          </p:nvSpPr>
          <p:spPr>
            <a:xfrm>
              <a:off x="533400" y="5895022"/>
              <a:ext cx="11125200" cy="467678"/>
            </a:xfrm>
            <a:prstGeom prst="roundRect">
              <a:avLst>
                <a:gd name="adj" fmla="val 24440"/>
              </a:avLst>
            </a:prstGeom>
            <a:solidFill>
              <a:srgbClr val="FDEEE7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738188" y="6028373"/>
              <a:ext cx="200026" cy="200025"/>
              <a:chOff x="738188" y="6028373"/>
              <a:chExt cx="200026" cy="200025"/>
            </a:xfrm>
          </p:grpSpPr>
          <p:sp>
            <p:nvSpPr>
              <p:cNvPr id="64" name="Freeform 64"/>
              <p:cNvSpPr/>
              <p:nvPr/>
            </p:nvSpPr>
            <p:spPr>
              <a:xfrm>
                <a:off x="738188" y="6028373"/>
                <a:ext cx="200026" cy="100013"/>
              </a:xfrm>
              <a:custGeom>
                <a:avLst/>
                <a:gdLst/>
                <a:ahLst/>
                <a:cxnLst/>
                <a:rect l="l" t="t" r="r" b="b"/>
                <a:pathLst>
                  <a:path w="200026" h="100013">
                    <a:moveTo>
                      <a:pt x="0" y="100013"/>
                    </a:moveTo>
                    <a:lnTo>
                      <a:pt x="11113" y="100013"/>
                    </a:lnTo>
                    <a:moveTo>
                      <a:pt x="100013" y="0"/>
                    </a:moveTo>
                    <a:lnTo>
                      <a:pt x="100013" y="11113"/>
                    </a:lnTo>
                    <a:moveTo>
                      <a:pt x="188913" y="100013"/>
                    </a:moveTo>
                    <a:lnTo>
                      <a:pt x="200026" y="100013"/>
                    </a:lnTo>
                    <a:moveTo>
                      <a:pt x="28893" y="28893"/>
                    </a:moveTo>
                    <a:lnTo>
                      <a:pt x="36671" y="36671"/>
                    </a:lnTo>
                    <a:moveTo>
                      <a:pt x="171133" y="28893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5" name="Freeform 65"/>
              <p:cNvSpPr/>
              <p:nvPr/>
            </p:nvSpPr>
            <p:spPr>
              <a:xfrm>
                <a:off x="777926" y="6072823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3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3" y="15304"/>
                      <a:pt x="112986" y="37992"/>
                    </a:cubicBezTo>
                    <a:cubicBezTo>
                      <a:pt x="120548" y="60681"/>
                      <a:pt x="112745" y="85663"/>
                      <a:pt x="93612" y="100013"/>
                    </a:cubicBezTo>
                    <a:cubicBezTo>
                      <a:pt x="84812" y="108723"/>
                      <a:pt x="80686" y="121103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3"/>
                      <a:pt x="35736" y="108723"/>
                      <a:pt x="26937" y="100013"/>
                    </a:cubicBez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812642" y="6183948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22225">
                <a:solidFill>
                  <a:srgbClr val="C2410C"/>
                </a:solidFill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1041273" y="6039326"/>
              <a:ext cx="100744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C2410C"/>
                  </a:solidFill>
                  <a:latin typeface="+mn-lt"/>
                  <a:ea typeface="+mn-ea"/>
                  <a:cs typeface="+mn-cs"/>
                </a:rPr>
                <a:t>下一讲进入树和二叉树的定义与性质。本讲“先花 O(m) 预处理，再让每次查询变快”的思路，在后面的查找树和散列里会反复出现。</a:t>
              </a:r>
            </a:p>
          </p:txBody>
        </p:sp>
      </p:grpSp>
      <p:grpSp>
        <p:nvGrpSpPr>
          <p:cNvPr id="72" name="footer"/>
          <p:cNvGrpSpPr/>
          <p:nvPr/>
        </p:nvGrpSpPr>
        <p:grpSpPr>
          <a:xfrm>
            <a:off x="528447" y="6581299"/>
            <a:ext cx="11135106" cy="190690"/>
            <a:chOff x="528447" y="6581299"/>
            <a:chExt cx="11135106" cy="190690"/>
          </a:xfrm>
        </p:grpSpPr>
        <p:sp>
          <p:nvSpPr>
            <p:cNvPr id="70" name="TextBox 70"/>
            <p:cNvSpPr txBox="1"/>
            <p:nvPr/>
          </p:nvSpPr>
          <p:spPr>
            <a:xfrm>
              <a:off x="528447" y="6581299"/>
              <a:ext cx="198882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数据结构 · 第6讲 字符串模式匹配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1508527" y="6581299"/>
              <a:ext cx="15502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80" dirty="0">
                  <a:solidFill>
                    <a:srgbClr val="5B6475"/>
                  </a:solidFill>
                  <a:latin typeface="+mn-lt"/>
                  <a:ea typeface="+mn-ea"/>
                  <a:cs typeface="+mn-cs"/>
                </a:rPr>
                <a:t>40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ds_l06">
  <a:themeElements>
    <a:clrScheme name="ds_l06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s_l06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s_l0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40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2026-09-19T10:17:33Z</dcterms:created>
  <dcterms:modified xsi:type="dcterms:W3CDTF">2026-09-19T10:17:33Z</dcterms:modified>
  <cp:category/>
  <cp:contentStatus/>
</cp:coreProperties>
</file>