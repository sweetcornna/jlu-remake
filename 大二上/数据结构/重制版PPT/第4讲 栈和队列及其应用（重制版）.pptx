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0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0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6b6cc98cf660a08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d4193664dd22d90.png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ef921e42fbd65c5.png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6830" cy="3437763"/>
            <a:chOff x="666750" y="1619250"/>
            <a:chExt cx="511683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第4讲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栈和队列及其应用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从括号匹配到表达式求值、栈混洗、递归与回溯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两种受限的线性表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表达式求值的两个栈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栈混洗与卡特兰数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递归、回溯与 BFS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52252" cy="205359"/>
            <a:chOff x="680466" y="6192202"/>
            <a:chExt cx="41522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52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4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栈与队列的定义、基本操作和两种实现方式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进制转换与括号匹配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两个最短的例子，说明什么问题该用栈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表达式求值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后缀表达式、中缀转后缀、双栈一遍求值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栈扩容与栈混洗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41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均摊分析、312 模式、卡特兰数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递归与回溯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栈帧、空间复杂度、迷宫、八皇后、汉诺塔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队列的讨论及应用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1250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循环队列判满的两种方案、BFS 求最短路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说出一个问题该用栈还是队列，判断依据是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元素的处理次序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手算把中缀表达式转成后缀，并写出运算符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栈的逐步变化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给定入栈序列和出栈序列，用 312 模式判断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它是否合法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写出回溯算法的基本框架，并解释回溯时为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什么要把 vis 清零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解释容量加倍为什么能把一次 PUSH 的均摊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时间降到 O(1)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栈和队列是两种限定了出入口的线性表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717530" cy="293370"/>
            <a:chOff x="525780" y="1548765"/>
            <a:chExt cx="107175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717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这部分属于慕课自学内容，这里只做速查。它们的逻辑结构都是线性表，区别只在于允许在哪一端插入、在哪一端删除。</a:t>
              </a:r>
            </a:p>
          </p:txBody>
        </p:sp>
      </p:grpSp>
      <p:grpSp>
        <p:nvGrpSpPr>
          <p:cNvPr id="38" name="c1-cells-1"/>
          <p:cNvGrpSpPr/>
          <p:nvPr/>
        </p:nvGrpSpPr>
        <p:grpSpPr>
          <a:xfrm>
            <a:off x="527304" y="2001679"/>
            <a:ext cx="3154108" cy="1541621"/>
            <a:chOff x="527304" y="2001679"/>
            <a:chExt cx="3154108" cy="1541621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387918"/>
              <a:ext cx="3260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栈 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39190" y="2259330"/>
              <a:ext cx="4238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52210" y="23879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63052" y="2259330"/>
              <a:ext cx="4238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76072" y="23879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86915" y="2259330"/>
              <a:ext cx="4238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98982" y="23879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10778" y="2259330"/>
              <a:ext cx="423862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22845" y="23879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34640" y="2259330"/>
              <a:ext cx="4238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257550" y="2259330"/>
              <a:ext cx="4238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14717" y="20016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栈底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1313498" y="21640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50291" y="2001679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top 栈顶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2584132" y="21640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7304" y="3265170"/>
              <a:ext cx="523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队列 Q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9190" y="3136582"/>
              <a:ext cx="4238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563052" y="3136582"/>
              <a:ext cx="4238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676072" y="32651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986915" y="3136582"/>
              <a:ext cx="4238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098982" y="32651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410778" y="3136582"/>
              <a:ext cx="4238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522845" y="32651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834640" y="3136582"/>
              <a:ext cx="4238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257550" y="3136582"/>
              <a:ext cx="4238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27330" y="2878931"/>
              <a:ext cx="6962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front 队首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1737360" y="304133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736059" y="2878931"/>
              <a:ext cx="6200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rear 队尾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3007995" y="304133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8" name="c1-card-2"/>
          <p:cNvGrpSpPr/>
          <p:nvPr/>
        </p:nvGrpSpPr>
        <p:grpSpPr>
          <a:xfrm>
            <a:off x="533400" y="3729038"/>
            <a:ext cx="5410200" cy="2440305"/>
            <a:chOff x="533400" y="3729038"/>
            <a:chExt cx="5410200" cy="2440305"/>
          </a:xfrm>
        </p:grpSpPr>
        <p:sp>
          <p:nvSpPr>
            <p:cNvPr id="39" name="Rectangle 39"/>
            <p:cNvSpPr/>
            <p:nvPr/>
          </p:nvSpPr>
          <p:spPr>
            <a:xfrm>
              <a:off x="533400" y="3729038"/>
              <a:ext cx="5410200" cy="2440305"/>
            </a:xfrm>
            <a:prstGeom prst="roundRect">
              <a:avLst>
                <a:gd name="adj" fmla="val 54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3862388"/>
              <a:ext cx="47625" cy="21736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75335" y="393287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5543" y="39685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2955" y="43662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9546" y="4305776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：只允许在表的一端（栈顶）插入和删除。先进去的后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出来，后进先出。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82955" y="495681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9546" y="489727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：只允许在一端（队尾）插入，在另一端（队首）删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除。先进先出。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9239" y="5485448"/>
              <a:ext cx="47061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队列的 rear 约定指向队尾元素的下一个位置，本讲后面讨论循环队列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时一直用这个约定。</a:t>
              </a:r>
            </a:p>
          </p:txBody>
        </p:sp>
      </p:grpSp>
      <p:grpSp>
        <p:nvGrpSpPr>
          <p:cNvPr id="82" name="c2-table-1"/>
          <p:cNvGrpSpPr/>
          <p:nvPr/>
        </p:nvGrpSpPr>
        <p:grpSpPr>
          <a:xfrm>
            <a:off x="6248400" y="1954530"/>
            <a:ext cx="5410200" cy="3011805"/>
            <a:chOff x="6248400" y="1954530"/>
            <a:chExt cx="5410200" cy="3011805"/>
          </a:xfrm>
        </p:grpSpPr>
        <p:sp>
          <p:nvSpPr>
            <p:cNvPr id="49" name="Rectangle 49"/>
            <p:cNvSpPr/>
            <p:nvPr/>
          </p:nvSpPr>
          <p:spPr>
            <a:xfrm>
              <a:off x="6248400" y="1954530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3036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87537" y="208597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63212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53747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52004" y="2515552"/>
              <a:ext cx="74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 压栈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08452" y="2515552"/>
              <a:ext cx="1049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EnQueue 入队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48400" y="281463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53747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52004" y="2946082"/>
              <a:ext cx="656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Pop 弹栈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08452" y="2946082"/>
              <a:ext cx="1049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DeQueue 出队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32404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53747" y="33766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读端点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52004" y="3376612"/>
              <a:ext cx="8177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 读栈顶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08452" y="3376612"/>
              <a:ext cx="9951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Front 读队首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48400" y="367474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53747" y="38061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52004" y="3806190"/>
              <a:ext cx="635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IsEmpty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708452" y="3806190"/>
              <a:ext cx="635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IsEmpty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41005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53747" y="42367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顺序实现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52004" y="4236720"/>
              <a:ext cx="1506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数组加一个 top 下标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708452" y="4236720"/>
              <a:ext cx="1829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循环数组加 front、rear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45310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48400" y="453580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353747" y="46662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链接实现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52004" y="466629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单链表在表头插入删除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08452" y="466629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带尾指针的单链表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248400" y="1954530"/>
              <a:ext cx="5410200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541895" y="195453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598342" y="195453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9" name="c2-callout-2"/>
          <p:cNvGrpSpPr/>
          <p:nvPr/>
        </p:nvGrpSpPr>
        <p:grpSpPr>
          <a:xfrm>
            <a:off x="6248400" y="5151120"/>
            <a:ext cx="5410200" cy="1018222"/>
            <a:chOff x="6248400" y="5151120"/>
            <a:chExt cx="5410200" cy="1018222"/>
          </a:xfrm>
        </p:grpSpPr>
        <p:sp>
          <p:nvSpPr>
            <p:cNvPr id="83" name="Rectangle 83"/>
            <p:cNvSpPr/>
            <p:nvPr/>
          </p:nvSpPr>
          <p:spPr>
            <a:xfrm>
              <a:off x="6248400" y="5151120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453188" y="5559743"/>
              <a:ext cx="200026" cy="200026"/>
              <a:chOff x="6453188" y="5559743"/>
              <a:chExt cx="200026" cy="200026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6453188" y="55597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553200" y="56264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542088" y="56597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6755511" y="5298281"/>
              <a:ext cx="45229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顺序实现要预先定容量，会满；链接实现不会满，但每个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结点多付一个指针的空间。顺序栈满了怎么办，第 23 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给出处理办法。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13376" cy="2997517"/>
            <a:chOff x="667512" y="1835468"/>
            <a:chExt cx="491337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进制转换与括号匹配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两个最短的例子，用来说明什么样的问题该想到栈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余数倒着写，正好是出栈次序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后遇到的左括号先匹配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栈里只放左括号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进制转换与括号匹配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进制转换：余数倒着写，正好是栈的出栈次序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220035" cy="264033"/>
            <a:chOff x="526542" y="1545907"/>
            <a:chExt cx="622003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2200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十进制转八进制的手算过程是不断除 8 取余，但写结果时要把余数逆序排列。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3491751" cy="2149411"/>
            <a:chOff x="533400" y="1938338"/>
            <a:chExt cx="3491751" cy="2149411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975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968341"/>
              <a:ext cx="1207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 ÷ 8 = 8 余 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223135"/>
              <a:ext cx="25337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最先算出的余数 2，在结果里排最后一位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521744"/>
              <a:ext cx="11080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÷ 8 = 1 余 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776538"/>
              <a:ext cx="1402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第二个余数 0，排中间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075146"/>
              <a:ext cx="11080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÷ 8 = 0 余 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328988"/>
              <a:ext cx="3077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最后算出的余数 1，排最前面；商为 0，过程结束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6275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逆序写出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882390"/>
              <a:ext cx="14312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 (66)₁₀ = (102)₈</a:t>
              </a:r>
            </a:p>
          </p:txBody>
        </p:sp>
      </p:grpSp>
      <p:grpSp>
        <p:nvGrpSpPr>
          <p:cNvPr id="36" name="c1-cells-2"/>
          <p:cNvGrpSpPr/>
          <p:nvPr/>
        </p:nvGrpSpPr>
        <p:grpSpPr>
          <a:xfrm>
            <a:off x="528066" y="4293394"/>
            <a:ext cx="1796034" cy="597693"/>
            <a:chOff x="528066" y="4293394"/>
            <a:chExt cx="1796034" cy="597693"/>
          </a:xfrm>
        </p:grpSpPr>
        <p:sp>
          <p:nvSpPr>
            <p:cNvPr id="27" name="TextBox 27"/>
            <p:cNvSpPr txBox="1"/>
            <p:nvPr/>
          </p:nvSpPr>
          <p:spPr>
            <a:xfrm>
              <a:off x="528066" y="46482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余数栈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66800" y="45348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30201" y="46482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485900" y="45348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649301" y="46482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905000" y="45348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068401" y="46482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9993" y="4293394"/>
              <a:ext cx="7527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top，最后压入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1238250" y="443960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3" name="c1-callout-3"/>
          <p:cNvGrpSpPr/>
          <p:nvPr/>
        </p:nvGrpSpPr>
        <p:grpSpPr>
          <a:xfrm>
            <a:off x="533400" y="5055870"/>
            <a:ext cx="5193982" cy="1219200"/>
            <a:chOff x="533400" y="5055870"/>
            <a:chExt cx="5193982" cy="1219200"/>
          </a:xfrm>
        </p:grpSpPr>
        <p:sp>
          <p:nvSpPr>
            <p:cNvPr id="37" name="Rectangle 37"/>
            <p:cNvSpPr/>
            <p:nvPr/>
          </p:nvSpPr>
          <p:spPr>
            <a:xfrm>
              <a:off x="533400" y="5055870"/>
              <a:ext cx="5193982" cy="1219200"/>
            </a:xfrm>
            <a:prstGeom prst="roundRect">
              <a:avLst>
                <a:gd name="adj" fmla="val 937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565458"/>
              <a:ext cx="200026" cy="200025"/>
              <a:chOff x="738188" y="5565458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5654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56099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57210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5342096"/>
              <a:ext cx="421513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手算模板就一句话：反复除以基数取余，直到商为 0，再把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余数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从后往前</a:t>
              </a: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连起来。程序里总得有地方存着这些余数等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逆序输出，栈最省事。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032182" y="1928812"/>
            <a:ext cx="5626418" cy="1160145"/>
            <a:chOff x="6032182" y="1928812"/>
            <a:chExt cx="5626418" cy="1160145"/>
          </a:xfrm>
        </p:grpSpPr>
        <p:sp>
          <p:nvSpPr>
            <p:cNvPr id="44" name="Rectangle 44"/>
            <p:cNvSpPr/>
            <p:nvPr/>
          </p:nvSpPr>
          <p:spPr>
            <a:xfrm>
              <a:off x="6032182" y="1928812"/>
              <a:ext cx="5626418" cy="1160145"/>
            </a:xfrm>
            <a:prstGeom prst="roundRect">
              <a:avLst>
                <a:gd name="adj" fmla="val 114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13158" y="210978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93676" y="21426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为什么用栈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52513" y="214931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产生次序和使用次序正好相反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06680" y="2465546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余数是从低位到高位依次产生的，写结果时却要从高位写到低位。产生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得最晚的要最先用，这正是后进先出。</a:t>
              </a:r>
            </a:p>
          </p:txBody>
        </p:sp>
      </p:grpSp>
      <p:grpSp>
        <p:nvGrpSpPr>
          <p:cNvPr id="53" name="c2-code-2"/>
          <p:cNvGrpSpPr/>
          <p:nvPr/>
        </p:nvGrpSpPr>
        <p:grpSpPr>
          <a:xfrm>
            <a:off x="6032182" y="3253740"/>
            <a:ext cx="5626418" cy="2154555"/>
            <a:chOff x="6032182" y="3253740"/>
            <a:chExt cx="5626418" cy="2154555"/>
          </a:xfrm>
        </p:grpSpPr>
        <p:sp>
          <p:nvSpPr>
            <p:cNvPr id="50" name="Rectangle 50"/>
            <p:cNvSpPr/>
            <p:nvPr/>
          </p:nvSpPr>
          <p:spPr>
            <a:xfrm>
              <a:off x="6032182" y="3253740"/>
              <a:ext cx="5626418" cy="2154555"/>
            </a:xfrm>
            <a:prstGeom prst="roundRect">
              <a:avLst>
                <a:gd name="adj" fmla="val 442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60580" y="340566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十进制转八进制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60770" y="3664744"/>
              <a:ext cx="3019171" cy="165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n;  Stack s;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scanf(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&amp;n);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&gt; 0) {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除 8 取余，余数压栈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s.Push(n % 8);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 /= 8;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(!s.IsEmpty())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逆序弹出就是结果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s.Pop());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032182" y="5573078"/>
            <a:ext cx="5626418" cy="702945"/>
            <a:chOff x="6032182" y="5573078"/>
            <a:chExt cx="5626418" cy="702945"/>
          </a:xfrm>
        </p:grpSpPr>
        <p:sp>
          <p:nvSpPr>
            <p:cNvPr id="54" name="Rectangle 54"/>
            <p:cNvSpPr/>
            <p:nvPr/>
          </p:nvSpPr>
          <p:spPr>
            <a:xfrm>
              <a:off x="6032182" y="5573078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224912" y="5820846"/>
              <a:ext cx="224134" cy="192560"/>
              <a:chOff x="6224912" y="5820846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336983" y="58912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224912" y="58208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336983" y="59690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540056" y="5717381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 等于 0 时循环一次都不执行，什么也不输出。真要拿去用，得单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独判 n 为 0 时输出一个 0。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70931" cy="909257"/>
            <a:chOff x="520446" y="342900"/>
            <a:chExt cx="68709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进制转换与括号匹配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709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换成任意 base 进制，只要把余数映射成字符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1912620"/>
            <a:chOff x="533400" y="1524000"/>
            <a:chExt cx="6059805" cy="1912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893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十进制转 base 进制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718814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digit[] = {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'0'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'1'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'2'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'3'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'4'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'5'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'6'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'7'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'8'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'9'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'B'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'C'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'D'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'E'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'F'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&gt; 0)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s.Push(digit[n % base]);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余数先转成字符再压栈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 /= base;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(!s.IsEmpty())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"%c"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s.Pop());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27685" y="3627120"/>
            <a:ext cx="6065520" cy="2091214"/>
            <a:chOff x="527685" y="3627120"/>
            <a:chExt cx="6065520" cy="2091214"/>
          </a:xfrm>
        </p:grpSpPr>
        <p:sp>
          <p:nvSpPr>
            <p:cNvPr id="11" name="Rectangle 11"/>
            <p:cNvSpPr/>
            <p:nvPr/>
          </p:nvSpPr>
          <p:spPr>
            <a:xfrm>
              <a:off x="533400" y="3627120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2350" y="376285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十进制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12543" y="376285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二进制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52735" y="376285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八进制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56288" y="37628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十六进制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1309" y="421147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81468" y="421147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16433" y="4211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50847" y="421147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52056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52532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31309" y="466010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39309" y="466010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1000010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69047" y="466010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06143" y="46601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9691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81554" y="510873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91923" y="510873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11111111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69047" y="510873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00779" y="510873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FF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627120"/>
              <a:ext cx="605980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37385" y="362712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609022" y="362712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016818" y="362712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549830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三个例子已用脚本复核，可以自己按除基取余的过程验算一遍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898005" y="1524000"/>
            <a:ext cx="4760595" cy="1917382"/>
            <a:chOff x="6898005" y="1524000"/>
            <a:chExt cx="4760595" cy="1917382"/>
          </a:xfrm>
        </p:grpSpPr>
        <p:sp>
          <p:nvSpPr>
            <p:cNvPr id="37" name="Rectangle 37"/>
            <p:cNvSpPr/>
            <p:nvPr/>
          </p:nvSpPr>
          <p:spPr>
            <a:xfrm>
              <a:off x="6898005" y="1524000"/>
              <a:ext cx="4760595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907530" y="1657350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4565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3586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45730" y="1768792"/>
              <a:ext cx="25211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为什么限制 base 不超过 16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38035" y="2129790"/>
              <a:ext cx="3968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digit 数组只准备了 16 个字符。base 再大就要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自己扩充字符表，否则取到的下标超出数组范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39178" y="3033236"/>
              <a:ext cx="40020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这段代码也只处理正整数，负数和 0 都要另写分支。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898005" y="3631882"/>
            <a:ext cx="4760595" cy="2152650"/>
            <a:chOff x="6898005" y="3631882"/>
            <a:chExt cx="4760595" cy="2152650"/>
          </a:xfrm>
        </p:grpSpPr>
        <p:sp>
          <p:nvSpPr>
            <p:cNvPr id="45" name="Rectangle 45"/>
            <p:cNvSpPr/>
            <p:nvPr/>
          </p:nvSpPr>
          <p:spPr>
            <a:xfrm>
              <a:off x="6898005" y="3631882"/>
              <a:ext cx="4760595" cy="2152650"/>
            </a:xfrm>
            <a:prstGeom prst="roundRect">
              <a:avLst>
                <a:gd name="adj" fmla="val 619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07555" y="384143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93813" y="38771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50505" y="3876675"/>
              <a:ext cx="23722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时间和空间都是 O(log n)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99935" y="4237672"/>
              <a:ext cx="41014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每除一次，n 至少缩小到原来的 1/base，所以循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环次数是 ⌊log n⌋ + 1 量级，栈里最多存这么多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个余数。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01078" y="5141119"/>
              <a:ext cx="39631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这里的 n 是被转换的数值。若按输入的二进制位数 b 来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算，时间是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O(b)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，也就是关于输入长度的线性时间。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进制转换与括号匹配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括号匹配：一个计数器只够应付一种括号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890510" cy="293370"/>
            <a:chOff x="525780" y="1548765"/>
            <a:chExt cx="789051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给定一个字符串，判断其中的括号是否匹配。编译器做语法检查时第一步就要做这件事。</a:t>
              </a:r>
            </a:p>
          </p:txBody>
        </p:sp>
      </p:grpSp>
      <p:grpSp>
        <p:nvGrpSpPr>
          <p:cNvPr id="38" name="c1-table-1"/>
          <p:cNvGrpSpPr/>
          <p:nvPr/>
        </p:nvGrpSpPr>
        <p:grpSpPr>
          <a:xfrm>
            <a:off x="527685" y="1954530"/>
            <a:ext cx="5632133" cy="2877027"/>
            <a:chOff x="527685" y="1954530"/>
            <a:chExt cx="5632133" cy="2877027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78268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79763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是否匹配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41532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}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22079" y="251555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64826" y="251555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右括号没有对应的左括号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1463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946082"/>
              <a:ext cx="53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 ( ] 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22079" y="294608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64826" y="294608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两对括号交叉，配错了对象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2404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3376612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( 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22079" y="337661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64826" y="337661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扫描完还剩一个左括号没配上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6699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67474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3806190"/>
              <a:ext cx="16066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{a=(b*c}+func( ) ]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22079" y="380619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64826" y="380619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括号交叉，且多出一个右括号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005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4236720"/>
              <a:ext cx="53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 { } 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22079" y="423672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64826" y="423672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完全嵌套，逐对匹配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54530"/>
              <a:ext cx="5626418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554605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454718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7685" y="4611529"/>
              <a:ext cx="3049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9 页的五个例子，已用脚本逐个复核</a:t>
              </a:r>
            </a:p>
          </p:txBody>
        </p:sp>
      </p:grpSp>
      <p:grpSp>
        <p:nvGrpSpPr>
          <p:cNvPr id="45" name="c1-callout-2"/>
          <p:cNvGrpSpPr/>
          <p:nvPr/>
        </p:nvGrpSpPr>
        <p:grpSpPr>
          <a:xfrm>
            <a:off x="533400" y="4972050"/>
            <a:ext cx="5626418" cy="1018222"/>
            <a:chOff x="533400" y="4972050"/>
            <a:chExt cx="5626418" cy="1018222"/>
          </a:xfrm>
        </p:grpSpPr>
        <p:sp>
          <p:nvSpPr>
            <p:cNvPr id="39" name="Rectangle 39"/>
            <p:cNvSpPr/>
            <p:nvPr/>
          </p:nvSpPr>
          <p:spPr>
            <a:xfrm>
              <a:off x="533400" y="4972050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381625"/>
              <a:ext cx="200026" cy="200026"/>
              <a:chOff x="738188" y="5381625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3816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5448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54816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5119211"/>
              <a:ext cx="473036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行取自一段真实的代码。它同时犯了两个错：{ 与 } 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间插进了一个 (，而末尾的 ] 根本没有与之配对的 [。编译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器报“语法错误”时，很多时候就是这里出了问题。</a:t>
              </a:r>
            </a:p>
          </p:txBody>
        </p:sp>
      </p:grpSp>
      <p:grpSp>
        <p:nvGrpSpPr>
          <p:cNvPr id="55" name="c2-card-1"/>
          <p:cNvGrpSpPr/>
          <p:nvPr/>
        </p:nvGrpSpPr>
        <p:grpSpPr>
          <a:xfrm>
            <a:off x="6464618" y="1954530"/>
            <a:ext cx="5193982" cy="1342072"/>
            <a:chOff x="6464618" y="1954530"/>
            <a:chExt cx="5193982" cy="1342072"/>
          </a:xfrm>
        </p:grpSpPr>
        <p:sp>
          <p:nvSpPr>
            <p:cNvPr id="46" name="Rectangle 46"/>
            <p:cNvSpPr/>
            <p:nvPr/>
          </p:nvSpPr>
          <p:spPr>
            <a:xfrm>
              <a:off x="6464618" y="1954530"/>
              <a:ext cx="5193982" cy="1342072"/>
            </a:xfrm>
            <a:prstGeom prst="roundRect">
              <a:avLst>
                <a:gd name="adj" fmla="val 99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4142" y="2087880"/>
              <a:ext cx="47625" cy="10753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06552" y="215836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80009" y="219408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先看简单情形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76604" y="219789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只有一种括号时，一个计数器就够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714172" y="260985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70764" y="255031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从左往右扫描，遇到 ( 计数器加 1，遇到 ) 计数器减 1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714172" y="292989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70764" y="287035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扫描过程中计数器始终非负、且最后归零，就是匹配的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464618" y="3481388"/>
            <a:ext cx="5193982" cy="1564958"/>
            <a:chOff x="6464618" y="3481388"/>
            <a:chExt cx="5193982" cy="1564958"/>
          </a:xfrm>
        </p:grpSpPr>
        <p:sp>
          <p:nvSpPr>
            <p:cNvPr id="56" name="Rectangle 56"/>
            <p:cNvSpPr/>
            <p:nvPr/>
          </p:nvSpPr>
          <p:spPr>
            <a:xfrm>
              <a:off x="6464618" y="3481388"/>
              <a:ext cx="5193982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4142" y="3614738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706552" y="368522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88861" y="37209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推广失败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92758" y="372570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三种括号各配一个计数器不行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99314" y="4077176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[ ( ] ) 时，三个计数器都能正常归零，可它并不匹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配。计数器只记个数、不记先后次序，而匹配恰恰要求次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序。</a:t>
              </a:r>
            </a:p>
          </p:txBody>
        </p:sp>
      </p:grpSp>
      <p:grpSp>
        <p:nvGrpSpPr>
          <p:cNvPr id="68" name="c2-callout-3"/>
          <p:cNvGrpSpPr/>
          <p:nvPr/>
        </p:nvGrpSpPr>
        <p:grpSpPr>
          <a:xfrm>
            <a:off x="6464618" y="5232082"/>
            <a:ext cx="5193982" cy="759142"/>
            <a:chOff x="6464618" y="5232082"/>
            <a:chExt cx="5193982" cy="759142"/>
          </a:xfrm>
        </p:grpSpPr>
        <p:sp>
          <p:nvSpPr>
            <p:cNvPr id="63" name="Rectangle 63"/>
            <p:cNvSpPr/>
            <p:nvPr/>
          </p:nvSpPr>
          <p:spPr>
            <a:xfrm>
              <a:off x="6464618" y="5232082"/>
              <a:ext cx="5193982" cy="759142"/>
            </a:xfrm>
            <a:prstGeom prst="roundRect">
              <a:avLst>
                <a:gd name="adj" fmla="val 1505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69405" y="5511167"/>
              <a:ext cx="200023" cy="200023"/>
              <a:chOff x="6669405" y="5511167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669405" y="55111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802755" y="55778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971729" y="5380196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匹配规则可以写成一句话：后遇到的左括号先匹配。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这正是后进先出，所以改用栈。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进制转换与括号匹配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栈里只放左括号，遇到右括号就弹一个出来配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bullets-1"/>
          <p:cNvGrpSpPr/>
          <p:nvPr/>
        </p:nvGrpSpPr>
        <p:grpSpPr>
          <a:xfrm>
            <a:off x="525780" y="1548765"/>
            <a:ext cx="4273868" cy="1967865"/>
            <a:chOff x="525780" y="1548765"/>
            <a:chExt cx="4273868" cy="196786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扫描规则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93452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3908" y="190309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遇到左括号就压栈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279332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3908" y="224790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遇到右括号，弹出栈顶的左括号，检查两者是否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配对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90988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3908" y="287845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要弹栈时栈已空，说明右括号多了，失败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325469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3908" y="322326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扫描结束时栈不空，说明左括号多了，失败</a:t>
              </a:r>
            </a:p>
          </p:txBody>
        </p:sp>
      </p:grpSp>
      <p:grpSp>
        <p:nvGrpSpPr>
          <p:cNvPr id="33" name="c1-cells-2"/>
          <p:cNvGrpSpPr/>
          <p:nvPr/>
        </p:nvGrpSpPr>
        <p:grpSpPr>
          <a:xfrm>
            <a:off x="526923" y="3648075"/>
            <a:ext cx="2723007" cy="666464"/>
            <a:chOff x="526923" y="3648075"/>
            <a:chExt cx="2723007" cy="666464"/>
          </a:xfrm>
        </p:grpSpPr>
        <p:sp>
          <p:nvSpPr>
            <p:cNvPr id="17" name="TextBox 17"/>
            <p:cNvSpPr txBox="1"/>
            <p:nvPr/>
          </p:nvSpPr>
          <p:spPr>
            <a:xfrm>
              <a:off x="526923" y="37780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输入串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154430" y="36480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07747" y="37780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573530" y="36480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26847" y="37780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992630" y="36480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145947" y="37780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411730" y="36480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565047" y="37780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}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30830" y="36480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84147" y="37780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22747" y="41238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41847" y="41238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60947" y="41238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80047" y="41238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99147" y="41238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40" name="c1-callout-3"/>
          <p:cNvGrpSpPr/>
          <p:nvPr/>
        </p:nvGrpSpPr>
        <p:grpSpPr>
          <a:xfrm>
            <a:off x="533400" y="4457700"/>
            <a:ext cx="4544378" cy="983932"/>
            <a:chOff x="533400" y="4457700"/>
            <a:chExt cx="4544378" cy="983932"/>
          </a:xfrm>
        </p:grpSpPr>
        <p:sp>
          <p:nvSpPr>
            <p:cNvPr id="34" name="Rectangle 34"/>
            <p:cNvSpPr/>
            <p:nvPr/>
          </p:nvSpPr>
          <p:spPr>
            <a:xfrm>
              <a:off x="533400" y="4457700"/>
              <a:ext cx="4544378" cy="983932"/>
            </a:xfrm>
            <a:prstGeom prst="roundRect">
              <a:avLst>
                <a:gd name="adj" fmla="val 1161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4850130"/>
              <a:ext cx="200026" cy="200026"/>
              <a:chOff x="738188" y="4850130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48501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49168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49501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4707255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右括号本身不进栈，配对成功后两个括号都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不再需要，所以栈里只会出现左括号。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5376862" y="1524000"/>
            <a:ext cx="6281738" cy="2988469"/>
            <a:chOff x="5376862" y="1524000"/>
            <a:chExt cx="6281738" cy="2988469"/>
          </a:xfrm>
        </p:grpSpPr>
        <p:sp>
          <p:nvSpPr>
            <p:cNvPr id="41" name="Rectangle 41"/>
            <p:cNvSpPr/>
            <p:nvPr/>
          </p:nvSpPr>
          <p:spPr>
            <a:xfrm>
              <a:off x="5382578" y="1524000"/>
              <a:ext cx="627602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1959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扫描到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393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0356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左括号栈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90401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94336" y="2108359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 压栈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58553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82578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82578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490401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94336" y="2556986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 压栈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58553" y="2556986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 [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82578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490401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94336" y="3005614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压栈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58553" y="3005614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 [ {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82578" y="33147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82578" y="331946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490401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}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94336" y="345424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弹栈，与 } 配对成功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58553" y="3454241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 [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82578" y="37633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490401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94336" y="390382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 弹栈，与 ) 不配对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660255" y="3777615"/>
              <a:ext cx="198882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58553" y="39038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判定失败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382578" y="1524000"/>
              <a:ext cx="6276022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38175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64596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376862" y="4292441"/>
              <a:ext cx="3238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12 至 16 页的逐步演示，合并成一张表</a:t>
              </a:r>
            </a:p>
          </p:txBody>
        </p:sp>
      </p:grpSp>
      <p:grpSp>
        <p:nvGrpSpPr>
          <p:cNvPr id="78" name="c2-callout-2"/>
          <p:cNvGrpSpPr/>
          <p:nvPr/>
        </p:nvGrpSpPr>
        <p:grpSpPr>
          <a:xfrm>
            <a:off x="5382578" y="4658678"/>
            <a:ext cx="6276022" cy="782955"/>
            <a:chOff x="5382578" y="4658678"/>
            <a:chExt cx="6276022" cy="782955"/>
          </a:xfrm>
        </p:grpSpPr>
        <p:sp>
          <p:nvSpPr>
            <p:cNvPr id="72" name="Rectangle 72"/>
            <p:cNvSpPr/>
            <p:nvPr/>
          </p:nvSpPr>
          <p:spPr>
            <a:xfrm>
              <a:off x="5382578" y="4658678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5575307" y="4946451"/>
              <a:ext cx="224134" cy="192560"/>
              <a:chOff x="5575307" y="4946451"/>
              <a:chExt cx="224134" cy="19256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5687378" y="50168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5575307" y="49464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5687378" y="50946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5889308" y="4807268"/>
              <a:ext cx="5339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这个串 ( [ { } ) 走到最后一步就失配了。源课件只演示到“[ 弹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栈，与 ) 匹配”，没有明说结论，其实整串应判为不匹配。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进制转换与括号匹配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括号匹配的代码，以及源课件里要改的一处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2842260"/>
            <a:chOff x="533400" y="1524000"/>
            <a:chExt cx="6276022" cy="28422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842260"/>
            </a:xfrm>
            <a:prstGeom prst="roundRect">
              <a:avLst>
                <a:gd name="adj" fmla="val 335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82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pair 数组查配对，已更正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766"/>
              <a:ext cx="3673856" cy="23426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BracketMatching(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strlen(s);  stack Lbracket;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pair[200] = {0};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pair[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')'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] 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 pair[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']'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] 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'['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 pair[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'}'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] 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'{'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(s[i] ==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|| s[i] ==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'['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|| s[i] ==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'{'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Lbracket.Push(s[i]);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(s[i] ==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')'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|| s[i] ==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']'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|| s[i] ==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'}'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(Lbracket.Empty())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先判空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= Lbracket.Pop();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再弹栈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!= pair[s[i]])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Lbracket.Empty();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栈空才算成功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556760"/>
            <a:ext cx="6276022" cy="932498"/>
            <a:chOff x="533400" y="4556760"/>
            <a:chExt cx="6276022" cy="932498"/>
          </a:xfrm>
        </p:grpSpPr>
        <p:sp>
          <p:nvSpPr>
            <p:cNvPr id="11" name="Rectangle 11"/>
            <p:cNvSpPr/>
            <p:nvPr/>
          </p:nvSpPr>
          <p:spPr>
            <a:xfrm>
              <a:off x="533400" y="4556760"/>
              <a:ext cx="6276022" cy="932498"/>
            </a:xfrm>
            <a:prstGeom prst="roundRect">
              <a:avLst>
                <a:gd name="adj" fmla="val 1225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4923475"/>
              <a:ext cx="200023" cy="200023"/>
              <a:chOff x="738188" y="4923475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9234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49901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130" y="4780598"/>
              <a:ext cx="531495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每个字符最多进栈一次、出栈一次，时间 </a:t>
              </a:r>
              <a:r>
                <a:rPr lang="en-US" sz="150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。空间取决于连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续左括号的最大个数，最坏是 O(n)。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7114222" y="1524000"/>
            <a:ext cx="4544378" cy="3966210"/>
            <a:chOff x="7114222" y="1524000"/>
            <a:chExt cx="4544378" cy="3966210"/>
          </a:xfrm>
        </p:grpSpPr>
        <p:sp>
          <p:nvSpPr>
            <p:cNvPr id="17" name="Rectangle 17"/>
            <p:cNvSpPr/>
            <p:nvPr/>
          </p:nvSpPr>
          <p:spPr>
            <a:xfrm>
              <a:off x="7114222" y="1524000"/>
              <a:ext cx="4544378" cy="3966210"/>
            </a:xfrm>
            <a:prstGeom prst="roundRect">
              <a:avLst>
                <a:gd name="adj" fmla="val 336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123748" y="1657350"/>
              <a:ext cx="47625" cy="36995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6187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5208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61948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原课件把判空放在了弹栈之后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54252" y="2129790"/>
              <a:ext cx="35013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原课件第 19 页写的是先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char t =</a:t>
              </a:r>
              <a:br/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Lbracket.Pop();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，再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if</a:t>
              </a:r>
              <a:br/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(Lbracket.Empty() || t != pair[s[i]])</a:t>
              </a:r>
              <a:br/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return false;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367588" y="33851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25702" y="3322320"/>
              <a:ext cx="3758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栈已空时先 Pop，会读到下标 −1 的位置，是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越界访问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367588" y="40062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25702" y="3943350"/>
              <a:ext cx="3687128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更直接的反例：输入 </a:t>
              </a:r>
              <a:r>
                <a:rPr lang="zh-CN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时弹出 ( 之后栈正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好空了，Empty() 为真，函数返回 </a:t>
              </a:r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false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 () 显然是匹配的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55396" y="4846796"/>
              <a:ext cx="38656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判空必须放在弹栈之前。第 18 页的另一种写法没有这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个问题。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9" name="Rectangle 2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991225"/>
              <a:ext cx="86073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顺带留一个问题：只考虑一种括号时，n 对括号一共有多少种合法的匹配序列？答案在第 29 页。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1868" cy="3351847"/>
            <a:chOff x="667512" y="1835468"/>
            <a:chExt cx="58018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算术表达式求值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编译器把一行算式变成机器能逐步执行的次序，用的就是栈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中缀式与后缀式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后缀求值只要一个操作数栈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中缀转后缀的四组规则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双栈一遍扫描直接求值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算术表达式求值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一个算术表达式由三类符号组成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5201602" cy="1173480"/>
            <a:chOff x="525780" y="1548765"/>
            <a:chExt cx="5201602" cy="117348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操作数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68742" y="1548765"/>
              <a:ext cx="2539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常量或变量，例如 2、a、x₁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运算符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8742" y="1988820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算术运算符 + − × ÷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088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4288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界限符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68742" y="2428875"/>
              <a:ext cx="38216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左右括号，以及标识表达式结束的结束符 #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2853690"/>
            <a:ext cx="5193982" cy="3114675"/>
            <a:chOff x="533400" y="2853690"/>
            <a:chExt cx="5193982" cy="3114675"/>
          </a:xfrm>
        </p:grpSpPr>
        <p:sp>
          <p:nvSpPr>
            <p:cNvPr id="16" name="Rectangle 16"/>
            <p:cNvSpPr/>
            <p:nvPr/>
          </p:nvSpPr>
          <p:spPr>
            <a:xfrm>
              <a:off x="533400" y="2853690"/>
              <a:ext cx="5193982" cy="3114675"/>
            </a:xfrm>
            <a:prstGeom prst="roundRect">
              <a:avLst>
                <a:gd name="adj" fmla="val 42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2987040"/>
              <a:ext cx="47625" cy="28479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06324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8457" y="309895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中缀表达式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08797" y="309848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运算符写在两个操作数中间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3459480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× B / C 就是中缀式，也是人最习惯的写法。它的运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算次序不由符号的先后决定，要另外约定三条规则。</a:t>
              </a:r>
            </a:p>
          </p:txBody>
        </p:sp>
      </p:grpSp>
      <p:grpSp>
        <p:nvGrpSpPr>
          <p:cNvPr id="33" name="c2-bullets-1"/>
          <p:cNvGrpSpPr/>
          <p:nvPr/>
        </p:nvGrpSpPr>
        <p:grpSpPr>
          <a:xfrm>
            <a:off x="6024562" y="1548765"/>
            <a:ext cx="3756661" cy="1337310"/>
            <a:chOff x="6024562" y="1548765"/>
            <a:chExt cx="3756661" cy="1337310"/>
          </a:xfrm>
        </p:grpSpPr>
        <p:sp>
          <p:nvSpPr>
            <p:cNvPr id="23" name="TextBox 23"/>
            <p:cNvSpPr txBox="1"/>
            <p:nvPr/>
          </p:nvSpPr>
          <p:spPr>
            <a:xfrm>
              <a:off x="6024562" y="15487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中缀式的运算规则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032182" y="188976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94032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33173" y="190309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先计算括号内，后计算括号外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032182" y="223456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94032" y="22768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33173" y="22479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无括号或同层括号内，先乘除后加减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032182" y="257937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94032" y="26216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33173" y="259270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同一优先级的运算，从左向右依次进行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6032182" y="3017520"/>
            <a:ext cx="5626418" cy="1059180"/>
            <a:chOff x="6032182" y="3017520"/>
            <a:chExt cx="5626418" cy="1059180"/>
          </a:xfrm>
        </p:grpSpPr>
        <p:sp>
          <p:nvSpPr>
            <p:cNvPr id="34" name="Rectangle 34"/>
            <p:cNvSpPr/>
            <p:nvPr/>
          </p:nvSpPr>
          <p:spPr>
            <a:xfrm>
              <a:off x="6032182" y="3017520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236970" y="3447098"/>
              <a:ext cx="200026" cy="200026"/>
              <a:chOff x="6236970" y="3447098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236970" y="34470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336983" y="35137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325870" y="35471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38912" y="3166110"/>
              <a:ext cx="4587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这三条是人为约定的，机器没法从符号的排列次序直接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看出来。所以编译时一般先把中缀式转成另一种表示，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再对它求值。</a:t>
              </a:r>
            </a:p>
          </p:txBody>
        </p:sp>
      </p:grpSp>
      <p:grpSp>
        <p:nvGrpSpPr>
          <p:cNvPr id="54" name="c2-card-3"/>
          <p:cNvGrpSpPr/>
          <p:nvPr/>
        </p:nvGrpSpPr>
        <p:grpSpPr>
          <a:xfrm>
            <a:off x="6032182" y="4267200"/>
            <a:ext cx="5626418" cy="1701165"/>
            <a:chOff x="6032182" y="4267200"/>
            <a:chExt cx="5626418" cy="1701165"/>
          </a:xfrm>
        </p:grpSpPr>
        <p:sp>
          <p:nvSpPr>
            <p:cNvPr id="41" name="Rectangle 41"/>
            <p:cNvSpPr/>
            <p:nvPr/>
          </p:nvSpPr>
          <p:spPr>
            <a:xfrm>
              <a:off x="6032182" y="4267200"/>
              <a:ext cx="5626418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41708" y="44005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79832" y="44767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8387" y="45124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本节的三个问题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79832" y="48406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1682" y="48828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80823" y="48539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后缀式怎么求值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279832" y="51758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1682" y="52181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80823" y="518922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中缀式怎么转成后缀式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279832" y="551116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1682" y="55534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80823" y="552450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能不能一遍扫描就把中缀式算出来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算术表达式求值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后缀表达式：把运算次序直接写进符号的先后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562529" cy="308039"/>
            <a:chOff x="525399" y="1550194"/>
            <a:chExt cx="956252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56252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1929 年由波兰数学家 Lukasiewicz 提出，也叫逆波兰式。定义是运算符紧跟在它的两个操作数之后。</a:t>
              </a:r>
            </a:p>
          </p:txBody>
        </p:sp>
      </p:grpSp>
      <p:grpSp>
        <p:nvGrpSpPr>
          <p:cNvPr id="35" name="c1-table-1"/>
          <p:cNvGrpSpPr/>
          <p:nvPr/>
        </p:nvGrpSpPr>
        <p:grpSpPr>
          <a:xfrm>
            <a:off x="527685" y="1967865"/>
            <a:ext cx="5848350" cy="3437097"/>
            <a:chOff x="527685" y="1967865"/>
            <a:chExt cx="5848350" cy="3437097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97292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中缀表达式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19561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后缀表达式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551271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44480" y="2551271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603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6512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000851"/>
              <a:ext cx="727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+ 2 × 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44480" y="3000851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3 × +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3089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3449479"/>
              <a:ext cx="926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 + b) × 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44480" y="3449479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 c 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7576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76237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898106"/>
              <a:ext cx="13427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× b × c + c × 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44480" y="3898106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× c × c d × +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2071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346734"/>
              <a:ext cx="22474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 + b) × ((c − d) × e + f)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44480" y="4346734"/>
              <a:ext cx="1572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 c d − e × f + 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5582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66058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4795361"/>
              <a:ext cx="15418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(b − c / d) × 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44480" y="4795361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 / − e × +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967865"/>
              <a:ext cx="5842635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73189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7685" y="5184934"/>
              <a:ext cx="3434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24 页的六个例子，已用脚本逐个转换复核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680835" y="1967865"/>
            <a:ext cx="4977765" cy="1701165"/>
            <a:chOff x="6680835" y="1967865"/>
            <a:chExt cx="4977765" cy="1701165"/>
          </a:xfrm>
        </p:grpSpPr>
        <p:sp>
          <p:nvSpPr>
            <p:cNvPr id="36" name="Rectangle 36"/>
            <p:cNvSpPr/>
            <p:nvPr/>
          </p:nvSpPr>
          <p:spPr>
            <a:xfrm>
              <a:off x="6680835" y="1967865"/>
              <a:ext cx="4977765" cy="1701165"/>
            </a:xfrm>
            <a:prstGeom prst="roundRect">
              <a:avLst>
                <a:gd name="adj" fmla="val 783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90385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72694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三个优点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890385" y="254127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52234" y="25835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91375" y="25546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没有括号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890385" y="287655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52234" y="29188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91375" y="28898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不存在优先级的差别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890385" y="321183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52234" y="32541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91375" y="322516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计算过程完全按照运算符出现的先后次序进行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680835" y="3859530"/>
            <a:ext cx="4977765" cy="1621155"/>
            <a:chOff x="6680835" y="3859530"/>
            <a:chExt cx="4977765" cy="1621155"/>
          </a:xfrm>
        </p:grpSpPr>
        <p:sp>
          <p:nvSpPr>
            <p:cNvPr id="49" name="Rectangle 49"/>
            <p:cNvSpPr/>
            <p:nvPr/>
          </p:nvSpPr>
          <p:spPr>
            <a:xfrm>
              <a:off x="6680835" y="3859530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90360" y="399288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928485" y="406908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01942" y="410479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怎么读这张表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98155" y="410432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操作数的相对次序没有变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20865" y="446532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对照左右两列可以看出，后缀式里操作数出现的先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后和中缀式完全一致，变的只是运算符的位置。所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以转换时操作数直接抄下来就行。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算术表达式求值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后缀表达式求值：一个操作数栈，三条规则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bullets-1"/>
          <p:cNvGrpSpPr/>
          <p:nvPr/>
        </p:nvGrpSpPr>
        <p:grpSpPr>
          <a:xfrm>
            <a:off x="526161" y="1547336"/>
            <a:ext cx="4460430" cy="1547432"/>
            <a:chOff x="526161" y="1547336"/>
            <a:chExt cx="4460430" cy="154743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从左到右依次读入每个符号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7356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1745" y="191390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4293" y="188642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读到操作数，压入操作数栈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20313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1745" y="22434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4293" y="221503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读到运算符，连续弹出两个元素做运算，结果压回栈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80416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1745" y="284354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4293" y="2816066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读到结束符，栈顶元素就是计算结果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3224212"/>
            <a:ext cx="4760595" cy="1018222"/>
            <a:chOff x="533400" y="3224212"/>
            <a:chExt cx="4760595" cy="1018222"/>
          </a:xfrm>
        </p:grpSpPr>
        <p:sp>
          <p:nvSpPr>
            <p:cNvPr id="18" name="Rectangle 18"/>
            <p:cNvSpPr/>
            <p:nvPr/>
          </p:nvSpPr>
          <p:spPr>
            <a:xfrm>
              <a:off x="533400" y="3224212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26129" y="3630096"/>
              <a:ext cx="224134" cy="192560"/>
              <a:chOff x="726129" y="3630096"/>
              <a:chExt cx="224134" cy="19256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8200" y="37004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6129" y="36300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37782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3371374"/>
              <a:ext cx="377456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弹出的次序要当心。先弹出的是右操作数 y，后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弹出的是左操作数 x，做的是 x 运算 y。对减法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和除法，这个次序反了结果就错。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428172"/>
            <a:ext cx="4760595" cy="1562100"/>
            <a:chOff x="533400" y="4428172"/>
            <a:chExt cx="4760595" cy="1562100"/>
          </a:xfrm>
        </p:grpSpPr>
        <p:sp>
          <p:nvSpPr>
            <p:cNvPr id="25" name="Rectangle 25"/>
            <p:cNvSpPr/>
            <p:nvPr/>
          </p:nvSpPr>
          <p:spPr>
            <a:xfrm>
              <a:off x="533400" y="4428172"/>
              <a:ext cx="4760595" cy="1562100"/>
            </a:xfrm>
            <a:prstGeom prst="roundRect">
              <a:avLst>
                <a:gd name="adj" fmla="val 853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7235" y="4632008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7890" y="466772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为什么不需要优先级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9996" y="5004911"/>
              <a:ext cx="418033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后缀式里运算符出现的先后，就是运算真正执行的先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后。栈只负责把“最近的两个还没用掉的操作数”交给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它，不需要再比较优先级，也不需要括号。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5593080" y="1524000"/>
            <a:ext cx="6065520" cy="3306604"/>
            <a:chOff x="5593080" y="1524000"/>
            <a:chExt cx="6065520" cy="3306604"/>
          </a:xfrm>
        </p:grpSpPr>
        <p:sp>
          <p:nvSpPr>
            <p:cNvPr id="30" name="Rectangle 30"/>
            <p:cNvSpPr/>
            <p:nvPr/>
          </p:nvSpPr>
          <p:spPr>
            <a:xfrm>
              <a:off x="5598795" y="1524000"/>
              <a:ext cx="605980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5597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1622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5977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操作数栈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04142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52819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24656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598795" y="2379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598795" y="238410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04142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2819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24656" y="2515552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704142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52819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24656" y="2946082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32394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598795" y="324421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04142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52819" y="3375660"/>
              <a:ext cx="263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 3 和 2，算 2 × 3 = 6，结果压回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24656" y="3375660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98795" y="36699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04142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52819" y="3806190"/>
              <a:ext cx="263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 6 和 1，算 1 + 6 = 7，结果压回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824656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98795" y="41005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598795" y="410527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04142" y="4235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52819" y="423576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栈顶就是答案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728835" y="4114800"/>
              <a:ext cx="192024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824656" y="42357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598795" y="1524000"/>
              <a:ext cx="6059805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42710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714548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593080" y="4610576"/>
              <a:ext cx="3901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后缀式 1 2 3 × + 的求值过程，它对应的中缀式是 1 + 2 × 3</a:t>
              </a:r>
            </a:p>
          </p:txBody>
        </p:sp>
      </p:grpSp>
      <p:grpSp>
        <p:nvGrpSpPr>
          <p:cNvPr id="72" name="c2-callout-2"/>
          <p:cNvGrpSpPr/>
          <p:nvPr/>
        </p:nvGrpSpPr>
        <p:grpSpPr>
          <a:xfrm>
            <a:off x="5598795" y="4972050"/>
            <a:ext cx="6059805" cy="1018222"/>
            <a:chOff x="5598795" y="4972050"/>
            <a:chExt cx="6059805" cy="1018222"/>
          </a:xfrm>
        </p:grpSpPr>
        <p:sp>
          <p:nvSpPr>
            <p:cNvPr id="66" name="Rectangle 66"/>
            <p:cNvSpPr/>
            <p:nvPr/>
          </p:nvSpPr>
          <p:spPr>
            <a:xfrm>
              <a:off x="5598795" y="4972050"/>
              <a:ext cx="6059805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5803583" y="5381625"/>
              <a:ext cx="200026" cy="200026"/>
              <a:chOff x="5803583" y="5381625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5803583" y="53816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5903595" y="5448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5892483" y="54816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105906" y="5119211"/>
              <a:ext cx="508203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表中“操作数栈”一列从左到右是从栈底到栈顶。算法结束时栈里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应当正好剩一个元素；多了说明运算符不够，少了说明操作数不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够，两种情况都意味着后缀式本身不合法。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94776" cy="909257"/>
            <a:chOff x="520446" y="342900"/>
            <a:chExt cx="7094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算术表达式求值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94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例：后缀式 A B C × / D E × + A C × − 的求值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573497" cy="264033"/>
            <a:chOff x="526542" y="1545907"/>
            <a:chExt cx="557349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573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T₁ 到 T₆ 记下每一次运算的中间结果，就能看清栈里存的是什么。</a:t>
              </a:r>
            </a:p>
          </p:txBody>
        </p:sp>
      </p:grpSp>
      <p:grpSp>
        <p:nvGrpSpPr>
          <p:cNvPr id="57" name="c1-table-1"/>
          <p:cNvGrpSpPr/>
          <p:nvPr/>
        </p:nvGrpSpPr>
        <p:grpSpPr>
          <a:xfrm>
            <a:off x="528447" y="1928812"/>
            <a:ext cx="5847588" cy="4437413"/>
            <a:chOff x="528447" y="1928812"/>
            <a:chExt cx="5847588" cy="4437413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9848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1434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41951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操作数栈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0555" y="2450306"/>
              <a:ext cx="38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16430" y="24503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依次压栈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19550" y="2450306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241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28912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0555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16430" y="2850356"/>
              <a:ext cx="728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T₁ = B × 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19550" y="2850356"/>
              <a:ext cx="3220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T₁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242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16430" y="3250406"/>
              <a:ext cx="815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T₂ = A / T₁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19550" y="325040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242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29012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555" y="3650456"/>
              <a:ext cx="245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16430" y="3650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依次压栈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19550" y="3650456"/>
              <a:ext cx="4574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T₂ D 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243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16430" y="4050506"/>
              <a:ext cx="728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T₃ = D × 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19550" y="4050506"/>
              <a:ext cx="409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T₂ T₃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3243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329112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4450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16430" y="4450556"/>
              <a:ext cx="9035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T₄ = T₂ + T₃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19550" y="445055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7244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0555" y="4850606"/>
              <a:ext cx="245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16430" y="48506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依次压栈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19550" y="4850606"/>
              <a:ext cx="4574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T₄ A C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1244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5129212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0555" y="5250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16430" y="5250656"/>
              <a:ext cx="728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T₅ = A × 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19550" y="5250656"/>
              <a:ext cx="409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T₄ T₅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55245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0555" y="56507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916430" y="5650706"/>
              <a:ext cx="9035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T₆ = T₄ − T₅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931920" y="5538788"/>
              <a:ext cx="243459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019550" y="565070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T₆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1928812"/>
              <a:ext cx="5842635" cy="4000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814512" y="1928812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3917632" y="1928812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8447" y="6002179"/>
              <a:ext cx="5423916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栈的内容从左到右是从栈底到栈顶。层层代回去得 T₆ = (A / (B × C) + D × E) − A × C，与原中缀式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一致</a:t>
              </a:r>
            </a:p>
          </p:txBody>
        </p:sp>
      </p:grpSp>
      <p:grpSp>
        <p:nvGrpSpPr>
          <p:cNvPr id="61" name="c2-code-1"/>
          <p:cNvGrpSpPr/>
          <p:nvPr/>
        </p:nvGrpSpPr>
        <p:grpSpPr>
          <a:xfrm>
            <a:off x="6680835" y="1928812"/>
            <a:ext cx="4977765" cy="2357438"/>
            <a:chOff x="6680835" y="1928812"/>
            <a:chExt cx="4977765" cy="2357438"/>
          </a:xfrm>
        </p:grpSpPr>
        <p:sp>
          <p:nvSpPr>
            <p:cNvPr id="58" name="Rectangle 58"/>
            <p:cNvSpPr/>
            <p:nvPr/>
          </p:nvSpPr>
          <p:spPr>
            <a:xfrm>
              <a:off x="6680835" y="1928812"/>
              <a:ext cx="4977765" cy="2357438"/>
            </a:xfrm>
            <a:prstGeom prst="roundRect">
              <a:avLst>
                <a:gd name="adj" fmla="val 40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09232" y="20807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后缀表达式求值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09422" y="2339102"/>
              <a:ext cx="3064574" cy="18578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Calculate(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P[],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Stack&lt;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S;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只需要一个操作数栈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(IsOperand(P[i]))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S.push(Value(P[i]));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 = S.pop();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先弹出的是右操作数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S.pop();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S.push(Operation(x, P[i], y));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S.pop();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栈顶即结果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7" name="c2-callout-2"/>
          <p:cNvGrpSpPr/>
          <p:nvPr/>
        </p:nvGrpSpPr>
        <p:grpSpPr>
          <a:xfrm>
            <a:off x="6680835" y="4455795"/>
            <a:ext cx="4977765" cy="1871662"/>
            <a:chOff x="6680835" y="4455795"/>
            <a:chExt cx="4977765" cy="1871662"/>
          </a:xfrm>
        </p:grpSpPr>
        <p:sp>
          <p:nvSpPr>
            <p:cNvPr id="62" name="Rectangle 62"/>
            <p:cNvSpPr/>
            <p:nvPr/>
          </p:nvSpPr>
          <p:spPr>
            <a:xfrm>
              <a:off x="6680835" y="4455795"/>
              <a:ext cx="4977765" cy="1871662"/>
            </a:xfrm>
            <a:prstGeom prst="roundRect">
              <a:avLst>
                <a:gd name="adj" fmla="val 610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885623" y="5292092"/>
              <a:ext cx="200023" cy="200023"/>
              <a:chOff x="6885623" y="5292092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885623" y="52920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018973" y="53587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188327" y="4925378"/>
              <a:ext cx="4097655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每个符号只读一遍，进出栈各最多一次，时间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前提是每次运算本身是 O(1)，换成大整数或高精度就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不成立了。栈的最大深度不超过表达式中操作数的个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算术表达式求值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手工把中缀转后缀：加括号、移符号、去括号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418451" cy="293370"/>
            <a:chOff x="525780" y="1548765"/>
            <a:chExt cx="7418451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4184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这是考试时最快的办法。以考研题“中缀式 A − (B + C / D) × E 的后缀形式”为例。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64055"/>
            <a:ext cx="5492496" cy="2011109"/>
            <a:chOff x="533400" y="1964055"/>
            <a:chExt cx="5492496" cy="2011109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060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79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270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00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99691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充分加括号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277428"/>
              <a:ext cx="50794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按优先级和结合性加到每对括号里只剩一个运算符，得 (A − ((B + (C / D))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E))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838926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把每个运算符移到与它对应的右括号后面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119438"/>
              <a:ext cx="2230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(A ((B (C D) /) + E) ×) 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45995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去掉所有括号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740468"/>
              <a:ext cx="14794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A B C D / + E × −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150995"/>
            <a:ext cx="5842635" cy="1816418"/>
            <a:chOff x="533400" y="4150995"/>
            <a:chExt cx="5842635" cy="1816418"/>
          </a:xfrm>
        </p:grpSpPr>
        <p:sp>
          <p:nvSpPr>
            <p:cNvPr id="23" name="Rectangle 23"/>
            <p:cNvSpPr/>
            <p:nvPr/>
          </p:nvSpPr>
          <p:spPr>
            <a:xfrm>
              <a:off x="533400" y="4150995"/>
              <a:ext cx="5842635" cy="1816418"/>
            </a:xfrm>
            <a:prstGeom prst="roundRect">
              <a:avLst>
                <a:gd name="adj" fmla="val 629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959668"/>
              <a:ext cx="200026" cy="200025"/>
              <a:chOff x="738188" y="4959668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9596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50041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51152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511" y="4828699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第一步是关键，剩下两步是机械操作。第一步加对了，后面不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会出错。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680835" y="1954530"/>
            <a:ext cx="4977765" cy="2263140"/>
            <a:chOff x="6680835" y="1954530"/>
            <a:chExt cx="4977765" cy="2263140"/>
          </a:xfrm>
        </p:grpSpPr>
        <p:sp>
          <p:nvSpPr>
            <p:cNvPr id="30" name="Rectangle 30"/>
            <p:cNvSpPr/>
            <p:nvPr/>
          </p:nvSpPr>
          <p:spPr>
            <a:xfrm>
              <a:off x="6680835" y="1954530"/>
              <a:ext cx="4977765" cy="2263140"/>
            </a:xfrm>
            <a:prstGeom prst="roundRect">
              <a:avLst>
                <a:gd name="adj" fmla="val 58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90360" y="2087880"/>
              <a:ext cx="47625" cy="19964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22770" y="215836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09028" y="21940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选择题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66101" y="2197894"/>
              <a:ext cx="30171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− (B + C / D) × E 的后缀形式是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930390" y="260985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86981" y="2550319"/>
              <a:ext cx="17818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A B − C + D / E ×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930390" y="292989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86981" y="2870359"/>
              <a:ext cx="17818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A B C + D / − E ×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930390" y="324993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86981" y="3190399"/>
              <a:ext cx="17818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A B C D / E × + −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930390" y="356997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86981" y="3510439"/>
              <a:ext cx="18560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D. </a:t>
              </a: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 / + E × 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16674" y="3826192"/>
              <a:ext cx="43574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 D，与左边手工推出的结果一致，脚本转换的结果也是它。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680835" y="4403408"/>
            <a:ext cx="4977765" cy="1564958"/>
            <a:chOff x="6680835" y="4403408"/>
            <a:chExt cx="4977765" cy="1564958"/>
          </a:xfrm>
        </p:grpSpPr>
        <p:sp>
          <p:nvSpPr>
            <p:cNvPr id="45" name="Rectangle 45"/>
            <p:cNvSpPr/>
            <p:nvPr/>
          </p:nvSpPr>
          <p:spPr>
            <a:xfrm>
              <a:off x="6680835" y="4403408"/>
              <a:ext cx="497776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90360" y="4536758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22770" y="460724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05079" y="46429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自检办法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08976" y="46467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反过来算一遍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15531" y="4998244"/>
              <a:ext cx="421640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按后缀求值的规则读回去，C D / 得 C/D，再与 B 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加，结果与 E 相乘，最后被 A 减。和原式一致，说明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转换没错。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算术表达式求值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中缀转后缀的四组规则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645777" cy="264033"/>
            <a:chOff x="526542" y="1545907"/>
            <a:chExt cx="964577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645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设一个栈存运算符和左括号，另设一个队列存后缀表达式。从左到右扫描中缀式的每一个元素，按元素的类别分别处理。</a:t>
              </a:r>
            </a:p>
          </p:txBody>
        </p:sp>
      </p:grpSp>
      <p:grpSp>
        <p:nvGrpSpPr>
          <p:cNvPr id="11" name="c1-bullets-1"/>
          <p:cNvGrpSpPr/>
          <p:nvPr/>
        </p:nvGrpSpPr>
        <p:grpSpPr>
          <a:xfrm>
            <a:off x="526923" y="1949291"/>
            <a:ext cx="1735226" cy="551307"/>
            <a:chOff x="526923" y="1949291"/>
            <a:chExt cx="1735226" cy="551307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操作数规则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8373" y="22512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直接放入后缀表达式</a:t>
              </a:r>
            </a:p>
          </p:txBody>
        </p:sp>
      </p:grpSp>
      <p:grpSp>
        <p:nvGrpSpPr>
          <p:cNvPr id="22" name="c1-bullets-2"/>
          <p:cNvGrpSpPr/>
          <p:nvPr/>
        </p:nvGrpSpPr>
        <p:grpSpPr>
          <a:xfrm>
            <a:off x="526923" y="2636044"/>
            <a:ext cx="5816219" cy="1379029"/>
            <a:chOff x="526923" y="2636044"/>
            <a:chExt cx="5816219" cy="1379029"/>
          </a:xfrm>
        </p:grpSpPr>
        <p:sp>
          <p:nvSpPr>
            <p:cNvPr id="12" name="TextBox 12"/>
            <p:cNvSpPr txBox="1"/>
            <p:nvPr/>
          </p:nvSpPr>
          <p:spPr>
            <a:xfrm>
              <a:off x="526923" y="26360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运算符规则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92608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9617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93703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栈空或栈顶是左括号，当前运算符压栈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21849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325412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323040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当前运算符优先级高于栈顶运算符，压栈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51186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354749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3522821"/>
              <a:ext cx="5539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当前运算符优先级不高于栈顶运算符，先弹栈并依次放入后缀表达式，直到当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前运算符优先级高于栈顶、或栈空、或栈顶为左括号，再把当前运算符压栈</a:t>
              </a:r>
            </a:p>
          </p:txBody>
        </p:sp>
      </p:grpSp>
      <p:grpSp>
        <p:nvGrpSpPr>
          <p:cNvPr id="30" name="c1-bullets-3"/>
          <p:cNvGrpSpPr/>
          <p:nvPr/>
        </p:nvGrpSpPr>
        <p:grpSpPr>
          <a:xfrm>
            <a:off x="526923" y="4151471"/>
            <a:ext cx="5816219" cy="1085659"/>
            <a:chOff x="526923" y="4151471"/>
            <a:chExt cx="5816219" cy="1085659"/>
          </a:xfrm>
        </p:grpSpPr>
        <p:sp>
          <p:nvSpPr>
            <p:cNvPr id="23" name="TextBox 23"/>
            <p:cNvSpPr txBox="1"/>
            <p:nvPr/>
          </p:nvSpPr>
          <p:spPr>
            <a:xfrm>
              <a:off x="526923" y="415147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括号规则与结束符规则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444150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5307" y="447617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3148" y="4452461"/>
              <a:ext cx="5539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遇到左括号压栈；遇到右括号，弹栈直到弹出左括号为止，两个括号都不进后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缀表达式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33400" y="497681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5307" y="501243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3148" y="498776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遇到结束符，把栈里剩下的运算符全部弹出</a:t>
              </a:r>
            </a:p>
          </p:txBody>
        </p:sp>
      </p:grpSp>
      <p:grpSp>
        <p:nvGrpSpPr>
          <p:cNvPr id="37" name="c1-callout-4"/>
          <p:cNvGrpSpPr/>
          <p:nvPr/>
        </p:nvGrpSpPr>
        <p:grpSpPr>
          <a:xfrm>
            <a:off x="533400" y="5352098"/>
            <a:ext cx="6059805" cy="918210"/>
            <a:chOff x="533400" y="5352098"/>
            <a:chExt cx="6059805" cy="918210"/>
          </a:xfrm>
        </p:grpSpPr>
        <p:sp>
          <p:nvSpPr>
            <p:cNvPr id="31" name="Rectangle 31"/>
            <p:cNvSpPr/>
            <p:nvPr/>
          </p:nvSpPr>
          <p:spPr>
            <a:xfrm>
              <a:off x="533400" y="5352098"/>
              <a:ext cx="6059805" cy="918210"/>
            </a:xfrm>
            <a:prstGeom prst="roundRect">
              <a:avLst>
                <a:gd name="adj" fmla="val 1244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711190"/>
              <a:ext cx="200026" cy="200026"/>
              <a:chOff x="738188" y="5711190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7111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57778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58112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1273" y="5604986"/>
              <a:ext cx="50523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左括号进栈后，只有碰到与它配对的右括号才会被弹掉，弹出后直接丢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弃。栈里还留着左括号，就说明它右边的运算符都还没定下来。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898005" y="1928812"/>
            <a:ext cx="4760595" cy="1671638"/>
            <a:chOff x="6898005" y="1928812"/>
            <a:chExt cx="4760595" cy="1671638"/>
          </a:xfrm>
        </p:grpSpPr>
        <p:sp>
          <p:nvSpPr>
            <p:cNvPr id="38" name="Rectangle 38"/>
            <p:cNvSpPr/>
            <p:nvPr/>
          </p:nvSpPr>
          <p:spPr>
            <a:xfrm>
              <a:off x="6898005" y="1928812"/>
              <a:ext cx="476059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07530" y="2062162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17080" y="210978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97598" y="21426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两个小例子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126605" y="250221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82053" y="2449354"/>
              <a:ext cx="37437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 × b + c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：读到 + 时栈顶是 ×，优先级更高，先弹出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×，得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 b ×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，再压 +，最后得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 b × c +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126605" y="302990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82053" y="2977991"/>
              <a:ext cx="39469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 × (b + c)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：读到 + 时栈顶是左括号，直接压栈，最后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得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 b c + ×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6898005" y="3765232"/>
            <a:ext cx="4760595" cy="937260"/>
            <a:chOff x="6898005" y="3765232"/>
            <a:chExt cx="4760595" cy="937260"/>
          </a:xfrm>
        </p:grpSpPr>
        <p:sp>
          <p:nvSpPr>
            <p:cNvPr id="47" name="Rectangle 47"/>
            <p:cNvSpPr/>
            <p:nvPr/>
          </p:nvSpPr>
          <p:spPr>
            <a:xfrm>
              <a:off x="6898005" y="3765232"/>
              <a:ext cx="4760595" cy="937260"/>
            </a:xfrm>
            <a:prstGeom prst="roundRect">
              <a:avLst>
                <a:gd name="adj" fmla="val 1219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090734" y="4130158"/>
              <a:ext cx="224134" cy="192560"/>
              <a:chOff x="7090734" y="4130158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202805" y="420052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090734" y="413015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202805" y="42783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405878" y="3910489"/>
              <a:ext cx="380873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3 条里的“不高于”不能写成“低于”。同优先级要从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左向右计算，所以遇到同级运算符也得先把栈顶弹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出，否则 a − b − c 会算成 a − (b − c)。</a:t>
              </a:r>
            </a:p>
          </p:txBody>
        </p:sp>
      </p:grpSp>
      <p:grpSp>
        <p:nvGrpSpPr>
          <p:cNvPr id="59" name="c2-card-3"/>
          <p:cNvGrpSpPr/>
          <p:nvPr/>
        </p:nvGrpSpPr>
        <p:grpSpPr>
          <a:xfrm>
            <a:off x="6898005" y="4867275"/>
            <a:ext cx="4760595" cy="1403032"/>
            <a:chOff x="6898005" y="4867275"/>
            <a:chExt cx="4760595" cy="1403032"/>
          </a:xfrm>
        </p:grpSpPr>
        <p:sp>
          <p:nvSpPr>
            <p:cNvPr id="54" name="Rectangle 54"/>
            <p:cNvSpPr/>
            <p:nvPr/>
          </p:nvSpPr>
          <p:spPr>
            <a:xfrm>
              <a:off x="6898005" y="4867275"/>
              <a:ext cx="4760595" cy="1403032"/>
            </a:xfrm>
            <a:prstGeom prst="roundRect">
              <a:avLst>
                <a:gd name="adj" fmla="val 950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078980" y="50482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70699" y="50811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44956" y="5088731"/>
              <a:ext cx="31413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栈顶永远是“还等着操作数”的那个运算符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72503" y="5404961"/>
              <a:ext cx="40769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一个运算符只有在确认右边不会再来更高优先级的运算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时，才能被送进后缀表达式。栈就是用来存这些还没确定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的运算符。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3159" cy="909257"/>
            <a:chOff x="520446" y="342900"/>
            <a:chExt cx="79331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算术表达式求值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31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例：(A + B) × ((C − D) × E + F) 的完整转换过程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766139" cy="264033"/>
            <a:chOff x="526542" y="1545907"/>
            <a:chExt cx="476613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7661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结束符用 # 表示。表中栈的内容从左到右是从栈底到栈顶。</a:t>
              </a:r>
            </a:p>
          </p:txBody>
        </p:sp>
      </p:grpSp>
      <p:grpSp>
        <p:nvGrpSpPr>
          <p:cNvPr id="65" name="c1-table-1"/>
          <p:cNvGrpSpPr/>
          <p:nvPr/>
        </p:nvGrpSpPr>
        <p:grpSpPr>
          <a:xfrm>
            <a:off x="533400" y="1928812"/>
            <a:ext cx="5410200" cy="3813810"/>
            <a:chOff x="533400" y="1928812"/>
            <a:chExt cx="5410200" cy="381381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7512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扫描到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5548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01936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运算符栈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19066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后缀表达式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31024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62668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8078" y="28089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31024" y="2808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进后缀式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62668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06634" y="2808923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31024" y="3189923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栈顶是左括号，压栈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62668" y="3189923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 +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06634" y="3189923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078" y="35718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31024" y="3571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进后缀式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62668" y="3571875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 +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06634" y="3571875"/>
              <a:ext cx="219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078" y="3952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31024" y="395287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弹栈至左括号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62668" y="3952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06634" y="3952875"/>
              <a:ext cx="346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2167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8078" y="4333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31024" y="43338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栈空，压栈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62668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306634" y="4333875"/>
              <a:ext cx="346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5939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8078" y="4715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31024" y="4715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62668" y="4715828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(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06634" y="4715828"/>
              <a:ext cx="346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9749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97967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8078" y="5096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31024" y="5096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062668" y="5096828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( (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306634" y="5096828"/>
              <a:ext cx="346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53559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8078" y="547878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331024" y="54787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进后缀式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062668" y="5478780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( (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306634" y="5478780"/>
              <a:ext cx="473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 C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1928812"/>
              <a:ext cx="5410200" cy="3813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231582" y="1928812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2963228" y="1928812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207192" y="1928812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5" name="c2-table-1"/>
          <p:cNvGrpSpPr/>
          <p:nvPr/>
        </p:nvGrpSpPr>
        <p:grpSpPr>
          <a:xfrm>
            <a:off x="6243447" y="1928812"/>
            <a:ext cx="5415153" cy="4450747"/>
            <a:chOff x="6243447" y="1928812"/>
            <a:chExt cx="5415153" cy="4450747"/>
          </a:xfrm>
        </p:grpSpPr>
        <p:sp>
          <p:nvSpPr>
            <p:cNvPr id="66" name="Rectangle 66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82512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扫描到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3522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746427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运算符栈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98811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后缀表达式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343079" y="25203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046024" y="2426970"/>
              <a:ext cx="10774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栈顶是左括号，压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507159" y="252031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( ( −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751124" y="2520315"/>
              <a:ext cx="473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 C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248400" y="28736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48400" y="287845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43079" y="299561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046024" y="299561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进后缀式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507159" y="2995612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( ( −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751124" y="2995612"/>
              <a:ext cx="6006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 C D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32546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343079" y="33766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046024" y="337661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弹栈至左括号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07159" y="3376612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(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751124" y="3376612"/>
              <a:ext cx="727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 C D −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36356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248400" y="364045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343079" y="38519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046024" y="3758565"/>
              <a:ext cx="10774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栈顶是左括号，压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507159" y="3851910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( ×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751124" y="3851910"/>
              <a:ext cx="727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 C D −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248400" y="42043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343079" y="432625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046024" y="43262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进后缀式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507159" y="4326255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( ×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751124" y="4326255"/>
              <a:ext cx="854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 C D − E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6248400" y="45853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6248400" y="459009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343079" y="47072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046024" y="4707255"/>
              <a:ext cx="957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先弹 ×，再压 +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507159" y="4707255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( +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751124" y="4707255"/>
              <a:ext cx="981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 C D − E ×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248400" y="49672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343079" y="508920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046024" y="508920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进后缀式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507159" y="5089208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( +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751124" y="5089208"/>
              <a:ext cx="11084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 C D − E × F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6248400" y="53482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248400" y="535305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343079" y="54702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046024" y="547020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弹栈至左括号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507159" y="547020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751124" y="5470208"/>
              <a:ext cx="12353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 C D − E × F +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6248400" y="57292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343079" y="58521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046024" y="585216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弹栈至栈空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507159" y="585216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9665970" y="5743575"/>
              <a:ext cx="198310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9751124" y="5852160"/>
              <a:ext cx="1362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+ C D − E × F + ×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6248400" y="1928812"/>
              <a:ext cx="5410200" cy="41871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6946582" y="1928812"/>
              <a:ext cx="9525" cy="41871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8407718" y="1928812"/>
              <a:ext cx="9525" cy="41871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9651682" y="1928812"/>
              <a:ext cx="9525" cy="41871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6243447" y="6188869"/>
              <a:ext cx="5023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检查办法是数一数，后缀式里操作数的次序应与中缀式完全相同，运算符个数也应相同</a:t>
              </a:r>
            </a:p>
          </p:txBody>
        </p:sp>
      </p:grpSp>
      <p:grpSp>
        <p:nvGrpSpPr>
          <p:cNvPr id="1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6" name="TextBox 12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19149" cy="909257"/>
            <a:chOff x="520446" y="342900"/>
            <a:chExt cx="65191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算术表达式求值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191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中缀转后缀的算法，以及它为什么是 O(n)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492240" cy="3308985"/>
            <a:chOff x="533400" y="1524000"/>
            <a:chExt cx="6492240" cy="33089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3308985"/>
            </a:xfrm>
            <a:prstGeom prst="roundRect">
              <a:avLst>
                <a:gd name="adj" fmla="val 287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843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InfixToPostfix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766"/>
              <a:ext cx="3679317" cy="28084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InfixToPostfix(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*P,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Stack&lt;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S;   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只存运算符和左括号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P[i];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(IsOperand(x)) Output(x);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操作数规则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(x ==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S.push(x);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括号规则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(x ==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')'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(S.peek() !=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Output(S.pop());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S.pop();            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丢掉左括号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               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运算符规则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(!S.empty() &amp;&amp; S.peek() !=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&amp;&amp; prio[x] &lt;= prio[S.peek()])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Output(S.pop());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S.push(x);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(!S.empty()) Output(S.pop());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结束符规则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023485"/>
            <a:ext cx="6492240" cy="1059180"/>
            <a:chOff x="533400" y="5023485"/>
            <a:chExt cx="6492240" cy="1059180"/>
          </a:xfrm>
        </p:grpSpPr>
        <p:sp>
          <p:nvSpPr>
            <p:cNvPr id="11" name="Rectangle 11"/>
            <p:cNvSpPr/>
            <p:nvPr/>
          </p:nvSpPr>
          <p:spPr>
            <a:xfrm>
              <a:off x="533400" y="5023485"/>
              <a:ext cx="649224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453063"/>
              <a:ext cx="200026" cy="200025"/>
              <a:chOff x="738188" y="5453063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4530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4975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6086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172075"/>
              <a:ext cx="53682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拿它跑 a + b × c：a 输出，+ 进栈，b 输出；读到 × 时栈顶是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+，prio 更小，while 不成立，× 直接进栈；c 输出后依次弹出 ×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 +，得 a b c × +。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7330440" y="1524000"/>
            <a:ext cx="4328160" cy="2773680"/>
            <a:chOff x="7330440" y="1524000"/>
            <a:chExt cx="4328160" cy="2773680"/>
          </a:xfrm>
        </p:grpSpPr>
        <p:sp>
          <p:nvSpPr>
            <p:cNvPr id="18" name="Rectangle 18"/>
            <p:cNvSpPr/>
            <p:nvPr/>
          </p:nvSpPr>
          <p:spPr>
            <a:xfrm>
              <a:off x="7330440" y="1524000"/>
              <a:ext cx="4328160" cy="2773680"/>
            </a:xfrm>
            <a:prstGeom prst="roundRect">
              <a:avLst>
                <a:gd name="adj" fmla="val 480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3999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624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82940" y="1768792"/>
              <a:ext cx="22022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 O(n)，空间 O(n)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545705" y="21926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03820" y="2129790"/>
              <a:ext cx="3501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每个元素最多进栈 1 次、出栈 1 次、入队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1 次，三项都是常数次，合起来 </a:t>
              </a:r>
              <a:r>
                <a:rPr lang="en-US" sz="150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545705" y="28136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03820" y="2750820"/>
              <a:ext cx="34537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里层 while 看着像双重循环，但它弹出的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每个运算符此前都被压入过一次，总弹出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次数不超过总压入次数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33513" y="3654266"/>
              <a:ext cx="36055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这种“看单次不是常数、看总量才是线性”的算法，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正是下一节均摊分析要处理的对象。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7330440" y="4488180"/>
            <a:ext cx="4328160" cy="1594485"/>
            <a:chOff x="7330440" y="4488180"/>
            <a:chExt cx="4328160" cy="1594485"/>
          </a:xfrm>
        </p:grpSpPr>
        <p:sp>
          <p:nvSpPr>
            <p:cNvPr id="28" name="Rectangle 28"/>
            <p:cNvSpPr/>
            <p:nvPr/>
          </p:nvSpPr>
          <p:spPr>
            <a:xfrm>
              <a:off x="7330440" y="4488180"/>
              <a:ext cx="4328160" cy="1594485"/>
            </a:xfrm>
            <a:prstGeom prst="roundRect">
              <a:avLst>
                <a:gd name="adj" fmla="val 716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535228" y="5185410"/>
              <a:ext cx="200026" cy="200026"/>
              <a:chOff x="7535228" y="5185410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535228" y="51854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635240" y="52520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624128" y="52854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837170" y="4904422"/>
              <a:ext cx="3444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运算符栈的最大深度等于括号嵌套层数加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上各层未完成的运算符个数，最坏是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O(n)，例如 ((((a+b)+c)+d)+e)。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算术表达式求值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两道真题：栈里此刻有什么，最多能有多少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421130"/>
            <a:chOff x="533400" y="1524000"/>
            <a:chExt cx="5410200" cy="14211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21130"/>
            </a:xfrm>
            <a:prstGeom prst="roundRect">
              <a:avLst>
                <a:gd name="adj" fmla="val 93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544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2744" y="173783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考研题（全国卷）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610151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 / b + (c × d − e × f) / g 转成后缀，扫描到 f 时栈中元素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61747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564606"/>
              <a:ext cx="4475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A. + ( × −　　B. 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( − ×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　　C. / + ( × −　　D. / + − ×</a:t>
              </a:r>
            </a:p>
          </p:txBody>
        </p:sp>
      </p:grpSp>
      <p:grpSp>
        <p:nvGrpSpPr>
          <p:cNvPr id="53" name="c1-table-2"/>
          <p:cNvGrpSpPr/>
          <p:nvPr/>
        </p:nvGrpSpPr>
        <p:grpSpPr>
          <a:xfrm>
            <a:off x="533400" y="3109912"/>
            <a:ext cx="5410200" cy="3050858"/>
            <a:chOff x="533400" y="3109912"/>
            <a:chExt cx="5410200" cy="3050858"/>
          </a:xfrm>
        </p:grpSpPr>
        <p:sp>
          <p:nvSpPr>
            <p:cNvPr id="15" name="Rectangle 15"/>
            <p:cNvSpPr/>
            <p:nvPr/>
          </p:nvSpPr>
          <p:spPr>
            <a:xfrm>
              <a:off x="533400" y="3109912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8474" y="32270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刚读完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14131" y="32270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运算符栈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28148" y="32270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8078" y="3609023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/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93901" y="36090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00744" y="360902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栈空，直接压栈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8681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8728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990023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+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93901" y="39900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00744" y="3990023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不高于 /，先弹出 /，再压 +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2491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4371022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 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93901" y="4371022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(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00744" y="437102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左括号压栈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6310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6358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47529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93901" y="4752975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( 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00744" y="475297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栈顶是左括号，压栈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50120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" y="5133975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−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93901" y="5133975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( −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00744" y="5133975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不高于 ×，先弹出 ×，再压 −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3930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53978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8078" y="551592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93901" y="5515928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( − 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00744" y="5515928"/>
              <a:ext cx="957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高于 −，压栈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7750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8078" y="5896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408748" y="5789295"/>
              <a:ext cx="138779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493901" y="5896928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( − 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900744" y="5896928"/>
              <a:ext cx="2789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B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109912"/>
              <a:ext cx="541020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394460" y="31099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2801302" y="31099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1"/>
          <p:cNvGrpSpPr/>
          <p:nvPr/>
        </p:nvGrpSpPr>
        <p:grpSpPr>
          <a:xfrm>
            <a:off x="6248400" y="1524000"/>
            <a:ext cx="5410200" cy="1421130"/>
            <a:chOff x="6248400" y="1524000"/>
            <a:chExt cx="5410200" cy="1421130"/>
          </a:xfrm>
        </p:grpSpPr>
        <p:sp>
          <p:nvSpPr>
            <p:cNvPr id="54" name="Rectangle 54"/>
            <p:cNvSpPr/>
            <p:nvPr/>
          </p:nvSpPr>
          <p:spPr>
            <a:xfrm>
              <a:off x="6248400" y="1524000"/>
              <a:ext cx="5410200" cy="1421130"/>
            </a:xfrm>
            <a:prstGeom prst="roundRect">
              <a:avLst>
                <a:gd name="adj" fmla="val 93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1657350"/>
              <a:ext cx="47625" cy="11544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67475" y="170497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33693" y="17378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课下思考（全国卷）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0998" y="2045494"/>
              <a:ext cx="472922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 + b − a × ((c + d) / e − f) + g 转成后缀，运算符栈中元素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最大个数是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77000" y="261747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32448" y="2564606"/>
              <a:ext cx="25664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A. 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　　B. 7　　C. 8　　D. 11</a:t>
              </a:r>
            </a:p>
          </p:txBody>
        </p:sp>
      </p:grpSp>
      <p:grpSp>
        <p:nvGrpSpPr>
          <p:cNvPr id="75" name="c2-steps-2"/>
          <p:cNvGrpSpPr/>
          <p:nvPr/>
        </p:nvGrpSpPr>
        <p:grpSpPr>
          <a:xfrm>
            <a:off x="6248400" y="3119438"/>
            <a:ext cx="5251571" cy="1596961"/>
            <a:chOff x="6248400" y="3119438"/>
            <a:chExt cx="5251571" cy="1596961"/>
          </a:xfrm>
        </p:grpSpPr>
        <p:sp>
          <p:nvSpPr>
            <p:cNvPr id="62" name="Rectangle 62"/>
            <p:cNvSpPr/>
            <p:nvPr/>
          </p:nvSpPr>
          <p:spPr>
            <a:xfrm>
              <a:off x="6381750" y="326231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6248400" y="31194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42024" y="3193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248400" y="36728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42024" y="37466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248400" y="42252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42024" y="42991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61023" y="315039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栈最长的那一刻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62166" y="3404235"/>
              <a:ext cx="38200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扫描到 (c + d 里的 d 时，栈里自底向上是 − × ( ( +，共 5 个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61023" y="37028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为什么不会更多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62166" y="3957638"/>
              <a:ext cx="4837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括号最深嵌套 2 层，括号外压着 − 和 ×，最内层括号里压着一个 +，合计 5 个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61023" y="42562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结束时怎样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62166" y="4511040"/>
              <a:ext cx="36292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最后遇到 + 时会把 × 和 − 一起弹出，栈重新回到 1 个元素</a:t>
              </a:r>
            </a:p>
          </p:txBody>
        </p:sp>
      </p:grpSp>
      <p:grpSp>
        <p:nvGrpSpPr>
          <p:cNvPr id="82" name="c2-callout-3"/>
          <p:cNvGrpSpPr/>
          <p:nvPr/>
        </p:nvGrpSpPr>
        <p:grpSpPr>
          <a:xfrm>
            <a:off x="6248400" y="4877752"/>
            <a:ext cx="5410200" cy="1283018"/>
            <a:chOff x="6248400" y="4877752"/>
            <a:chExt cx="5410200" cy="1283018"/>
          </a:xfrm>
        </p:grpSpPr>
        <p:sp>
          <p:nvSpPr>
            <p:cNvPr id="76" name="Rectangle 76"/>
            <p:cNvSpPr/>
            <p:nvPr/>
          </p:nvSpPr>
          <p:spPr>
            <a:xfrm>
              <a:off x="6248400" y="4877752"/>
              <a:ext cx="5410200" cy="1283018"/>
            </a:xfrm>
            <a:prstGeom prst="roundRect">
              <a:avLst>
                <a:gd name="adj" fmla="val 890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6453188" y="5418773"/>
              <a:ext cx="200026" cy="200026"/>
              <a:chOff x="6453188" y="5418773"/>
              <a:chExt cx="200026" cy="20002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453188" y="54187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553200" y="54854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542088" y="55187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6756273" y="5312569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这类题不必真的做完整转换，只要找出括号嵌套最深、且括号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内外都压着运算符的那一刻。脚本模拟的结果同样是 5。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算术表达式求值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把转换和求值合成一遍：两个栈直接算中缀式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282303" cy="264033"/>
            <a:chOff x="526542" y="1545907"/>
            <a:chExt cx="928230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282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中缀转后缀时，每产生一个运算符就立刻拿两个操作数做运算，不再写进后缀表达式，就能一遍扫描直接得到结果。</a:t>
              </a:r>
            </a:p>
          </p:txBody>
        </p:sp>
      </p:grpSp>
      <p:grpSp>
        <p:nvGrpSpPr>
          <p:cNvPr id="16" name="c1-bullets-1"/>
          <p:cNvGrpSpPr/>
          <p:nvPr/>
        </p:nvGrpSpPr>
        <p:grpSpPr>
          <a:xfrm>
            <a:off x="526923" y="1949291"/>
            <a:ext cx="4119055" cy="1379982"/>
            <a:chOff x="526923" y="1949291"/>
            <a:chExt cx="4119055" cy="1379982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两个栈各管一件事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27742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4096" y="2251234"/>
              <a:ext cx="2644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 是操作数栈，规则同后缀求值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57079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4096" y="2543651"/>
              <a:ext cx="27166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 是运算符栈，规则同中缀转后缀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286416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4096" y="2837021"/>
              <a:ext cx="38818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原来“把运算符写入后缀表达式”的动作，换成“从 NUM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弹两个数做运算，结果压回 NUM”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444240"/>
            <a:ext cx="4328160" cy="702945"/>
            <a:chOff x="533400" y="3444240"/>
            <a:chExt cx="4328160" cy="702945"/>
          </a:xfrm>
        </p:grpSpPr>
        <p:sp>
          <p:nvSpPr>
            <p:cNvPr id="17" name="Rectangle 17"/>
            <p:cNvSpPr/>
            <p:nvPr/>
          </p:nvSpPr>
          <p:spPr>
            <a:xfrm>
              <a:off x="533400" y="3444240"/>
              <a:ext cx="432816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26129" y="3691056"/>
              <a:ext cx="224134" cy="192560"/>
              <a:chOff x="726129" y="3691056"/>
              <a:chExt cx="224134" cy="1925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38200" y="376142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6129" y="369105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38392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1273" y="3588544"/>
              <a:ext cx="34023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弹操作数的次序仍然是先弹 b 后弹 a，算的是 a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运算 b。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5161407" y="1928812"/>
            <a:ext cx="6497193" cy="3501104"/>
            <a:chOff x="5161407" y="1928812"/>
            <a:chExt cx="6497193" cy="3501104"/>
          </a:xfrm>
        </p:grpSpPr>
        <p:sp>
          <p:nvSpPr>
            <p:cNvPr id="24" name="Rectangle 24"/>
            <p:cNvSpPr/>
            <p:nvPr/>
          </p:nvSpPr>
          <p:spPr>
            <a:xfrm>
              <a:off x="5166360" y="1928812"/>
              <a:ext cx="649224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338572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扫描到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188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53194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操作数栈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86682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运算符栈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61038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40184" y="2426970"/>
              <a:ext cx="614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压入 NUM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8630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166360" y="26870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66360" y="269176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61038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40184" y="2808923"/>
              <a:ext cx="5323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压入 OP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8630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84561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166360" y="30680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61038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40184" y="3189923"/>
              <a:ext cx="614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压入 NUM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86304" y="3189923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84561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66360" y="34490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166360" y="3453765"/>
              <a:ext cx="649224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61038" y="366522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40184" y="3571875"/>
              <a:ext cx="267100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不高于 ×：弹出 ×，弹出 3 和 2，算 2 × 3 =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压回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86304" y="36652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166360" y="401764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40184" y="4139565"/>
              <a:ext cx="9775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再把 + 压入 OP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86304" y="41395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84561" y="41395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166360" y="439864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166360" y="4403408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61038" y="45205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40184" y="4520565"/>
              <a:ext cx="614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压入 NUM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86304" y="4520565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584561" y="45205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166360" y="47805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61038" y="49025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40184" y="4902518"/>
              <a:ext cx="2470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 +，弹出 1 和 6，算 6 + 1 = 7 压回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201150" y="4794885"/>
              <a:ext cx="127920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286304" y="490251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166360" y="1928812"/>
              <a:ext cx="6492240" cy="3237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940742" y="1928812"/>
              <a:ext cx="9525" cy="3237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186862" y="1928812"/>
              <a:ext cx="9525" cy="3237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485120" y="1928812"/>
              <a:ext cx="9525" cy="3237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161407" y="5239226"/>
              <a:ext cx="36100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中缀式 2 × 3 + 1 的逐步求值，结束后 NUM 的栈顶 7 就是答案</a:t>
              </a:r>
            </a:p>
          </p:txBody>
        </p:sp>
      </p:grpSp>
      <p:grpSp>
        <p:nvGrpSpPr>
          <p:cNvPr id="74" name="c2-callout-2"/>
          <p:cNvGrpSpPr/>
          <p:nvPr/>
        </p:nvGrpSpPr>
        <p:grpSpPr>
          <a:xfrm>
            <a:off x="5166360" y="5556885"/>
            <a:ext cx="6492240" cy="702945"/>
            <a:chOff x="5166360" y="5556885"/>
            <a:chExt cx="6492240" cy="702945"/>
          </a:xfrm>
        </p:grpSpPr>
        <p:sp>
          <p:nvSpPr>
            <p:cNvPr id="69" name="Rectangle 69"/>
            <p:cNvSpPr/>
            <p:nvPr/>
          </p:nvSpPr>
          <p:spPr>
            <a:xfrm>
              <a:off x="5166360" y="5556885"/>
              <a:ext cx="649224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5371148" y="5808347"/>
              <a:ext cx="200023" cy="200023"/>
              <a:chOff x="5371148" y="5808347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5371148" y="58083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5504498" y="58750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5674233" y="5701189"/>
              <a:ext cx="55399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算法结束的标志是运算符栈被清空，此时操作数栈里应当正好剩一个元素。剩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下的个数不对，说明表达式本身有问题。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62721" cy="909257"/>
            <a:chOff x="520446" y="342900"/>
            <a:chExt cx="72627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算术表达式求值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627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写成能提交的代码：LeetCode 772 基本计算器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954819" cy="278702"/>
            <a:chOff x="526161" y="1547336"/>
            <a:chExt cx="995481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9548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表达式串只含非负整数、四则运算符和括号，整数除法向下截断。相比前一页，多出来的难点是多位数字要先拼出来。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6492240" cy="4204335"/>
            <a:chOff x="533400" y="1941195"/>
            <a:chExt cx="6492240" cy="420433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492240" cy="4204335"/>
            </a:xfrm>
            <a:prstGeom prst="roundRect">
              <a:avLst>
                <a:gd name="adj" fmla="val 22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6263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calculate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1484"/>
              <a:ext cx="3791966" cy="3702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p[128] = {0}; 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运算符优先级表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Stack&lt;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&gt; NUM;   Stack&lt;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&gt; OP;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calculate(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len = strlen(s);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p[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'+'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 = p[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'-'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 = 1;  p[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'*'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 = p[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'/'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 = 2;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len; i++)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(s[i] &gt;=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'0'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s[i] &lt;=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'9'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拼出一个多位整数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temp = 0;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len &amp;&amp; s[i] &gt;=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'0'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s[i] &lt;=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'9'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temp = temp * 10 + s[i++] -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'0'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  NUM.push(temp);  i--;               /* 多读了一位，退回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(s[i] ==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OP.push(s[i]);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(s[i] ==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')'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(OP.peek() !=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operation(NUM, OP);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OP.pop();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(!OP.empty() &amp;&amp; OP.peek() !=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&amp;&amp; p[s[i]] &lt;= p[OP.peek()])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operation(NUM, OP);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OP.push(s[i]);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(!OP.empty()) operation(NUM, OP);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NUM.peek();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7330440" y="1941195"/>
            <a:ext cx="4328160" cy="1789748"/>
            <a:chOff x="7330440" y="1941195"/>
            <a:chExt cx="4328160" cy="1789748"/>
          </a:xfrm>
        </p:grpSpPr>
        <p:sp>
          <p:nvSpPr>
            <p:cNvPr id="13" name="Rectangle 13"/>
            <p:cNvSpPr/>
            <p:nvPr/>
          </p:nvSpPr>
          <p:spPr>
            <a:xfrm>
              <a:off x="7330440" y="1941195"/>
              <a:ext cx="4328160" cy="1789748"/>
            </a:xfrm>
            <a:prstGeom prst="roundRect">
              <a:avLst>
                <a:gd name="adj" fmla="val 53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58837" y="2093119"/>
              <a:ext cx="660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operation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9028" y="2351484"/>
              <a:ext cx="2768600" cy="1290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operation(Stack&lt;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&gt; &amp;NUM, Stack&lt;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&gt; &amp;OP)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= OP.pop();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= NUM.pop();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先弹的是右操作数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= NUM.pop();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(t ==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'+'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NUM.push(a + b);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'-'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NUM.push(a - b);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'*'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NUM.push(a * b);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NUM.push(a / b);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7330440" y="3906202"/>
            <a:ext cx="4328160" cy="2328862"/>
            <a:chOff x="7330440" y="3906202"/>
            <a:chExt cx="4328160" cy="2328862"/>
          </a:xfrm>
        </p:grpSpPr>
        <p:sp>
          <p:nvSpPr>
            <p:cNvPr id="17" name="Rectangle 17"/>
            <p:cNvSpPr/>
            <p:nvPr/>
          </p:nvSpPr>
          <p:spPr>
            <a:xfrm>
              <a:off x="7330440" y="3906202"/>
              <a:ext cx="4328160" cy="2328862"/>
            </a:xfrm>
            <a:prstGeom prst="roundRect">
              <a:avLst>
                <a:gd name="adj" fmla="val 572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22845" y="4098608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90282" y="413289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三个容易错的地方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522845" y="444341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78523" y="44817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03642" y="4454842"/>
              <a:ext cx="34341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内层 while 拼数字时 i 会多走一格，循环外必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须 </a:t>
              </a:r>
              <a:r>
                <a:rPr lang="en-US" sz="135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i--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522845" y="500253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78523" y="504091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3642" y="5014912"/>
              <a:ext cx="34598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优先级表 p 的下标是字符，数组要开到 128，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且左括号的优先级不参与比较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522845" y="556260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78523" y="56009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03642" y="5574983"/>
              <a:ext cx="34169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判断条件里 </a:t>
              </a:r>
              <a:r>
                <a:rPr lang="en-US" sz="135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OP.peek() != '('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不能漏，否则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会把左括号当成运算符弹出去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47007" cy="3351847"/>
            <a:chOff x="667512" y="1835468"/>
            <a:chExt cx="424700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栈扩容与栈混洗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一个关于代价的问题，一个关于计数的问题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容量加倍与容量递增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68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均摊时间 O(1) 的来历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合法出栈序列的甄别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栈混洗总数是卡特兰数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栈扩容与栈混洗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顺序栈满了怎么办：换一个更大的数组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2665654" cy="2529173"/>
            <a:chOff x="533400" y="1533525"/>
            <a:chExt cx="2665654" cy="252917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申请一个更大的数组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新数组的容量由扩容策略决定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把原栈内容拷贝过去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逐个元素赋值，共 size 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释放原来的数组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归还这段空间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2044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把新数组作为栈空间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1333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指针指向新数组，容量更新</a:t>
              </a:r>
            </a:p>
          </p:txBody>
        </p:sp>
      </p:grpSp>
      <p:grpSp>
        <p:nvGrpSpPr>
          <p:cNvPr id="47" name="c1-cells-2"/>
          <p:cNvGrpSpPr/>
          <p:nvPr/>
        </p:nvGrpSpPr>
        <p:grpSpPr>
          <a:xfrm>
            <a:off x="526923" y="4241482"/>
            <a:ext cx="4110799" cy="1009650"/>
            <a:chOff x="526923" y="4241482"/>
            <a:chExt cx="4110799" cy="1009650"/>
          </a:xfrm>
        </p:grpSpPr>
        <p:sp>
          <p:nvSpPr>
            <p:cNvPr id="25" name="TextBox 25"/>
            <p:cNvSpPr txBox="1"/>
            <p:nvPr/>
          </p:nvSpPr>
          <p:spPr>
            <a:xfrm>
              <a:off x="526923" y="437149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原数组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54430" y="4241482"/>
              <a:ext cx="4352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66564" y="437149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589722" y="4241482"/>
              <a:ext cx="4352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701857" y="437149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025015" y="4241482"/>
              <a:ext cx="4352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137149" y="437149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460308" y="4241482"/>
              <a:ext cx="4352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572442" y="437149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6923" y="496204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新数组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54430" y="4832032"/>
              <a:ext cx="4352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66564" y="496204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589722" y="4832032"/>
              <a:ext cx="4352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701857" y="496204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025015" y="4832032"/>
              <a:ext cx="4352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137149" y="496204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460308" y="4832032"/>
              <a:ext cx="4352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572442" y="496204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895600" y="4832032"/>
              <a:ext cx="43529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3331845" y="4832032"/>
              <a:ext cx="43529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3767138" y="4832032"/>
              <a:ext cx="43529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4202430" y="4832032"/>
              <a:ext cx="43529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</p:grpSp>
      <p:grpSp>
        <p:nvGrpSpPr>
          <p:cNvPr id="51" name="c2-code-1"/>
          <p:cNvGrpSpPr/>
          <p:nvPr/>
        </p:nvGrpSpPr>
        <p:grpSpPr>
          <a:xfrm>
            <a:off x="5815965" y="1524000"/>
            <a:ext cx="5842635" cy="2440305"/>
            <a:chOff x="5815965" y="1524000"/>
            <a:chExt cx="5842635" cy="2440305"/>
          </a:xfrm>
        </p:grpSpPr>
        <p:sp>
          <p:nvSpPr>
            <p:cNvPr id="48" name="Rectangle 48"/>
            <p:cNvSpPr/>
            <p:nvPr/>
          </p:nvSpPr>
          <p:spPr>
            <a:xfrm>
              <a:off x="5815965" y="1524000"/>
              <a:ext cx="5842635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44362" y="1675924"/>
              <a:ext cx="2034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Push，满了先扩容再压入，已更正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944362" y="1935956"/>
              <a:ext cx="4067302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stack::Push(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item)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(IsFull())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 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[2 * size];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容量加倍策略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size;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B[i] = A[i];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元素拷贝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delete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A;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数组要用 delete[]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 = B;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size *= 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A[++top] = item;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实际的压栈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5815965" y="4154805"/>
            <a:ext cx="5842635" cy="1631632"/>
            <a:chOff x="5815965" y="4154805"/>
            <a:chExt cx="5842635" cy="1631632"/>
          </a:xfrm>
        </p:grpSpPr>
        <p:sp>
          <p:nvSpPr>
            <p:cNvPr id="52" name="Rectangle 52"/>
            <p:cNvSpPr/>
            <p:nvPr/>
          </p:nvSpPr>
          <p:spPr>
            <a:xfrm>
              <a:off x="5815965" y="4154805"/>
              <a:ext cx="5842635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25490" y="4288155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63615" y="43643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53823" y="44000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3690" y="4399598"/>
              <a:ext cx="2124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原课件写的是 delete 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55995" y="4760595"/>
              <a:ext cx="5034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空间由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new int[2 * size]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申请，释放时必须写成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delete[]</a:t>
              </a:r>
              <a:br/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。写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delete A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只按单个对象释放，是未定义行为。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57138" y="5378291"/>
              <a:ext cx="38383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把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2 * size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换成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size + d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，就是另一种扩容策略。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57901" cy="909257"/>
            <a:chOff x="520446" y="342900"/>
            <a:chExt cx="79579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栈扩容与栈混洗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579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加倍还是递增：一次 PUSH 的均摊代价差一个数量级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551719" cy="264033"/>
            <a:chOff x="526542" y="1545907"/>
            <a:chExt cx="1055171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551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基本运算取“元素的赋值”。一次 PUSH 最坏要拷贝整个栈，是 O(n)，但最坏情况不可能每次都发生，所以要看 n 次操作的总代价。</a:t>
              </a:r>
            </a:p>
          </p:txBody>
        </p:sp>
      </p:grpSp>
      <p:grpSp>
        <p:nvGrpSpPr>
          <p:cNvPr id="43" name="c1-table-1"/>
          <p:cNvGrpSpPr/>
          <p:nvPr/>
        </p:nvGrpSpPr>
        <p:grpSpPr>
          <a:xfrm>
            <a:off x="528447" y="1928812"/>
            <a:ext cx="5415153" cy="2933414"/>
            <a:chOff x="528447" y="1928812"/>
            <a:chExt cx="5415153" cy="2933414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0795" y="2045970"/>
              <a:ext cx="685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PUSH 次数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17673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元素拷贝赋值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81716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实际压栈赋值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7356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0285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66897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27356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0285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6897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27356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0285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66897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27356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0285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66897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86541" y="39528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63983" y="3952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28025" y="3952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2167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86541" y="43338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63983" y="4333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28025" y="4333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928812"/>
              <a:ext cx="5410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20980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074795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8447" y="4671536"/>
              <a:ext cx="42502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容量加倍，初始容量 1。共 n = 2ᵏ⁺¹ 次 PUSH，总赋值 2ᵏ⁺² − 1 = 2n − 1</a:t>
              </a:r>
            </a:p>
          </p:txBody>
        </p:sp>
      </p:grpSp>
      <p:grpSp>
        <p:nvGrpSpPr>
          <p:cNvPr id="49" name="c1-callout-2"/>
          <p:cNvGrpSpPr/>
          <p:nvPr/>
        </p:nvGrpSpPr>
        <p:grpSpPr>
          <a:xfrm>
            <a:off x="533400" y="4988242"/>
            <a:ext cx="5410200" cy="467678"/>
            <a:chOff x="533400" y="4988242"/>
            <a:chExt cx="5410200" cy="467678"/>
          </a:xfrm>
        </p:grpSpPr>
        <p:sp>
          <p:nvSpPr>
            <p:cNvPr id="44" name="Rectangle 44"/>
            <p:cNvSpPr/>
            <p:nvPr/>
          </p:nvSpPr>
          <p:spPr>
            <a:xfrm>
              <a:off x="533400" y="4988242"/>
              <a:ext cx="5410200" cy="467678"/>
            </a:xfrm>
            <a:prstGeom prst="roundRect">
              <a:avLst>
                <a:gd name="adj" fmla="val 2444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122545"/>
              <a:ext cx="200026" cy="200026"/>
              <a:chOff x="738188" y="5122545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122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04863" y="520033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5133499"/>
              <a:ext cx="39108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n 次 PUSH 总时间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，每次 PUSH 均摊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4" name="c2-table-1"/>
          <p:cNvGrpSpPr/>
          <p:nvPr/>
        </p:nvGrpSpPr>
        <p:grpSpPr>
          <a:xfrm>
            <a:off x="6243447" y="1928812"/>
            <a:ext cx="5415153" cy="2933414"/>
            <a:chOff x="6243447" y="1928812"/>
            <a:chExt cx="5415153" cy="2933414"/>
          </a:xfrm>
        </p:grpSpPr>
        <p:sp>
          <p:nvSpPr>
            <p:cNvPr id="50" name="Rectangle 50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5796" y="2045970"/>
              <a:ext cx="685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PUSH 次数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2673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元素拷贝赋值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96716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实际压栈赋值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42356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1785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681897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48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42356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1785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81897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042356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78983" y="3189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681897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48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42356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778983" y="3571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681897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001541" y="39528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778983" y="3952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643025" y="3952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248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48400" y="42167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042356" y="4333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623497" y="433387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(k−1)d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681897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248400" y="1928812"/>
              <a:ext cx="5410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92480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9789795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243447" y="4671536"/>
              <a:ext cx="43558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容量递增，每次多给 d 个单元。共 n = kd 次 PUSH，拷贝总数约 n² / (2d)</a:t>
              </a:r>
            </a:p>
          </p:txBody>
        </p:sp>
      </p:grpSp>
      <p:grpSp>
        <p:nvGrpSpPr>
          <p:cNvPr id="91" name="c2-callout-2"/>
          <p:cNvGrpSpPr/>
          <p:nvPr/>
        </p:nvGrpSpPr>
        <p:grpSpPr>
          <a:xfrm>
            <a:off x="6248400" y="4988242"/>
            <a:ext cx="5410200" cy="467678"/>
            <a:chOff x="6248400" y="4988242"/>
            <a:chExt cx="5410200" cy="467678"/>
          </a:xfrm>
        </p:grpSpPr>
        <p:sp>
          <p:nvSpPr>
            <p:cNvPr id="85" name="Rectangle 85"/>
            <p:cNvSpPr/>
            <p:nvPr/>
          </p:nvSpPr>
          <p:spPr>
            <a:xfrm>
              <a:off x="6248400" y="4988242"/>
              <a:ext cx="5410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6441129" y="5118853"/>
              <a:ext cx="224134" cy="192560"/>
              <a:chOff x="6441129" y="5118853"/>
              <a:chExt cx="224134" cy="19256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6553200" y="51892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6441129" y="51188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6553200" y="5267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6756273" y="5133499"/>
              <a:ext cx="40008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n 次 PUSH 总时间 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O(n²)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，每次 PUSH 均摊 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97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92" name="Rectangle 92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1041273" y="5805011"/>
              <a:ext cx="996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均摊 O(1) 的前提是“从空栈开始连续做 n 次 PUSH”。单看一次操作，加倍策略的最坏情况仍是 O(n)。C++ STL 的 vector 用的就是加倍类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策略，Visual Studio 每次 1.5 倍，GCC 每次 2 倍。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栈扩容与栈混洗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栈混洗：进栈过程中就可以出栈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910257" cy="293370"/>
            <a:chOff x="525780" y="1548765"/>
            <a:chExt cx="8910257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9102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入栈序列固定为 a₁ a₂ … aₙ，中间可以随时出栈。这样得到的出栈序列，称为原序列的一个栈混洗。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1954530"/>
            <a:ext cx="4760595" cy="2300764"/>
            <a:chOff x="533400" y="1954530"/>
            <a:chExt cx="4760595" cy="2300764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22189" r="0" b="22189"/>
            <a:stretch>
              <a:fillRect/>
            </a:stretch>
          </p:blipFill>
          <p:spPr>
            <a:xfrm>
              <a:off x="533400" y="1954530"/>
              <a:ext cx="4760595" cy="1985962"/>
            </a:xfrm>
            <a:prstGeom prst="roundRect">
              <a:avLst>
                <a:gd name="adj" fmla="val 6714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249464" y="403526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尽头式侧线，车厢只能从同一个口推进去、拉出来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415790"/>
            <a:ext cx="4760595" cy="1838325"/>
            <a:chOff x="533400" y="4415790"/>
            <a:chExt cx="4760595" cy="1838325"/>
          </a:xfrm>
        </p:grpSpPr>
        <p:sp>
          <p:nvSpPr>
            <p:cNvPr id="12" name="Rectangle 12"/>
            <p:cNvSpPr/>
            <p:nvPr/>
          </p:nvSpPr>
          <p:spPr>
            <a:xfrm>
              <a:off x="533400" y="4415790"/>
              <a:ext cx="4760595" cy="1838325"/>
            </a:xfrm>
            <a:prstGeom prst="roundRect">
              <a:avLst>
                <a:gd name="adj" fmla="val 725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37235" y="461962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9544" y="46553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两个问题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37235" y="498062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5580" y="502000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8128" y="499252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甄别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：给定的排列是不是合法的出栈序列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37235" y="530066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5580" y="53400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8128" y="531256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计数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：一共有多少种可能的出栈序列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5598795" y="1954530"/>
            <a:ext cx="6059805" cy="1022032"/>
            <a:chOff x="5598795" y="1954530"/>
            <a:chExt cx="6059805" cy="1022032"/>
          </a:xfrm>
        </p:grpSpPr>
        <p:sp>
          <p:nvSpPr>
            <p:cNvPr id="22" name="Rectangle 22"/>
            <p:cNvSpPr/>
            <p:nvPr/>
          </p:nvSpPr>
          <p:spPr>
            <a:xfrm>
              <a:off x="5598795" y="1954530"/>
              <a:ext cx="6059805" cy="1022032"/>
            </a:xfrm>
            <a:prstGeom prst="roundRect">
              <a:avLst>
                <a:gd name="adj" fmla="val 13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608320" y="2087880"/>
              <a:ext cx="47625" cy="755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840730" y="215836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01385" y="219408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例题（阿里笔试题）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37501" y="2197894"/>
              <a:ext cx="39855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A、B、C、D 顺序进栈，出栈次序错误的排列是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848350" y="260985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04941" y="2550319"/>
              <a:ext cx="48284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A. A B C D　　B. A C B D　　C. B C D A　　D. </a:t>
              </a: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C A B</a:t>
              </a:r>
            </a:p>
          </p:txBody>
        </p:sp>
      </p:grpSp>
      <p:grpSp>
        <p:nvGrpSpPr>
          <p:cNvPr id="55" name="c2-table-2"/>
          <p:cNvGrpSpPr/>
          <p:nvPr/>
        </p:nvGrpSpPr>
        <p:grpSpPr>
          <a:xfrm>
            <a:off x="5598795" y="3161348"/>
            <a:ext cx="6059805" cy="2151697"/>
            <a:chOff x="5598795" y="3161348"/>
            <a:chExt cx="6059805" cy="2151697"/>
          </a:xfrm>
        </p:grpSpPr>
        <p:sp>
          <p:nvSpPr>
            <p:cNvPr id="30" name="Rectangle 30"/>
            <p:cNvSpPr/>
            <p:nvPr/>
          </p:nvSpPr>
          <p:spPr>
            <a:xfrm>
              <a:off x="5598795" y="3161348"/>
              <a:ext cx="605980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76938" y="329279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45046" y="32927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能否实现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26258" y="329279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操作序列或失败原因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04142" y="3723322"/>
              <a:ext cx="567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94754" y="372332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64399" y="37233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每进一个就出一个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598795" y="40176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598795" y="402240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04142" y="4152900"/>
              <a:ext cx="567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C B 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94754" y="415290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64399" y="4152900"/>
              <a:ext cx="27700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进出；B、C 进，C 出、B 出；D 进出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44472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704142" y="4583430"/>
              <a:ext cx="567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 D 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94754" y="458343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64399" y="4583430"/>
              <a:ext cx="27700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 进，B 出；C 进出；D 进出；A 出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48777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598795" y="488251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04142" y="5013960"/>
              <a:ext cx="567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C A B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98932" y="4892040"/>
              <a:ext cx="950595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94754" y="50139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64399" y="5013960"/>
              <a:ext cx="3373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先出说明四个都在栈里，只能按 D C B A 出栈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598795" y="3161348"/>
              <a:ext cx="605980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84645" y="316134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654290" y="316134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llout-3"/>
          <p:cNvGrpSpPr/>
          <p:nvPr/>
        </p:nvGrpSpPr>
        <p:grpSpPr>
          <a:xfrm>
            <a:off x="5598795" y="5497830"/>
            <a:ext cx="6059805" cy="756285"/>
            <a:chOff x="5598795" y="5497830"/>
            <a:chExt cx="6059805" cy="756285"/>
          </a:xfrm>
        </p:grpSpPr>
        <p:sp>
          <p:nvSpPr>
            <p:cNvPr id="56" name="Rectangle 56"/>
            <p:cNvSpPr/>
            <p:nvPr/>
          </p:nvSpPr>
          <p:spPr>
            <a:xfrm>
              <a:off x="5598795" y="5497830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5803583" y="5775960"/>
              <a:ext cx="200026" cy="200026"/>
              <a:chOff x="5803583" y="5775960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5803583" y="57759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903595" y="58426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892483" y="58759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105906" y="5644991"/>
              <a:ext cx="508203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常见的误解是“必须全部进栈再出栈”。题干明确说进栈过程中也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可以出栈，所以 B C D A 这种合法。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栈扩容与栈混洗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甄别方法一：用一个栈把混洗过程重演一遍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440305"/>
            <a:chOff x="533400" y="1524000"/>
            <a:chExt cx="6059805" cy="2440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4245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check，判断 b 是否为 a 的合法出栈序列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129532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check(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stack s;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0;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k 扫描入栈序列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i 扫描出栈序列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(s.empty() || s.peek() != b[i])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n) s.push(a[k++]);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入栈序列用完还配不上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s.pop();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154805"/>
            <a:ext cx="6059805" cy="1744980"/>
            <a:chOff x="533400" y="4154805"/>
            <a:chExt cx="6059805" cy="1744980"/>
          </a:xfrm>
        </p:grpSpPr>
        <p:sp>
          <p:nvSpPr>
            <p:cNvPr id="11" name="Rectangle 11"/>
            <p:cNvSpPr/>
            <p:nvPr/>
          </p:nvSpPr>
          <p:spPr>
            <a:xfrm>
              <a:off x="533400" y="4154805"/>
              <a:ext cx="6059805" cy="1744980"/>
            </a:xfrm>
            <a:prstGeom prst="roundRect">
              <a:avLst>
                <a:gd name="adj" fmla="val 655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4927285"/>
              <a:ext cx="200023" cy="200023"/>
              <a:chOff x="738188" y="4927285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9272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49939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130" y="4784408"/>
              <a:ext cx="493395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每个元素最多进栈一次、出栈一次，时间 </a:t>
              </a:r>
              <a:r>
                <a:rPr lang="en-US" sz="150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，额外空间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O(n)。</a:t>
              </a:r>
            </a:p>
          </p:txBody>
        </p:sp>
      </p:grpSp>
      <p:grpSp>
        <p:nvGrpSpPr>
          <p:cNvPr id="30" name="c2-bullets-1"/>
          <p:cNvGrpSpPr/>
          <p:nvPr/>
        </p:nvGrpSpPr>
        <p:grpSpPr>
          <a:xfrm>
            <a:off x="6890385" y="1548765"/>
            <a:ext cx="4847082" cy="1967865"/>
            <a:chOff x="6890385" y="1548765"/>
            <a:chExt cx="4847082" cy="1967865"/>
          </a:xfrm>
        </p:grpSpPr>
        <p:sp>
          <p:nvSpPr>
            <p:cNvPr id="17" name="TextBox 17"/>
            <p:cNvSpPr txBox="1"/>
            <p:nvPr/>
          </p:nvSpPr>
          <p:spPr>
            <a:xfrm>
              <a:off x="6890385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898005" y="188976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59854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98995" y="1903095"/>
              <a:ext cx="3730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扫描出栈序列，当前期望出栈的元素是 bᵢ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898005" y="223456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59854" y="22768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98995" y="2247900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若栈顶正好等于 bᵢ，符合预期，弹掉它，继续看下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898005" y="286512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59854" y="29074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98995" y="2878455"/>
              <a:ext cx="4538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否则把入栈序列的元素逐个压栈，直到栈顶等于 bᵢ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898005" y="320992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59854" y="32522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98995" y="3223260"/>
              <a:ext cx="393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入栈序列压完了栈顶仍不等于 bᵢ，判定非法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898005" y="3648075"/>
            <a:ext cx="4760595" cy="2251710"/>
            <a:chOff x="6898005" y="3648075"/>
            <a:chExt cx="4760595" cy="2251710"/>
          </a:xfrm>
        </p:grpSpPr>
        <p:sp>
          <p:nvSpPr>
            <p:cNvPr id="31" name="Rectangle 31"/>
            <p:cNvSpPr/>
            <p:nvPr/>
          </p:nvSpPr>
          <p:spPr>
            <a:xfrm>
              <a:off x="6898005" y="3648075"/>
              <a:ext cx="4760595" cy="2251710"/>
            </a:xfrm>
            <a:prstGeom prst="roundRect">
              <a:avLst>
                <a:gd name="adj" fmla="val 59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07530" y="3781425"/>
              <a:ext cx="47625" cy="19850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45655" y="3857625"/>
              <a:ext cx="18630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95109" y="3893344"/>
              <a:ext cx="17641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2018 年考研题（全国卷）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38035" y="4234815"/>
              <a:ext cx="3872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至 6 依次进栈，不可能得到的出栈序列是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151370" y="46520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09485" y="4589145"/>
              <a:ext cx="30647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1 2 5 6 4 3　　B. 2 3 4 5 6 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151370" y="49872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09485" y="4924425"/>
              <a:ext cx="3058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C.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3 4 5 6 1 2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　　D. 6 5 4 3 2 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39178" y="5256371"/>
              <a:ext cx="40119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里 3 先出栈，说明 1 和 2 还压在栈里且 2 在 1 上面，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 2 必须比 1 先出，而 C 给的次序是 1 在 2 前面。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72686" cy="909257"/>
            <a:chOff x="520446" y="342900"/>
            <a:chExt cx="66726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栈扩容与栈混洗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726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甄别方法二：出栈序列里不能出现 312 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816196" cy="278702"/>
            <a:chOff x="526161" y="1547336"/>
            <a:chExt cx="581619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8161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入栈序列为 1, 2, …, n 时，只看出栈序列本身就能判断，不必模拟。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41195"/>
            <a:ext cx="5193982" cy="1697355"/>
            <a:chOff x="533400" y="1941195"/>
            <a:chExt cx="5193982" cy="169735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193982" cy="1697355"/>
            </a:xfrm>
            <a:prstGeom prst="roundRect">
              <a:avLst>
                <a:gd name="adj" fmla="val 7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4306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7344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充要条件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14297" y="2173605"/>
              <a:ext cx="749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312 模式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4199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出栈序列合法，当且仅当不存在位置 i &lt; j &lt; k 使得 bᵢ &gt; bₖ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bⱼ。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8190" y="3063716"/>
              <a:ext cx="443509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也就是说，三个元素按“大、最小、中”的次序出现，这个序列就一定非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32" name="c1-cells-2"/>
          <p:cNvGrpSpPr/>
          <p:nvPr/>
        </p:nvGrpSpPr>
        <p:grpSpPr>
          <a:xfrm>
            <a:off x="527685" y="3813810"/>
            <a:ext cx="3641407" cy="381000"/>
            <a:chOff x="527685" y="3813810"/>
            <a:chExt cx="3641407" cy="381000"/>
          </a:xfrm>
        </p:grpSpPr>
        <p:sp>
          <p:nvSpPr>
            <p:cNvPr id="17" name="TextBox 17"/>
            <p:cNvSpPr txBox="1"/>
            <p:nvPr/>
          </p:nvSpPr>
          <p:spPr>
            <a:xfrm>
              <a:off x="527685" y="39352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出栈序列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235392" y="38138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95691" y="39352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654492" y="3813810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71255" y="393525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73592" y="38138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33891" y="39352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492692" y="3813810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609455" y="393525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bⱼ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911792" y="38138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072091" y="39352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330892" y="3813810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447655" y="393525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bₖ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749992" y="38138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10291" y="39352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4371022"/>
            <a:ext cx="5193982" cy="1803082"/>
            <a:chOff x="533400" y="4371022"/>
            <a:chExt cx="5193982" cy="1803082"/>
          </a:xfrm>
        </p:grpSpPr>
        <p:sp>
          <p:nvSpPr>
            <p:cNvPr id="33" name="Rectangle 33"/>
            <p:cNvSpPr/>
            <p:nvPr/>
          </p:nvSpPr>
          <p:spPr>
            <a:xfrm>
              <a:off x="533400" y="4371022"/>
              <a:ext cx="5193982" cy="1803082"/>
            </a:xfrm>
            <a:prstGeom prst="roundRect">
              <a:avLst>
                <a:gd name="adj" fmla="val 633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172075"/>
              <a:ext cx="200026" cy="200026"/>
              <a:chOff x="738188" y="5172075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1720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238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52720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4929188"/>
              <a:ext cx="431711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为什么成立：bᵢ 先出栈，说明比它小的 bⱼ 和 bₖ 此刻都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压在栈里；入栈序列递增，所以小的 bⱼ 在下面、大的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bₖ 在上面，bₖ 必须先出。而 j &lt; k 要求 bⱼ 先出，矛盾。</a:t>
              </a:r>
            </a:p>
          </p:txBody>
        </p:sp>
      </p:grpSp>
      <p:grpSp>
        <p:nvGrpSpPr>
          <p:cNvPr id="74" name="c2-table-1"/>
          <p:cNvGrpSpPr/>
          <p:nvPr/>
        </p:nvGrpSpPr>
        <p:grpSpPr>
          <a:xfrm>
            <a:off x="6026848" y="1941195"/>
            <a:ext cx="5631752" cy="3120962"/>
            <a:chOff x="6026848" y="1941195"/>
            <a:chExt cx="5631752" cy="3120962"/>
          </a:xfrm>
        </p:grpSpPr>
        <p:sp>
          <p:nvSpPr>
            <p:cNvPr id="40" name="Rectangle 40"/>
            <p:cNvSpPr/>
            <p:nvPr/>
          </p:nvSpPr>
          <p:spPr>
            <a:xfrm>
              <a:off x="6032182" y="1941195"/>
              <a:ext cx="562641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81229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出栈序列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00466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是否合法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28012" y="2065496"/>
              <a:ext cx="12722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找到的 312 三元组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32195" y="2471261"/>
              <a:ext cx="529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C B 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44815" y="24712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70670" y="24712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不存在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32182" y="27479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32182" y="275272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32195" y="2877026"/>
              <a:ext cx="529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 D 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44815" y="28770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70670" y="28770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31537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32195" y="3282791"/>
              <a:ext cx="529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C A 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44815" y="32827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70670" y="3282791"/>
              <a:ext cx="5758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D、A、B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032182" y="3559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32182" y="356425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32195" y="3688556"/>
              <a:ext cx="502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4 3 1 2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44815" y="36885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70670" y="3688556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4、1、2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32182" y="39652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32195" y="4094321"/>
              <a:ext cx="7713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3 4 5 6 1 2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44815" y="40943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70670" y="4094321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3、1、2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032182" y="43710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32182" y="437578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132195" y="4500086"/>
              <a:ext cx="7713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1 2 5 6 4 3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44815" y="450008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70670" y="45000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不存在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032182" y="1941195"/>
              <a:ext cx="5626418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940040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065895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026848" y="4856798"/>
              <a:ext cx="44278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已对 n 不超过 7 的全部排列做穷举，312 判据与模拟法的结论完全一致</a:t>
              </a:r>
            </a:p>
          </p:txBody>
        </p:sp>
      </p:grpSp>
      <p:grpSp>
        <p:nvGrpSpPr>
          <p:cNvPr id="81" name="c2-callout-2"/>
          <p:cNvGrpSpPr/>
          <p:nvPr/>
        </p:nvGrpSpPr>
        <p:grpSpPr>
          <a:xfrm>
            <a:off x="6032182" y="5195888"/>
            <a:ext cx="5626418" cy="978218"/>
            <a:chOff x="6032182" y="5195888"/>
            <a:chExt cx="5626418" cy="978218"/>
          </a:xfrm>
        </p:grpSpPr>
        <p:sp>
          <p:nvSpPr>
            <p:cNvPr id="75" name="Rectangle 75"/>
            <p:cNvSpPr/>
            <p:nvPr/>
          </p:nvSpPr>
          <p:spPr>
            <a:xfrm>
              <a:off x="6032182" y="5195888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6236970" y="5584508"/>
              <a:ext cx="200026" cy="200025"/>
              <a:chOff x="6236970" y="5584508"/>
              <a:chExt cx="200026" cy="2000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236970" y="55845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276709" y="56289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311424" y="57400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6539674" y="5341620"/>
              <a:ext cx="466001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考试时先扫一眼有没有“大、小、中”这样的三元组，比逐个模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拟快得多。这个判据在 LeetCode 456 里单独作为一道题出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现。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栈扩容与栈混洗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栈混洗的总数：每个混洗对应一个括号序列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bullets-1"/>
          <p:cNvGrpSpPr/>
          <p:nvPr/>
        </p:nvGrpSpPr>
        <p:grpSpPr>
          <a:xfrm>
            <a:off x="526161" y="1547336"/>
            <a:ext cx="5324475" cy="1876997"/>
            <a:chOff x="526161" y="1547336"/>
            <a:chExt cx="5324475" cy="1876997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一一对应关系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91643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7621" y="1886426"/>
              <a:ext cx="48603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一次栈混洗，就是 n 次 push 和 n 次 pop 排成的一个序列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245042"/>
              <a:ext cx="137160" cy="111443"/>
            </a:xfrm>
            <a:custGeom>
              <a:avLst/>
              <a:gdLst/>
              <a:ahLst/>
              <a:cxnLst/>
              <a:rect l="l" t="t" r="r" b="b"/>
              <a:pathLst>
                <a:path w="137160" h="111443">
                  <a:moveTo>
                    <a:pt x="0" y="59055"/>
                  </a:moveTo>
                  <a:lnTo>
                    <a:pt x="52388" y="111443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7621" y="2215039"/>
              <a:ext cx="32164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push 看成左括号，pop 看成右括号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574608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7621" y="2544604"/>
              <a:ext cx="50730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任何时刻已 pop 的次数不能超过已 push 的次数，这正是括号合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法的条件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317563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7621" y="3145631"/>
              <a:ext cx="37038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最终两种操作各 n 次，对应左右括号各 n 个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33400" y="3553778"/>
            <a:ext cx="5626418" cy="1717358"/>
            <a:chOff x="533400" y="3553778"/>
            <a:chExt cx="5626418" cy="1717358"/>
          </a:xfrm>
        </p:grpSpPr>
        <p:sp>
          <p:nvSpPr>
            <p:cNvPr id="17" name="Rectangle 17"/>
            <p:cNvSpPr/>
            <p:nvPr/>
          </p:nvSpPr>
          <p:spPr>
            <a:xfrm>
              <a:off x="533400" y="3553778"/>
              <a:ext cx="5626418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7143" y="368427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出栈序列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93645" y="368427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对应的操作序列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86719" y="368427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括号序列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8746" y="4221480"/>
              <a:ext cx="53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1 2 4 3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63649" y="4114800"/>
              <a:ext cx="23820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 pop push pop push push pop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77334" y="4221480"/>
              <a:ext cx="10622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 ) ( ) ( ( ) 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6224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627245"/>
              <a:ext cx="5626418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4865370"/>
              <a:ext cx="53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4 3 2 1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63649" y="4757738"/>
              <a:ext cx="23820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 push push push pop pop pop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77334" y="4865370"/>
              <a:ext cx="10622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 ( ( ( ) ) ) 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53778"/>
              <a:ext cx="5626418" cy="17173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653540" y="3553778"/>
              <a:ext cx="9525" cy="17173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467225" y="3553778"/>
              <a:ext cx="9525" cy="17173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2-card-1"/>
          <p:cNvGrpSpPr/>
          <p:nvPr/>
        </p:nvGrpSpPr>
        <p:grpSpPr>
          <a:xfrm>
            <a:off x="6464618" y="1524000"/>
            <a:ext cx="5193982" cy="1623060"/>
            <a:chOff x="6464618" y="1524000"/>
            <a:chExt cx="5193982" cy="1623060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1623060"/>
            </a:xfrm>
            <a:prstGeom prst="roundRect">
              <a:avLst>
                <a:gd name="adj" fmla="val 821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68452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961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于是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69861" y="176736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两个问题变成同一个问题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76072" y="217932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32664" y="2119789"/>
              <a:ext cx="26620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个元素有多少种合法出栈序列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76072" y="249936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32664" y="2439829"/>
              <a:ext cx="26620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对括号有多少种合法匹配序列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2356" y="2755582"/>
              <a:ext cx="4882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这正是第 9 页留下的那个问题。下一页用一个计数技巧把它算出来。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464618" y="3332798"/>
            <a:ext cx="5193982" cy="1274445"/>
            <a:chOff x="6464618" y="3332798"/>
            <a:chExt cx="5193982" cy="1274445"/>
          </a:xfrm>
        </p:grpSpPr>
        <p:sp>
          <p:nvSpPr>
            <p:cNvPr id="43" name="Rectangle 43"/>
            <p:cNvSpPr/>
            <p:nvPr/>
          </p:nvSpPr>
          <p:spPr>
            <a:xfrm>
              <a:off x="6464618" y="3332798"/>
              <a:ext cx="5193982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346614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06552" y="353663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84911" y="357235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先看小规模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99314" y="3909536"/>
              <a:ext cx="45049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3 时，5 种合法出栈序列是 123、132、213、231、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321；剩下的 312 正好就是那个非法的模式名字的来历。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464618" y="4792980"/>
            <a:ext cx="5193982" cy="1018222"/>
            <a:chOff x="6464618" y="4792980"/>
            <a:chExt cx="5193982" cy="1018222"/>
          </a:xfrm>
        </p:grpSpPr>
        <p:sp>
          <p:nvSpPr>
            <p:cNvPr id="49" name="Rectangle 49"/>
            <p:cNvSpPr/>
            <p:nvPr/>
          </p:nvSpPr>
          <p:spPr>
            <a:xfrm>
              <a:off x="6464618" y="4792980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669405" y="5201603"/>
              <a:ext cx="200026" cy="200026"/>
              <a:chOff x="6669405" y="5201603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669405" y="52016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69418" y="52682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58305" y="53016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971729" y="4940141"/>
              <a:ext cx="410819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总排列数是 n! 种，而合法的只有其中一部分。n = 3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 6 种排列里合法 5 种，n = 4 时 24 种里合法 14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种，差距随 n 迅速拉大。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栈扩容与栈混洗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数出非法序列：把第一次失配之后整段取反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756148" cy="2840736"/>
            <a:chOff x="533400" y="1533525"/>
            <a:chExt cx="5756148" cy="284073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0716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052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79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总序列数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3306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 个位置里挑 n 个放左括号，共 C(2n, n) 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360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给每个非法序列配一个新序列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4118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找到第一个匹配失败的位置 k，把 k 之后的括号全部取反，左变右、右变左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79987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数一数取反后的括号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0385"/>
              <a:ext cx="51099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k 位里右括号比左括号多 1 个，后面取反又让右括号多出 1 个，所以新序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列共有 n − 1 个左括号、n + 1 个右括号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63807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这是一个双射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918585"/>
              <a:ext cx="51023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反过来，任给一个 n − 1 左、n + 1 右的序列，找它第一个失配位置再取反，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就唯一还原出一个非法序列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7"/>
              <p:cNvSpPr txBox="1">
                <a:spLocks noGrp="1"/>
              </p:cNvSpPr>
              <p:nvPr/>
            </p:nvSpPr>
            <p:spPr>
              <a:xfrm>
                <a:off x="533400" y="4545330"/>
                <a:ext cx="5842635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2n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2n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2n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2n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</mc:AlternateContent>
      <p:grpSp>
        <p:nvGrpSpPr>
          <p:cNvPr id="32" name="c1-callout-3"/>
          <p:cNvGrpSpPr/>
          <p:nvPr/>
        </p:nvGrpSpPr>
        <p:grpSpPr>
          <a:xfrm>
            <a:off x="533400" y="5342572"/>
            <a:ext cx="5842635" cy="1018222"/>
            <a:chOff x="533400" y="5342572"/>
            <a:chExt cx="5842635" cy="1018222"/>
          </a:xfrm>
        </p:grpSpPr>
        <p:sp>
          <p:nvSpPr>
            <p:cNvPr id="26" name="Rectangle 26"/>
            <p:cNvSpPr/>
            <p:nvPr/>
          </p:nvSpPr>
          <p:spPr>
            <a:xfrm>
              <a:off x="533400" y="5342572"/>
              <a:ext cx="5842635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752148"/>
              <a:ext cx="200026" cy="200026"/>
              <a:chOff x="738188" y="5752148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7521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8188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27088" y="58521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511" y="5489734"/>
              <a:ext cx="490169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取反这一步之所以成立，是因为“第一次失配的位置”对每个非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法序列都唯一确定。有了这个唯一的分界点，取反才是可逆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的，两类序列才能配成对。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680835" y="1524000"/>
            <a:ext cx="4977765" cy="1268730"/>
            <a:chOff x="6680835" y="1524000"/>
            <a:chExt cx="4977765" cy="1268730"/>
          </a:xfrm>
        </p:grpSpPr>
        <p:sp>
          <p:nvSpPr>
            <p:cNvPr id="33" name="Rectangle 33"/>
            <p:cNvSpPr/>
            <p:nvPr/>
          </p:nvSpPr>
          <p:spPr>
            <a:xfrm>
              <a:off x="6680835" y="1524000"/>
              <a:ext cx="4977765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90360" y="1657350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917055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08495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00366" y="175688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栈混洗总数就是卡特兰数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09816" y="2100739"/>
              <a:ext cx="428853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个元素的栈混洗总数 = n 对括号的合法匹配序列数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Catalan(n) = C(2n, n) / (n + 1)。</a:t>
              </a:r>
            </a:p>
          </p:txBody>
        </p:sp>
      </p:grpSp>
      <p:grpSp>
        <p:nvGrpSpPr>
          <p:cNvPr id="69" name="c2-table-2"/>
          <p:cNvGrpSpPr/>
          <p:nvPr/>
        </p:nvGrpSpPr>
        <p:grpSpPr>
          <a:xfrm>
            <a:off x="6675501" y="2972752"/>
            <a:ext cx="4983099" cy="1129285"/>
            <a:chOff x="6675501" y="2972752"/>
            <a:chExt cx="4983099" cy="1129285"/>
          </a:xfrm>
        </p:grpSpPr>
        <p:sp>
          <p:nvSpPr>
            <p:cNvPr id="40" name="Rectangle 40"/>
            <p:cNvSpPr/>
            <p:nvPr/>
          </p:nvSpPr>
          <p:spPr>
            <a:xfrm>
              <a:off x="6680835" y="2972752"/>
              <a:ext cx="497776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94831" y="3101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53021" y="3101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4021" y="3101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15973" y="3101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40788" y="3101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10371" y="3101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23768" y="3101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81933" y="3101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82961" y="3101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93070" y="3526155"/>
              <a:ext cx="9090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Catalan(n)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55242" y="35261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36242" y="35261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18194" y="35261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98585" y="352615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68167" y="352615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37140" y="352615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595305" y="352615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429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51908" y="352615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1430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80835" y="2972752"/>
              <a:ext cx="4977765" cy="8486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809548" y="2972752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191500" y="2972752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572500" y="2972752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954452" y="2972752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424035" y="2972752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893618" y="2972752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450830" y="2972752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1008042" y="2972752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75501" y="3896678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已用穷举复核，n 不超过 7 时合法出栈序列的实际个数与该值完全一致</a:t>
              </a:r>
            </a:p>
          </p:txBody>
        </p:sp>
      </p:grpSp>
      <p:grpSp>
        <p:nvGrpSpPr>
          <p:cNvPr id="75" name="c2-card-3"/>
          <p:cNvGrpSpPr/>
          <p:nvPr/>
        </p:nvGrpSpPr>
        <p:grpSpPr>
          <a:xfrm>
            <a:off x="6680835" y="4240530"/>
            <a:ext cx="4977765" cy="2120265"/>
            <a:chOff x="6680835" y="4240530"/>
            <a:chExt cx="4977765" cy="2120265"/>
          </a:xfrm>
        </p:grpSpPr>
        <p:sp>
          <p:nvSpPr>
            <p:cNvPr id="70" name="Rectangle 70"/>
            <p:cNvSpPr/>
            <p:nvPr/>
          </p:nvSpPr>
          <p:spPr>
            <a:xfrm>
              <a:off x="6680835" y="4240530"/>
              <a:ext cx="4977765" cy="2120265"/>
            </a:xfrm>
            <a:prstGeom prst="roundRect">
              <a:avLst>
                <a:gd name="adj" fmla="val 62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690360" y="4373880"/>
              <a:ext cx="47625" cy="18535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917055" y="443865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000494" y="44729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一点历史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909816" y="4799171"/>
              <a:ext cx="4342638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这列数以比利时数学家欧仁·卡特兰（Eugène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Catalan，1814 至 1894 年）命名。1730 年我国清代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蒙古族数学家明安图在研究三角函数幂级数时更早用到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它，见《割圆密率捷法》，由他的学生在 1774 年整理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发表。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栈扩容与栈混洗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两道招聘笔试题：数一数到底有多少种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342072"/>
            <a:chOff x="533400" y="1524000"/>
            <a:chExt cx="5410200" cy="13420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42072"/>
            </a:xfrm>
            <a:prstGeom prst="roundRect">
              <a:avLst>
                <a:gd name="adj" fmla="val 99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753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234315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0387" y="176355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练习题（考研全国卷、快手校招）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5392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 e 依次进栈，以元素 d 开头的出栈序列有几个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4993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439829"/>
              <a:ext cx="27361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A. 3　　B.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　　C. 5　　D. 6</a:t>
              </a:r>
            </a:p>
          </p:txBody>
        </p:sp>
      </p:grpSp>
      <p:grpSp>
        <p:nvGrpSpPr>
          <p:cNvPr id="28" name="c1-steps-2"/>
          <p:cNvGrpSpPr/>
          <p:nvPr/>
        </p:nvGrpSpPr>
        <p:grpSpPr>
          <a:xfrm>
            <a:off x="533400" y="3060382"/>
            <a:ext cx="5497678" cy="1790129"/>
            <a:chOff x="533400" y="3060382"/>
            <a:chExt cx="5497678" cy="1790129"/>
          </a:xfrm>
        </p:grpSpPr>
        <p:sp>
          <p:nvSpPr>
            <p:cNvPr id="15" name="Rectangle 15"/>
            <p:cNvSpPr/>
            <p:nvPr/>
          </p:nvSpPr>
          <p:spPr>
            <a:xfrm>
              <a:off x="666750" y="3203258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30603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1342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6814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3755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30244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376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094196"/>
              <a:ext cx="20966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第一个出栈意味着什么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374707"/>
              <a:ext cx="39215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a、b、c、d 都已进栈且都没出，d 在栈顶，e 还没进栈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71427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剩下的子问题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994785"/>
              <a:ext cx="50846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栈里自底向上是 a b c，入栈序列还剩一个 e，问能产生多少种输出次序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433530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逐个数出来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615815"/>
              <a:ext cx="37196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c b a e、d c b e a、d c e b a、d e c b a，共 4 种</a:t>
              </a:r>
            </a:p>
          </p:txBody>
        </p:sp>
      </p:grpSp>
      <p:grpSp>
        <p:nvGrpSpPr>
          <p:cNvPr id="35" name="c1-callout-3"/>
          <p:cNvGrpSpPr/>
          <p:nvPr/>
        </p:nvGrpSpPr>
        <p:grpSpPr>
          <a:xfrm>
            <a:off x="533400" y="5027295"/>
            <a:ext cx="5410200" cy="1204912"/>
            <a:chOff x="533400" y="5027295"/>
            <a:chExt cx="5410200" cy="1204912"/>
          </a:xfrm>
        </p:grpSpPr>
        <p:sp>
          <p:nvSpPr>
            <p:cNvPr id="29" name="Rectangle 29"/>
            <p:cNvSpPr/>
            <p:nvPr/>
          </p:nvSpPr>
          <p:spPr>
            <a:xfrm>
              <a:off x="533400" y="5027295"/>
              <a:ext cx="5410200" cy="1204912"/>
            </a:xfrm>
            <a:prstGeom prst="roundRect">
              <a:avLst>
                <a:gd name="adj" fmla="val 948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529263"/>
              <a:ext cx="200026" cy="200026"/>
              <a:chOff x="738188" y="5529263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5292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5959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6292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511" y="5267801"/>
              <a:ext cx="446887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一般地，栈中有 s 个元素、还剩 r 个待进栈时，输出次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序数满足 f(s, r) = f(s−1, r) + f(s+1, r−1)，这里要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算的是 f(3, 1) = 4。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248400" y="1524000"/>
            <a:ext cx="5410200" cy="1585912"/>
            <a:chOff x="6248400" y="1524000"/>
            <a:chExt cx="5410200" cy="1585912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1585912"/>
            </a:xfrm>
            <a:prstGeom prst="roundRect">
              <a:avLst>
                <a:gd name="adj" fmla="val 84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1657350"/>
              <a:ext cx="47625" cy="13192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90335" y="1727835"/>
              <a:ext cx="26279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16535" y="176355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课下思考（考研全国卷、寒武纪笔试）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3096" y="2100739"/>
              <a:ext cx="4641552" cy="523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入栈序列 1 至 n，出栈序列是 p₁ p₂ … pₙ。若 p₂ = 3，则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p₃ 可能取值的个数是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97955" y="274415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4546" y="2683669"/>
              <a:ext cx="4021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A. n−3　　B. n−2　　C. </a:t>
              </a: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　　D. 无法确定</a:t>
              </a:r>
            </a:p>
          </p:txBody>
        </p:sp>
      </p:grpSp>
      <p:grpSp>
        <p:nvGrpSpPr>
          <p:cNvPr id="57" name="c2-steps-2"/>
          <p:cNvGrpSpPr/>
          <p:nvPr/>
        </p:nvGrpSpPr>
        <p:grpSpPr>
          <a:xfrm>
            <a:off x="6248400" y="3305175"/>
            <a:ext cx="5149596" cy="2232089"/>
            <a:chOff x="6248400" y="3305175"/>
            <a:chExt cx="5149596" cy="2232089"/>
          </a:xfrm>
        </p:grpSpPr>
        <p:sp>
          <p:nvSpPr>
            <p:cNvPr id="44" name="Rectangle 44"/>
            <p:cNvSpPr/>
            <p:nvPr/>
          </p:nvSpPr>
          <p:spPr>
            <a:xfrm>
              <a:off x="6381750" y="344805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6248400" y="33051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2024" y="33789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248400" y="39262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2024" y="40000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248400" y="47672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2024" y="4841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0261" y="3338036"/>
              <a:ext cx="14013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p₂ = 3 说明什么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1404" y="3618548"/>
              <a:ext cx="34207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是第二个出栈的，所以 1、2、3 都已经进过栈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0261" y="395906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哪些值不可能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1404" y="4239578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3 不可能，因为它已经出栈了；其余 n − 1 个值都能构造出相应的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操作序列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60261" y="480107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小规模验证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1404" y="5081588"/>
              <a:ext cx="47289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4 时 p₃ 的取值是 1、2、4 三个，脚本对 n 从 4 到 8 穷举，结果都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 n − 1</a:t>
              </a:r>
            </a:p>
          </p:txBody>
        </p:sp>
      </p:grpSp>
      <p:grpSp>
        <p:nvGrpSpPr>
          <p:cNvPr id="64" name="c2-callout-3"/>
          <p:cNvGrpSpPr/>
          <p:nvPr/>
        </p:nvGrpSpPr>
        <p:grpSpPr>
          <a:xfrm>
            <a:off x="6248400" y="5713095"/>
            <a:ext cx="5410200" cy="518160"/>
            <a:chOff x="6248400" y="5713095"/>
            <a:chExt cx="5410200" cy="518160"/>
          </a:xfrm>
        </p:grpSpPr>
        <p:sp>
          <p:nvSpPr>
            <p:cNvPr id="58" name="Rectangle 58"/>
            <p:cNvSpPr/>
            <p:nvPr/>
          </p:nvSpPr>
          <p:spPr>
            <a:xfrm>
              <a:off x="6248400" y="5713095"/>
              <a:ext cx="5410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453188" y="5872163"/>
              <a:ext cx="200026" cy="200025"/>
              <a:chOff x="6453188" y="5872163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53188" y="58721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492926" y="59166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527642" y="60277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755511" y="5872639"/>
              <a:ext cx="46214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这类题先问“哪些值一定不行”，通常比正面构造要快。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023991" cy="3351847"/>
            <a:chOff x="667512" y="1835468"/>
            <a:chExt cx="602399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递归与回溯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函数调用本身就靠栈，递归的空间代价和消除办法都由此而来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程序的四个内存区与栈帧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递归深度决定空间复杂度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回溯的三句口诀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用栈消除递归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递归与回溯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函数调用离不开栈：先看程序在内存里的样子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999017" cy="278702"/>
            <a:chOff x="526161" y="1547336"/>
            <a:chExt cx="899901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999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操作系统怎样实现函数调用、怎样记住调用与被调用的关系、怎样保证返回到正确的位置，答案都在栈区。</a:t>
              </a:r>
            </a:p>
          </p:txBody>
        </p:sp>
      </p:grpSp>
      <p:grpSp>
        <p:nvGrpSpPr>
          <p:cNvPr id="19" name="c1-graph-1"/>
          <p:cNvGrpSpPr/>
          <p:nvPr/>
        </p:nvGrpSpPr>
        <p:grpSpPr>
          <a:xfrm>
            <a:off x="892073" y="2067878"/>
            <a:ext cx="3009367" cy="2336482"/>
            <a:chOff x="892073" y="2067878"/>
            <a:chExt cx="3009367" cy="2336482"/>
          </a:xfrm>
        </p:grpSpPr>
        <p:sp>
          <p:nvSpPr>
            <p:cNvPr id="9" name="Rectangle 9"/>
            <p:cNvSpPr/>
            <p:nvPr/>
          </p:nvSpPr>
          <p:spPr>
            <a:xfrm>
              <a:off x="2254568" y="2067878"/>
              <a:ext cx="1646872" cy="450532"/>
            </a:xfrm>
            <a:prstGeom prst="roundRect">
              <a:avLst>
                <a:gd name="adj" fmla="val 2114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54568" y="2696528"/>
              <a:ext cx="1646872" cy="450532"/>
            </a:xfrm>
            <a:prstGeom prst="roundRect">
              <a:avLst>
                <a:gd name="adj" fmla="val 2114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54568" y="3325178"/>
              <a:ext cx="1646872" cy="450532"/>
            </a:xfrm>
            <a:prstGeom prst="roundRect">
              <a:avLst>
                <a:gd name="adj" fmla="val 2114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54568" y="3953828"/>
              <a:ext cx="1646872" cy="450532"/>
            </a:xfrm>
            <a:prstGeom prst="roundRect">
              <a:avLst>
                <a:gd name="adj" fmla="val 2114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21991" y="22236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21991" y="2852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46603" y="347995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46603" y="410860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2073" y="21721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高地址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2073" y="405717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低地址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630102"/>
            <a:ext cx="4544378" cy="1560195"/>
            <a:chOff x="533400" y="4630102"/>
            <a:chExt cx="4544378" cy="1560195"/>
          </a:xfrm>
        </p:grpSpPr>
        <p:sp>
          <p:nvSpPr>
            <p:cNvPr id="20" name="Rectangle 20"/>
            <p:cNvSpPr/>
            <p:nvPr/>
          </p:nvSpPr>
          <p:spPr>
            <a:xfrm>
              <a:off x="533400" y="4630102"/>
              <a:ext cx="4544378" cy="1560195"/>
            </a:xfrm>
            <a:prstGeom prst="roundRect">
              <a:avLst>
                <a:gd name="adj" fmla="val 732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310188"/>
              <a:ext cx="200026" cy="200026"/>
              <a:chOff x="738188" y="5310188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3101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3768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7088" y="54102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5192078"/>
              <a:ext cx="36141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栈区和堆区相向增长，中间那段未使用的空间被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两者共享。</a:t>
              </a:r>
            </a:p>
          </p:txBody>
        </p:sp>
      </p:grpSp>
      <p:grpSp>
        <p:nvGrpSpPr>
          <p:cNvPr id="38" name="c2-kv-1"/>
          <p:cNvGrpSpPr/>
          <p:nvPr/>
        </p:nvGrpSpPr>
        <p:grpSpPr>
          <a:xfrm>
            <a:off x="5375720" y="1964055"/>
            <a:ext cx="6282880" cy="1457516"/>
            <a:chOff x="5375720" y="1964055"/>
            <a:chExt cx="6282880" cy="1457516"/>
          </a:xfrm>
        </p:grpSpPr>
        <p:sp>
          <p:nvSpPr>
            <p:cNvPr id="27" name="TextBox 27"/>
            <p:cNvSpPr txBox="1"/>
            <p:nvPr/>
          </p:nvSpPr>
          <p:spPr>
            <a:xfrm>
              <a:off x="5375720" y="196405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代码区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59627" y="19640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存放程序的可执行代码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82578" y="22526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75720" y="236124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59627" y="236124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存放全局变量、常量等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82578" y="265080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75720" y="27593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堆区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59627" y="27593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存放动态分配的空间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82578" y="30489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375720" y="31575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栈区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59627" y="315753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存放函数的局部变量、参数、返回地址等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5382578" y="3543300"/>
            <a:ext cx="6276022" cy="1743075"/>
            <a:chOff x="5382578" y="3543300"/>
            <a:chExt cx="6276022" cy="1743075"/>
          </a:xfrm>
        </p:grpSpPr>
        <p:sp>
          <p:nvSpPr>
            <p:cNvPr id="39" name="Rectangle 39"/>
            <p:cNvSpPr/>
            <p:nvPr/>
          </p:nvSpPr>
          <p:spPr>
            <a:xfrm>
              <a:off x="5382578" y="3543300"/>
              <a:ext cx="6276022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92102" y="3676650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613082" y="37357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04522" y="37699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栈帧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96774" y="37757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一次函数调用所需的全部信息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621655" y="41662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77674" y="411003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调用时把一个栈帧压入栈区，里面有返回地址、参数、局部变量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621655" y="446817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777674" y="441198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返回时把栈帧弹出，恢复上一次调用的现场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07367" y="4711541"/>
              <a:ext cx="55587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同时活跃的函数实例有多少个，栈区里就有多少个栈帧；最上面那个一定是当前正在执行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的函数。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5382578" y="5461635"/>
            <a:ext cx="6276022" cy="729615"/>
            <a:chOff x="5382578" y="5461635"/>
            <a:chExt cx="6276022" cy="729615"/>
          </a:xfrm>
        </p:grpSpPr>
        <p:sp>
          <p:nvSpPr>
            <p:cNvPr id="50" name="Rectangle 50"/>
            <p:cNvSpPr/>
            <p:nvPr/>
          </p:nvSpPr>
          <p:spPr>
            <a:xfrm>
              <a:off x="5382578" y="5461635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5587365" y="5726432"/>
              <a:ext cx="200023" cy="200023"/>
              <a:chOff x="5587365" y="5726432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5587365" y="572643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720715" y="57931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5890070" y="5607368"/>
              <a:ext cx="53286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递归调用只是函数调用的一种特殊形式，被调用者恰好是自己。所以它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同样靠栈实现，并不需要额外的机制。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递归与回溯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递归的空间复杂度，取决于递归深度而不是调用次数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828407" cy="264033"/>
            <a:chOff x="526542" y="1545907"/>
            <a:chExt cx="782840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828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每次递归调用都在系统栈里产生一个栈帧，返回时弹出。所以空间代价由最深的那条调用链决定。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1107758"/>
            <a:chOff x="533400" y="1928812"/>
            <a:chExt cx="5410200" cy="110775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107758"/>
            </a:xfrm>
            <a:prstGeom prst="roundRect">
              <a:avLst>
                <a:gd name="adj" fmla="val 85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2104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例一，每层把 n 减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1441450" cy="610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&lt;= 1)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* F(n - 1);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text-2"/>
          <p:cNvGrpSpPr/>
          <p:nvPr/>
        </p:nvGrpSpPr>
        <p:grpSpPr>
          <a:xfrm>
            <a:off x="526923" y="3222784"/>
            <a:ext cx="4593049" cy="249364"/>
            <a:chOff x="526923" y="3222784"/>
            <a:chExt cx="4593049" cy="249364"/>
          </a:xfrm>
        </p:grpSpPr>
        <p:sp>
          <p:nvSpPr>
            <p:cNvPr id="13" name="TextBox 13"/>
            <p:cNvSpPr txBox="1"/>
            <p:nvPr/>
          </p:nvSpPr>
          <p:spPr>
            <a:xfrm>
              <a:off x="526923" y="3222784"/>
              <a:ext cx="4593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调用链是 F(n)、F(n−1)、…、F(1)，深度 n，空间 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8" name="c1-code-3"/>
          <p:cNvGrpSpPr/>
          <p:nvPr/>
        </p:nvGrpSpPr>
        <p:grpSpPr>
          <a:xfrm>
            <a:off x="533400" y="3586162"/>
            <a:ext cx="5410200" cy="1107758"/>
            <a:chOff x="533400" y="3586162"/>
            <a:chExt cx="5410200" cy="1107758"/>
          </a:xfrm>
        </p:grpSpPr>
        <p:sp>
          <p:nvSpPr>
            <p:cNvPr id="15" name="Rectangle 15"/>
            <p:cNvSpPr/>
            <p:nvPr/>
          </p:nvSpPr>
          <p:spPr>
            <a:xfrm>
              <a:off x="533400" y="3586162"/>
              <a:ext cx="5410200" cy="1107758"/>
            </a:xfrm>
            <a:prstGeom prst="roundRect">
              <a:avLst>
                <a:gd name="adj" fmla="val 85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738086"/>
              <a:ext cx="1224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例二，每层把 n 折半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988" y="3997166"/>
              <a:ext cx="1441450" cy="610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== 1)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+ F(n / 2);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text-4"/>
          <p:cNvGrpSpPr/>
          <p:nvPr/>
        </p:nvGrpSpPr>
        <p:grpSpPr>
          <a:xfrm>
            <a:off x="526923" y="4880134"/>
            <a:ext cx="4996231" cy="500824"/>
            <a:chOff x="526923" y="4880134"/>
            <a:chExt cx="4996231" cy="500824"/>
          </a:xfrm>
        </p:grpSpPr>
        <p:sp>
          <p:nvSpPr>
            <p:cNvPr id="19" name="TextBox 19"/>
            <p:cNvSpPr txBox="1"/>
            <p:nvPr/>
          </p:nvSpPr>
          <p:spPr>
            <a:xfrm>
              <a:off x="526923" y="4880134"/>
              <a:ext cx="4996231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深度是 ⌊log₂ n⌋ + 1，空间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 n)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。例如 F(16) 展开成 16 + 8 + 4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+ 2 + 1 = 31，只有 5 层。</a:t>
              </a:r>
            </a:p>
          </p:txBody>
        </p:sp>
      </p:grpSp>
      <p:grpSp>
        <p:nvGrpSpPr>
          <p:cNvPr id="27" name="c2-callout-1"/>
          <p:cNvGrpSpPr/>
          <p:nvPr/>
        </p:nvGrpSpPr>
        <p:grpSpPr>
          <a:xfrm>
            <a:off x="6248400" y="1928812"/>
            <a:ext cx="5410200" cy="702945"/>
            <a:chOff x="6248400" y="1928812"/>
            <a:chExt cx="5410200" cy="70294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441129" y="2176581"/>
              <a:ext cx="224134" cy="192560"/>
              <a:chOff x="6441129" y="2176581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553200" y="22469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441129" y="21765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53200" y="23247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56273" y="2073116"/>
              <a:ext cx="4442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例二的出口写的是 n 等于 1。传入 0 时 n/2 一直是 0，会无限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递归下去。自己写的时候出口应当写成 n 不大于 1。</a:t>
              </a:r>
            </a:p>
          </p:txBody>
        </p:sp>
      </p:grpSp>
      <p:grpSp>
        <p:nvGrpSpPr>
          <p:cNvPr id="53" name="c2-table-2"/>
          <p:cNvGrpSpPr/>
          <p:nvPr/>
        </p:nvGrpSpPr>
        <p:grpSpPr>
          <a:xfrm>
            <a:off x="6243447" y="2796540"/>
            <a:ext cx="5415153" cy="1789461"/>
            <a:chOff x="6243447" y="2796540"/>
            <a:chExt cx="5415153" cy="1789461"/>
          </a:xfrm>
        </p:grpSpPr>
        <p:sp>
          <p:nvSpPr>
            <p:cNvPr id="28" name="Rectangle 28"/>
            <p:cNvSpPr/>
            <p:nvPr/>
          </p:nvSpPr>
          <p:spPr>
            <a:xfrm>
              <a:off x="6248400" y="279654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17602" y="29136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递归形式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70152" y="29136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每层规模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60777" y="29136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递归深度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754678" y="29136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43079" y="3294698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→ n−1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57554" y="3294698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48178" y="32946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38804" y="3294698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35537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355854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3079" y="3676650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→ n/2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57554" y="36766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折半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48178" y="367665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 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38804" y="3676650"/>
              <a:ext cx="626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 n)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3935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3079" y="4057650"/>
              <a:ext cx="8350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→ 两个 n/2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57554" y="40576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折半且分两支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48178" y="405765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 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38804" y="4057650"/>
              <a:ext cx="626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 n)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2796540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758112" y="27965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948738" y="27965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139362" y="27965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43447" y="4395311"/>
              <a:ext cx="44659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第三行是分治。它的调用总次数是 O(n)，但同一时刻活跃的栈帧只有一条链</a:t>
              </a:r>
            </a:p>
          </p:txBody>
        </p:sp>
      </p:grpSp>
      <p:grpSp>
        <p:nvGrpSpPr>
          <p:cNvPr id="60" name="c2-card-3"/>
          <p:cNvGrpSpPr/>
          <p:nvPr/>
        </p:nvGrpSpPr>
        <p:grpSpPr>
          <a:xfrm>
            <a:off x="6248400" y="4712018"/>
            <a:ext cx="5410200" cy="1600200"/>
            <a:chOff x="6248400" y="4712018"/>
            <a:chExt cx="5410200" cy="1600200"/>
          </a:xfrm>
        </p:grpSpPr>
        <p:sp>
          <p:nvSpPr>
            <p:cNvPr id="54" name="Rectangle 54"/>
            <p:cNvSpPr/>
            <p:nvPr/>
          </p:nvSpPr>
          <p:spPr>
            <a:xfrm>
              <a:off x="6248400" y="4712018"/>
              <a:ext cx="5410200" cy="1600200"/>
            </a:xfrm>
            <a:prstGeom prst="roundRect">
              <a:avLst>
                <a:gd name="adj" fmla="val 833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29375" y="489299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13944" y="49258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递归隐患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44906" y="493252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递归过深会把系统栈撑爆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22898" y="5249704"/>
              <a:ext cx="45971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系统栈大小是固定的，常见默认值在 1 MB 到 8 MB。按一个栈帧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64 字节估，1 MB 大约只能嵌套一万六千层。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24041" y="5773102"/>
              <a:ext cx="483127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判断一个递归能不能直接用，先估它的深度。例一在 n 上百万时必然溢出，例二到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10⁹ 也才 30 层。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递归与回溯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分治算法的空间：同时活跃的栈帧只有一条路径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608564" cy="293370"/>
            <a:chOff x="525780" y="1548765"/>
            <a:chExt cx="1060856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608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BinarySelect 把数组一分为二，分别求出左右两半的最大最小值再合并。它的调用总数是线性的，空间却只有对数级。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6276022" cy="2471738"/>
            <a:chOff x="533400" y="1954530"/>
            <a:chExt cx="6276022" cy="247173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276022" cy="2471738"/>
            </a:xfrm>
            <a:prstGeom prst="roundRect">
              <a:avLst>
                <a:gd name="adj" fmla="val 385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23140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BinarySelect，求数组的最大最小元素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64867"/>
              <a:ext cx="4228719" cy="19707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85"/>
                </a:lnSpc>
              </a:pP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BinarySelect(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i,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j,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&amp;max,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&amp;min) {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== j) { max = min = A[i];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}        </a:t>
              </a:r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出口：1 个元素 */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== j - 1) {                                </a:t>
              </a:r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出口：2 个元素 */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(A[i] &lt; A[j]) { max = A[j];  min = A[i];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{ max = A[i];  min = A[j];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 = (i + j) / 2, Lmax, Lmin, Rmax, Rmin;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BinarySelect(A, i, mid, Lmax, Lmin);             </a:t>
              </a:r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左半 */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BinarySelect(A, mid + 1, j, Rmax, Rmin);         </a:t>
              </a:r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右半 */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max = Lmax &gt; Rmax ? Lmax : Rmax;                 </a:t>
              </a:r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合并 */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min = Lmin &lt; Rmin ? Lmin : Rmin;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611052"/>
            <a:ext cx="6276022" cy="1609725"/>
            <a:chOff x="533400" y="4611052"/>
            <a:chExt cx="6276022" cy="1609725"/>
          </a:xfrm>
        </p:grpSpPr>
        <p:sp>
          <p:nvSpPr>
            <p:cNvPr id="13" name="Rectangle 13"/>
            <p:cNvSpPr/>
            <p:nvPr/>
          </p:nvSpPr>
          <p:spPr>
            <a:xfrm>
              <a:off x="533400" y="4611052"/>
              <a:ext cx="6276022" cy="1609725"/>
            </a:xfrm>
            <a:prstGeom prst="roundRect">
              <a:avLst>
                <a:gd name="adj" fmla="val 710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315905"/>
              <a:ext cx="200023" cy="200023"/>
              <a:chOff x="738188" y="5315905"/>
              <a:chExt cx="200023" cy="20002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3159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71538" y="53825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511" y="5185886"/>
              <a:ext cx="522720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递归深度是 log₂ n，空间 </a:t>
              </a:r>
              <a:r>
                <a:rPr lang="en-US" sz="142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O(log n)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。比较次数是 3n/2 − 2，已用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脚本对 n = 2 到 1024 逐个复核。</a:t>
              </a:r>
            </a:p>
          </p:txBody>
        </p:sp>
      </p:grpSp>
      <p:grpSp>
        <p:nvGrpSpPr>
          <p:cNvPr id="39" name="c2-tree-1"/>
          <p:cNvGrpSpPr/>
          <p:nvPr/>
        </p:nvGrpSpPr>
        <p:grpSpPr>
          <a:xfrm>
            <a:off x="7473315" y="2128838"/>
            <a:ext cx="3826192" cy="1920239"/>
            <a:chOff x="7473315" y="2128838"/>
            <a:chExt cx="3826192" cy="1920239"/>
          </a:xfrm>
        </p:grpSpPr>
        <p:sp>
          <p:nvSpPr>
            <p:cNvPr id="19" name="Freeform 19"/>
            <p:cNvSpPr/>
            <p:nvPr/>
          </p:nvSpPr>
          <p:spPr>
            <a:xfrm>
              <a:off x="7681912" y="3086100"/>
              <a:ext cx="568643" cy="754380"/>
            </a:xfrm>
            <a:custGeom>
              <a:avLst/>
              <a:gdLst/>
              <a:ahLst/>
              <a:cxnLst/>
              <a:rect l="l" t="t" r="r" b="b"/>
              <a:pathLst>
                <a:path w="568643" h="754380">
                  <a:moveTo>
                    <a:pt x="568643" y="0"/>
                  </a:moveTo>
                  <a:lnTo>
                    <a:pt x="0" y="7543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250555" y="3086100"/>
              <a:ext cx="567690" cy="754380"/>
            </a:xfrm>
            <a:custGeom>
              <a:avLst/>
              <a:gdLst/>
              <a:ahLst/>
              <a:cxnLst/>
              <a:rect l="l" t="t" r="r" b="b"/>
              <a:pathLst>
                <a:path w="567690" h="754380">
                  <a:moveTo>
                    <a:pt x="0" y="0"/>
                  </a:moveTo>
                  <a:lnTo>
                    <a:pt x="567690" y="7543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954578" y="3086100"/>
              <a:ext cx="567690" cy="754380"/>
            </a:xfrm>
            <a:custGeom>
              <a:avLst/>
              <a:gdLst/>
              <a:ahLst/>
              <a:cxnLst/>
              <a:rect l="l" t="t" r="r" b="b"/>
              <a:pathLst>
                <a:path w="567690" h="754380">
                  <a:moveTo>
                    <a:pt x="567690" y="0"/>
                  </a:moveTo>
                  <a:lnTo>
                    <a:pt x="0" y="7543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522268" y="3086100"/>
              <a:ext cx="568643" cy="754380"/>
            </a:xfrm>
            <a:custGeom>
              <a:avLst/>
              <a:gdLst/>
              <a:ahLst/>
              <a:cxnLst/>
              <a:rect l="l" t="t" r="r" b="b"/>
              <a:pathLst>
                <a:path w="568643" h="754380">
                  <a:moveTo>
                    <a:pt x="0" y="0"/>
                  </a:moveTo>
                  <a:lnTo>
                    <a:pt x="568643" y="7543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250555" y="2331720"/>
              <a:ext cx="1135380" cy="754380"/>
            </a:xfrm>
            <a:custGeom>
              <a:avLst/>
              <a:gdLst/>
              <a:ahLst/>
              <a:cxnLst/>
              <a:rect l="l" t="t" r="r" b="b"/>
              <a:pathLst>
                <a:path w="1135380" h="754380">
                  <a:moveTo>
                    <a:pt x="1135380" y="0"/>
                  </a:moveTo>
                  <a:lnTo>
                    <a:pt x="0" y="7543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9385935" y="2331720"/>
              <a:ext cx="1136333" cy="754380"/>
            </a:xfrm>
            <a:custGeom>
              <a:avLst/>
              <a:gdLst/>
              <a:ahLst/>
              <a:cxnLst/>
              <a:rect l="l" t="t" r="r" b="b"/>
              <a:pathLst>
                <a:path w="1136333" h="754380">
                  <a:moveTo>
                    <a:pt x="0" y="0"/>
                  </a:moveTo>
                  <a:lnTo>
                    <a:pt x="1136333" y="7543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7473315" y="3631882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609648" y="3631882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041958" y="2877502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745980" y="3631882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882312" y="3631882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10313670" y="2877502"/>
              <a:ext cx="417195" cy="4171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9183052" y="212883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35879" y="376618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72212" y="376618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4522" y="301180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08544" y="376618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44877" y="376618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76234" y="301180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33193" y="225742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7114222" y="4403408"/>
            <a:ext cx="4544378" cy="1817370"/>
            <a:chOff x="7114222" y="4403408"/>
            <a:chExt cx="4544378" cy="1817370"/>
          </a:xfrm>
        </p:grpSpPr>
        <p:sp>
          <p:nvSpPr>
            <p:cNvPr id="40" name="Rectangle 40"/>
            <p:cNvSpPr/>
            <p:nvPr/>
          </p:nvSpPr>
          <p:spPr>
            <a:xfrm>
              <a:off x="7114222" y="4403408"/>
              <a:ext cx="4544378" cy="1817370"/>
            </a:xfrm>
            <a:prstGeom prst="roundRect">
              <a:avLst>
                <a:gd name="adj" fmla="val 733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318058" y="4607242"/>
              <a:ext cx="160877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68771" y="4642961"/>
              <a:ext cx="15063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为什么空间不是 O(n)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10818" y="4980146"/>
              <a:ext cx="398195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这棵树一共有 O(n) 个结点，但它们不是同时存在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的。左半边递归完全返回之后才开始右半边，任一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时刻栈里只有从根到当前结点的一条路径，长度是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树高 log₂ n。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递归与回溯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回溯：可行则进，不行则换，换不了则退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50982" cy="597598"/>
            <a:chOff x="525399" y="1550194"/>
            <a:chExt cx="10650982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50982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迷宫寻径。从起点出发每步走一格，可以上下左右移动、不能斜走，有障碍的格子不能走，要求输出所有能走到终点的方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案。</a:t>
              </a:r>
            </a:p>
          </p:txBody>
        </p:sp>
      </p:grpSp>
      <p:grpSp>
        <p:nvGrpSpPr>
          <p:cNvPr id="22" name="c1-cells-1"/>
          <p:cNvGrpSpPr/>
          <p:nvPr/>
        </p:nvGrpSpPr>
        <p:grpSpPr>
          <a:xfrm>
            <a:off x="526923" y="2257425"/>
            <a:ext cx="3011615" cy="666464"/>
            <a:chOff x="526923" y="2257425"/>
            <a:chExt cx="3011615" cy="666464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23874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动作编号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17308" y="2257425"/>
              <a:ext cx="5553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24956" y="238744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上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872615" y="2257425"/>
              <a:ext cx="5553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80264" y="238744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右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27922" y="2257425"/>
              <a:ext cx="5553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35571" y="238744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983230" y="2257425"/>
              <a:ext cx="5553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90879" y="238744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53252" y="27331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08559" y="27331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63867" y="27331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19174" y="27331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26" name="c1-code-2"/>
          <p:cNvGrpSpPr/>
          <p:nvPr/>
        </p:nvGrpSpPr>
        <p:grpSpPr>
          <a:xfrm>
            <a:off x="533400" y="3067050"/>
            <a:ext cx="5410200" cy="1384935"/>
            <a:chOff x="533400" y="3067050"/>
            <a:chExt cx="5410200" cy="1384935"/>
          </a:xfrm>
        </p:grpSpPr>
        <p:sp>
          <p:nvSpPr>
            <p:cNvPr id="23" name="Rectangle 23"/>
            <p:cNvSpPr/>
            <p:nvPr/>
          </p:nvSpPr>
          <p:spPr>
            <a:xfrm>
              <a:off x="533400" y="3067050"/>
              <a:ext cx="541020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" y="32189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四个方向的增量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1797" y="3479959"/>
              <a:ext cx="2723134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dx[4] = {-1, 0, 1,  0};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dy[4] = { 0, 1, 0, -1};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在 (x, y) 处执行动作 i，到达的新位置 */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nx = x + dx[i];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ny = y + dy[i];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4642485"/>
            <a:ext cx="5410200" cy="1617345"/>
            <a:chOff x="533400" y="4642485"/>
            <a:chExt cx="5410200" cy="1617345"/>
          </a:xfrm>
        </p:grpSpPr>
        <p:sp>
          <p:nvSpPr>
            <p:cNvPr id="27" name="Rectangle 27"/>
            <p:cNvSpPr/>
            <p:nvPr/>
          </p:nvSpPr>
          <p:spPr>
            <a:xfrm>
              <a:off x="533400" y="4642485"/>
              <a:ext cx="5410200" cy="1617345"/>
            </a:xfrm>
            <a:prstGeom prst="roundRect">
              <a:avLst>
                <a:gd name="adj" fmla="val 706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351145"/>
              <a:ext cx="200026" cy="200026"/>
              <a:chOff x="738188" y="5351145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3511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4178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54511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208270"/>
              <a:ext cx="4415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行号向下增大，所以“上”是 x 减 1。把四个方向编成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至 3 之后，试遍四个方向就是一个 for 循环。</a:t>
              </a:r>
            </a:p>
          </p:txBody>
        </p:sp>
      </p:grpSp>
      <p:grpSp>
        <p:nvGrpSpPr>
          <p:cNvPr id="61" name="c2-cells-1"/>
          <p:cNvGrpSpPr/>
          <p:nvPr/>
        </p:nvGrpSpPr>
        <p:grpSpPr>
          <a:xfrm>
            <a:off x="6241923" y="2257425"/>
            <a:ext cx="2738247" cy="2190750"/>
            <a:chOff x="6241923" y="2257425"/>
            <a:chExt cx="2738247" cy="2190750"/>
          </a:xfrm>
        </p:grpSpPr>
        <p:sp>
          <p:nvSpPr>
            <p:cNvPr id="34" name="TextBox 34"/>
            <p:cNvSpPr txBox="1"/>
            <p:nvPr/>
          </p:nvSpPr>
          <p:spPr>
            <a:xfrm>
              <a:off x="6241923" y="238744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689408" y="2257425"/>
              <a:ext cx="57245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97319" y="23874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261860" y="2257425"/>
              <a:ext cx="57245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835265" y="2257425"/>
              <a:ext cx="572452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64782" y="23874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407718" y="2257425"/>
              <a:ext cx="57245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41923" y="297799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89408" y="2847975"/>
              <a:ext cx="41910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42725" y="29779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108508" y="284797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527608" y="284797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946708" y="2847975"/>
              <a:ext cx="41910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00025" y="29779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41923" y="356854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89408" y="343852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108508" y="343852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4A38B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527608" y="3438525"/>
              <a:ext cx="41910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80925" y="35685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946708" y="343852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41923" y="415909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689408" y="4029075"/>
              <a:ext cx="572452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19877" y="41590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261860" y="4029075"/>
              <a:ext cx="57245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4A38B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835265" y="4029075"/>
              <a:ext cx="57245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407718" y="4029075"/>
              <a:ext cx="57245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515629" y="41590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终点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248400" y="4638675"/>
            <a:ext cx="5410200" cy="1621155"/>
            <a:chOff x="6248400" y="4638675"/>
            <a:chExt cx="5410200" cy="1621155"/>
          </a:xfrm>
        </p:grpSpPr>
        <p:sp>
          <p:nvSpPr>
            <p:cNvPr id="62" name="Rectangle 62"/>
            <p:cNvSpPr/>
            <p:nvPr/>
          </p:nvSpPr>
          <p:spPr>
            <a:xfrm>
              <a:off x="6248400" y="4638675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57950" y="484822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35356" y="48839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解怎么表示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85698" y="488346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一个动作序列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50330" y="5244465"/>
              <a:ext cx="47110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上面这个 4 × 4 迷宫只有一条通路，动作序列是 1 2 2 2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1，也就是右、下、下、下、右、右。解数组 ans 的第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位记第 k 步选了哪个方向。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递归与回溯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迷宫寻径的回溯代码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3495675"/>
            <a:chOff x="533400" y="1524000"/>
            <a:chExt cx="6276022" cy="3495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947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find，填解数组的第 k 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085971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feasible(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y) {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(x, y) 能不能走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&gt;= 0 &amp;&amp; x &lt; n &amp;&amp; y &gt;= 0 &amp;&amp; y &lt; m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&amp;&amp; vis[x][y] == 0 &amp;&amp; map[x][y] ==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find(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tx,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ty,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(x == tx &amp;&amp; y == ty) { Print(ans, k);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4; i++)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nx = x + dx[i], ny = y + dy[i];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(feasible(nx, ny))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ans[k] = i;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 k 步选动作 i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vis[nx][ny] = 1;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标记在当前路线上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find(nx, ny, tx, ty, ans, k + 1);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vis[nx][ny] = 0;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退回时撤销标记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5210175"/>
            <a:ext cx="6276022" cy="782955"/>
            <a:chOff x="533400" y="5210175"/>
            <a:chExt cx="6276022" cy="782955"/>
          </a:xfrm>
        </p:grpSpPr>
        <p:sp>
          <p:nvSpPr>
            <p:cNvPr id="11" name="Rectangle 11"/>
            <p:cNvSpPr/>
            <p:nvPr/>
          </p:nvSpPr>
          <p:spPr>
            <a:xfrm>
              <a:off x="533400" y="5210175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5501642"/>
              <a:ext cx="200023" cy="200023"/>
              <a:chOff x="738188" y="5501642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5016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55683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130" y="5358765"/>
              <a:ext cx="5368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 k 既是解数组的下标，也是已经走过的步数。ans 要开到迷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宫格子数那么长，因为最坏情况下一条路径会经过每一块空地。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7114222" y="1524000"/>
            <a:ext cx="4544378" cy="858202"/>
            <a:chOff x="7114222" y="1524000"/>
            <a:chExt cx="4544378" cy="858202"/>
          </a:xfrm>
        </p:grpSpPr>
        <p:sp>
          <p:nvSpPr>
            <p:cNvPr id="17" name="Rectangle 17"/>
            <p:cNvSpPr/>
            <p:nvPr/>
          </p:nvSpPr>
          <p:spPr>
            <a:xfrm>
              <a:off x="7114222" y="1524000"/>
              <a:ext cx="4544378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42620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初始调用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42620" y="1935956"/>
              <a:ext cx="1995043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vis[sx][sy] = 1;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find(sx, sy, tx, ty, ans, 0);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7114222" y="2572702"/>
            <a:ext cx="4544378" cy="1986915"/>
            <a:chOff x="7114222" y="2572702"/>
            <a:chExt cx="4544378" cy="1986915"/>
          </a:xfrm>
        </p:grpSpPr>
        <p:sp>
          <p:nvSpPr>
            <p:cNvPr id="21" name="Rectangle 21"/>
            <p:cNvSpPr/>
            <p:nvPr/>
          </p:nvSpPr>
          <p:spPr>
            <a:xfrm>
              <a:off x="7114222" y="2572702"/>
              <a:ext cx="4544378" cy="1986915"/>
            </a:xfrm>
            <a:prstGeom prst="roundRect">
              <a:avLst>
                <a:gd name="adj" fmla="val 671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323772" y="278225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05129" y="28179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三句口诀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329488" y="322230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87602" y="3159442"/>
              <a:ext cx="36903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可行则进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：feasible 通过就递归到下一格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329488" y="355758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87602" y="3494722"/>
              <a:ext cx="3023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不行则换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：换下一个方向 i 接着试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329488" y="389286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87602" y="3830002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换不了则退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：四个方向都试完，函数返回，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回到上一格</a:t>
              </a:r>
            </a:p>
          </p:txBody>
        </p:sp>
      </p:grpSp>
      <p:grpSp>
        <p:nvGrpSpPr>
          <p:cNvPr id="37" name="c2-callout-3"/>
          <p:cNvGrpSpPr/>
          <p:nvPr/>
        </p:nvGrpSpPr>
        <p:grpSpPr>
          <a:xfrm>
            <a:off x="7114222" y="4750118"/>
            <a:ext cx="4544378" cy="1243012"/>
            <a:chOff x="7114222" y="4750118"/>
            <a:chExt cx="4544378" cy="1243012"/>
          </a:xfrm>
        </p:grpSpPr>
        <p:sp>
          <p:nvSpPr>
            <p:cNvPr id="31" name="Rectangle 31"/>
            <p:cNvSpPr/>
            <p:nvPr/>
          </p:nvSpPr>
          <p:spPr>
            <a:xfrm>
              <a:off x="7114222" y="4750118"/>
              <a:ext cx="4544378" cy="1243012"/>
            </a:xfrm>
            <a:prstGeom prst="roundRect">
              <a:avLst>
                <a:gd name="adj" fmla="val 91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19010" y="5271135"/>
              <a:ext cx="200026" cy="200026"/>
              <a:chOff x="7319010" y="5271135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19010" y="52711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419023" y="53378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407910" y="53711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620952" y="4990148"/>
              <a:ext cx="35966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 ans 记的是动作序号，参数 k 既是下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标也是已走的步数。Print 输出的就是一条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完整路径。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66170" cy="909257"/>
            <a:chOff x="520446" y="342900"/>
            <a:chExt cx="48661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递归与回溯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661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回溯时为什么一定要把 vis 清零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456361" cy="293370"/>
            <a:chOff x="525780" y="1548765"/>
            <a:chExt cx="7456361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4563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用一个 3 × 3 的小迷宫看得最清楚：只有正中间一格有障碍，从左上角走到右下角。</a:t>
              </a:r>
            </a:p>
          </p:txBody>
        </p:sp>
      </p:grpSp>
      <p:grpSp>
        <p:nvGrpSpPr>
          <p:cNvPr id="24" name="c1-cells-1"/>
          <p:cNvGrpSpPr/>
          <p:nvPr/>
        </p:nvGrpSpPr>
        <p:grpSpPr>
          <a:xfrm>
            <a:off x="527304" y="1954530"/>
            <a:ext cx="2085404" cy="1504950"/>
            <a:chOff x="527304" y="1954530"/>
            <a:chExt cx="2085404" cy="1504950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07645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5358" y="1954530"/>
              <a:ext cx="55245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3942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07808" y="1954530"/>
              <a:ext cx="55245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060258" y="1954530"/>
              <a:ext cx="55245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7304" y="2631757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5358" y="2509838"/>
              <a:ext cx="41910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374458" y="2509838"/>
              <a:ext cx="419100" cy="3943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31266" y="26317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793558" y="2509838"/>
              <a:ext cx="41910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7304" y="3187065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55358" y="3065145"/>
              <a:ext cx="55245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7808" y="3065145"/>
              <a:ext cx="55245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060258" y="3065145"/>
              <a:ext cx="55245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168842" y="31870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终点</a:t>
              </a:r>
            </a:p>
          </p:txBody>
        </p:sp>
      </p:grpSp>
      <p:grpSp>
        <p:nvGrpSpPr>
          <p:cNvPr id="42" name="c1-table-2"/>
          <p:cNvGrpSpPr/>
          <p:nvPr/>
        </p:nvGrpSpPr>
        <p:grpSpPr>
          <a:xfrm>
            <a:off x="528066" y="3638550"/>
            <a:ext cx="5199316" cy="1553147"/>
            <a:chOff x="528066" y="3638550"/>
            <a:chExt cx="5199316" cy="1553147"/>
          </a:xfrm>
        </p:grpSpPr>
        <p:sp>
          <p:nvSpPr>
            <p:cNvPr id="25" name="Rectangle 25"/>
            <p:cNvSpPr/>
            <p:nvPr/>
          </p:nvSpPr>
          <p:spPr>
            <a:xfrm>
              <a:off x="533400" y="3638550"/>
              <a:ext cx="5193982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44905" y="376713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28557" y="376713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找到的路径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88242" y="376713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889" y="419195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回溯时清零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94179" y="419195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右右下下、下下右右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86872" y="41919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834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488180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889" y="461581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回溯时不清零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94179" y="461581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只剩下右右下下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593908" y="4497705"/>
              <a:ext cx="1123950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86872" y="46158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638550"/>
              <a:ext cx="5193982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086928" y="363855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579620" y="363855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8066" y="4986338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两种写法在同一个迷宫上的实际结果，已用脚本跑过</a:t>
              </a:r>
            </a:p>
          </p:txBody>
        </p:sp>
      </p:grpSp>
      <p:grpSp>
        <p:nvGrpSpPr>
          <p:cNvPr id="49" name="c1-callout-3"/>
          <p:cNvGrpSpPr/>
          <p:nvPr/>
        </p:nvGrpSpPr>
        <p:grpSpPr>
          <a:xfrm>
            <a:off x="533400" y="5331142"/>
            <a:ext cx="5193982" cy="1018222"/>
            <a:chOff x="533400" y="5331142"/>
            <a:chExt cx="5193982" cy="1018222"/>
          </a:xfrm>
        </p:grpSpPr>
        <p:sp>
          <p:nvSpPr>
            <p:cNvPr id="43" name="Rectangle 43"/>
            <p:cNvSpPr/>
            <p:nvPr/>
          </p:nvSpPr>
          <p:spPr>
            <a:xfrm>
              <a:off x="533400" y="5331142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740718"/>
              <a:ext cx="200026" cy="200026"/>
              <a:chOff x="738188" y="574071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7407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58073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58407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5478304"/>
              <a:ext cx="41622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两条路径除起点和终点外没有公共格子。不清零时，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第一条路径留下的标记里正好包含终点，第二条路径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走到终点跟前就被 feasible 挡住了。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032182" y="1954530"/>
            <a:ext cx="5626418" cy="1521142"/>
            <a:chOff x="6032182" y="1954530"/>
            <a:chExt cx="5626418" cy="1521142"/>
          </a:xfrm>
        </p:grpSpPr>
        <p:sp>
          <p:nvSpPr>
            <p:cNvPr id="50" name="Rectangle 50"/>
            <p:cNvSpPr/>
            <p:nvPr/>
          </p:nvSpPr>
          <p:spPr>
            <a:xfrm>
              <a:off x="6032182" y="1954530"/>
              <a:ext cx="5626418" cy="1521142"/>
            </a:xfrm>
            <a:prstGeom prst="roundRect">
              <a:avLst>
                <a:gd name="adj" fmla="val 876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23064" y="2175986"/>
              <a:ext cx="15026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vis 标记的是什么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3064" y="2512219"/>
              <a:ext cx="498284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vis 标记的是“当前这条行进路线上的格子”，不是“曾经到过的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格子”。退回一格时那格已经不在当前路线上了，必须清零，否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则后面的路线走不过去，就会漏掉解。</a:t>
              </a:r>
            </a:p>
          </p:txBody>
        </p:sp>
      </p:grpSp>
      <p:grpSp>
        <p:nvGrpSpPr>
          <p:cNvPr id="59" name="c2-bullets-2"/>
          <p:cNvGrpSpPr/>
          <p:nvPr/>
        </p:nvGrpSpPr>
        <p:grpSpPr>
          <a:xfrm>
            <a:off x="6024944" y="3679031"/>
            <a:ext cx="5314505" cy="1484567"/>
            <a:chOff x="6024944" y="3679031"/>
            <a:chExt cx="5314505" cy="1484567"/>
          </a:xfrm>
        </p:grpSpPr>
        <p:sp>
          <p:nvSpPr>
            <p:cNvPr id="54" name="TextBox 54"/>
            <p:cNvSpPr txBox="1"/>
            <p:nvPr/>
          </p:nvSpPr>
          <p:spPr>
            <a:xfrm>
              <a:off x="6024944" y="367903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两个变式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6032182" y="4045268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8103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75451" y="4015264"/>
              <a:ext cx="50098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只要找出一条路径：找到后层层返回即可，vis 不清零也不影响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正确性，而且更快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6032182" y="4643438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8103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75451" y="4613434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只要判断是否存在路径：不清零反而是对的，每格只访问一次，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时间从指数级降到 O(nm)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6032182" y="5287328"/>
            <a:ext cx="5626418" cy="1062038"/>
            <a:chOff x="6032182" y="5287328"/>
            <a:chExt cx="5626418" cy="1062038"/>
          </a:xfrm>
        </p:grpSpPr>
        <p:sp>
          <p:nvSpPr>
            <p:cNvPr id="60" name="Rectangle 60"/>
            <p:cNvSpPr/>
            <p:nvPr/>
          </p:nvSpPr>
          <p:spPr>
            <a:xfrm>
              <a:off x="6032182" y="5287328"/>
              <a:ext cx="5626418" cy="1062038"/>
            </a:xfrm>
            <a:prstGeom prst="roundRect">
              <a:avLst>
                <a:gd name="adj" fmla="val 10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224912" y="5715118"/>
              <a:ext cx="224134" cy="192560"/>
              <a:chOff x="6224912" y="5715118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336983" y="57854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224912" y="57151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336983" y="58632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539294" y="5587841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输出全部方案的代价本来就可能是指数级的，因为方案本身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就可能有指数多条。清零不是浪费，是题目要求决定的。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递归与回溯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回溯算法的两个基本框架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791778"/>
            <a:chOff x="533400" y="1524000"/>
            <a:chExt cx="5410200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框架一，输出全部解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687699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填解数组的第 k 位 ans[k]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(ans 已是一个解)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Print(ans);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(ans[k] 的每个可能取值 i)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(feasible(i))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ans[k] = i;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F(k + 1);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去填 ans[k+1]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初始调用 F(0) */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506278"/>
            <a:ext cx="5410200" cy="959168"/>
            <a:chOff x="533400" y="4506278"/>
            <a:chExt cx="5410200" cy="959168"/>
          </a:xfrm>
        </p:grpSpPr>
        <p:sp>
          <p:nvSpPr>
            <p:cNvPr id="11" name="Rectangle 11"/>
            <p:cNvSpPr/>
            <p:nvPr/>
          </p:nvSpPr>
          <p:spPr>
            <a:xfrm>
              <a:off x="533400" y="4506278"/>
              <a:ext cx="5410200" cy="959168"/>
            </a:xfrm>
            <a:prstGeom prst="roundRect">
              <a:avLst>
                <a:gd name="adj" fmla="val 1191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886325"/>
              <a:ext cx="200026" cy="200026"/>
              <a:chOff x="738188" y="4886325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8863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953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49863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74345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找到一个解以后仍然返回上一层继续试，直到所有分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支都走遍。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2967990"/>
            <a:chOff x="6248400" y="1524000"/>
            <a:chExt cx="5410200" cy="2967990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框架二，只找一个解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6797" y="1935956"/>
              <a:ext cx="2611120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(ans 已是一个解)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Print(ans);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(ans[k] 的每个可能取值 i)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(feasible(i))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ans[k] = i;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(F(k + 1))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初始调用 F(0) */</a:t>
              </a:r>
            </a:p>
          </p:txBody>
        </p:sp>
      </p:grpSp>
      <p:grpSp>
        <p:nvGrpSpPr>
          <p:cNvPr id="27" name="c2-callout-2"/>
          <p:cNvGrpSpPr/>
          <p:nvPr/>
        </p:nvGrpSpPr>
        <p:grpSpPr>
          <a:xfrm>
            <a:off x="6248400" y="4682490"/>
            <a:ext cx="5410200" cy="782955"/>
            <a:chOff x="6248400" y="4682490"/>
            <a:chExt cx="5410200" cy="782955"/>
          </a:xfrm>
        </p:grpSpPr>
        <p:sp>
          <p:nvSpPr>
            <p:cNvPr id="22" name="Rectangle 22"/>
            <p:cNvSpPr/>
            <p:nvPr/>
          </p:nvSpPr>
          <p:spPr>
            <a:xfrm>
              <a:off x="6248400" y="468249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453188" y="4973957"/>
              <a:ext cx="200023" cy="200023"/>
              <a:chOff x="6453188" y="4973957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453188" y="49739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86538" y="50406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55130" y="4831080"/>
              <a:ext cx="43014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两者的差别只在返回值。框架二一旦成功就把 true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一路传回去，沿途每层的循环立刻结束。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8" name="Rectangle 2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991225"/>
              <a:ext cx="105559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写回溯先想清楚三件事：解数组的每一位表示什么、这一位的取值范围是什么、feasible 怎么判。剩下的就是套框架。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216511" cy="909257"/>
            <a:chOff x="520446" y="342900"/>
            <a:chExt cx="42165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递归与回溯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2165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八皇后：从 8 重循环到回溯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018792" cy="308039"/>
            <a:chOff x="525399" y="1550194"/>
            <a:chExt cx="1101879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0187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× 8 的棋盘上放 8 个皇后，任意两个都不在同一行、同一列、同一斜线上。用 A[k] 表示第 k 列的皇后放在第几行。</a:t>
              </a:r>
            </a:p>
          </p:txBody>
        </p:sp>
      </p:grpSp>
      <p:grpSp>
        <p:nvGrpSpPr>
          <p:cNvPr id="43" name="c1-cells-1"/>
          <p:cNvGrpSpPr/>
          <p:nvPr/>
        </p:nvGrpSpPr>
        <p:grpSpPr>
          <a:xfrm>
            <a:off x="526923" y="1967865"/>
            <a:ext cx="3963162" cy="1009650"/>
            <a:chOff x="526923" y="1967865"/>
            <a:chExt cx="3963162" cy="1009650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209788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列号 k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3728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9060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5638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970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7548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2880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9458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4790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1368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6700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3278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8610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5188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0520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7098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2430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6923" y="2688431"/>
              <a:ext cx="422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A[k]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7285" y="255841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90602" y="26884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556385" y="255841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09702" y="26884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975485" y="255841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128802" y="26884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394585" y="255841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547902" y="26884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813685" y="255841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67002" y="26884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232785" y="255841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386102" y="26884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651885" y="255841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805202" y="26884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070985" y="255841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24302" y="26884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50" name="c1-card-2"/>
          <p:cNvGrpSpPr/>
          <p:nvPr/>
        </p:nvGrpSpPr>
        <p:grpSpPr>
          <a:xfrm>
            <a:off x="533400" y="3168015"/>
            <a:ext cx="4977765" cy="2947035"/>
            <a:chOff x="533400" y="3168015"/>
            <a:chExt cx="4977765" cy="2947035"/>
          </a:xfrm>
        </p:grpSpPr>
        <p:sp>
          <p:nvSpPr>
            <p:cNvPr id="44" name="Rectangle 44"/>
            <p:cNvSpPr/>
            <p:nvPr/>
          </p:nvSpPr>
          <p:spPr>
            <a:xfrm>
              <a:off x="533400" y="3168015"/>
              <a:ext cx="4977765" cy="2947035"/>
            </a:xfrm>
            <a:prstGeom prst="roundRect">
              <a:avLst>
                <a:gd name="adj" fmla="val 452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42950" y="33775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5259" y="34132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解的表示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627822" y="341280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一个数组就够了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5330" y="3773805"/>
              <a:ext cx="4387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每列必有且只有一个皇后，所以解一定是 1 到 8 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一个排列。用 A[k] 记第 k 列皇后所在的行，同列冲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突就自动排除了，剩下只需判行和斜线。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473" y="4676299"/>
              <a:ext cx="42557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上面这组 4 6 8 3 1 7 5 2 是源课件给的解，脚本验证确实合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54" name="c2-code-1"/>
          <p:cNvGrpSpPr/>
          <p:nvPr/>
        </p:nvGrpSpPr>
        <p:grpSpPr>
          <a:xfrm>
            <a:off x="5815965" y="1967865"/>
            <a:ext cx="5842635" cy="1384935"/>
            <a:chOff x="5815965" y="1967865"/>
            <a:chExt cx="5842635" cy="1384935"/>
          </a:xfrm>
        </p:grpSpPr>
        <p:sp>
          <p:nvSpPr>
            <p:cNvPr id="51" name="Rectangle 51"/>
            <p:cNvSpPr/>
            <p:nvPr/>
          </p:nvSpPr>
          <p:spPr>
            <a:xfrm>
              <a:off x="5815965" y="1967865"/>
              <a:ext cx="5842635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44362" y="2119789"/>
              <a:ext cx="10511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穷举法，8 重循环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44362" y="2379821"/>
              <a:ext cx="2679573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(A[1] = 1; A[1] &lt;= 8; A[1]++)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(A[2] = 1; A[2] &lt;= 8; A[2]++)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…… 中间还有 5 层 ……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(A[8] = 1; A[8] &lt;= 8; A[8]++)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(feasible(A)) Print(A);</a:t>
              </a:r>
            </a:p>
          </p:txBody>
        </p:sp>
      </p:grpSp>
      <p:grpSp>
        <p:nvGrpSpPr>
          <p:cNvPr id="67" name="c2-table-2"/>
          <p:cNvGrpSpPr/>
          <p:nvPr/>
        </p:nvGrpSpPr>
        <p:grpSpPr>
          <a:xfrm>
            <a:off x="5810250" y="3543300"/>
            <a:ext cx="5848350" cy="1642587"/>
            <a:chOff x="5810250" y="3543300"/>
            <a:chExt cx="5848350" cy="1642587"/>
          </a:xfrm>
        </p:grpSpPr>
        <p:sp>
          <p:nvSpPr>
            <p:cNvPr id="55" name="Rectangle 55"/>
            <p:cNvSpPr/>
            <p:nvPr/>
          </p:nvSpPr>
          <p:spPr>
            <a:xfrm>
              <a:off x="5815965" y="35433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56412" y="36790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46945" y="36790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要检查的方案数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23788" y="4127659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重循环穷举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61310" y="4127659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8⁸ = 16 777 216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15965" y="44357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815965" y="44405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23788" y="457628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回溯法，发现冲突立刻剪枝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61310" y="457628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只展开其中很小一部分分支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815965" y="3543300"/>
              <a:ext cx="584263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848725" y="35433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810250" y="4965859"/>
              <a:ext cx="5198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八皇后共有 92 个解，已用脚本复核；源课件提到数学家高斯当年只找到 76 个</a:t>
              </a:r>
            </a:p>
          </p:txBody>
        </p:sp>
      </p:grpSp>
      <p:grpSp>
        <p:nvGrpSpPr>
          <p:cNvPr id="74" name="c2-callout-3"/>
          <p:cNvGrpSpPr/>
          <p:nvPr/>
        </p:nvGrpSpPr>
        <p:grpSpPr>
          <a:xfrm>
            <a:off x="5815965" y="5332095"/>
            <a:ext cx="5842635" cy="782955"/>
            <a:chOff x="5815965" y="5332095"/>
            <a:chExt cx="5842635" cy="782955"/>
          </a:xfrm>
        </p:grpSpPr>
        <p:sp>
          <p:nvSpPr>
            <p:cNvPr id="68" name="Rectangle 68"/>
            <p:cNvSpPr/>
            <p:nvPr/>
          </p:nvSpPr>
          <p:spPr>
            <a:xfrm>
              <a:off x="5815965" y="533209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008694" y="5619868"/>
              <a:ext cx="224134" cy="192560"/>
              <a:chOff x="6008694" y="5619868"/>
              <a:chExt cx="224134" cy="19256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120765" y="56902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008694" y="56198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120765" y="57680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322695" y="5480685"/>
              <a:ext cx="4834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穷举法把层数写死成 8 层，换成 n 皇后就得改代码。回溯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法用递归代替这 8 层循环，n 只是一个参数。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82575" cy="909257"/>
            <a:chOff x="520446" y="342900"/>
            <a:chExt cx="65825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递归与回溯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825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皇后的可行性判断，和 4 皇后的递归展开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1855470"/>
            <a:chOff x="533400" y="1524000"/>
            <a:chExt cx="5842635" cy="18554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855470"/>
            </a:xfrm>
            <a:prstGeom prst="roundRect">
              <a:avLst>
                <a:gd name="adj" fmla="val 513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回溯主体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461766" cy="1358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Nqueens(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填 A[k]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 n) { Print(A, n);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}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n 位都填完了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(feasible(A, k, i)) {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A[k] 能否等于 i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A[k] = i;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Nqueens(A, n, k + 1);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初始调用 Nqueens(A, n, 1) */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544252"/>
            <a:ext cx="5842635" cy="1556385"/>
            <a:chOff x="533400" y="3544252"/>
            <a:chExt cx="5842635" cy="1556385"/>
          </a:xfrm>
        </p:grpSpPr>
        <p:sp>
          <p:nvSpPr>
            <p:cNvPr id="11" name="Rectangle 11"/>
            <p:cNvSpPr/>
            <p:nvPr/>
          </p:nvSpPr>
          <p:spPr>
            <a:xfrm>
              <a:off x="533400" y="3544252"/>
              <a:ext cx="5842635" cy="1556385"/>
            </a:xfrm>
            <a:prstGeom prst="roundRect">
              <a:avLst>
                <a:gd name="adj" fmla="val 61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696176"/>
              <a:ext cx="19172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feasible，只需和前 k−1 列比较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3955256"/>
              <a:ext cx="3175381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feasible(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&lt;= k - 1; j++)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(A[j] == i ||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同一行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abs(A[j] - i) == abs(j - k))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同一斜线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llout-3"/>
          <p:cNvGrpSpPr/>
          <p:nvPr/>
        </p:nvGrpSpPr>
        <p:grpSpPr>
          <a:xfrm>
            <a:off x="533400" y="5265420"/>
            <a:ext cx="5842635" cy="937260"/>
            <a:chOff x="533400" y="5265420"/>
            <a:chExt cx="5842635" cy="937260"/>
          </a:xfrm>
        </p:grpSpPr>
        <p:sp>
          <p:nvSpPr>
            <p:cNvPr id="15" name="Rectangle 15"/>
            <p:cNvSpPr/>
            <p:nvPr/>
          </p:nvSpPr>
          <p:spPr>
            <a:xfrm>
              <a:off x="533400" y="5265420"/>
              <a:ext cx="5842635" cy="937260"/>
            </a:xfrm>
            <a:prstGeom prst="roundRect">
              <a:avLst>
                <a:gd name="adj" fmla="val 1219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634040"/>
              <a:ext cx="200023" cy="200023"/>
              <a:chOff x="738188" y="5634040"/>
              <a:chExt cx="200023" cy="2000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6340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1538" y="57007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1273" y="5410676"/>
              <a:ext cx="481660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feasible 每次只与已经填好的前 k−1 列比较，填第 k 列的代价是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O(k)，全程不需要额外的标记数组。用 A 数组表示解，同列冲突在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表示层面就被排除了。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680835" y="1524000"/>
            <a:ext cx="4977765" cy="1403032"/>
            <a:chOff x="6680835" y="1524000"/>
            <a:chExt cx="4977765" cy="1403032"/>
          </a:xfrm>
        </p:grpSpPr>
        <p:sp>
          <p:nvSpPr>
            <p:cNvPr id="21" name="Rectangle 21"/>
            <p:cNvSpPr/>
            <p:nvPr/>
          </p:nvSpPr>
          <p:spPr>
            <a:xfrm>
              <a:off x="6680835" y="1524000"/>
              <a:ext cx="4977765" cy="1403032"/>
            </a:xfrm>
            <a:prstGeom prst="roundRect">
              <a:avLst>
                <a:gd name="adj" fmla="val 950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861810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7332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斜线判据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77341" y="174450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行差的绝对值等于列差的绝对值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55333" y="2061686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j 列第 A[j] 行与第 k 列第 i 行处在同一条斜线上，等价于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这两个差的绝对值相等。两个方向的对角线被这一个式子一起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覆盖了。</a:t>
              </a:r>
            </a:p>
          </p:txBody>
        </p:sp>
      </p:grpSp>
      <p:grpSp>
        <p:nvGrpSpPr>
          <p:cNvPr id="61" name="c2-tree-2"/>
          <p:cNvGrpSpPr/>
          <p:nvPr/>
        </p:nvGrpSpPr>
        <p:grpSpPr>
          <a:xfrm>
            <a:off x="6904369" y="3033712"/>
            <a:ext cx="4468176" cy="2036446"/>
            <a:chOff x="6904369" y="3033712"/>
            <a:chExt cx="4468176" cy="2036446"/>
          </a:xfrm>
        </p:grpSpPr>
        <p:sp>
          <p:nvSpPr>
            <p:cNvPr id="27" name="Freeform 27"/>
            <p:cNvSpPr/>
            <p:nvPr/>
          </p:nvSpPr>
          <p:spPr>
            <a:xfrm>
              <a:off x="8547735" y="4416742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547735" y="4038600"/>
              <a:ext cx="9525" cy="378142"/>
            </a:xfrm>
            <a:custGeom>
              <a:avLst/>
              <a:gdLst/>
              <a:ahLst/>
              <a:cxnLst/>
              <a:rect l="l" t="t" r="r" b="b"/>
              <a:pathLst>
                <a:path w="9525" h="378142">
                  <a:moveTo>
                    <a:pt x="0" y="0"/>
                  </a:moveTo>
                  <a:lnTo>
                    <a:pt x="0" y="3781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547735" y="3659505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791700" y="4416742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791700" y="4038600"/>
              <a:ext cx="9525" cy="378142"/>
            </a:xfrm>
            <a:custGeom>
              <a:avLst/>
              <a:gdLst/>
              <a:ahLst/>
              <a:cxnLst/>
              <a:rect l="l" t="t" r="r" b="b"/>
              <a:pathLst>
                <a:path w="9525" h="378142">
                  <a:moveTo>
                    <a:pt x="0" y="0"/>
                  </a:moveTo>
                  <a:lnTo>
                    <a:pt x="0" y="3781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791700" y="3659505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303770" y="3281362"/>
              <a:ext cx="1865948" cy="378142"/>
            </a:xfrm>
            <a:custGeom>
              <a:avLst/>
              <a:gdLst/>
              <a:ahLst/>
              <a:cxnLst/>
              <a:rect l="l" t="t" r="r" b="b"/>
              <a:pathLst>
                <a:path w="1865948" h="378142">
                  <a:moveTo>
                    <a:pt x="1865948" y="0"/>
                  </a:moveTo>
                  <a:lnTo>
                    <a:pt x="0" y="3781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547735" y="3281362"/>
              <a:ext cx="621983" cy="378142"/>
            </a:xfrm>
            <a:custGeom>
              <a:avLst/>
              <a:gdLst/>
              <a:ahLst/>
              <a:cxnLst/>
              <a:rect l="l" t="t" r="r" b="b"/>
              <a:pathLst>
                <a:path w="621983" h="378142">
                  <a:moveTo>
                    <a:pt x="621983" y="0"/>
                  </a:moveTo>
                  <a:lnTo>
                    <a:pt x="0" y="3781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169718" y="3281362"/>
              <a:ext cx="621982" cy="378142"/>
            </a:xfrm>
            <a:custGeom>
              <a:avLst/>
              <a:gdLst/>
              <a:ahLst/>
              <a:cxnLst/>
              <a:rect l="l" t="t" r="r" b="b"/>
              <a:pathLst>
                <a:path w="621982" h="378142">
                  <a:moveTo>
                    <a:pt x="0" y="0"/>
                  </a:moveTo>
                  <a:lnTo>
                    <a:pt x="621982" y="3781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169718" y="3281362"/>
              <a:ext cx="1866900" cy="378142"/>
            </a:xfrm>
            <a:custGeom>
              <a:avLst/>
              <a:gdLst/>
              <a:ahLst/>
              <a:cxnLst/>
              <a:rect l="l" t="t" r="r" b="b"/>
              <a:pathLst>
                <a:path w="1866900" h="378142">
                  <a:moveTo>
                    <a:pt x="0" y="0"/>
                  </a:moveTo>
                  <a:lnTo>
                    <a:pt x="1866900" y="3781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029450" y="3385185"/>
              <a:ext cx="548640" cy="54864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273415" y="4521518"/>
              <a:ext cx="548640" cy="54864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273415" y="4142422"/>
              <a:ext cx="548640" cy="5486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273415" y="3764280"/>
              <a:ext cx="548640" cy="5486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8273415" y="3385185"/>
              <a:ext cx="548640" cy="5486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9517380" y="4521518"/>
              <a:ext cx="548640" cy="54864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517380" y="4142422"/>
              <a:ext cx="548640" cy="5486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9517380" y="3764280"/>
              <a:ext cx="548640" cy="5486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9517380" y="3385185"/>
              <a:ext cx="548640" cy="5486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0762298" y="3385185"/>
              <a:ext cx="548640" cy="54864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8922068" y="3033712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77220" y="3604260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A[1]=1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04369" y="3891439"/>
              <a:ext cx="798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 列无处可放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21185" y="4739640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A[4]=3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21185" y="4361498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A[3]=1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21185" y="3982402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A[2]=4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21185" y="3604260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A[1]=2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565150" y="4739640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A[4]=2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65150" y="4361498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A[3]=4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65150" y="3982402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A[2]=1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65150" y="3604260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A[1]=3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10067" y="3604260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A[1]=4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700690" y="3891439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与第一支对称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83218" y="322516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空棋盘</a:t>
              </a:r>
            </a:p>
          </p:txBody>
        </p:sp>
      </p:grpSp>
      <p:grpSp>
        <p:nvGrpSpPr>
          <p:cNvPr id="68" name="c2-callout-3"/>
          <p:cNvGrpSpPr/>
          <p:nvPr/>
        </p:nvGrpSpPr>
        <p:grpSpPr>
          <a:xfrm>
            <a:off x="6680835" y="5321618"/>
            <a:ext cx="4977765" cy="881062"/>
            <a:chOff x="6680835" y="5321618"/>
            <a:chExt cx="4977765" cy="881062"/>
          </a:xfrm>
        </p:grpSpPr>
        <p:sp>
          <p:nvSpPr>
            <p:cNvPr id="62" name="Rectangle 62"/>
            <p:cNvSpPr/>
            <p:nvPr/>
          </p:nvSpPr>
          <p:spPr>
            <a:xfrm>
              <a:off x="6680835" y="5321618"/>
              <a:ext cx="4977765" cy="881062"/>
            </a:xfrm>
            <a:prstGeom prst="roundRect">
              <a:avLst>
                <a:gd name="adj" fmla="val 1297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885623" y="5661660"/>
              <a:ext cx="200026" cy="200026"/>
              <a:chOff x="6885623" y="5661660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885623" y="56616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985635" y="57283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974523" y="57616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188708" y="5555456"/>
              <a:ext cx="40932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皇后只有 2 个解，脚本求出的正是 2 4 1 3 与 3 1 4 2。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图中省略了每一层里被 feasible 直接挡掉的分支。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43779" cy="909257"/>
            <a:chOff x="520446" y="342900"/>
            <a:chExt cx="52437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递归与回溯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43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快速幂：把 n 次乘法降到 log n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869924" cy="308039"/>
            <a:chOff x="525399" y="1550194"/>
            <a:chExt cx="886992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86992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给定实数 a 和正整数 n 求 aⁿ，不许调用库函数。朴素写法是一个循环连乘 n 次，时间 O(n)。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9"/>
              <p:cNvSpPr txBox="1">
                <a:spLocks noGrp="1"/>
              </p:cNvSpPr>
              <p:nvPr/>
            </p:nvSpPr>
            <p:spPr>
              <a:xfrm>
                <a:off x="533400" y="1967865"/>
                <a:ext cx="5410200" cy="941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p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n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/</m:t>
                                          </m:r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2k</m:t>
                              </m:r>
                            </m:e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9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9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n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sz="19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zh-CN" sz="19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/</m:t>
                                          </m:r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⋅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2k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3" name="c1-code-2"/>
          <p:cNvGrpSpPr/>
          <p:nvPr/>
        </p:nvGrpSpPr>
        <p:grpSpPr>
          <a:xfrm>
            <a:off x="533400" y="3099435"/>
            <a:ext cx="5410200" cy="1737360"/>
            <a:chOff x="533400" y="3099435"/>
            <a:chExt cx="5410200" cy="1737360"/>
          </a:xfrm>
        </p:grpSpPr>
        <p:sp>
          <p:nvSpPr>
            <p:cNvPr id="10" name="Rectangle 10"/>
            <p:cNvSpPr/>
            <p:nvPr/>
          </p:nvSpPr>
          <p:spPr>
            <a:xfrm>
              <a:off x="533400" y="3099435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325135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递归写法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1797" y="3511391"/>
              <a:ext cx="3482340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pow(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== 1 || n == 0)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= pow(a, n / 2);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子问题只算一次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 = b * b;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% 2 == 1) ans *= a;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3"/>
          <p:cNvGrpSpPr/>
          <p:nvPr/>
        </p:nvGrpSpPr>
        <p:grpSpPr>
          <a:xfrm>
            <a:off x="533400" y="5026342"/>
            <a:ext cx="5410200" cy="1059180"/>
            <a:chOff x="533400" y="5026342"/>
            <a:chExt cx="5410200" cy="1059180"/>
          </a:xfrm>
        </p:grpSpPr>
        <p:sp>
          <p:nvSpPr>
            <p:cNvPr id="14" name="Rectangle 14"/>
            <p:cNvSpPr/>
            <p:nvPr/>
          </p:nvSpPr>
          <p:spPr>
            <a:xfrm>
              <a:off x="533400" y="5026342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455922"/>
              <a:ext cx="200023" cy="200023"/>
              <a:chOff x="738188" y="5455922"/>
              <a:chExt cx="200023" cy="20002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4559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71538" y="55225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5174932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 </a:t>
              </a:r>
              <a:r>
                <a:rPr lang="en-US" sz="150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O(log n)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，空间也是 O(log n)，来自递归深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度。改成按二进制位扫描的循环写法，空间可以降到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O(1)。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67865"/>
            <a:ext cx="5410200" cy="1621155"/>
            <a:chOff x="6248400" y="1967865"/>
            <a:chExt cx="5410200" cy="1621155"/>
          </a:xfrm>
        </p:grpSpPr>
        <p:sp>
          <p:nvSpPr>
            <p:cNvPr id="20" name="Rectangle 20"/>
            <p:cNvSpPr/>
            <p:nvPr/>
          </p:nvSpPr>
          <p:spPr>
            <a:xfrm>
              <a:off x="6248400" y="1967865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210121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96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86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97078" y="221265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子问题必须只算一次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8430" y="2573655"/>
              <a:ext cx="4672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写成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pow(a, n/2) * pow(a, n/2)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就退化回 O(n)，因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为同一个子问题被算了两遍，递归树的结点数变成 n 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级。先存进 b 再平方，每层才只递归一次。</a:t>
              </a:r>
            </a:p>
          </p:txBody>
        </p:sp>
      </p:grpSp>
      <p:grpSp>
        <p:nvGrpSpPr>
          <p:cNvPr id="47" name="c2-table-2"/>
          <p:cNvGrpSpPr/>
          <p:nvPr/>
        </p:nvGrpSpPr>
        <p:grpSpPr>
          <a:xfrm>
            <a:off x="6242685" y="3779520"/>
            <a:ext cx="5415915" cy="2290286"/>
            <a:chOff x="6242685" y="3779520"/>
            <a:chExt cx="5415915" cy="2290286"/>
          </a:xfrm>
        </p:grpSpPr>
        <p:sp>
          <p:nvSpPr>
            <p:cNvPr id="27" name="Rectangle 27"/>
            <p:cNvSpPr/>
            <p:nvPr/>
          </p:nvSpPr>
          <p:spPr>
            <a:xfrm>
              <a:off x="6248400" y="377952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03697" y="391429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63027" y="391429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朴素写法的乘法次数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42754" y="391429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快速幂的乘法次数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51661" y="436292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09001" y="436292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19043" y="4362926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6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46720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467677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98360" y="4812506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67762" y="4812506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24270" y="4812506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18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51206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92736" y="5261134"/>
              <a:ext cx="11709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1 000 000 000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14228" y="526113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24270" y="5261134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58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377952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866698" y="377952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814560" y="377952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42685" y="5649754"/>
              <a:ext cx="4989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递归深度是 ⌊log₂ n⌋ + 1，每层最多两次乘法；脚本对 2¹⁰、3⁷、1.5²⁰ 三组数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据核对过结果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递归与回溯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消除递归之一：尾递归可以直接改成循环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50982" cy="597598"/>
            <a:chOff x="525399" y="1550194"/>
            <a:chExt cx="10650982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50982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递归调用出现在函数末尾，而且返回值就是这次递归调用的返回值，叫尾递归。这种情况下当前栈帧里的信息在调用之后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不再需要，所以可以用循环代替。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2257425"/>
            <a:ext cx="5410200" cy="1384935"/>
            <a:chOff x="533400" y="2257425"/>
            <a:chExt cx="5410200" cy="1384935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541020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4093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670334"/>
              <a:ext cx="3581908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== 0)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sum += n;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f(n - 1, sum);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最后一步，直接返回它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832860"/>
            <a:ext cx="5410200" cy="884872"/>
            <a:chOff x="533400" y="3832860"/>
            <a:chExt cx="5410200" cy="884872"/>
          </a:xfrm>
        </p:grpSpPr>
        <p:sp>
          <p:nvSpPr>
            <p:cNvPr id="13" name="Rectangle 13"/>
            <p:cNvSpPr/>
            <p:nvPr/>
          </p:nvSpPr>
          <p:spPr>
            <a:xfrm>
              <a:off x="533400" y="3832860"/>
              <a:ext cx="5410200" cy="884872"/>
            </a:xfrm>
            <a:prstGeom prst="roundRect">
              <a:avLst>
                <a:gd name="adj" fmla="val 1291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4172068"/>
              <a:ext cx="224134" cy="192560"/>
              <a:chOff x="726129" y="4172068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42424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41720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43202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170998"/>
              <a:ext cx="2991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空间 </a:t>
              </a:r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。n 很大时会栈溢出。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248400" y="2257425"/>
            <a:ext cx="5410200" cy="1737360"/>
            <a:chOff x="6248400" y="2257425"/>
            <a:chExt cx="5410200" cy="1737360"/>
          </a:xfrm>
        </p:grpSpPr>
        <p:sp>
          <p:nvSpPr>
            <p:cNvPr id="20" name="Rectangle 20"/>
            <p:cNvSpPr/>
            <p:nvPr/>
          </p:nvSpPr>
          <p:spPr>
            <a:xfrm>
              <a:off x="6248400" y="2257425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4093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循环版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6797" y="2670334"/>
              <a:ext cx="1584325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&gt; 0)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sum += n;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n--;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llout-2"/>
          <p:cNvGrpSpPr/>
          <p:nvPr/>
        </p:nvGrpSpPr>
        <p:grpSpPr>
          <a:xfrm>
            <a:off x="6248400" y="4185285"/>
            <a:ext cx="5410200" cy="533400"/>
            <a:chOff x="6248400" y="4185285"/>
            <a:chExt cx="5410200" cy="533400"/>
          </a:xfrm>
        </p:grpSpPr>
        <p:sp>
          <p:nvSpPr>
            <p:cNvPr id="24" name="Rectangle 24"/>
            <p:cNvSpPr/>
            <p:nvPr/>
          </p:nvSpPr>
          <p:spPr>
            <a:xfrm>
              <a:off x="6248400" y="4185285"/>
              <a:ext cx="5410200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53188" y="4351973"/>
              <a:ext cx="200026" cy="200026"/>
              <a:chOff x="6453188" y="4351973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453188" y="43519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19863" y="442976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755130" y="4347210"/>
              <a:ext cx="34405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空间 </a:t>
              </a:r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，行为和递归版完全一样。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0" name="Rectangle 3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728335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消除递归还有另外两条路：用一个自己的栈显式模拟递归过程（下面两页的汉诺塔），或者改写成自底向上的递推，也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就是动态规划。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递归与回溯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汉诺塔：三句话说清的递归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969340" cy="308039"/>
            <a:chOff x="525399" y="1550194"/>
            <a:chExt cx="996934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96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借助 B 柱，把 A 柱上的 n 个圆盘全部移到 C 柱。每次只能移动一个盘，任何时刻大盘不能压在小盘上面。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77390"/>
            <a:ext cx="3454557" cy="1878615"/>
            <a:chOff x="533400" y="1977390"/>
            <a:chExt cx="3454557" cy="1878615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011680"/>
              <a:ext cx="2164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HANOI(n−1, A, C, B)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304574"/>
              <a:ext cx="3041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借助 C 柱，把上面 n−1 个盘从 A 移到 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662238"/>
              <a:ext cx="1280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MOVE(A, C)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955131"/>
              <a:ext cx="2643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 柱剩下的第 n 号盘直接移到 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312795"/>
              <a:ext cx="2164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HANOI(n−1, B, A, C)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606641"/>
              <a:ext cx="28696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借助 A 柱，把那 n−1 个盘从 B 移到 C</a:t>
              </a:r>
            </a:p>
          </p:txBody>
        </p:sp>
      </p:grpSp>
      <p:grpSp>
        <p:nvGrpSpPr>
          <p:cNvPr id="51" name="c1-cells-2"/>
          <p:cNvGrpSpPr/>
          <p:nvPr/>
        </p:nvGrpSpPr>
        <p:grpSpPr>
          <a:xfrm>
            <a:off x="528638" y="4033838"/>
            <a:ext cx="3705224" cy="2190750"/>
            <a:chOff x="528638" y="4033838"/>
            <a:chExt cx="3705224" cy="2190750"/>
          </a:xfrm>
        </p:grpSpPr>
        <p:sp>
          <p:nvSpPr>
            <p:cNvPr id="23" name="TextBox 23"/>
            <p:cNvSpPr txBox="1"/>
            <p:nvPr/>
          </p:nvSpPr>
          <p:spPr>
            <a:xfrm>
              <a:off x="528638" y="418719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47762" y="4033838"/>
              <a:ext cx="1028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16688" y="4187190"/>
              <a:ext cx="4908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A：1 2 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176462" y="4033838"/>
              <a:ext cx="1028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27927" y="4187190"/>
              <a:ext cx="3257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B：空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205162" y="4033838"/>
              <a:ext cx="1028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56627" y="4187190"/>
              <a:ext cx="3257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C：空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8638" y="4777740"/>
              <a:ext cx="5192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1 步后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47762" y="4624388"/>
              <a:ext cx="1028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24822" y="4777740"/>
              <a:ext cx="2745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A：3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176462" y="4624388"/>
              <a:ext cx="1028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499455" y="4777740"/>
              <a:ext cx="3827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B：1 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205162" y="4624388"/>
              <a:ext cx="1028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556627" y="4777740"/>
              <a:ext cx="3257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C：空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8638" y="5368290"/>
              <a:ext cx="5192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2 步后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47762" y="5214938"/>
              <a:ext cx="1028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499227" y="5368290"/>
              <a:ext cx="3257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A：空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176462" y="5214938"/>
              <a:ext cx="1028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499455" y="5368290"/>
              <a:ext cx="3827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B：1 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205162" y="5214938"/>
              <a:ext cx="1028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582222" y="5368290"/>
              <a:ext cx="2745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C：3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8638" y="5958840"/>
              <a:ext cx="5192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3 步后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147762" y="5805488"/>
              <a:ext cx="1028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499227" y="5958840"/>
              <a:ext cx="3257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A：空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176462" y="5805488"/>
              <a:ext cx="1028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527927" y="5958840"/>
              <a:ext cx="3257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B：空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205162" y="5805488"/>
              <a:ext cx="1028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474088" y="5958840"/>
              <a:ext cx="4908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C：1 2 3</a:t>
              </a:r>
            </a:p>
          </p:txBody>
        </p:sp>
      </p:grpSp>
      <p:grpSp>
        <p:nvGrpSpPr>
          <p:cNvPr id="55" name="c2-code-1"/>
          <p:cNvGrpSpPr/>
          <p:nvPr/>
        </p:nvGrpSpPr>
        <p:grpSpPr>
          <a:xfrm>
            <a:off x="6248400" y="1967865"/>
            <a:ext cx="5410200" cy="1561148"/>
            <a:chOff x="6248400" y="1967865"/>
            <a:chExt cx="5410200" cy="1561148"/>
          </a:xfrm>
        </p:grpSpPr>
        <p:sp>
          <p:nvSpPr>
            <p:cNvPr id="52" name="Rectangle 52"/>
            <p:cNvSpPr/>
            <p:nvPr/>
          </p:nvSpPr>
          <p:spPr>
            <a:xfrm>
              <a:off x="6248400" y="1967865"/>
              <a:ext cx="5410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76797" y="2119789"/>
              <a:ext cx="7425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递归算法 HR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76797" y="2379821"/>
              <a:ext cx="3177413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HR(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== 1) { MOVE(A, C);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HR(n - 1, A, C, B);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借 C 柱，A 到 B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MOVE(A, C);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HR(n - 1, B, A, C);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借 A 柱，B 到 C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248400" y="3719512"/>
            <a:ext cx="5410200" cy="2506028"/>
            <a:chOff x="6248400" y="3719512"/>
            <a:chExt cx="5410200" cy="2506028"/>
          </a:xfrm>
        </p:grpSpPr>
        <p:sp>
          <p:nvSpPr>
            <p:cNvPr id="56" name="Rectangle 56"/>
            <p:cNvSpPr/>
            <p:nvPr/>
          </p:nvSpPr>
          <p:spPr>
            <a:xfrm>
              <a:off x="6248400" y="3719512"/>
              <a:ext cx="5410200" cy="2506028"/>
            </a:xfrm>
            <a:prstGeom prst="roundRect">
              <a:avLst>
                <a:gd name="adj" fmla="val 532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57950" y="392906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44208" y="39647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00900" y="3964305"/>
              <a:ext cx="3967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T(n) = 2T(n−1) + 1，解得 T(n) = 2ⁿ − 1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63665" y="438816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21780" y="4325302"/>
              <a:ext cx="2701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 </a:t>
              </a:r>
              <a:r>
                <a:rPr lang="en-US" sz="1500" b="1" dirty="0">
                  <a:solidFill>
                    <a:srgbClr val="FFC2BD"/>
                  </a:solidFill>
                  <a:latin typeface="+mn-lt"/>
                  <a:ea typeface="+mn-ea"/>
                  <a:cs typeface="+mn-cs"/>
                </a:rPr>
                <a:t>O(2ⁿ)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。n = 64 时要移动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18 446 744 073 709 551 615 次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63665" y="500919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21780" y="4946332"/>
              <a:ext cx="42035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空间 </a:t>
              </a:r>
              <a:r>
                <a:rPr lang="en-US" sz="150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。递归深度就是 n，和移动次数无关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51473" y="5277326"/>
              <a:ext cx="46702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时间和空间在这里差得极远，说明“一共调用了多少次”和“同时活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跃多少个栈帧”是两回事。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递归与回溯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消除递归之二：用栈保存还没处理的子任务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310351" cy="308039"/>
            <a:chOff x="525399" y="1550194"/>
            <a:chExt cx="1131035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3103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递归的本质是“先记下还要做什么，再去做眼前这件”。把这些待办的子任务显式放进自己的栈里，就不必依赖系统栈了。</a:t>
              </a:r>
            </a:p>
          </p:txBody>
        </p:sp>
      </p:grpSp>
      <p:grpSp>
        <p:nvGrpSpPr>
          <p:cNvPr id="18" name="c1-bullets-1"/>
          <p:cNvGrpSpPr/>
          <p:nvPr/>
        </p:nvGrpSpPr>
        <p:grpSpPr>
          <a:xfrm>
            <a:off x="525780" y="1992630"/>
            <a:ext cx="3100388" cy="1682115"/>
            <a:chOff x="525780" y="1992630"/>
            <a:chExt cx="3100388" cy="168211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四条对应关系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378392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3908" y="234696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产生新的子任务，对应入栈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723198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3908" y="26917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处理一个子任务，对应出栈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3068002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3908" y="303657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未来要先处理的子任务，后入栈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3412808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3908" y="33813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未来要后处理的子任务，先入栈</a:t>
              </a:r>
            </a:p>
          </p:txBody>
        </p:sp>
      </p:grpSp>
      <p:grpSp>
        <p:nvGrpSpPr>
          <p:cNvPr id="26" name="c1-cells-2"/>
          <p:cNvGrpSpPr/>
          <p:nvPr/>
        </p:nvGrpSpPr>
        <p:grpSpPr>
          <a:xfrm>
            <a:off x="528638" y="3806190"/>
            <a:ext cx="4367212" cy="419100"/>
            <a:chOff x="528638" y="3806190"/>
            <a:chExt cx="4367212" cy="419100"/>
          </a:xfrm>
        </p:grpSpPr>
        <p:sp>
          <p:nvSpPr>
            <p:cNvPr id="19" name="TextBox 19"/>
            <p:cNvSpPr txBox="1"/>
            <p:nvPr/>
          </p:nvSpPr>
          <p:spPr>
            <a:xfrm>
              <a:off x="528638" y="395954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栈顶在左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23950" y="3806190"/>
              <a:ext cx="1257300" cy="4191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86995" y="3959542"/>
              <a:ext cx="9312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(n−1, A, C, B)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381250" y="3806190"/>
              <a:ext cx="12573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611968" y="3959542"/>
              <a:ext cx="7958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A, B, C)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638550" y="3806190"/>
              <a:ext cx="12573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801595" y="3959542"/>
              <a:ext cx="9312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(n−1, B, A, C)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4415790"/>
            <a:ext cx="5193982" cy="1593532"/>
            <a:chOff x="533400" y="4415790"/>
            <a:chExt cx="5193982" cy="1593532"/>
          </a:xfrm>
        </p:grpSpPr>
        <p:sp>
          <p:nvSpPr>
            <p:cNvPr id="27" name="Rectangle 27"/>
            <p:cNvSpPr/>
            <p:nvPr/>
          </p:nvSpPr>
          <p:spPr>
            <a:xfrm>
              <a:off x="533400" y="4415790"/>
              <a:ext cx="5193982" cy="1593532"/>
            </a:xfrm>
            <a:prstGeom prst="roundRect">
              <a:avLst>
                <a:gd name="adj" fmla="val 717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112070"/>
              <a:ext cx="200023" cy="200023"/>
              <a:chOff x="738188" y="5112070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1120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51787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4969192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压栈次序和处理次序正好相反。递归算法里三行语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句自上而下执行，压栈时就要自下而上地压。</a:t>
              </a:r>
            </a:p>
          </p:txBody>
        </p:sp>
      </p:grpSp>
      <p:grpSp>
        <p:nvGrpSpPr>
          <p:cNvPr id="36" name="c2-code-1"/>
          <p:cNvGrpSpPr/>
          <p:nvPr/>
        </p:nvGrpSpPr>
        <p:grpSpPr>
          <a:xfrm>
            <a:off x="6032182" y="1967865"/>
            <a:ext cx="5626418" cy="2791778"/>
            <a:chOff x="6032182" y="1967865"/>
            <a:chExt cx="5626418" cy="2791778"/>
          </a:xfrm>
        </p:grpSpPr>
        <p:sp>
          <p:nvSpPr>
            <p:cNvPr id="33" name="Rectangle 33"/>
            <p:cNvSpPr/>
            <p:nvPr/>
          </p:nvSpPr>
          <p:spPr>
            <a:xfrm>
              <a:off x="6032182" y="1967865"/>
              <a:ext cx="5626418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60580" y="2119789"/>
              <a:ext cx="7059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迭代算法 HI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60580" y="2379821"/>
              <a:ext cx="4646041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HI(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Stack S;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元素是四元组 (n, A, B, C)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S.push(Task(n,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'B'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'C'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(!S.empty())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Task t = S.pop();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(t.n == 1) MOVE(t.A, t.C);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S.push(Task(t.n-1, t.B, t.A, t.C));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最后处理，先压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S.push(Task(1, t.A, t.B, t.C));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S.push(Task(t.n-1, t.A, t.C, t.B));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最先处理，后压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6032182" y="4950142"/>
            <a:ext cx="5626418" cy="1059180"/>
            <a:chOff x="6032182" y="4950142"/>
            <a:chExt cx="5626418" cy="1059180"/>
          </a:xfrm>
        </p:grpSpPr>
        <p:sp>
          <p:nvSpPr>
            <p:cNvPr id="37" name="Rectangle 37"/>
            <p:cNvSpPr/>
            <p:nvPr/>
          </p:nvSpPr>
          <p:spPr>
            <a:xfrm>
              <a:off x="6032182" y="4950142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236970" y="5379720"/>
              <a:ext cx="200026" cy="200026"/>
              <a:chOff x="6236970" y="5379720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236970" y="53797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303645" y="545750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538912" y="5098732"/>
              <a:ext cx="46729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已用脚本对 n 从 1 到 8 逐个比对，迭代版产生的移动序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列与递归版完全一致。n = 3 时都是 A→C、A→B、C→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B、A→C、B→A、B→C、A→C。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递归与回溯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栈的另一个应用：浏览器的前进和后退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637583" cy="264033"/>
            <a:chOff x="526542" y="1545907"/>
            <a:chExt cx="763758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637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backward 和 forward 两个栈，加上一个“当前页面”，就能实现浏览器最常用的三个动作。</a:t>
              </a:r>
            </a:p>
          </p:txBody>
        </p:sp>
      </p:grpSp>
      <p:grpSp>
        <p:nvGrpSpPr>
          <p:cNvPr id="28" name="c1-cells-1"/>
          <p:cNvGrpSpPr/>
          <p:nvPr/>
        </p:nvGrpSpPr>
        <p:grpSpPr>
          <a:xfrm>
            <a:off x="528066" y="1973104"/>
            <a:ext cx="2449450" cy="1887379"/>
            <a:chOff x="528066" y="1973104"/>
            <a:chExt cx="2449450" cy="1887379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326958"/>
              <a:ext cx="693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backward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10640" y="2214562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10934" y="2326958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URL₁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866900" y="2214562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66242" y="2326958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URL₂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22208" y="2214562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22502" y="2326958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URL₃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85187" y="197310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栈顶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2662238" y="211931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8066" y="28289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当前页面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310640" y="2716530"/>
              <a:ext cx="555308" cy="3562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10934" y="2828925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URL₄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8066" y="3616643"/>
              <a:ext cx="611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forward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310640" y="3504248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10934" y="3616643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URL₅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866900" y="3504248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966242" y="3616643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URL₆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28927" y="326278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栈顶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2105978" y="34089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35" name="c1-callout-2"/>
          <p:cNvGrpSpPr/>
          <p:nvPr/>
        </p:nvGrpSpPr>
        <p:grpSpPr>
          <a:xfrm>
            <a:off x="533400" y="4025265"/>
            <a:ext cx="4977765" cy="937260"/>
            <a:chOff x="533400" y="4025265"/>
            <a:chExt cx="4977765" cy="937260"/>
          </a:xfrm>
        </p:grpSpPr>
        <p:sp>
          <p:nvSpPr>
            <p:cNvPr id="29" name="Rectangle 29"/>
            <p:cNvSpPr/>
            <p:nvPr/>
          </p:nvSpPr>
          <p:spPr>
            <a:xfrm>
              <a:off x="533400" y="4025265"/>
              <a:ext cx="4977765" cy="937260"/>
            </a:xfrm>
            <a:prstGeom prst="roundRect">
              <a:avLst>
                <a:gd name="adj" fmla="val 121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4393883"/>
              <a:ext cx="200026" cy="200026"/>
              <a:chOff x="738188" y="4393883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43938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44605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44938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4169569"/>
              <a:ext cx="407695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两个栈合起来记的就是一条浏览历史，当前页面是这条历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史上的一个位置，backward 是它左边的部分，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forward 是右边的部分。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5815965" y="1928812"/>
            <a:ext cx="5842635" cy="2085975"/>
            <a:chOff x="5815965" y="1928812"/>
            <a:chExt cx="5842635" cy="2085975"/>
          </a:xfrm>
        </p:grpSpPr>
        <p:sp>
          <p:nvSpPr>
            <p:cNvPr id="36" name="Rectangle 36"/>
            <p:cNvSpPr/>
            <p:nvPr/>
          </p:nvSpPr>
          <p:spPr>
            <a:xfrm>
              <a:off x="5815965" y="1928812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7790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56283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98302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栈空时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10644" y="25203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27888" y="2426970"/>
              <a:ext cx="328441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当前页面压入 forward；从 backward 弹出一个作为当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前页面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67404" y="2426970"/>
              <a:ext cx="93078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backward 空则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28736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2878455"/>
              <a:ext cx="584263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10644" y="30889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27888" y="2995612"/>
              <a:ext cx="328441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当前页面压入 backward；从 forward 弹出一个作为当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前页面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67404" y="2995612"/>
              <a:ext cx="99079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forward 空则忽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34413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10644" y="365664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27888" y="3563302"/>
              <a:ext cx="319773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当前页面压入 backward；新网页作为当前页面；清空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forward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67404" y="365664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不会失败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1928812"/>
              <a:ext cx="5842635" cy="20859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28448" y="1928812"/>
              <a:ext cx="9525" cy="2085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367962" y="1928812"/>
              <a:ext cx="9525" cy="2085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rd-2"/>
          <p:cNvGrpSpPr/>
          <p:nvPr/>
        </p:nvGrpSpPr>
        <p:grpSpPr>
          <a:xfrm>
            <a:off x="5815965" y="4178618"/>
            <a:ext cx="5842635" cy="1143952"/>
            <a:chOff x="5815965" y="4178618"/>
            <a:chExt cx="5842635" cy="1143952"/>
          </a:xfrm>
        </p:grpSpPr>
        <p:sp>
          <p:nvSpPr>
            <p:cNvPr id="56" name="Rectangle 56"/>
            <p:cNvSpPr/>
            <p:nvPr/>
          </p:nvSpPr>
          <p:spPr>
            <a:xfrm>
              <a:off x="5815965" y="4178618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996940" y="4359592"/>
              <a:ext cx="1773555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49764" y="4392454"/>
              <a:ext cx="16679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为什么访问要清空 forward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990463" y="4700111"/>
              <a:ext cx="5231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一旦从历史中间岔出一条新路，原来“右边”的那段历史就作废了。这也是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浏览器里点开新链接之后，前进按钮会变灰的原因。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5815965" y="5488305"/>
            <a:ext cx="5842635" cy="702945"/>
            <a:chOff x="5815965" y="5488305"/>
            <a:chExt cx="5842635" cy="702945"/>
          </a:xfrm>
        </p:grpSpPr>
        <p:sp>
          <p:nvSpPr>
            <p:cNvPr id="61" name="Rectangle 61"/>
            <p:cNvSpPr/>
            <p:nvPr/>
          </p:nvSpPr>
          <p:spPr>
            <a:xfrm>
              <a:off x="5815965" y="5488305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020753" y="5738813"/>
              <a:ext cx="200026" cy="200025"/>
              <a:chOff x="6020753" y="5738813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020753" y="57388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060491" y="57832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095207" y="58943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323838" y="5632609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编辑器的撤销与重做是同一套结构，只是两个栈里存的从网址换成了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操作记录。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79745" cy="3351847"/>
            <a:chOff x="667512" y="1835468"/>
            <a:chExt cx="557974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队列的讨论及应用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循环队列判满的两种方案，以及按层推进的广度优先搜索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队空与队满的判据撞车了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计数器方案与牺牲一格方案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409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 求最短步数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7190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DFS 与 BFS 的分工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队列的讨论及应用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循环队列的麻烦：队空和队满给出同一个判据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618367" cy="278702"/>
            <a:chOff x="526161" y="1547336"/>
            <a:chExt cx="1061836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6183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约定 front 指向队首元素，rear 指向队尾元素的下一个位置。入队时 rear 后移，出队时 front 后移，都对 MaxSize 取模。</a:t>
              </a:r>
            </a:p>
          </p:txBody>
        </p:sp>
      </p:grpSp>
      <p:grpSp>
        <p:nvGrpSpPr>
          <p:cNvPr id="39" name="c1-cells-1"/>
          <p:cNvGrpSpPr/>
          <p:nvPr/>
        </p:nvGrpSpPr>
        <p:grpSpPr>
          <a:xfrm>
            <a:off x="528638" y="1966436"/>
            <a:ext cx="3719512" cy="1427322"/>
            <a:chOff x="528638" y="1966436"/>
            <a:chExt cx="3719512" cy="1427322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34315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队空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95350" y="2207895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314450" y="2207895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733550" y="2207895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152650" y="2207895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571750" y="2207895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990850" y="2207895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409950" y="2207895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29050" y="2207895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52825" y="1966436"/>
              <a:ext cx="10187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front 与 rear 重合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2324100" y="211264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8638" y="314706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队满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95350" y="30127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63173" y="31470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314450" y="30127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82273" y="31470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733550" y="30127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01373" y="31470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152650" y="30127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320473" y="31470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571750" y="30127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739573" y="31470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90850" y="30127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158673" y="31470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409950" y="30127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577773" y="31470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29050" y="30127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96873" y="31470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97630" y="2771299"/>
              <a:ext cx="11291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front 与 rear 又重合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2324100" y="291750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6" name="c1-callout-2"/>
          <p:cNvGrpSpPr/>
          <p:nvPr/>
        </p:nvGrpSpPr>
        <p:grpSpPr>
          <a:xfrm>
            <a:off x="533400" y="3569018"/>
            <a:ext cx="5193982" cy="729615"/>
            <a:chOff x="533400" y="3569018"/>
            <a:chExt cx="5193982" cy="729615"/>
          </a:xfrm>
        </p:grpSpPr>
        <p:sp>
          <p:nvSpPr>
            <p:cNvPr id="40" name="Rectangle 40"/>
            <p:cNvSpPr/>
            <p:nvPr/>
          </p:nvSpPr>
          <p:spPr>
            <a:xfrm>
              <a:off x="533400" y="356901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26129" y="3830121"/>
              <a:ext cx="224134" cy="192560"/>
              <a:chOff x="726129" y="3830121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38200" y="39004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6129" y="383012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39782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3714750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两种完全相反的状态给出同一个判据，必须再引入一点额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外信息才能区分。</a:t>
              </a:r>
            </a:p>
          </p:txBody>
        </p:sp>
      </p:grpSp>
      <p:grpSp>
        <p:nvGrpSpPr>
          <p:cNvPr id="52" name="c1-card-3"/>
          <p:cNvGrpSpPr/>
          <p:nvPr/>
        </p:nvGrpSpPr>
        <p:grpSpPr>
          <a:xfrm>
            <a:off x="533400" y="4472940"/>
            <a:ext cx="5193982" cy="1741170"/>
            <a:chOff x="533400" y="4472940"/>
            <a:chExt cx="5193982" cy="1741170"/>
          </a:xfrm>
        </p:grpSpPr>
        <p:sp>
          <p:nvSpPr>
            <p:cNvPr id="47" name="Rectangle 47"/>
            <p:cNvSpPr/>
            <p:nvPr/>
          </p:nvSpPr>
          <p:spPr>
            <a:xfrm>
              <a:off x="533400" y="4472940"/>
              <a:ext cx="5193982" cy="1741170"/>
            </a:xfrm>
            <a:prstGeom prst="roundRect">
              <a:avLst>
                <a:gd name="adj" fmla="val 765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25805" y="466534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3242" y="469963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为什么一定会撞车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109597" y="4705350"/>
              <a:ext cx="2866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两个下标只能分辨 MaxSize 种情况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8947" y="5039678"/>
              <a:ext cx="455714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数组有 MaxSize 个单元，队列中的元素个数却有 MaxSize +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种可能，从 0 一直到 MaxSize。而 (rear − front) 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MaxSize 取模只有 MaxSize 个不同取值，必然有两种状态挤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在一起，挤在一起的正好是全空和全满。</a:t>
              </a:r>
            </a:p>
          </p:txBody>
        </p:sp>
      </p:grpSp>
      <p:grpSp>
        <p:nvGrpSpPr>
          <p:cNvPr id="82" name="c2-table-1"/>
          <p:cNvGrpSpPr/>
          <p:nvPr/>
        </p:nvGrpSpPr>
        <p:grpSpPr>
          <a:xfrm>
            <a:off x="6026848" y="1941195"/>
            <a:ext cx="5631752" cy="3115247"/>
            <a:chOff x="6026848" y="1941195"/>
            <a:chExt cx="5631752" cy="3115247"/>
          </a:xfrm>
        </p:grpSpPr>
        <p:sp>
          <p:nvSpPr>
            <p:cNvPr id="53" name="Rectangle 53"/>
            <p:cNvSpPr/>
            <p:nvPr/>
          </p:nvSpPr>
          <p:spPr>
            <a:xfrm>
              <a:off x="6032182" y="1941195"/>
              <a:ext cx="562641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9481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33335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方案一：计数器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27895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方案二：空一格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32195" y="2471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69492" y="2471261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front = rear = 0，count = 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64052" y="2471261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front = rear = 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32182" y="27479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32182" y="275272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32195" y="28770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69492" y="28770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 == 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64052" y="2877026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front == rear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032182" y="31537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132195" y="33828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69492" y="3382804"/>
              <a:ext cx="1267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 == MaxSize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564052" y="3282791"/>
              <a:ext cx="165430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(rear + 1) % MaxSize ==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front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032182" y="37595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032182" y="3764280"/>
              <a:ext cx="562641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132195" y="3988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元素个数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69492" y="3988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564052" y="3888581"/>
              <a:ext cx="13627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(rear − front +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MaxSize) % MaxSize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032182" y="43653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132195" y="44943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可用容量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69492" y="4494371"/>
              <a:ext cx="593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MaxSize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564052" y="4494371"/>
              <a:ext cx="854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MaxSize − 1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032182" y="1941195"/>
              <a:ext cx="5626418" cy="28346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264718" y="1941195"/>
              <a:ext cx="9525" cy="28346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459278" y="1941195"/>
              <a:ext cx="9525" cy="28346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026848" y="4851083"/>
              <a:ext cx="50781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方案一多用一个整型变量，方案二浪费一个存储单元，始终让 rear 追不上 front</a:t>
              </a:r>
            </a:p>
          </p:txBody>
        </p:sp>
      </p:grpSp>
      <p:grpSp>
        <p:nvGrpSpPr>
          <p:cNvPr id="88" name="c2-callout-2"/>
          <p:cNvGrpSpPr/>
          <p:nvPr/>
        </p:nvGrpSpPr>
        <p:grpSpPr>
          <a:xfrm>
            <a:off x="6032182" y="5190172"/>
            <a:ext cx="5626418" cy="1024890"/>
            <a:chOff x="6032182" y="5190172"/>
            <a:chExt cx="5626418" cy="1024890"/>
          </a:xfrm>
        </p:grpSpPr>
        <p:sp>
          <p:nvSpPr>
            <p:cNvPr id="83" name="Rectangle 83"/>
            <p:cNvSpPr/>
            <p:nvPr/>
          </p:nvSpPr>
          <p:spPr>
            <a:xfrm>
              <a:off x="6032182" y="5190172"/>
              <a:ext cx="5626418" cy="1024890"/>
            </a:xfrm>
            <a:prstGeom prst="roundRect">
              <a:avLst>
                <a:gd name="adj" fmla="val 1115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6236970" y="5602607"/>
              <a:ext cx="200023" cy="200023"/>
              <a:chOff x="6236970" y="5602607"/>
              <a:chExt cx="200023" cy="200023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6236970" y="56026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370320" y="56692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6539674" y="5359718"/>
              <a:ext cx="46428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两种方案没有绝对优劣。元素本身很大时方案一更省，需要频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繁取元素个数时方案一也更快；只用一个数组、不想加字段时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用方案二。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队列的讨论及应用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元素个数公式，和一道笔试题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4977765" cy="2983230"/>
            <a:chOff x="533400" y="1524000"/>
            <a:chExt cx="4977765" cy="2983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983230"/>
            </a:xfrm>
            <a:prstGeom prst="roundRect">
              <a:avLst>
                <a:gd name="adj" fmla="val 44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16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阿里笔试题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73391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环形队列 C[1..m]，f 是队头元素的位置，r 是队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尾元素的后一位置。队列非空时元素个数是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851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22245"/>
              <a:ext cx="2105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A. </a:t>
              </a: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(m + r − f) mod m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03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57525"/>
              <a:ext cx="7661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r − f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4556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392805"/>
              <a:ext cx="2018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(m − r + f) mod m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7909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728085"/>
              <a:ext cx="2018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(m − r − f) mod m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1262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063365"/>
              <a:ext cx="16335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E. (r − f) mod m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697730"/>
            <a:ext cx="4977765" cy="1623060"/>
            <a:chOff x="533400" y="4697730"/>
            <a:chExt cx="4977765" cy="1623060"/>
          </a:xfrm>
        </p:grpSpPr>
        <p:sp>
          <p:nvSpPr>
            <p:cNvPr id="23" name="Rectangle 23"/>
            <p:cNvSpPr/>
            <p:nvPr/>
          </p:nvSpPr>
          <p:spPr>
            <a:xfrm>
              <a:off x="533400" y="4697730"/>
              <a:ext cx="4977765" cy="1623060"/>
            </a:xfrm>
            <a:prstGeom prst="roundRect">
              <a:avLst>
                <a:gd name="adj" fmla="val 704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409248"/>
              <a:ext cx="200026" cy="200026"/>
              <a:chOff x="738188" y="5409248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4092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54759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7088" y="55092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5128260"/>
              <a:ext cx="39585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选项 E 在数学上和 A 等价，但在 C 与 C++ 里 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f 为负时取模结果也是负的，所以工程上要写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A 的形式。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5815965" y="1533525"/>
            <a:ext cx="5481193" cy="2112930"/>
            <a:chOff x="5815965" y="1533525"/>
            <a:chExt cx="5481193" cy="2112930"/>
          </a:xfrm>
        </p:grpSpPr>
        <p:sp>
          <p:nvSpPr>
            <p:cNvPr id="30" name="Rectangle 30"/>
            <p:cNvSpPr/>
            <p:nvPr/>
          </p:nvSpPr>
          <p:spPr>
            <a:xfrm>
              <a:off x="5949315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815965" y="3069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0958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7445" y="156781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在 f 后面时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8588" y="1861661"/>
              <a:ext cx="46568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元素个数就是 r − f。例如 m = 8、f = 2、r = 6，有 4 个元素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7445" y="2218372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已经绕回到 f 前面时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8588" y="2512219"/>
              <a:ext cx="50685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元素个数是 m − (f − r) = m + r − f。例如 m = 8、f = 6、r = 2，同样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4 个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7445" y="310419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合成一个式子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8588" y="3397091"/>
              <a:ext cx="3570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两种情形都满足 (m + r − f) mod m，所以选 A</a:t>
              </a:r>
            </a:p>
          </p:txBody>
        </p:sp>
      </p:grpSp>
      <p:grpSp>
        <p:nvGrpSpPr>
          <p:cNvPr id="81" name="c2-table-2"/>
          <p:cNvGrpSpPr/>
          <p:nvPr/>
        </p:nvGrpSpPr>
        <p:grpSpPr>
          <a:xfrm>
            <a:off x="5810250" y="3825240"/>
            <a:ext cx="5848350" cy="2539842"/>
            <a:chOff x="5810250" y="3825240"/>
            <a:chExt cx="5848350" cy="2539842"/>
          </a:xfrm>
        </p:grpSpPr>
        <p:sp>
          <p:nvSpPr>
            <p:cNvPr id="44" name="Rectangle 44"/>
            <p:cNvSpPr/>
            <p:nvPr/>
          </p:nvSpPr>
          <p:spPr>
            <a:xfrm>
              <a:off x="5815965" y="382524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11222" y="3960971"/>
              <a:ext cx="1486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53240" y="39609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60020" y="39609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50058" y="39609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元素个数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408856" y="39609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方案二判满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9315" y="440959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55609" y="440959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62389" y="440959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47299" y="440959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753484" y="440959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47186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15965" y="472344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29315" y="485822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55609" y="48582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62389" y="48582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47299" y="48582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753484" y="485822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15965" y="51673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29315" y="530685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55609" y="530685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62389" y="530685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247299" y="530685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753484" y="530685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815965" y="561594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815965" y="562070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229315" y="57564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55609" y="57564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62389" y="57564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247299" y="57564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753484" y="575643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815965" y="3825240"/>
              <a:ext cx="584263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751320" y="382524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658100" y="382524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8564880" y="382524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10027920" y="382524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810250" y="614505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四组数据已用脚本代入公式验算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队列的讨论及应用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求最短步数要换成队列：广度优先搜索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729341" cy="512636"/>
            <a:chOff x="526542" y="1545907"/>
            <a:chExt cx="10729341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72934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一个迷宫由 n 行 m 列格子组成，求从左上角走到右下角最少需要多少步，步数把起点和终点都算在内。回溯法能列出所有路径，但要找最短的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那条，按层推进更直接。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2177415"/>
            <a:ext cx="4760595" cy="1959006"/>
            <a:chOff x="533400" y="2177415"/>
            <a:chExt cx="4760595" cy="1959006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26524" r="0" b="26524"/>
            <a:stretch>
              <a:fillRect/>
            </a:stretch>
          </p:blipFill>
          <p:spPr>
            <a:xfrm>
              <a:off x="533400" y="2177415"/>
              <a:ext cx="4760595" cy="1676400"/>
            </a:xfrm>
            <a:prstGeom prst="roundRect">
              <a:avLst>
                <a:gd name="adj" fmla="val 7954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665975" y="3945731"/>
              <a:ext cx="4495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石子入水后一圈圈扩开，最先碰到某片叶子的那一圈就是它到落点的最短距离</a:t>
              </a:r>
            </a:p>
          </p:txBody>
        </p:sp>
      </p:grpSp>
      <p:grpSp>
        <p:nvGrpSpPr>
          <p:cNvPr id="25" name="c1-bullets-2"/>
          <p:cNvGrpSpPr/>
          <p:nvPr/>
        </p:nvGrpSpPr>
        <p:grpSpPr>
          <a:xfrm>
            <a:off x="526542" y="4309110"/>
            <a:ext cx="3627158" cy="1507046"/>
            <a:chOff x="526542" y="4309110"/>
            <a:chExt cx="3627158" cy="1507046"/>
          </a:xfrm>
        </p:grpSpPr>
        <p:sp>
          <p:nvSpPr>
            <p:cNvPr id="12" name="TextBox 12"/>
            <p:cNvSpPr txBox="1"/>
            <p:nvPr/>
          </p:nvSpPr>
          <p:spPr>
            <a:xfrm>
              <a:off x="526542" y="43091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搜索过程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461391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46532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4626292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起点花 1 步即可到达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92252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496185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4934902"/>
              <a:ext cx="3339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1 步到达的格子，访问距起点 2 步的点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523113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52704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5243512"/>
              <a:ext cx="3339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2 步到达的格子，访问距起点 3 步的点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553974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9078" y="557907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197" y="5552123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如此下去，直到访问到出口</a:t>
              </a:r>
            </a:p>
          </p:txBody>
        </p:sp>
      </p:grpSp>
      <p:grpSp>
        <p:nvGrpSpPr>
          <p:cNvPr id="81" name="c2-cells-1"/>
          <p:cNvGrpSpPr/>
          <p:nvPr/>
        </p:nvGrpSpPr>
        <p:grpSpPr>
          <a:xfrm>
            <a:off x="5593080" y="2177415"/>
            <a:ext cx="2504122" cy="2446973"/>
            <a:chOff x="5593080" y="2177415"/>
            <a:chExt cx="2504122" cy="2446973"/>
          </a:xfrm>
        </p:grpSpPr>
        <p:sp>
          <p:nvSpPr>
            <p:cNvPr id="26" name="TextBox 26"/>
            <p:cNvSpPr txBox="1"/>
            <p:nvPr/>
          </p:nvSpPr>
          <p:spPr>
            <a:xfrm>
              <a:off x="5593080" y="229123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01702" y="2177415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62001" y="2291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20802" y="2177415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81101" y="2291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839902" y="2177415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00201" y="2291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259002" y="217741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19301" y="2291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78102" y="217741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38401" y="2291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93080" y="2811304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01702" y="2696528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62001" y="28113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20802" y="2696528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81101" y="28113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39902" y="2696528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00201" y="28113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259002" y="269652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19301" y="28113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78102" y="2696528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38401" y="28113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93080" y="33313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01702" y="321659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62001" y="3331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20802" y="321659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81101" y="3331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839902" y="321659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00201" y="3331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259002" y="321659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19301" y="3331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678102" y="321659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38401" y="3331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593080" y="3850481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3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01702" y="373665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62001" y="3850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20802" y="3736658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81101" y="3850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839902" y="3736658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00201" y="3850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259002" y="3736658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19301" y="3850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678102" y="3736658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838401" y="3850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593080" y="4370546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 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001702" y="425577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162001" y="43705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420802" y="425577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81101" y="43705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839902" y="425577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000201" y="43705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259002" y="425577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375765" y="43705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678102" y="425577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838401" y="43705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88" name="c2-card-2"/>
          <p:cNvGrpSpPr/>
          <p:nvPr/>
        </p:nvGrpSpPr>
        <p:grpSpPr>
          <a:xfrm>
            <a:off x="5598795" y="4794885"/>
            <a:ext cx="6059805" cy="1459230"/>
            <a:chOff x="5598795" y="4794885"/>
            <a:chExt cx="6059805" cy="1459230"/>
          </a:xfrm>
        </p:grpSpPr>
        <p:sp>
          <p:nvSpPr>
            <p:cNvPr id="82" name="Rectangle 82"/>
            <p:cNvSpPr/>
            <p:nvPr/>
          </p:nvSpPr>
          <p:spPr>
            <a:xfrm>
              <a:off x="5598795" y="4794885"/>
              <a:ext cx="6059805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5608320" y="4928235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5823585" y="49815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909107" y="50144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关键性质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638734" y="501681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每个格子第一次被访问时，得到的就是它与起点的最短距离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816727" y="5342573"/>
              <a:ext cx="527723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格子里的数字是 dist 值。绿色的一串是一条最短路径，右下角的 9 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是答案。注意行 4 的第 4 格是 10，比右下角还大，说明沿着它走并不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是最短的。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01559" cy="909257"/>
            <a:chOff x="520446" y="342900"/>
            <a:chExt cx="54015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队列的讨论及应用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015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 的代码，以及它和 DFS 的分工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3209925"/>
            <a:chOff x="533400" y="1524000"/>
            <a:chExt cx="6276022" cy="32099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209925"/>
            </a:xfrm>
            <a:prstGeom prst="roundRect">
              <a:avLst>
                <a:gd name="adj" fmla="val 296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2303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BFS，返回左上角到右下角的最短步数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3541141" cy="2709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BFS(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queue Q;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Q.enqueue(0, 0);  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起点入队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dist[0][0] = 1;  vis[0][0] = 1;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== 1 &amp;&amp; m == 1)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1;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起点即终点，本讲义补充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(!Q.empty())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point cur = Q.dequeue();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出队一个点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4; i++)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nx = cur.x + dx[i], ny = cur.y + dy[i];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(feasible(nx, ny))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vis[nx][ny] = 1;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入队时就标记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dist[nx][ny] = dist[cur.x][cur.y] + 1;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(nx == n-1 &amp;&amp; ny == m-1)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dist[nx][ny];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Q.enqueue(nx, ny);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898708"/>
            <a:ext cx="6276022" cy="1437322"/>
            <a:chOff x="533400" y="4898708"/>
            <a:chExt cx="6276022" cy="1437322"/>
          </a:xfrm>
        </p:grpSpPr>
        <p:sp>
          <p:nvSpPr>
            <p:cNvPr id="11" name="Rectangle 11"/>
            <p:cNvSpPr/>
            <p:nvPr/>
          </p:nvSpPr>
          <p:spPr>
            <a:xfrm>
              <a:off x="533400" y="4898708"/>
              <a:ext cx="6276022" cy="1437322"/>
            </a:xfrm>
            <a:prstGeom prst="roundRect">
              <a:avLst>
                <a:gd name="adj" fmla="val 795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516880"/>
              <a:ext cx="200026" cy="200025"/>
              <a:chOff x="738188" y="5516880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516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561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672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1273" y="5293519"/>
              <a:ext cx="527989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跑上一页那张图，入队次序是 (0,0)、(0,1)、(1,1)、(2,1)、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(2,2)……，正好按 dist 从小到大分层。队列的最大长度就是某一层同时待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处理的格子数，那个例子里最多只有 3 个。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7114222" y="1524000"/>
            <a:ext cx="4544378" cy="1403032"/>
            <a:chOff x="7114222" y="1524000"/>
            <a:chExt cx="4544378" cy="1403032"/>
          </a:xfrm>
        </p:grpSpPr>
        <p:sp>
          <p:nvSpPr>
            <p:cNvPr id="18" name="Rectangle 18"/>
            <p:cNvSpPr/>
            <p:nvPr/>
          </p:nvSpPr>
          <p:spPr>
            <a:xfrm>
              <a:off x="7114222" y="1524000"/>
              <a:ext cx="4544378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123748" y="16573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33298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2501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99273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起点即终点的情形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26820" y="2061686"/>
              <a:ext cx="3955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159 页的代码在 n 与 m 都等于 1 时跳过循环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−1。起点本身就是终点，按题意应返回 1，上面补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了一行判断。</a:t>
              </a:r>
            </a:p>
          </p:txBody>
        </p:sp>
      </p:grpSp>
      <p:grpSp>
        <p:nvGrpSpPr>
          <p:cNvPr id="49" name="c2-table-2"/>
          <p:cNvGrpSpPr/>
          <p:nvPr/>
        </p:nvGrpSpPr>
        <p:grpSpPr>
          <a:xfrm>
            <a:off x="7114222" y="3091815"/>
            <a:ext cx="4544378" cy="1906905"/>
            <a:chOff x="7114222" y="3091815"/>
            <a:chExt cx="4544378" cy="1906905"/>
          </a:xfrm>
        </p:grpSpPr>
        <p:sp>
          <p:nvSpPr>
            <p:cNvPr id="25" name="Rectangle 25"/>
            <p:cNvSpPr/>
            <p:nvPr/>
          </p:nvSpPr>
          <p:spPr>
            <a:xfrm>
              <a:off x="7114222" y="3091815"/>
              <a:ext cx="454437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67600" y="320897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5462" y="3208973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DFS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38065" y="3208973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BFS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08901" y="35909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08074" y="3590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一条道走到黑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80676" y="359092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地毯式层层推进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114222" y="385000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14222" y="3854768"/>
              <a:ext cx="454437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08901" y="39719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辅助结构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08074" y="397192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栈，递归时用系统栈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80676" y="39719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114222" y="423100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08901" y="43538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擅长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08074" y="435387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枚举全部方案、判断连通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80676" y="43538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求最短路径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114222" y="461295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14222" y="4617720"/>
              <a:ext cx="454437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08901" y="47348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本讲对应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08074" y="47348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回溯法迷宫寻径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980676" y="47348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迷宫最少步数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114222" y="3091815"/>
              <a:ext cx="4544378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108632" y="309181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881235" y="309181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llout-3"/>
          <p:cNvGrpSpPr/>
          <p:nvPr/>
        </p:nvGrpSpPr>
        <p:grpSpPr>
          <a:xfrm>
            <a:off x="7114222" y="5163502"/>
            <a:ext cx="4544378" cy="1172528"/>
            <a:chOff x="7114222" y="5163502"/>
            <a:chExt cx="4544378" cy="1172528"/>
          </a:xfrm>
        </p:grpSpPr>
        <p:sp>
          <p:nvSpPr>
            <p:cNvPr id="50" name="Rectangle 50"/>
            <p:cNvSpPr/>
            <p:nvPr/>
          </p:nvSpPr>
          <p:spPr>
            <a:xfrm>
              <a:off x="7114222" y="5163502"/>
              <a:ext cx="4544378" cy="1172528"/>
            </a:xfrm>
            <a:prstGeom prst="roundRect">
              <a:avLst>
                <a:gd name="adj" fmla="val 9748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19010" y="5650232"/>
              <a:ext cx="200023" cy="200023"/>
              <a:chOff x="7319010" y="5650232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19010" y="565023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452360" y="57169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622096" y="5308759"/>
              <a:ext cx="3688029" cy="952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每个格子最多入队一次，时间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O(nm)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，队列数组开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 n × m 就够。“第一次访问即最短”只在每步代价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相同时成立，边带不同权重时要用第 15 讲的算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52316" cy="909257"/>
            <a:chOff x="520446" y="342900"/>
            <a:chExt cx="76523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 · 队列的讨论及应用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523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队列的其他应用，以及 STL 里的 stack 和 queue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flow-1"/>
          <p:cNvGrpSpPr/>
          <p:nvPr/>
        </p:nvGrpSpPr>
        <p:grpSpPr>
          <a:xfrm>
            <a:off x="666750" y="1725930"/>
            <a:ext cx="4061460" cy="1289686"/>
            <a:chOff x="666750" y="1725930"/>
            <a:chExt cx="4061460" cy="1289686"/>
          </a:xfrm>
        </p:grpSpPr>
        <p:sp>
          <p:nvSpPr>
            <p:cNvPr id="7" name="Freeform 7"/>
            <p:cNvSpPr/>
            <p:nvPr/>
          </p:nvSpPr>
          <p:spPr>
            <a:xfrm>
              <a:off x="1843088" y="192500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05012" y="18726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285172" y="192500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47098" y="18726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85172" y="272700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47098" y="26746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1725930"/>
              <a:ext cx="117633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109788" y="1725930"/>
              <a:ext cx="1176338" cy="399098"/>
            </a:xfrm>
            <a:prstGeom prst="roundRect">
              <a:avLst>
                <a:gd name="adj" fmla="val 23866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551872" y="1725930"/>
              <a:ext cx="117633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109788" y="2437448"/>
              <a:ext cx="1176338" cy="578168"/>
            </a:xfrm>
            <a:prstGeom prst="roundRect">
              <a:avLst>
                <a:gd name="adj" fmla="val 16474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551872" y="2526982"/>
              <a:ext cx="117633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97953" y="18464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90216" y="18464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缓冲队列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84028" y="18464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36165" y="2551271"/>
              <a:ext cx="72263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就绪进程队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03373" y="264842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302318"/>
            <a:ext cx="4328160" cy="2884170"/>
            <a:chOff x="533400" y="3302318"/>
            <a:chExt cx="4328160" cy="2884170"/>
          </a:xfrm>
        </p:grpSpPr>
        <p:sp>
          <p:nvSpPr>
            <p:cNvPr id="24" name="Rectangle 24"/>
            <p:cNvSpPr/>
            <p:nvPr/>
          </p:nvSpPr>
          <p:spPr>
            <a:xfrm>
              <a:off x="533400" y="3302318"/>
              <a:ext cx="4328160" cy="2884170"/>
            </a:xfrm>
            <a:prstGeom prst="roundRect">
              <a:avLst>
                <a:gd name="adj" fmla="val 46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5805" y="349472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3244" y="352901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共同点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8947" y="3851910"/>
              <a:ext cx="37856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两端速度不匹配、或者要按到达先后公平处理时，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就在中间放一个队列。先来先服务本身就是先进先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出。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5166360" y="1524000"/>
            <a:ext cx="6492240" cy="2434590"/>
            <a:chOff x="5166360" y="1524000"/>
            <a:chExt cx="6492240" cy="2434590"/>
          </a:xfrm>
        </p:grpSpPr>
        <p:sp>
          <p:nvSpPr>
            <p:cNvPr id="29" name="Rectangle 29"/>
            <p:cNvSpPr/>
            <p:nvPr/>
          </p:nvSpPr>
          <p:spPr>
            <a:xfrm>
              <a:off x="5166360" y="1524000"/>
              <a:ext cx="649224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61584" y="1648301"/>
              <a:ext cx="1097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stack 成员函数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1207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78164" y="1648301"/>
              <a:ext cx="1097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queue 成员函数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5819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66372" y="2054066"/>
              <a:ext cx="652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empty()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54202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判断栈空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82952" y="2054066"/>
              <a:ext cx="622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empty()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70783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判断队空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166360" y="2330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166360" y="233553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66372" y="245983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size()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54202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元素个数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82952" y="2459831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size()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70783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元素个数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166360" y="27365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66372" y="2865596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push(x)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54202" y="286559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 x 压栈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82952" y="286559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push(x)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70783" y="286559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 x 入队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166360" y="31422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166360" y="314706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66372" y="327136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pop()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54202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82952" y="32713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pop()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70783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出队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66360" y="35480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66372" y="367712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top()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54202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返回栈顶元素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82952" y="367712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front()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070783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返回队头元素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166360" y="1524000"/>
              <a:ext cx="649224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84942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27817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96600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ode-2"/>
          <p:cNvGrpSpPr/>
          <p:nvPr/>
        </p:nvGrpSpPr>
        <p:grpSpPr>
          <a:xfrm>
            <a:off x="5166360" y="4133850"/>
            <a:ext cx="6492240" cy="1148715"/>
            <a:chOff x="5166360" y="4133850"/>
            <a:chExt cx="6492240" cy="1148715"/>
          </a:xfrm>
        </p:grpSpPr>
        <p:sp>
          <p:nvSpPr>
            <p:cNvPr id="65" name="Rectangle 65"/>
            <p:cNvSpPr/>
            <p:nvPr/>
          </p:nvSpPr>
          <p:spPr>
            <a:xfrm>
              <a:off x="5166360" y="4133850"/>
              <a:ext cx="6492240" cy="1148715"/>
            </a:xfrm>
            <a:prstGeom prst="roundRect">
              <a:avLst>
                <a:gd name="adj" fmla="val 82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94757" y="4285774"/>
              <a:ext cx="251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C++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294948" y="4545044"/>
              <a:ext cx="2468245" cy="653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stack&lt;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&gt; stk;       queue&lt;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&gt; q;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stk.push(5);          q.push(5);</a:t>
              </a:r>
              <a:br/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stk.top();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 = q.front();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stk.pop();            q.pop();</a:t>
              </a:r>
            </a:p>
          </p:txBody>
        </p:sp>
      </p:grpSp>
      <p:grpSp>
        <p:nvGrpSpPr>
          <p:cNvPr id="75" name="c2-callout-3"/>
          <p:cNvGrpSpPr/>
          <p:nvPr/>
        </p:nvGrpSpPr>
        <p:grpSpPr>
          <a:xfrm>
            <a:off x="5166360" y="5457825"/>
            <a:ext cx="6492240" cy="729615"/>
            <a:chOff x="5166360" y="5457825"/>
            <a:chExt cx="6492240" cy="729615"/>
          </a:xfrm>
        </p:grpSpPr>
        <p:sp>
          <p:nvSpPr>
            <p:cNvPr id="69" name="Rectangle 69"/>
            <p:cNvSpPr/>
            <p:nvPr/>
          </p:nvSpPr>
          <p:spPr>
            <a:xfrm>
              <a:off x="5166360" y="5457825"/>
              <a:ext cx="649224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5359089" y="5717976"/>
              <a:ext cx="224134" cy="192560"/>
              <a:chOff x="5359089" y="5717976"/>
              <a:chExt cx="224134" cy="19256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5471160" y="57883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5359089" y="57179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5471160" y="58661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5673852" y="5603558"/>
              <a:ext cx="53543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两者的 pop() 都只删除、不返回值，要先用 top() 或 front() 取值再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pop()。这一点和课件里自己写的 Pop() 不同，移植代码时容易出错。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259776" cy="909257"/>
            <a:chOff x="520446" y="342900"/>
            <a:chExt cx="1259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057018" cy="264033"/>
            <a:chOff x="526542" y="1545907"/>
            <a:chExt cx="905701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057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先自己写出答案再看解答。另外自问两题：括号匹配为什么栈里只放左括号？BFS 为什么要在入队时就标记 vis？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000250"/>
            <a:chOff x="533400" y="1928812"/>
            <a:chExt cx="3505200" cy="20002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264504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 + b × c − d / e 转成后缀表达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式，写出运算符栈的变化。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3016568"/>
              <a:ext cx="286835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结果是 a b c × + d e / −。栈依次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+、+×（× 优先级更高）、−（+ 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被弹出）、−/。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98608"/>
            <a:ext cx="3505200" cy="2257425"/>
            <a:chOff x="533400" y="4098608"/>
            <a:chExt cx="3505200" cy="2257425"/>
          </a:xfrm>
        </p:grpSpPr>
        <p:sp>
          <p:nvSpPr>
            <p:cNvPr id="15" name="Rectangle 15"/>
            <p:cNvSpPr/>
            <p:nvPr/>
          </p:nvSpPr>
          <p:spPr>
            <a:xfrm>
              <a:off x="53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630102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递归函数的空间复杂度由什么决定？举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一个调用次数多但空间小的例子。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5187315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由递归深度决定，每层一个栈帧。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分治的 BinarySelect 调用 O(n) 次，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但深度只有 log₂ n，空间 O(log n)。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2000250"/>
            <a:chOff x="4343400" y="1928812"/>
            <a:chExt cx="35052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3232" y="2459355"/>
              <a:ext cx="29695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入栈序列 1 2 3 4 5，判断 3 5 4 2 1 与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1 5 3 2 是否合法。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3232" y="3016568"/>
              <a:ext cx="29197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前者合法；后者非法，4、1、3 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312 模式（i&lt;j&lt;k 且 bᵢ &gt; bₖ &gt;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bⱼ）。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98608"/>
            <a:ext cx="3505200" cy="2257425"/>
            <a:chOff x="4343400" y="4098608"/>
            <a:chExt cx="3505200" cy="2257425"/>
          </a:xfrm>
        </p:grpSpPr>
        <p:sp>
          <p:nvSpPr>
            <p:cNvPr id="27" name="Rectangle 27"/>
            <p:cNvSpPr/>
            <p:nvPr/>
          </p:nvSpPr>
          <p:spPr>
            <a:xfrm>
              <a:off x="434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3232" y="4630102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回溯求全部路径时，为什么递归返回后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要把 vis 清零？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3232" y="5187315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 记的是当前行进路线上的格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子。退回时该格已不在路线上，不清零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会挡住别的路线，导致漏解。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000250"/>
            <a:chOff x="8153400" y="1928812"/>
            <a:chExt cx="3505200" cy="2000250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3232" y="2459355"/>
              <a:ext cx="28996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从空栈开始做 n 次 PUSH，容量加倍与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容量递增的总时间各是多少？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3232" y="3016568"/>
              <a:ext cx="29969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加倍是 O(n)，均摊 O(1)；递增是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O(n²)，均摊 O(n)。前提是连续做 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次，单次最坏仍是 O(n)。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98608"/>
            <a:ext cx="3505200" cy="2257425"/>
            <a:chOff x="8153400" y="4098608"/>
            <a:chExt cx="3505200" cy="2257425"/>
          </a:xfrm>
        </p:grpSpPr>
        <p:sp>
          <p:nvSpPr>
            <p:cNvPr id="39" name="Rectangle 39"/>
            <p:cNvSpPr/>
            <p:nvPr/>
          </p:nvSpPr>
          <p:spPr>
            <a:xfrm>
              <a:off x="815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3232" y="4630102"/>
              <a:ext cx="286192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循环队列 front == rear 时，可能是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队空也可能是队满，怎么区分？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3232" y="5187315"/>
              <a:ext cx="298837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方案一加计数器 count，队空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 为 0、队满 count 为 MaxSize；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方案二空出一格，队满判据是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(rear+1)%MaxSize == front。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第4讲 栈和队列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775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09073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何时用栈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30158" y="2023110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产生次序与使用次序相反时，如进制转换、括号匹配、函数调用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表达式求值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30158" y="240411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后缀式用操作数栈；中缀转后缀用运算符栈；双栈可一遍求值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均摊分析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30158" y="2785110"/>
              <a:ext cx="3685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容量加倍共 2n−1 次赋值，均摊 O(1)；容量递增是 O(n²)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栈混洗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30158" y="3167062"/>
              <a:ext cx="42151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甄别用模拟或 312 模式；总数是 Catalan(n) = C(2n, n) / (n + 1)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递归与队列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30158" y="3548062"/>
              <a:ext cx="3835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空间由递归深度决定；BFS 按层推进，第一次访问即最短距离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93071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3976688"/>
            <a:ext cx="5842635" cy="1714500"/>
            <a:chOff x="533400" y="3976688"/>
            <a:chExt cx="5842635" cy="1714500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98181"/>
              <a:ext cx="5011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19 页把判空放在了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Pop()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之后，输入 </a:t>
              </a:r>
              <a:r>
                <a:rPr lang="zh-CN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会误判为不匹配，已改成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先判空再弹栈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50787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5025866"/>
              <a:ext cx="3601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80 页扩容代码的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delete A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应为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delete[] A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2000" y="536352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7448" y="5310664"/>
              <a:ext cx="41531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159 页 BFS 在起点即终点时返回 −1，已补一行判断</a:t>
              </a:r>
            </a:p>
          </p:txBody>
        </p:sp>
      </p:grpSp>
      <p:grpSp>
        <p:nvGrpSpPr>
          <p:cNvPr id="55" name="c2-bullets-1"/>
          <p:cNvGrpSpPr/>
          <p:nvPr/>
        </p:nvGrpSpPr>
        <p:grpSpPr>
          <a:xfrm>
            <a:off x="6681788" y="1533525"/>
            <a:ext cx="4704334" cy="2161508"/>
            <a:chOff x="6681788" y="1533525"/>
            <a:chExt cx="4704334" cy="2161508"/>
          </a:xfrm>
        </p:grpSpPr>
        <p:sp>
          <p:nvSpPr>
            <p:cNvPr id="40" name="Ellipse 40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51536" y="1545431"/>
              <a:ext cx="44345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看到“后产生的先使用”就想到栈，看到“按到达先后处理”就想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到队列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1788" y="206978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3694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51536" y="208073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中缀转后缀记住一句：栈顶留的是还等着操作数的运算符，同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级也要先弹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81788" y="260604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33694" y="26416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51536" y="2616994"/>
              <a:ext cx="39675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312 模式是出栈序列合法的充要条件，比逐个模拟快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81788" y="289845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33694" y="29340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51536" y="2910364"/>
              <a:ext cx="44183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均摊复杂度要说清“从什么状态开始、连续做多少次”，脱离这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个前提没有意义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1788" y="343471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3694" y="34703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51536" y="344566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递归看深度算空间，回溯看清 vis 标记的是路线还是历史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680835" y="3810000"/>
            <a:ext cx="4977765" cy="1881188"/>
            <a:chOff x="6680835" y="3810000"/>
            <a:chExt cx="4977765" cy="1881188"/>
          </a:xfrm>
        </p:grpSpPr>
        <p:sp>
          <p:nvSpPr>
            <p:cNvPr id="56" name="Rectangle 56"/>
            <p:cNvSpPr/>
            <p:nvPr/>
          </p:nvSpPr>
          <p:spPr>
            <a:xfrm>
              <a:off x="6680835" y="3810000"/>
              <a:ext cx="4977765" cy="1881188"/>
            </a:xfrm>
            <a:prstGeom prst="roundRect">
              <a:avLst>
                <a:gd name="adj" fmla="val 708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61810" y="3990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47332" y="4023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71335" y="43834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6783" y="4331494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随手写一个带括号的中缀式，闭卷把运算符栈和后缀式的每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一步写出来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71335" y="491109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26783" y="4859179"/>
              <a:ext cx="45361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随手写一个出栈序列，先用 312 判一次，再用模拟法验一次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56476" y="514064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这两件事能在纸上顺畅完成，本讲的核心技能就算掌握了。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5" name="Rectangle 6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6039326"/>
              <a:ext cx="9860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下一讲是数组与矩阵，会把多维数组的地址计算和特殊矩阵的压缩存储讲清楚，用到的仍然是第 1 讲里顺序存储的那套地址公式。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第4讲 栈和队列及其应用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04">
  <a:themeElements>
    <a:clrScheme name="ds_l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0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0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2026-09-19T10:03:29Z</dcterms:created>
  <dcterms:modified xsi:type="dcterms:W3CDTF">2026-09-19T10:03:29Z</dcterms:modified>
  <cp:category/>
  <cp:contentStatus/>
</cp:coreProperties>
</file>