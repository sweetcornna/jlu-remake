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2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2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0fe24280a74240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47951f1b3ee0d21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ee309731042100e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第20讲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归并排序与比较下界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161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先把合并做对，再证明比较排序跑不过 nlogn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5197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Merge 只做一件事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递归与非递归两种写法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判定树推出下界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逆序对与外排序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20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合并两个有序段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3824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Merge 的三个指针 i、j、k，时间 O(n)、额外空间 O(n)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递归归并排序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3180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分治法，T(n)=2T(n/2)+O(n)，共 ⌈log₂n⌉ 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非递归归并排序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3313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自底向上，L 从 1 翻倍到 n，注意长度不足的尾巴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稳定性与优化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3283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一个 </a:t>
              </a:r>
              <a:r>
                <a:rPr lang="zh-CN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&lt;=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保住稳定；小段改插入排序、数组改链表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2226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数逆序对 O(nlogn)、单链表排序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比较排序的下界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2334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判定树高度 ≥ log₂(n!) = Ω(nlogn)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外排序简介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内存装不下时，先分段内排序再多路归并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37341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手工演示 Merge 的每一步，写出 X 的内容并数出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关键词比较次数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632710"/>
              <a:ext cx="30826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默写递归与非递归两版归并排序，说清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MergePass 里那个 if 处理的是什么情况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32489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3192780"/>
              <a:ext cx="37598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解释归并排序为什么稳定，并指出把 </a:t>
              </a:r>
              <a:r>
                <a:rPr lang="zh-CN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&lt;=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改成 </a:t>
              </a:r>
              <a:r>
                <a:rPr lang="zh-CN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&lt;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后的反例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53300" y="38080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9320" y="3751898"/>
              <a:ext cx="36055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给定数组用归并法数出逆序对个数，并说明 cnt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+= mid−i+1 的来历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53300" y="43681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9320" y="4311968"/>
              <a:ext cx="33912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画出三个元素的排序判定树，由 n! ≤ 2ʰ 推出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Ω(nlogn) 的下界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68237" cy="3923347"/>
            <a:chOff x="667512" y="1835468"/>
            <a:chExt cx="6468237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归并排序：把合并做对，排序就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整个算法只有一个真正干活的函数，其余都是怎么切分和怎么调用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2698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 的前提是两段各自有序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递归版自顶向下切分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非递归版自底向上合并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稳定性来自一个比较符号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合并两个有序段：谁小谁先出队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37985" cy="264033"/>
            <a:chOff x="526542" y="1545907"/>
            <a:chExt cx="6737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两段都已经有序，所以各自最小的元素一定在段首，每次只要比较两个段首就够了。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28812"/>
            <a:ext cx="5410200" cy="2064068"/>
            <a:chOff x="533400" y="1928812"/>
            <a:chExt cx="5410200" cy="206406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064068"/>
            </a:xfrm>
            <a:prstGeom prst="roundRect">
              <a:avLst>
                <a:gd name="adj" fmla="val 64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9736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377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Merge(R, low, mid, high)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把相邻的两段 R[low..mid] 与 R[mid+1..high] 合并成一段有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序序列。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08991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03371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前提：两段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各自已经有序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，否则结果不对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389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333750"/>
              <a:ext cx="3247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结果先写进辅助数组 X，最后整块拷回 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475" y="3630454"/>
              <a:ext cx="3639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下图白色是左段，绿色是右段，k 指向 X 里下一个空位</a:t>
              </a:r>
            </a:p>
          </p:txBody>
        </p:sp>
      </p:grpSp>
      <p:grpSp>
        <p:nvGrpSpPr>
          <p:cNvPr id="33" name="c1-bullets-2"/>
          <p:cNvGrpSpPr/>
          <p:nvPr/>
        </p:nvGrpSpPr>
        <p:grpSpPr>
          <a:xfrm>
            <a:off x="533400" y="4172902"/>
            <a:ext cx="5043678" cy="1459421"/>
            <a:chOff x="533400" y="4172902"/>
            <a:chExt cx="5043678" cy="1459421"/>
          </a:xfrm>
        </p:grpSpPr>
        <p:sp>
          <p:nvSpPr>
            <p:cNvPr id="21" name="Ellipse 21"/>
            <p:cNvSpPr/>
            <p:nvPr/>
          </p:nvSpPr>
          <p:spPr>
            <a:xfrm>
              <a:off x="533400" y="417290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9078" y="421128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197" y="4185285"/>
              <a:ext cx="4559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扫左段、j 扫右段，把 R[i] 与 R[j] 中较小的写进 X[k]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48151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078" y="45198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197" y="4493895"/>
              <a:ext cx="3629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某一段先扫完时，把另一段剩下的整块搬进 X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3400" y="479012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9078" y="48285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197" y="4802505"/>
              <a:ext cx="3950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 里的 high−low+1 个元素拷回 R[low..high]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509873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9078" y="51371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197" y="5111115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循环中 X 已写入的部分始终有序，且每个元素都不大于 R[i] 和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R[j]</a:t>
              </a:r>
            </a:p>
          </p:txBody>
        </p:sp>
      </p:grpSp>
      <p:grpSp>
        <p:nvGrpSpPr>
          <p:cNvPr id="86" name="c2-cells-1"/>
          <p:cNvGrpSpPr/>
          <p:nvPr/>
        </p:nvGrpSpPr>
        <p:grpSpPr>
          <a:xfrm>
            <a:off x="6243447" y="1963579"/>
            <a:ext cx="5415153" cy="1586389"/>
            <a:chOff x="6243447" y="1963579"/>
            <a:chExt cx="5415153" cy="1586389"/>
          </a:xfrm>
        </p:grpSpPr>
        <p:sp>
          <p:nvSpPr>
            <p:cNvPr id="34" name="TextBox 34"/>
            <p:cNvSpPr txBox="1"/>
            <p:nvPr/>
          </p:nvSpPr>
          <p:spPr>
            <a:xfrm>
              <a:off x="6243447" y="23283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53188" y="2205038"/>
              <a:ext cx="4733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47313" y="23283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926580" y="2205038"/>
              <a:ext cx="4733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82611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99972" y="2205038"/>
              <a:ext cx="4733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55051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873365" y="2205038"/>
              <a:ext cx="4733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28444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346758" y="2205038"/>
              <a:ext cx="4733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01836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819198" y="2205038"/>
              <a:ext cx="4733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75229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292590" y="2205038"/>
              <a:ext cx="4733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8621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765982" y="2205038"/>
              <a:ext cx="4733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921061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239375" y="2205038"/>
              <a:ext cx="47339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94454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711815" y="2205038"/>
              <a:ext cx="47339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867846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185208" y="2205038"/>
              <a:ext cx="47339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341239" y="23283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55241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28633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01073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74466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47858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21251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94643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67083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440476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13868" y="2627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356904" y="262747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68211" y="1963579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6652260" y="21097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453446" y="1963579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10437495" y="210978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243447" y="330565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53188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926580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399972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873365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346758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819198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9292590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9765982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239375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711815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11185208" y="3181350"/>
              <a:ext cx="473392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653723" y="293989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6652260" y="3086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89" name="c2-image-2"/>
          <p:cNvGrpSpPr/>
          <p:nvPr/>
        </p:nvGrpSpPr>
        <p:grpSpPr>
          <a:xfrm>
            <a:off x="6771742" y="3720465"/>
            <a:ext cx="4363517" cy="1875186"/>
            <a:chOff x="6771742" y="3720465"/>
            <a:chExt cx="4363517" cy="1875186"/>
          </a:xfrm>
        </p:grpSpPr>
        <p:pic>
          <p:nvPicPr>
            <p:cNvPr id="87" name="Image 87"/>
            <p:cNvPicPr>
              <a:picLocks noChangeAspect="1"/>
            </p:cNvPicPr>
            <p:nvPr/>
          </p:nvPicPr>
          <p:blipFill>
            <a:blip r:embed="rId2"/>
            <a:srcRect l="8" t="0" r="7" b="0"/>
            <a:stretch>
              <a:fillRect/>
            </a:stretch>
          </p:blipFill>
          <p:spPr>
            <a:xfrm>
              <a:off x="7891462" y="3720465"/>
              <a:ext cx="2123122" cy="1592580"/>
            </a:xfrm>
            <a:prstGeom prst="roundRect">
              <a:avLst>
                <a:gd name="adj" fmla="val 8373"/>
              </a:avLst>
            </a:prstGeom>
          </p:spPr>
        </p:pic>
        <p:sp>
          <p:nvSpPr>
            <p:cNvPr id="88" name="TextBox 88"/>
            <p:cNvSpPr txBox="1"/>
            <p:nvPr/>
          </p:nvSpPr>
          <p:spPr>
            <a:xfrm>
              <a:off x="6771742" y="5404961"/>
              <a:ext cx="4363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合并像拉拉链：两排齿各自有序地排好，滑块每次只咬合当前最靠前的一个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0" name="Rectangle 9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6028373"/>
              <a:ext cx="7606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合并不是排序，它只是把两段现成的有序结果拼起来，所以代价只有 O(n) 而不是 O(nlogn)。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5148" cy="909257"/>
            <a:chOff x="520446" y="342900"/>
            <a:chExt cx="68151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51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 11 个元素：写了 11 次，只比较了 7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66526" cy="308039"/>
            <a:chOff x="525399" y="1550194"/>
            <a:chExt cx="856652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6652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左段 8 个、右段 3 个。右段先被搬空，左段剩下的 50 62 72 93 不必再比较，整块搬过去。</a:t>
              </a:r>
            </a:p>
          </p:txBody>
        </p:sp>
      </p:grpSp>
      <p:grpSp>
        <p:nvGrpSpPr>
          <p:cNvPr id="55" name="c1-cells-1"/>
          <p:cNvGrpSpPr/>
          <p:nvPr/>
        </p:nvGrpSpPr>
        <p:grpSpPr>
          <a:xfrm>
            <a:off x="527685" y="1967865"/>
            <a:ext cx="4767262" cy="1009650"/>
            <a:chOff x="527685" y="1967865"/>
            <a:chExt cx="4767262" cy="1009650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8665" y="196786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106" y="2107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62050" y="196786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75955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75435" y="196786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89340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988820" y="196786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02725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02205" y="196786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15158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14638" y="196786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28543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228022" y="196786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41928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41408" y="196786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55313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054792" y="1967865"/>
              <a:ext cx="41338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68698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68178" y="1967865"/>
              <a:ext cx="41338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82083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881562" y="1967865"/>
              <a:ext cx="41338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94515" y="2107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7685" y="26979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48665" y="255841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6106" y="2697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62050" y="2558415"/>
              <a:ext cx="41338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75955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75435" y="255841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89340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88820" y="255841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02725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402205" y="255841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15158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814638" y="2558415"/>
              <a:ext cx="41338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28543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228022" y="2558415"/>
              <a:ext cx="41338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341928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641408" y="255841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55313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054792" y="255841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68698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68178" y="255841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82083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881562" y="2558415"/>
              <a:ext cx="4133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994515" y="2697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</p:grpSp>
      <p:grpSp>
        <p:nvGrpSpPr>
          <p:cNvPr id="64" name="c1-card-2"/>
          <p:cNvGrpSpPr/>
          <p:nvPr/>
        </p:nvGrpSpPr>
        <p:grpSpPr>
          <a:xfrm>
            <a:off x="533400" y="3168015"/>
            <a:ext cx="4760595" cy="3066098"/>
            <a:chOff x="533400" y="3168015"/>
            <a:chExt cx="4760595" cy="3066098"/>
          </a:xfrm>
        </p:grpSpPr>
        <p:sp>
          <p:nvSpPr>
            <p:cNvPr id="56" name="Rectangle 56"/>
            <p:cNvSpPr/>
            <p:nvPr/>
          </p:nvSpPr>
          <p:spPr>
            <a:xfrm>
              <a:off x="533400" y="3168015"/>
              <a:ext cx="4760595" cy="3066098"/>
            </a:xfrm>
            <a:prstGeom prst="roundRect">
              <a:avLst>
                <a:gd name="adj" fmla="val 434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2950" y="33775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25259" y="34132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5330" y="3754755"/>
              <a:ext cx="4063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两段长度为 p 和 q 时，比较次数最少 min(p, q)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次，最多 p+q−1 次。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48665" y="443865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06780" y="4375785"/>
              <a:ext cx="3547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本例 p=8、q=3，比较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7 次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，写入 11 次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48665" y="477393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06780" y="4711065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一段被搬空后就不再比较，这是次数少于 10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</p:grpSp>
      <p:grpSp>
        <p:nvGrpSpPr>
          <p:cNvPr id="121" name="c2-table-1"/>
          <p:cNvGrpSpPr/>
          <p:nvPr/>
        </p:nvGrpSpPr>
        <p:grpSpPr>
          <a:xfrm>
            <a:off x="5598795" y="1967865"/>
            <a:ext cx="6059805" cy="4266248"/>
            <a:chOff x="5598795" y="1967865"/>
            <a:chExt cx="6059805" cy="4266248"/>
          </a:xfrm>
        </p:grpSpPr>
        <p:sp>
          <p:nvSpPr>
            <p:cNvPr id="65" name="Rectangle 65"/>
            <p:cNvSpPr/>
            <p:nvPr/>
          </p:nvSpPr>
          <p:spPr>
            <a:xfrm>
              <a:off x="5598795" y="1967865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09056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5639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5280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取自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368909" y="2102644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写入 X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706618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313361" y="2551271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≤ 16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73618" y="2551271"/>
              <a:ext cx="460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 i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06166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98795" y="2860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598795" y="286512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706618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313361" y="300085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&gt; 16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275320" y="2874645"/>
              <a:ext cx="131445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373618" y="3000851"/>
              <a:ext cx="460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右段 j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06166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598795" y="33089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706618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313361" y="3449479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≤ 37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73618" y="3449479"/>
              <a:ext cx="460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 i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06166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598795" y="3757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5598795" y="376237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706618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313361" y="3898106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 ≤ 37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73618" y="3898106"/>
              <a:ext cx="460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 i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706166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598795" y="4207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706618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313361" y="434673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≤ 37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373618" y="4346734"/>
              <a:ext cx="460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 i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706166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598795" y="46558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5598795" y="466058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706618" y="479536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313361" y="479536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&gt; 37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275320" y="4670108"/>
              <a:ext cx="131445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373618" y="4795361"/>
              <a:ext cx="460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右段 j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706166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598795" y="51044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706618" y="5244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313361" y="524494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&gt; 39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8275320" y="5118735"/>
              <a:ext cx="131445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373618" y="5244941"/>
              <a:ext cx="460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右段 j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706166" y="52449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5598795" y="55530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598795" y="555783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5706618" y="5693569"/>
              <a:ext cx="20071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8–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6215062" y="5567362"/>
              <a:ext cx="2041208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313361" y="58069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右段已空，不再比较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373618" y="58069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左段余留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706166" y="5806916"/>
              <a:ext cx="926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50 62 72 93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5598795" y="1967865"/>
              <a:ext cx="6059805" cy="4266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6200775" y="1967865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8261032" y="1967865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9593580" y="1967865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2" name="TextBox 122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02370" cy="909257"/>
            <a:chOff x="520446" y="342900"/>
            <a:chExt cx="61023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023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 的代码：三个 while 加一个 for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2616518"/>
            <a:chOff x="533400" y="1524000"/>
            <a:chExt cx="6276022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525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Merge 合并两个相邻有序段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4110863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Merge(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high)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low, j = mid + 1, k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*X 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[high - low + 1];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辅助数组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mid &amp;&amp; j &lt;= high)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&lt;= R[j]) X[k++] = R[i++];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相等先取左段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X[k++] = R[j++];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mid)  X[k++] = R[i++];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左段余留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&lt;= high) X[k++] = R[j++];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右段余留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high - low + 1;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R[low + i] = X[i];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整块拷回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delete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X;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kv-2"/>
          <p:cNvGrpSpPr/>
          <p:nvPr/>
        </p:nvGrpSpPr>
        <p:grpSpPr>
          <a:xfrm>
            <a:off x="526923" y="4325779"/>
            <a:ext cx="6282499" cy="998029"/>
            <a:chOff x="526923" y="4325779"/>
            <a:chExt cx="6282499" cy="998029"/>
          </a:xfrm>
        </p:grpSpPr>
        <p:sp>
          <p:nvSpPr>
            <p:cNvPr id="12" name="TextBox 12"/>
            <p:cNvSpPr txBox="1"/>
            <p:nvPr/>
          </p:nvSpPr>
          <p:spPr>
            <a:xfrm>
              <a:off x="526923" y="4325779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2680" y="4325779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左段的扫描位置，初值 low，走到 mid 为止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45977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4700111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2680" y="4700111"/>
              <a:ext cx="3553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右段的扫描位置，初值 mid+1，走到 high 为止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9720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923" y="50744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2680" y="5074444"/>
              <a:ext cx="365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里下一个空位，从 0 开始，与 R 的下标差 low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7114222" y="1524000"/>
            <a:ext cx="4544378" cy="1444942"/>
            <a:chOff x="7114222" y="1524000"/>
            <a:chExt cx="4544378" cy="1444942"/>
          </a:xfrm>
        </p:grpSpPr>
        <p:sp>
          <p:nvSpPr>
            <p:cNvPr id="21" name="Rectangle 21"/>
            <p:cNvSpPr/>
            <p:nvPr/>
          </p:nvSpPr>
          <p:spPr>
            <a:xfrm>
              <a:off x="7114222" y="1524000"/>
              <a:ext cx="4544378" cy="1444942"/>
            </a:xfrm>
            <a:prstGeom prst="roundRect">
              <a:avLst>
                <a:gd name="adj" fmla="val 92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9519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8691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1173" y="1744504"/>
              <a:ext cx="2223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 O(n)，额外空间 O(n)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304722" y="21135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60170" y="2061686"/>
              <a:ext cx="3377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每个元素恰好被搬进 X 一次、拷回 R 一次，n =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high−low+1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04722" y="26412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60170" y="2589371"/>
              <a:ext cx="39398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X 的长度等于这两段的总长，所以额外空间是 </a:t>
              </a:r>
              <a:r>
                <a:rPr lang="en-US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7114222" y="3133725"/>
            <a:ext cx="4544378" cy="2200275"/>
            <a:chOff x="7114222" y="3133725"/>
            <a:chExt cx="4544378" cy="2200275"/>
          </a:xfrm>
        </p:grpSpPr>
        <p:sp>
          <p:nvSpPr>
            <p:cNvPr id="30" name="Rectangle 30"/>
            <p:cNvSpPr/>
            <p:nvPr/>
          </p:nvSpPr>
          <p:spPr>
            <a:xfrm>
              <a:off x="7114222" y="3133725"/>
              <a:ext cx="4544378" cy="220027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23748" y="3267075"/>
              <a:ext cx="47625" cy="19335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33298" y="33147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25017" y="33475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342822" y="37080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98270" y="3655219"/>
              <a:ext cx="3759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 while 少一个都不行：第一个循环结束时只有一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段空了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342822" y="42357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98270" y="4182904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第三行的 k 从 0 开始，拷回时要写 R[low+i] 而不是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R[i]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342822" y="476345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98270" y="4710589"/>
              <a:ext cx="3800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每次调用都 new 一次 X，频繁调用时开销明显，可以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在外层一次性申请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1" name="Rectangle 4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6039326"/>
              <a:ext cx="8127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源课件用 C++ 的 new / delete 申请 X。换成 C 的 malloc / free 逻辑完全一样，本讲义保留源课件写法。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递归归并排序：分、治、合三步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09823" cy="308039"/>
            <a:chOff x="525399" y="1550194"/>
            <a:chExt cx="630982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098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分的过程只是算一个中点，真正的工作全压在最后那句 Merge 上。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842635" cy="1922145"/>
            <a:chOff x="533400" y="1967865"/>
            <a:chExt cx="5842635" cy="19221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归并排序（递归形式）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591558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MergeSort(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 &gt;= n)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0 或 1 个元素，已有序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(m + n) / 2;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中点，左段长 ⌈len/2⌉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MergeSort(R, m, k);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治：排好左半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MergeSort(R, k + 1, n);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治：排好右半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Merge(R, m, k, n);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合：两段拼起来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080510"/>
            <a:ext cx="5842635" cy="1891665"/>
            <a:chOff x="533400" y="4080510"/>
            <a:chExt cx="5842635" cy="1891665"/>
          </a:xfrm>
        </p:grpSpPr>
        <p:sp>
          <p:nvSpPr>
            <p:cNvPr id="13" name="Rectangle 13"/>
            <p:cNvSpPr/>
            <p:nvPr/>
          </p:nvSpPr>
          <p:spPr>
            <a:xfrm>
              <a:off x="533400" y="4080510"/>
              <a:ext cx="5842635" cy="1891665"/>
            </a:xfrm>
            <a:prstGeom prst="roundRect">
              <a:avLst>
                <a:gd name="adj" fmla="val 60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925378"/>
              <a:ext cx="200026" cy="200025"/>
              <a:chOff x="738188" y="4925378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9253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9698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0809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782502"/>
              <a:ext cx="4806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 n 个元素的数组调用 MergeSort(R, 0, n−1)。递归深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度 ⌈log₂n⌉，栈空间 O(logn)。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6680835" y="1977390"/>
            <a:ext cx="4345711" cy="1878615"/>
            <a:chOff x="6680835" y="1977390"/>
            <a:chExt cx="4345711" cy="1878615"/>
          </a:xfrm>
        </p:grpSpPr>
        <p:sp>
          <p:nvSpPr>
            <p:cNvPr id="20" name="Rectangle 20"/>
            <p:cNvSpPr/>
            <p:nvPr/>
          </p:nvSpPr>
          <p:spPr>
            <a:xfrm>
              <a:off x="6814185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680835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4459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680835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4459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680835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459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2315" y="201168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3458" y="2304574"/>
              <a:ext cx="3933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按中点 k=(m+n)/2 把区间对半切开，只算一次除法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2315" y="2662238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3458" y="2955131"/>
              <a:ext cx="365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递归排好左右两半，递归到长度为 1 时自然有序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2315" y="331279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3458" y="3606641"/>
              <a:ext cx="28716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Merge 把两段有序结果并成一段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680835" y="4033838"/>
            <a:ext cx="4977765" cy="1937385"/>
            <a:chOff x="6680835" y="4033838"/>
            <a:chExt cx="4977765" cy="1937385"/>
          </a:xfrm>
        </p:grpSpPr>
        <p:sp>
          <p:nvSpPr>
            <p:cNvPr id="34" name="Rectangle 34"/>
            <p:cNvSpPr/>
            <p:nvPr/>
          </p:nvSpPr>
          <p:spPr>
            <a:xfrm>
              <a:off x="6680835" y="4033838"/>
              <a:ext cx="497776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4167188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8485" y="424338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94042" y="42791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与快速排序的分工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20865" y="4620578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快速排序把力气花在“分”上，划分完成后无需合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并；归并排序的“分”只是取中点，力气全在“合”。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34200" y="530447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92315" y="5241608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MergeSort 自己一次关键词比较都不做，全部比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较都发生在 Merge 里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5214" cy="909257"/>
            <a:chOff x="520446" y="342900"/>
            <a:chExt cx="7665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5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 O(n)，一共 ⌈log₂n⌉ 层，所以是 O(nlogn)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647700" y="1606868"/>
            <a:ext cx="4749165" cy="2072639"/>
            <a:chOff x="647700" y="1606868"/>
            <a:chExt cx="4749165" cy="2072639"/>
          </a:xfrm>
        </p:grpSpPr>
        <p:sp>
          <p:nvSpPr>
            <p:cNvPr id="7" name="Freeform 7"/>
            <p:cNvSpPr/>
            <p:nvPr/>
          </p:nvSpPr>
          <p:spPr>
            <a:xfrm>
              <a:off x="844868" y="2923222"/>
              <a:ext cx="310515" cy="559118"/>
            </a:xfrm>
            <a:custGeom>
              <a:avLst/>
              <a:gdLst/>
              <a:ahLst/>
              <a:cxnLst/>
              <a:rect l="l" t="t" r="r" b="b"/>
              <a:pathLst>
                <a:path w="310515" h="559118">
                  <a:moveTo>
                    <a:pt x="310515" y="0"/>
                  </a:moveTo>
                  <a:lnTo>
                    <a:pt x="0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55382" y="2923222"/>
              <a:ext cx="311468" cy="559118"/>
            </a:xfrm>
            <a:custGeom>
              <a:avLst/>
              <a:gdLst/>
              <a:ahLst/>
              <a:cxnLst/>
              <a:rect l="l" t="t" r="r" b="b"/>
              <a:pathLst>
                <a:path w="311468" h="559118">
                  <a:moveTo>
                    <a:pt x="0" y="0"/>
                  </a:moveTo>
                  <a:lnTo>
                    <a:pt x="311468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088832" y="2923222"/>
              <a:ext cx="311467" cy="559118"/>
            </a:xfrm>
            <a:custGeom>
              <a:avLst/>
              <a:gdLst/>
              <a:ahLst/>
              <a:cxnLst/>
              <a:rect l="l" t="t" r="r" b="b"/>
              <a:pathLst>
                <a:path w="311467" h="559118">
                  <a:moveTo>
                    <a:pt x="311467" y="0"/>
                  </a:moveTo>
                  <a:lnTo>
                    <a:pt x="0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00300" y="2923222"/>
              <a:ext cx="310515" cy="559118"/>
            </a:xfrm>
            <a:custGeom>
              <a:avLst/>
              <a:gdLst/>
              <a:ahLst/>
              <a:cxnLst/>
              <a:rect l="l" t="t" r="r" b="b"/>
              <a:pathLst>
                <a:path w="310515" h="559118">
                  <a:moveTo>
                    <a:pt x="0" y="0"/>
                  </a:moveTo>
                  <a:lnTo>
                    <a:pt x="310515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5382" y="2363152"/>
              <a:ext cx="621982" cy="560070"/>
            </a:xfrm>
            <a:custGeom>
              <a:avLst/>
              <a:gdLst/>
              <a:ahLst/>
              <a:cxnLst/>
              <a:rect l="l" t="t" r="r" b="b"/>
              <a:pathLst>
                <a:path w="621982" h="560070">
                  <a:moveTo>
                    <a:pt x="621982" y="0"/>
                  </a:moveTo>
                  <a:lnTo>
                    <a:pt x="0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77365" y="2363152"/>
              <a:ext cx="622935" cy="560070"/>
            </a:xfrm>
            <a:custGeom>
              <a:avLst/>
              <a:gdLst/>
              <a:ahLst/>
              <a:cxnLst/>
              <a:rect l="l" t="t" r="r" b="b"/>
              <a:pathLst>
                <a:path w="622935" h="560070">
                  <a:moveTo>
                    <a:pt x="0" y="0"/>
                  </a:moveTo>
                  <a:lnTo>
                    <a:pt x="622935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2798" y="2923222"/>
              <a:ext cx="311468" cy="559118"/>
            </a:xfrm>
            <a:custGeom>
              <a:avLst/>
              <a:gdLst/>
              <a:ahLst/>
              <a:cxnLst/>
              <a:rect l="l" t="t" r="r" b="b"/>
              <a:pathLst>
                <a:path w="311468" h="559118">
                  <a:moveTo>
                    <a:pt x="311468" y="0"/>
                  </a:moveTo>
                  <a:lnTo>
                    <a:pt x="0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44265" y="2923222"/>
              <a:ext cx="311467" cy="559118"/>
            </a:xfrm>
            <a:custGeom>
              <a:avLst/>
              <a:gdLst/>
              <a:ahLst/>
              <a:cxnLst/>
              <a:rect l="l" t="t" r="r" b="b"/>
              <a:pathLst>
                <a:path w="311467" h="559118">
                  <a:moveTo>
                    <a:pt x="0" y="0"/>
                  </a:moveTo>
                  <a:lnTo>
                    <a:pt x="311467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77715" y="2923222"/>
              <a:ext cx="310515" cy="559118"/>
            </a:xfrm>
            <a:custGeom>
              <a:avLst/>
              <a:gdLst/>
              <a:ahLst/>
              <a:cxnLst/>
              <a:rect l="l" t="t" r="r" b="b"/>
              <a:pathLst>
                <a:path w="310515" h="559118">
                  <a:moveTo>
                    <a:pt x="310515" y="0"/>
                  </a:moveTo>
                  <a:lnTo>
                    <a:pt x="0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88230" y="2923222"/>
              <a:ext cx="311467" cy="559118"/>
            </a:xfrm>
            <a:custGeom>
              <a:avLst/>
              <a:gdLst/>
              <a:ahLst/>
              <a:cxnLst/>
              <a:rect l="l" t="t" r="r" b="b"/>
              <a:pathLst>
                <a:path w="311467" h="559118">
                  <a:moveTo>
                    <a:pt x="0" y="0"/>
                  </a:moveTo>
                  <a:lnTo>
                    <a:pt x="311467" y="5591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644265" y="2363152"/>
              <a:ext cx="621982" cy="560070"/>
            </a:xfrm>
            <a:custGeom>
              <a:avLst/>
              <a:gdLst/>
              <a:ahLst/>
              <a:cxnLst/>
              <a:rect l="l" t="t" r="r" b="b"/>
              <a:pathLst>
                <a:path w="621982" h="560070">
                  <a:moveTo>
                    <a:pt x="621982" y="0"/>
                  </a:moveTo>
                  <a:lnTo>
                    <a:pt x="0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66248" y="2363152"/>
              <a:ext cx="621983" cy="560070"/>
            </a:xfrm>
            <a:custGeom>
              <a:avLst/>
              <a:gdLst/>
              <a:ahLst/>
              <a:cxnLst/>
              <a:rect l="l" t="t" r="r" b="b"/>
              <a:pathLst>
                <a:path w="621983" h="560070">
                  <a:moveTo>
                    <a:pt x="0" y="0"/>
                  </a:moveTo>
                  <a:lnTo>
                    <a:pt x="621983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777365" y="1804035"/>
              <a:ext cx="1244918" cy="559117"/>
            </a:xfrm>
            <a:custGeom>
              <a:avLst/>
              <a:gdLst/>
              <a:ahLst/>
              <a:cxnLst/>
              <a:rect l="l" t="t" r="r" b="b"/>
              <a:pathLst>
                <a:path w="1244918" h="559117">
                  <a:moveTo>
                    <a:pt x="1244918" y="0"/>
                  </a:moveTo>
                  <a:lnTo>
                    <a:pt x="0" y="5591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022282" y="1804035"/>
              <a:ext cx="1243965" cy="559117"/>
            </a:xfrm>
            <a:custGeom>
              <a:avLst/>
              <a:gdLst/>
              <a:ahLst/>
              <a:cxnLst/>
              <a:rect l="l" t="t" r="r" b="b"/>
              <a:pathLst>
                <a:path w="1243965" h="559117">
                  <a:moveTo>
                    <a:pt x="0" y="0"/>
                  </a:moveTo>
                  <a:lnTo>
                    <a:pt x="1243965" y="5591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700" y="328517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269682" y="328517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42975" y="2726055"/>
              <a:ext cx="42481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91665" y="328517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513648" y="328517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86940" y="2726055"/>
              <a:ext cx="42481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564958" y="2165985"/>
              <a:ext cx="42481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136582" y="328517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58565" y="328517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431858" y="2726055"/>
              <a:ext cx="42481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0548" y="328517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002530" y="328517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675822" y="2726055"/>
              <a:ext cx="42481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53840" y="2165985"/>
              <a:ext cx="42481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825115" y="1606868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1820" y="3421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23803" y="3421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6147" y="286273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45785" y="3421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67768" y="3421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81065" y="286273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58130" y="230266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89750" y="3421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12685" y="3421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25030" y="286273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34668" y="3421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56650" y="3421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68995" y="286273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47012" y="230266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79235" y="17435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10"/>
              <p:cNvSpPr txBox="1">
                <a:spLocks noGrp="1"/>
              </p:cNvSpPr>
              <p:nvPr/>
            </p:nvSpPr>
            <p:spPr>
              <a:xfrm>
                <a:off x="533400" y="3942398"/>
                <a:ext cx="497776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86" name="c2-table-1"/>
          <p:cNvGrpSpPr/>
          <p:nvPr/>
        </p:nvGrpSpPr>
        <p:grpSpPr>
          <a:xfrm>
            <a:off x="5815965" y="1524000"/>
            <a:ext cx="5842635" cy="2122170"/>
            <a:chOff x="5815965" y="1524000"/>
            <a:chExt cx="5842635" cy="2122170"/>
          </a:xfrm>
        </p:grpSpPr>
        <p:sp>
          <p:nvSpPr>
            <p:cNvPr id="53" name="Rectangle 53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7108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33869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子数组个数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83359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每个长度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76485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该层合并总代价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18454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03376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8925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447848" y="1958340"/>
              <a:ext cx="220122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540812" y="207645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18454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03376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89252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447848" y="2382202"/>
              <a:ext cx="220122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40812" y="2501265"/>
              <a:ext cx="1465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O(n/2) = O(n)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18454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03376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89252" y="29260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447848" y="2807018"/>
              <a:ext cx="220122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540812" y="2926080"/>
              <a:ext cx="1465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O(n/4) = O(n)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815965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815965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918454" y="3349942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⌈log₂n⌉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03376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489252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540812" y="33499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不再合并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815965" y="1524000"/>
              <a:ext cx="584263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709612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38200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43356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3" name="c2-card-2"/>
          <p:cNvGrpSpPr/>
          <p:nvPr/>
        </p:nvGrpSpPr>
        <p:grpSpPr>
          <a:xfrm>
            <a:off x="5815965" y="3826192"/>
            <a:ext cx="5842635" cy="1840230"/>
            <a:chOff x="5815965" y="3826192"/>
            <a:chExt cx="5842635" cy="1840230"/>
          </a:xfrm>
        </p:grpSpPr>
        <p:sp>
          <p:nvSpPr>
            <p:cNvPr id="87" name="Rectangle 87"/>
            <p:cNvSpPr/>
            <p:nvPr/>
          </p:nvSpPr>
          <p:spPr>
            <a:xfrm>
              <a:off x="5815965" y="3826192"/>
              <a:ext cx="5842635" cy="1840230"/>
            </a:xfrm>
            <a:prstGeom prst="roundRect">
              <a:avLst>
                <a:gd name="adj" fmla="val 724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014085" y="402431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093524" y="40586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结论与前提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006846" y="4384834"/>
              <a:ext cx="44057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每层把全部 n 个元素各搬一遍，共 ⌈log₂n⌉ 层，总时间</a:t>
              </a:r>
              <a:br/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O(nlogn)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，与输入是否有序无关。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021705" y="503491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178296" y="4974431"/>
              <a:ext cx="49287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已有序时比较次数变少（8 个元素 12 次对最坏 17 次），搬运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次数不变</a:t>
              </a:r>
            </a:p>
          </p:txBody>
        </p:sp>
      </p:grpSp>
      <p:grpSp>
        <p:nvGrpSpPr>
          <p:cNvPr id="9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94" name="Rectangle 9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0511" y="6011704"/>
              <a:ext cx="84411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本课学过的排序里，只有归并排序在最坏情况下仍是 O(nlogn) 且稳定，代价是 O(n) 的额外空间。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自顶向下：先一路切到底，再一层层并回来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18969" cy="308039"/>
            <a:chOff x="525399" y="1550194"/>
            <a:chExt cx="851896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189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8 个记录 R1…R8 为例，切分不做任何比较，真正的比较发生在回溯时的每一次 Merge。</a:t>
              </a:r>
            </a:p>
          </p:txBody>
        </p:sp>
      </p:grpSp>
      <p:grpSp>
        <p:nvGrpSpPr>
          <p:cNvPr id="53" name="c1-tree-1"/>
          <p:cNvGrpSpPr/>
          <p:nvPr/>
        </p:nvGrpSpPr>
        <p:grpSpPr>
          <a:xfrm>
            <a:off x="716280" y="2269808"/>
            <a:ext cx="5910262" cy="3490912"/>
            <a:chOff x="716280" y="2269808"/>
            <a:chExt cx="5910262" cy="3490912"/>
          </a:xfrm>
        </p:grpSpPr>
        <p:sp>
          <p:nvSpPr>
            <p:cNvPr id="9" name="Freeform 9"/>
            <p:cNvSpPr/>
            <p:nvPr/>
          </p:nvSpPr>
          <p:spPr>
            <a:xfrm>
              <a:off x="925830" y="4527232"/>
              <a:ext cx="392430" cy="1023937"/>
            </a:xfrm>
            <a:custGeom>
              <a:avLst/>
              <a:gdLst/>
              <a:ahLst/>
              <a:cxnLst/>
              <a:rect l="l" t="t" r="r" b="b"/>
              <a:pathLst>
                <a:path w="392430" h="1023937">
                  <a:moveTo>
                    <a:pt x="392430" y="0"/>
                  </a:moveTo>
                  <a:lnTo>
                    <a:pt x="0" y="102393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18260" y="4527232"/>
              <a:ext cx="391477" cy="1023937"/>
            </a:xfrm>
            <a:custGeom>
              <a:avLst/>
              <a:gdLst/>
              <a:ahLst/>
              <a:cxnLst/>
              <a:rect l="l" t="t" r="r" b="b"/>
              <a:pathLst>
                <a:path w="391477" h="1023937">
                  <a:moveTo>
                    <a:pt x="0" y="0"/>
                  </a:moveTo>
                  <a:lnTo>
                    <a:pt x="391477" y="102393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94598" y="4527232"/>
              <a:ext cx="392430" cy="1023937"/>
            </a:xfrm>
            <a:custGeom>
              <a:avLst/>
              <a:gdLst/>
              <a:ahLst/>
              <a:cxnLst/>
              <a:rect l="l" t="t" r="r" b="b"/>
              <a:pathLst>
                <a:path w="392430" h="1023937">
                  <a:moveTo>
                    <a:pt x="392430" y="0"/>
                  </a:moveTo>
                  <a:lnTo>
                    <a:pt x="0" y="102393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87028" y="4527232"/>
              <a:ext cx="392430" cy="1023937"/>
            </a:xfrm>
            <a:custGeom>
              <a:avLst/>
              <a:gdLst/>
              <a:ahLst/>
              <a:cxnLst/>
              <a:rect l="l" t="t" r="r" b="b"/>
              <a:pathLst>
                <a:path w="392430" h="1023937">
                  <a:moveTo>
                    <a:pt x="0" y="0"/>
                  </a:moveTo>
                  <a:lnTo>
                    <a:pt x="392430" y="102393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318260" y="3503295"/>
              <a:ext cx="783907" cy="1023938"/>
            </a:xfrm>
            <a:custGeom>
              <a:avLst/>
              <a:gdLst/>
              <a:ahLst/>
              <a:cxnLst/>
              <a:rect l="l" t="t" r="r" b="b"/>
              <a:pathLst>
                <a:path w="783907" h="1023938">
                  <a:moveTo>
                    <a:pt x="783907" y="0"/>
                  </a:moveTo>
                  <a:lnTo>
                    <a:pt x="0" y="10239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02168" y="3503295"/>
              <a:ext cx="784860" cy="1023938"/>
            </a:xfrm>
            <a:custGeom>
              <a:avLst/>
              <a:gdLst/>
              <a:ahLst/>
              <a:cxnLst/>
              <a:rect l="l" t="t" r="r" b="b"/>
              <a:pathLst>
                <a:path w="784860" h="1023938">
                  <a:moveTo>
                    <a:pt x="0" y="0"/>
                  </a:moveTo>
                  <a:lnTo>
                    <a:pt x="784860" y="10239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063365" y="4527232"/>
              <a:ext cx="392430" cy="1023937"/>
            </a:xfrm>
            <a:custGeom>
              <a:avLst/>
              <a:gdLst/>
              <a:ahLst/>
              <a:cxnLst/>
              <a:rect l="l" t="t" r="r" b="b"/>
              <a:pathLst>
                <a:path w="392430" h="1023937">
                  <a:moveTo>
                    <a:pt x="392430" y="0"/>
                  </a:moveTo>
                  <a:lnTo>
                    <a:pt x="0" y="102393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455795" y="4527232"/>
              <a:ext cx="392430" cy="1023937"/>
            </a:xfrm>
            <a:custGeom>
              <a:avLst/>
              <a:gdLst/>
              <a:ahLst/>
              <a:cxnLst/>
              <a:rect l="l" t="t" r="r" b="b"/>
              <a:pathLst>
                <a:path w="392430" h="1023937">
                  <a:moveTo>
                    <a:pt x="0" y="0"/>
                  </a:moveTo>
                  <a:lnTo>
                    <a:pt x="392430" y="102393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632132" y="4527232"/>
              <a:ext cx="392430" cy="1023937"/>
            </a:xfrm>
            <a:custGeom>
              <a:avLst/>
              <a:gdLst/>
              <a:ahLst/>
              <a:cxnLst/>
              <a:rect l="l" t="t" r="r" b="b"/>
              <a:pathLst>
                <a:path w="392430" h="1023937">
                  <a:moveTo>
                    <a:pt x="392430" y="0"/>
                  </a:moveTo>
                  <a:lnTo>
                    <a:pt x="0" y="102393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024562" y="4527232"/>
              <a:ext cx="392430" cy="1023937"/>
            </a:xfrm>
            <a:custGeom>
              <a:avLst/>
              <a:gdLst/>
              <a:ahLst/>
              <a:cxnLst/>
              <a:rect l="l" t="t" r="r" b="b"/>
              <a:pathLst>
                <a:path w="392430" h="1023937">
                  <a:moveTo>
                    <a:pt x="0" y="0"/>
                  </a:moveTo>
                  <a:lnTo>
                    <a:pt x="392430" y="102393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455795" y="3503295"/>
              <a:ext cx="784860" cy="1023938"/>
            </a:xfrm>
            <a:custGeom>
              <a:avLst/>
              <a:gdLst/>
              <a:ahLst/>
              <a:cxnLst/>
              <a:rect l="l" t="t" r="r" b="b"/>
              <a:pathLst>
                <a:path w="784860" h="1023938">
                  <a:moveTo>
                    <a:pt x="784860" y="0"/>
                  </a:moveTo>
                  <a:lnTo>
                    <a:pt x="0" y="10239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240655" y="3503295"/>
              <a:ext cx="783907" cy="1023938"/>
            </a:xfrm>
            <a:custGeom>
              <a:avLst/>
              <a:gdLst/>
              <a:ahLst/>
              <a:cxnLst/>
              <a:rect l="l" t="t" r="r" b="b"/>
              <a:pathLst>
                <a:path w="783907" h="1023938">
                  <a:moveTo>
                    <a:pt x="0" y="0"/>
                  </a:moveTo>
                  <a:lnTo>
                    <a:pt x="783907" y="10239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102168" y="2479358"/>
              <a:ext cx="1568768" cy="1023938"/>
            </a:xfrm>
            <a:custGeom>
              <a:avLst/>
              <a:gdLst/>
              <a:ahLst/>
              <a:cxnLst/>
              <a:rect l="l" t="t" r="r" b="b"/>
              <a:pathLst>
                <a:path w="1568768" h="1023938">
                  <a:moveTo>
                    <a:pt x="1568768" y="0"/>
                  </a:moveTo>
                  <a:lnTo>
                    <a:pt x="0" y="10239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670935" y="2479358"/>
              <a:ext cx="1569720" cy="1023938"/>
            </a:xfrm>
            <a:custGeom>
              <a:avLst/>
              <a:gdLst/>
              <a:ahLst/>
              <a:cxnLst/>
              <a:rect l="l" t="t" r="r" b="b"/>
              <a:pathLst>
                <a:path w="1569720" h="1023938">
                  <a:moveTo>
                    <a:pt x="0" y="0"/>
                  </a:moveTo>
                  <a:lnTo>
                    <a:pt x="1569720" y="10239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6280" y="534162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500188" y="534162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38225" y="4317682"/>
              <a:ext cx="56007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85048" y="534162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069908" y="534162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606992" y="4317682"/>
              <a:ext cx="56007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626870" y="3293745"/>
              <a:ext cx="95154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53815" y="534162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38675" y="534162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175760" y="4317682"/>
              <a:ext cx="56007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2582" y="534162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07442" y="5341620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44528" y="4317682"/>
              <a:ext cx="56007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64405" y="3293745"/>
              <a:ext cx="95154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86062" y="2269808"/>
              <a:ext cx="177069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4245" y="5485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18153" y="5485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6902" y="4462462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R2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03013" y="5485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87873" y="5485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85669" y="4462462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R3 R4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81262" y="3438525"/>
              <a:ext cx="841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R2 R3 R4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71780" y="5485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56640" y="5485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54436" y="4462462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R5 R6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40548" y="5485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25408" y="5485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23204" y="4462462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R7 R8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819749" y="3438525"/>
              <a:ext cx="841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R5 R6 R7 R8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810934" y="2414587"/>
              <a:ext cx="1720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R2 R3 R4 R5 R6 R7 R8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7114222" y="1967865"/>
            <a:ext cx="4544378" cy="2341245"/>
            <a:chOff x="7114222" y="1967865"/>
            <a:chExt cx="4544378" cy="2341245"/>
          </a:xfrm>
        </p:grpSpPr>
        <p:sp>
          <p:nvSpPr>
            <p:cNvPr id="54" name="Rectangle 54"/>
            <p:cNvSpPr/>
            <p:nvPr/>
          </p:nvSpPr>
          <p:spPr>
            <a:xfrm>
              <a:off x="7114222" y="1967865"/>
              <a:ext cx="4544378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3748" y="2101215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61872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4322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调用顺序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46745" y="221265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递归是深度优先的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61872" y="256032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23722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62862" y="2573655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一路向左切到 R1、R2，先合出 R1 R2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61872" y="289560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23722" y="29378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62862" y="2908935"/>
              <a:ext cx="3282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再合出 R3 R4，然后合出左半 R1…R4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61872" y="323088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23722" y="32731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62862" y="3244215"/>
              <a:ext cx="1877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右半同理合出 R5…R8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361872" y="356616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23722" y="36084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62862" y="3579495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最后一次 Merge 把两个 4 元素段并成 8 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素段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7114222" y="4499610"/>
            <a:ext cx="4544378" cy="1564005"/>
            <a:chOff x="7114222" y="4499610"/>
            <a:chExt cx="4544378" cy="1564005"/>
          </a:xfrm>
        </p:grpSpPr>
        <p:sp>
          <p:nvSpPr>
            <p:cNvPr id="72" name="Rectangle 72"/>
            <p:cNvSpPr/>
            <p:nvPr/>
          </p:nvSpPr>
          <p:spPr>
            <a:xfrm>
              <a:off x="7114222" y="4499610"/>
              <a:ext cx="4544378" cy="1564005"/>
            </a:xfrm>
            <a:prstGeom prst="roundRect">
              <a:avLst>
                <a:gd name="adj" fmla="val 730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06952" y="5177908"/>
              <a:ext cx="224134" cy="192560"/>
              <a:chOff x="7306952" y="5177908"/>
              <a:chExt cx="224134" cy="19256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419023" y="52482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306952" y="51779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419023" y="53260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7620952" y="4900612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箭头方向容易记反：切分是自顶向下，合并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是自底向上，最后一次合并处理的元素最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多。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自底向上：不用递归，一趟一趟地并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498408" cy="278702"/>
            <a:chOff x="526161" y="1547336"/>
            <a:chExt cx="749840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4984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把长度为 1 的段两两合并得到长度 2 的段，再两两合并得到 4，直到段长盖住整个数组。</a:t>
              </a:r>
            </a:p>
          </p:txBody>
        </p:sp>
      </p:grpSp>
      <p:grpSp>
        <p:nvGrpSpPr>
          <p:cNvPr id="77" name="c1-cells-1"/>
          <p:cNvGrpSpPr/>
          <p:nvPr/>
        </p:nvGrpSpPr>
        <p:grpSpPr>
          <a:xfrm>
            <a:off x="528066" y="1941195"/>
            <a:ext cx="6281357" cy="1993583"/>
            <a:chOff x="528066" y="1941195"/>
            <a:chExt cx="6281357" cy="1993583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669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6800" y="1941195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8928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84985" y="1941195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56161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02218" y="1941195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74346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20402" y="1941195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92531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937635" y="1941195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09763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55820" y="1941195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27948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74005" y="1941195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45181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1238" y="1941195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3366" y="2066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066" y="26041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第一趟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66800" y="2479358"/>
              <a:ext cx="71818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38928" y="2604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784985" y="2479358"/>
              <a:ext cx="71818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56161" y="2604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502218" y="2479358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774346" y="2604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20402" y="2479358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92531" y="2604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937635" y="2479358"/>
              <a:ext cx="71818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09763" y="2604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655820" y="2479358"/>
              <a:ext cx="71818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27948" y="2604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74005" y="2479358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45181" y="2604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1238" y="2479358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63366" y="2604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8066" y="31413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第二趟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66800" y="3016568"/>
              <a:ext cx="71818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338928" y="31413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784985" y="3016568"/>
              <a:ext cx="71818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056161" y="31413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502218" y="3016568"/>
              <a:ext cx="71818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774346" y="31413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220402" y="3016568"/>
              <a:ext cx="71818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92531" y="31413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37635" y="3016568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09763" y="31413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655820" y="3016568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27948" y="31413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74005" y="3016568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645181" y="31413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91238" y="3016568"/>
              <a:ext cx="71818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63366" y="31413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8066" y="367950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第三趟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66800" y="3553778"/>
              <a:ext cx="71818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338928" y="36795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784985" y="3553778"/>
              <a:ext cx="71818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056161" y="36795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502218" y="3553778"/>
              <a:ext cx="71818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774346" y="36795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220402" y="3553778"/>
              <a:ext cx="71818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492531" y="36795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937635" y="3553778"/>
              <a:ext cx="71818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209763" y="36795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655820" y="3553778"/>
              <a:ext cx="71818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927948" y="36795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74005" y="3553778"/>
              <a:ext cx="71818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645181" y="36795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091238" y="3553778"/>
              <a:ext cx="71818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63366" y="36795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</p:grpSp>
      <p:grpSp>
        <p:nvGrpSpPr>
          <p:cNvPr id="91" name="c1-card-2"/>
          <p:cNvGrpSpPr/>
          <p:nvPr/>
        </p:nvGrpSpPr>
        <p:grpSpPr>
          <a:xfrm>
            <a:off x="533400" y="4110038"/>
            <a:ext cx="6276022" cy="1557338"/>
            <a:chOff x="533400" y="4110038"/>
            <a:chExt cx="6276022" cy="1557338"/>
          </a:xfrm>
        </p:grpSpPr>
        <p:sp>
          <p:nvSpPr>
            <p:cNvPr id="78" name="Rectangle 78"/>
            <p:cNvSpPr/>
            <p:nvPr/>
          </p:nvSpPr>
          <p:spPr>
            <a:xfrm>
              <a:off x="533400" y="4110038"/>
              <a:ext cx="6276022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542925" y="4243388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63905" y="430244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51344" y="43367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逐趟看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63905" y="464724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19583" y="46856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44702" y="4659630"/>
              <a:ext cx="5455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L=1：四对相邻元素各自排好，50 37 换成 37 50，86 33 换成 33 86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763905" y="494919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19583" y="49885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44702" y="4961573"/>
              <a:ext cx="42651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L=2：两对 2 元素段合成 25 37 50 57 与 12 33 86 92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63905" y="525208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19583" y="52904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44702" y="5264468"/>
              <a:ext cx="27203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L=4：两个 4 元素段合成最终结果</a:t>
              </a:r>
            </a:p>
          </p:txBody>
        </p:sp>
      </p:grpSp>
      <p:grpSp>
        <p:nvGrpSpPr>
          <p:cNvPr id="111" name="c2-table-1"/>
          <p:cNvGrpSpPr/>
          <p:nvPr/>
        </p:nvGrpSpPr>
        <p:grpSpPr>
          <a:xfrm>
            <a:off x="7114222" y="1941195"/>
            <a:ext cx="4544378" cy="1623060"/>
            <a:chOff x="7114222" y="1941195"/>
            <a:chExt cx="4544378" cy="1623060"/>
          </a:xfrm>
        </p:grpSpPr>
        <p:sp>
          <p:nvSpPr>
            <p:cNvPr id="92" name="Rectangle 92"/>
            <p:cNvSpPr/>
            <p:nvPr/>
          </p:nvSpPr>
          <p:spPr>
            <a:xfrm>
              <a:off x="7114222" y="1941195"/>
              <a:ext cx="454437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351255" y="2065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971192" y="20654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745561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214235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85050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95335" y="2471261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对长度为 1 的子数组两两合并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7114222" y="27479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114222" y="2752725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214235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85050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395335" y="2877026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对长度为 2 的有序子数组两两合并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114222" y="31537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214235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85050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395335" y="3282791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对长度为 4 的有序子数组两两合并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114222" y="1941195"/>
              <a:ext cx="454437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774573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29056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8" name="c2-card-2"/>
          <p:cNvGrpSpPr/>
          <p:nvPr/>
        </p:nvGrpSpPr>
        <p:grpSpPr>
          <a:xfrm>
            <a:off x="7114222" y="3739515"/>
            <a:ext cx="4544378" cy="1927860"/>
            <a:chOff x="7114222" y="3739515"/>
            <a:chExt cx="4544378" cy="1927860"/>
          </a:xfrm>
        </p:grpSpPr>
        <p:sp>
          <p:nvSpPr>
            <p:cNvPr id="112" name="Rectangle 112"/>
            <p:cNvSpPr/>
            <p:nvPr/>
          </p:nvSpPr>
          <p:spPr>
            <a:xfrm>
              <a:off x="7114222" y="3739515"/>
              <a:ext cx="4544378" cy="1927860"/>
            </a:xfrm>
            <a:prstGeom prst="roundRect">
              <a:avLst>
                <a:gd name="adj" fmla="val 691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7306628" y="39319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398068" y="39662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趟数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299770" y="4289108"/>
              <a:ext cx="368188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L 每趟翻倍，从 1 涨到 ≥ n 需要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⌈log₂n⌉ 趟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 O(n)，总计 O(nlogn)。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7315200" y="49044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471220" y="4848225"/>
              <a:ext cx="33655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非递归版不用递归栈，但仍需要 Merge 里的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 辅助数组</a:t>
              </a:r>
            </a:p>
          </p:txBody>
        </p:sp>
      </p:grpSp>
      <p:grpSp>
        <p:nvGrpSpPr>
          <p:cNvPr id="12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9" name="Rectangle 11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1040892" y="602361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高亮的是这一趟刚刚合并出来的段；第三趟结束后整个数组有序。</a:t>
              </a:r>
            </a:p>
          </p:txBody>
        </p:sp>
      </p:grpSp>
      <p:grpSp>
        <p:nvGrpSpPr>
          <p:cNvPr id="1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6" name="TextBox 126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4258" cy="909257"/>
            <a:chOff x="520446" y="342900"/>
            <a:chExt cx="71642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42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一趟合并 MergePass：难点在长度不足的尾巴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2967990"/>
            <a:chOff x="533400" y="1524000"/>
            <a:chExt cx="6059805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35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一趟合并与非递归主函数（下标 1..n）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54655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129915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3227197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MergePass(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相邻的两个完整 L 段，成对合并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+ 2 * L - 1 &lt;= n; i += 2 * L)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Merge(R, i, i + L - 1, i + 2 * L - 1);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余留部分长度在 L 与 2L 之间时，再并一次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+ L - 1 &lt; n)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Merge(R, i, i + L - 1, n);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MergeSort(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 = 1; L &lt; n; L *= 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MergePass(R, n, L);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661535"/>
            <a:ext cx="6059805" cy="990600"/>
            <a:chOff x="533400" y="4661535"/>
            <a:chExt cx="6059805" cy="990600"/>
          </a:xfrm>
        </p:grpSpPr>
        <p:sp>
          <p:nvSpPr>
            <p:cNvPr id="13" name="Rectangle 13"/>
            <p:cNvSpPr/>
            <p:nvPr/>
          </p:nvSpPr>
          <p:spPr>
            <a:xfrm>
              <a:off x="533400" y="4661535"/>
              <a:ext cx="6059805" cy="990600"/>
            </a:xfrm>
            <a:prstGeom prst="roundRect">
              <a:avLst>
                <a:gd name="adj" fmla="val 1153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056825"/>
              <a:ext cx="200023" cy="200023"/>
              <a:chOff x="738188" y="5056825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0568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51234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4938712"/>
              <a:ext cx="49943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 i+L−1 &lt; n 判的就是“余留部分是否超过一个 L 段”，超过才需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要再合并一次。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898005" y="1524000"/>
            <a:ext cx="4760595" cy="1528762"/>
            <a:chOff x="6898005" y="1524000"/>
            <a:chExt cx="4760595" cy="1528762"/>
          </a:xfrm>
        </p:grpSpPr>
        <p:sp>
          <p:nvSpPr>
            <p:cNvPr id="19" name="Rectangle 19"/>
            <p:cNvSpPr/>
            <p:nvPr/>
          </p:nvSpPr>
          <p:spPr>
            <a:xfrm>
              <a:off x="6898005" y="1524000"/>
              <a:ext cx="4760595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1657350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2795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96163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尾巴的三种情况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21842" y="204311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7521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02639" y="2054542"/>
              <a:ext cx="25173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余留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长度 &gt; 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：再 Merge 一次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121842" y="234315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77521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02639" y="2355532"/>
              <a:ext cx="3137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余留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长度 ≤ 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：本身有序，留到下一趟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121842" y="264318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77521" y="26815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02639" y="26555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什么都不剩：正好分完</a:t>
              </a:r>
            </a:p>
          </p:txBody>
        </p:sp>
      </p:grpSp>
      <p:grpSp>
        <p:nvGrpSpPr>
          <p:cNvPr id="69" name="c2-cells-2"/>
          <p:cNvGrpSpPr/>
          <p:nvPr/>
        </p:nvGrpSpPr>
        <p:grpSpPr>
          <a:xfrm>
            <a:off x="6893242" y="3248501"/>
            <a:ext cx="4765358" cy="825818"/>
            <a:chOff x="6893242" y="3248501"/>
            <a:chExt cx="4765358" cy="825818"/>
          </a:xfrm>
        </p:grpSpPr>
        <p:sp>
          <p:nvSpPr>
            <p:cNvPr id="33" name="TextBox 33"/>
            <p:cNvSpPr txBox="1"/>
            <p:nvPr/>
          </p:nvSpPr>
          <p:spPr>
            <a:xfrm>
              <a:off x="6893242" y="36175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097078" y="3489960"/>
              <a:ext cx="41433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29991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511415" y="3489960"/>
              <a:ext cx="41433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44329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26705" y="3489960"/>
              <a:ext cx="41433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23682" y="361759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25*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41042" y="3489960"/>
              <a:ext cx="41433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73956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55380" y="3489960"/>
              <a:ext cx="41433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88294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70670" y="3489960"/>
              <a:ext cx="41433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02631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585008" y="3489960"/>
              <a:ext cx="41433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17921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000298" y="3489960"/>
              <a:ext cx="41433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32259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414635" y="3489960"/>
              <a:ext cx="414338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547549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828972" y="3489960"/>
              <a:ext cx="414338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61886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244262" y="3489960"/>
              <a:ext cx="414338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376224" y="3617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69603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83941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98278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13568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27906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42243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57533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71871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87161" y="39123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71141" y="391239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85479" y="391239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00131" y="3248501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0584180" y="33947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5" name="c2-card-3"/>
          <p:cNvGrpSpPr/>
          <p:nvPr/>
        </p:nvGrpSpPr>
        <p:grpSpPr>
          <a:xfrm>
            <a:off x="6898005" y="4209098"/>
            <a:ext cx="4760595" cy="1443038"/>
            <a:chOff x="6898005" y="4209098"/>
            <a:chExt cx="4760595" cy="1443038"/>
          </a:xfrm>
        </p:grpSpPr>
        <p:sp>
          <p:nvSpPr>
            <p:cNvPr id="70" name="Rectangle 70"/>
            <p:cNvSpPr/>
            <p:nvPr/>
          </p:nvSpPr>
          <p:spPr>
            <a:xfrm>
              <a:off x="6898005" y="4209098"/>
              <a:ext cx="476059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907530" y="434244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122795" y="439578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18566" y="44286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15937" y="4740592"/>
              <a:ext cx="41113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n=11、L=2。橙色的 1–8 已成对合并，红色的 9–11 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余留；i+L−1 = 10 &lt; 11 成立，再调一次 Merge(R, 9,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 11)。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6" name="Rectangle 7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892" y="6028373"/>
              <a:ext cx="8634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这两个函数按 R[1..n] 存储，下标从 1 开始，与源课件一致；递归版按 R[0..n−1] 调用，两者不要混用。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完整走一遍：11 个元素的非递归归并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895205" cy="264033"/>
            <a:chOff x="526542" y="1545907"/>
            <a:chExt cx="689520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895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每行左边的 L 是这一行里各段的长度。25 与 25* 关键词相同，注意它们的先后次序。</a:t>
              </a:r>
            </a:p>
          </p:txBody>
        </p:sp>
      </p:grpSp>
      <p:grpSp>
        <p:nvGrpSpPr>
          <p:cNvPr id="124" name="c1-cells-1"/>
          <p:cNvGrpSpPr/>
          <p:nvPr/>
        </p:nvGrpSpPr>
        <p:grpSpPr>
          <a:xfrm>
            <a:off x="528066" y="1928812"/>
            <a:ext cx="6713791" cy="2967038"/>
            <a:chOff x="528066" y="1928812"/>
            <a:chExt cx="6713791" cy="2967038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7264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L=1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4408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2241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44955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42788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14550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12383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84145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41163" y="207264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25*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53740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51573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23335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21168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92930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90763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963478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61311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533072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30906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02668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0501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72262" y="1928812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70096" y="2072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066" y="270986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L=2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74408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2241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544955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42788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114550" y="2566035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71568" y="270986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25*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684145" y="2566035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881978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253740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451573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823335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021168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392930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90763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963478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61311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33072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30906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102668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0501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672262" y="256603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70096" y="27098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8066" y="334708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L=4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74408" y="320230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72241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544955" y="320230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742788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114550" y="320230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271568" y="334708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25*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684145" y="320230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881978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253740" y="3202305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451573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823335" y="3202305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021168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392930" y="3202305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590763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963478" y="3202305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161311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533072" y="320230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730906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102668" y="320230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00501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672262" y="3202305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870096" y="33470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28066" y="398430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L=8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74408" y="3839528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172241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544955" y="3839528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742788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2114550" y="3839528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312383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2684145" y="3839528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841163" y="398430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25*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3253740" y="3839528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451573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3823335" y="3839528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021168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4392930" y="3839528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590763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4963478" y="3839528"/>
              <a:ext cx="56959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161311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533072" y="3839528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730906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102668" y="3839528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300501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672262" y="3839528"/>
              <a:ext cx="56959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870096" y="39843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28066" y="462057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L=16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974408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172241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1544955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1742788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2114550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2312383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2684145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2881978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3253740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3410758" y="462057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25*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3823335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4021168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4392930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4590763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4963478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5161311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5533072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5730906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102668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300501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672262" y="4476750"/>
              <a:ext cx="56959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870096" y="46205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</p:grpSp>
      <p:grpSp>
        <p:nvGrpSpPr>
          <p:cNvPr id="132" name="c1-card-2"/>
          <p:cNvGrpSpPr/>
          <p:nvPr/>
        </p:nvGrpSpPr>
        <p:grpSpPr>
          <a:xfrm>
            <a:off x="533400" y="5065395"/>
            <a:ext cx="6708458" cy="1228725"/>
            <a:chOff x="533400" y="5065395"/>
            <a:chExt cx="6708458" cy="1228725"/>
          </a:xfrm>
        </p:grpSpPr>
        <p:sp>
          <p:nvSpPr>
            <p:cNvPr id="125" name="Rectangle 125"/>
            <p:cNvSpPr/>
            <p:nvPr/>
          </p:nvSpPr>
          <p:spPr>
            <a:xfrm>
              <a:off x="533400" y="5065395"/>
              <a:ext cx="6708458" cy="1228725"/>
            </a:xfrm>
            <a:prstGeom prst="roundRect">
              <a:avLst>
                <a:gd name="adj" fmla="val 1085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20090" y="525208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04659" y="528494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两点验证</a:t>
              </a:r>
            </a:p>
          </p:txBody>
        </p:sp>
        <p:sp>
          <p:nvSpPr>
            <p:cNvPr id="128" name="Ellipse 128"/>
            <p:cNvSpPr/>
            <p:nvPr/>
          </p:nvSpPr>
          <p:spPr>
            <a:xfrm>
              <a:off x="728662" y="565308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884682" y="5596890"/>
              <a:ext cx="4328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L 依次取 1、2、4、8，共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4 趟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，正好是 ⌈log₂11⌉ = 4</a:t>
              </a:r>
            </a:p>
          </p:txBody>
        </p:sp>
        <p:sp>
          <p:nvSpPr>
            <p:cNvPr id="130" name="Ellipse 130"/>
            <p:cNvSpPr/>
            <p:nvPr/>
          </p:nvSpPr>
          <p:spPr>
            <a:xfrm>
              <a:off x="728662" y="59531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884682" y="5896928"/>
              <a:ext cx="5220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 自始至终排在 25* 前面，合并没有打乱相同关键词的原有次序</a:t>
              </a:r>
            </a:p>
          </p:txBody>
        </p:sp>
      </p:grpSp>
      <p:grpSp>
        <p:nvGrpSpPr>
          <p:cNvPr id="146" name="c2-card-1"/>
          <p:cNvGrpSpPr/>
          <p:nvPr/>
        </p:nvGrpSpPr>
        <p:grpSpPr>
          <a:xfrm>
            <a:off x="7546658" y="1928812"/>
            <a:ext cx="4111942" cy="4366260"/>
            <a:chOff x="7546658" y="1928812"/>
            <a:chExt cx="4111942" cy="4366260"/>
          </a:xfrm>
        </p:grpSpPr>
        <p:sp>
          <p:nvSpPr>
            <p:cNvPr id="133" name="Rectangle 133"/>
            <p:cNvSpPr/>
            <p:nvPr/>
          </p:nvSpPr>
          <p:spPr>
            <a:xfrm>
              <a:off x="7546658" y="1928812"/>
              <a:ext cx="4111942" cy="436626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7556182" y="2062162"/>
              <a:ext cx="47625" cy="40995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7771448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785696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逐趟说明</a:t>
              </a:r>
            </a:p>
          </p:txBody>
        </p:sp>
        <p:sp>
          <p:nvSpPr>
            <p:cNvPr id="137" name="Ellipse 137"/>
            <p:cNvSpPr/>
            <p:nvPr/>
          </p:nvSpPr>
          <p:spPr>
            <a:xfrm>
              <a:off x="7780020" y="25155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7936039" y="2459355"/>
              <a:ext cx="3340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L=1→2：五对两两合并，54 落单原样留下</a:t>
              </a:r>
            </a:p>
          </p:txBody>
        </p:sp>
        <p:sp>
          <p:nvSpPr>
            <p:cNvPr id="139" name="Ellipse 139"/>
            <p:cNvSpPr/>
            <p:nvPr/>
          </p:nvSpPr>
          <p:spPr>
            <a:xfrm>
              <a:off x="7780020" y="28155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7936039" y="2759392"/>
              <a:ext cx="30740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L=2→4：前两对正常合并；尾部 16 37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 共 3 个，3 &gt; 2，再并一次</a:t>
              </a:r>
            </a:p>
          </p:txBody>
        </p:sp>
        <p:sp>
          <p:nvSpPr>
            <p:cNvPr id="141" name="Ellipse 141"/>
            <p:cNvSpPr/>
            <p:nvPr/>
          </p:nvSpPr>
          <p:spPr>
            <a:xfrm>
              <a:off x="7780020" y="33737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7936039" y="3317558"/>
              <a:ext cx="31083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L=4→8：前两段并成 8 个；尾部 3 个不足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4，原样留下</a:t>
              </a:r>
            </a:p>
          </p:txBody>
        </p:sp>
        <p:sp>
          <p:nvSpPr>
            <p:cNvPr id="143" name="Ellipse 143"/>
            <p:cNvSpPr/>
            <p:nvPr/>
          </p:nvSpPr>
          <p:spPr>
            <a:xfrm>
              <a:off x="7780020" y="39309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936039" y="3874770"/>
              <a:ext cx="28282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L=8→16：8 个与 3 个并成最终结果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765732" y="4171474"/>
              <a:ext cx="30553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每一趟都扫过全部 11 个元素，所以总代价是 4 ×</a:t>
              </a:r>
              <a:br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O(11)</a:t>
              </a:r>
            </a:p>
          </p:txBody>
        </p:sp>
      </p:grpSp>
      <p:grpSp>
        <p:nvGrpSpPr>
          <p:cNvPr id="1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7" name="TextBox 147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稳定性由一个比较符号决定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62597" cy="293370"/>
            <a:chOff x="525780" y="1548765"/>
            <a:chExt cx="706259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62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关键词相等时先取 i 指向的元素，左段的元素就仍然排在右段同键元素的前面。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5842635" cy="1110615"/>
            <a:chOff x="533400" y="1954530"/>
            <a:chExt cx="5842635" cy="111061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稳定的关键在第 2 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528888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68391"/>
              <a:ext cx="432130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mid &amp;&amp; j &lt;= high)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&lt;= R[j]) X[k++] = R[i++];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相等取左段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X[k++] = R[j++];</a:t>
              </a:r>
            </a:p>
          </p:txBody>
        </p:sp>
      </p:grpSp>
      <p:grpSp>
        <p:nvGrpSpPr>
          <p:cNvPr id="34" name="c1-compare-2"/>
          <p:cNvGrpSpPr/>
          <p:nvPr/>
        </p:nvGrpSpPr>
        <p:grpSpPr>
          <a:xfrm>
            <a:off x="533400" y="3250882"/>
            <a:ext cx="5842636" cy="2393632"/>
            <a:chOff x="533400" y="3250882"/>
            <a:chExt cx="5842636" cy="2393632"/>
          </a:xfrm>
        </p:grpSpPr>
        <p:sp>
          <p:nvSpPr>
            <p:cNvPr id="14" name="Rectangle 14"/>
            <p:cNvSpPr/>
            <p:nvPr/>
          </p:nvSpPr>
          <p:spPr>
            <a:xfrm>
              <a:off x="533400" y="3250882"/>
              <a:ext cx="2711768" cy="2393632"/>
            </a:xfrm>
            <a:prstGeom prst="roundRect">
              <a:avLst>
                <a:gd name="adj" fmla="val 55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84232"/>
              <a:ext cx="47625" cy="2126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8096" y="3478054"/>
              <a:ext cx="14233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R[i] &lt;= R[j]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8766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816191"/>
              <a:ext cx="15150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相等时取左段的 6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419671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4136231"/>
              <a:ext cx="16393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2 3 5 6 6* 7 8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45167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44562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64268" y="3250882"/>
              <a:ext cx="2711768" cy="2393632"/>
            </a:xfrm>
            <a:prstGeom prst="roundRect">
              <a:avLst>
                <a:gd name="adj" fmla="val 55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73792" y="3384232"/>
              <a:ext cx="47625" cy="2126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98964" y="3478054"/>
              <a:ext cx="1309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R[i] &lt; R[j]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913823" y="38766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70414" y="3816191"/>
              <a:ext cx="16202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相等时取右段的 6*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913823" y="419671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070414" y="4136231"/>
              <a:ext cx="16393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2 3 5 6* 6 7 8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913823" y="45167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070414" y="445627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292792" y="428529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363133" y="438150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8" name="c2-cells-1"/>
          <p:cNvGrpSpPr/>
          <p:nvPr/>
        </p:nvGrpSpPr>
        <p:grpSpPr>
          <a:xfrm>
            <a:off x="6674739" y="2001679"/>
            <a:ext cx="4983861" cy="1541621"/>
            <a:chOff x="6674739" y="2001679"/>
            <a:chExt cx="4983861" cy="1541621"/>
          </a:xfrm>
        </p:grpSpPr>
        <p:sp>
          <p:nvSpPr>
            <p:cNvPr id="35" name="TextBox 35"/>
            <p:cNvSpPr txBox="1"/>
            <p:nvPr/>
          </p:nvSpPr>
          <p:spPr>
            <a:xfrm>
              <a:off x="6674739" y="23879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02768" y="2259330"/>
              <a:ext cx="67913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89116" y="2387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581900" y="2259330"/>
              <a:ext cx="67913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69201" y="2387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261032" y="2259330"/>
              <a:ext cx="67913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48333" y="2387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941118" y="2259330"/>
              <a:ext cx="67913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27466" y="2387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620250" y="2259330"/>
              <a:ext cx="67913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07551" y="2387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299382" y="2259330"/>
              <a:ext cx="67913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540037" y="23879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6*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979468" y="2259330"/>
              <a:ext cx="67913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265816" y="23879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75343" y="2001679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562975" y="2164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613693" y="2001679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601325" y="2164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74739" y="326517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902768" y="3136582"/>
              <a:ext cx="67913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89116" y="3265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581900" y="3136582"/>
              <a:ext cx="67913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69201" y="3265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261032" y="3136582"/>
              <a:ext cx="67913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48333" y="3265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941118" y="3136582"/>
              <a:ext cx="67913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27466" y="3265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620250" y="3136582"/>
              <a:ext cx="67913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299382" y="3136582"/>
              <a:ext cx="67913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979468" y="3136582"/>
              <a:ext cx="67913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37160" y="28789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9242108" y="304133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7" name="c2-card-2"/>
          <p:cNvGrpSpPr/>
          <p:nvPr/>
        </p:nvGrpSpPr>
        <p:grpSpPr>
          <a:xfrm>
            <a:off x="6680835" y="3729038"/>
            <a:ext cx="4977765" cy="1914525"/>
            <a:chOff x="6680835" y="3729038"/>
            <a:chExt cx="4977765" cy="1914525"/>
          </a:xfrm>
        </p:grpSpPr>
        <p:sp>
          <p:nvSpPr>
            <p:cNvPr id="69" name="Rectangle 69"/>
            <p:cNvSpPr/>
            <p:nvPr/>
          </p:nvSpPr>
          <p:spPr>
            <a:xfrm>
              <a:off x="6680835" y="3729038"/>
              <a:ext cx="4977765" cy="1914525"/>
            </a:xfrm>
            <a:prstGeom prst="roundRect">
              <a:avLst>
                <a:gd name="adj" fmla="val 696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84670" y="393287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50227" y="39685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这一步发生了什么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77431" y="4305776"/>
              <a:ext cx="42975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里已经写好 2 3 5，此刻 i 指向左段的 6、j 指向右段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6*。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892290" y="495681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048881" y="4897279"/>
              <a:ext cx="4235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因为 </a:t>
              </a:r>
              <a:r>
                <a:rPr lang="en-US" sz="142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R[i] &lt;= R[j]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成立，先把左段的 6 写进 X[k]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892290" y="527685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048881" y="5217319"/>
              <a:ext cx="33119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6* 留到下一轮，合并后 6 仍在 6* 左边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8" name="Rectangle 7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511" y="6004084"/>
              <a:ext cx="68377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归并排序是最快的稳定排序：O(nlogn) 的算法里，堆排序和快速排序都不稳定。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归并排序的账：时间稳、空间贵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table-1"/>
          <p:cNvGrpSpPr/>
          <p:nvPr/>
        </p:nvGrpSpPr>
        <p:grpSpPr>
          <a:xfrm>
            <a:off x="533400" y="1524000"/>
            <a:ext cx="5410200" cy="3141346"/>
            <a:chOff x="533400" y="1524000"/>
            <a:chExt cx="5410200" cy="31413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61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9892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4283" y="2108359"/>
              <a:ext cx="7695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64283" y="2556986"/>
              <a:ext cx="7695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最坏时间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64283" y="3005614"/>
              <a:ext cx="7695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165985" y="3328988"/>
              <a:ext cx="376809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64283" y="3454241"/>
              <a:ext cx="1626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O(n)（辅助数组 X）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65985" y="3777615"/>
              <a:ext cx="376809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264283" y="39038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1671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3524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适合场景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4283" y="435244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外排序、链表排序、要求稳定且最坏可控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410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15169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llout-2"/>
          <p:cNvGrpSpPr/>
          <p:nvPr/>
        </p:nvGrpSpPr>
        <p:grpSpPr>
          <a:xfrm>
            <a:off x="533400" y="4855845"/>
            <a:ext cx="5410200" cy="782955"/>
            <a:chOff x="533400" y="4855845"/>
            <a:chExt cx="5410200" cy="782955"/>
          </a:xfrm>
        </p:grpSpPr>
        <p:sp>
          <p:nvSpPr>
            <p:cNvPr id="35" name="Rectangle 35"/>
            <p:cNvSpPr/>
            <p:nvPr/>
          </p:nvSpPr>
          <p:spPr>
            <a:xfrm>
              <a:off x="533400" y="48558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5143618"/>
              <a:ext cx="224134" cy="192560"/>
              <a:chOff x="726129" y="5143618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52139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51436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291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004435"/>
              <a:ext cx="4387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三个时间复杂度都写 O(nlogn) 的前提是关键词比较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 O(1)；比较长字符串时要把串长算进去。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1956435"/>
            <a:chOff x="6248400" y="1524000"/>
            <a:chExt cx="5410200" cy="1956435"/>
          </a:xfrm>
        </p:grpSpPr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优化一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3900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小段改用直接插入排序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8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数据量很小时递归和申请辅助数组的开销盖过了分治带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来的好处。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01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59880" y="2750820"/>
              <a:ext cx="4511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前几趟合并、或子段长度小于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十几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时改调直接插入排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670935"/>
            <a:ext cx="5410200" cy="1967865"/>
            <a:chOff x="6248400" y="3670935"/>
            <a:chExt cx="5410200" cy="1967865"/>
          </a:xfrm>
        </p:grpSpPr>
        <p:sp>
          <p:nvSpPr>
            <p:cNvPr id="51" name="Rectangle 51"/>
            <p:cNvSpPr/>
            <p:nvPr/>
          </p:nvSpPr>
          <p:spPr>
            <a:xfrm>
              <a:off x="6248400" y="3670935"/>
              <a:ext cx="5410200" cy="1967865"/>
            </a:xfrm>
            <a:prstGeom prst="roundRect">
              <a:avLst>
                <a:gd name="adj" fmla="val 67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804285"/>
              <a:ext cx="47625" cy="17011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96050" y="38804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82308" y="39162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优化二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39000" y="391572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数组存储改成链表存储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88430" y="4276725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 基于元素移动，记录很大时每次赋值都要拷贝整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条记录。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01765" y="49606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9880" y="48977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改成链表后合并只改指针，不搬数据，额外空间也降到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11383" cy="909257"/>
            <a:chOff x="520446" y="342900"/>
            <a:chExt cx="6311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归并排序：把合并做对，排序就成了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11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分治排序：快排重在“分”，归并重在“合”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193982" cy="2626995"/>
            <a:chOff x="533400" y="1524000"/>
            <a:chExt cx="5193982" cy="2626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626995"/>
            </a:xfrm>
            <a:prstGeom prst="roundRect">
              <a:avLst>
                <a:gd name="adj" fmla="val 5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602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585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 Divide and Conquer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25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把规模为 n 的问题分解成若干个互相独立、与原问题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同形的小问题，递归求解后再把子解合并成原问题的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分：把数组划分为若干子数组，一般是二分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治：对子数组递归排序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699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7071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合：把排好的子数组整合在一起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341495"/>
            <a:ext cx="5193982" cy="1584960"/>
            <a:chOff x="533400" y="4341495"/>
            <a:chExt cx="5193982" cy="1584960"/>
          </a:xfrm>
        </p:grpSpPr>
        <p:sp>
          <p:nvSpPr>
            <p:cNvPr id="20" name="Rectangle 20"/>
            <p:cNvSpPr/>
            <p:nvPr/>
          </p:nvSpPr>
          <p:spPr>
            <a:xfrm>
              <a:off x="533400" y="4341495"/>
              <a:ext cx="5193982" cy="1584960"/>
            </a:xfrm>
            <a:prstGeom prst="roundRect">
              <a:avLst>
                <a:gd name="adj" fmla="val 721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033963"/>
              <a:ext cx="200026" cy="200025"/>
              <a:chOff x="738188" y="5033963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0339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0784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1895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891088"/>
              <a:ext cx="4034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“治”是递归调用，所以具体算法的差别只体现在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“分”和“合”这两步上。</a:t>
              </a:r>
            </a:p>
          </p:txBody>
        </p:sp>
      </p:grpSp>
      <p:grpSp>
        <p:nvGrpSpPr>
          <p:cNvPr id="47" name="c2-compare-1"/>
          <p:cNvGrpSpPr/>
          <p:nvPr/>
        </p:nvGrpSpPr>
        <p:grpSpPr>
          <a:xfrm>
            <a:off x="6032182" y="1524000"/>
            <a:ext cx="5626418" cy="2274570"/>
            <a:chOff x="6032182" y="1524000"/>
            <a:chExt cx="5626418" cy="2274570"/>
          </a:xfrm>
        </p:grpSpPr>
        <p:sp>
          <p:nvSpPr>
            <p:cNvPr id="27" name="Rectangle 27"/>
            <p:cNvSpPr/>
            <p:nvPr/>
          </p:nvSpPr>
          <p:spPr>
            <a:xfrm>
              <a:off x="6032182" y="1524000"/>
              <a:ext cx="260413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41708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2212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85548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43662" y="211264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分：按基准划分，边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分边调位置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85548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43662" y="2733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合：什么也不用做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85548" y="31318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43662" y="3068955"/>
              <a:ext cx="1586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O(n²)，不稳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定，空间 O(logn)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054465" y="1524000"/>
              <a:ext cx="2604135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63990" y="1657350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94495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307830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65945" y="21126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分：只算一个中点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307830" y="25107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65945" y="24479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合：真正的排序工作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307830" y="31318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65945" y="3068955"/>
              <a:ext cx="1663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O(nlogn)，稳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定，空间 O(n)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682990" y="24993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53330" y="25955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032182" y="3989070"/>
            <a:ext cx="5626418" cy="1937385"/>
            <a:chOff x="6032182" y="3989070"/>
            <a:chExt cx="5626418" cy="1937385"/>
          </a:xfrm>
        </p:grpSpPr>
        <p:sp>
          <p:nvSpPr>
            <p:cNvPr id="48" name="Rectangle 48"/>
            <p:cNvSpPr/>
            <p:nvPr/>
          </p:nvSpPr>
          <p:spPr>
            <a:xfrm>
              <a:off x="6032182" y="3989070"/>
              <a:ext cx="5626418" cy="1937385"/>
            </a:xfrm>
            <a:prstGeom prst="roundRect">
              <a:avLst>
                <a:gd name="adj" fmla="val 6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1732" y="419862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19139" y="42343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一句话对照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34112" y="4575810"/>
              <a:ext cx="4958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两个算法的总代价都是 O(nlogn) 量级，但一个把代价花在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划分上，另一个花在合并上。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247448" y="52597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05562" y="51968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划分依赖基准的好坏，所以快排最坏会退化；二分不依赖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数据，所以归并最坏也不退化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归并排序的两个经典应用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合并的过程里能顺手数出逆序对；链表天生适合归并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911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逆序对从 O(n²) 降到 O(nlogn)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cnt 加的是 mid−i+1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单链表排序为什么选归并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17793" cy="909257"/>
            <a:chOff x="520446" y="342900"/>
            <a:chExt cx="51177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归并排序的两个经典应用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177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逆序对：先看 O(n²) 的暴力解法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215572" cy="308039"/>
            <a:chOff x="525399" y="1550194"/>
            <a:chExt cx="821557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2155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逆序对的个数衡量一个序列离有序有多远，完全有序时是 0，完全逆序时是 n(n−1)/2。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67865"/>
            <a:ext cx="5410200" cy="1670685"/>
            <a:chOff x="533400" y="1967865"/>
            <a:chExt cx="5410200" cy="16706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逆序对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i &lt; j 且 R[i] &gt; R[j]，则称 (R[i], R[j]) 是一个逆序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2575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194685"/>
              <a:ext cx="4304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出现在多家公司的面试题与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LeetCode LCR 170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829050"/>
            <a:ext cx="5410200" cy="1313498"/>
            <a:chOff x="533400" y="3829050"/>
            <a:chExt cx="5410200" cy="1313498"/>
          </a:xfrm>
        </p:grpSpPr>
        <p:sp>
          <p:nvSpPr>
            <p:cNvPr id="18" name="Rectangle 18"/>
            <p:cNvSpPr/>
            <p:nvPr/>
          </p:nvSpPr>
          <p:spPr>
            <a:xfrm>
              <a:off x="533400" y="3829050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9809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暴力枚举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035" y="4242911"/>
              <a:ext cx="282778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 = 0;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i + 1; j &lt;= n; j++)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&gt; R[j]) cnt++;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333048"/>
            <a:ext cx="5410200" cy="782955"/>
            <a:chOff x="533400" y="5333048"/>
            <a:chExt cx="5410200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533304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5620821"/>
              <a:ext cx="224134" cy="192560"/>
              <a:chOff x="726129" y="5620821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56911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56208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7689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481638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两重循环共 n(n−1)/2 次比较，时间 O(n²)，n 上万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就已经很慢。</a:t>
              </a:r>
            </a:p>
          </p:txBody>
        </p:sp>
      </p:grpSp>
      <p:grpSp>
        <p:nvGrpSpPr>
          <p:cNvPr id="54" name="c2-cells-1"/>
          <p:cNvGrpSpPr/>
          <p:nvPr/>
        </p:nvGrpSpPr>
        <p:grpSpPr>
          <a:xfrm>
            <a:off x="6242304" y="1967865"/>
            <a:ext cx="5416296" cy="650557"/>
            <a:chOff x="6242304" y="1967865"/>
            <a:chExt cx="5416296" cy="650557"/>
          </a:xfrm>
        </p:grpSpPr>
        <p:sp>
          <p:nvSpPr>
            <p:cNvPr id="29" name="TextBox 29"/>
            <p:cNvSpPr txBox="1"/>
            <p:nvPr/>
          </p:nvSpPr>
          <p:spPr>
            <a:xfrm>
              <a:off x="6242304" y="210216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9380" y="1967865"/>
              <a:ext cx="6486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41441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118032" y="1967865"/>
              <a:ext cx="6486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43447" y="2102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766685" y="1967865"/>
              <a:ext cx="6486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38746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15338" y="1967865"/>
              <a:ext cx="6486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40752" y="2102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063990" y="1967865"/>
              <a:ext cx="6486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89405" y="2102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2642" y="1967865"/>
              <a:ext cx="6486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938057" y="2102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361295" y="1967865"/>
              <a:ext cx="6486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586710" y="21021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009948" y="1967865"/>
              <a:ext cx="64865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28200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6102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04754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53407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0205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50712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99364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8017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9666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248400" y="2767965"/>
            <a:ext cx="5410200" cy="3348038"/>
            <a:chOff x="6248400" y="2767965"/>
            <a:chExt cx="5410200" cy="3348038"/>
          </a:xfrm>
        </p:grpSpPr>
        <p:sp>
          <p:nvSpPr>
            <p:cNvPr id="55" name="Rectangle 55"/>
            <p:cNvSpPr/>
            <p:nvPr/>
          </p:nvSpPr>
          <p:spPr>
            <a:xfrm>
              <a:off x="6248400" y="2767965"/>
              <a:ext cx="5410200" cy="3348038"/>
            </a:xfrm>
            <a:prstGeom prst="roundRect">
              <a:avLst>
                <a:gd name="adj" fmla="val 3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2901315"/>
              <a:ext cx="47625" cy="3081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6050" y="29775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91160" y="30132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54202" y="3012758"/>
              <a:ext cx="2436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 8 个数一共 12 个逆序对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501765" y="34366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59880" y="337375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8 打头：(8,5) (8,6)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501765" y="37719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59880" y="3709035"/>
              <a:ext cx="4235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21 打头：(21,5) (21,10) (21,12) (21,6)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501765" y="41071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9880" y="4044315"/>
              <a:ext cx="3508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26 打头：(26,10) (26,12) (26,6)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501765" y="44424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59880" y="437959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其余：(10,6) (12,6) (72,6)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89573" y="4710589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上限是 8×7/2 = 28，本例远没有到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89712" cy="909257"/>
            <a:chOff x="520446" y="342900"/>
            <a:chExt cx="51897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归并排序的两个经典应用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897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合并时顺手数：一次加上 mid−i+1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206347" cy="278702"/>
            <a:chOff x="526161" y="1547336"/>
            <a:chExt cx="720634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206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当右段的 R[j] 被取走时，左段里还没取走的元素全都比它大，而且全都排在它前面。</a:t>
              </a:r>
            </a:p>
          </p:txBody>
        </p:sp>
      </p:grpSp>
      <p:grpSp>
        <p:nvGrpSpPr>
          <p:cNvPr id="63" name="c1-cells-1"/>
          <p:cNvGrpSpPr/>
          <p:nvPr/>
        </p:nvGrpSpPr>
        <p:grpSpPr>
          <a:xfrm>
            <a:off x="528066" y="1985486"/>
            <a:ext cx="5631751" cy="1627346"/>
            <a:chOff x="528066" y="1985486"/>
            <a:chExt cx="5631751" cy="1627346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3526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3902" y="2226945"/>
              <a:ext cx="4924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498" y="23526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36345" y="2226945"/>
              <a:ext cx="49244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95126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28788" y="2226945"/>
              <a:ext cx="49244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87568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21230" y="2226945"/>
              <a:ext cx="49244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80011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13672" y="2226945"/>
              <a:ext cx="49244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72453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06115" y="2226945"/>
              <a:ext cx="49244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64896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97605" y="2226945"/>
              <a:ext cx="49244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57338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0048" y="2226945"/>
              <a:ext cx="49244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49781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82490" y="2226945"/>
              <a:ext cx="49244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842223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174932" y="2226945"/>
              <a:ext cx="49244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34666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667375" y="2226945"/>
              <a:ext cx="49244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7108" y="23526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4528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46971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39413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31856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24298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16741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09183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01626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94068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86511" y="26627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48596" y="26627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59941" y="1985486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443990" y="21316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907039" y="1985486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891088" y="21316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8066" y="33566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43902" y="3231832"/>
              <a:ext cx="4924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3498" y="33566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236345" y="3231832"/>
              <a:ext cx="4924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95126" y="33566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728788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221230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713672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3206115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697605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4190048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682490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174932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667375" y="3231832"/>
              <a:ext cx="49244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45453" y="299037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1443990" y="313658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2" name="c1-card-2"/>
          <p:cNvGrpSpPr/>
          <p:nvPr/>
        </p:nvGrpSpPr>
        <p:grpSpPr>
          <a:xfrm>
            <a:off x="533400" y="3788092"/>
            <a:ext cx="5626418" cy="1557338"/>
            <a:chOff x="533400" y="3788092"/>
            <a:chExt cx="5626418" cy="1557338"/>
          </a:xfrm>
        </p:grpSpPr>
        <p:sp>
          <p:nvSpPr>
            <p:cNvPr id="64" name="Rectangle 64"/>
            <p:cNvSpPr/>
            <p:nvPr/>
          </p:nvSpPr>
          <p:spPr>
            <a:xfrm>
              <a:off x="533400" y="3788092"/>
              <a:ext cx="5626418" cy="1557338"/>
            </a:xfrm>
            <a:prstGeom prst="roundRect">
              <a:avLst>
                <a:gd name="adj" fmla="val 85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25805" y="3980498"/>
              <a:ext cx="1282065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3096" y="4014788"/>
              <a:ext cx="1147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 mid−i+1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8947" y="4336732"/>
              <a:ext cx="4761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左段有序，R[i] &gt; R[j] 意味着 R[i..mid] 全都大于 R[j]。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34378" y="46958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0397" y="4639628"/>
              <a:ext cx="5093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它们的下标又都小于 R[j] 的下标，正好凑成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mid−i+1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个逆序对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34378" y="499776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0397" y="4941570"/>
              <a:ext cx="3512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 21 到 93 共 7 个，都与 16 构成逆序对</a:t>
              </a:r>
            </a:p>
          </p:txBody>
        </p:sp>
      </p:grpSp>
      <p:grpSp>
        <p:nvGrpSpPr>
          <p:cNvPr id="98" name="c2-table-1"/>
          <p:cNvGrpSpPr/>
          <p:nvPr/>
        </p:nvGrpSpPr>
        <p:grpSpPr>
          <a:xfrm>
            <a:off x="6464618" y="1941195"/>
            <a:ext cx="5193982" cy="1623060"/>
            <a:chOff x="6464618" y="1941195"/>
            <a:chExt cx="5193982" cy="1623060"/>
          </a:xfrm>
        </p:grpSpPr>
        <p:sp>
          <p:nvSpPr>
            <p:cNvPr id="73" name="Rectangle 73"/>
            <p:cNvSpPr/>
            <p:nvPr/>
          </p:nvSpPr>
          <p:spPr>
            <a:xfrm>
              <a:off x="6464618" y="1941195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70585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取走的元素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55870" y="2065496"/>
              <a:ext cx="757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此时 i 指向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190654" y="2065496"/>
              <a:ext cx="57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mid−i+1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517175" y="2065496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累计 cnt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64630" y="24712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11452" y="2471261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21（下标 1）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5827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09650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64618" y="27479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64618" y="275272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64630" y="28770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11452" y="2877026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50（下标 4）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05827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96500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464618" y="31537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64630" y="32827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811452" y="3282791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50（下标 4）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05827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0006012" y="3168015"/>
              <a:ext cx="164306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0096500" y="32827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464618" y="1941195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770667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895350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9991725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6" name="c2-card-2"/>
          <p:cNvGrpSpPr/>
          <p:nvPr/>
        </p:nvGrpSpPr>
        <p:grpSpPr>
          <a:xfrm>
            <a:off x="6464618" y="3739515"/>
            <a:ext cx="5193982" cy="1605915"/>
            <a:chOff x="6464618" y="3739515"/>
            <a:chExt cx="5193982" cy="1605915"/>
          </a:xfrm>
        </p:grpSpPr>
        <p:sp>
          <p:nvSpPr>
            <p:cNvPr id="99" name="Rectangle 99"/>
            <p:cNvSpPr/>
            <p:nvPr/>
          </p:nvSpPr>
          <p:spPr>
            <a:xfrm>
              <a:off x="6464618" y="3739515"/>
              <a:ext cx="5193982" cy="1605915"/>
            </a:xfrm>
            <a:prstGeom prst="roundRect">
              <a:avLst>
                <a:gd name="adj" fmla="val 83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474142" y="3872865"/>
              <a:ext cx="47625" cy="13392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695122" y="39319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786562" y="39662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88264" y="4289108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取右段元素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时累加；取左段元素时不加，因为左段元素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的下标本来就更小。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6703695" y="49044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859714" y="484822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左段搬空后右段剩下的元素也不加</a:t>
              </a:r>
            </a:p>
          </p:txBody>
        </p:sp>
      </p:grpSp>
      <p:grpSp>
        <p:nvGrpSpPr>
          <p:cNvPr id="11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07" name="Rectangle 10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1040892" y="6023610"/>
              <a:ext cx="7828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归并求逆序对之所以成立，是因为每一对逆序的下标恰好在某一次合并里被统计一次，不重不漏。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归并排序的两个经典应用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逆序对的代码与一次完整统计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2967990"/>
            <a:chOff x="533400" y="1524000"/>
            <a:chExt cx="5626418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668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Merge 里加一行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29915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637915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 = 0;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全局累计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Merge(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low,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mid,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high)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low, j = mid + 1, k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*X 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[high - low + 1];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mid &amp;&amp; j &lt;= high)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&lt;= R[j]) X[k++] = R[i++];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X[k++] = R[j++]; cnt += mid - i + 1;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mid)  X[k++] = R[i++];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&lt;= high) X[k++] = R[j++];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high - low + 1;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R[low + i] = X[i];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delete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X;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656772"/>
            <a:ext cx="5626418" cy="1512570"/>
            <a:chOff x="533400" y="4656772"/>
            <a:chExt cx="5626418" cy="1512570"/>
          </a:xfrm>
        </p:grpSpPr>
        <p:sp>
          <p:nvSpPr>
            <p:cNvPr id="12" name="Rectangle 12"/>
            <p:cNvSpPr/>
            <p:nvPr/>
          </p:nvSpPr>
          <p:spPr>
            <a:xfrm>
              <a:off x="533400" y="4656772"/>
              <a:ext cx="5626418" cy="1512570"/>
            </a:xfrm>
            <a:prstGeom prst="roundRect">
              <a:avLst>
                <a:gd name="adj" fmla="val 8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790122"/>
              <a:ext cx="47625" cy="12458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475" y="483774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1096" y="48706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5177314"/>
              <a:ext cx="4776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排序照常进行，cnt 是顺带算出来的，总时间仍是 O(nlogn)。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551497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5463064"/>
              <a:ext cx="50014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cnt 要写成全局变量或引用参数，写成局部变量每次调用都会清零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579977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5747861"/>
              <a:ext cx="49583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逆序对最多 n(n−1)/2，n 上十万时超出 int，cnt 要用 long long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464618" y="1524000"/>
            <a:ext cx="5193982" cy="3050858"/>
            <a:chOff x="6464618" y="1524000"/>
            <a:chExt cx="5193982" cy="3050858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9707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553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3151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本次加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404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929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17586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75876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10278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9296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17586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5876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10278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9296" y="278511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8 21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17586" y="2785110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5 26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75876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10278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9296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17586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75876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10278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9296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17586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75876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10278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3807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4618" y="3811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9296" y="3930015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10 12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17586" y="3930015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6 72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75876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10278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41890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9296" y="4311015"/>
              <a:ext cx="634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5 8 21 26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17586" y="4311015"/>
              <a:ext cx="682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6 10 12 72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75876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525125" y="4203382"/>
              <a:ext cx="11239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610278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1524000"/>
              <a:ext cx="5193982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1814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57643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51083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rd-2"/>
          <p:cNvGrpSpPr/>
          <p:nvPr/>
        </p:nvGrpSpPr>
        <p:grpSpPr>
          <a:xfrm>
            <a:off x="6464618" y="4739640"/>
            <a:ext cx="5193982" cy="1428750"/>
            <a:chOff x="6464618" y="4739640"/>
            <a:chExt cx="5193982" cy="1428750"/>
          </a:xfrm>
        </p:grpSpPr>
        <p:sp>
          <p:nvSpPr>
            <p:cNvPr id="70" name="Rectangle 70"/>
            <p:cNvSpPr/>
            <p:nvPr/>
          </p:nvSpPr>
          <p:spPr>
            <a:xfrm>
              <a:off x="6464618" y="4739640"/>
              <a:ext cx="5193982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4142" y="487299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683692" y="492061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65163" y="495347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读表的方法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77216" y="5261134"/>
              <a:ext cx="4491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8 21 5 26 10 12 72 6 做递归归并共 7 次合并，每行的“本次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加”来自右段元素插队。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693218" y="5840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48666" y="5788819"/>
              <a:ext cx="2848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合计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，与暴力枚举数出的完全一致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归并排序的两个经典应用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单链表排序为什么首选归并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799872" cy="308039"/>
            <a:chOff x="525399" y="1550194"/>
            <a:chExt cx="1079987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7998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吉林大学 21 级期末考试题，也是多家公司的面试题：给定带哨位结点的单链表，设计尽可能高效的递增排序算法。</a:t>
              </a:r>
            </a:p>
          </p:txBody>
        </p:sp>
      </p:grpSp>
      <p:grpSp>
        <p:nvGrpSpPr>
          <p:cNvPr id="29" name="c1-table-1"/>
          <p:cNvGrpSpPr/>
          <p:nvPr/>
        </p:nvGrpSpPr>
        <p:grpSpPr>
          <a:xfrm>
            <a:off x="533400" y="1967865"/>
            <a:ext cx="5626418" cy="2470785"/>
            <a:chOff x="533400" y="1967865"/>
            <a:chExt cx="5626418" cy="24707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612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96717" y="21026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用在单链表上的障碍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664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04263" y="2551271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划分要从两端向中间扫，单链表没有前驱，随机访问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也是 O(n)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870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9181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2275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04263" y="3227546"/>
              <a:ext cx="39020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要靠下标 2i、2i+1 找孩子，链表做不到 O(1) 定位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5356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6761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04263" y="3676174"/>
              <a:ext cx="31735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链表上可行，但查找插入位置仍是 O(n²)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843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8907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998595"/>
              <a:ext cx="144399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1248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005965" y="3998595"/>
              <a:ext cx="414432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04263" y="412480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合并只改指针，不搬数据；二分用快慢指针完成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967865"/>
              <a:ext cx="5626418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91678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629150"/>
            <a:ext cx="5626418" cy="1372552"/>
            <a:chOff x="533400" y="4629150"/>
            <a:chExt cx="5626418" cy="1372552"/>
          </a:xfrm>
        </p:grpSpPr>
        <p:sp>
          <p:nvSpPr>
            <p:cNvPr id="30" name="Rectangle 30"/>
            <p:cNvSpPr/>
            <p:nvPr/>
          </p:nvSpPr>
          <p:spPr>
            <a:xfrm>
              <a:off x="533400" y="4629150"/>
              <a:ext cx="5626418" cy="1372552"/>
            </a:xfrm>
            <a:prstGeom prst="roundRect">
              <a:avLst>
                <a:gd name="adj" fmla="val 832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214940"/>
              <a:ext cx="200023" cy="200023"/>
              <a:chOff x="738188" y="521494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2149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528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072062"/>
              <a:ext cx="4653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 O(nlogn)，除递归栈外额外空间 O(1)：数组版需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要的那个辅助数组在链表上不需要。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6464618" y="1977390"/>
            <a:ext cx="5250358" cy="2529173"/>
            <a:chOff x="6464618" y="1977390"/>
            <a:chExt cx="5250358" cy="2529173"/>
          </a:xfrm>
        </p:grpSpPr>
        <p:sp>
          <p:nvSpPr>
            <p:cNvPr id="36" name="Rectangle 36"/>
            <p:cNvSpPr/>
            <p:nvPr/>
          </p:nvSpPr>
          <p:spPr>
            <a:xfrm>
              <a:off x="6597968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464618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8241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64618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8241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64618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241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4618" y="39290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241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6098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7241" y="230457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快指针一次两步、慢指针一次一步，快指针到头时慢指针在中间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6098" y="26622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7241" y="295513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把链表从中点后面剪成两条独立的链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6098" y="33127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7241" y="360664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分别排好前半条和后半条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6098" y="39633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7241" y="425719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比较两条链的表头，摘下较小的接到结果尾部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4684395"/>
            <a:ext cx="5193982" cy="1316355"/>
            <a:chOff x="6464618" y="4684395"/>
            <a:chExt cx="5193982" cy="1316355"/>
          </a:xfrm>
        </p:grpSpPr>
        <p:sp>
          <p:nvSpPr>
            <p:cNvPr id="54" name="Rectangle 54"/>
            <p:cNvSpPr/>
            <p:nvPr/>
          </p:nvSpPr>
          <p:spPr>
            <a:xfrm>
              <a:off x="6464618" y="4684395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481774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12268" y="489394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81775" y="49296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哨位结点的作用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4648" y="527113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合并时结果链的头会不断变化，有一个哨位结点就不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必为“第一个结点”单独写分支。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归并排序的两个经典应用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链表归并排序的代码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4771072"/>
            <a:chOff x="533400" y="1524000"/>
            <a:chExt cx="6276022" cy="47710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771072"/>
            </a:xfrm>
            <a:prstGeom prst="roundRect">
              <a:avLst>
                <a:gd name="adj" fmla="val 199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带哨位结点的单链表递增排序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23222"/>
              <a:ext cx="6237922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970145"/>
              <a:ext cx="6237922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49" y="1936337"/>
              <a:ext cx="3883482" cy="4276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key;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*next; } Node;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Node *MergeList(Node *a, Node *b) {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合并两条有序链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dummy, *t = &amp;dummy;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dummy.next 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&amp;&amp; b)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(a-&gt;key &lt;= b-&gt;key) { t-&gt;next = a; a = a-&gt;next;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{ t-&gt;next = b; b = b-&gt;next; 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 = t-&gt;next;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t-&gt;next = a ? a : b;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接上余留部分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dummy.next;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Node *SortList(Node *h) {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对无头链表排序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(!h || !h-&gt;next)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*slow = h, *fast = h-&gt;next;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(fast &amp;&amp; fast-&gt;next) {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快慢指针找中点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slow = slow-&gt;next;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fast = fast-&gt;next-&gt;next;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Node *mid = slow-&gt;next;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slow-&gt;next 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断成两条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MergeList(SortList(h), SortList(mid));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9" name="c2-cells-1"/>
          <p:cNvGrpSpPr/>
          <p:nvPr/>
        </p:nvGrpSpPr>
        <p:grpSpPr>
          <a:xfrm>
            <a:off x="7108508" y="1524000"/>
            <a:ext cx="4226242" cy="979170"/>
            <a:chOff x="7108508" y="1524000"/>
            <a:chExt cx="4226242" cy="979170"/>
          </a:xfrm>
        </p:grpSpPr>
        <p:sp>
          <p:nvSpPr>
            <p:cNvPr id="13" name="TextBox 13"/>
            <p:cNvSpPr txBox="1"/>
            <p:nvPr/>
          </p:nvSpPr>
          <p:spPr>
            <a:xfrm>
              <a:off x="7108508" y="1656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389495" y="1524000"/>
              <a:ext cx="5334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3408" y="16568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923848" y="1524000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000048" y="169830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028622" y="172688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371522" y="168402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57248" y="1524000"/>
              <a:ext cx="5334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31160" y="16568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990648" y="1524000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066848" y="169830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095422" y="172688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438322" y="168402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524048" y="1524000"/>
              <a:ext cx="5334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697960" y="16568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058400" y="1524000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134600" y="169830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0163175" y="172688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506075" y="168402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591800" y="1524000"/>
              <a:ext cx="5334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65713" y="16568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125200" y="1524000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188742" y="166449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08508" y="2230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389495" y="2096452"/>
              <a:ext cx="5334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3408" y="2230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923848" y="2096452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000048" y="227171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028622" y="230028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71522" y="22574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457248" y="2096452"/>
              <a:ext cx="5334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31160" y="2230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90648" y="2096452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9066848" y="227171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095422" y="230028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438322" y="22574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24048" y="2096452"/>
              <a:ext cx="5334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97960" y="2230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058400" y="2096452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134600" y="227171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0163175" y="230028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506075" y="22574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591800" y="2096452"/>
              <a:ext cx="5334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765713" y="2230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1125200" y="2096452"/>
              <a:ext cx="209550" cy="4067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188742" y="22378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7114222" y="2688908"/>
            <a:ext cx="4544378" cy="2185988"/>
            <a:chOff x="7114222" y="2688908"/>
            <a:chExt cx="4544378" cy="2185988"/>
          </a:xfrm>
        </p:grpSpPr>
        <p:sp>
          <p:nvSpPr>
            <p:cNvPr id="60" name="Rectangle 60"/>
            <p:cNvSpPr/>
            <p:nvPr/>
          </p:nvSpPr>
          <p:spPr>
            <a:xfrm>
              <a:off x="7114222" y="2688908"/>
              <a:ext cx="4544378" cy="2185988"/>
            </a:xfrm>
            <a:prstGeom prst="roundRect">
              <a:avLst>
                <a:gd name="adj" fmla="val 61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18058" y="289274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91514" y="29284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合并只改指针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10818" y="3265646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结点本身一个字节都不用动，只是把 next 重新接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一遍。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325677" y="391668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82268" y="385714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记录很大时，这比数组版的整条拷贝快得多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325677" y="423767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82268" y="4177189"/>
              <a:ext cx="35852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调用方式：</a:t>
              </a:r>
              <a:r>
                <a:rPr lang="en-US" sz="142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head-&gt;next =</a:t>
              </a:r>
              <a:br/>
              <a:r>
                <a:rPr lang="en-US" sz="142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SortList(head-&gt;next);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，head 是哨位结点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7114222" y="5060632"/>
            <a:ext cx="4544378" cy="1234440"/>
            <a:chOff x="7114222" y="5060632"/>
            <a:chExt cx="4544378" cy="1234440"/>
          </a:xfrm>
        </p:grpSpPr>
        <p:sp>
          <p:nvSpPr>
            <p:cNvPr id="69" name="Rectangle 69"/>
            <p:cNvSpPr/>
            <p:nvPr/>
          </p:nvSpPr>
          <p:spPr>
            <a:xfrm>
              <a:off x="7114222" y="5060632"/>
              <a:ext cx="4544378" cy="1234440"/>
            </a:xfrm>
            <a:prstGeom prst="roundRect">
              <a:avLst>
                <a:gd name="adj" fmla="val 92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19010" y="5577840"/>
              <a:ext cx="200026" cy="200025"/>
              <a:chOff x="7319010" y="5577840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19010" y="55778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358749" y="56222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393464" y="57334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621334" y="5446871"/>
              <a:ext cx="367538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快指针初值写 h-&gt;next 而不是 h，可保证两段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都非空，避免只剩两个结点时死递归。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4247197"/>
            <a:chOff x="667512" y="1835468"/>
            <a:chExt cx="6437376" cy="42471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基于关键词比较的排序算法时间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18801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换任何聪明算法都没用，只要它靠比较关键词，就至少要 Ω(nlogn)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次比较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7834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7263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51377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508063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排序判定树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4921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43496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叶子数 n! 与树高 h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8464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789295"/>
              <a:ext cx="201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n! ≤ 2ʰ 推出 Ω(nlogn)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41770" cy="909257"/>
            <a:chOff x="520446" y="342900"/>
            <a:chExt cx="45417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417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下界说的是“谁也做不到更快”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444942"/>
            <a:chOff x="533400" y="1524000"/>
            <a:chExt cx="5410200" cy="1444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684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时间复杂性下界 L(n)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6702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输入规模为 n 的问题，若其时间复杂性下界为 L(n)，则不存在时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间复杂性低于 L(n) 的算法。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下界是对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问题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说的，不是对某个算法说的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6923" y="3155156"/>
            <a:ext cx="5416677" cy="997077"/>
            <a:chOff x="526923" y="3155156"/>
            <a:chExt cx="5416677" cy="997077"/>
          </a:xfrm>
        </p:grpSpPr>
        <p:sp>
          <p:nvSpPr>
            <p:cNvPr id="16" name="TextBox 16"/>
            <p:cNvSpPr txBox="1"/>
            <p:nvPr/>
          </p:nvSpPr>
          <p:spPr>
            <a:xfrm>
              <a:off x="526923" y="3155156"/>
              <a:ext cx="759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O(f(n))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4663" y="315515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这个算法最多用这么多时间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270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23" y="3529489"/>
              <a:ext cx="722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Ω(f(n))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4663" y="352948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任何算法都至少要用这么多时间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014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923" y="3902869"/>
              <a:ext cx="722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Θ(f(n))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4663" y="390286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上下界吻合，量级确定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4267200"/>
            <a:ext cx="5410200" cy="1444942"/>
            <a:chOff x="533400" y="4267200"/>
            <a:chExt cx="5410200" cy="1444942"/>
          </a:xfrm>
        </p:grpSpPr>
        <p:sp>
          <p:nvSpPr>
            <p:cNvPr id="25" name="Rectangle 25"/>
            <p:cNvSpPr/>
            <p:nvPr/>
          </p:nvSpPr>
          <p:spPr>
            <a:xfrm>
              <a:off x="533400" y="426720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4005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44481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3946" y="44810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另一个例子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91830" y="44877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查找问题的下界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998" y="4804886"/>
              <a:ext cx="45890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n 个无序元素里找一个值，任何算法都得把每个元素至少看一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遍，下界是 Ω(n)。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2000" y="53844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7448" y="5332571"/>
              <a:ext cx="43111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元素有序时改用二分查找，比较次数的下界降到 Ω(logn)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2015490"/>
            <a:chOff x="6248400" y="1524000"/>
            <a:chExt cx="5410200" cy="2015490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2015490"/>
            </a:xfrm>
            <a:prstGeom prst="roundRect">
              <a:avLst>
                <a:gd name="adj" fmla="val 661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293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220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95351" y="1744504"/>
              <a:ext cx="2968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用“需要区分多少种情况”来算比较次数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2898" y="2061686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个互不相同的关键词有 n! 种可能的排列，算法必须能把它们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区分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开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38900" y="26412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4348" y="258937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每做一次比较只有两种结果，能把当前的候选集合一分为二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38900" y="292703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94348" y="2874169"/>
              <a:ext cx="4915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问题变成：至少问多少个是非问题，才能从 n! 种可能里锁定一种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38900" y="321183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94348" y="3158966"/>
              <a:ext cx="39158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和“二十个问题”猜谜一样，k 次最多分辨 2ᵏ 种答案</a:t>
              </a:r>
            </a:p>
          </p:txBody>
        </p:sp>
      </p:grpSp>
      <p:grpSp>
        <p:nvGrpSpPr>
          <p:cNvPr id="48" name="c2-image-2"/>
          <p:cNvGrpSpPr/>
          <p:nvPr/>
        </p:nvGrpSpPr>
        <p:grpSpPr>
          <a:xfrm>
            <a:off x="7431380" y="3704272"/>
            <a:ext cx="3044241" cy="1966627"/>
            <a:chOff x="7431380" y="3704272"/>
            <a:chExt cx="3044241" cy="1966627"/>
          </a:xfrm>
        </p:grpSpPr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2"/>
            <a:srcRect l="7" t="0" r="7" b="0"/>
            <a:stretch>
              <a:fillRect/>
            </a:stretch>
          </p:blipFill>
          <p:spPr>
            <a:xfrm>
              <a:off x="7830502" y="3704272"/>
              <a:ext cx="2245042" cy="1684020"/>
            </a:xfrm>
            <a:prstGeom prst="roundRect">
              <a:avLst>
                <a:gd name="adj" fmla="val 7918"/>
              </a:avLst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7431380" y="548020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每个岔路口是一次比较，六个院落是六种可能的排列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8645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本讲的下界只对“靠比较关键词决定次序”的算法成立，下一讲的分布排序不比较关键词，因此不受这个下界约束。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89616" cy="909257"/>
            <a:chOff x="520446" y="342900"/>
            <a:chExt cx="37896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三个元素的排序判定树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055147" cy="264033"/>
            <a:chOff x="526542" y="1545907"/>
            <a:chExt cx="1105514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0551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深蓝色框是一次关键词比较，左分支是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</a:t>
              </a: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、右分支是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&gt;</a:t>
              </a: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；浅色框是一种排列。从根到某个浅色框的路径，就是处理这种输入时的全部比较。</a:t>
              </a:r>
            </a:p>
          </p:txBody>
        </p:sp>
      </p:grpSp>
      <p:grpSp>
        <p:nvGrpSpPr>
          <p:cNvPr id="71" name="c1-graph-1"/>
          <p:cNvGrpSpPr/>
          <p:nvPr/>
        </p:nvGrpSpPr>
        <p:grpSpPr>
          <a:xfrm>
            <a:off x="731520" y="2050732"/>
            <a:ext cx="10728960" cy="3537585"/>
            <a:chOff x="731520" y="2050732"/>
            <a:chExt cx="10728960" cy="3537585"/>
          </a:xfrm>
        </p:grpSpPr>
        <p:sp>
          <p:nvSpPr>
            <p:cNvPr id="9" name="Freeform 9"/>
            <p:cNvSpPr/>
            <p:nvPr/>
          </p:nvSpPr>
          <p:spPr>
            <a:xfrm>
              <a:off x="3296602" y="2420302"/>
              <a:ext cx="2799398" cy="584835"/>
            </a:xfrm>
            <a:custGeom>
              <a:avLst/>
              <a:gdLst/>
              <a:ahLst/>
              <a:cxnLst/>
              <a:rect l="l" t="t" r="r" b="b"/>
              <a:pathLst>
                <a:path w="2799398" h="584835">
                  <a:moveTo>
                    <a:pt x="2799398" y="0"/>
                  </a:moveTo>
                  <a:lnTo>
                    <a:pt x="0" y="5848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03258" y="295846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66675"/>
                  </a:moveTo>
                  <a:lnTo>
                    <a:pt x="83820" y="0"/>
                  </a:lnTo>
                  <a:lnTo>
                    <a:pt x="102870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096000" y="2420302"/>
              <a:ext cx="2799398" cy="584835"/>
            </a:xfrm>
            <a:custGeom>
              <a:avLst/>
              <a:gdLst/>
              <a:ahLst/>
              <a:cxnLst/>
              <a:rect l="l" t="t" r="r" b="b"/>
              <a:pathLst>
                <a:path w="2799398" h="584835">
                  <a:moveTo>
                    <a:pt x="0" y="0"/>
                  </a:moveTo>
                  <a:lnTo>
                    <a:pt x="2799398" y="5848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885872" y="295846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6675"/>
                  </a:moveTo>
                  <a:lnTo>
                    <a:pt x="0" y="9334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290638" y="3404235"/>
              <a:ext cx="1912620" cy="648653"/>
            </a:xfrm>
            <a:custGeom>
              <a:avLst/>
              <a:gdLst/>
              <a:ahLst/>
              <a:cxnLst/>
              <a:rect l="l" t="t" r="r" b="b"/>
              <a:pathLst>
                <a:path w="1912620" h="648653">
                  <a:moveTo>
                    <a:pt x="1912620" y="0"/>
                  </a:moveTo>
                  <a:lnTo>
                    <a:pt x="0" y="6486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01102" y="400812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75247"/>
                  </a:moveTo>
                  <a:lnTo>
                    <a:pt x="74295" y="0"/>
                  </a:lnTo>
                  <a:lnTo>
                    <a:pt x="105727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203258" y="3404235"/>
              <a:ext cx="601027" cy="611505"/>
            </a:xfrm>
            <a:custGeom>
              <a:avLst/>
              <a:gdLst/>
              <a:ahLst/>
              <a:cxnLst/>
              <a:rect l="l" t="t" r="r" b="b"/>
              <a:pathLst>
                <a:path w="601027" h="611505">
                  <a:moveTo>
                    <a:pt x="0" y="0"/>
                  </a:moveTo>
                  <a:lnTo>
                    <a:pt x="601027" y="6115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69995" y="398240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6675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387715" y="3404235"/>
              <a:ext cx="601028" cy="611505"/>
            </a:xfrm>
            <a:custGeom>
              <a:avLst/>
              <a:gdLst/>
              <a:ahLst/>
              <a:cxnLst/>
              <a:rect l="l" t="t" r="r" b="b"/>
              <a:pathLst>
                <a:path w="601028" h="611505">
                  <a:moveTo>
                    <a:pt x="601028" y="0"/>
                  </a:moveTo>
                  <a:lnTo>
                    <a:pt x="0" y="6115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321040" y="398240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2385" y="0"/>
                  </a:lnTo>
                  <a:lnTo>
                    <a:pt x="100965" y="666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988742" y="3404235"/>
              <a:ext cx="1912620" cy="648653"/>
            </a:xfrm>
            <a:custGeom>
              <a:avLst/>
              <a:gdLst/>
              <a:ahLst/>
              <a:cxnLst/>
              <a:rect l="l" t="t" r="r" b="b"/>
              <a:pathLst>
                <a:path w="1912620" h="648653">
                  <a:moveTo>
                    <a:pt x="0" y="0"/>
                  </a:moveTo>
                  <a:lnTo>
                    <a:pt x="1912620" y="6486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885170" y="400812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5247"/>
                  </a:moveTo>
                  <a:lnTo>
                    <a:pt x="0" y="90488"/>
                  </a:lnTo>
                  <a:lnTo>
                    <a:pt x="3143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618422" y="4462462"/>
              <a:ext cx="1252538" cy="708660"/>
            </a:xfrm>
            <a:custGeom>
              <a:avLst/>
              <a:gdLst/>
              <a:ahLst/>
              <a:cxnLst/>
              <a:rect l="l" t="t" r="r" b="b"/>
              <a:pathLst>
                <a:path w="1252538" h="708660">
                  <a:moveTo>
                    <a:pt x="1252538" y="0"/>
                  </a:moveTo>
                  <a:lnTo>
                    <a:pt x="0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535555" y="5130165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0" y="88582"/>
                  </a:moveTo>
                  <a:lnTo>
                    <a:pt x="60008" y="0"/>
                  </a:lnTo>
                  <a:lnTo>
                    <a:pt x="106680" y="828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870960" y="4462462"/>
              <a:ext cx="1252538" cy="708660"/>
            </a:xfrm>
            <a:custGeom>
              <a:avLst/>
              <a:gdLst/>
              <a:ahLst/>
              <a:cxnLst/>
              <a:rect l="l" t="t" r="r" b="b"/>
              <a:pathLst>
                <a:path w="1252538" h="708660">
                  <a:moveTo>
                    <a:pt x="0" y="0"/>
                  </a:moveTo>
                  <a:lnTo>
                    <a:pt x="1252538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099685" y="5130165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106680" y="88582"/>
                  </a:moveTo>
                  <a:lnTo>
                    <a:pt x="0" y="82867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068502" y="4462462"/>
              <a:ext cx="1252538" cy="708660"/>
            </a:xfrm>
            <a:custGeom>
              <a:avLst/>
              <a:gdLst/>
              <a:ahLst/>
              <a:cxnLst/>
              <a:rect l="l" t="t" r="r" b="b"/>
              <a:pathLst>
                <a:path w="1252538" h="708660">
                  <a:moveTo>
                    <a:pt x="1252538" y="0"/>
                  </a:moveTo>
                  <a:lnTo>
                    <a:pt x="0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985635" y="5130165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0" y="88582"/>
                  </a:moveTo>
                  <a:lnTo>
                    <a:pt x="60008" y="0"/>
                  </a:lnTo>
                  <a:lnTo>
                    <a:pt x="106680" y="828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321040" y="4462462"/>
              <a:ext cx="1252538" cy="708660"/>
            </a:xfrm>
            <a:custGeom>
              <a:avLst/>
              <a:gdLst/>
              <a:ahLst/>
              <a:cxnLst/>
              <a:rect l="l" t="t" r="r" b="b"/>
              <a:pathLst>
                <a:path w="1252538" h="708660">
                  <a:moveTo>
                    <a:pt x="0" y="0"/>
                  </a:moveTo>
                  <a:lnTo>
                    <a:pt x="1252538" y="7086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549765" y="5130165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106680" y="88582"/>
                  </a:moveTo>
                  <a:lnTo>
                    <a:pt x="0" y="82867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94045" y="2050732"/>
              <a:ext cx="804862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801302" y="3034665"/>
              <a:ext cx="804862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85835" y="3034665"/>
              <a:ext cx="804862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1520" y="4092892"/>
              <a:ext cx="939165" cy="360045"/>
            </a:xfrm>
            <a:prstGeom prst="roundRect">
              <a:avLst>
                <a:gd name="adj" fmla="val 2645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469005" y="4092892"/>
              <a:ext cx="804862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919085" y="4092892"/>
              <a:ext cx="804862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521315" y="4092892"/>
              <a:ext cx="939165" cy="360045"/>
            </a:xfrm>
            <a:prstGeom prst="roundRect">
              <a:avLst>
                <a:gd name="adj" fmla="val 26455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066925" y="5228272"/>
              <a:ext cx="93916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736782" y="5228272"/>
              <a:ext cx="93916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17005" y="5228272"/>
              <a:ext cx="93916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86862" y="5228272"/>
              <a:ext cx="93916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51420" y="2146935"/>
              <a:ext cx="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K1 : K2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58677" y="3130868"/>
              <a:ext cx="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K2 : K3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44162" y="3130868"/>
              <a:ext cx="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K2 : K3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0669" y="4189095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K1&lt;K2&lt;K3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26380" y="4189095"/>
              <a:ext cx="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K1 : K3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76460" y="4189095"/>
              <a:ext cx="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K1 : K3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40464" y="4189095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K3&lt;K2&lt;K1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85122" y="5323523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K1&lt;K3&lt;K2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55932" y="5323523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K3&lt;K1&lt;K2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35202" y="5323523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K2&lt;K1&lt;K3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06012" y="5323523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K2&lt;K3&lt;K1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952" y="261556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02927" y="26560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64742" y="261556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94717" y="26560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125028" y="363664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155002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460432" y="363664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490407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577262" y="363664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607237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912668" y="363664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942642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26105" y="473392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156080" y="47734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461510" y="473392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491485" y="47734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576185" y="473392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606160" y="47734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911590" y="4733925"/>
              <a:ext cx="154305" cy="200025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941565" y="47734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2" name="Rectangle 7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8373"/>
              <a:ext cx="8637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个元素有 3! = 6 种排列，所以这棵树有 6 个方框；绿色的两个只用 2 次比较就能确定，其余四个要 3 次。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判定树的高度就是最坏比较次数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193982" cy="1814512"/>
            <a:chOff x="533400" y="1524000"/>
            <a:chExt cx="5193982" cy="1814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14512"/>
            </a:xfrm>
            <a:prstGeom prst="roundRect">
              <a:avLst>
                <a:gd name="adj" fmla="val 734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124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三条对应关系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5805" y="206121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1483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6602" y="2072640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一个方框（叶结点）= 一种输入排列，也就是一种可能的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5805" y="262032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1483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6602" y="2632710"/>
              <a:ext cx="4584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根到该方框的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路径长度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= 算法处理这种输入时的比较次数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5805" y="292322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1483" y="29616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6602" y="2935605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树的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高度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= 算法在最坏情况下的比较次数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3513772"/>
            <a:ext cx="5193982" cy="729615"/>
            <a:chOff x="533400" y="3513772"/>
            <a:chExt cx="5193982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351377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3774876"/>
              <a:ext cx="224134" cy="192560"/>
              <a:chOff x="726129" y="3774876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38452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37748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39230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3659505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判定树是对某个具体算法画的。换一个算法就换一棵树，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但叶结点始终是 n! 个。</a:t>
              </a:r>
            </a:p>
          </p:txBody>
        </p:sp>
      </p:grpSp>
      <p:grpSp>
        <p:nvGrpSpPr>
          <p:cNvPr id="35" name="c1-card-3"/>
          <p:cNvGrpSpPr/>
          <p:nvPr/>
        </p:nvGrpSpPr>
        <p:grpSpPr>
          <a:xfrm>
            <a:off x="533400" y="4417695"/>
            <a:ext cx="5193982" cy="1871662"/>
            <a:chOff x="533400" y="4417695"/>
            <a:chExt cx="5193982" cy="1871662"/>
          </a:xfrm>
        </p:grpSpPr>
        <p:sp>
          <p:nvSpPr>
            <p:cNvPr id="27" name="Rectangle 27"/>
            <p:cNvSpPr/>
            <p:nvPr/>
          </p:nvSpPr>
          <p:spPr>
            <a:xfrm>
              <a:off x="533400" y="4417695"/>
              <a:ext cx="5193982" cy="1871662"/>
            </a:xfrm>
            <a:prstGeom prst="roundRect">
              <a:avLst>
                <a:gd name="adj" fmla="val 71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51045"/>
              <a:ext cx="47625" cy="16049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46101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7344" y="46443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两点说明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2478" y="50234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497" y="496728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树里只画比较，不画移动。下界讲的是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比较次数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，元素搬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来搬去不计在内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55826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5526405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关键词允许相等时叶结点更多，下界只会更大，所以按互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不相同来算是最宽松的情形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026848" y="1524000"/>
            <a:ext cx="5631752" cy="3120009"/>
            <a:chOff x="6026848" y="1524000"/>
            <a:chExt cx="5631752" cy="3120009"/>
          </a:xfrm>
        </p:grpSpPr>
        <p:sp>
          <p:nvSpPr>
            <p:cNvPr id="36" name="Rectangle 36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6894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输入排列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8263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32195" y="2054066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K1&lt;K2&lt;K3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529762" y="1939290"/>
              <a:ext cx="211931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2025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32195" y="2459831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K3&lt;K2&lt;K1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529762" y="2345055"/>
              <a:ext cx="211931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2025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32195" y="2865596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K1&lt;K3&lt;K2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2025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32182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32195" y="3271361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K3&lt;K1&lt;K2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2025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32195" y="3677126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K2&lt;K1&lt;K3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20250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39538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32182" y="395859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32195" y="4082891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K2&lt;K3&lt;K1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20250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1524000"/>
              <a:ext cx="5626418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51547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26848" y="4438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上页这棵树的六条路径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032182" y="4777740"/>
            <a:ext cx="5626418" cy="1511618"/>
            <a:chOff x="6032182" y="4777740"/>
            <a:chExt cx="5626418" cy="1511618"/>
          </a:xfrm>
        </p:grpSpPr>
        <p:sp>
          <p:nvSpPr>
            <p:cNvPr id="65" name="Rectangle 65"/>
            <p:cNvSpPr/>
            <p:nvPr/>
          </p:nvSpPr>
          <p:spPr>
            <a:xfrm>
              <a:off x="6032182" y="4777740"/>
              <a:ext cx="5626418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41708" y="491109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62688" y="49701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50127" y="50044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55830" y="5327333"/>
              <a:ext cx="4522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最坏 3 次，平均 (2+2+3+3+3+3)/6 = 16/6 ≈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2.67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次。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271260" y="56854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27280" y="5629275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2 的二叉树最多 4 个叶子，装不下 6 种排列，所以 3 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是躲不掉的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08510" cy="909257"/>
            <a:chOff x="520446" y="342900"/>
            <a:chExt cx="40085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085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n! ≤ 2ʰ 推出 Ω(nlogn)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3286792" cy="2149412"/>
            <a:chOff x="533400" y="1533525"/>
            <a:chExt cx="3286792" cy="214941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数叶子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1818322"/>
              <a:ext cx="2519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个元素有 n! 种排列，叶结点至少 n! 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数高度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371725"/>
              <a:ext cx="2873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 h 的二叉树最多 2ʰ 个叶结点，故 n! ≤ 2ʰ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取对数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925128"/>
              <a:ext cx="25620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两边取以 2 为底的对数，得 h ≥ log₂(n!)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2227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477578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把后一半项统一放小到 log(n/2)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24"/>
              <p:cNvSpPr txBox="1">
                <a:spLocks noGrp="1"/>
              </p:cNvSpPr>
              <p:nvPr/>
            </p:nvSpPr>
            <p:spPr>
              <a:xfrm>
                <a:off x="533400" y="3844290"/>
                <a:ext cx="5410200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!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unc>
                            <m:funcPr/>
                            <m:fNam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func>
                        </m:e>
                      </m:nary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=Ω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2" name="c1-callout-3"/>
          <p:cNvGrpSpPr/>
          <p:nvPr/>
        </p:nvGrpSpPr>
        <p:grpSpPr>
          <a:xfrm>
            <a:off x="533400" y="4700588"/>
            <a:ext cx="5410200" cy="850582"/>
            <a:chOff x="533400" y="4700588"/>
            <a:chExt cx="5410200" cy="850582"/>
          </a:xfrm>
        </p:grpSpPr>
        <p:sp>
          <p:nvSpPr>
            <p:cNvPr id="26" name="Rectangle 26"/>
            <p:cNvSpPr/>
            <p:nvPr/>
          </p:nvSpPr>
          <p:spPr>
            <a:xfrm>
              <a:off x="533400" y="4700588"/>
              <a:ext cx="5410200" cy="850582"/>
            </a:xfrm>
            <a:prstGeom prst="roundRect">
              <a:avLst>
                <a:gd name="adj" fmla="val 1343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26129" y="5022651"/>
              <a:ext cx="224134" cy="192560"/>
              <a:chOff x="726129" y="5022651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38200" y="50930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6129" y="50226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1708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1273" y="4920139"/>
              <a:ext cx="4442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下界约束的是最坏情况。已有序时插入排序只比 n−1 次，并不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违反下界。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1730692"/>
            <a:chOff x="6248400" y="1524000"/>
            <a:chExt cx="5410200" cy="1730692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165735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33451" y="1744504"/>
              <a:ext cx="3565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基于比较的排序，最坏至少 Ω(nlog₂n) 次比较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0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任何基于关键词比较的排序算法，在最坏情况下的关键词比较次数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至少是 Ω(nlog₂n)。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7000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32448" y="2589371"/>
              <a:ext cx="3811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可以进一步证明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平均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比较次数也至少是 Ω(nlog₂n)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77000" y="292703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32448" y="287416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所以堆排序、归并排序在量级上已经最优</a:t>
              </a:r>
            </a:p>
          </p:txBody>
        </p:sp>
      </p:grpSp>
      <p:grpSp>
        <p:nvGrpSpPr>
          <p:cNvPr id="70" name="c2-table-2"/>
          <p:cNvGrpSpPr/>
          <p:nvPr/>
        </p:nvGrpSpPr>
        <p:grpSpPr>
          <a:xfrm>
            <a:off x="6243447" y="3419475"/>
            <a:ext cx="5415153" cy="2170461"/>
            <a:chOff x="6243447" y="3419475"/>
            <a:chExt cx="5415153" cy="2170461"/>
          </a:xfrm>
        </p:grpSpPr>
        <p:sp>
          <p:nvSpPr>
            <p:cNvPr id="44" name="Rectangle 44"/>
            <p:cNvSpPr/>
            <p:nvPr/>
          </p:nvSpPr>
          <p:spPr>
            <a:xfrm>
              <a:off x="6248400" y="341947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7563" y="35366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17062" y="353663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⌈log₂(n!)⌉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15194" y="35366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归并最坏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43079" y="39176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33704" y="391763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58338" y="3810000"/>
              <a:ext cx="209073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43491" y="391763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41767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418147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3079" y="42995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33704" y="429958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43491" y="429958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45586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3079" y="46805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33704" y="468058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43491" y="468058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9396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494442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3079" y="50615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33704" y="506158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43491" y="506158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3419475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434262" y="341947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544050" y="341947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43447" y="539924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下界与归并排序实际比较次数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1273" y="6039326"/>
              <a:ext cx="80599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放缩那一步只保留了后一半的 n/2 项，每项都不小于 log(n/2)，这就够推出量级了，不必用斯特林公式。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六种基于比较的排序算法对照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23986" cy="308039"/>
            <a:chOff x="525399" y="1550194"/>
            <a:chExt cx="85239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239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竖着看复杂度，横着看每个算法的三项代价；最后一列决定了相同关键词能不能保持原序。</a:t>
              </a:r>
            </a:p>
          </p:txBody>
        </p:sp>
      </p:grpSp>
      <p:grpSp>
        <p:nvGrpSpPr>
          <p:cNvPr id="70" name="c1-table-1"/>
          <p:cNvGrpSpPr/>
          <p:nvPr/>
        </p:nvGrpSpPr>
        <p:grpSpPr>
          <a:xfrm>
            <a:off x="533400" y="1967865"/>
            <a:ext cx="11125200" cy="3413760"/>
            <a:chOff x="533400" y="1967865"/>
            <a:chExt cx="11125200" cy="341376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5882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0616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7494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4372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77263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13695" y="2106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0080" y="259461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8005" y="2594610"/>
              <a:ext cx="513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56785" y="2594610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5565" y="2594610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94345" y="2594610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96500" y="25946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38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943225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080" y="30822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8005" y="3082290"/>
              <a:ext cx="513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6785" y="3082290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5565" y="3082290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94345" y="3082290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96500" y="308229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35699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8005" y="3569970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56785" y="3569970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5565" y="3569970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94345" y="3569970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96500" y="35699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9138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918585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0080" y="4057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88005" y="4057650"/>
              <a:ext cx="90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56785" y="4057650"/>
              <a:ext cx="90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5565" y="4057650"/>
              <a:ext cx="90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94345" y="4057650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96500" y="4057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4015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0080" y="45453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88005" y="4545330"/>
              <a:ext cx="90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56785" y="4545330"/>
              <a:ext cx="90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328410" y="4415790"/>
              <a:ext cx="1649730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25565" y="4545330"/>
              <a:ext cx="627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94345" y="4545330"/>
              <a:ext cx="14003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O(logn)–O(n)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96500" y="45453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8891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4893945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0080" y="50330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88005" y="5033010"/>
              <a:ext cx="90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56785" y="5033010"/>
              <a:ext cx="90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328410" y="4903470"/>
              <a:ext cx="1649730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25565" y="5033010"/>
              <a:ext cx="901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997190" y="4903470"/>
              <a:ext cx="1983105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94345" y="5033010"/>
              <a:ext cx="513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999345" y="4903470"/>
              <a:ext cx="1649730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096500" y="50330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1967865"/>
              <a:ext cx="11125200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2976562" y="1967865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645342" y="1967865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14122" y="1967865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982902" y="1967865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985058" y="1967865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1" name="Rectangle 7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9947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直接插入与冒泡的最好情况 O(n) 只在序列已经有序时取到，且冒泡必须写成“本趟无交换就提前结束”的版本。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07318" cy="909257"/>
            <a:chOff x="520446" y="342900"/>
            <a:chExt cx="48073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073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同是 O(nlogn)，实测差出两倍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34075" cy="308039"/>
            <a:chOff x="525399" y="1550194"/>
            <a:chExt cx="803407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340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32 页对三种 O(nlogn) 算法做了实测，横轴是数据规模，纵轴是运行时间。</a:t>
              </a:r>
            </a:p>
          </p:txBody>
        </p:sp>
      </p:grpSp>
      <p:grpSp>
        <p:nvGrpSpPr>
          <p:cNvPr id="47" name="c1-table-1"/>
          <p:cNvGrpSpPr/>
          <p:nvPr/>
        </p:nvGrpSpPr>
        <p:grpSpPr>
          <a:xfrm>
            <a:off x="527685" y="1967865"/>
            <a:ext cx="5632133" cy="2988469"/>
            <a:chOff x="527685" y="1967865"/>
            <a:chExt cx="5632133" cy="2988469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8011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63797" y="2102644"/>
              <a:ext cx="5587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QSort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73661" y="2102644"/>
              <a:ext cx="552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Msort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46718" y="2102644"/>
              <a:ext cx="820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HeapSort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48065" y="25512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54908" y="25512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0798" y="25512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8 000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48065" y="30008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54908" y="30008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60798" y="30008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08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49479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48065" y="34494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54908" y="34494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60798" y="34494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576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76237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3898106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48065" y="38981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54908" y="38981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60798" y="38981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071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346734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20 000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949768" y="4221480"/>
              <a:ext cx="13877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048065" y="434673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54908" y="434673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62500" y="4221480"/>
              <a:ext cx="138779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60798" y="434673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967865"/>
              <a:ext cx="5626418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93548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34232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4821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4736306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运行时间（从源课件曲线上读出的近似值，单位 s）</a:t>
              </a:r>
            </a:p>
          </p:txBody>
        </p:sp>
      </p:grpSp>
      <p:grpSp>
        <p:nvGrpSpPr>
          <p:cNvPr id="54" name="c1-callout-2"/>
          <p:cNvGrpSpPr/>
          <p:nvPr/>
        </p:nvGrpSpPr>
        <p:grpSpPr>
          <a:xfrm>
            <a:off x="533400" y="5102542"/>
            <a:ext cx="5626418" cy="1059180"/>
            <a:chOff x="533400" y="5102542"/>
            <a:chExt cx="5626418" cy="1059180"/>
          </a:xfrm>
        </p:grpSpPr>
        <p:sp>
          <p:nvSpPr>
            <p:cNvPr id="48" name="Rectangle 48"/>
            <p:cNvSpPr/>
            <p:nvPr/>
          </p:nvSpPr>
          <p:spPr>
            <a:xfrm>
              <a:off x="533400" y="5102542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532120"/>
              <a:ext cx="200026" cy="200026"/>
              <a:chOff x="738188" y="5532120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5321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5987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56321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251132"/>
              <a:ext cx="47301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三条曲线都接近直线且斜率稳定，符合 nlogn 在这个区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间内近似线性的表现；比值 1 : 2.0 : 2.2 才是要记的东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西。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6464618" y="1967865"/>
            <a:ext cx="5193982" cy="2036445"/>
            <a:chOff x="6464618" y="1967865"/>
            <a:chExt cx="5193982" cy="2036445"/>
          </a:xfrm>
        </p:grpSpPr>
        <p:sp>
          <p:nvSpPr>
            <p:cNvPr id="55" name="Rectangle 55"/>
            <p:cNvSpPr/>
            <p:nvPr/>
          </p:nvSpPr>
          <p:spPr>
            <a:xfrm>
              <a:off x="6464618" y="1967865"/>
              <a:ext cx="5193982" cy="2036445"/>
            </a:xfrm>
            <a:prstGeom prst="roundRect">
              <a:avLst>
                <a:gd name="adj" fmla="val 654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74168" y="21774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43675" y="22131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为什么快排更快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79883" y="26174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37998" y="255460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快排原地交换，不申请辅助数组，也不做整块拷回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679883" y="295275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37998" y="2889885"/>
              <a:ext cx="392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内层循环短，对 CPU 缓存友好，常数因子小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679883" y="328803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37998" y="3225165"/>
              <a:ext cx="3733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归并每层都要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写两遍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（写入 X 再拷回 R）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679883" y="36233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37998" y="356044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堆排序每次下沉都在数组里大步跳，缓存命中率最差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464618" y="4194810"/>
            <a:ext cx="5193982" cy="1966912"/>
            <a:chOff x="6464618" y="4194810"/>
            <a:chExt cx="5193982" cy="1966912"/>
          </a:xfrm>
        </p:grpSpPr>
        <p:sp>
          <p:nvSpPr>
            <p:cNvPr id="67" name="Rectangle 67"/>
            <p:cNvSpPr/>
            <p:nvPr/>
          </p:nvSpPr>
          <p:spPr>
            <a:xfrm>
              <a:off x="6464618" y="4194810"/>
              <a:ext cx="5193982" cy="1966912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74142" y="4328160"/>
              <a:ext cx="47625" cy="17002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712268" y="440436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85724" y="44400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别被实测误导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04648" y="478155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这组数据是随机输入。快排最坏仍会退化到 O(n²)，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归并和堆排序不会。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717983" y="5465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76098" y="540258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工程上常用混合策略：快排为主，递归过深时切换成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练习：哪些排序算法能保住原有次序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730692"/>
            <a:chOff x="533400" y="1524000"/>
            <a:chExt cx="5410200" cy="1730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3228" y="174450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词与拼音串排序（搜狗笔试题）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条词和对应的拼音串，先按拼音串的字母序排，拼音串相同时按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词原来的先后排。下列算法中哪个符合条件。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2590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直接插入排序　　B. 快速排序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92703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874169"/>
              <a:ext cx="2590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堆排序　　　　　D. 冒泡排序</a:t>
              </a:r>
            </a:p>
          </p:txBody>
        </p:sp>
      </p:grpSp>
      <p:grpSp>
        <p:nvGrpSpPr>
          <p:cNvPr id="40" name="c1-cells-2"/>
          <p:cNvGrpSpPr/>
          <p:nvPr/>
        </p:nvGrpSpPr>
        <p:grpSpPr>
          <a:xfrm>
            <a:off x="528447" y="3419475"/>
            <a:ext cx="5415153" cy="858202"/>
            <a:chOff x="528447" y="3419475"/>
            <a:chExt cx="5415153" cy="858202"/>
          </a:xfrm>
        </p:grpSpPr>
        <p:sp>
          <p:nvSpPr>
            <p:cNvPr id="18" name="TextBox 18"/>
            <p:cNvSpPr txBox="1"/>
            <p:nvPr/>
          </p:nvSpPr>
          <p:spPr>
            <a:xfrm>
              <a:off x="528447" y="353615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排序前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0130" y="3419475"/>
              <a:ext cx="9810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93787" y="35361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21205" y="3419475"/>
              <a:ext cx="98107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73909" y="35361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001328" y="3419475"/>
              <a:ext cx="9810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54984" y="35361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982402" y="3419475"/>
              <a:ext cx="9810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36059" y="35361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962525" y="3419475"/>
              <a:ext cx="98107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16182" y="35361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447" y="40381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排序后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0130" y="3921442"/>
              <a:ext cx="98107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93787" y="4038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北京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021205" y="3921442"/>
              <a:ext cx="981075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73909" y="4038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001328" y="3921442"/>
              <a:ext cx="9810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354984" y="4038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982402" y="3921442"/>
              <a:ext cx="9810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36059" y="4038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吉大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962525" y="3921442"/>
              <a:ext cx="98107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16182" y="4038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</p:grpSp>
      <p:grpSp>
        <p:nvGrpSpPr>
          <p:cNvPr id="47" name="c1-card-3"/>
          <p:cNvGrpSpPr/>
          <p:nvPr/>
        </p:nvGrpSpPr>
        <p:grpSpPr>
          <a:xfrm>
            <a:off x="533400" y="4442460"/>
            <a:ext cx="5410200" cy="1160145"/>
            <a:chOff x="533400" y="4442460"/>
            <a:chExt cx="5410200" cy="1160145"/>
          </a:xfrm>
        </p:grpSpPr>
        <p:sp>
          <p:nvSpPr>
            <p:cNvPr id="41" name="Rectangle 41"/>
            <p:cNvSpPr/>
            <p:nvPr/>
          </p:nvSpPr>
          <p:spPr>
            <a:xfrm>
              <a:off x="533400" y="444246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57581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2475" y="46234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5147" y="46562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复习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18450" y="46629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稳定性的定义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5998" y="497919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关键词相同的两个记录，排序前后的相对次序不变，就说这个排序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算法稳定。本题的关键词是拼音串。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248400" y="1524000"/>
            <a:ext cx="5410200" cy="1999298"/>
            <a:chOff x="6248400" y="1524000"/>
            <a:chExt cx="5410200" cy="1999298"/>
          </a:xfrm>
        </p:grpSpPr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1999298"/>
            </a:xfrm>
            <a:prstGeom prst="roundRect">
              <a:avLst>
                <a:gd name="adj" fmla="val 66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1657350"/>
              <a:ext cx="47625" cy="17325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7475" y="1704975"/>
              <a:ext cx="142779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23824" y="1737836"/>
              <a:ext cx="1314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A（D 同样满足）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0998" y="2045494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北京与背景的拼音串同为 beijing，排完之后北京仍在背景前面，要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求的正是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稳定排序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77000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32448" y="2573179"/>
              <a:ext cx="1892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直接插入排序稳定，选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77000" y="29108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2448" y="2857976"/>
              <a:ext cx="3150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冒泡排序同样稳定，按题意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也符合条件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77000" y="319563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2448" y="314277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快速排序、堆排序不稳定，排除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248400" y="3688080"/>
            <a:ext cx="5410200" cy="1914525"/>
            <a:chOff x="6248400" y="3688080"/>
            <a:chExt cx="5410200" cy="1914525"/>
          </a:xfrm>
        </p:grpSpPr>
        <p:sp>
          <p:nvSpPr>
            <p:cNvPr id="60" name="Rectangle 60"/>
            <p:cNvSpPr/>
            <p:nvPr/>
          </p:nvSpPr>
          <p:spPr>
            <a:xfrm>
              <a:off x="6248400" y="3688080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3821430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67475" y="38690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0147" y="39019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0998" y="420862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33 页这道题按单选给出，但选项 A 与 D 都是稳定排序，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两个都符合题意。做题时按稳定性判断即可。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6233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看到“相同关键词要保持原来的先后”，就是在问稳定性；不稳定的算法直接排除。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175" cy="909257"/>
            <a:chOff x="520446" y="342900"/>
            <a:chExt cx="6258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练习：两道关于“每趟做了什么”的考研题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831658"/>
            <a:chOff x="533400" y="1524000"/>
            <a:chExt cx="5410200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4125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下列排序算法中不稳定的是（2023 年考研全国卷）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I. 希尔排序　II. 合并排序　III. 快速排序　IV. 堆排序　V. 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泡排序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49855"/>
              <a:ext cx="2381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仅 I 和 II　　B. 仅 II 和 V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52750"/>
              <a:ext cx="31862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仅 I、III 和 IV　　D. 仅 III、IV 和 V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530918"/>
            <a:ext cx="5410200" cy="1775460"/>
            <a:chOff x="533400" y="3530918"/>
            <a:chExt cx="5410200" cy="1775460"/>
          </a:xfrm>
        </p:grpSpPr>
        <p:sp>
          <p:nvSpPr>
            <p:cNvPr id="18" name="Rectangle 18"/>
            <p:cNvSpPr/>
            <p:nvPr/>
          </p:nvSpPr>
          <p:spPr>
            <a:xfrm>
              <a:off x="533400" y="3530918"/>
              <a:ext cx="5410200" cy="1775460"/>
            </a:xfrm>
            <a:prstGeom prst="roundRect">
              <a:avLst>
                <a:gd name="adj" fmla="val 7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664268"/>
              <a:ext cx="47625" cy="15087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3723322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7752" y="375761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07955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希尔排序按增量分组，同键元素会被分到不同组；快排的交换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跨越很远；堆排序的筛选同样跨越很远。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46958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4639628"/>
              <a:ext cx="4347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合并排序与冒泡排序都稳定，所以排除含 II、V 的选项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8190" y="4938236"/>
              <a:ext cx="4195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最短反例：希尔排序 (2, 2*, 1) 取增量 2；堆排序 (1, 2, 2*)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481638"/>
            <a:ext cx="5410200" cy="729615"/>
            <a:chOff x="533400" y="5481638"/>
            <a:chExt cx="5410200" cy="729615"/>
          </a:xfrm>
        </p:grpSpPr>
        <p:sp>
          <p:nvSpPr>
            <p:cNvPr id="27" name="Rectangle 27"/>
            <p:cNvSpPr/>
            <p:nvPr/>
          </p:nvSpPr>
          <p:spPr>
            <a:xfrm>
              <a:off x="533400" y="548163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746435"/>
              <a:ext cx="200023" cy="200023"/>
              <a:chOff x="738188" y="5746435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7464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8131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562737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不稳定的四个算法记法：希尔、快排、堆排、直接选择，共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同点都是元素会跨越很远地交换。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1786890"/>
            <a:chOff x="6248400" y="1524000"/>
            <a:chExt cx="5410200" cy="1786890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8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6345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95947" y="175641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每趟结束都至少能确定一个元素最终位置的是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2047" y="2090738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I. 直接选择排序　II. 希尔排序　III. 快速排序　IV. 堆排序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V. 合并排序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87478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3497" y="2649855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I、III、IV　　B. I、III、V　　C. II、III、IV　　D. III、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IV、V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485198"/>
            <a:ext cx="5410200" cy="2725102"/>
            <a:chOff x="6248400" y="3485198"/>
            <a:chExt cx="5410200" cy="2725102"/>
          </a:xfrm>
        </p:grpSpPr>
        <p:sp>
          <p:nvSpPr>
            <p:cNvPr id="42" name="Rectangle 42"/>
            <p:cNvSpPr/>
            <p:nvPr/>
          </p:nvSpPr>
          <p:spPr>
            <a:xfrm>
              <a:off x="6248400" y="3485198"/>
              <a:ext cx="5410200" cy="2725102"/>
            </a:xfrm>
            <a:prstGeom prst="roundRect">
              <a:avLst>
                <a:gd name="adj" fmla="val 4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3618548"/>
              <a:ext cx="47625" cy="24584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8905" y="3677602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2752" y="3711893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2047" y="403479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直接选择每趟选出一个最值放到位；快排每趟把基准放到最终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位置；堆排序每趟把堆顶换到队尾。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87478" y="46501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43497" y="459390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合并排序每趟只是把段变长，段内元素还可能整体挪位，排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 V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87478" y="52101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43497" y="5153978"/>
              <a:ext cx="3821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希尔排序在最后一趟之前谁都不能确定，排除 II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基于关键词比较的排序算法时间下界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练习：最后一趟开始前，谁能做到全都没到位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927860"/>
            <a:chOff x="533400" y="1524000"/>
            <a:chExt cx="4977765" cy="1927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27860"/>
            </a:xfrm>
            <a:prstGeom prst="roundRect">
              <a:avLst>
                <a:gd name="adj" fmla="val 6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11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25754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可能出现“最后一趟开始前所有元素都不在最终位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置”的是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22245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堆排序　B. 冒泡排序　C. 插入排序　D. 快速排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40" name="c1-cells-2"/>
          <p:cNvGrpSpPr/>
          <p:nvPr/>
        </p:nvGrpSpPr>
        <p:grpSpPr>
          <a:xfrm>
            <a:off x="527304" y="3642360"/>
            <a:ext cx="4982909" cy="1009650"/>
            <a:chOff x="527304" y="3642360"/>
            <a:chExt cx="4982909" cy="1009650"/>
          </a:xfrm>
        </p:grpSpPr>
        <p:sp>
          <p:nvSpPr>
            <p:cNvPr id="14" name="TextBox 14"/>
            <p:cNvSpPr txBox="1"/>
            <p:nvPr/>
          </p:nvSpPr>
          <p:spPr>
            <a:xfrm>
              <a:off x="527304" y="37776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71550" y="364236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96951" y="37776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727835" y="364236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53236" y="37776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85072" y="364236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10473" y="37776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41358" y="364236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66758" y="37776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997642" y="364236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23043" y="37776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53928" y="364236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79328" y="37776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304" y="43681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最终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71550" y="423291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96951" y="43681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727835" y="423291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053236" y="43681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485072" y="423291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10473" y="43681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241358" y="423291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66758" y="43681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997642" y="423291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23043" y="43681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53928" y="4232910"/>
              <a:ext cx="7562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79328" y="43681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5815965" y="1524000"/>
            <a:ext cx="5842635" cy="1651635"/>
            <a:chOff x="5815965" y="1524000"/>
            <a:chExt cx="5842635" cy="1651635"/>
          </a:xfrm>
        </p:grpSpPr>
        <p:sp>
          <p:nvSpPr>
            <p:cNvPr id="41" name="Rectangle 41"/>
            <p:cNvSpPr/>
            <p:nvPr/>
          </p:nvSpPr>
          <p:spPr>
            <a:xfrm>
              <a:off x="5815965" y="1524000"/>
              <a:ext cx="584263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25490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63615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46549" y="17692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55995" y="2110740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直接插入排序在插入 1 之前，数组一直是 2 3 4 5 6 1，六个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没有一个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在最终位置上。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69330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27445" y="2731770"/>
              <a:ext cx="4689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1 时所有元素一起右移一格，一趟之内全部就位</a:t>
              </a:r>
            </a:p>
          </p:txBody>
        </p:sp>
      </p:grpSp>
      <p:grpSp>
        <p:nvGrpSpPr>
          <p:cNvPr id="68" name="c2-table-2"/>
          <p:cNvGrpSpPr/>
          <p:nvPr/>
        </p:nvGrpSpPr>
        <p:grpSpPr>
          <a:xfrm>
            <a:off x="5815965" y="3366135"/>
            <a:ext cx="5842635" cy="2244091"/>
            <a:chOff x="5815965" y="3366135"/>
            <a:chExt cx="5842635" cy="2244091"/>
          </a:xfrm>
        </p:grpSpPr>
        <p:sp>
          <p:nvSpPr>
            <p:cNvPr id="49" name="Rectangle 49"/>
            <p:cNvSpPr/>
            <p:nvPr/>
          </p:nvSpPr>
          <p:spPr>
            <a:xfrm>
              <a:off x="5815965" y="3366135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38214" y="35018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28748" y="350186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最后一趟开始前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23788" y="39504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插入排序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227570" y="3824288"/>
              <a:ext cx="442150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25868" y="3950494"/>
              <a:ext cx="2761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4 5 6 1，0 个元素在最终位置 ✓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42586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5965" y="426339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23788" y="43991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25868" y="4399121"/>
              <a:ext cx="2339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1 3 4 5 6，3 4 5 6 已就位 ✗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47082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23788" y="48477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25868" y="4847749"/>
              <a:ext cx="2821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每趟都把一个最值换到队尾并固定 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515683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15965" y="516159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23788" y="5296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25868" y="5296376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每趟至少固定一个基准 ✗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5965" y="3366135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213282" y="336613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9" name="Rectangle 6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9912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四个选项里只有插入排序不保证每趟定位任何元素，这道题考的就是这一点。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外排序：内存装不下的时候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归并排序在外存上的用法，也是它至今不可替代的原因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先分段读入内排序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再把有序段归并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衡量代价看读写外存的遍数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外排序：内存装不下的时候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外排序：先切段各自排好，再归并成一条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73473" cy="308039"/>
            <a:chOff x="525399" y="1550194"/>
            <a:chExt cx="727347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734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待排序文件 32G，内存只有 16G，任何内排序算法都没法一次装下全部数据。</a:t>
              </a:r>
            </a:p>
          </p:txBody>
        </p:sp>
      </p:grpSp>
      <p:grpSp>
        <p:nvGrpSpPr>
          <p:cNvPr id="37" name="c1-flow-1"/>
          <p:cNvGrpSpPr/>
          <p:nvPr/>
        </p:nvGrpSpPr>
        <p:grpSpPr>
          <a:xfrm>
            <a:off x="745808" y="2146935"/>
            <a:ext cx="5634038" cy="3627120"/>
            <a:chOff x="745808" y="2146935"/>
            <a:chExt cx="5634038" cy="3627120"/>
          </a:xfrm>
        </p:grpSpPr>
        <p:sp>
          <p:nvSpPr>
            <p:cNvPr id="9" name="Freeform 9"/>
            <p:cNvSpPr/>
            <p:nvPr/>
          </p:nvSpPr>
          <p:spPr>
            <a:xfrm>
              <a:off x="2047875" y="2585085"/>
              <a:ext cx="1515428" cy="159068"/>
            </a:xfrm>
            <a:custGeom>
              <a:avLst/>
              <a:gdLst/>
              <a:ahLst/>
              <a:cxnLst/>
              <a:rect l="l" t="t" r="r" b="b"/>
              <a:pathLst>
                <a:path w="1515428" h="159068">
                  <a:moveTo>
                    <a:pt x="1515428" y="0"/>
                  </a:moveTo>
                  <a:lnTo>
                    <a:pt x="1515428" y="131445"/>
                  </a:lnTo>
                  <a:lnTo>
                    <a:pt x="0" y="131445"/>
                  </a:lnTo>
                  <a:lnTo>
                    <a:pt x="0" y="1590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95488" y="27441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63302" y="2585085"/>
              <a:ext cx="1514475" cy="159068"/>
            </a:xfrm>
            <a:custGeom>
              <a:avLst/>
              <a:gdLst/>
              <a:ahLst/>
              <a:cxnLst/>
              <a:rect l="l" t="t" r="r" b="b"/>
              <a:pathLst>
                <a:path w="1514475" h="159068">
                  <a:moveTo>
                    <a:pt x="0" y="0"/>
                  </a:moveTo>
                  <a:lnTo>
                    <a:pt x="0" y="131445"/>
                  </a:lnTo>
                  <a:lnTo>
                    <a:pt x="1514475" y="131445"/>
                  </a:lnTo>
                  <a:lnTo>
                    <a:pt x="1514475" y="1590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25390" y="27441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47875" y="3477578"/>
              <a:ext cx="9525" cy="159067"/>
            </a:xfrm>
            <a:custGeom>
              <a:avLst/>
              <a:gdLst/>
              <a:ahLst/>
              <a:cxnLst/>
              <a:rect l="l" t="t" r="r" b="b"/>
              <a:pathLst>
                <a:path w="9525" h="159067">
                  <a:moveTo>
                    <a:pt x="0" y="0"/>
                  </a:moveTo>
                  <a:lnTo>
                    <a:pt x="0" y="1590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95488" y="36366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077778" y="3477578"/>
              <a:ext cx="9525" cy="159067"/>
            </a:xfrm>
            <a:custGeom>
              <a:avLst/>
              <a:gdLst/>
              <a:ahLst/>
              <a:cxnLst/>
              <a:rect l="l" t="t" r="r" b="b"/>
              <a:pathLst>
                <a:path w="9525" h="159067">
                  <a:moveTo>
                    <a:pt x="0" y="0"/>
                  </a:moveTo>
                  <a:lnTo>
                    <a:pt x="0" y="1590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025390" y="36366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47875" y="4179570"/>
              <a:ext cx="1515428" cy="159067"/>
            </a:xfrm>
            <a:custGeom>
              <a:avLst/>
              <a:gdLst/>
              <a:ahLst/>
              <a:cxnLst/>
              <a:rect l="l" t="t" r="r" b="b"/>
              <a:pathLst>
                <a:path w="1515428" h="159067">
                  <a:moveTo>
                    <a:pt x="0" y="0"/>
                  </a:moveTo>
                  <a:lnTo>
                    <a:pt x="0" y="131445"/>
                  </a:lnTo>
                  <a:lnTo>
                    <a:pt x="1515428" y="131445"/>
                  </a:lnTo>
                  <a:lnTo>
                    <a:pt x="1515428" y="1590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510915" y="43386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563302" y="4179570"/>
              <a:ext cx="1514475" cy="159067"/>
            </a:xfrm>
            <a:custGeom>
              <a:avLst/>
              <a:gdLst/>
              <a:ahLst/>
              <a:cxnLst/>
              <a:rect l="l" t="t" r="r" b="b"/>
              <a:pathLst>
                <a:path w="1514475" h="159067">
                  <a:moveTo>
                    <a:pt x="1514475" y="0"/>
                  </a:moveTo>
                  <a:lnTo>
                    <a:pt x="1514475" y="131445"/>
                  </a:lnTo>
                  <a:lnTo>
                    <a:pt x="0" y="131445"/>
                  </a:lnTo>
                  <a:lnTo>
                    <a:pt x="0" y="1590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510915" y="43386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563302" y="5072062"/>
              <a:ext cx="9525" cy="159068"/>
            </a:xfrm>
            <a:custGeom>
              <a:avLst/>
              <a:gdLst/>
              <a:ahLst/>
              <a:cxnLst/>
              <a:rect l="l" t="t" r="r" b="b"/>
              <a:pathLst>
                <a:path w="9525" h="159068">
                  <a:moveTo>
                    <a:pt x="0" y="0"/>
                  </a:moveTo>
                  <a:lnTo>
                    <a:pt x="0" y="1590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510915" y="5231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7262" y="2146935"/>
              <a:ext cx="52111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5808" y="2848928"/>
              <a:ext cx="260508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74758" y="2848928"/>
              <a:ext cx="260508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5808" y="3741420"/>
              <a:ext cx="2605088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774758" y="3741420"/>
              <a:ext cx="2605088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7262" y="4443412"/>
              <a:ext cx="5211128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57262" y="5335905"/>
              <a:ext cx="5211128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48526" y="2276951"/>
              <a:ext cx="1229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待排序文件 32G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34998" y="2964656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读入前 16G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内存中排序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64900" y="2964656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读入后 16G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内存中排序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05412" y="3871436"/>
              <a:ext cx="884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有序段 16G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35315" y="3871436"/>
              <a:ext cx="884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有序段 16G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1706" y="455914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两路归并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边读边写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39650" y="5465921"/>
              <a:ext cx="1247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已排序文件 32G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6898005" y="1977390"/>
            <a:ext cx="4489577" cy="2582514"/>
            <a:chOff x="6898005" y="1977390"/>
            <a:chExt cx="4489577" cy="2582514"/>
          </a:xfrm>
        </p:grpSpPr>
        <p:sp>
          <p:nvSpPr>
            <p:cNvPr id="38" name="Rectangle 38"/>
            <p:cNvSpPr/>
            <p:nvPr/>
          </p:nvSpPr>
          <p:spPr>
            <a:xfrm>
              <a:off x="7031355" y="212026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898005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1629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898005" y="28622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1629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898005" y="37480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91629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09485" y="20116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10628" y="2304574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按内存容量把文件切成若干段，每段读进内存用内排序排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好再写回外存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09485" y="28965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0628" y="3190399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每个有序段留一个小缓冲区，反复取出各段当前最小的记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录写入输出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09485" y="378237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0628" y="4076224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段数多时一趟归并不完，就一趟一趟往上并，直到只剩一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个有序段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898005" y="4738688"/>
            <a:ext cx="4760595" cy="1602105"/>
            <a:chOff x="6898005" y="4738688"/>
            <a:chExt cx="4760595" cy="1602105"/>
          </a:xfrm>
        </p:grpSpPr>
        <p:sp>
          <p:nvSpPr>
            <p:cNvPr id="52" name="Rectangle 52"/>
            <p:cNvSpPr/>
            <p:nvPr/>
          </p:nvSpPr>
          <p:spPr>
            <a:xfrm>
              <a:off x="6898005" y="4738688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07555" y="494823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84961" y="49839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归并的好处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9935" y="5325428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合并两个有序段时只需要各留一小块缓冲区，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不</a:t>
              </a:r>
              <a:br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必把数据全部装进内存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，这正是归并排序独有的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 · 外排序：内存装不下的时候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外排序看的是读写外存的遍数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27685" y="1524000"/>
            <a:ext cx="5415915" cy="2015967"/>
            <a:chOff x="527685" y="1524000"/>
            <a:chExt cx="5415915" cy="201596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097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65982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26164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分段内排序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7629" y="208502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87812" y="208502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32G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一趟两路归并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27629" y="251555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87812" y="251555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031808" y="2824162"/>
              <a:ext cx="144208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27629" y="294608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64G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491990" y="2824162"/>
              <a:ext cx="144208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87812" y="294608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01752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7770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685" y="3319939"/>
              <a:ext cx="22912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32G 文件、16G 内存的一次外排序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3681412"/>
            <a:ext cx="5410200" cy="1594485"/>
            <a:chOff x="533400" y="3681412"/>
            <a:chExt cx="5410200" cy="1594485"/>
          </a:xfrm>
        </p:grpSpPr>
        <p:sp>
          <p:nvSpPr>
            <p:cNvPr id="30" name="Rectangle 30"/>
            <p:cNvSpPr/>
            <p:nvPr/>
          </p:nvSpPr>
          <p:spPr>
            <a:xfrm>
              <a:off x="533400" y="3681412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37235" y="38852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7443" y="39209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9996" y="425815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外存访问比内存慢几个数量级，所以外排序算的是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读写外存</a:t>
              </a:r>
              <a:br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的遍数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，不是关键词比较次数。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44855" y="491013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1446" y="4849654"/>
              <a:ext cx="47648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减少遍数的办法是提高归并路数 k，而不是换内排序算法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1022032"/>
            <a:chOff x="6248400" y="1524000"/>
            <a:chExt cx="5410200" cy="1022032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1022032"/>
            </a:xfrm>
            <a:prstGeom prst="roundRect">
              <a:avLst>
                <a:gd name="adj" fmla="val 13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755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0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6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33666" y="1767364"/>
              <a:ext cx="42403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10TB 的数据文件排序，应使用（考研全国卷）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7955" y="2179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4546" y="2119789"/>
              <a:ext cx="45864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希尔排序　B. 堆排序　C. 快速排序　D. 归并排序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2730818"/>
            <a:ext cx="5410200" cy="2545080"/>
            <a:chOff x="6248400" y="2730818"/>
            <a:chExt cx="5410200" cy="2545080"/>
          </a:xfrm>
        </p:grpSpPr>
        <p:sp>
          <p:nvSpPr>
            <p:cNvPr id="45" name="Rectangle 45"/>
            <p:cNvSpPr/>
            <p:nvPr/>
          </p:nvSpPr>
          <p:spPr>
            <a:xfrm>
              <a:off x="6248400" y="2730818"/>
              <a:ext cx="5410200" cy="254508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2864168"/>
              <a:ext cx="47625" cy="22783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90335" y="2934652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3269" y="297037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3096" y="3308509"/>
              <a:ext cx="44328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10TB 装不进内存，只能外排序，而外排序的骨架就是归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7955" y="39595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4546" y="3900011"/>
              <a:ext cx="40370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设内存 16G，初始有序段 10×1024/16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640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段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7955" y="42795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54546" y="4220051"/>
              <a:ext cx="44057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二路归并要 ⌈log₂640⌉ = 10 趟；640 路一次归并只要 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97955" y="48710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4546" y="481155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其余三个算法都要求数据全部可随机访问，用不上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04084"/>
              <a:ext cx="96680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多路归并每一步要从 k 个段里挑最小的，用败者树可以把这一步从 k−1 次比较降到 log₂k 次，属于后续课程内容。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706985" cy="264033"/>
            <a:chOff x="526542" y="1545907"/>
            <a:chExt cx="9706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706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先自己写出答案再看解答。另外自问两题：Merge 里三个 while 能不能合并成两个？非递归版的趟数为什么与输入无关？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000250"/>
            <a:chOff x="533400" y="1928812"/>
            <a:chExt cx="3505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9995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合并长度为 p 和 q 的两个有序段，关键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词比较次数最少和最多各是多少？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016568"/>
              <a:ext cx="28083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 min(p, q) 次，最多 p+q−1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次。最后一个元素总是被余留循环搬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入，不再比较。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98608"/>
            <a:ext cx="3505200" cy="2257425"/>
            <a:chOff x="533400" y="4098608"/>
            <a:chExt cx="3505200" cy="2257425"/>
          </a:xfrm>
        </p:grpSpPr>
        <p:sp>
          <p:nvSpPr>
            <p:cNvPr id="15" name="Rectangle 15"/>
            <p:cNvSpPr/>
            <p:nvPr/>
          </p:nvSpPr>
          <p:spPr>
            <a:xfrm>
              <a:off x="53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630102"/>
              <a:ext cx="262618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Merge 里的 R[i] &lt;= R[j] 改成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R[i] &lt; R[j]，排序结果还对吗？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187315"/>
              <a:ext cx="28940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仍然有序，但不再稳定。用 3 5 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与 2 6* 8 合并，改完后 6* 会排到 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257425"/>
            <a:chOff x="4343400" y="1928812"/>
            <a:chExt cx="3505200" cy="22574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5113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归并排序的最好情况为什么也是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O(nlogn)，而插入排序的最好是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273742"/>
              <a:ext cx="29540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层数 ⌈log₂n⌉ 与输入无关，每层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都要把 n 个元素搬一遍。已有序只是让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比较变少，搬运量不变。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355782"/>
            <a:ext cx="3505200" cy="2000250"/>
            <a:chOff x="4343400" y="4355782"/>
            <a:chExt cx="35052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434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887278"/>
              <a:ext cx="293651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用归并法数逆序对时，cnt 为什么加的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mid−i+1 而不是 1？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444490"/>
              <a:ext cx="29026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取走右段的 R[j] 说明左段余下的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mid−i+1 个元素都比它大，下标又都在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它前面，各贡献一个逆序对。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257425"/>
            <a:chOff x="8153400" y="1928812"/>
            <a:chExt cx="3505200" cy="22574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94979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MergePass 里 if (i+L−1 &lt; n) 这一句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在什么时候起作用？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95408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退出后余留长度大于 L 时，说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明还有一个完整 L 段加一个短段，要再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合并一次；余留不超过 L 时它本身有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355782"/>
            <a:ext cx="3505200" cy="2000250"/>
            <a:chOff x="8153400" y="4355782"/>
            <a:chExt cx="3505200" cy="2000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887278"/>
              <a:ext cx="29540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有人说某个比较排序最坏 O(n) 就能排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 n 个数，错在哪？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444490"/>
              <a:ext cx="30055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判定树要区分 n! 种排列，树高至少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log₂(n!) = Ω(nlogn)。分布排序能到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O(n)，但它不比较关键词。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第20讲 归并排序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474595"/>
            <a:chOff x="533400" y="1524000"/>
            <a:chExt cx="5842635" cy="24745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9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116455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3954" y="2023110"/>
              <a:ext cx="41045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前提是两段各自有序；三个 while 加一个 for；时间 O(n)，额外空间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68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7364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5908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590800"/>
              <a:ext cx="33112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k=(m+n)/2 切两半，递归后合并；递归深度 ⌈log₂n⌉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49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971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3954" y="2971800"/>
              <a:ext cx="4225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从 1 翻倍，每趟 O(n)，共 ⌈log₂n⌉ 趟；注意长度不足 2L 的尾巴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18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3659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353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3954" y="3353752"/>
              <a:ext cx="3530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相等时取 i 指向的元素，所以稳定；它是最快的稳定排序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128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734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比较下界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3954" y="3734752"/>
              <a:ext cx="3778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n! ≤ 2ʰ 给出 h ≥ log₂(n!) = Ω(nlogn)，对一切比较排序成立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163378"/>
            <a:ext cx="5842635" cy="1185862"/>
            <a:chOff x="533400" y="4163378"/>
            <a:chExt cx="5842635" cy="1185862"/>
          </a:xfrm>
        </p:grpSpPr>
        <p:sp>
          <p:nvSpPr>
            <p:cNvPr id="29" name="Rectangle 29"/>
            <p:cNvSpPr/>
            <p:nvPr/>
          </p:nvSpPr>
          <p:spPr>
            <a:xfrm>
              <a:off x="533400" y="4163378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29672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34435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37721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73773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684871"/>
              <a:ext cx="5032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33 页那道单选题的 A 与 D 都是稳定排序，两个选项都符合题意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2253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96966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补全了源课件留空的五道题答案，并给出链表归并排序的完整代码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4935169" cy="1918620"/>
            <a:chOff x="6681788" y="1533525"/>
            <a:chExt cx="4935169" cy="1918620"/>
          </a:xfrm>
        </p:grpSpPr>
        <p:sp>
          <p:nvSpPr>
            <p:cNvPr id="38" name="Ellipse 38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1536" y="1545431"/>
              <a:ext cx="42501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Merge 写熟，归并排序的其余部分都只是怎么调用它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83784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非递归版的坑全在尾巴上，写完务必拿奇数长度的数组试一遍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131219"/>
              <a:ext cx="4393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看到“最坏也要 O(nlogn)”“要求稳定”“数据在外存”，先想归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并排序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66747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逆序对、区间统计这类题，凡是能在合并时顺手统计的，都可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以套归并的壳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31918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32274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3202781"/>
              <a:ext cx="3993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遇到“能不能更快”的问题，先问它靠不靠比较关键词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3567112"/>
            <a:ext cx="4977765" cy="1783080"/>
            <a:chOff x="6680835" y="3567112"/>
            <a:chExt cx="4977765" cy="1783080"/>
          </a:xfrm>
        </p:grpSpPr>
        <p:sp>
          <p:nvSpPr>
            <p:cNvPr id="54" name="Rectangle 54"/>
            <p:cNvSpPr/>
            <p:nvPr/>
          </p:nvSpPr>
          <p:spPr>
            <a:xfrm>
              <a:off x="6680835" y="3567112"/>
              <a:ext cx="4977765" cy="1783080"/>
            </a:xfrm>
            <a:prstGeom prst="roundRect">
              <a:avLst>
                <a:gd name="adj" fmla="val 747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7480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7332" y="3780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414051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4088606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随手写 11 个数，手推非递归版的每一趟，再和脚本跑出来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的结果对一遍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466820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4616291"/>
              <a:ext cx="3938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默写 Merge、MergePass 和链表版 SortList，重点盯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i+L−1 &lt; n 与快指针初值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92440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下一讲讲分布排序（计数排序、基数排序）。它们不比较关键词，因此不受本讲 Ω(nlogn) 下界的约束，可以做到 O(n)。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第20讲 归并排序及比较排序下界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20">
  <a:themeElements>
    <a:clrScheme name="ds_l2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2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2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2026-09-19T14:45:20Z</dcterms:created>
  <dcterms:modified xsi:type="dcterms:W3CDTF">2026-09-19T14:45:20Z</dcterms:modified>
  <cp:category/>
  <cp:contentStatus/>
</cp:coreProperties>
</file>