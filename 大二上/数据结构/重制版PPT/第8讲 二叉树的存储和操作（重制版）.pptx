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08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08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70bdf32fbe7f11d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099e79a70542a75.png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6961f226714fe20.png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5126736" cy="3437763"/>
            <a:chOff x="666750" y="1619250"/>
            <a:chExt cx="5126736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第8讲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二叉树的存储和操作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把一棵树装进内存，再把它摊成一个序列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顺序存储与二叉链表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三种遍历的递归算法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用栈和队列写非递归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重建、计数与常用操作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52252" cy="205359"/>
            <a:chOff x="680466" y="6192202"/>
            <a:chExt cx="41522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52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8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存储结构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顺序存储的下标换算、二叉链表与三叉链表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遍历与递归算法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先根、中根、后根的定义、代码与复杂度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非递归与层次遍历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用栈改写三种遍历，用队列做层次遍历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重建与计数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由序列还原二叉树，以及卡特兰数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其他操作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建树、复制、释放、求高度、求路径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说出顺序存储和二叉链表各自怎么存，并算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 n 个结点的二叉链表有多少个空指针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给定一棵二叉树，手写出它的先根、中根、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后根和层次序列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写出三种遍历的非递归算法，并画出栈的完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整变化过程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由先根序列和中根序列重建二叉树，并说清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哪些序列组合做不到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套用递归框架写出求高度、找父结点、输出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根到叶路径的代码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4691253" cy="3351847"/>
            <a:chOff x="667512" y="1835468"/>
            <a:chExt cx="4691253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二叉树的存储结构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顺序存储靠编号算下标，链接存储靠指针连起来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完全二叉树编号当下标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非完全二叉树的空间浪费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二叉链表的三个域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三叉链表与三者对比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顺序存储：把完全二叉树的编号直接当下标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745286" cy="264033"/>
            <a:chOff x="526542" y="1545907"/>
            <a:chExt cx="1074528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7452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7 讲的编号引理说，完全二叉树按层次编号后，结点 i 的父亲和孩子的编号都能算出来。顺序存储就是把这个编号拿来当数组下标。</a:t>
              </a:r>
            </a:p>
          </p:txBody>
        </p:sp>
      </p:grpSp>
      <p:grpSp>
        <p:nvGrpSpPr>
          <p:cNvPr id="20" name="c1-tree-1"/>
          <p:cNvGrpSpPr/>
          <p:nvPr/>
        </p:nvGrpSpPr>
        <p:grpSpPr>
          <a:xfrm>
            <a:off x="922972" y="1985962"/>
            <a:ext cx="2149793" cy="1755458"/>
            <a:chOff x="922972" y="1985962"/>
            <a:chExt cx="2149793" cy="1755458"/>
          </a:xfrm>
        </p:grpSpPr>
        <p:sp>
          <p:nvSpPr>
            <p:cNvPr id="9" name="Freeform 9"/>
            <p:cNvSpPr/>
            <p:nvPr/>
          </p:nvSpPr>
          <p:spPr>
            <a:xfrm>
              <a:off x="1101090" y="2900362"/>
              <a:ext cx="568643" cy="647700"/>
            </a:xfrm>
            <a:custGeom>
              <a:avLst/>
              <a:gdLst/>
              <a:ahLst/>
              <a:cxnLst/>
              <a:rect l="l" t="t" r="r" b="b"/>
              <a:pathLst>
                <a:path w="568643" h="647700">
                  <a:moveTo>
                    <a:pt x="568643" y="0"/>
                  </a:moveTo>
                  <a:lnTo>
                    <a:pt x="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69732" y="2900362"/>
              <a:ext cx="567690" cy="647700"/>
            </a:xfrm>
            <a:custGeom>
              <a:avLst/>
              <a:gdLst/>
              <a:ahLst/>
              <a:cxnLst/>
              <a:rect l="l" t="t" r="r" b="b"/>
              <a:pathLst>
                <a:path w="567690" h="647700">
                  <a:moveTo>
                    <a:pt x="0" y="0"/>
                  </a:moveTo>
                  <a:lnTo>
                    <a:pt x="56769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69732" y="2252662"/>
              <a:ext cx="1136332" cy="647700"/>
            </a:xfrm>
            <a:custGeom>
              <a:avLst/>
              <a:gdLst/>
              <a:ahLst/>
              <a:cxnLst/>
              <a:rect l="l" t="t" r="r" b="b"/>
              <a:pathLst>
                <a:path w="1136332" h="647700">
                  <a:moveTo>
                    <a:pt x="1136332" y="0"/>
                  </a:moveTo>
                  <a:lnTo>
                    <a:pt x="0" y="6477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922972" y="3369945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044065" y="3354705"/>
              <a:ext cx="386715" cy="38671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491615" y="2722245"/>
              <a:ext cx="356235" cy="3562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2539365" y="1985962"/>
              <a:ext cx="533400" cy="5334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2261" y="3491865"/>
              <a:ext cx="1176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08624" y="3491865"/>
              <a:ext cx="25759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2i+1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45888" y="2844165"/>
              <a:ext cx="4769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42283" y="2196465"/>
              <a:ext cx="3275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⌊i/2⌋</a:t>
              </a:r>
            </a:p>
          </p:txBody>
        </p:sp>
      </p:grpSp>
      <p:grpSp>
        <p:nvGrpSpPr>
          <p:cNvPr id="27" name="c1-callout-2"/>
          <p:cNvGrpSpPr/>
          <p:nvPr/>
        </p:nvGrpSpPr>
        <p:grpSpPr>
          <a:xfrm>
            <a:off x="533400" y="4036695"/>
            <a:ext cx="4544378" cy="702945"/>
            <a:chOff x="533400" y="4036695"/>
            <a:chExt cx="4544378" cy="702945"/>
          </a:xfrm>
        </p:grpSpPr>
        <p:sp>
          <p:nvSpPr>
            <p:cNvPr id="21" name="Rectangle 21"/>
            <p:cNvSpPr/>
            <p:nvPr/>
          </p:nvSpPr>
          <p:spPr>
            <a:xfrm>
              <a:off x="533400" y="4036695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288155"/>
              <a:ext cx="200026" cy="200026"/>
              <a:chOff x="738188" y="4288155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28815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435483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438816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1273" y="4180999"/>
              <a:ext cx="3589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根结点放在 T[1]，T[0] 空着不用，这样父子之间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的下标关系才是整倍数。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5382578" y="1928812"/>
            <a:ext cx="6276022" cy="1406842"/>
            <a:chOff x="5382578" y="1928812"/>
            <a:chExt cx="6276022" cy="1406842"/>
          </a:xfrm>
        </p:grpSpPr>
        <p:sp>
          <p:nvSpPr>
            <p:cNvPr id="28" name="Rectangle 28"/>
            <p:cNvSpPr/>
            <p:nvPr/>
          </p:nvSpPr>
          <p:spPr>
            <a:xfrm>
              <a:off x="5382578" y="1928812"/>
              <a:ext cx="6276022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92102" y="2062162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601652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94324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68580" y="21493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二叉树的顺序存储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95176" y="2465546"/>
              <a:ext cx="5539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把二叉树的所有结点存放在一块地址连续的存储空间中，并且要能从存放位置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反推出结点之间的逻辑关系。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96319" y="2989898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只存数据域，不存指针：孩子和父亲靠算下标找到。</a:t>
              </a:r>
            </a:p>
          </p:txBody>
        </p:sp>
      </p:grpSp>
      <p:grpSp>
        <p:nvGrpSpPr>
          <p:cNvPr id="60" name="c2-table-2"/>
          <p:cNvGrpSpPr/>
          <p:nvPr/>
        </p:nvGrpSpPr>
        <p:grpSpPr>
          <a:xfrm>
            <a:off x="5382578" y="3499485"/>
            <a:ext cx="6276022" cy="1906905"/>
            <a:chOff x="5382578" y="3499485"/>
            <a:chExt cx="6276022" cy="1906905"/>
          </a:xfrm>
        </p:grpSpPr>
        <p:sp>
          <p:nvSpPr>
            <p:cNvPr id="36" name="Rectangle 36"/>
            <p:cNvSpPr/>
            <p:nvPr/>
          </p:nvSpPr>
          <p:spPr>
            <a:xfrm>
              <a:off x="5382578" y="3499485"/>
              <a:ext cx="6276022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65888" y="36175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要找的结点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92974" y="36175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所在下标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18764" y="361759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存在的条件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77256" y="39985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0348" y="3998595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T[1]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991981" y="39985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树非空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82578" y="425767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82578" y="4262438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477256" y="4379595"/>
              <a:ext cx="9923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 i 的左孩子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360348" y="4379595"/>
              <a:ext cx="3740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T[2i]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991981" y="4379595"/>
              <a:ext cx="3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2i ≤ n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82578" y="46396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477256" y="4761548"/>
              <a:ext cx="9923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 i 的右孩子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60348" y="4761548"/>
              <a:ext cx="533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T[2i+1]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91981" y="4761548"/>
              <a:ext cx="5265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2i+1 ≤ n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82578" y="502062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82578" y="5025390"/>
              <a:ext cx="627602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477256" y="5142548"/>
              <a:ext cx="9923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 i 的父结点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60348" y="5142548"/>
              <a:ext cx="613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T[⌊i/2⌋]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991981" y="514254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&gt; 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82578" y="3499485"/>
              <a:ext cx="6276022" cy="1906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7260908" y="349948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892540" y="3499485"/>
              <a:ext cx="9525" cy="1906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6" name="c2-callout-3"/>
          <p:cNvGrpSpPr/>
          <p:nvPr/>
        </p:nvGrpSpPr>
        <p:grpSpPr>
          <a:xfrm>
            <a:off x="5382578" y="5571172"/>
            <a:ext cx="6276022" cy="702945"/>
            <a:chOff x="5382578" y="5571172"/>
            <a:chExt cx="6276022" cy="702945"/>
          </a:xfrm>
        </p:grpSpPr>
        <p:sp>
          <p:nvSpPr>
            <p:cNvPr id="61" name="Rectangle 61"/>
            <p:cNvSpPr/>
            <p:nvPr/>
          </p:nvSpPr>
          <p:spPr>
            <a:xfrm>
              <a:off x="5382578" y="5571172"/>
              <a:ext cx="6276022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5587365" y="5822635"/>
              <a:ext cx="200023" cy="200023"/>
              <a:chOff x="5587365" y="5822635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5587365" y="58226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5720715" y="58893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5890451" y="5716429"/>
              <a:ext cx="52148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这套换算只在按完全二叉树的层次顺序编号时成立，编号一旦跳号就全部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失效。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例：把一棵完全二叉树填进数组，再用下标找亲子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ree-1"/>
          <p:cNvGrpSpPr/>
          <p:nvPr/>
        </p:nvGrpSpPr>
        <p:grpSpPr>
          <a:xfrm>
            <a:off x="661988" y="1737360"/>
            <a:ext cx="4814887" cy="2954655"/>
            <a:chOff x="661988" y="1737360"/>
            <a:chExt cx="4814887" cy="2954655"/>
          </a:xfrm>
        </p:grpSpPr>
        <p:sp>
          <p:nvSpPr>
            <p:cNvPr id="7" name="Freeform 7"/>
            <p:cNvSpPr/>
            <p:nvPr/>
          </p:nvSpPr>
          <p:spPr>
            <a:xfrm>
              <a:off x="871538" y="3637598"/>
              <a:ext cx="338138" cy="844868"/>
            </a:xfrm>
            <a:custGeom>
              <a:avLst/>
              <a:gdLst/>
              <a:ahLst/>
              <a:cxnLst/>
              <a:rect l="l" t="t" r="r" b="b"/>
              <a:pathLst>
                <a:path w="338138" h="844868">
                  <a:moveTo>
                    <a:pt x="338138" y="0"/>
                  </a:moveTo>
                  <a:lnTo>
                    <a:pt x="0" y="84486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209675" y="3637598"/>
              <a:ext cx="338138" cy="844868"/>
            </a:xfrm>
            <a:custGeom>
              <a:avLst/>
              <a:gdLst/>
              <a:ahLst/>
              <a:cxnLst/>
              <a:rect l="l" t="t" r="r" b="b"/>
              <a:pathLst>
                <a:path w="338138" h="844868">
                  <a:moveTo>
                    <a:pt x="0" y="0"/>
                  </a:moveTo>
                  <a:lnTo>
                    <a:pt x="338138" y="84486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224088" y="3637598"/>
              <a:ext cx="338138" cy="844868"/>
            </a:xfrm>
            <a:custGeom>
              <a:avLst/>
              <a:gdLst/>
              <a:ahLst/>
              <a:cxnLst/>
              <a:rect l="l" t="t" r="r" b="b"/>
              <a:pathLst>
                <a:path w="338138" h="844868">
                  <a:moveTo>
                    <a:pt x="338138" y="0"/>
                  </a:moveTo>
                  <a:lnTo>
                    <a:pt x="0" y="84486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09675" y="2791778"/>
              <a:ext cx="676275" cy="845820"/>
            </a:xfrm>
            <a:custGeom>
              <a:avLst/>
              <a:gdLst/>
              <a:ahLst/>
              <a:cxnLst/>
              <a:rect l="l" t="t" r="r" b="b"/>
              <a:pathLst>
                <a:path w="676275" h="845820">
                  <a:moveTo>
                    <a:pt x="676275" y="0"/>
                  </a:moveTo>
                  <a:lnTo>
                    <a:pt x="0" y="8458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885950" y="2791778"/>
              <a:ext cx="676275" cy="845820"/>
            </a:xfrm>
            <a:custGeom>
              <a:avLst/>
              <a:gdLst/>
              <a:ahLst/>
              <a:cxnLst/>
              <a:rect l="l" t="t" r="r" b="b"/>
              <a:pathLst>
                <a:path w="676275" h="845820">
                  <a:moveTo>
                    <a:pt x="0" y="0"/>
                  </a:moveTo>
                  <a:lnTo>
                    <a:pt x="676275" y="8458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914775" y="2791778"/>
              <a:ext cx="676275" cy="845820"/>
            </a:xfrm>
            <a:custGeom>
              <a:avLst/>
              <a:gdLst/>
              <a:ahLst/>
              <a:cxnLst/>
              <a:rect l="l" t="t" r="r" b="b"/>
              <a:pathLst>
                <a:path w="676275" h="845820">
                  <a:moveTo>
                    <a:pt x="676275" y="0"/>
                  </a:moveTo>
                  <a:lnTo>
                    <a:pt x="0" y="8458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591050" y="2791778"/>
              <a:ext cx="676275" cy="845820"/>
            </a:xfrm>
            <a:custGeom>
              <a:avLst/>
              <a:gdLst/>
              <a:ahLst/>
              <a:cxnLst/>
              <a:rect l="l" t="t" r="r" b="b"/>
              <a:pathLst>
                <a:path w="676275" h="845820">
                  <a:moveTo>
                    <a:pt x="0" y="0"/>
                  </a:moveTo>
                  <a:lnTo>
                    <a:pt x="676275" y="8458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85950" y="1946910"/>
              <a:ext cx="1352550" cy="844868"/>
            </a:xfrm>
            <a:custGeom>
              <a:avLst/>
              <a:gdLst/>
              <a:ahLst/>
              <a:cxnLst/>
              <a:rect l="l" t="t" r="r" b="b"/>
              <a:pathLst>
                <a:path w="1352550" h="844868">
                  <a:moveTo>
                    <a:pt x="1352550" y="0"/>
                  </a:moveTo>
                  <a:lnTo>
                    <a:pt x="0" y="84486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38500" y="1946910"/>
              <a:ext cx="1352550" cy="844868"/>
            </a:xfrm>
            <a:custGeom>
              <a:avLst/>
              <a:gdLst/>
              <a:ahLst/>
              <a:cxnLst/>
              <a:rect l="l" t="t" r="r" b="b"/>
              <a:pathLst>
                <a:path w="1352550" h="844868">
                  <a:moveTo>
                    <a:pt x="0" y="0"/>
                  </a:moveTo>
                  <a:lnTo>
                    <a:pt x="1352550" y="84486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61988" y="427291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338262" y="427291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000125" y="3428048"/>
              <a:ext cx="419100" cy="4191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014538" y="427291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352675" y="342804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676400" y="25822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705225" y="342804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5057775" y="342804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381500" y="258222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28950" y="173736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0396" y="442198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66671" y="442198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28534" y="357711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42946" y="442198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481084" y="357711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04809" y="273129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33634" y="357711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24278" y="357711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09909" y="273129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57359" y="188642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  <p:grpSp>
        <p:nvGrpSpPr>
          <p:cNvPr id="70" name="c1-cells-2"/>
          <p:cNvGrpSpPr/>
          <p:nvPr/>
        </p:nvGrpSpPr>
        <p:grpSpPr>
          <a:xfrm>
            <a:off x="528447" y="5095875"/>
            <a:ext cx="4819841" cy="634841"/>
            <a:chOff x="528447" y="5095875"/>
            <a:chExt cx="4819841" cy="634841"/>
          </a:xfrm>
        </p:grpSpPr>
        <p:sp>
          <p:nvSpPr>
            <p:cNvPr id="37" name="TextBox 37"/>
            <p:cNvSpPr txBox="1"/>
            <p:nvPr/>
          </p:nvSpPr>
          <p:spPr>
            <a:xfrm>
              <a:off x="528447" y="524494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38188" y="509587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1157288" y="50958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285696" y="52449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576388" y="50958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704796" y="52449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995488" y="50958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123896" y="52449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414588" y="509587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542996" y="52449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833688" y="50958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962096" y="52449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252788" y="50958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381196" y="52449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671888" y="50958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838390" y="524494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090988" y="50958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219396" y="52449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4510088" y="50958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638496" y="52449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929188" y="509587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057596" y="524494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2618" y="5568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31718" y="5568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750818" y="5568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169918" y="5568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589018" y="5568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008118" y="5568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3427218" y="5568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846318" y="5568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265418" y="5568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684518" y="55687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073261" y="55687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82" name="c2-card-1"/>
          <p:cNvGrpSpPr/>
          <p:nvPr/>
        </p:nvGrpSpPr>
        <p:grpSpPr>
          <a:xfrm>
            <a:off x="6248400" y="1524000"/>
            <a:ext cx="5410200" cy="2577465"/>
            <a:chOff x="6248400" y="1524000"/>
            <a:chExt cx="5410200" cy="2577465"/>
          </a:xfrm>
        </p:grpSpPr>
        <p:sp>
          <p:nvSpPr>
            <p:cNvPr id="71" name="Rectangle 71"/>
            <p:cNvSpPr/>
            <p:nvPr/>
          </p:nvSpPr>
          <p:spPr>
            <a:xfrm>
              <a:off x="6248400" y="1524000"/>
              <a:ext cx="5410200" cy="2577465"/>
            </a:xfrm>
            <a:prstGeom prst="roundRect">
              <a:avLst>
                <a:gd name="adj" fmla="val 5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57925" y="1657350"/>
              <a:ext cx="47625" cy="23107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496050" y="1733550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91160" y="176926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6954202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在数组上做一次换算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501765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659880" y="2129790"/>
              <a:ext cx="4415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 存在 T[4]，左孩子在 T[2×4] = T[8] = 70，右孩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子在 T[9] = 62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501765" y="2813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659880" y="2750820"/>
              <a:ext cx="4339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66 的父结点在 T[⌊4/2⌋] = T[2] = 23，回到树上看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完全吻合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501765" y="34347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659880" y="337185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49 存在 T[10]，父结点 T[5] = 94；T[20]、T[21] 越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界，说明 49 是叶结点</a:t>
              </a:r>
            </a:p>
          </p:txBody>
        </p:sp>
      </p:grpSp>
      <p:grpSp>
        <p:nvGrpSpPr>
          <p:cNvPr id="101" name="c2-cells-2"/>
          <p:cNvGrpSpPr/>
          <p:nvPr/>
        </p:nvGrpSpPr>
        <p:grpSpPr>
          <a:xfrm>
            <a:off x="6243066" y="4291965"/>
            <a:ext cx="2730436" cy="634841"/>
            <a:chOff x="6243066" y="4291965"/>
            <a:chExt cx="2730436" cy="634841"/>
          </a:xfrm>
        </p:grpSpPr>
        <p:sp>
          <p:nvSpPr>
            <p:cNvPr id="83" name="TextBox 83"/>
            <p:cNvSpPr txBox="1"/>
            <p:nvPr/>
          </p:nvSpPr>
          <p:spPr>
            <a:xfrm>
              <a:off x="6243066" y="443579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6458902" y="429196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878002" y="42919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039093" y="443579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7297102" y="42919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458193" y="443579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7716202" y="42919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877293" y="443579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8135302" y="42919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296393" y="443579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8554402" y="42919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715493" y="443579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633333" y="47648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052433" y="47648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471533" y="47648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7890633" y="47648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309733" y="47648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8728833" y="47648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108" name="c2-callout-3"/>
          <p:cNvGrpSpPr/>
          <p:nvPr/>
        </p:nvGrpSpPr>
        <p:grpSpPr>
          <a:xfrm>
            <a:off x="6248400" y="5082540"/>
            <a:ext cx="5410200" cy="1059180"/>
            <a:chOff x="6248400" y="5082540"/>
            <a:chExt cx="5410200" cy="1059180"/>
          </a:xfrm>
        </p:grpSpPr>
        <p:sp>
          <p:nvSpPr>
            <p:cNvPr id="102" name="Rectangle 102"/>
            <p:cNvSpPr/>
            <p:nvPr/>
          </p:nvSpPr>
          <p:spPr>
            <a:xfrm>
              <a:off x="6248400" y="5082540"/>
              <a:ext cx="5410200" cy="1059180"/>
            </a:xfrm>
            <a:prstGeom prst="roundRect">
              <a:avLst>
                <a:gd name="adj" fmla="val 1079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6" name="Group 106"/>
            <p:cNvGrpSpPr/>
            <p:nvPr/>
          </p:nvGrpSpPr>
          <p:grpSpPr>
            <a:xfrm>
              <a:off x="6453188" y="5512118"/>
              <a:ext cx="200026" cy="200025"/>
              <a:chOff x="6453188" y="5512118"/>
              <a:chExt cx="200026" cy="200025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6453188" y="55121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6492926" y="55565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6527642" y="56676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7" name="TextBox 107"/>
            <p:cNvSpPr txBox="1"/>
            <p:nvPr/>
          </p:nvSpPr>
          <p:spPr>
            <a:xfrm>
              <a:off x="6755130" y="5231130"/>
              <a:ext cx="446341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上面这行是另一棵树 A(左 B，右 E)、B 的两个孩子 C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和 D 的存法。数组里挨着的两格，在树上不一定挨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着。</a:t>
              </a:r>
            </a:p>
          </p:txBody>
        </p:sp>
      </p:grpSp>
      <p:grpSp>
        <p:nvGrpSpPr>
          <p:cNvPr id="11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9" name="TextBox 10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非完全二叉树也能顺序存，但浪费得厉害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tree-1"/>
          <p:cNvGrpSpPr/>
          <p:nvPr/>
        </p:nvGrpSpPr>
        <p:grpSpPr>
          <a:xfrm>
            <a:off x="2506980" y="1636395"/>
            <a:ext cx="2274570" cy="2202180"/>
            <a:chOff x="2506980" y="1636395"/>
            <a:chExt cx="2274570" cy="2202180"/>
          </a:xfrm>
        </p:grpSpPr>
        <p:sp>
          <p:nvSpPr>
            <p:cNvPr id="7" name="Freeform 7"/>
            <p:cNvSpPr/>
            <p:nvPr/>
          </p:nvSpPr>
          <p:spPr>
            <a:xfrm>
              <a:off x="4320540" y="3040380"/>
              <a:ext cx="270510" cy="607695"/>
            </a:xfrm>
            <a:custGeom>
              <a:avLst/>
              <a:gdLst/>
              <a:ahLst/>
              <a:cxnLst/>
              <a:rect l="l" t="t" r="r" b="b"/>
              <a:pathLst>
                <a:path w="270510" h="607695">
                  <a:moveTo>
                    <a:pt x="0" y="0"/>
                  </a:moveTo>
                  <a:lnTo>
                    <a:pt x="270510" y="6076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779520" y="2434590"/>
              <a:ext cx="541020" cy="605790"/>
            </a:xfrm>
            <a:custGeom>
              <a:avLst/>
              <a:gdLst/>
              <a:ahLst/>
              <a:cxnLst/>
              <a:rect l="l" t="t" r="r" b="b"/>
              <a:pathLst>
                <a:path w="541020" h="605790">
                  <a:moveTo>
                    <a:pt x="0" y="0"/>
                  </a:moveTo>
                  <a:lnTo>
                    <a:pt x="541020" y="6057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697480" y="1826895"/>
              <a:ext cx="1082040" cy="607695"/>
            </a:xfrm>
            <a:custGeom>
              <a:avLst/>
              <a:gdLst/>
              <a:ahLst/>
              <a:cxnLst/>
              <a:rect l="l" t="t" r="r" b="b"/>
              <a:pathLst>
                <a:path w="1082040" h="607695">
                  <a:moveTo>
                    <a:pt x="0" y="0"/>
                  </a:moveTo>
                  <a:lnTo>
                    <a:pt x="1082040" y="6076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4400550" y="345757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4130040" y="284988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3589020" y="224409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2506980" y="163639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545847" y="358663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75337" y="297989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34317" y="23731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52277" y="176641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126230"/>
            <a:ext cx="4328160" cy="1852612"/>
            <a:chOff x="533400" y="4126230"/>
            <a:chExt cx="4328160" cy="1852612"/>
          </a:xfrm>
        </p:grpSpPr>
        <p:sp>
          <p:nvSpPr>
            <p:cNvPr id="19" name="Rectangle 19"/>
            <p:cNvSpPr/>
            <p:nvPr/>
          </p:nvSpPr>
          <p:spPr>
            <a:xfrm>
              <a:off x="533400" y="4126230"/>
              <a:ext cx="4328160" cy="1852612"/>
            </a:xfrm>
            <a:prstGeom prst="roundRect">
              <a:avLst>
                <a:gd name="adj" fmla="val 617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952048"/>
              <a:ext cx="200026" cy="200026"/>
              <a:chOff x="738188" y="4952048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9520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50187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50520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4833937"/>
              <a:ext cx="34341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四个结点全是右孩子，编号依次是 1、3、7、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15。</a:t>
              </a:r>
            </a:p>
          </p:txBody>
        </p:sp>
      </p:grpSp>
      <p:grpSp>
        <p:nvGrpSpPr>
          <p:cNvPr id="63" name="c2-cells-1"/>
          <p:cNvGrpSpPr/>
          <p:nvPr/>
        </p:nvGrpSpPr>
        <p:grpSpPr>
          <a:xfrm>
            <a:off x="5161598" y="1524000"/>
            <a:ext cx="6497002" cy="596741"/>
            <a:chOff x="5161598" y="1524000"/>
            <a:chExt cx="6497002" cy="596741"/>
          </a:xfrm>
        </p:grpSpPr>
        <p:sp>
          <p:nvSpPr>
            <p:cNvPr id="26" name="TextBox 26"/>
            <p:cNvSpPr txBox="1"/>
            <p:nvPr/>
          </p:nvSpPr>
          <p:spPr>
            <a:xfrm>
              <a:off x="5161598" y="165830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65432" y="1524000"/>
              <a:ext cx="39338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5758815" y="1524000"/>
              <a:ext cx="39338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14255" y="165830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152198" y="1524000"/>
              <a:ext cx="39338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545580" y="1524000"/>
              <a:ext cx="39338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701020" y="165830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938962" y="1524000"/>
              <a:ext cx="39338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7332345" y="1524000"/>
              <a:ext cx="39338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725728" y="1524000"/>
              <a:ext cx="39338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119110" y="1524000"/>
              <a:ext cx="39338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73598" y="165830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12492" y="1524000"/>
              <a:ext cx="39338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8905875" y="1524000"/>
              <a:ext cx="39338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9298305" y="1524000"/>
              <a:ext cx="39338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691688" y="1524000"/>
              <a:ext cx="39338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085070" y="1524000"/>
              <a:ext cx="39338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478452" y="1524000"/>
              <a:ext cx="39338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0871835" y="1524000"/>
              <a:ext cx="393382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1265218" y="1524000"/>
              <a:ext cx="393382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420658" y="165830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2748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92086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14246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07628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00058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9344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8682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280206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673588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66971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29996" y="19588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23379" y="19588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16761" y="19588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610144" y="19588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003526" y="19588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396909" y="195881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  <p:grpSp>
        <p:nvGrpSpPr>
          <p:cNvPr id="89" name="c2-table-2"/>
          <p:cNvGrpSpPr/>
          <p:nvPr/>
        </p:nvGrpSpPr>
        <p:grpSpPr>
          <a:xfrm>
            <a:off x="5166360" y="2261235"/>
            <a:ext cx="6492240" cy="1623060"/>
            <a:chOff x="5166360" y="2261235"/>
            <a:chExt cx="6492240" cy="1623060"/>
          </a:xfrm>
        </p:grpSpPr>
        <p:sp>
          <p:nvSpPr>
            <p:cNvPr id="64" name="Rectangle 64"/>
            <p:cNvSpPr/>
            <p:nvPr/>
          </p:nvSpPr>
          <p:spPr>
            <a:xfrm>
              <a:off x="5166360" y="2261235"/>
              <a:ext cx="649224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560341" y="2385536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单支树高度 k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271918" y="238553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604047" y="238553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数组至少要开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582808" y="238553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利用率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266372" y="27913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54202" y="279130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52460" y="279130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070783" y="2791301"/>
              <a:ext cx="4562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26.7%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166360" y="3068002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5166360" y="3072765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266372" y="31970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954202" y="319706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252460" y="319706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070783" y="3197066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9.5%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166360" y="347376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266372" y="3602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6954202" y="36028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252460" y="36028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255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9980295" y="3488055"/>
              <a:ext cx="1668780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0070783" y="3602831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3.1%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166360" y="2261235"/>
              <a:ext cx="649224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6849428" y="226123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8147685" y="226123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9966008" y="226123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8" name="c2-card-3"/>
          <p:cNvGrpSpPr/>
          <p:nvPr/>
        </p:nvGrpSpPr>
        <p:grpSpPr>
          <a:xfrm>
            <a:off x="5166360" y="4059555"/>
            <a:ext cx="6492240" cy="1254442"/>
            <a:chOff x="5166360" y="4059555"/>
            <a:chExt cx="6492240" cy="1254442"/>
          </a:xfrm>
        </p:grpSpPr>
        <p:sp>
          <p:nvSpPr>
            <p:cNvPr id="90" name="Rectangle 90"/>
            <p:cNvSpPr/>
            <p:nvPr/>
          </p:nvSpPr>
          <p:spPr>
            <a:xfrm>
              <a:off x="5166360" y="4059555"/>
              <a:ext cx="6492240" cy="1254442"/>
            </a:xfrm>
            <a:prstGeom prst="roundRect">
              <a:avLst>
                <a:gd name="adj" fmla="val 106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5175885" y="4192905"/>
              <a:ext cx="47625" cy="9877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5396865" y="4251960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5472303" y="42862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两条都要记住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5405438" y="466439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561457" y="4608195"/>
              <a:ext cx="52659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高度为 k 的单支树只有 k+1 个结点，却要占 2ᵏ⁺¹ − 1 个存储单元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5405438" y="496728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5561457" y="4911090"/>
              <a:ext cx="5267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若改成把 A B C D 连续存放来省空间，父子关系就再也读不出来了</a:t>
              </a:r>
            </a:p>
          </p:txBody>
        </p:sp>
      </p:grpSp>
      <p:grpSp>
        <p:nvGrpSpPr>
          <p:cNvPr id="104" name="c2-callout-4"/>
          <p:cNvGrpSpPr/>
          <p:nvPr/>
        </p:nvGrpSpPr>
        <p:grpSpPr>
          <a:xfrm>
            <a:off x="5166360" y="5489258"/>
            <a:ext cx="6492240" cy="488632"/>
            <a:chOff x="5166360" y="5489258"/>
            <a:chExt cx="6492240" cy="488632"/>
          </a:xfrm>
        </p:grpSpPr>
        <p:sp>
          <p:nvSpPr>
            <p:cNvPr id="99" name="Rectangle 99"/>
            <p:cNvSpPr/>
            <p:nvPr/>
          </p:nvSpPr>
          <p:spPr>
            <a:xfrm>
              <a:off x="5166360" y="5489258"/>
              <a:ext cx="649224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5371148" y="5634040"/>
              <a:ext cx="200023" cy="200023"/>
              <a:chOff x="5371148" y="5634040"/>
              <a:chExt cx="200023" cy="200023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5371148" y="563404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5504498" y="57007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5673852" y="5639752"/>
              <a:ext cx="5774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顺序存储适合完全二叉树和后面第 18 讲的堆，一般二叉树用链接存储。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015967" cy="909257"/>
            <a:chOff x="520446" y="342900"/>
            <a:chExt cx="701596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0159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二叉链表：三个域，而且必然有 n+1 个空指针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1450658"/>
            <a:chOff x="533400" y="1524000"/>
            <a:chExt cx="5626418" cy="1450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450658"/>
            </a:xfrm>
            <a:prstGeom prst="roundRect">
              <a:avLst>
                <a:gd name="adj" fmla="val 656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二叉树结点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416" y="1937385"/>
              <a:ext cx="3044380" cy="9635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数据域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*left;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左指针，指向左孩子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*right;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右指针，指向右孩子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18" name="c1-cells-2"/>
          <p:cNvGrpSpPr/>
          <p:nvPr/>
        </p:nvGrpSpPr>
        <p:grpSpPr>
          <a:xfrm>
            <a:off x="528447" y="3154680"/>
            <a:ext cx="2109979" cy="394335"/>
            <a:chOff x="528447" y="3154680"/>
            <a:chExt cx="2109979" cy="394335"/>
          </a:xfrm>
        </p:grpSpPr>
        <p:sp>
          <p:nvSpPr>
            <p:cNvPr id="11" name="TextBox 11"/>
            <p:cNvSpPr txBox="1"/>
            <p:nvPr/>
          </p:nvSpPr>
          <p:spPr>
            <a:xfrm>
              <a:off x="528447" y="3291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15352" y="3154680"/>
              <a:ext cx="57435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62994" y="3291364"/>
              <a:ext cx="2800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489710" y="3154680"/>
              <a:ext cx="57435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20036" y="3291364"/>
              <a:ext cx="3146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64068" y="3154680"/>
              <a:ext cx="574358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73615" y="3291364"/>
              <a:ext cx="3562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right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3729038"/>
            <a:ext cx="5626418" cy="2585085"/>
            <a:chOff x="533400" y="3729038"/>
            <a:chExt cx="5626418" cy="2585085"/>
          </a:xfrm>
        </p:grpSpPr>
        <p:sp>
          <p:nvSpPr>
            <p:cNvPr id="19" name="Rectangle 19"/>
            <p:cNvSpPr/>
            <p:nvPr/>
          </p:nvSpPr>
          <p:spPr>
            <a:xfrm>
              <a:off x="533400" y="3729038"/>
              <a:ext cx="5626418" cy="2585085"/>
            </a:xfrm>
            <a:prstGeom prst="roundRect">
              <a:avLst>
                <a:gd name="adj" fmla="val 51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542925" y="3862388"/>
              <a:ext cx="47625" cy="23183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9620" y="392715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3059" y="396144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写法说明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381" y="4287679"/>
              <a:ext cx="486562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源课件直接写 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TreeNode *left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，这是 C++ 写法。标准 C 里要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写成 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typedef struct TreeNode { … } TreeNode;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TreeNode*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才合法。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464618" y="1524000"/>
            <a:ext cx="5193982" cy="2040255"/>
            <a:chOff x="6464618" y="1524000"/>
            <a:chExt cx="5193982" cy="2040255"/>
          </a:xfrm>
        </p:grpSpPr>
        <p:sp>
          <p:nvSpPr>
            <p:cNvPr id="25" name="Rectangle 25"/>
            <p:cNvSpPr/>
            <p:nvPr/>
          </p:nvSpPr>
          <p:spPr>
            <a:xfrm>
              <a:off x="6464618" y="1524000"/>
              <a:ext cx="5193982" cy="204025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74142" y="1657350"/>
              <a:ext cx="47625" cy="17735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700838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92278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84148" y="175688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二叉链表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93598" y="2100739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各结点随机存放在内存中，结点之间的关系用指针表达：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左指针指向左子结点，右指针指向右子结点，没有孩子就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置空。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94742" y="2957512"/>
              <a:ext cx="44698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源课件的 ADL 记法：Left(t)、Data(t)、Right(t)，分别取 t 的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左指针、数据和右指针。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464618" y="3744278"/>
            <a:ext cx="5193982" cy="1632585"/>
            <a:chOff x="6464618" y="3744278"/>
            <a:chExt cx="5193982" cy="1632585"/>
          </a:xfrm>
        </p:grpSpPr>
        <p:sp>
          <p:nvSpPr>
            <p:cNvPr id="33" name="Rectangle 33"/>
            <p:cNvSpPr/>
            <p:nvPr/>
          </p:nvSpPr>
          <p:spPr>
            <a:xfrm>
              <a:off x="6464618" y="3744278"/>
              <a:ext cx="5193982" cy="1632585"/>
            </a:xfrm>
            <a:prstGeom prst="roundRect">
              <a:avLst>
                <a:gd name="adj" fmla="val 816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4142" y="3877628"/>
              <a:ext cx="47625" cy="136588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700838" y="394239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88277" y="397668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数一数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17498" y="3978116"/>
              <a:ext cx="18042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空指针恰好有 n+1 个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01790" y="4309110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60135" y="434849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91731" y="4321016"/>
              <a:ext cx="241354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个结点共有 2n 个指针域；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701790" y="462629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60135" y="466663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91731" y="4639151"/>
              <a:ext cx="36943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树上有 n−1 条边，每条边用掉一个指针域；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701790" y="494442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60135" y="498476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91731" y="4956334"/>
              <a:ext cx="27542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空指针 = 2n − (n−1) =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n+1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个。</a:t>
              </a:r>
            </a:p>
          </p:txBody>
        </p:sp>
      </p:grpSp>
      <p:grpSp>
        <p:nvGrpSpPr>
          <p:cNvPr id="54" name="c2-callout-3"/>
          <p:cNvGrpSpPr/>
          <p:nvPr/>
        </p:nvGrpSpPr>
        <p:grpSpPr>
          <a:xfrm>
            <a:off x="6464618" y="5557838"/>
            <a:ext cx="5193982" cy="756285"/>
            <a:chOff x="6464618" y="5557838"/>
            <a:chExt cx="5193982" cy="756285"/>
          </a:xfrm>
        </p:grpSpPr>
        <p:sp>
          <p:nvSpPr>
            <p:cNvPr id="48" name="Rectangle 48"/>
            <p:cNvSpPr/>
            <p:nvPr/>
          </p:nvSpPr>
          <p:spPr>
            <a:xfrm>
              <a:off x="6464618" y="5557838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669405" y="5835968"/>
              <a:ext cx="200026" cy="200025"/>
              <a:chOff x="6669405" y="5835968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669405" y="583596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709144" y="588041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743859" y="599154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971729" y="5704999"/>
              <a:ext cx="4234434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这 n+1 个空指针在第 9 讲会被利用起来，改存前驱和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后继，就是线索二叉树。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一棵七个结点的树，它的二叉链表长这样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ree-1"/>
          <p:cNvGrpSpPr/>
          <p:nvPr/>
        </p:nvGrpSpPr>
        <p:grpSpPr>
          <a:xfrm>
            <a:off x="903922" y="1595438"/>
            <a:ext cx="2099311" cy="2543175"/>
            <a:chOff x="903922" y="1595438"/>
            <a:chExt cx="2099311" cy="2543175"/>
          </a:xfrm>
        </p:grpSpPr>
        <p:sp>
          <p:nvSpPr>
            <p:cNvPr id="7" name="Freeform 7"/>
            <p:cNvSpPr/>
            <p:nvPr/>
          </p:nvSpPr>
          <p:spPr>
            <a:xfrm>
              <a:off x="1953578" y="3404235"/>
              <a:ext cx="141923" cy="537210"/>
            </a:xfrm>
            <a:custGeom>
              <a:avLst/>
              <a:gdLst/>
              <a:ahLst/>
              <a:cxnLst/>
              <a:rect l="l" t="t" r="r" b="b"/>
              <a:pathLst>
                <a:path w="141923" h="537210">
                  <a:moveTo>
                    <a:pt x="0" y="0"/>
                  </a:moveTo>
                  <a:lnTo>
                    <a:pt x="141923" y="5372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953578" y="2867025"/>
              <a:ext cx="283845" cy="537210"/>
            </a:xfrm>
            <a:custGeom>
              <a:avLst/>
              <a:gdLst/>
              <a:ahLst/>
              <a:cxnLst/>
              <a:rect l="l" t="t" r="r" b="b"/>
              <a:pathLst>
                <a:path w="283845" h="537210">
                  <a:moveTo>
                    <a:pt x="283845" y="0"/>
                  </a:moveTo>
                  <a:lnTo>
                    <a:pt x="0" y="5372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237422" y="2867025"/>
              <a:ext cx="283845" cy="537210"/>
            </a:xfrm>
            <a:custGeom>
              <a:avLst/>
              <a:gdLst/>
              <a:ahLst/>
              <a:cxnLst/>
              <a:rect l="l" t="t" r="r" b="b"/>
              <a:pathLst>
                <a:path w="283845" h="537210">
                  <a:moveTo>
                    <a:pt x="0" y="0"/>
                  </a:moveTo>
                  <a:lnTo>
                    <a:pt x="283845" y="5372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101090" y="2329815"/>
              <a:ext cx="568643" cy="537210"/>
            </a:xfrm>
            <a:custGeom>
              <a:avLst/>
              <a:gdLst/>
              <a:ahLst/>
              <a:cxnLst/>
              <a:rect l="l" t="t" r="r" b="b"/>
              <a:pathLst>
                <a:path w="568643" h="537210">
                  <a:moveTo>
                    <a:pt x="568643" y="0"/>
                  </a:moveTo>
                  <a:lnTo>
                    <a:pt x="0" y="5372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69732" y="2329815"/>
              <a:ext cx="567690" cy="537210"/>
            </a:xfrm>
            <a:custGeom>
              <a:avLst/>
              <a:gdLst/>
              <a:ahLst/>
              <a:cxnLst/>
              <a:rect l="l" t="t" r="r" b="b"/>
              <a:pathLst>
                <a:path w="567690" h="537210">
                  <a:moveTo>
                    <a:pt x="0" y="0"/>
                  </a:moveTo>
                  <a:lnTo>
                    <a:pt x="567690" y="5372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69732" y="1792605"/>
              <a:ext cx="1136332" cy="537210"/>
            </a:xfrm>
            <a:custGeom>
              <a:avLst/>
              <a:gdLst/>
              <a:ahLst/>
              <a:cxnLst/>
              <a:rect l="l" t="t" r="r" b="b"/>
              <a:pathLst>
                <a:path w="1136332" h="537210">
                  <a:moveTo>
                    <a:pt x="1136332" y="0"/>
                  </a:moveTo>
                  <a:lnTo>
                    <a:pt x="0" y="5372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903922" y="2669858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898332" y="3744278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756410" y="3207068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324100" y="3207068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040255" y="2669858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472565" y="2132648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608898" y="1595438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55887" y="280654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50297" y="388096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08374" y="334375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476064" y="334375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192219" y="280654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24529" y="226933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60862" y="17321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4390072"/>
            <a:ext cx="4544378" cy="756285"/>
            <a:chOff x="533400" y="4390072"/>
            <a:chExt cx="4544378" cy="756285"/>
          </a:xfrm>
        </p:grpSpPr>
        <p:sp>
          <p:nvSpPr>
            <p:cNvPr id="28" name="Rectangle 28"/>
            <p:cNvSpPr/>
            <p:nvPr/>
          </p:nvSpPr>
          <p:spPr>
            <a:xfrm>
              <a:off x="533400" y="4390072"/>
              <a:ext cx="4544378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4668203"/>
              <a:ext cx="200026" cy="200026"/>
              <a:chOff x="738188" y="4668203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46682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47348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47682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511" y="4537234"/>
              <a:ext cx="3540125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没有右孩子，E 只有右孩子 G，画链表时这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些位置都写成空指针。</a:t>
              </a:r>
            </a:p>
          </p:txBody>
        </p:sp>
      </p:grpSp>
      <p:grpSp>
        <p:nvGrpSpPr>
          <p:cNvPr id="81" name="c2-table-1"/>
          <p:cNvGrpSpPr/>
          <p:nvPr/>
        </p:nvGrpSpPr>
        <p:grpSpPr>
          <a:xfrm>
            <a:off x="5382578" y="1524000"/>
            <a:ext cx="6276022" cy="3395662"/>
            <a:chOff x="5382578" y="1524000"/>
            <a:chExt cx="6276022" cy="3395662"/>
          </a:xfrm>
        </p:grpSpPr>
        <p:sp>
          <p:nvSpPr>
            <p:cNvPr id="35" name="Rectangle 35"/>
            <p:cNvSpPr/>
            <p:nvPr/>
          </p:nvSpPr>
          <p:spPr>
            <a:xfrm>
              <a:off x="5382578" y="1524000"/>
              <a:ext cx="6276022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71690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28663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左指针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09788" y="1652588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右指针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35565" y="165258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85066" y="207645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89002" y="207645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70126" y="207645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250299" y="20764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根结点，无右孩子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82578" y="236791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382578" y="2372678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485066" y="250126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89002" y="250126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70126" y="250126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50299" y="250126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两个孩子都在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382578" y="279273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485066" y="292608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89002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70126" y="292608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50299" y="292608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82578" y="32165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82578" y="3221355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485066" y="334994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89002" y="334994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70126" y="334994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50299" y="334994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两个孩子都在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82578" y="364140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485066" y="3774757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89002" y="3774757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870126" y="3774757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50299" y="3774757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只有右孩子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382578" y="40662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382578" y="4070985"/>
              <a:ext cx="6276022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485066" y="419862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89002" y="41986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870126" y="419862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250299" y="419862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382578" y="449008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485066" y="462343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489002" y="4623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70126" y="46234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∧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250299" y="46234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382578" y="1524000"/>
              <a:ext cx="6276022" cy="339566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381750" y="152400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762875" y="152400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9143048" y="1524000"/>
              <a:ext cx="9525" cy="339566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6" name="c2-card-2"/>
          <p:cNvGrpSpPr/>
          <p:nvPr/>
        </p:nvGrpSpPr>
        <p:grpSpPr>
          <a:xfrm>
            <a:off x="5382578" y="5099685"/>
            <a:ext cx="6276022" cy="1250632"/>
            <a:chOff x="5382578" y="5099685"/>
            <a:chExt cx="6276022" cy="1250632"/>
          </a:xfrm>
        </p:grpSpPr>
        <p:sp>
          <p:nvSpPr>
            <p:cNvPr id="82" name="Rectangle 82"/>
            <p:cNvSpPr/>
            <p:nvPr/>
          </p:nvSpPr>
          <p:spPr>
            <a:xfrm>
              <a:off x="5382578" y="5099685"/>
              <a:ext cx="6276022" cy="1250632"/>
            </a:xfrm>
            <a:prstGeom prst="roundRect">
              <a:avLst>
                <a:gd name="adj" fmla="val 106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5580698" y="5297805"/>
              <a:ext cx="14097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644134" y="5332095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用上一页的结论核对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573458" y="5658326"/>
              <a:ext cx="54927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n = 7，指针域 14 个，边 6 条，空指针 14 − 6 = </a:t>
              </a:r>
              <a:r>
                <a:rPr lang="zh-CN" sz="142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8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个，正是表里 ∧ 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个数，也等于 n+1。</a:t>
              </a:r>
            </a:p>
          </p:txBody>
        </p:sp>
      </p:grpSp>
      <p:grpSp>
        <p:nvGrpSpPr>
          <p:cNvPr id="8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7" name="TextBox 8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二叉树的存储结构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三叉链表：多存一个父指针，换来向上走的能力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ells-1"/>
          <p:cNvGrpSpPr/>
          <p:nvPr/>
        </p:nvGrpSpPr>
        <p:grpSpPr>
          <a:xfrm>
            <a:off x="528638" y="1524000"/>
            <a:ext cx="2941320" cy="381000"/>
            <a:chOff x="528638" y="1524000"/>
            <a:chExt cx="2941320" cy="381000"/>
          </a:xfrm>
        </p:grpSpPr>
        <p:sp>
          <p:nvSpPr>
            <p:cNvPr id="7" name="TextBox 7"/>
            <p:cNvSpPr txBox="1"/>
            <p:nvPr/>
          </p:nvSpPr>
          <p:spPr>
            <a:xfrm>
              <a:off x="528638" y="1658303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结点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95350" y="1524000"/>
              <a:ext cx="64389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0615" y="1658303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Left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39240" y="1524000"/>
              <a:ext cx="64389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14505" y="1658303"/>
              <a:ext cx="2933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83130" y="1524000"/>
              <a:ext cx="64389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288426" y="1658303"/>
              <a:ext cx="4332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Parent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826068" y="1524000"/>
              <a:ext cx="64389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982430" y="1658303"/>
              <a:ext cx="33116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Right</a:t>
              </a:r>
            </a:p>
          </p:txBody>
        </p:sp>
      </p:grpSp>
      <p:grpSp>
        <p:nvGrpSpPr>
          <p:cNvPr id="20" name="c1-code-2"/>
          <p:cNvGrpSpPr/>
          <p:nvPr/>
        </p:nvGrpSpPr>
        <p:grpSpPr>
          <a:xfrm>
            <a:off x="533400" y="2080260"/>
            <a:ext cx="4977765" cy="1640205"/>
            <a:chOff x="533400" y="2080260"/>
            <a:chExt cx="4977765" cy="1640205"/>
          </a:xfrm>
        </p:grpSpPr>
        <p:sp>
          <p:nvSpPr>
            <p:cNvPr id="17" name="Rectangle 17"/>
            <p:cNvSpPr/>
            <p:nvPr/>
          </p:nvSpPr>
          <p:spPr>
            <a:xfrm>
              <a:off x="533400" y="2080260"/>
              <a:ext cx="4977765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797" y="223218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三叉链表结点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1416" y="2493645"/>
              <a:ext cx="2244281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TriNode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data;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TriNode *left;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左孩子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TriNode *right;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右孩子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TriNode *parent;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父结点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27" name="c1-callout-3"/>
          <p:cNvGrpSpPr/>
          <p:nvPr/>
        </p:nvGrpSpPr>
        <p:grpSpPr>
          <a:xfrm>
            <a:off x="533400" y="3895725"/>
            <a:ext cx="4977765" cy="729615"/>
            <a:chOff x="533400" y="3895725"/>
            <a:chExt cx="4977765" cy="729615"/>
          </a:xfrm>
        </p:grpSpPr>
        <p:sp>
          <p:nvSpPr>
            <p:cNvPr id="21" name="Rectangle 21"/>
            <p:cNvSpPr/>
            <p:nvPr/>
          </p:nvSpPr>
          <p:spPr>
            <a:xfrm>
              <a:off x="533400" y="3895725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8188" y="4160520"/>
              <a:ext cx="200026" cy="200026"/>
              <a:chOff x="738188" y="4160520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41605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38200" y="42271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27088" y="42605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040892" y="4041458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二叉链表里找父结点要从根重新遍历一遍，三叉链表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一步就到。</a:t>
              </a:r>
            </a:p>
          </p:txBody>
        </p:sp>
      </p:grpSp>
      <p:grpSp>
        <p:nvGrpSpPr>
          <p:cNvPr id="52" name="c2-table-1"/>
          <p:cNvGrpSpPr/>
          <p:nvPr/>
        </p:nvGrpSpPr>
        <p:grpSpPr>
          <a:xfrm>
            <a:off x="5815965" y="1524000"/>
            <a:ext cx="5842635" cy="2023110"/>
            <a:chOff x="5815965" y="1524000"/>
            <a:chExt cx="5842635" cy="2023110"/>
          </a:xfrm>
        </p:grpSpPr>
        <p:sp>
          <p:nvSpPr>
            <p:cNvPr id="28" name="Rectangle 28"/>
            <p:cNvSpPr/>
            <p:nvPr/>
          </p:nvSpPr>
          <p:spPr>
            <a:xfrm>
              <a:off x="5815965" y="1524000"/>
              <a:ext cx="584263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15068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存储方式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78331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找左右孩子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7295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找父结点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59219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空间开销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915978" y="21540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200900" y="2154079"/>
              <a:ext cx="893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算下标 O(1)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20138" y="2154079"/>
              <a:ext cx="893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算下标 O(1)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39375" y="2054066"/>
              <a:ext cx="114935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只存数据域，非完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全二叉树浪费大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815965" y="25307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15965" y="2535555"/>
              <a:ext cx="584263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15978" y="27598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二叉链表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00900" y="2759869"/>
              <a:ext cx="893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取指针 O(1)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20138" y="2759869"/>
              <a:ext cx="1033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从根遍历 O(n)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39375" y="2659856"/>
              <a:ext cx="11706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每结点 2 个指针，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空指针 n+1 个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815965" y="31365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15978" y="32656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三叉链表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00900" y="3265646"/>
              <a:ext cx="893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取指针 O(1)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20138" y="3265646"/>
              <a:ext cx="8938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取指针 O(1)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239375" y="326564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每结点 3 个指针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815965" y="1524000"/>
              <a:ext cx="5842635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096125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615362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134600" y="1524000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2"/>
          <p:cNvGrpSpPr/>
          <p:nvPr/>
        </p:nvGrpSpPr>
        <p:grpSpPr>
          <a:xfrm>
            <a:off x="5815965" y="3722370"/>
            <a:ext cx="5842635" cy="1254442"/>
            <a:chOff x="5815965" y="3722370"/>
            <a:chExt cx="5842635" cy="1254442"/>
          </a:xfrm>
        </p:grpSpPr>
        <p:sp>
          <p:nvSpPr>
            <p:cNvPr id="53" name="Rectangle 53"/>
            <p:cNvSpPr/>
            <p:nvPr/>
          </p:nvSpPr>
          <p:spPr>
            <a:xfrm>
              <a:off x="5815965" y="3722370"/>
              <a:ext cx="5842635" cy="1254442"/>
            </a:xfrm>
            <a:prstGeom prst="roundRect">
              <a:avLst>
                <a:gd name="adj" fmla="val 106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5825490" y="3855720"/>
              <a:ext cx="47625" cy="98774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46470" y="391477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21908" y="394906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复杂度的前提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055042" y="432720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211062" y="4271010"/>
              <a:ext cx="4951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顺序存储的 O(1) 只在按完全二叉树编号、下标不越界时成立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055042" y="463010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11062" y="4573905"/>
              <a:ext cx="5299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二叉链表找父结点的 O(n) 是因为要遍历整棵树，和树的形状无关</a:t>
              </a:r>
            </a:p>
          </p:txBody>
        </p:sp>
      </p:grpSp>
      <p:grpSp>
        <p:nvGrpSpPr>
          <p:cNvPr id="67" name="c2-callout-3"/>
          <p:cNvGrpSpPr/>
          <p:nvPr/>
        </p:nvGrpSpPr>
        <p:grpSpPr>
          <a:xfrm>
            <a:off x="5815965" y="5152072"/>
            <a:ext cx="5842635" cy="729615"/>
            <a:chOff x="5815965" y="5152072"/>
            <a:chExt cx="5842635" cy="729615"/>
          </a:xfrm>
        </p:grpSpPr>
        <p:sp>
          <p:nvSpPr>
            <p:cNvPr id="62" name="Rectangle 62"/>
            <p:cNvSpPr/>
            <p:nvPr/>
          </p:nvSpPr>
          <p:spPr>
            <a:xfrm>
              <a:off x="5815965" y="5152072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6020753" y="5416870"/>
              <a:ext cx="200023" cy="200023"/>
              <a:chOff x="6020753" y="5416870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020753" y="54168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6154103" y="54835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6323457" y="5297805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本讲后面的算法一律按二叉链表来写，这也是教材和考研题的默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认存储结构。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6336792" cy="3351847"/>
            <a:chOff x="667512" y="1835468"/>
            <a:chExt cx="6336792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遍历：把一棵树摊成一个序列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三步里访问根的时机不同，就得到三种不同的序列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遍历的定义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先根、中根、后根三种次序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递归算法与复杂度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考研题怎么推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14894" cy="909257"/>
            <a:chOff x="520446" y="342900"/>
            <a:chExt cx="59148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遍历：把一棵树摊成一个序列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148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三种遍历的差别，只在“第几步访问根”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4760595" cy="1795462"/>
            <a:chOff x="533400" y="1524000"/>
            <a:chExt cx="4760595" cy="17954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795462"/>
            </a:xfrm>
            <a:prstGeom prst="roundRect">
              <a:avLst>
                <a:gd name="adj" fmla="val 742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2876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543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6744" y="1767364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二叉树的遍历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8096" y="211978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按照一定次序访问二叉树中的所有结点，并且每个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结点仅被访问一次。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9239" y="2707005"/>
              <a:ext cx="4126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空树什么都不做；非空时都分成访问根、遍历左子树、遍历右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子树这三步。</a:t>
              </a:r>
            </a:p>
          </p:txBody>
        </p:sp>
      </p:grpSp>
      <p:grpSp>
        <p:nvGrpSpPr>
          <p:cNvPr id="23" name="c1-tree-2"/>
          <p:cNvGrpSpPr/>
          <p:nvPr/>
        </p:nvGrpSpPr>
        <p:grpSpPr>
          <a:xfrm>
            <a:off x="1521142" y="3694748"/>
            <a:ext cx="2786063" cy="1190625"/>
            <a:chOff x="1521142" y="3694748"/>
            <a:chExt cx="2786063" cy="1190625"/>
          </a:xfrm>
        </p:grpSpPr>
        <p:sp>
          <p:nvSpPr>
            <p:cNvPr id="15" name="Freeform 15"/>
            <p:cNvSpPr/>
            <p:nvPr/>
          </p:nvSpPr>
          <p:spPr>
            <a:xfrm>
              <a:off x="1724025" y="3897630"/>
              <a:ext cx="1189672" cy="784860"/>
            </a:xfrm>
            <a:custGeom>
              <a:avLst/>
              <a:gdLst/>
              <a:ahLst/>
              <a:cxnLst/>
              <a:rect l="l" t="t" r="r" b="b"/>
              <a:pathLst>
                <a:path w="1189672" h="784860">
                  <a:moveTo>
                    <a:pt x="1189672" y="0"/>
                  </a:moveTo>
                  <a:lnTo>
                    <a:pt x="0" y="784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913698" y="3897630"/>
              <a:ext cx="1190625" cy="784860"/>
            </a:xfrm>
            <a:custGeom>
              <a:avLst/>
              <a:gdLst/>
              <a:ahLst/>
              <a:cxnLst/>
              <a:rect l="l" t="t" r="r" b="b"/>
              <a:pathLst>
                <a:path w="1190625" h="784860">
                  <a:moveTo>
                    <a:pt x="0" y="0"/>
                  </a:moveTo>
                  <a:lnTo>
                    <a:pt x="1190625" y="7848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521142" y="447960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901440" y="447960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710815" y="3694748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672310" y="46124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52607" y="46124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861982" y="382762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32" name="c1-kv-3"/>
          <p:cNvGrpSpPr/>
          <p:nvPr/>
        </p:nvGrpSpPr>
        <p:grpSpPr>
          <a:xfrm>
            <a:off x="526161" y="5283994"/>
            <a:ext cx="4767834" cy="1122617"/>
            <a:chOff x="526161" y="5283994"/>
            <a:chExt cx="4767834" cy="1122617"/>
          </a:xfrm>
        </p:grpSpPr>
        <p:sp>
          <p:nvSpPr>
            <p:cNvPr id="24" name="TextBox 24"/>
            <p:cNvSpPr txBox="1"/>
            <p:nvPr/>
          </p:nvSpPr>
          <p:spPr>
            <a:xfrm>
              <a:off x="526161" y="528399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先根序列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25334" y="5283994"/>
              <a:ext cx="4689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559022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6161" y="570595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中根序列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25334" y="5705951"/>
              <a:ext cx="4689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A C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601218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6161" y="612790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后根序列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25334" y="6127909"/>
              <a:ext cx="46893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 A</a:t>
              </a:r>
            </a:p>
          </p:txBody>
        </p:sp>
      </p:grpSp>
      <p:grpSp>
        <p:nvGrpSpPr>
          <p:cNvPr id="60" name="c2-table-1"/>
          <p:cNvGrpSpPr/>
          <p:nvPr/>
        </p:nvGrpSpPr>
        <p:grpSpPr>
          <a:xfrm>
            <a:off x="5598795" y="1524000"/>
            <a:ext cx="6059805" cy="1720215"/>
            <a:chOff x="5598795" y="1524000"/>
            <a:chExt cx="6059805" cy="1720215"/>
          </a:xfrm>
        </p:grpSpPr>
        <p:sp>
          <p:nvSpPr>
            <p:cNvPr id="33" name="Rectangle 33"/>
            <p:cNvSpPr/>
            <p:nvPr/>
          </p:nvSpPr>
          <p:spPr>
            <a:xfrm>
              <a:off x="5598795" y="1524000"/>
              <a:ext cx="605980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915978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87934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先根遍历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84336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中根遍历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80738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后根遍历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704142" y="208502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步骤一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577965" y="1964055"/>
              <a:ext cx="167735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673786" y="20850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访问根结点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71142" y="20850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中根遍历左子树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067544" y="208502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后根遍历左子树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598795" y="237934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598795" y="2384108"/>
              <a:ext cx="605980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04142" y="251555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73786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先根遍历左子树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275320" y="2393632"/>
              <a:ext cx="167735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371142" y="251555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访问根结点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067544" y="251555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后根遍历右子树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2809875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704142" y="294608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步骤三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73786" y="294608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先根遍历右子树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371142" y="294608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中根遍历右子树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971722" y="2824162"/>
              <a:ext cx="1677352" cy="41148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067544" y="294608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访问根结点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598795" y="1524000"/>
              <a:ext cx="6059805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563678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261032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95743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1" name="c2-card-2"/>
          <p:cNvGrpSpPr/>
          <p:nvPr/>
        </p:nvGrpSpPr>
        <p:grpSpPr>
          <a:xfrm>
            <a:off x="5598795" y="3429952"/>
            <a:ext cx="6059805" cy="1643062"/>
            <a:chOff x="5598795" y="3429952"/>
            <a:chExt cx="6059805" cy="1643062"/>
          </a:xfrm>
        </p:grpSpPr>
        <p:sp>
          <p:nvSpPr>
            <p:cNvPr id="61" name="Rectangle 61"/>
            <p:cNvSpPr/>
            <p:nvPr/>
          </p:nvSpPr>
          <p:spPr>
            <a:xfrm>
              <a:off x="5598795" y="3429952"/>
              <a:ext cx="6059805" cy="1643062"/>
            </a:xfrm>
            <a:prstGeom prst="roundRect">
              <a:avLst>
                <a:gd name="adj" fmla="val 81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5608320" y="3563302"/>
              <a:ext cx="47625" cy="137636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840730" y="3633788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919089" y="36695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名字与别名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5848350" y="406717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004941" y="4006691"/>
              <a:ext cx="48759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先根遍历又叫先序、前序遍历（Preorder），根排在最前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5848350" y="438721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004941" y="4326731"/>
              <a:ext cx="49137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中根遍历又叫中序遍历（Inorder），根夹在左右子树中间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5848350" y="470725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004941" y="4646771"/>
              <a:ext cx="44075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后根遍历又叫后序遍历（Postorder），根排在最后</a:t>
              </a:r>
            </a:p>
          </p:txBody>
        </p:sp>
      </p:grpSp>
      <p:grpSp>
        <p:nvGrpSpPr>
          <p:cNvPr id="77" name="c2-callout-3"/>
          <p:cNvGrpSpPr/>
          <p:nvPr/>
        </p:nvGrpSpPr>
        <p:grpSpPr>
          <a:xfrm>
            <a:off x="5598795" y="5258752"/>
            <a:ext cx="6059805" cy="1091565"/>
            <a:chOff x="5598795" y="5258752"/>
            <a:chExt cx="6059805" cy="1091565"/>
          </a:xfrm>
        </p:grpSpPr>
        <p:sp>
          <p:nvSpPr>
            <p:cNvPr id="72" name="Rectangle 72"/>
            <p:cNvSpPr/>
            <p:nvPr/>
          </p:nvSpPr>
          <p:spPr>
            <a:xfrm>
              <a:off x="5598795" y="5258752"/>
              <a:ext cx="6059805" cy="1091565"/>
            </a:xfrm>
            <a:prstGeom prst="roundRect">
              <a:avLst>
                <a:gd name="adj" fmla="val 1047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5803583" y="5704525"/>
              <a:ext cx="200023" cy="200023"/>
              <a:chOff x="5803583" y="5704525"/>
              <a:chExt cx="200023" cy="20002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5803583" y="57045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5936933" y="57711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105906" y="5573554"/>
              <a:ext cx="506399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左子树永远排在右子树前面，三种次序都不例外。变的只有根的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位置。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2391" cy="909257"/>
            <a:chOff x="520446" y="342900"/>
            <a:chExt cx="62023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遍历：把一棵树摊成一个序列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23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三段递归代码，只差 visit 那一行的位置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3505200" cy="1442085"/>
            <a:chOff x="533400" y="1524000"/>
            <a:chExt cx="3505200" cy="14420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05200" cy="1442085"/>
            </a:xfrm>
            <a:prstGeom prst="roundRect">
              <a:avLst>
                <a:gd name="adj" fmla="val 660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先根遍历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766"/>
              <a:ext cx="1691513" cy="945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Preorder(TreeNode *t)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NULL)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visit(t-&gt;data);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Preorder(t-&gt;left);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Preorder(t-&gt;right);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3156585"/>
            <a:ext cx="3505200" cy="1316355"/>
            <a:chOff x="533400" y="3156585"/>
            <a:chExt cx="3505200" cy="1316355"/>
          </a:xfrm>
        </p:grpSpPr>
        <p:sp>
          <p:nvSpPr>
            <p:cNvPr id="11" name="Rectangle 11"/>
            <p:cNvSpPr/>
            <p:nvPr/>
          </p:nvSpPr>
          <p:spPr>
            <a:xfrm>
              <a:off x="533400" y="3156585"/>
              <a:ext cx="3505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28993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33661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3359" y="34018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访问动作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3744278"/>
              <a:ext cx="27870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visit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可以是任何处理，源课件写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成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printf("%d ", data);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4343400" y="1524000"/>
            <a:ext cx="3505200" cy="1442085"/>
            <a:chOff x="4343400" y="1524000"/>
            <a:chExt cx="3505200" cy="1442085"/>
          </a:xfrm>
        </p:grpSpPr>
        <p:sp>
          <p:nvSpPr>
            <p:cNvPr id="17" name="Rectangle 17"/>
            <p:cNvSpPr/>
            <p:nvPr/>
          </p:nvSpPr>
          <p:spPr>
            <a:xfrm>
              <a:off x="4343400" y="1524000"/>
              <a:ext cx="3505200" cy="1442085"/>
            </a:xfrm>
            <a:prstGeom prst="roundRect">
              <a:avLst>
                <a:gd name="adj" fmla="val 660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47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中根遍历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71988" y="1934766"/>
              <a:ext cx="1631442" cy="945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Inorder(TreeNode *t)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NULL)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Inorder(t-&gt;left);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visit(t-&gt;data);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Inorder(t-&gt;right);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c2-card-2"/>
          <p:cNvGrpSpPr/>
          <p:nvPr/>
        </p:nvGrpSpPr>
        <p:grpSpPr>
          <a:xfrm>
            <a:off x="4343400" y="3156585"/>
            <a:ext cx="3505200" cy="1316355"/>
            <a:chOff x="4343400" y="3156585"/>
            <a:chExt cx="3505200" cy="1316355"/>
          </a:xfrm>
        </p:grpSpPr>
        <p:sp>
          <p:nvSpPr>
            <p:cNvPr id="21" name="Rectangle 21"/>
            <p:cNvSpPr/>
            <p:nvPr/>
          </p:nvSpPr>
          <p:spPr>
            <a:xfrm>
              <a:off x="4343400" y="3156585"/>
              <a:ext cx="3505200" cy="1316355"/>
            </a:xfrm>
            <a:prstGeom prst="roundRect">
              <a:avLst>
                <a:gd name="adj" fmla="val 1013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52950" y="33661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30356" y="34018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45330" y="3744278"/>
              <a:ext cx="2872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每个结点进出递归一次，三种遍历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都是 </a:t>
              </a:r>
              <a:r>
                <a:rPr lang="en-US" sz="150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9" name="c3-code-1"/>
          <p:cNvGrpSpPr/>
          <p:nvPr/>
        </p:nvGrpSpPr>
        <p:grpSpPr>
          <a:xfrm>
            <a:off x="8153400" y="1524000"/>
            <a:ext cx="3505200" cy="1442085"/>
            <a:chOff x="8153400" y="1524000"/>
            <a:chExt cx="3505200" cy="1442085"/>
          </a:xfrm>
        </p:grpSpPr>
        <p:sp>
          <p:nvSpPr>
            <p:cNvPr id="26" name="Rectangle 26"/>
            <p:cNvSpPr/>
            <p:nvPr/>
          </p:nvSpPr>
          <p:spPr>
            <a:xfrm>
              <a:off x="8153400" y="1524000"/>
              <a:ext cx="3505200" cy="1442085"/>
            </a:xfrm>
            <a:prstGeom prst="roundRect">
              <a:avLst>
                <a:gd name="adj" fmla="val 660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81797" y="16759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后根遍历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81988" y="1934766"/>
              <a:ext cx="1751584" cy="9453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Postorder(TreeNode *t)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NULL)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Postorder(t-&gt;left);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Postorder(t-&gt;right);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visit(t-&gt;data);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5" name="c3-card-2"/>
          <p:cNvGrpSpPr/>
          <p:nvPr/>
        </p:nvGrpSpPr>
        <p:grpSpPr>
          <a:xfrm>
            <a:off x="8153400" y="3156585"/>
            <a:ext cx="3505200" cy="1316355"/>
            <a:chOff x="8153400" y="3156585"/>
            <a:chExt cx="3505200" cy="1316355"/>
          </a:xfrm>
        </p:grpSpPr>
        <p:sp>
          <p:nvSpPr>
            <p:cNvPr id="30" name="Rectangle 30"/>
            <p:cNvSpPr/>
            <p:nvPr/>
          </p:nvSpPr>
          <p:spPr>
            <a:xfrm>
              <a:off x="8153400" y="3156585"/>
              <a:ext cx="3505200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162925" y="3289935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401050" y="3366135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78456" y="340185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空间复杂度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393430" y="3744278"/>
              <a:ext cx="288607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递归栈最深 h+1 层，写作 </a:t>
              </a:r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O(h)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是树高，不是结点数。</a:t>
              </a:r>
            </a:p>
          </p:txBody>
        </p:sp>
      </p:grpSp>
      <p:grpSp>
        <p:nvGrpSpPr>
          <p:cNvPr id="42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36" name="Rectangle 36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26129" y="5867518"/>
              <a:ext cx="224134" cy="192560"/>
              <a:chOff x="726129" y="5867518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38200" y="593788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26129" y="586751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38200" y="6015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5728335"/>
              <a:ext cx="9892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O(h) 只是“正常形状”的说法。单支树 h = n−1，10000 个结点就要 10000 层系统栈，这正是下一部分要写非递归算法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的原因。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遍历：把一棵树摊成一个序列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在同一棵树上把三个序列都跑一遍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tree-1"/>
          <p:cNvGrpSpPr/>
          <p:nvPr/>
        </p:nvGrpSpPr>
        <p:grpSpPr>
          <a:xfrm>
            <a:off x="1418272" y="1662112"/>
            <a:ext cx="2558415" cy="2409825"/>
            <a:chOff x="1418272" y="1662112"/>
            <a:chExt cx="2558415" cy="2409825"/>
          </a:xfrm>
        </p:grpSpPr>
        <p:sp>
          <p:nvSpPr>
            <p:cNvPr id="7" name="Freeform 7"/>
            <p:cNvSpPr/>
            <p:nvPr/>
          </p:nvSpPr>
          <p:spPr>
            <a:xfrm>
              <a:off x="1885950" y="3202305"/>
              <a:ext cx="270510" cy="672465"/>
            </a:xfrm>
            <a:custGeom>
              <a:avLst/>
              <a:gdLst/>
              <a:ahLst/>
              <a:cxnLst/>
              <a:rect l="l" t="t" r="r" b="b"/>
              <a:pathLst>
                <a:path w="270510" h="672465">
                  <a:moveTo>
                    <a:pt x="270510" y="0"/>
                  </a:moveTo>
                  <a:lnTo>
                    <a:pt x="0" y="6724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615440" y="2531745"/>
              <a:ext cx="541020" cy="670560"/>
            </a:xfrm>
            <a:custGeom>
              <a:avLst/>
              <a:gdLst/>
              <a:ahLst/>
              <a:cxnLst/>
              <a:rect l="l" t="t" r="r" b="b"/>
              <a:pathLst>
                <a:path w="541020" h="670560">
                  <a:moveTo>
                    <a:pt x="0" y="0"/>
                  </a:moveTo>
                  <a:lnTo>
                    <a:pt x="541020" y="6705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238500" y="2531745"/>
              <a:ext cx="541020" cy="670560"/>
            </a:xfrm>
            <a:custGeom>
              <a:avLst/>
              <a:gdLst/>
              <a:ahLst/>
              <a:cxnLst/>
              <a:rect l="l" t="t" r="r" b="b"/>
              <a:pathLst>
                <a:path w="541020" h="670560">
                  <a:moveTo>
                    <a:pt x="541020" y="0"/>
                  </a:moveTo>
                  <a:lnTo>
                    <a:pt x="0" y="6705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15440" y="1859280"/>
              <a:ext cx="1082040" cy="672465"/>
            </a:xfrm>
            <a:custGeom>
              <a:avLst/>
              <a:gdLst/>
              <a:ahLst/>
              <a:cxnLst/>
              <a:rect l="l" t="t" r="r" b="b"/>
              <a:pathLst>
                <a:path w="1082040" h="672465">
                  <a:moveTo>
                    <a:pt x="1082040" y="0"/>
                  </a:moveTo>
                  <a:lnTo>
                    <a:pt x="0" y="6724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697480" y="1859280"/>
              <a:ext cx="1082040" cy="672465"/>
            </a:xfrm>
            <a:custGeom>
              <a:avLst/>
              <a:gdLst/>
              <a:ahLst/>
              <a:cxnLst/>
              <a:rect l="l" t="t" r="r" b="b"/>
              <a:pathLst>
                <a:path w="1082040" h="672465">
                  <a:moveTo>
                    <a:pt x="0" y="0"/>
                  </a:moveTo>
                  <a:lnTo>
                    <a:pt x="1082040" y="6724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688782" y="3677602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959293" y="3005138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418272" y="2334578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041332" y="3005138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3582352" y="2334578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500312" y="1662112"/>
              <a:ext cx="394335" cy="3943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840747" y="381333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11257" y="31418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70237" y="247030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193297" y="31418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734317" y="247030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52277" y="179879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4390072"/>
            <a:ext cx="4328160" cy="756285"/>
            <a:chOff x="533400" y="4390072"/>
            <a:chExt cx="4328160" cy="756285"/>
          </a:xfrm>
        </p:grpSpPr>
        <p:sp>
          <p:nvSpPr>
            <p:cNvPr id="25" name="Rectangle 25"/>
            <p:cNvSpPr/>
            <p:nvPr/>
          </p:nvSpPr>
          <p:spPr>
            <a:xfrm>
              <a:off x="533400" y="4390072"/>
              <a:ext cx="4328160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4668203"/>
              <a:ext cx="200026" cy="200026"/>
              <a:chOff x="738188" y="4668203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46682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47348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476821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511" y="4537234"/>
              <a:ext cx="321551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这三种遍历分别是 LeetCode 144、94、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145 三道原题。</a:t>
              </a:r>
            </a:p>
          </p:txBody>
        </p:sp>
      </p:grpSp>
      <p:grpSp>
        <p:nvGrpSpPr>
          <p:cNvPr id="45" name="c2-steps-1"/>
          <p:cNvGrpSpPr/>
          <p:nvPr/>
        </p:nvGrpSpPr>
        <p:grpSpPr>
          <a:xfrm>
            <a:off x="5166360" y="1533525"/>
            <a:ext cx="6102096" cy="2002536"/>
            <a:chOff x="5166360" y="1533525"/>
            <a:chExt cx="6102096" cy="2002536"/>
          </a:xfrm>
        </p:grpSpPr>
        <p:sp>
          <p:nvSpPr>
            <p:cNvPr id="32" name="Rectangle 32"/>
            <p:cNvSpPr/>
            <p:nvPr/>
          </p:nvSpPr>
          <p:spPr>
            <a:xfrm>
              <a:off x="5299710" y="1676400"/>
              <a:ext cx="19050" cy="145446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16636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5998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5166360" y="23717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259984" y="24455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166360" y="29879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59984" y="30618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578221" y="15663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579364" y="1846898"/>
              <a:ext cx="56890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A → 进入左子树 B（访问 B，B 无左孩子，进入 C，访问 C 后访问 D）→ 进入右子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 E（访问 E 后访问 F）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78221" y="2404586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579364" y="2685098"/>
              <a:ext cx="41297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左子树按“左根右”给出 B D C，回到根 A，右子树给出 F 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78221" y="3020854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79364" y="3301365"/>
              <a:ext cx="44528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左子树按“左右根”给出 D C B，右子树给出 F E，最后访问根 A</a:t>
              </a:r>
            </a:p>
          </p:txBody>
        </p:sp>
      </p:grpSp>
      <p:grpSp>
        <p:nvGrpSpPr>
          <p:cNvPr id="70" name="c2-table-2"/>
          <p:cNvGrpSpPr/>
          <p:nvPr/>
        </p:nvGrpSpPr>
        <p:grpSpPr>
          <a:xfrm>
            <a:off x="5166360" y="3707130"/>
            <a:ext cx="6492240" cy="1697355"/>
            <a:chOff x="5166360" y="3707130"/>
            <a:chExt cx="6492240" cy="1697355"/>
          </a:xfrm>
        </p:grpSpPr>
        <p:sp>
          <p:nvSpPr>
            <p:cNvPr id="46" name="Rectangle 46"/>
            <p:cNvSpPr/>
            <p:nvPr/>
          </p:nvSpPr>
          <p:spPr>
            <a:xfrm>
              <a:off x="5166360" y="3707130"/>
              <a:ext cx="6492240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551551" y="38357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遍历方式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25728" y="3835718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序列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478709" y="38357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最先访问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712196" y="383571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最后访问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68849" y="426053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先根遍历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97599" y="4260532"/>
              <a:ext cx="831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 E F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94114" y="4260532"/>
              <a:ext cx="5907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A（根）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27602" y="4260532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166360" y="4551998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166360" y="4556760"/>
              <a:ext cx="6492240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268849" y="468439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中根遍历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97599" y="4684395"/>
              <a:ext cx="831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D C A F E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94114" y="468439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527602" y="4684395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166360" y="4975860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68849" y="5109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97599" y="5109210"/>
              <a:ext cx="831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C B F E A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294114" y="510921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527602" y="5109210"/>
              <a:ext cx="5907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A（根）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166360" y="3707130"/>
              <a:ext cx="6492240" cy="1697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590348" y="37071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9186862" y="37071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10420350" y="3707130"/>
              <a:ext cx="9525" cy="1697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6" name="c2-callout-3"/>
          <p:cNvGrpSpPr/>
          <p:nvPr/>
        </p:nvGrpSpPr>
        <p:grpSpPr>
          <a:xfrm>
            <a:off x="5166360" y="5585460"/>
            <a:ext cx="6492240" cy="756285"/>
            <a:chOff x="5166360" y="5585460"/>
            <a:chExt cx="6492240" cy="756285"/>
          </a:xfrm>
        </p:grpSpPr>
        <p:sp>
          <p:nvSpPr>
            <p:cNvPr id="71" name="Rectangle 71"/>
            <p:cNvSpPr/>
            <p:nvPr/>
          </p:nvSpPr>
          <p:spPr>
            <a:xfrm>
              <a:off x="5166360" y="5585460"/>
              <a:ext cx="6492240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5371148" y="5863592"/>
              <a:ext cx="200023" cy="200023"/>
              <a:chOff x="5371148" y="5863592"/>
              <a:chExt cx="200023" cy="200023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5371148" y="58635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504498" y="59302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5673471" y="5732621"/>
              <a:ext cx="54246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先根序列的第一个和后根序列的最后一个一定是根，中根序列的根把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左右子树分在两边。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遍历：把一棵树摊成一个序列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递归遍历为什么是分治法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tree-1"/>
          <p:cNvGrpSpPr/>
          <p:nvPr/>
        </p:nvGrpSpPr>
        <p:grpSpPr>
          <a:xfrm>
            <a:off x="533400" y="1681162"/>
            <a:ext cx="4976813" cy="1995488"/>
            <a:chOff x="533400" y="1681162"/>
            <a:chExt cx="4976813" cy="1995488"/>
          </a:xfrm>
        </p:grpSpPr>
        <p:sp>
          <p:nvSpPr>
            <p:cNvPr id="7" name="Freeform 7"/>
            <p:cNvSpPr/>
            <p:nvPr/>
          </p:nvSpPr>
          <p:spPr>
            <a:xfrm>
              <a:off x="2765108" y="1908810"/>
              <a:ext cx="419100" cy="769620"/>
            </a:xfrm>
            <a:custGeom>
              <a:avLst/>
              <a:gdLst/>
              <a:ahLst/>
              <a:cxnLst/>
              <a:rect l="l" t="t" r="r" b="b"/>
              <a:pathLst>
                <a:path w="419100" h="769620">
                  <a:moveTo>
                    <a:pt x="0" y="769620"/>
                  </a:moveTo>
                  <a:lnTo>
                    <a:pt x="209550" y="76962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765108" y="2678430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765108" y="2678430"/>
              <a:ext cx="419100" cy="770573"/>
            </a:xfrm>
            <a:custGeom>
              <a:avLst/>
              <a:gdLst/>
              <a:ahLst/>
              <a:cxnLst/>
              <a:rect l="l" t="t" r="r" b="b"/>
              <a:pathLst>
                <a:path w="419100" h="770573">
                  <a:moveTo>
                    <a:pt x="0" y="0"/>
                  </a:moveTo>
                  <a:lnTo>
                    <a:pt x="209550" y="0"/>
                  </a:lnTo>
                  <a:lnTo>
                    <a:pt x="209550" y="770573"/>
                  </a:lnTo>
                  <a:lnTo>
                    <a:pt x="419100" y="77057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3184208" y="1681162"/>
              <a:ext cx="2326005" cy="456248"/>
            </a:xfrm>
            <a:prstGeom prst="roundRect">
              <a:avLst>
                <a:gd name="adj" fmla="val 20877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184208" y="2450782"/>
              <a:ext cx="2326005" cy="456248"/>
            </a:xfrm>
            <a:prstGeom prst="roundRect">
              <a:avLst>
                <a:gd name="adj" fmla="val 20877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3184208" y="3220402"/>
              <a:ext cx="2326005" cy="456248"/>
            </a:xfrm>
            <a:prstGeom prst="roundRect">
              <a:avLst>
                <a:gd name="adj" fmla="val 20877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50782"/>
              <a:ext cx="2231708" cy="456248"/>
            </a:xfrm>
            <a:prstGeom prst="roundRect">
              <a:avLst>
                <a:gd name="adj" fmla="val 2087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274695" y="1771650"/>
              <a:ext cx="581025" cy="324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 1</a:t>
              </a:r>
              <a:br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访问根结点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74695" y="2542223"/>
              <a:ext cx="1152525" cy="324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 2</a:t>
              </a:r>
              <a:br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访问左子树的所有结点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74695" y="3311842"/>
              <a:ext cx="1152525" cy="324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 3</a:t>
              </a:r>
              <a:br/>
              <a:r>
                <a:rPr lang="zh-CN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访问右子树的所有结点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3888" y="2542223"/>
              <a:ext cx="1152525" cy="3248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大问题</a:t>
              </a:r>
              <a:br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访问整棵树的所有结点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019550"/>
            <a:ext cx="4977765" cy="756285"/>
            <a:chOff x="533400" y="4019550"/>
            <a:chExt cx="4977765" cy="756285"/>
          </a:xfrm>
        </p:grpSpPr>
        <p:sp>
          <p:nvSpPr>
            <p:cNvPr id="19" name="Rectangle 19"/>
            <p:cNvSpPr/>
            <p:nvPr/>
          </p:nvSpPr>
          <p:spPr>
            <a:xfrm>
              <a:off x="533400" y="4019550"/>
              <a:ext cx="4977765" cy="756285"/>
            </a:xfrm>
            <a:prstGeom prst="roundRect">
              <a:avLst>
                <a:gd name="adj" fmla="val 15113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297680"/>
              <a:ext cx="200026" cy="200026"/>
              <a:chOff x="738188" y="4297680"/>
              <a:chExt cx="200026" cy="200026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738188" y="42976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38200" y="43643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27088" y="43976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4166711"/>
              <a:ext cx="39819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三个子问题互不重叠，各自解完直接拼起来就是原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问题的解。</a:t>
              </a:r>
            </a:p>
          </p:txBody>
        </p:sp>
      </p:grpSp>
      <p:grpSp>
        <p:nvGrpSpPr>
          <p:cNvPr id="50" name="c2-table-1"/>
          <p:cNvGrpSpPr/>
          <p:nvPr/>
        </p:nvGrpSpPr>
        <p:grpSpPr>
          <a:xfrm>
            <a:off x="5815965" y="1524000"/>
            <a:ext cx="5842635" cy="2364105"/>
            <a:chOff x="5815965" y="1524000"/>
            <a:chExt cx="5842635" cy="2364105"/>
          </a:xfrm>
        </p:grpSpPr>
        <p:sp>
          <p:nvSpPr>
            <p:cNvPr id="26" name="Rectangle 26"/>
            <p:cNvSpPr/>
            <p:nvPr/>
          </p:nvSpPr>
          <p:spPr>
            <a:xfrm>
              <a:off x="5815965" y="1524000"/>
              <a:ext cx="584263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68593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79295" y="165544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分治法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218801" y="165544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动态规划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21312" y="20850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子问题之间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23392" y="20850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相互独立、不重叠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43669" y="208502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往往重叠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815965" y="237934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815965" y="2384108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21312" y="251555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求解方向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23392" y="25155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自顶向下递归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43669" y="251555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自底向上递推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815965" y="280987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921312" y="305276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是否存表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23392" y="3052762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不需要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543669" y="2946082"/>
              <a:ext cx="18409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解存入表中，再遇到直接查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815965" y="345281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15965" y="3457575"/>
              <a:ext cx="584263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921312" y="358902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本课的例子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23392" y="358902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二叉树遍历、快速排序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43669" y="358902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后面课程里的最优化问题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1524000"/>
              <a:ext cx="5842635" cy="23641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213282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9433560" y="1524000"/>
              <a:ext cx="9525" cy="23641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5" name="c2-card-2"/>
          <p:cNvGrpSpPr/>
          <p:nvPr/>
        </p:nvGrpSpPr>
        <p:grpSpPr>
          <a:xfrm>
            <a:off x="5815965" y="4073842"/>
            <a:ext cx="5842635" cy="1274445"/>
            <a:chOff x="5815965" y="4073842"/>
            <a:chExt cx="5842635" cy="1274445"/>
          </a:xfrm>
        </p:grpSpPr>
        <p:sp>
          <p:nvSpPr>
            <p:cNvPr id="51" name="Rectangle 51"/>
            <p:cNvSpPr/>
            <p:nvPr/>
          </p:nvSpPr>
          <p:spPr>
            <a:xfrm>
              <a:off x="5815965" y="4073842"/>
              <a:ext cx="5842635" cy="1274445"/>
            </a:xfrm>
            <a:prstGeom prst="roundRect">
              <a:avLst>
                <a:gd name="adj" fmla="val 104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19800" y="4277678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093257" y="43133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记住这套分法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12561" y="4650581"/>
              <a:ext cx="50639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源课件把分治法概括成大事化小、小事化了：把大问题拆成同类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型的小问题，小到能直接回答（空树）为止。</a:t>
              </a:r>
            </a:p>
          </p:txBody>
        </p:sp>
      </p:grpSp>
      <p:grpSp>
        <p:nvGrpSpPr>
          <p:cNvPr id="62" name="c2-callout-3"/>
          <p:cNvGrpSpPr/>
          <p:nvPr/>
        </p:nvGrpSpPr>
        <p:grpSpPr>
          <a:xfrm>
            <a:off x="5815965" y="5534025"/>
            <a:ext cx="5842635" cy="756285"/>
            <a:chOff x="5815965" y="5534025"/>
            <a:chExt cx="5842635" cy="756285"/>
          </a:xfrm>
        </p:grpSpPr>
        <p:sp>
          <p:nvSpPr>
            <p:cNvPr id="56" name="Rectangle 56"/>
            <p:cNvSpPr/>
            <p:nvPr/>
          </p:nvSpPr>
          <p:spPr>
            <a:xfrm>
              <a:off x="5815965" y="5534025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020753" y="5812155"/>
              <a:ext cx="200026" cy="200025"/>
              <a:chOff x="6020753" y="5812155"/>
              <a:chExt cx="200026" cy="2000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020753" y="581215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060491" y="585660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095207" y="596773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323076" y="5681186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本讲后面求高度、求结点数、复制、释放，用的都是这一个框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架，换的只是每一步做什么。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遍历：把一棵树摊成一个序列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例题：写出这棵树的四个序列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tree-1"/>
          <p:cNvGrpSpPr/>
          <p:nvPr/>
        </p:nvGrpSpPr>
        <p:grpSpPr>
          <a:xfrm>
            <a:off x="864870" y="1659255"/>
            <a:ext cx="3665220" cy="2491740"/>
            <a:chOff x="864870" y="1659255"/>
            <a:chExt cx="3665220" cy="2491740"/>
          </a:xfrm>
        </p:grpSpPr>
        <p:sp>
          <p:nvSpPr>
            <p:cNvPr id="7" name="Freeform 7"/>
            <p:cNvSpPr/>
            <p:nvPr/>
          </p:nvSpPr>
          <p:spPr>
            <a:xfrm>
              <a:off x="1885950" y="3249930"/>
              <a:ext cx="270510" cy="691515"/>
            </a:xfrm>
            <a:custGeom>
              <a:avLst/>
              <a:gdLst/>
              <a:ahLst/>
              <a:cxnLst/>
              <a:rect l="l" t="t" r="r" b="b"/>
              <a:pathLst>
                <a:path w="270510" h="691515">
                  <a:moveTo>
                    <a:pt x="270510" y="0"/>
                  </a:moveTo>
                  <a:lnTo>
                    <a:pt x="0" y="6915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156460" y="3249930"/>
              <a:ext cx="270510" cy="691515"/>
            </a:xfrm>
            <a:custGeom>
              <a:avLst/>
              <a:gdLst/>
              <a:ahLst/>
              <a:cxnLst/>
              <a:rect l="l" t="t" r="r" b="b"/>
              <a:pathLst>
                <a:path w="270510" h="691515">
                  <a:moveTo>
                    <a:pt x="0" y="0"/>
                  </a:moveTo>
                  <a:lnTo>
                    <a:pt x="270510" y="6915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74420" y="2560320"/>
              <a:ext cx="541020" cy="689610"/>
            </a:xfrm>
            <a:custGeom>
              <a:avLst/>
              <a:gdLst/>
              <a:ahLst/>
              <a:cxnLst/>
              <a:rect l="l" t="t" r="r" b="b"/>
              <a:pathLst>
                <a:path w="541020" h="689610">
                  <a:moveTo>
                    <a:pt x="541020" y="0"/>
                  </a:moveTo>
                  <a:lnTo>
                    <a:pt x="0" y="6896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615440" y="2560320"/>
              <a:ext cx="541020" cy="689610"/>
            </a:xfrm>
            <a:custGeom>
              <a:avLst/>
              <a:gdLst/>
              <a:ahLst/>
              <a:cxnLst/>
              <a:rect l="l" t="t" r="r" b="b"/>
              <a:pathLst>
                <a:path w="541020" h="689610">
                  <a:moveTo>
                    <a:pt x="0" y="0"/>
                  </a:moveTo>
                  <a:lnTo>
                    <a:pt x="541020" y="6896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779520" y="2560320"/>
              <a:ext cx="541020" cy="689610"/>
            </a:xfrm>
            <a:custGeom>
              <a:avLst/>
              <a:gdLst/>
              <a:ahLst/>
              <a:cxnLst/>
              <a:rect l="l" t="t" r="r" b="b"/>
              <a:pathLst>
                <a:path w="541020" h="689610">
                  <a:moveTo>
                    <a:pt x="0" y="0"/>
                  </a:moveTo>
                  <a:lnTo>
                    <a:pt x="541020" y="68961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15440" y="1868805"/>
              <a:ext cx="1082040" cy="691515"/>
            </a:xfrm>
            <a:custGeom>
              <a:avLst/>
              <a:gdLst/>
              <a:ahLst/>
              <a:cxnLst/>
              <a:rect l="l" t="t" r="r" b="b"/>
              <a:pathLst>
                <a:path w="1082040" h="691515">
                  <a:moveTo>
                    <a:pt x="1082040" y="0"/>
                  </a:moveTo>
                  <a:lnTo>
                    <a:pt x="0" y="6915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697480" y="1868805"/>
              <a:ext cx="1082040" cy="691515"/>
            </a:xfrm>
            <a:custGeom>
              <a:avLst/>
              <a:gdLst/>
              <a:ahLst/>
              <a:cxnLst/>
              <a:rect l="l" t="t" r="r" b="b"/>
              <a:pathLst>
                <a:path w="1082040" h="691515">
                  <a:moveTo>
                    <a:pt x="0" y="0"/>
                  </a:moveTo>
                  <a:lnTo>
                    <a:pt x="1082040" y="6915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864870" y="304038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676400" y="373189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217420" y="373189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1946910" y="304038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405890" y="23507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110990" y="304038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3569970" y="2350770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487930" y="1659255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25961" y="318516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37491" y="38757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78511" y="387572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08001" y="318516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66981" y="249459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72081" y="3185160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31061" y="249459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49021" y="1804035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37" name="c1-callout-2"/>
          <p:cNvGrpSpPr/>
          <p:nvPr/>
        </p:nvGrpSpPr>
        <p:grpSpPr>
          <a:xfrm>
            <a:off x="533400" y="4476750"/>
            <a:ext cx="4328160" cy="1702118"/>
            <a:chOff x="533400" y="4476750"/>
            <a:chExt cx="4328160" cy="1702118"/>
          </a:xfrm>
        </p:grpSpPr>
        <p:sp>
          <p:nvSpPr>
            <p:cNvPr id="31" name="Rectangle 31"/>
            <p:cNvSpPr/>
            <p:nvPr/>
          </p:nvSpPr>
          <p:spPr>
            <a:xfrm>
              <a:off x="533400" y="4476750"/>
              <a:ext cx="4328160" cy="1702118"/>
            </a:xfrm>
            <a:prstGeom prst="roundRect">
              <a:avLst>
                <a:gd name="adj" fmla="val 671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738188" y="5227320"/>
              <a:ext cx="200026" cy="200026"/>
              <a:chOff x="738188" y="5227320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22732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8200" y="52939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27088" y="532733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40130" y="5084445"/>
              <a:ext cx="3387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26 页的课下练习。后面讲重建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时还会回到这棵树。</a:t>
              </a:r>
            </a:p>
          </p:txBody>
        </p:sp>
      </p:grpSp>
      <p:grpSp>
        <p:nvGrpSpPr>
          <p:cNvPr id="55" name="c2-steps-1"/>
          <p:cNvGrpSpPr/>
          <p:nvPr/>
        </p:nvGrpSpPr>
        <p:grpSpPr>
          <a:xfrm>
            <a:off x="5166360" y="1533525"/>
            <a:ext cx="6313013" cy="2529173"/>
            <a:chOff x="5166360" y="1533525"/>
            <a:chExt cx="6313013" cy="2529173"/>
          </a:xfrm>
        </p:grpSpPr>
        <p:sp>
          <p:nvSpPr>
            <p:cNvPr id="38" name="Rectangle 38"/>
            <p:cNvSpPr/>
            <p:nvPr/>
          </p:nvSpPr>
          <p:spPr>
            <a:xfrm>
              <a:off x="5299710" y="1676400"/>
              <a:ext cx="19050" cy="19526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516636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5998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16636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25998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5166360" y="28346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59984" y="29084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166360" y="34861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59984" y="35599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577840" y="156781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78983" y="1861661"/>
              <a:ext cx="59003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→ 左子树（B，再 C，再 D 的 E、F）→ 右子树（G，再 H）：A B C D E F G H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577840" y="221837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578983" y="2512219"/>
              <a:ext cx="4846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左子树给出 C B E D F，根 A，右子树给出 G H：C B E D F A G H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577840" y="286893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578983" y="3162776"/>
              <a:ext cx="50191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左子树给出 C E F D B，右子树给出 H G，最后 A：C E F D B H G A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577840" y="352044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578983" y="3813334"/>
              <a:ext cx="24025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按层从左到右：A B G C D H E F</a:t>
              </a:r>
            </a:p>
          </p:txBody>
        </p:sp>
      </p:grpSp>
      <p:grpSp>
        <p:nvGrpSpPr>
          <p:cNvPr id="64" name="c2-card-2"/>
          <p:cNvGrpSpPr/>
          <p:nvPr/>
        </p:nvGrpSpPr>
        <p:grpSpPr>
          <a:xfrm>
            <a:off x="5166360" y="4241482"/>
            <a:ext cx="6492240" cy="1937385"/>
            <a:chOff x="5166360" y="4241482"/>
            <a:chExt cx="6492240" cy="1937385"/>
          </a:xfrm>
        </p:grpSpPr>
        <p:sp>
          <p:nvSpPr>
            <p:cNvPr id="56" name="Rectangle 56"/>
            <p:cNvSpPr/>
            <p:nvPr/>
          </p:nvSpPr>
          <p:spPr>
            <a:xfrm>
              <a:off x="5166360" y="4241482"/>
              <a:ext cx="6492240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5175885" y="4374832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5414010" y="445103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483517" y="448675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自己检查的办法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5419725" y="489108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577840" y="4828222"/>
              <a:ext cx="5625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中根序列里 A 左边是左子树的 5 个结点，右边是右子树的 2 个，个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数对得上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5419725" y="551211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577840" y="5449252"/>
              <a:ext cx="55778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三个序列里叶结点 C、E、F、H 的先后次序应当一致，都是 C、E、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在 H 之前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4099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6603" y="407194"/>
              <a:ext cx="3343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遍历：把一棵树摊成一个序列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两道考研题：树形给了，序列反着推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193982" cy="1185862"/>
            <a:chOff x="533400" y="1524000"/>
            <a:chExt cx="5193982" cy="118586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90963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533" y="1743551"/>
              <a:ext cx="7519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2023 全国卷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4456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已知二叉树的树形如下，后根序列为 f, d, b, e, c, a，求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先根序列。</a:t>
              </a:r>
            </a:p>
          </p:txBody>
        </p:sp>
      </p:grpSp>
      <p:grpSp>
        <p:nvGrpSpPr>
          <p:cNvPr id="30" name="c1-tree-2"/>
          <p:cNvGrpSpPr/>
          <p:nvPr/>
        </p:nvGrpSpPr>
        <p:grpSpPr>
          <a:xfrm>
            <a:off x="998220" y="2935605"/>
            <a:ext cx="3615690" cy="1815465"/>
            <a:chOff x="998220" y="2935605"/>
            <a:chExt cx="3615690" cy="1815465"/>
          </a:xfrm>
        </p:grpSpPr>
        <p:sp>
          <p:nvSpPr>
            <p:cNvPr id="13" name="Freeform 13"/>
            <p:cNvSpPr/>
            <p:nvPr/>
          </p:nvSpPr>
          <p:spPr>
            <a:xfrm>
              <a:off x="1183005" y="4084320"/>
              <a:ext cx="323850" cy="481965"/>
            </a:xfrm>
            <a:custGeom>
              <a:avLst/>
              <a:gdLst/>
              <a:ahLst/>
              <a:cxnLst/>
              <a:rect l="l" t="t" r="r" b="b"/>
              <a:pathLst>
                <a:path w="323850" h="481965">
                  <a:moveTo>
                    <a:pt x="0" y="0"/>
                  </a:moveTo>
                  <a:lnTo>
                    <a:pt x="323850" y="4819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183005" y="3602355"/>
              <a:ext cx="648653" cy="481965"/>
            </a:xfrm>
            <a:custGeom>
              <a:avLst/>
              <a:gdLst/>
              <a:ahLst/>
              <a:cxnLst/>
              <a:rect l="l" t="t" r="r" b="b"/>
              <a:pathLst>
                <a:path w="648653" h="481965">
                  <a:moveTo>
                    <a:pt x="648653" y="0"/>
                  </a:moveTo>
                  <a:lnTo>
                    <a:pt x="0" y="4819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831658" y="3602355"/>
              <a:ext cx="649605" cy="481965"/>
            </a:xfrm>
            <a:custGeom>
              <a:avLst/>
              <a:gdLst/>
              <a:ahLst/>
              <a:cxnLst/>
              <a:rect l="l" t="t" r="r" b="b"/>
              <a:pathLst>
                <a:path w="649605" h="481965">
                  <a:moveTo>
                    <a:pt x="0" y="0"/>
                  </a:moveTo>
                  <a:lnTo>
                    <a:pt x="649605" y="4819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831658" y="3120390"/>
              <a:ext cx="1298258" cy="481965"/>
            </a:xfrm>
            <a:custGeom>
              <a:avLst/>
              <a:gdLst/>
              <a:ahLst/>
              <a:cxnLst/>
              <a:rect l="l" t="t" r="r" b="b"/>
              <a:pathLst>
                <a:path w="1298258" h="481965">
                  <a:moveTo>
                    <a:pt x="1298258" y="0"/>
                  </a:moveTo>
                  <a:lnTo>
                    <a:pt x="0" y="4819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129915" y="3120390"/>
              <a:ext cx="1299210" cy="481965"/>
            </a:xfrm>
            <a:custGeom>
              <a:avLst/>
              <a:gdLst/>
              <a:ahLst/>
              <a:cxnLst/>
              <a:rect l="l" t="t" r="r" b="b"/>
              <a:pathLst>
                <a:path w="1299210" h="481965">
                  <a:moveTo>
                    <a:pt x="0" y="0"/>
                  </a:moveTo>
                  <a:lnTo>
                    <a:pt x="1299210" y="48196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322070" y="438150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998220" y="389953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2296478" y="389953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646872" y="341757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244340" y="341757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945130" y="293560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67108" y="45100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43258" y="40281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441516" y="40281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91911" y="35461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89378" y="354615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90168" y="30641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36" name="c1-callout-3"/>
          <p:cNvGrpSpPr/>
          <p:nvPr/>
        </p:nvGrpSpPr>
        <p:grpSpPr>
          <a:xfrm>
            <a:off x="533400" y="4977765"/>
            <a:ext cx="5193982" cy="1377315"/>
            <a:chOff x="533400" y="4977765"/>
            <a:chExt cx="5193982" cy="1377315"/>
          </a:xfrm>
        </p:grpSpPr>
        <p:sp>
          <p:nvSpPr>
            <p:cNvPr id="31" name="Rectangle 31"/>
            <p:cNvSpPr/>
            <p:nvPr/>
          </p:nvSpPr>
          <p:spPr>
            <a:xfrm>
              <a:off x="533400" y="4977765"/>
              <a:ext cx="5193982" cy="1377315"/>
            </a:xfrm>
            <a:prstGeom prst="roundRect">
              <a:avLst>
                <a:gd name="adj" fmla="val 829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565458"/>
              <a:ext cx="200026" cy="200026"/>
              <a:chOff x="738188" y="5565458"/>
              <a:chExt cx="200026" cy="20002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5654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04863" y="564324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892" y="5447348"/>
              <a:ext cx="417995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A：a e d f b c。干扰项 D（d f e b a c）其实是这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棵树的中根序列。</a:t>
              </a:r>
            </a:p>
          </p:txBody>
        </p:sp>
      </p:grpSp>
      <p:grpSp>
        <p:nvGrpSpPr>
          <p:cNvPr id="50" name="c2-steps-1"/>
          <p:cNvGrpSpPr/>
          <p:nvPr/>
        </p:nvGrpSpPr>
        <p:grpSpPr>
          <a:xfrm>
            <a:off x="6032182" y="1533525"/>
            <a:ext cx="5445603" cy="2099787"/>
            <a:chOff x="6032182" y="1533525"/>
            <a:chExt cx="5445603" cy="2099787"/>
          </a:xfrm>
        </p:grpSpPr>
        <p:sp>
          <p:nvSpPr>
            <p:cNvPr id="37" name="Rectangle 37"/>
            <p:cNvSpPr/>
            <p:nvPr/>
          </p:nvSpPr>
          <p:spPr>
            <a:xfrm>
              <a:off x="6165532" y="1676400"/>
              <a:ext cx="19050" cy="158019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032182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12580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6032182" y="23231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125806" y="23969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032182" y="31137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125806" y="31875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44424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先定根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45567" y="1833086"/>
              <a:ext cx="496849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后根序列最后一个是根，所以根是 a；树形告诉我们根的右子树只有一个结点，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它就是后根序列里紧挨 a 的 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44424" y="235553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再定左子树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45567" y="2622709"/>
              <a:ext cx="49044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剩下的 f d b e 是左子树的后根序列，左子树的根是 e；e 的左孩子有一个右孩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子，右孩子是叶结点 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44424" y="314515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填完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45567" y="3413284"/>
              <a:ext cx="50322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的左孩子是 d，d 的右孩子是 f，逐个回填后按“根左右”读出：a e d f b c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6032182" y="3796665"/>
            <a:ext cx="5626418" cy="2557462"/>
            <a:chOff x="6032182" y="3796665"/>
            <a:chExt cx="5626418" cy="2557462"/>
          </a:xfrm>
        </p:grpSpPr>
        <p:sp>
          <p:nvSpPr>
            <p:cNvPr id="51" name="Rectangle 51"/>
            <p:cNvSpPr/>
            <p:nvPr/>
          </p:nvSpPr>
          <p:spPr>
            <a:xfrm>
              <a:off x="6032182" y="3796665"/>
              <a:ext cx="5626418" cy="2557462"/>
            </a:xfrm>
            <a:prstGeom prst="roundRect">
              <a:avLst>
                <a:gd name="adj" fmla="val 52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041708" y="3930015"/>
              <a:ext cx="47625" cy="22907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56972" y="3983355"/>
              <a:ext cx="90963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35316" y="4016216"/>
              <a:ext cx="7519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2017 全国卷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50114" y="4328160"/>
              <a:ext cx="4891469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非空二叉树的先根序列与中根序列相同，其所有非叶结点须满足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　）。A. 只有左子树　B. 只有右子树　C. 度均为 1　D. 度均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 2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265545" y="519874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421564" y="5142548"/>
              <a:ext cx="47114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先根是“根 左 右”，中根是“左 根 右”，两者相同就要求每个结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点的左子树为空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265545" y="575595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421564" y="5699760"/>
              <a:ext cx="48387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B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。穷举 5 个结点的全部二叉树，只有“全是右孩子”的那一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条链满足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非递归遍历与层次遍历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自己拿一个栈替掉系统栈，再拿一个队列做按层访问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为什么要非递归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先根与中根共用一套进出栈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后根遍历的两种策略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队列与层次遍历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88018" cy="909257"/>
            <a:chOff x="520446" y="342900"/>
            <a:chExt cx="72880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880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非递归遍历要做的事：自己维护那条“左侧通路”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111942" cy="1768792"/>
            <a:chOff x="533400" y="1524000"/>
            <a:chExt cx="4111942" cy="1768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111942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343" y="175069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为什么要改写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72478" y="212883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28497" y="2072640"/>
              <a:ext cx="32712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递归深度等于树高加一，树很高时系统栈会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溢出：单支树 n = 10000 就要 10000 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68890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32710"/>
              <a:ext cx="32455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自己写栈也能把遍历过程看得更清楚，第 9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讲的线索化就建立在这个过程上</a:t>
              </a:r>
            </a:p>
          </p:txBody>
        </p:sp>
      </p:grpSp>
      <p:grpSp>
        <p:nvGrpSpPr>
          <p:cNvPr id="18" name="c1-image-2"/>
          <p:cNvGrpSpPr/>
          <p:nvPr/>
        </p:nvGrpSpPr>
        <p:grpSpPr>
          <a:xfrm>
            <a:off x="1028700" y="3468052"/>
            <a:ext cx="3120390" cy="2032255"/>
            <a:chOff x="1028700" y="3468052"/>
            <a:chExt cx="3120390" cy="2032255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2"/>
            <a:srcRect l="0" t="7" r="0" b="7"/>
            <a:stretch>
              <a:fillRect/>
            </a:stretch>
          </p:blipFill>
          <p:spPr>
            <a:xfrm>
              <a:off x="1433512" y="3468052"/>
              <a:ext cx="2311718" cy="1733550"/>
            </a:xfrm>
            <a:prstGeom prst="roundRect">
              <a:avLst>
                <a:gd name="adj" fmla="val 7692"/>
              </a:avLst>
            </a:prstGeom>
          </p:spPr>
        </p:pic>
        <p:sp>
          <p:nvSpPr>
            <p:cNvPr id="17" name="TextBox 17"/>
            <p:cNvSpPr txBox="1"/>
            <p:nvPr/>
          </p:nvSpPr>
          <p:spPr>
            <a:xfrm>
              <a:off x="1028700" y="5294948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沿途放下石子，回头时按相反次序捡起，这正是栈</a:t>
              </a:r>
            </a:p>
          </p:txBody>
        </p:sp>
      </p:grpSp>
      <p:grpSp>
        <p:nvGrpSpPr>
          <p:cNvPr id="28" name="c2-steps-1"/>
          <p:cNvGrpSpPr/>
          <p:nvPr/>
        </p:nvGrpSpPr>
        <p:grpSpPr>
          <a:xfrm>
            <a:off x="4950142" y="1533525"/>
            <a:ext cx="6757341" cy="1106329"/>
            <a:chOff x="4950142" y="1533525"/>
            <a:chExt cx="6757341" cy="1106329"/>
          </a:xfrm>
        </p:grpSpPr>
        <p:sp>
          <p:nvSpPr>
            <p:cNvPr id="19" name="Rectangle 19"/>
            <p:cNvSpPr/>
            <p:nvPr/>
          </p:nvSpPr>
          <p:spPr>
            <a:xfrm>
              <a:off x="5083492" y="1676400"/>
              <a:ext cx="19050" cy="5867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4950142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43766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950142" y="21202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43766" y="2194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62384" y="156495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63528" y="1833086"/>
              <a:ext cx="4082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从根结点开始自上而下沿着左侧分支走，沿途的结点全部压栈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62384" y="215265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363528" y="2419826"/>
              <a:ext cx="6343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自下而上依次弹栈，转向每个结点的右子树，各棵右子树互不相干，各自又是一个同样的子任务</a:t>
              </a:r>
            </a:p>
          </p:txBody>
        </p:sp>
      </p:grpSp>
      <p:grpSp>
        <p:nvGrpSpPr>
          <p:cNvPr id="64" name="c2-tree-2"/>
          <p:cNvGrpSpPr/>
          <p:nvPr/>
        </p:nvGrpSpPr>
        <p:grpSpPr>
          <a:xfrm>
            <a:off x="5649278" y="2886075"/>
            <a:ext cx="5729287" cy="2445067"/>
            <a:chOff x="5649278" y="2886075"/>
            <a:chExt cx="5729287" cy="2445067"/>
          </a:xfrm>
        </p:grpSpPr>
        <p:sp>
          <p:nvSpPr>
            <p:cNvPr id="29" name="Freeform 29"/>
            <p:cNvSpPr/>
            <p:nvPr/>
          </p:nvSpPr>
          <p:spPr>
            <a:xfrm>
              <a:off x="5997892" y="4758690"/>
              <a:ext cx="104775" cy="433388"/>
            </a:xfrm>
            <a:custGeom>
              <a:avLst/>
              <a:gdLst/>
              <a:ahLst/>
              <a:cxnLst/>
              <a:rect l="l" t="t" r="r" b="b"/>
              <a:pathLst>
                <a:path w="104775" h="433388">
                  <a:moveTo>
                    <a:pt x="0" y="0"/>
                  </a:moveTo>
                  <a:lnTo>
                    <a:pt x="104775" y="433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5997892" y="4325302"/>
              <a:ext cx="209550" cy="433388"/>
            </a:xfrm>
            <a:custGeom>
              <a:avLst/>
              <a:gdLst/>
              <a:ahLst/>
              <a:cxnLst/>
              <a:rect l="l" t="t" r="r" b="b"/>
              <a:pathLst>
                <a:path w="209550" h="433388">
                  <a:moveTo>
                    <a:pt x="209550" y="0"/>
                  </a:moveTo>
                  <a:lnTo>
                    <a:pt x="0" y="433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207442" y="4325302"/>
              <a:ext cx="210502" cy="433388"/>
            </a:xfrm>
            <a:custGeom>
              <a:avLst/>
              <a:gdLst/>
              <a:ahLst/>
              <a:cxnLst/>
              <a:rect l="l" t="t" r="r" b="b"/>
              <a:pathLst>
                <a:path w="210502" h="433388">
                  <a:moveTo>
                    <a:pt x="0" y="0"/>
                  </a:moveTo>
                  <a:lnTo>
                    <a:pt x="210502" y="433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5788342" y="3891915"/>
              <a:ext cx="419100" cy="433388"/>
            </a:xfrm>
            <a:custGeom>
              <a:avLst/>
              <a:gdLst/>
              <a:ahLst/>
              <a:cxnLst/>
              <a:rect l="l" t="t" r="r" b="b"/>
              <a:pathLst>
                <a:path w="419100" h="433388">
                  <a:moveTo>
                    <a:pt x="0" y="0"/>
                  </a:moveTo>
                  <a:lnTo>
                    <a:pt x="419100" y="433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465695" y="3891915"/>
              <a:ext cx="419100" cy="433388"/>
            </a:xfrm>
            <a:custGeom>
              <a:avLst/>
              <a:gdLst/>
              <a:ahLst/>
              <a:cxnLst/>
              <a:rect l="l" t="t" r="r" b="b"/>
              <a:pathLst>
                <a:path w="419100" h="433388">
                  <a:moveTo>
                    <a:pt x="0" y="0"/>
                  </a:moveTo>
                  <a:lnTo>
                    <a:pt x="419100" y="433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5788342" y="3458528"/>
              <a:ext cx="839152" cy="433388"/>
            </a:xfrm>
            <a:custGeom>
              <a:avLst/>
              <a:gdLst/>
              <a:ahLst/>
              <a:cxnLst/>
              <a:rect l="l" t="t" r="r" b="b"/>
              <a:pathLst>
                <a:path w="839152" h="433388">
                  <a:moveTo>
                    <a:pt x="839152" y="0"/>
                  </a:moveTo>
                  <a:lnTo>
                    <a:pt x="0" y="433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627495" y="3458528"/>
              <a:ext cx="838200" cy="433388"/>
            </a:xfrm>
            <a:custGeom>
              <a:avLst/>
              <a:gdLst/>
              <a:ahLst/>
              <a:cxnLst/>
              <a:rect l="l" t="t" r="r" b="b"/>
              <a:pathLst>
                <a:path w="838200" h="433388">
                  <a:moveTo>
                    <a:pt x="0" y="0"/>
                  </a:moveTo>
                  <a:lnTo>
                    <a:pt x="838200" y="433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820400" y="3891915"/>
              <a:ext cx="419100" cy="433388"/>
            </a:xfrm>
            <a:custGeom>
              <a:avLst/>
              <a:gdLst/>
              <a:ahLst/>
              <a:cxnLst/>
              <a:rect l="l" t="t" r="r" b="b"/>
              <a:pathLst>
                <a:path w="419100" h="433388">
                  <a:moveTo>
                    <a:pt x="0" y="0"/>
                  </a:moveTo>
                  <a:lnTo>
                    <a:pt x="419100" y="433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9981248" y="3458528"/>
              <a:ext cx="839152" cy="433388"/>
            </a:xfrm>
            <a:custGeom>
              <a:avLst/>
              <a:gdLst/>
              <a:ahLst/>
              <a:cxnLst/>
              <a:rect l="l" t="t" r="r" b="b"/>
              <a:pathLst>
                <a:path w="839152" h="433388">
                  <a:moveTo>
                    <a:pt x="0" y="0"/>
                  </a:moveTo>
                  <a:lnTo>
                    <a:pt x="839152" y="433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6627495" y="3025140"/>
              <a:ext cx="1676400" cy="433388"/>
            </a:xfrm>
            <a:custGeom>
              <a:avLst/>
              <a:gdLst/>
              <a:ahLst/>
              <a:cxnLst/>
              <a:rect l="l" t="t" r="r" b="b"/>
              <a:pathLst>
                <a:path w="1676400" h="433388">
                  <a:moveTo>
                    <a:pt x="1676400" y="0"/>
                  </a:moveTo>
                  <a:lnTo>
                    <a:pt x="0" y="433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303895" y="3025140"/>
              <a:ext cx="1677353" cy="433388"/>
            </a:xfrm>
            <a:custGeom>
              <a:avLst/>
              <a:gdLst/>
              <a:ahLst/>
              <a:cxnLst/>
              <a:rect l="l" t="t" r="r" b="b"/>
              <a:pathLst>
                <a:path w="1677353" h="433388">
                  <a:moveTo>
                    <a:pt x="0" y="0"/>
                  </a:moveTo>
                  <a:lnTo>
                    <a:pt x="1677353" y="433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5963602" y="5053012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5858828" y="4619625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6278880" y="4619625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068378" y="4186238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5649278" y="3752850"/>
              <a:ext cx="278130" cy="27813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7745730" y="4186238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7326630" y="3752850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6488430" y="3319462"/>
              <a:ext cx="278130" cy="27813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1100435" y="4186238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0681335" y="3752850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9842183" y="3319462"/>
              <a:ext cx="278130" cy="2781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8164830" y="2886075"/>
              <a:ext cx="278130" cy="27813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60940" y="513683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956165" y="470249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76218" y="470249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165715" y="426910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746615" y="383571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843068" y="426910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423968" y="383571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85768" y="340233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197773" y="426910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795475" y="3835718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939520" y="340233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262168" y="296894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71" name="c2-callout-3"/>
          <p:cNvGrpSpPr/>
          <p:nvPr/>
        </p:nvGrpSpPr>
        <p:grpSpPr>
          <a:xfrm>
            <a:off x="4950142" y="5584508"/>
            <a:ext cx="6708458" cy="729615"/>
            <a:chOff x="4950142" y="5584508"/>
            <a:chExt cx="6708458" cy="729615"/>
          </a:xfrm>
        </p:grpSpPr>
        <p:sp>
          <p:nvSpPr>
            <p:cNvPr id="65" name="Rectangle 65"/>
            <p:cNvSpPr/>
            <p:nvPr/>
          </p:nvSpPr>
          <p:spPr>
            <a:xfrm>
              <a:off x="4950142" y="5584508"/>
              <a:ext cx="670845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5154930" y="5848350"/>
              <a:ext cx="200026" cy="200026"/>
              <a:chOff x="5154930" y="5848350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5154930" y="58483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5254943" y="5915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5243830" y="59483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5457634" y="5730240"/>
              <a:ext cx="571442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高亮的 A、B、C 就是从根出发的左侧通路，栈里装的始终是这条通路上的结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点。</a:t>
              </a:r>
            </a:p>
          </p:txBody>
        </p:sp>
      </p:grpSp>
      <p:grpSp>
        <p:nvGrpSpPr>
          <p:cNvPr id="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2" name="TextBox 7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非递归先根遍历：边走边访问，边走边压栈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791778"/>
            <a:chOff x="533400" y="1524000"/>
            <a:chExt cx="5626418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非递归先根遍历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140075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NonRecPreOrder(TreeNode *t)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Stack S; TreeNode *p = 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NULL) {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沿左分支下行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visit(p-&gt;data);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走到就访问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S.Push(p);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 = p-&gt;left;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(S.IsEmpty())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S.Pop();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回头处理右子树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p-&gt;right;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480560"/>
            <a:ext cx="5626418" cy="1706880"/>
            <a:chOff x="533400" y="4480560"/>
            <a:chExt cx="5626418" cy="1706880"/>
          </a:xfrm>
        </p:grpSpPr>
        <p:sp>
          <p:nvSpPr>
            <p:cNvPr id="11" name="Rectangle 11"/>
            <p:cNvSpPr/>
            <p:nvPr/>
          </p:nvSpPr>
          <p:spPr>
            <a:xfrm>
              <a:off x="533400" y="4480560"/>
              <a:ext cx="5626418" cy="1706880"/>
            </a:xfrm>
            <a:prstGeom prst="roundRect">
              <a:avLst>
                <a:gd name="adj" fmla="val 669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5233990"/>
              <a:ext cx="200023" cy="200023"/>
              <a:chOff x="738188" y="5233990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233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5300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1273" y="5127784"/>
              <a:ext cx="46540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结点压栈时就已经访问过了，栈只用来记住“将来要回去看它的右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子树”。</a:t>
              </a:r>
            </a:p>
          </p:txBody>
        </p:sp>
      </p:grpSp>
      <p:grpSp>
        <p:nvGrpSpPr>
          <p:cNvPr id="70" name="c2-table-1"/>
          <p:cNvGrpSpPr/>
          <p:nvPr/>
        </p:nvGrpSpPr>
        <p:grpSpPr>
          <a:xfrm>
            <a:off x="6459665" y="1524000"/>
            <a:ext cx="5198935" cy="4069746"/>
            <a:chOff x="6459665" y="1524000"/>
            <a:chExt cx="5198935" cy="4069746"/>
          </a:xfrm>
        </p:grpSpPr>
        <p:sp>
          <p:nvSpPr>
            <p:cNvPr id="17" name="Rectangle 17"/>
            <p:cNvSpPr/>
            <p:nvPr/>
          </p:nvSpPr>
          <p:spPr>
            <a:xfrm>
              <a:off x="6464618" y="1524000"/>
              <a:ext cx="5193982" cy="56769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29400" y="17345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87690" y="17345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56446" y="1641157"/>
              <a:ext cx="48772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栈（底→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顶）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22127" y="1734502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已输出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59296" y="2303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3184" y="2209800"/>
              <a:ext cx="216427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A 压栈，再访问 B 压栈，B 无左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675876" y="2303145"/>
              <a:ext cx="219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714101" y="2303145"/>
              <a:ext cx="219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64618" y="26555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464618" y="266033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59296" y="27774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183184" y="2777490"/>
              <a:ext cx="1395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 B，转向右孩子 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75876" y="277749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714101" y="2777490"/>
              <a:ext cx="219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64618" y="303657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9296" y="31584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83184" y="3158490"/>
              <a:ext cx="15815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D 压栈，D 无左孩子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75876" y="3158490"/>
              <a:ext cx="219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714101" y="3158490"/>
              <a:ext cx="346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D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64618" y="34185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64618" y="342328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59296" y="35404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183184" y="3540443"/>
              <a:ext cx="12684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 D，右孩子为空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75876" y="3540443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714101" y="3540443"/>
              <a:ext cx="346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D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64618" y="37995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59296" y="39214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83184" y="3921443"/>
              <a:ext cx="1395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 A，转向右孩子 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75876" y="392144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714101" y="3921443"/>
              <a:ext cx="346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D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418052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64618" y="418528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9296" y="4303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⑥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183184" y="4303395"/>
              <a:ext cx="162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C 压栈，访问 E 压栈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75876" y="4303395"/>
              <a:ext cx="219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714101" y="4303395"/>
              <a:ext cx="6006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D C 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464618" y="45624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59296" y="4684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⑦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83184" y="4684395"/>
              <a:ext cx="22290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 E，右孩子空；弹出 C，转向 F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75876" y="46843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714101" y="4684395"/>
              <a:ext cx="6006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D C E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464618" y="494347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464618" y="4948238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559296" y="506539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⑧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83184" y="5065395"/>
              <a:ext cx="2161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F 压栈，随后弹出，栈空返回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675876" y="506539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714101" y="5065395"/>
              <a:ext cx="7275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D C E F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6464618" y="1524000"/>
              <a:ext cx="5193982" cy="38061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083742" y="1524000"/>
              <a:ext cx="9525" cy="38061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9576435" y="1524000"/>
              <a:ext cx="9525" cy="38061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10614660" y="1524000"/>
              <a:ext cx="9525" cy="38061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459665" y="5403056"/>
              <a:ext cx="4145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在树 A(左 B，B 的右孩子 D；右 C，C 的两个孩子 E、F) 上的执行过程</a:t>
              </a:r>
            </a:p>
          </p:txBody>
        </p:sp>
      </p:grpSp>
      <p:grpSp>
        <p:nvGrpSpPr>
          <p:cNvPr id="77" name="c2-callout-2"/>
          <p:cNvGrpSpPr/>
          <p:nvPr/>
        </p:nvGrpSpPr>
        <p:grpSpPr>
          <a:xfrm>
            <a:off x="6464618" y="5719762"/>
            <a:ext cx="5193982" cy="467678"/>
            <a:chOff x="6464618" y="5719762"/>
            <a:chExt cx="5193982" cy="467678"/>
          </a:xfrm>
        </p:grpSpPr>
        <p:sp>
          <p:nvSpPr>
            <p:cNvPr id="71" name="Rectangle 71"/>
            <p:cNvSpPr/>
            <p:nvPr/>
          </p:nvSpPr>
          <p:spPr>
            <a:xfrm>
              <a:off x="6464618" y="5719762"/>
              <a:ext cx="5193982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6669405" y="5854065"/>
              <a:ext cx="200026" cy="200026"/>
              <a:chOff x="6669405" y="5854065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6669405" y="58540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6769418" y="592074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6758305" y="595407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6972491" y="5865019"/>
              <a:ext cx="31815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输出 A B D C E F，与递归版本完全一致。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非递归中根遍历：先走到中根序列的第一个结点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544378" cy="2531745"/>
            <a:chOff x="533400" y="1524000"/>
            <a:chExt cx="4544378" cy="25317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544378" cy="2531745"/>
            </a:xfrm>
            <a:prstGeom prst="roundRect">
              <a:avLst>
                <a:gd name="adj" fmla="val 376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非递归中根遍历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766"/>
              <a:ext cx="2417826" cy="2032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NonRecInOrder(TreeNode *t)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Stack S; TreeNode *p = 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NULL) {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只压栈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S.Push(p);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 = p-&gt;left;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(S.IsEmpty())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S.Pop();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弹出才访问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visit(p-&gt;data);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p-&gt;right;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4246245"/>
            <a:ext cx="4544378" cy="1584960"/>
            <a:chOff x="533400" y="4246245"/>
            <a:chExt cx="4544378" cy="1584960"/>
          </a:xfrm>
        </p:grpSpPr>
        <p:sp>
          <p:nvSpPr>
            <p:cNvPr id="11" name="Rectangle 11"/>
            <p:cNvSpPr/>
            <p:nvPr/>
          </p:nvSpPr>
          <p:spPr>
            <a:xfrm>
              <a:off x="533400" y="4246245"/>
              <a:ext cx="4544378" cy="1584960"/>
            </a:xfrm>
            <a:prstGeom prst="roundRect">
              <a:avLst>
                <a:gd name="adj" fmla="val 721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4938715"/>
              <a:ext cx="200023" cy="200023"/>
              <a:chOff x="738188" y="4938715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9387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50053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130" y="4795838"/>
              <a:ext cx="35204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和先根算法逐字比较，只有 visit 从“压栈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前”挪到了“弹栈后”，其余一模一样。</a:t>
              </a:r>
            </a:p>
          </p:txBody>
        </p:sp>
      </p:grpSp>
      <p:grpSp>
        <p:nvGrpSpPr>
          <p:cNvPr id="52" name="c2-tree-1"/>
          <p:cNvGrpSpPr/>
          <p:nvPr/>
        </p:nvGrpSpPr>
        <p:grpSpPr>
          <a:xfrm>
            <a:off x="6015038" y="1649730"/>
            <a:ext cx="5403532" cy="3082290"/>
            <a:chOff x="6015038" y="1649730"/>
            <a:chExt cx="5403532" cy="3082290"/>
          </a:xfrm>
        </p:grpSpPr>
        <p:sp>
          <p:nvSpPr>
            <p:cNvPr id="17" name="Freeform 17"/>
            <p:cNvSpPr/>
            <p:nvPr/>
          </p:nvSpPr>
          <p:spPr>
            <a:xfrm>
              <a:off x="6363652" y="4024312"/>
              <a:ext cx="98107" cy="555308"/>
            </a:xfrm>
            <a:custGeom>
              <a:avLst/>
              <a:gdLst/>
              <a:ahLst/>
              <a:cxnLst/>
              <a:rect l="l" t="t" r="r" b="b"/>
              <a:pathLst>
                <a:path w="98107" h="555308">
                  <a:moveTo>
                    <a:pt x="0" y="0"/>
                  </a:moveTo>
                  <a:lnTo>
                    <a:pt x="98107" y="5553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363652" y="3469005"/>
              <a:ext cx="196215" cy="555308"/>
            </a:xfrm>
            <a:custGeom>
              <a:avLst/>
              <a:gdLst/>
              <a:ahLst/>
              <a:cxnLst/>
              <a:rect l="l" t="t" r="r" b="b"/>
              <a:pathLst>
                <a:path w="196215" h="555308">
                  <a:moveTo>
                    <a:pt x="196215" y="0"/>
                  </a:moveTo>
                  <a:lnTo>
                    <a:pt x="0" y="5553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6559868" y="3469005"/>
              <a:ext cx="195262" cy="555308"/>
            </a:xfrm>
            <a:custGeom>
              <a:avLst/>
              <a:gdLst/>
              <a:ahLst/>
              <a:cxnLst/>
              <a:rect l="l" t="t" r="r" b="b"/>
              <a:pathLst>
                <a:path w="195262" h="555308">
                  <a:moveTo>
                    <a:pt x="0" y="0"/>
                  </a:moveTo>
                  <a:lnTo>
                    <a:pt x="195262" y="5553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167438" y="2912745"/>
              <a:ext cx="392430" cy="556260"/>
            </a:xfrm>
            <a:custGeom>
              <a:avLst/>
              <a:gdLst/>
              <a:ahLst/>
              <a:cxnLst/>
              <a:rect l="l" t="t" r="r" b="b"/>
              <a:pathLst>
                <a:path w="392430" h="556260">
                  <a:moveTo>
                    <a:pt x="0" y="0"/>
                  </a:moveTo>
                  <a:lnTo>
                    <a:pt x="392430" y="5562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736205" y="2912745"/>
              <a:ext cx="392430" cy="556260"/>
            </a:xfrm>
            <a:custGeom>
              <a:avLst/>
              <a:gdLst/>
              <a:ahLst/>
              <a:cxnLst/>
              <a:rect l="l" t="t" r="r" b="b"/>
              <a:pathLst>
                <a:path w="392430" h="556260">
                  <a:moveTo>
                    <a:pt x="0" y="0"/>
                  </a:moveTo>
                  <a:lnTo>
                    <a:pt x="392430" y="5562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167438" y="2357438"/>
              <a:ext cx="783907" cy="555308"/>
            </a:xfrm>
            <a:custGeom>
              <a:avLst/>
              <a:gdLst/>
              <a:ahLst/>
              <a:cxnLst/>
              <a:rect l="l" t="t" r="r" b="b"/>
              <a:pathLst>
                <a:path w="783907" h="555308">
                  <a:moveTo>
                    <a:pt x="783907" y="0"/>
                  </a:moveTo>
                  <a:lnTo>
                    <a:pt x="0" y="5553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951345" y="2357438"/>
              <a:ext cx="784860" cy="555308"/>
            </a:xfrm>
            <a:custGeom>
              <a:avLst/>
              <a:gdLst/>
              <a:ahLst/>
              <a:cxnLst/>
              <a:rect l="l" t="t" r="r" b="b"/>
              <a:pathLst>
                <a:path w="784860" h="555308">
                  <a:moveTo>
                    <a:pt x="0" y="0"/>
                  </a:moveTo>
                  <a:lnTo>
                    <a:pt x="784860" y="5553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873740" y="2912745"/>
              <a:ext cx="392430" cy="556260"/>
            </a:xfrm>
            <a:custGeom>
              <a:avLst/>
              <a:gdLst/>
              <a:ahLst/>
              <a:cxnLst/>
              <a:rect l="l" t="t" r="r" b="b"/>
              <a:pathLst>
                <a:path w="392430" h="556260">
                  <a:moveTo>
                    <a:pt x="0" y="0"/>
                  </a:moveTo>
                  <a:lnTo>
                    <a:pt x="392430" y="55626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10089832" y="2357438"/>
              <a:ext cx="783907" cy="555308"/>
            </a:xfrm>
            <a:custGeom>
              <a:avLst/>
              <a:gdLst/>
              <a:ahLst/>
              <a:cxnLst/>
              <a:rect l="l" t="t" r="r" b="b"/>
              <a:pathLst>
                <a:path w="783907" h="555308">
                  <a:moveTo>
                    <a:pt x="0" y="0"/>
                  </a:moveTo>
                  <a:lnTo>
                    <a:pt x="783907" y="5553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951345" y="1802130"/>
              <a:ext cx="1569720" cy="555308"/>
            </a:xfrm>
            <a:custGeom>
              <a:avLst/>
              <a:gdLst/>
              <a:ahLst/>
              <a:cxnLst/>
              <a:rect l="l" t="t" r="r" b="b"/>
              <a:pathLst>
                <a:path w="1569720" h="555308">
                  <a:moveTo>
                    <a:pt x="1569720" y="0"/>
                  </a:moveTo>
                  <a:lnTo>
                    <a:pt x="0" y="5553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521065" y="1802130"/>
              <a:ext cx="1568767" cy="555308"/>
            </a:xfrm>
            <a:custGeom>
              <a:avLst/>
              <a:gdLst/>
              <a:ahLst/>
              <a:cxnLst/>
              <a:rect l="l" t="t" r="r" b="b"/>
              <a:pathLst>
                <a:path w="1568767" h="555308">
                  <a:moveTo>
                    <a:pt x="0" y="0"/>
                  </a:moveTo>
                  <a:lnTo>
                    <a:pt x="1568767" y="55530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309360" y="442722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6211252" y="387191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6602730" y="3871912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6407468" y="331660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6015038" y="2760345"/>
              <a:ext cx="304800" cy="3048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7976235" y="331660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7583805" y="276034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798945" y="22050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1113770" y="331660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10721340" y="2760345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9937432" y="220503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368665" y="164973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420033" y="452437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321925" y="396811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713403" y="396811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18140" y="341280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125710" y="285750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86908" y="341280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94478" y="285750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909618" y="230124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24443" y="341280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848815" y="2857500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48105" y="230124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79338" y="174593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5382578" y="5048250"/>
            <a:ext cx="6276022" cy="782955"/>
            <a:chOff x="5382578" y="5048250"/>
            <a:chExt cx="6276022" cy="782955"/>
          </a:xfrm>
        </p:grpSpPr>
        <p:sp>
          <p:nvSpPr>
            <p:cNvPr id="53" name="Rectangle 53"/>
            <p:cNvSpPr/>
            <p:nvPr/>
          </p:nvSpPr>
          <p:spPr>
            <a:xfrm>
              <a:off x="5382578" y="5048250"/>
              <a:ext cx="6276022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5587365" y="5339715"/>
              <a:ext cx="200026" cy="200026"/>
              <a:chOff x="5587365" y="5339715"/>
              <a:chExt cx="200026" cy="20002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587365" y="533971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687378" y="54063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676265" y="543972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5889308" y="5196840"/>
              <a:ext cx="5320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从根出发沿左分支下行，走到没有左孩子的 C，它就是中根序列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的第一个结点。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中根非递归算法为什么是对的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card-1"/>
          <p:cNvGrpSpPr/>
          <p:nvPr/>
        </p:nvGrpSpPr>
        <p:grpSpPr>
          <a:xfrm>
            <a:off x="533400" y="1524000"/>
            <a:ext cx="4977765" cy="1720215"/>
            <a:chOff x="533400" y="1524000"/>
            <a:chExt cx="4977765" cy="172021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0557" y="176926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要证明的三件事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92642" y="176879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算法正确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1050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2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2040" y="212979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能按中根遍历的次序访问各结点；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1050" y="245173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2899" y="24940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2040" y="2465070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遍历结束后栈内不留存树中的结点；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1050" y="27870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2899" y="2829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2040" y="280035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遍历结束后算法执行到返回语句。</a:t>
              </a:r>
            </a:p>
          </p:txBody>
        </p:sp>
      </p:grpSp>
      <p:grpSp>
        <p:nvGrpSpPr>
          <p:cNvPr id="28" name="c1-callout-2"/>
          <p:cNvGrpSpPr/>
          <p:nvPr/>
        </p:nvGrpSpPr>
        <p:grpSpPr>
          <a:xfrm>
            <a:off x="533400" y="3434715"/>
            <a:ext cx="4977765" cy="782955"/>
            <a:chOff x="533400" y="3434715"/>
            <a:chExt cx="4977765" cy="782955"/>
          </a:xfrm>
        </p:grpSpPr>
        <p:sp>
          <p:nvSpPr>
            <p:cNvPr id="22" name="Rectangle 22"/>
            <p:cNvSpPr/>
            <p:nvPr/>
          </p:nvSpPr>
          <p:spPr>
            <a:xfrm>
              <a:off x="533400" y="3434715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8188" y="3726180"/>
              <a:ext cx="200026" cy="200026"/>
              <a:chOff x="738188" y="3726180"/>
              <a:chExt cx="200026" cy="20002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8188" y="37261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38200" y="37928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27088" y="38261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1040130" y="3583305"/>
              <a:ext cx="39585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归纳的对象是“当前 p 指向的子树加上它下面那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段栈”，不是整棵树。</a:t>
              </a:r>
            </a:p>
          </p:txBody>
        </p:sp>
      </p:grpSp>
      <p:grpSp>
        <p:nvGrpSpPr>
          <p:cNvPr id="46" name="c2-steps-1"/>
          <p:cNvGrpSpPr/>
          <p:nvPr/>
        </p:nvGrpSpPr>
        <p:grpSpPr>
          <a:xfrm>
            <a:off x="5815965" y="1533525"/>
            <a:ext cx="5546217" cy="3702654"/>
            <a:chOff x="5815965" y="1533525"/>
            <a:chExt cx="5546217" cy="3702654"/>
          </a:xfrm>
        </p:grpSpPr>
        <p:sp>
          <p:nvSpPr>
            <p:cNvPr id="29" name="Rectangle 29"/>
            <p:cNvSpPr/>
            <p:nvPr/>
          </p:nvSpPr>
          <p:spPr>
            <a:xfrm>
              <a:off x="5949315" y="1676400"/>
              <a:ext cx="19050" cy="28917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815965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909589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815965" y="24193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09589" y="24931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15965" y="33042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09589" y="33780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5815965" y="442531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09589" y="4499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27445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归纳基础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28588" y="1861661"/>
              <a:ext cx="51335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p 指向的子树有 n 个结点。n = 0 时 p 为 NULL，内层循环不执行，直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接弹栈，三条结论都成立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27445" y="245364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归纳假设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28588" y="2746534"/>
              <a:ext cx="507669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假设结点数小于 n 时算法正确，即它会按中根次序访问完这棵子树，并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把栈恢复成进入前的样子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27445" y="333851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归纳步骤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28588" y="3632359"/>
              <a:ext cx="5076698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结点数为 n 时：先把 p 及其左侧通路压栈；左子树只有 k &lt; n 个结点，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由假设它被正确访问完；随后弹出 p 访问 p；右子树有 n−k−1 &lt; n 个结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点，由假设也被正确访问完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27445" y="44596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28588" y="4752499"/>
              <a:ext cx="4930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三段合起来正是“左子树 → 根 → 右子树”，栈也回到了原样，于是对 n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个结点成立</a:t>
              </a:r>
            </a:p>
          </p:txBody>
        </p:sp>
      </p:grpSp>
      <p:grpSp>
        <p:nvGrpSpPr>
          <p:cNvPr id="52" name="c2-callout-2"/>
          <p:cNvGrpSpPr/>
          <p:nvPr/>
        </p:nvGrpSpPr>
        <p:grpSpPr>
          <a:xfrm>
            <a:off x="5815965" y="5414962"/>
            <a:ext cx="5842635" cy="782955"/>
            <a:chOff x="5815965" y="5414962"/>
            <a:chExt cx="5842635" cy="782955"/>
          </a:xfrm>
        </p:grpSpPr>
        <p:sp>
          <p:nvSpPr>
            <p:cNvPr id="47" name="Rectangle 47"/>
            <p:cNvSpPr/>
            <p:nvPr/>
          </p:nvSpPr>
          <p:spPr>
            <a:xfrm>
              <a:off x="5815965" y="5414962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020753" y="5706430"/>
              <a:ext cx="200023" cy="200023"/>
              <a:chOff x="6020753" y="5706430"/>
              <a:chExt cx="200023" cy="20002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020753" y="57064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154103" y="57731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322695" y="5563552"/>
              <a:ext cx="49396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同一套归纳换掉 visit 的位置就能证明非递归先根算法，后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根算法要再加一条“右子树是否已访问”的不变式。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运行实例：中根遍历时栈的完整变化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8924315" cy="264033"/>
            <a:chOff x="526542" y="1545907"/>
            <a:chExt cx="8924315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8924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源课件把这道运行实例留作作业，这里补全全过程。树是 A(左 B，B 的右孩子 D；右 C，C 的两个孩子 E、F)。</a:t>
              </a:r>
            </a:p>
          </p:txBody>
        </p:sp>
      </p:grpSp>
      <p:grpSp>
        <p:nvGrpSpPr>
          <p:cNvPr id="26" name="c1-tree-1"/>
          <p:cNvGrpSpPr/>
          <p:nvPr/>
        </p:nvGrpSpPr>
        <p:grpSpPr>
          <a:xfrm>
            <a:off x="1268730" y="2065020"/>
            <a:ext cx="2668905" cy="1654493"/>
            <a:chOff x="1268730" y="2065020"/>
            <a:chExt cx="2668905" cy="1654493"/>
          </a:xfrm>
        </p:grpSpPr>
        <p:sp>
          <p:nvSpPr>
            <p:cNvPr id="9" name="Freeform 9"/>
            <p:cNvSpPr/>
            <p:nvPr/>
          </p:nvSpPr>
          <p:spPr>
            <a:xfrm>
              <a:off x="1453515" y="2892742"/>
              <a:ext cx="459105" cy="641985"/>
            </a:xfrm>
            <a:custGeom>
              <a:avLst/>
              <a:gdLst/>
              <a:ahLst/>
              <a:cxnLst/>
              <a:rect l="l" t="t" r="r" b="b"/>
              <a:pathLst>
                <a:path w="459105" h="641985">
                  <a:moveTo>
                    <a:pt x="0" y="0"/>
                  </a:moveTo>
                  <a:lnTo>
                    <a:pt x="459105" y="6419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832735" y="2892742"/>
              <a:ext cx="460058" cy="641985"/>
            </a:xfrm>
            <a:custGeom>
              <a:avLst/>
              <a:gdLst/>
              <a:ahLst/>
              <a:cxnLst/>
              <a:rect l="l" t="t" r="r" b="b"/>
              <a:pathLst>
                <a:path w="460058" h="641985">
                  <a:moveTo>
                    <a:pt x="460058" y="0"/>
                  </a:moveTo>
                  <a:lnTo>
                    <a:pt x="0" y="6419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292792" y="2892742"/>
              <a:ext cx="460058" cy="641985"/>
            </a:xfrm>
            <a:custGeom>
              <a:avLst/>
              <a:gdLst/>
              <a:ahLst/>
              <a:cxnLst/>
              <a:rect l="l" t="t" r="r" b="b"/>
              <a:pathLst>
                <a:path w="460058" h="641985">
                  <a:moveTo>
                    <a:pt x="0" y="0"/>
                  </a:moveTo>
                  <a:lnTo>
                    <a:pt x="460058" y="6419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453515" y="2249805"/>
              <a:ext cx="919162" cy="642938"/>
            </a:xfrm>
            <a:custGeom>
              <a:avLst/>
              <a:gdLst/>
              <a:ahLst/>
              <a:cxnLst/>
              <a:rect l="l" t="t" r="r" b="b"/>
              <a:pathLst>
                <a:path w="919162" h="642938">
                  <a:moveTo>
                    <a:pt x="919162" y="0"/>
                  </a:moveTo>
                  <a:lnTo>
                    <a:pt x="0" y="6429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2372678" y="2249805"/>
              <a:ext cx="920115" cy="642938"/>
            </a:xfrm>
            <a:custGeom>
              <a:avLst/>
              <a:gdLst/>
              <a:ahLst/>
              <a:cxnLst/>
              <a:rect l="l" t="t" r="r" b="b"/>
              <a:pathLst>
                <a:path w="920115" h="642938">
                  <a:moveTo>
                    <a:pt x="0" y="0"/>
                  </a:moveTo>
                  <a:lnTo>
                    <a:pt x="920115" y="64293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1727835" y="3349943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268730" y="2707958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647950" y="3349943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568065" y="3349943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3108008" y="2707958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2187892" y="2065020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867417" y="347424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408312" y="283225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87532" y="347424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07647" y="347424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47589" y="283225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27474" y="21893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33" name="c1-callout-2"/>
          <p:cNvGrpSpPr/>
          <p:nvPr/>
        </p:nvGrpSpPr>
        <p:grpSpPr>
          <a:xfrm>
            <a:off x="533400" y="4026218"/>
            <a:ext cx="3678555" cy="481012"/>
            <a:chOff x="533400" y="4026218"/>
            <a:chExt cx="3678555" cy="481012"/>
          </a:xfrm>
        </p:grpSpPr>
        <p:sp>
          <p:nvSpPr>
            <p:cNvPr id="27" name="Rectangle 27"/>
            <p:cNvSpPr/>
            <p:nvPr/>
          </p:nvSpPr>
          <p:spPr>
            <a:xfrm>
              <a:off x="533400" y="4026218"/>
              <a:ext cx="3678555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4167188"/>
              <a:ext cx="200026" cy="200026"/>
              <a:chOff x="738188" y="4167188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41671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38200" y="42338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7088" y="42672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892" y="4172902"/>
              <a:ext cx="1901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中根序列 B D A E C F。</a:t>
              </a:r>
            </a:p>
          </p:txBody>
        </p:sp>
      </p:grpSp>
      <p:grpSp>
        <p:nvGrpSpPr>
          <p:cNvPr id="97" name="c2-table-1"/>
          <p:cNvGrpSpPr/>
          <p:nvPr/>
        </p:nvGrpSpPr>
        <p:grpSpPr>
          <a:xfrm>
            <a:off x="4516755" y="1928812"/>
            <a:ext cx="7141845" cy="4400550"/>
            <a:chOff x="4516755" y="1928812"/>
            <a:chExt cx="7141845" cy="4400550"/>
          </a:xfrm>
        </p:grpSpPr>
        <p:sp>
          <p:nvSpPr>
            <p:cNvPr id="34" name="Rectangle 34"/>
            <p:cNvSpPr/>
            <p:nvPr/>
          </p:nvSpPr>
          <p:spPr>
            <a:xfrm>
              <a:off x="4516755" y="1928812"/>
              <a:ext cx="714184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53648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9582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动作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54045" y="2050256"/>
              <a:ext cx="852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栈（底→顶）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77106" y="2050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已输出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13910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399722" y="2450306"/>
              <a:ext cx="2505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 依次进栈，p 走到 B 的空左孩子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99208" y="2450306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56520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516755" y="272415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516755" y="2728912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613910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②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99722" y="2850356"/>
              <a:ext cx="24507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 B 并访问，p 转向 B 的右孩子 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899208" y="285035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256520" y="285035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4516755" y="312420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613910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③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399722" y="3250406"/>
              <a:ext cx="1965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进栈，p 走到 D 的空左孩子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899208" y="3250406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D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256520" y="325040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4516755" y="352425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4516755" y="3529012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613910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④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399722" y="3650456"/>
              <a:ext cx="2466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 D 并访问，p 转向 D 的空右孩子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99208" y="365045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56520" y="3650456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D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516755" y="392430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4613910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⑤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399722" y="4050506"/>
              <a:ext cx="24507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 A 并访问，p 转向 A 的右孩子 C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899208" y="40505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256520" y="4050506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D A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516755" y="432435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4516755" y="4329112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4613910" y="44505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399722" y="4450556"/>
              <a:ext cx="9883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C、E 依次进栈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899208" y="4450556"/>
              <a:ext cx="2344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 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256520" y="4450556"/>
              <a:ext cx="3698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D A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4516755" y="472440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4613910" y="4850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⑦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399722" y="4850606"/>
              <a:ext cx="21320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 E 并访问，p 转向空右孩子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899208" y="4850606"/>
              <a:ext cx="990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256520" y="4850606"/>
              <a:ext cx="5052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D A E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4516755" y="512445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4516755" y="5129212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613910" y="52506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⑧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399722" y="5250656"/>
              <a:ext cx="21167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弹出 C 并访问，p 转向右孩子 F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899208" y="52506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256520" y="5250656"/>
              <a:ext cx="6407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D A E C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4516755" y="552450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613910" y="56507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⑨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5399722" y="5650706"/>
              <a:ext cx="16545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进栈后随即弹出并访问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899208" y="565070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256520" y="5650706"/>
              <a:ext cx="7761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D A E C F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4516755" y="5924550"/>
              <a:ext cx="714184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4516755" y="5929312"/>
              <a:ext cx="714184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4613910" y="60507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⑩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5399722" y="60507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栈空，算法返回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899208" y="60507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256520" y="6050756"/>
              <a:ext cx="7761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D A E C F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4516755" y="1928812"/>
              <a:ext cx="7141845" cy="44005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4" name="Rectangle 94"/>
            <p:cNvSpPr/>
            <p:nvPr/>
          </p:nvSpPr>
          <p:spPr>
            <a:xfrm>
              <a:off x="5297805" y="1928812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8797290" y="1928812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10154602" y="1928812"/>
              <a:ext cx="9525" cy="44005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先根与中根：进栈序列和出栈序列完全一样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531745"/>
            <a:chOff x="533400" y="1524000"/>
            <a:chExt cx="5410200" cy="25317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31745"/>
            </a:xfrm>
            <a:prstGeom prst="roundRect">
              <a:avLst>
                <a:gd name="adj" fmla="val 376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非递归先根遍历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766"/>
              <a:ext cx="2051939" cy="2032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NonRecPreOrder(TreeNode *t)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Stack S; TreeNode *p = 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NULL)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visit(p-&gt;data);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S.Push(p);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 = p-&gt;left;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(S.IsEmpty())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S.Pop();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p-&gt;right;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246245"/>
            <a:ext cx="5410200" cy="1030605"/>
            <a:chOff x="533400" y="4246245"/>
            <a:chExt cx="5410200" cy="1030605"/>
          </a:xfrm>
        </p:grpSpPr>
        <p:sp>
          <p:nvSpPr>
            <p:cNvPr id="11" name="Rectangle 11"/>
            <p:cNvSpPr/>
            <p:nvPr/>
          </p:nvSpPr>
          <p:spPr>
            <a:xfrm>
              <a:off x="533400" y="4246245"/>
              <a:ext cx="5410200" cy="1030605"/>
            </a:xfrm>
            <a:prstGeom prst="roundRect">
              <a:avLst>
                <a:gd name="adj" fmla="val 129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379595"/>
              <a:ext cx="47625" cy="763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445579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54507" y="449151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看进栈的时机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4832985"/>
              <a:ext cx="50332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压栈那一行紧挨着 visit，所以 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进栈序列就是先根序列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6248400" y="1524000"/>
            <a:ext cx="5410200" cy="2531745"/>
            <a:chOff x="6248400" y="1524000"/>
            <a:chExt cx="5410200" cy="2531745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2531745"/>
            </a:xfrm>
            <a:prstGeom prst="roundRect">
              <a:avLst>
                <a:gd name="adj" fmla="val 376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797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非递归中根遍历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76988" y="1934766"/>
              <a:ext cx="1991868" cy="20321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NonRecInOrder(TreeNode *t)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Stack S; TreeNode *p = 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NULL)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S.Push(p);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 = p-&gt;left;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(S.IsEmpty())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S.Pop();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visit(p-&gt;data);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p-&gt;right;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2-card-2"/>
          <p:cNvGrpSpPr/>
          <p:nvPr/>
        </p:nvGrpSpPr>
        <p:grpSpPr>
          <a:xfrm>
            <a:off x="6248400" y="4246245"/>
            <a:ext cx="5410200" cy="1030605"/>
            <a:chOff x="6248400" y="4246245"/>
            <a:chExt cx="5410200" cy="1030605"/>
          </a:xfrm>
        </p:grpSpPr>
        <p:sp>
          <p:nvSpPr>
            <p:cNvPr id="21" name="Rectangle 21"/>
            <p:cNvSpPr/>
            <p:nvPr/>
          </p:nvSpPr>
          <p:spPr>
            <a:xfrm>
              <a:off x="6248400" y="4246245"/>
              <a:ext cx="5410200" cy="1030605"/>
            </a:xfrm>
            <a:prstGeom prst="roundRect">
              <a:avLst>
                <a:gd name="adj" fmla="val 129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4379595"/>
              <a:ext cx="47625" cy="7639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96050" y="445579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69507" y="449151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看出栈的时机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88430" y="4832985"/>
              <a:ext cx="47202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访问紧跟在弹栈之后，所以 </a:t>
              </a:r>
              <a:r>
                <a:rPr lang="zh-CN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出栈序列就是中根序列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2" name="takeaway"/>
          <p:cNvGrpSpPr/>
          <p:nvPr/>
        </p:nvGrpSpPr>
        <p:grpSpPr>
          <a:xfrm>
            <a:off x="533400" y="5579745"/>
            <a:ext cx="11125200" cy="782955"/>
            <a:chOff x="533400" y="5579745"/>
            <a:chExt cx="11125200" cy="782955"/>
          </a:xfrm>
        </p:grpSpPr>
        <p:sp>
          <p:nvSpPr>
            <p:cNvPr id="27" name="Rectangle 27"/>
            <p:cNvSpPr/>
            <p:nvPr/>
          </p:nvSpPr>
          <p:spPr>
            <a:xfrm>
              <a:off x="533400" y="5579745"/>
              <a:ext cx="11125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871212"/>
              <a:ext cx="200023" cy="200023"/>
              <a:chOff x="738188" y="5871212"/>
              <a:chExt cx="200023" cy="200023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871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71538" y="5937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130" y="5728335"/>
              <a:ext cx="99783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两段代码的控制流一字不差，于是同一棵树上：进栈序列 = 先根序列，出栈序列 = 中根序列。这条对应关系是后面二叉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树计数的关键。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3" name="TextBox 3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后根遍历难在哪：弹出来还不能马上访问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4977765" cy="1847850"/>
            <a:chOff x="533400" y="1524000"/>
            <a:chExt cx="4977765" cy="18478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847850"/>
            </a:xfrm>
            <a:prstGeom prst="roundRect">
              <a:avLst>
                <a:gd name="adj" fmla="val 72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81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73430" y="2110740"/>
              <a:ext cx="4234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沿左分支下行的过程和中根遍历一样，但弹出 p 之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后不能立刻访问 p，必须先把 p 的右子树遍历完。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4573" y="2728436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也就是说，同一个结点要在栈顶出现两次：一次去右子树，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一次才轮到它自己。</a:t>
              </a:r>
            </a:p>
          </p:txBody>
        </p:sp>
      </p:grpSp>
      <p:grpSp>
        <p:nvGrpSpPr>
          <p:cNvPr id="20" name="c1-callout-2"/>
          <p:cNvGrpSpPr/>
          <p:nvPr/>
        </p:nvGrpSpPr>
        <p:grpSpPr>
          <a:xfrm>
            <a:off x="533400" y="3562350"/>
            <a:ext cx="4977765" cy="2038350"/>
            <a:chOff x="533400" y="3562350"/>
            <a:chExt cx="4977765" cy="2038350"/>
          </a:xfrm>
        </p:grpSpPr>
        <p:sp>
          <p:nvSpPr>
            <p:cNvPr id="14" name="Rectangle 14"/>
            <p:cNvSpPr/>
            <p:nvPr/>
          </p:nvSpPr>
          <p:spPr>
            <a:xfrm>
              <a:off x="533400" y="3562350"/>
              <a:ext cx="4977765" cy="2038350"/>
            </a:xfrm>
            <a:prstGeom prst="roundRect">
              <a:avLst>
                <a:gd name="adj" fmla="val 5607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38188" y="4481513"/>
              <a:ext cx="200026" cy="200026"/>
              <a:chOff x="738188" y="4481513"/>
              <a:chExt cx="200026" cy="20002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38188" y="448151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38200" y="45481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27088" y="458152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040130" y="4200525"/>
              <a:ext cx="327279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后根遍历的次序是 Postorder(T_d)、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visit(d)，再 Postorder(T_{d−1})、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visit(d−1)，自下而上一层层收尾。</a:t>
              </a:r>
            </a:p>
          </p:txBody>
        </p:sp>
      </p:grpSp>
      <p:grpSp>
        <p:nvGrpSpPr>
          <p:cNvPr id="41" name="c2-compare-1"/>
          <p:cNvGrpSpPr/>
          <p:nvPr/>
        </p:nvGrpSpPr>
        <p:grpSpPr>
          <a:xfrm>
            <a:off x="5815965" y="1524000"/>
            <a:ext cx="5842635" cy="3103245"/>
            <a:chOff x="5815965" y="1524000"/>
            <a:chExt cx="5842635" cy="3103245"/>
          </a:xfrm>
        </p:grpSpPr>
        <p:sp>
          <p:nvSpPr>
            <p:cNvPr id="21" name="Rectangle 21"/>
            <p:cNvSpPr/>
            <p:nvPr/>
          </p:nvSpPr>
          <p:spPr>
            <a:xfrm>
              <a:off x="5815965" y="1524000"/>
              <a:ext cx="2711768" cy="3103245"/>
            </a:xfrm>
            <a:prstGeom prst="roundRect">
              <a:avLst>
                <a:gd name="adj" fmla="val 4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25490" y="1657350"/>
              <a:ext cx="47625" cy="28365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055995" y="1758315"/>
              <a:ext cx="2090261" cy="5505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 1：不弹栈，只看栈</a:t>
              </a:r>
              <a:br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顶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6069330" y="24326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27445" y="2369820"/>
              <a:ext cx="18821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Peek 取栈顶元素，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不把它弹出去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069330" y="30537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27445" y="2990850"/>
              <a:ext cx="19678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另设指针 pre 记住刚访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问完的结点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069330" y="36747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27445" y="3611880"/>
              <a:ext cx="1920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栈顶的右子树为空或刚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好等于 pre，才弹栈并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46832" y="1524000"/>
              <a:ext cx="2711768" cy="3103245"/>
            </a:xfrm>
            <a:prstGeom prst="roundRect">
              <a:avLst>
                <a:gd name="adj" fmla="val 491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956358" y="1657350"/>
              <a:ext cx="47625" cy="2836545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86862" y="1758315"/>
              <a:ext cx="221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策略 2：允许多次进出栈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9200198" y="21755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58312" y="211264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结点弹出后马上带着新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标号再压回去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9200198" y="27965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358312" y="273367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栈元素变成二元组，多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存一个进出栈次数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9200198" y="341757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358312" y="3354705"/>
              <a:ext cx="1920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每个结点进出栈三次，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第三次才访问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8575358" y="2913698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645698" y="3009900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5815965" y="4817745"/>
            <a:ext cx="5842635" cy="782955"/>
            <a:chOff x="5815965" y="4817745"/>
            <a:chExt cx="5842635" cy="782955"/>
          </a:xfrm>
        </p:grpSpPr>
        <p:sp>
          <p:nvSpPr>
            <p:cNvPr id="42" name="Rectangle 42"/>
            <p:cNvSpPr/>
            <p:nvPr/>
          </p:nvSpPr>
          <p:spPr>
            <a:xfrm>
              <a:off x="5815965" y="481774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020753" y="5109212"/>
              <a:ext cx="200023" cy="200023"/>
              <a:chOff x="6020753" y="5109212"/>
              <a:chExt cx="200023" cy="20002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020753" y="51092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154103" y="51758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322695" y="4966335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两种策略都要回答同一个问题：轮到这个结点时，它的右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子树到底遍历完没有。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79065" cy="909257"/>
            <a:chOff x="520446" y="342900"/>
            <a:chExt cx="697906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7906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后根遍历版本 1：用 pre 记住刚访问完的结点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4356735"/>
            <a:chOff x="533400" y="1524000"/>
            <a:chExt cx="6059805" cy="43567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356735"/>
            </a:xfrm>
            <a:prstGeom prst="roundRect">
              <a:avLst>
                <a:gd name="adj" fmla="val 218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78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非递归后根遍历（版本 1）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923030" cy="38719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NonRecPostOrder(TreeNode *t)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Stack S; TreeNode *p = t, *pre = NULL;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true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NULL) {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沿左分支下行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S.Push(p);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 = p-&gt;left;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(S.IsEmpty())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S.Peek();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只看栈顶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(p-&gt;right == NULL || p-&gt;right == pre)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 = S.Pop();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visit(p-&gt;data);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pre = p;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 = NULL;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不再沿左分支下行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 = p-&gt;right;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先去右子树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8" name="c2-card-1"/>
          <p:cNvGrpSpPr/>
          <p:nvPr/>
        </p:nvGrpSpPr>
        <p:grpSpPr>
          <a:xfrm>
            <a:off x="6898005" y="1524000"/>
            <a:ext cx="4760595" cy="1651635"/>
            <a:chOff x="6898005" y="1524000"/>
            <a:chExt cx="4760595" cy="1651635"/>
          </a:xfrm>
        </p:grpSpPr>
        <p:sp>
          <p:nvSpPr>
            <p:cNvPr id="11" name="Rectangle 11"/>
            <p:cNvSpPr/>
            <p:nvPr/>
          </p:nvSpPr>
          <p:spPr>
            <a:xfrm>
              <a:off x="6898005" y="1524000"/>
              <a:ext cx="4760595" cy="1651635"/>
            </a:xfrm>
            <a:prstGeom prst="roundRect">
              <a:avLst>
                <a:gd name="adj" fmla="val 807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7107555" y="1733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168210" y="1769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判断条件读作两句话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113270" y="2173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271385" y="2110740"/>
              <a:ext cx="4070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p-&gt;right == NULL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：没有右子树，可以访问 p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113270" y="2508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71385" y="2446020"/>
              <a:ext cx="39204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p-&gt;right == pre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：右子树刚刚访问完，也可以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访问 p</a:t>
              </a:r>
            </a:p>
          </p:txBody>
        </p:sp>
      </p:grpSp>
      <p:grpSp>
        <p:nvGrpSpPr>
          <p:cNvPr id="24" name="c2-card-2"/>
          <p:cNvGrpSpPr/>
          <p:nvPr/>
        </p:nvGrpSpPr>
        <p:grpSpPr>
          <a:xfrm>
            <a:off x="6898005" y="3366135"/>
            <a:ext cx="4760595" cy="1602105"/>
            <a:chOff x="6898005" y="3366135"/>
            <a:chExt cx="4760595" cy="1602105"/>
          </a:xfrm>
        </p:grpSpPr>
        <p:sp>
          <p:nvSpPr>
            <p:cNvPr id="19" name="Rectangle 19"/>
            <p:cNvSpPr/>
            <p:nvPr/>
          </p:nvSpPr>
          <p:spPr>
            <a:xfrm>
              <a:off x="6898005" y="3366135"/>
              <a:ext cx="4760595" cy="1602105"/>
            </a:xfrm>
            <a:prstGeom prst="roundRect">
              <a:avLst>
                <a:gd name="adj" fmla="val 832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907530" y="3499485"/>
              <a:ext cx="47625" cy="133540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45655" y="3575685"/>
              <a:ext cx="154781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188922" y="3611404"/>
              <a:ext cx="1460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为什么要写 p = NULL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38035" y="3952875"/>
              <a:ext cx="4072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访问完 p 之后若不把 p 置空，外层循环会拿着这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个已经处理完的结点重新沿左分支下行，导致重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复访问。</a:t>
              </a:r>
            </a:p>
          </p:txBody>
        </p:sp>
      </p:grpSp>
      <p:grpSp>
        <p:nvGrpSpPr>
          <p:cNvPr id="31" name="c2-callout-3"/>
          <p:cNvGrpSpPr/>
          <p:nvPr/>
        </p:nvGrpSpPr>
        <p:grpSpPr>
          <a:xfrm>
            <a:off x="6898005" y="5158740"/>
            <a:ext cx="4760595" cy="1059180"/>
            <a:chOff x="6898005" y="5158740"/>
            <a:chExt cx="4760595" cy="1059180"/>
          </a:xfrm>
        </p:grpSpPr>
        <p:sp>
          <p:nvSpPr>
            <p:cNvPr id="25" name="Rectangle 25"/>
            <p:cNvSpPr/>
            <p:nvPr/>
          </p:nvSpPr>
          <p:spPr>
            <a:xfrm>
              <a:off x="6898005" y="5158740"/>
              <a:ext cx="4760595" cy="1059180"/>
            </a:xfrm>
            <a:prstGeom prst="roundRect">
              <a:avLst>
                <a:gd name="adj" fmla="val 1079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102793" y="5588318"/>
              <a:ext cx="200026" cy="200026"/>
              <a:chOff x="7102793" y="5588318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102793" y="55883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02805" y="56549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191693" y="56883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7404735" y="5307330"/>
              <a:ext cx="3758565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时间 O(n)：每个结点最多被 Peek 两次、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Pop 一次；空间 O(h)，栈里装的仍是一条左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侧通路。</a:t>
              </a:r>
            </a:p>
          </p:txBody>
        </p:sp>
      </p:grpSp>
      <p:grpSp>
        <p:nvGrpSpPr>
          <p:cNvPr id="3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2" name="TextBox 3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197906" cy="909257"/>
            <a:chOff x="520446" y="342900"/>
            <a:chExt cx="719790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1979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后根遍历版本 2：栈里存（结点，标号）二元组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4977765" cy="1899285"/>
            <a:chOff x="533400" y="1524000"/>
            <a:chExt cx="4977765" cy="189928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51700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出栈时的标号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45208" y="1641157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已经做完的事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15728" y="1641157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接下来要做的事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116455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23454" y="211645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还没碰过任何子树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15094" y="2023110"/>
              <a:ext cx="179089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压回 (p, 2)，再把左孩子以标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 1 压栈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6888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73642"/>
              <a:ext cx="4977765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684145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23454" y="268414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左子树遍历完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15094" y="2590800"/>
              <a:ext cx="1790890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压回 (p, 3)，再把右孩子以标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 1 压栈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3657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3158490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23454" y="315849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右子树也遍历完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329940" y="3050858"/>
              <a:ext cx="2170748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415094" y="3158490"/>
              <a:ext cx="11202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p，不再压回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33400" y="1524000"/>
              <a:ext cx="4977765" cy="1899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24012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315652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1" name="c1-code-2"/>
          <p:cNvGrpSpPr/>
          <p:nvPr/>
        </p:nvGrpSpPr>
        <p:grpSpPr>
          <a:xfrm>
            <a:off x="533400" y="3588068"/>
            <a:ext cx="4977765" cy="2499360"/>
            <a:chOff x="533400" y="3588068"/>
            <a:chExt cx="4977765" cy="2499360"/>
          </a:xfrm>
        </p:grpSpPr>
        <p:sp>
          <p:nvSpPr>
            <p:cNvPr id="28" name="Rectangle 28"/>
            <p:cNvSpPr/>
            <p:nvPr/>
          </p:nvSpPr>
          <p:spPr>
            <a:xfrm>
              <a:off x="533400" y="3588068"/>
              <a:ext cx="4977765" cy="2499360"/>
            </a:xfrm>
            <a:prstGeom prst="roundRect">
              <a:avLst>
                <a:gd name="adj" fmla="val 381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1797" y="373999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带标号的栈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988" y="3997404"/>
              <a:ext cx="2201736" cy="19997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Stack {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元素是 (结点, 标号)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Push(TreeNode *p,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node[++top] = p; cnt[top] = i;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Pop(TreeNode *&amp;p,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&amp;i)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 = node[top]; i = cnt[top--];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Empty() {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top == -1; }</a:t>
              </a:r>
              <a:br/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: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*node[MaxSize];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cnt[MaxSize];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top = -1;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35" name="c2-code-1"/>
          <p:cNvGrpSpPr/>
          <p:nvPr/>
        </p:nvGrpSpPr>
        <p:grpSpPr>
          <a:xfrm>
            <a:off x="5815965" y="1524000"/>
            <a:ext cx="5842635" cy="2926080"/>
            <a:chOff x="5815965" y="1524000"/>
            <a:chExt cx="5842635" cy="2926080"/>
          </a:xfrm>
        </p:grpSpPr>
        <p:sp>
          <p:nvSpPr>
            <p:cNvPr id="32" name="Rectangle 32"/>
            <p:cNvSpPr/>
            <p:nvPr/>
          </p:nvSpPr>
          <p:spPr>
            <a:xfrm>
              <a:off x="5815965" y="1524000"/>
              <a:ext cx="5842635" cy="2926080"/>
            </a:xfrm>
            <a:prstGeom prst="roundRect">
              <a:avLst>
                <a:gd name="adj" fmla="val 325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944362" y="1675924"/>
              <a:ext cx="1578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非递归后根遍历（版本 2）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44552" y="1934289"/>
              <a:ext cx="2588006" cy="24255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NonRecPostorder2(TreeNode *t)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Stack S;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!= NULL) S.Push(t, 1);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(!S.Empty())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TreeNode *p;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S.Pop(p, i);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== 1) {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去左子树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S.Push(p, 2);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(p-&gt;left) S.Push(p-&gt;left, 1);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== 2) {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去右子树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S.Push(p, 3);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(p-&gt;right) S.Push(p-&gt;right, 1);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visit(p-&gt;data);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两棵子树都完了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5815965" y="4614862"/>
            <a:ext cx="5842635" cy="1472565"/>
            <a:chOff x="5815965" y="4614862"/>
            <a:chExt cx="5842635" cy="1472565"/>
          </a:xfrm>
        </p:grpSpPr>
        <p:sp>
          <p:nvSpPr>
            <p:cNvPr id="36" name="Rectangle 36"/>
            <p:cNvSpPr/>
            <p:nvPr/>
          </p:nvSpPr>
          <p:spPr>
            <a:xfrm>
              <a:off x="5815965" y="4614862"/>
              <a:ext cx="5842635" cy="1472565"/>
            </a:xfrm>
            <a:prstGeom prst="roundRect">
              <a:avLst>
                <a:gd name="adj" fmla="val 776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020753" y="5251135"/>
              <a:ext cx="200023" cy="200023"/>
              <a:chOff x="6020753" y="5251135"/>
              <a:chExt cx="200023" cy="200023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020753" y="52511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154103" y="53178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323838" y="5143976"/>
              <a:ext cx="4702810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每个结点恰好进出栈 3 次，时间仍是 O(n)；栈里同一时刻至多有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h+1 个二元组，空间 O(h)。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559792" cy="909257"/>
            <a:chOff x="520446" y="342900"/>
            <a:chExt cx="455979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55979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运行实例：版本 2 的栈怎么变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tree-1"/>
          <p:cNvGrpSpPr/>
          <p:nvPr/>
        </p:nvGrpSpPr>
        <p:grpSpPr>
          <a:xfrm>
            <a:off x="1214438" y="1646872"/>
            <a:ext cx="2533650" cy="1598296"/>
            <a:chOff x="1214438" y="1646872"/>
            <a:chExt cx="2533650" cy="1598296"/>
          </a:xfrm>
        </p:grpSpPr>
        <p:sp>
          <p:nvSpPr>
            <p:cNvPr id="7" name="Freeform 7"/>
            <p:cNvSpPr/>
            <p:nvPr/>
          </p:nvSpPr>
          <p:spPr>
            <a:xfrm>
              <a:off x="1399222" y="2446020"/>
              <a:ext cx="432435" cy="614362"/>
            </a:xfrm>
            <a:custGeom>
              <a:avLst/>
              <a:gdLst/>
              <a:ahLst/>
              <a:cxnLst/>
              <a:rect l="l" t="t" r="r" b="b"/>
              <a:pathLst>
                <a:path w="432435" h="614362">
                  <a:moveTo>
                    <a:pt x="0" y="0"/>
                  </a:moveTo>
                  <a:lnTo>
                    <a:pt x="432435" y="6143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2697480" y="2446020"/>
              <a:ext cx="432435" cy="614362"/>
            </a:xfrm>
            <a:custGeom>
              <a:avLst/>
              <a:gdLst/>
              <a:ahLst/>
              <a:cxnLst/>
              <a:rect l="l" t="t" r="r" b="b"/>
              <a:pathLst>
                <a:path w="432435" h="614362">
                  <a:moveTo>
                    <a:pt x="432435" y="0"/>
                  </a:moveTo>
                  <a:lnTo>
                    <a:pt x="0" y="6143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129915" y="2446020"/>
              <a:ext cx="433388" cy="614362"/>
            </a:xfrm>
            <a:custGeom>
              <a:avLst/>
              <a:gdLst/>
              <a:ahLst/>
              <a:cxnLst/>
              <a:rect l="l" t="t" r="r" b="b"/>
              <a:pathLst>
                <a:path w="433388" h="614362">
                  <a:moveTo>
                    <a:pt x="0" y="0"/>
                  </a:moveTo>
                  <a:lnTo>
                    <a:pt x="433388" y="6143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399222" y="1831658"/>
              <a:ext cx="865822" cy="614362"/>
            </a:xfrm>
            <a:custGeom>
              <a:avLst/>
              <a:gdLst/>
              <a:ahLst/>
              <a:cxnLst/>
              <a:rect l="l" t="t" r="r" b="b"/>
              <a:pathLst>
                <a:path w="865822" h="614362">
                  <a:moveTo>
                    <a:pt x="865822" y="0"/>
                  </a:moveTo>
                  <a:lnTo>
                    <a:pt x="0" y="6143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2265045" y="1831658"/>
              <a:ext cx="864870" cy="614362"/>
            </a:xfrm>
            <a:custGeom>
              <a:avLst/>
              <a:gdLst/>
              <a:ahLst/>
              <a:cxnLst/>
              <a:rect l="l" t="t" r="r" b="b"/>
              <a:pathLst>
                <a:path w="864870" h="614362">
                  <a:moveTo>
                    <a:pt x="0" y="0"/>
                  </a:moveTo>
                  <a:lnTo>
                    <a:pt x="864870" y="61436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646872" y="2875598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214438" y="226123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2512695" y="2875598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378518" y="2875598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945130" y="2261235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080260" y="1646872"/>
              <a:ext cx="369570" cy="36957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86454" y="299989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54019" y="238553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52277" y="299989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18099" y="299989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84712" y="238553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19842" y="177022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31" name="c1-callout-2"/>
          <p:cNvGrpSpPr/>
          <p:nvPr/>
        </p:nvGrpSpPr>
        <p:grpSpPr>
          <a:xfrm>
            <a:off x="533400" y="3537585"/>
            <a:ext cx="3462338" cy="978218"/>
            <a:chOff x="533400" y="3537585"/>
            <a:chExt cx="3462338" cy="978218"/>
          </a:xfrm>
        </p:grpSpPr>
        <p:sp>
          <p:nvSpPr>
            <p:cNvPr id="25" name="Rectangle 25"/>
            <p:cNvSpPr/>
            <p:nvPr/>
          </p:nvSpPr>
          <p:spPr>
            <a:xfrm>
              <a:off x="533400" y="3537585"/>
              <a:ext cx="3462338" cy="978218"/>
            </a:xfrm>
            <a:prstGeom prst="roundRect">
              <a:avLst>
                <a:gd name="adj" fmla="val 116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738188" y="3927158"/>
              <a:ext cx="200026" cy="200026"/>
              <a:chOff x="738188" y="3927158"/>
              <a:chExt cx="200026" cy="20002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39271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38200" y="39938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27088" y="40271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040892" y="3684270"/>
              <a:ext cx="2585466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这也是源课件留作作业的一题。树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同上一页，栈元素写成“结点+标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号”，后根序列 D B E F C A。</a:t>
              </a:r>
            </a:p>
          </p:txBody>
        </p:sp>
      </p:grpSp>
      <p:grpSp>
        <p:nvGrpSpPr>
          <p:cNvPr id="87" name="c2-table-1"/>
          <p:cNvGrpSpPr/>
          <p:nvPr/>
        </p:nvGrpSpPr>
        <p:grpSpPr>
          <a:xfrm>
            <a:off x="4300538" y="1524000"/>
            <a:ext cx="7358062" cy="4800600"/>
            <a:chOff x="4300538" y="1524000"/>
            <a:chExt cx="7358062" cy="4800600"/>
          </a:xfrm>
        </p:grpSpPr>
        <p:sp>
          <p:nvSpPr>
            <p:cNvPr id="32" name="Rectangle 32"/>
            <p:cNvSpPr/>
            <p:nvPr/>
          </p:nvSpPr>
          <p:spPr>
            <a:xfrm>
              <a:off x="4300538" y="1524000"/>
              <a:ext cx="735806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02387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出栈元素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4926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处理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128465" y="1645444"/>
              <a:ext cx="8523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栈（底→顶）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397692" y="204549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(A,1)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57950" y="2045494"/>
              <a:ext cx="20710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压回 (A,2)，B 以 (B,1) 进栈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48812" y="2045494"/>
              <a:ext cx="409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 B1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300538" y="2319338"/>
              <a:ext cx="73580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300538" y="2324100"/>
              <a:ext cx="73580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397692" y="244554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(B,1)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57950" y="2445544"/>
              <a:ext cx="16881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压回 (B,2)，B 无左孩子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548812" y="2445544"/>
              <a:ext cx="409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 B2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300538" y="2719388"/>
              <a:ext cx="73580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397692" y="284559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(B,2)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57950" y="2845594"/>
              <a:ext cx="1386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压回 (B,3)，D 进栈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48812" y="2845594"/>
              <a:ext cx="632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 B3 D1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300538" y="3119438"/>
              <a:ext cx="73580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4300538" y="3124200"/>
              <a:ext cx="73580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397692" y="3245644"/>
              <a:ext cx="1391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(D,1)(D,2)(D,3)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57950" y="3245644"/>
              <a:ext cx="18053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叶结点，三次出栈后访问 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548812" y="3245644"/>
              <a:ext cx="409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 B3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4300538" y="3519488"/>
              <a:ext cx="73580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4397692" y="364569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(B,3)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57950" y="3645694"/>
              <a:ext cx="4483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 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548812" y="3645694"/>
              <a:ext cx="1866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4300538" y="3919538"/>
              <a:ext cx="73580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4300538" y="3924300"/>
              <a:ext cx="73580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397692" y="404574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(A,2)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57950" y="4045744"/>
              <a:ext cx="1386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压回 (A,3)，C 进栈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548812" y="4045744"/>
              <a:ext cx="409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 C1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300538" y="4319588"/>
              <a:ext cx="73580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397692" y="444579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(C,1)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57950" y="4445794"/>
              <a:ext cx="1386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压回 (C,2)，E 进栈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548812" y="4445794"/>
              <a:ext cx="632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 C2 E1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4300538" y="4719638"/>
              <a:ext cx="73580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4300538" y="4724400"/>
              <a:ext cx="73580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4397692" y="4845844"/>
              <a:ext cx="1391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(E,1)(E,2)(E,3)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457950" y="4845844"/>
              <a:ext cx="12022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三次出栈后访问 E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548812" y="4845844"/>
              <a:ext cx="409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 C2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4300538" y="5119688"/>
              <a:ext cx="73580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4397692" y="5245894"/>
              <a:ext cx="4714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(C,2)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457950" y="5245894"/>
              <a:ext cx="13866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压回 (C,3)，F 进栈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548812" y="5245894"/>
              <a:ext cx="6327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 C3 F1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300538" y="5519738"/>
              <a:ext cx="73580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4300538" y="5524500"/>
              <a:ext cx="735806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397692" y="5645944"/>
              <a:ext cx="1391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(F,1)(F,2)(F,3)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457950" y="5645944"/>
              <a:ext cx="12022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三次出栈后访问 F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9548812" y="5645944"/>
              <a:ext cx="4097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A3 C3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4300538" y="5919788"/>
              <a:ext cx="735806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4397692" y="6045994"/>
              <a:ext cx="9314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(C,3)(A,3)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457950" y="6045994"/>
              <a:ext cx="14406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依次访问 C、A，栈空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548812" y="604599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4300538" y="1524000"/>
              <a:ext cx="7358062" cy="48006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356032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9446895" y="1524000"/>
              <a:ext cx="9525" cy="48006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层次遍历：一个队列，出队即访问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tree-1"/>
          <p:cNvGrpSpPr/>
          <p:nvPr/>
        </p:nvGrpSpPr>
        <p:grpSpPr>
          <a:xfrm>
            <a:off x="977265" y="1629728"/>
            <a:ext cx="4089083" cy="1489709"/>
            <a:chOff x="977265" y="1629728"/>
            <a:chExt cx="4089083" cy="1489709"/>
          </a:xfrm>
        </p:grpSpPr>
        <p:sp>
          <p:nvSpPr>
            <p:cNvPr id="7" name="Freeform 7"/>
            <p:cNvSpPr/>
            <p:nvPr/>
          </p:nvSpPr>
          <p:spPr>
            <a:xfrm>
              <a:off x="1155382" y="2373630"/>
              <a:ext cx="621982" cy="567690"/>
            </a:xfrm>
            <a:custGeom>
              <a:avLst/>
              <a:gdLst/>
              <a:ahLst/>
              <a:cxnLst/>
              <a:rect l="l" t="t" r="r" b="b"/>
              <a:pathLst>
                <a:path w="621982" h="567690">
                  <a:moveTo>
                    <a:pt x="621982" y="0"/>
                  </a:moveTo>
                  <a:lnTo>
                    <a:pt x="0" y="5676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644265" y="2373630"/>
              <a:ext cx="621982" cy="567690"/>
            </a:xfrm>
            <a:custGeom>
              <a:avLst/>
              <a:gdLst/>
              <a:ahLst/>
              <a:cxnLst/>
              <a:rect l="l" t="t" r="r" b="b"/>
              <a:pathLst>
                <a:path w="621982" h="567690">
                  <a:moveTo>
                    <a:pt x="621982" y="0"/>
                  </a:moveTo>
                  <a:lnTo>
                    <a:pt x="0" y="5676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4266248" y="2373630"/>
              <a:ext cx="621983" cy="567690"/>
            </a:xfrm>
            <a:custGeom>
              <a:avLst/>
              <a:gdLst/>
              <a:ahLst/>
              <a:cxnLst/>
              <a:rect l="l" t="t" r="r" b="b"/>
              <a:pathLst>
                <a:path w="621983" h="567690">
                  <a:moveTo>
                    <a:pt x="0" y="0"/>
                  </a:moveTo>
                  <a:lnTo>
                    <a:pt x="621983" y="5676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777365" y="1807845"/>
              <a:ext cx="1244918" cy="565785"/>
            </a:xfrm>
            <a:custGeom>
              <a:avLst/>
              <a:gdLst/>
              <a:ahLst/>
              <a:cxnLst/>
              <a:rect l="l" t="t" r="r" b="b"/>
              <a:pathLst>
                <a:path w="1244918" h="565785">
                  <a:moveTo>
                    <a:pt x="1244918" y="0"/>
                  </a:moveTo>
                  <a:lnTo>
                    <a:pt x="0" y="5657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022282" y="1807845"/>
              <a:ext cx="1243965" cy="565785"/>
            </a:xfrm>
            <a:custGeom>
              <a:avLst/>
              <a:gdLst/>
              <a:ahLst/>
              <a:cxnLst/>
              <a:rect l="l" t="t" r="r" b="b"/>
              <a:pathLst>
                <a:path w="1243965" h="565785">
                  <a:moveTo>
                    <a:pt x="0" y="0"/>
                  </a:moveTo>
                  <a:lnTo>
                    <a:pt x="1243965" y="56578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977265" y="276320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599248" y="219551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466148" y="276320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4710113" y="276320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4088130" y="2195512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2844165" y="1629728"/>
              <a:ext cx="356235" cy="3562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13655" y="288512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735638" y="231838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602538" y="288512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46503" y="288512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24520" y="231838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980555" y="175164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53" name="c1-cells-2"/>
          <p:cNvGrpSpPr/>
          <p:nvPr/>
        </p:nvGrpSpPr>
        <p:grpSpPr>
          <a:xfrm>
            <a:off x="528638" y="3388995"/>
            <a:ext cx="2272664" cy="2866072"/>
            <a:chOff x="528638" y="3388995"/>
            <a:chExt cx="2272664" cy="2866072"/>
          </a:xfrm>
        </p:grpSpPr>
        <p:sp>
          <p:nvSpPr>
            <p:cNvPr id="25" name="TextBox 25"/>
            <p:cNvSpPr txBox="1"/>
            <p:nvPr/>
          </p:nvSpPr>
          <p:spPr>
            <a:xfrm>
              <a:off x="528638" y="3510915"/>
              <a:ext cx="3660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 入队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544002" y="338899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711825" y="351091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638" y="4012882"/>
              <a:ext cx="9580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A 出队，B C 入队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544002" y="38909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11825" y="401288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963102" y="38909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130925" y="401288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8638" y="4514850"/>
              <a:ext cx="84382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 出队，D 入队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544002" y="439293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11825" y="45148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963102" y="439293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130925" y="45148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8638" y="5016817"/>
              <a:ext cx="9580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C 出队，E F 入队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544002" y="48948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711825" y="5016817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963102" y="48948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130925" y="5016817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382202" y="489489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550025" y="5016817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8638" y="5518785"/>
              <a:ext cx="3660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 出队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544002" y="539686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711825" y="551878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963102" y="539686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130925" y="551878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8638" y="6020752"/>
              <a:ext cx="8034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E、F 依次出队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544002" y="589883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711825" y="602075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56" name="c2-image-1"/>
          <p:cNvGrpSpPr/>
          <p:nvPr/>
        </p:nvGrpSpPr>
        <p:grpSpPr>
          <a:xfrm>
            <a:off x="7676909" y="1524000"/>
            <a:ext cx="2120748" cy="1739931"/>
            <a:chOff x="7676909" y="1524000"/>
            <a:chExt cx="2120748" cy="1739931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65732" y="1524000"/>
              <a:ext cx="1943100" cy="1457325"/>
            </a:xfrm>
            <a:prstGeom prst="roundRect">
              <a:avLst>
                <a:gd name="adj" fmla="val 9150"/>
              </a:avLst>
            </a:prstGeom>
          </p:spPr>
        </p:pic>
        <p:sp>
          <p:nvSpPr>
            <p:cNvPr id="55" name="TextBox 55"/>
            <p:cNvSpPr txBox="1"/>
            <p:nvPr/>
          </p:nvSpPr>
          <p:spPr>
            <a:xfrm>
              <a:off x="7676909" y="3073241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前面的人先进门，新来的人排到队尾</a:t>
              </a:r>
            </a:p>
          </p:txBody>
        </p:sp>
      </p:grpSp>
      <p:grpSp>
        <p:nvGrpSpPr>
          <p:cNvPr id="60" name="c2-code-2"/>
          <p:cNvGrpSpPr/>
          <p:nvPr/>
        </p:nvGrpSpPr>
        <p:grpSpPr>
          <a:xfrm>
            <a:off x="5815965" y="3409950"/>
            <a:ext cx="5842635" cy="1931670"/>
            <a:chOff x="5815965" y="3409950"/>
            <a:chExt cx="5842635" cy="1931670"/>
          </a:xfrm>
        </p:grpSpPr>
        <p:sp>
          <p:nvSpPr>
            <p:cNvPr id="57" name="Rectangle 57"/>
            <p:cNvSpPr/>
            <p:nvPr/>
          </p:nvSpPr>
          <p:spPr>
            <a:xfrm>
              <a:off x="5815965" y="3409950"/>
              <a:ext cx="5842635" cy="1931670"/>
            </a:xfrm>
            <a:prstGeom prst="roundRect">
              <a:avLst>
                <a:gd name="adj" fmla="val 49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44362" y="35618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层次遍历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944552" y="3820239"/>
              <a:ext cx="2497709" cy="14320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LevelOrder(TreeNode *t)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Queue Q;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!= NULL) Q.Enqueue(t);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(!Q.Empty()) {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TreeNode *p = Q.Dequeue();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visit(p-&gt;data);  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出队即访问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(p-&gt;left) Q.Enqueue(p-&gt;left);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(p-&gt;right) Q.Enqueue(p-&gt;right);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5815965" y="5506402"/>
            <a:ext cx="5842635" cy="748665"/>
            <a:chOff x="5815965" y="5506402"/>
            <a:chExt cx="5842635" cy="748665"/>
          </a:xfrm>
        </p:grpSpPr>
        <p:sp>
          <p:nvSpPr>
            <p:cNvPr id="61" name="Rectangle 61"/>
            <p:cNvSpPr/>
            <p:nvPr/>
          </p:nvSpPr>
          <p:spPr>
            <a:xfrm>
              <a:off x="5815965" y="5506402"/>
              <a:ext cx="5842635" cy="748665"/>
            </a:xfrm>
            <a:prstGeom prst="roundRect">
              <a:avLst>
                <a:gd name="adj" fmla="val 1526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020753" y="5780725"/>
              <a:ext cx="200023" cy="200023"/>
              <a:chOff x="6020753" y="5780725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6020753" y="57807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154103" y="58473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323838" y="5674519"/>
              <a:ext cx="48084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i 层上 x 在 y 左边，则 x 先出队，于是第 i+1 层里 x 的孩子也排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y 的孩子前面，按层从左到右的次序就这样保持下来。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458718" cy="909257"/>
            <a:chOff x="520446" y="342900"/>
            <a:chExt cx="34587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辅助队列到底要开多大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ree-1"/>
          <p:cNvGrpSpPr/>
          <p:nvPr/>
        </p:nvGrpSpPr>
        <p:grpSpPr>
          <a:xfrm>
            <a:off x="613410" y="1636395"/>
            <a:ext cx="3897630" cy="2202180"/>
            <a:chOff x="613410" y="1636395"/>
            <a:chExt cx="3897630" cy="2202180"/>
          </a:xfrm>
        </p:grpSpPr>
        <p:sp>
          <p:nvSpPr>
            <p:cNvPr id="7" name="Freeform 7"/>
            <p:cNvSpPr/>
            <p:nvPr/>
          </p:nvSpPr>
          <p:spPr>
            <a:xfrm>
              <a:off x="803910" y="3040380"/>
              <a:ext cx="270510" cy="607695"/>
            </a:xfrm>
            <a:custGeom>
              <a:avLst/>
              <a:gdLst/>
              <a:ahLst/>
              <a:cxnLst/>
              <a:rect l="l" t="t" r="r" b="b"/>
              <a:pathLst>
                <a:path w="270510" h="607695">
                  <a:moveTo>
                    <a:pt x="270510" y="0"/>
                  </a:moveTo>
                  <a:lnTo>
                    <a:pt x="0" y="6076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074420" y="3040380"/>
              <a:ext cx="270510" cy="607695"/>
            </a:xfrm>
            <a:custGeom>
              <a:avLst/>
              <a:gdLst/>
              <a:ahLst/>
              <a:cxnLst/>
              <a:rect l="l" t="t" r="r" b="b"/>
              <a:pathLst>
                <a:path w="270510" h="607695">
                  <a:moveTo>
                    <a:pt x="0" y="0"/>
                  </a:moveTo>
                  <a:lnTo>
                    <a:pt x="270510" y="6076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885950" y="3040380"/>
              <a:ext cx="270510" cy="607695"/>
            </a:xfrm>
            <a:custGeom>
              <a:avLst/>
              <a:gdLst/>
              <a:ahLst/>
              <a:cxnLst/>
              <a:rect l="l" t="t" r="r" b="b"/>
              <a:pathLst>
                <a:path w="270510" h="607695">
                  <a:moveTo>
                    <a:pt x="270510" y="0"/>
                  </a:moveTo>
                  <a:lnTo>
                    <a:pt x="0" y="6076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56460" y="3040380"/>
              <a:ext cx="270510" cy="607695"/>
            </a:xfrm>
            <a:custGeom>
              <a:avLst/>
              <a:gdLst/>
              <a:ahLst/>
              <a:cxnLst/>
              <a:rect l="l" t="t" r="r" b="b"/>
              <a:pathLst>
                <a:path w="270510" h="607695">
                  <a:moveTo>
                    <a:pt x="0" y="0"/>
                  </a:moveTo>
                  <a:lnTo>
                    <a:pt x="270510" y="6076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074420" y="2434590"/>
              <a:ext cx="541020" cy="605790"/>
            </a:xfrm>
            <a:custGeom>
              <a:avLst/>
              <a:gdLst/>
              <a:ahLst/>
              <a:cxnLst/>
              <a:rect l="l" t="t" r="r" b="b"/>
              <a:pathLst>
                <a:path w="541020" h="605790">
                  <a:moveTo>
                    <a:pt x="541020" y="0"/>
                  </a:moveTo>
                  <a:lnTo>
                    <a:pt x="0" y="6057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15440" y="2434590"/>
              <a:ext cx="541020" cy="605790"/>
            </a:xfrm>
            <a:custGeom>
              <a:avLst/>
              <a:gdLst/>
              <a:ahLst/>
              <a:cxnLst/>
              <a:rect l="l" t="t" r="r" b="b"/>
              <a:pathLst>
                <a:path w="541020" h="605790">
                  <a:moveTo>
                    <a:pt x="0" y="0"/>
                  </a:moveTo>
                  <a:lnTo>
                    <a:pt x="541020" y="6057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238500" y="2434590"/>
              <a:ext cx="541020" cy="605790"/>
            </a:xfrm>
            <a:custGeom>
              <a:avLst/>
              <a:gdLst/>
              <a:ahLst/>
              <a:cxnLst/>
              <a:rect l="l" t="t" r="r" b="b"/>
              <a:pathLst>
                <a:path w="541020" h="605790">
                  <a:moveTo>
                    <a:pt x="541020" y="0"/>
                  </a:moveTo>
                  <a:lnTo>
                    <a:pt x="0" y="6057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779520" y="2434590"/>
              <a:ext cx="541020" cy="605790"/>
            </a:xfrm>
            <a:custGeom>
              <a:avLst/>
              <a:gdLst/>
              <a:ahLst/>
              <a:cxnLst/>
              <a:rect l="l" t="t" r="r" b="b"/>
              <a:pathLst>
                <a:path w="541020" h="605790">
                  <a:moveTo>
                    <a:pt x="0" y="0"/>
                  </a:moveTo>
                  <a:lnTo>
                    <a:pt x="541020" y="6057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615440" y="1826895"/>
              <a:ext cx="1082040" cy="607695"/>
            </a:xfrm>
            <a:custGeom>
              <a:avLst/>
              <a:gdLst/>
              <a:ahLst/>
              <a:cxnLst/>
              <a:rect l="l" t="t" r="r" b="b"/>
              <a:pathLst>
                <a:path w="1082040" h="607695">
                  <a:moveTo>
                    <a:pt x="1082040" y="0"/>
                  </a:moveTo>
                  <a:lnTo>
                    <a:pt x="0" y="6076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697480" y="1826895"/>
              <a:ext cx="1082040" cy="607695"/>
            </a:xfrm>
            <a:custGeom>
              <a:avLst/>
              <a:gdLst/>
              <a:ahLst/>
              <a:cxnLst/>
              <a:rect l="l" t="t" r="r" b="b"/>
              <a:pathLst>
                <a:path w="1082040" h="607695">
                  <a:moveTo>
                    <a:pt x="0" y="0"/>
                  </a:moveTo>
                  <a:lnTo>
                    <a:pt x="1082040" y="6076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613410" y="3457575"/>
              <a:ext cx="381000" cy="3810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154430" y="3457575"/>
              <a:ext cx="381000" cy="3810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83920" y="284988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695450" y="3457575"/>
              <a:ext cx="381000" cy="3810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236470" y="3457575"/>
              <a:ext cx="381000" cy="3810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965960" y="284988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1424940" y="224409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3048000" y="2849880"/>
              <a:ext cx="381000" cy="3810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130040" y="2849880"/>
              <a:ext cx="381000" cy="38100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3589020" y="224409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2506980" y="163639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4163" y="35918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05183" y="35918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4673" y="29851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11219" y="35918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52239" y="35918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116713" y="29851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75693" y="23783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98753" y="29851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280793" y="298513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739773" y="23783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57733" y="177165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46" name="c1-callout-2"/>
          <p:cNvGrpSpPr/>
          <p:nvPr/>
        </p:nvGrpSpPr>
        <p:grpSpPr>
          <a:xfrm>
            <a:off x="533400" y="4126230"/>
            <a:ext cx="4328160" cy="729615"/>
            <a:chOff x="533400" y="4126230"/>
            <a:chExt cx="4328160" cy="729615"/>
          </a:xfrm>
        </p:grpSpPr>
        <p:sp>
          <p:nvSpPr>
            <p:cNvPr id="40" name="Rectangle 40"/>
            <p:cNvSpPr/>
            <p:nvPr/>
          </p:nvSpPr>
          <p:spPr>
            <a:xfrm>
              <a:off x="533400" y="4126230"/>
              <a:ext cx="432816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4391025"/>
              <a:ext cx="200026" cy="200026"/>
              <a:chOff x="738188" y="4391025"/>
              <a:chExt cx="200026" cy="200026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38188" y="43910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38200" y="44577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27088" y="449103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0892" y="4271962"/>
              <a:ext cx="337413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11 时队列最满的时刻装着 6、7、8、9、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10、11，正好是全部叶结点。</a:t>
              </a:r>
            </a:p>
          </p:txBody>
        </p:sp>
      </p:grpSp>
      <p:grpSp>
        <p:nvGrpSpPr>
          <p:cNvPr id="53" name="c1-callout-3"/>
          <p:cNvGrpSpPr/>
          <p:nvPr/>
        </p:nvGrpSpPr>
        <p:grpSpPr>
          <a:xfrm>
            <a:off x="533400" y="5030152"/>
            <a:ext cx="4328160" cy="978218"/>
            <a:chOff x="533400" y="5030152"/>
            <a:chExt cx="4328160" cy="978218"/>
          </a:xfrm>
        </p:grpSpPr>
        <p:sp>
          <p:nvSpPr>
            <p:cNvPr id="47" name="Rectangle 47"/>
            <p:cNvSpPr/>
            <p:nvPr/>
          </p:nvSpPr>
          <p:spPr>
            <a:xfrm>
              <a:off x="533400" y="5030152"/>
              <a:ext cx="4328160" cy="978218"/>
            </a:xfrm>
            <a:prstGeom prst="roundRect">
              <a:avLst>
                <a:gd name="adj" fmla="val 1168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5419725"/>
              <a:ext cx="200026" cy="200025"/>
              <a:chOff x="738188" y="5419725"/>
              <a:chExt cx="200026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38188" y="54197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77926" y="54641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12642" y="55753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5176838"/>
              <a:ext cx="3416998" cy="761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源课件的课下思考是“最大规模可能出现 2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次”。模拟结果是 n 为偶数时出现 2 次，此时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最后一个非叶结点只有左孩子。</a:t>
              </a:r>
            </a:p>
          </p:txBody>
        </p:sp>
      </p:grpSp>
      <p:grpSp>
        <p:nvGrpSpPr>
          <p:cNvPr id="59" name="c2-card-1"/>
          <p:cNvGrpSpPr/>
          <p:nvPr/>
        </p:nvGrpSpPr>
        <p:grpSpPr>
          <a:xfrm>
            <a:off x="5166360" y="1524000"/>
            <a:ext cx="6492240" cy="1209675"/>
            <a:chOff x="5166360" y="1524000"/>
            <a:chExt cx="6492240" cy="1209675"/>
          </a:xfrm>
        </p:grpSpPr>
        <p:sp>
          <p:nvSpPr>
            <p:cNvPr id="54" name="Rectangle 54"/>
            <p:cNvSpPr/>
            <p:nvPr/>
          </p:nvSpPr>
          <p:spPr>
            <a:xfrm>
              <a:off x="5166360" y="1524000"/>
              <a:ext cx="6492240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517588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396865" y="1716405"/>
              <a:ext cx="18097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448300" y="1750695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清华大学、吉林大学期末题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390007" y="2072640"/>
              <a:ext cx="580872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2021 个结点的完全二叉树做层次遍历，辅助队列的容量至少要多大（同时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在队列里的结点最多有几个）？</a:t>
              </a:r>
            </a:p>
          </p:txBody>
        </p:sp>
      </p:grpSp>
      <p:grpSp>
        <p:nvGrpSpPr>
          <p:cNvPr id="73" name="c2-steps-2"/>
          <p:cNvGrpSpPr/>
          <p:nvPr/>
        </p:nvGrpSpPr>
        <p:grpSpPr>
          <a:xfrm>
            <a:off x="5166360" y="2918460"/>
            <a:ext cx="6365326" cy="1693069"/>
            <a:chOff x="5166360" y="2918460"/>
            <a:chExt cx="6365326" cy="1693069"/>
          </a:xfrm>
        </p:grpSpPr>
        <p:sp>
          <p:nvSpPr>
            <p:cNvPr id="60" name="Rectangle 60"/>
            <p:cNvSpPr/>
            <p:nvPr/>
          </p:nvSpPr>
          <p:spPr>
            <a:xfrm>
              <a:off x="5299710" y="306133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5166360" y="291846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259984" y="2992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5166360" y="350520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259984" y="35790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5166360" y="409194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259984" y="416575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578602" y="294989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找最满的时刻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5579745" y="3217069"/>
              <a:ext cx="5642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编号 ⌊n/2⌋ 的结点是最后一个非叶结点。它一出队，队列里剩下的正好是全部叶结点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5578602" y="353663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数一数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579745" y="3804761"/>
              <a:ext cx="59519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7 讲的推论：n 个结点的完全二叉树有 ⌈n/2⌉ 个叶结点，所以队列最大规模就是 ⌈n/2⌉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578602" y="412337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代入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579745" y="4391501"/>
              <a:ext cx="55011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n = 2021 时答案是 ⌈2021/2⌉ = 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1011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。脚本对 n = 1…200 逐个模拟，结论全部吻合</a:t>
              </a:r>
            </a:p>
          </p:txBody>
        </p:sp>
      </p:grpSp>
      <p:grpSp>
        <p:nvGrpSpPr>
          <p:cNvPr id="101" name="c2-table-3"/>
          <p:cNvGrpSpPr/>
          <p:nvPr/>
        </p:nvGrpSpPr>
        <p:grpSpPr>
          <a:xfrm>
            <a:off x="5166360" y="4780598"/>
            <a:ext cx="6492240" cy="1217295"/>
            <a:chOff x="5166360" y="4780598"/>
            <a:chExt cx="6492240" cy="1217295"/>
          </a:xfrm>
        </p:grpSpPr>
        <p:sp>
          <p:nvSpPr>
            <p:cNvPr id="74" name="Rectangle 74"/>
            <p:cNvSpPr/>
            <p:nvPr/>
          </p:nvSpPr>
          <p:spPr>
            <a:xfrm>
              <a:off x="5166360" y="4780598"/>
              <a:ext cx="649224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896254" y="49048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162126" y="49048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092045" y="490489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066453" y="490489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039908" y="490489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959628" y="4904899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2021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266372" y="531066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队列最大规模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824662" y="531066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798117" y="531066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772525" y="531066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9745980" y="531066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719435" y="531066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1011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166360" y="5587365"/>
              <a:ext cx="649224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5166360" y="5592128"/>
              <a:ext cx="649224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266372" y="571642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取到最大值的时刻数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824662" y="571642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798117" y="571642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772525" y="571642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745980" y="571642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0719435" y="571642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5166360" y="4780598"/>
              <a:ext cx="649224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6719888" y="478059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7693342" y="478059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8667750" y="478059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9641205" y="478059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10614660" y="4780598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2" name="TextBox 10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判断题：队列规模会超过叶结点数吗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626418" cy="1209675"/>
            <a:chOff x="533400" y="1524000"/>
            <a:chExt cx="5626418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5342" y="1750695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清华大学考研题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95147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对叶结点数量为 2018 的二叉树进行层次遍历，辅助队列的最大规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模绝对不超过 2018。这句话对吗？</a:t>
              </a:r>
            </a:p>
          </p:txBody>
        </p:sp>
      </p:grpSp>
      <p:grpSp>
        <p:nvGrpSpPr>
          <p:cNvPr id="26" name="c1-steps-2"/>
          <p:cNvGrpSpPr/>
          <p:nvPr/>
        </p:nvGrpSpPr>
        <p:grpSpPr>
          <a:xfrm>
            <a:off x="533400" y="2918460"/>
            <a:ext cx="5403215" cy="2107407"/>
            <a:chOff x="533400" y="2918460"/>
            <a:chExt cx="5403215" cy="2107407"/>
          </a:xfrm>
        </p:grpSpPr>
        <p:sp>
          <p:nvSpPr>
            <p:cNvPr id="13" name="Rectangle 13"/>
            <p:cNvSpPr/>
            <p:nvPr/>
          </p:nvSpPr>
          <p:spPr>
            <a:xfrm>
              <a:off x="666750" y="3061335"/>
              <a:ext cx="19050" cy="15878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33400" y="291846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29922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71189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7024" y="378571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533400" y="450627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7024" y="458009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642" y="294989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3217069"/>
              <a:ext cx="49898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队列里任意两个结点之间不存在祖先与子孙的关系。因为某个结点的孩子要等它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自己出队后才入队，那时它已经不在队列里了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642" y="3744277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785" y="4011454"/>
              <a:ext cx="49898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互不为祖先的结点，它们的子树两两不相交；每棵子树里至少有一个叶结点，而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它也是整棵树的叶结点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5642" y="453771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6785" y="4805839"/>
              <a:ext cx="41743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于是队列规模不超过叶结点总数，本题不超过 </a:t>
              </a:r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2018</a:t>
              </a: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，判断成立</a:t>
              </a:r>
            </a:p>
          </p:txBody>
        </p:sp>
      </p:grpSp>
      <p:grpSp>
        <p:nvGrpSpPr>
          <p:cNvPr id="32" name="c1-callout-3"/>
          <p:cNvGrpSpPr/>
          <p:nvPr/>
        </p:nvGrpSpPr>
        <p:grpSpPr>
          <a:xfrm>
            <a:off x="533400" y="5194935"/>
            <a:ext cx="5626418" cy="785812"/>
            <a:chOff x="533400" y="5194935"/>
            <a:chExt cx="5626418" cy="785812"/>
          </a:xfrm>
        </p:grpSpPr>
        <p:sp>
          <p:nvSpPr>
            <p:cNvPr id="27" name="Rectangle 27"/>
            <p:cNvSpPr/>
            <p:nvPr/>
          </p:nvSpPr>
          <p:spPr>
            <a:xfrm>
              <a:off x="533400" y="5194935"/>
              <a:ext cx="5626418" cy="785812"/>
            </a:xfrm>
            <a:prstGeom prst="roundRect">
              <a:avLst>
                <a:gd name="adj" fmla="val 1454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738188" y="5487353"/>
              <a:ext cx="200026" cy="200026"/>
              <a:chOff x="738188" y="5487353"/>
              <a:chExt cx="200026" cy="20002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38188" y="548735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4863" y="556514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040892" y="5368290"/>
              <a:ext cx="453999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穷举 n ≤ 11 的全部二叉树逐棵模拟，队列最大规模都没有超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过叶结点数。</a:t>
              </a:r>
            </a:p>
          </p:txBody>
        </p:sp>
      </p:grpSp>
      <p:grpSp>
        <p:nvGrpSpPr>
          <p:cNvPr id="53" name="c2-tree-1"/>
          <p:cNvGrpSpPr/>
          <p:nvPr/>
        </p:nvGrpSpPr>
        <p:grpSpPr>
          <a:xfrm>
            <a:off x="6923722" y="1694498"/>
            <a:ext cx="4275773" cy="1825942"/>
            <a:chOff x="6923722" y="1694498"/>
            <a:chExt cx="4275773" cy="1825942"/>
          </a:xfrm>
        </p:grpSpPr>
        <p:sp>
          <p:nvSpPr>
            <p:cNvPr id="33" name="Freeform 33"/>
            <p:cNvSpPr/>
            <p:nvPr/>
          </p:nvSpPr>
          <p:spPr>
            <a:xfrm>
              <a:off x="7114222" y="2607945"/>
              <a:ext cx="648653" cy="721995"/>
            </a:xfrm>
            <a:custGeom>
              <a:avLst/>
              <a:gdLst/>
              <a:ahLst/>
              <a:cxnLst/>
              <a:rect l="l" t="t" r="r" b="b"/>
              <a:pathLst>
                <a:path w="648653" h="721995">
                  <a:moveTo>
                    <a:pt x="648653" y="0"/>
                  </a:moveTo>
                  <a:lnTo>
                    <a:pt x="0" y="7219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762875" y="2607945"/>
              <a:ext cx="649605" cy="721995"/>
            </a:xfrm>
            <a:custGeom>
              <a:avLst/>
              <a:gdLst/>
              <a:ahLst/>
              <a:cxnLst/>
              <a:rect l="l" t="t" r="r" b="b"/>
              <a:pathLst>
                <a:path w="649605" h="721995">
                  <a:moveTo>
                    <a:pt x="0" y="0"/>
                  </a:moveTo>
                  <a:lnTo>
                    <a:pt x="649605" y="7219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710738" y="2607945"/>
              <a:ext cx="649605" cy="721995"/>
            </a:xfrm>
            <a:custGeom>
              <a:avLst/>
              <a:gdLst/>
              <a:ahLst/>
              <a:cxnLst/>
              <a:rect l="l" t="t" r="r" b="b"/>
              <a:pathLst>
                <a:path w="649605" h="721995">
                  <a:moveTo>
                    <a:pt x="649605" y="0"/>
                  </a:moveTo>
                  <a:lnTo>
                    <a:pt x="0" y="7219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360342" y="2607945"/>
              <a:ext cx="648652" cy="721995"/>
            </a:xfrm>
            <a:custGeom>
              <a:avLst/>
              <a:gdLst/>
              <a:ahLst/>
              <a:cxnLst/>
              <a:rect l="l" t="t" r="r" b="b"/>
              <a:pathLst>
                <a:path w="648652" h="721995">
                  <a:moveTo>
                    <a:pt x="0" y="0"/>
                  </a:moveTo>
                  <a:lnTo>
                    <a:pt x="648652" y="7219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762875" y="1884998"/>
              <a:ext cx="1299210" cy="722948"/>
            </a:xfrm>
            <a:custGeom>
              <a:avLst/>
              <a:gdLst/>
              <a:ahLst/>
              <a:cxnLst/>
              <a:rect l="l" t="t" r="r" b="b"/>
              <a:pathLst>
                <a:path w="1299210" h="722948">
                  <a:moveTo>
                    <a:pt x="1299210" y="0"/>
                  </a:moveTo>
                  <a:lnTo>
                    <a:pt x="0" y="7229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9062085" y="1884998"/>
              <a:ext cx="1298258" cy="722948"/>
            </a:xfrm>
            <a:custGeom>
              <a:avLst/>
              <a:gdLst/>
              <a:ahLst/>
              <a:cxnLst/>
              <a:rect l="l" t="t" r="r" b="b"/>
              <a:pathLst>
                <a:path w="1298258" h="722948">
                  <a:moveTo>
                    <a:pt x="0" y="0"/>
                  </a:moveTo>
                  <a:lnTo>
                    <a:pt x="1298258" y="72294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923722" y="3139440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8221980" y="3139440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7572375" y="241744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9520238" y="313944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818495" y="313944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169842" y="2417445"/>
              <a:ext cx="381000" cy="381000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871585" y="169449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69019" y="326945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67277" y="326945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17672" y="254650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65534" y="326945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963792" y="326945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315139" y="254650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016882" y="182451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464618" y="3866198"/>
            <a:ext cx="5193982" cy="1209675"/>
            <a:chOff x="6464618" y="3866198"/>
            <a:chExt cx="5193982" cy="1209675"/>
          </a:xfrm>
        </p:grpSpPr>
        <p:sp>
          <p:nvSpPr>
            <p:cNvPr id="54" name="Rectangle 54"/>
            <p:cNvSpPr/>
            <p:nvPr/>
          </p:nvSpPr>
          <p:spPr>
            <a:xfrm>
              <a:off x="6464618" y="3866198"/>
              <a:ext cx="5193982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4142" y="3999548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95122" y="4058602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74561" y="4092893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图中这一刻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88264" y="4414838"/>
              <a:ext cx="45828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 已经出队，队列里是 D、E、C 三个结点。它们互不为祖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先，各自的子树不相交，因此 3 ≤ 叶结点数 4。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6464618" y="5250180"/>
            <a:ext cx="5193982" cy="729615"/>
            <a:chOff x="6464618" y="5250180"/>
            <a:chExt cx="5193982" cy="729615"/>
          </a:xfrm>
        </p:grpSpPr>
        <p:sp>
          <p:nvSpPr>
            <p:cNvPr id="60" name="Rectangle 60"/>
            <p:cNvSpPr/>
            <p:nvPr/>
          </p:nvSpPr>
          <p:spPr>
            <a:xfrm>
              <a:off x="6464618" y="5250180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6669405" y="5514975"/>
              <a:ext cx="200026" cy="200025"/>
              <a:chOff x="6669405" y="5514975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6669405" y="551497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709144" y="555942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6743859" y="567055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6972110" y="5396865"/>
              <a:ext cx="43256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两头的极端情形：单支树只有 1 个叶结点，队列里也永远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只有 1 个结点；完全二叉树的叶结点最多，队列也最满。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12418" cy="909257"/>
            <a:chOff x="520446" y="342900"/>
            <a:chExt cx="761241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124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上机题：统计每层的叶结点数（方案 1 与方案 2）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10012883" cy="308039"/>
            <a:chOff x="525399" y="1550194"/>
            <a:chExt cx="1001288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1001288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吉林大学上机考试题。难点在于识别一层什么时候结束，两种方案都用层次遍历，只是划分层的办法不同。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67865"/>
            <a:ext cx="5410200" cy="3464242"/>
            <a:chOff x="533400" y="1967865"/>
            <a:chExt cx="5410200" cy="3464242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410200" cy="3464242"/>
            </a:xfrm>
            <a:prstGeom prst="roundRect">
              <a:avLst>
                <a:gd name="adj" fmla="val 275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19789"/>
              <a:ext cx="19886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方案 1：用 NULL 当层的结束标志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78631"/>
              <a:ext cx="3133217" cy="29637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LeafInEachLevel(TreeNode *root,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leafnum[])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(root == NULL)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Queue q;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level = 0;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q.Enqueue(root);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q.Enqueue(NULL);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第 0 层的结束标志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(!q.Empty())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TreeNode *p = q.Dequeue();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== NULL) {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本层结束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level++;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(!q.Empty()) q.Enqueue(NULL);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(!p-&gt;left &amp;&amp; !p-&gt;right)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leafnum[level]++;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(p-&gt;left) q.Enqueue(p-&gt;left);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(p-&gt;right) q.Enqueue(p-&gt;right);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level - 1;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返回树高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2-code-1"/>
          <p:cNvGrpSpPr/>
          <p:nvPr/>
        </p:nvGrpSpPr>
        <p:grpSpPr>
          <a:xfrm>
            <a:off x="6248400" y="1967865"/>
            <a:ext cx="5410200" cy="3153728"/>
            <a:chOff x="6248400" y="1967865"/>
            <a:chExt cx="5410200" cy="3153728"/>
          </a:xfrm>
        </p:grpSpPr>
        <p:sp>
          <p:nvSpPr>
            <p:cNvPr id="13" name="Rectangle 13"/>
            <p:cNvSpPr/>
            <p:nvPr/>
          </p:nvSpPr>
          <p:spPr>
            <a:xfrm>
              <a:off x="6248400" y="1967865"/>
              <a:ext cx="5410200" cy="3153728"/>
            </a:xfrm>
            <a:prstGeom prst="roundRect">
              <a:avLst>
                <a:gd name="adj" fmla="val 302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76797" y="2119789"/>
              <a:ext cx="19746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方案 2：按本层结点个数连续出队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76988" y="2378631"/>
              <a:ext cx="3133217" cy="26531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LeafInEachLevel(TreeNode *root,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leafnum[])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(root == NULL)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Queue q;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level = 0;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q.Enqueue(root);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(!q.Empty())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size = q.Size();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本层结点数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size; i++) {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TreeNode *p = q.Dequeue();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(!p-&gt;left &amp;&amp; !p-&gt;right)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leafnum[level]++;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(p-&gt;left) q.Enqueue(p-&gt;left);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(p-&gt;right) q.Enqueue(p-&gt;right);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level++;  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本层结束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level - 1;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2-callout-2"/>
          <p:cNvGrpSpPr/>
          <p:nvPr/>
        </p:nvGrpSpPr>
        <p:grpSpPr>
          <a:xfrm>
            <a:off x="6248400" y="5311140"/>
            <a:ext cx="5410200" cy="782955"/>
            <a:chOff x="6248400" y="5311140"/>
            <a:chExt cx="5410200" cy="782955"/>
          </a:xfrm>
        </p:grpSpPr>
        <p:sp>
          <p:nvSpPr>
            <p:cNvPr id="17" name="Rectangle 17"/>
            <p:cNvSpPr/>
            <p:nvPr/>
          </p:nvSpPr>
          <p:spPr>
            <a:xfrm>
              <a:off x="6248400" y="5311140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6453188" y="5602607"/>
              <a:ext cx="200023" cy="200023"/>
              <a:chOff x="6453188" y="5602607"/>
              <a:chExt cx="200023" cy="2000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453188" y="560260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586538" y="566928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755130" y="5459730"/>
              <a:ext cx="44729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两种写法都要求调用前把 leafnum 数组清零；返回值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level − 1 正好是树高，空树返回 −1。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3" name="TextBox 2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08377" cy="909257"/>
            <a:chOff x="520446" y="342900"/>
            <a:chExt cx="410837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083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 3：递归深度就是层号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842635" cy="2616518"/>
            <a:chOff x="533400" y="1524000"/>
            <a:chExt cx="5842635" cy="261651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616518"/>
            </a:xfrm>
            <a:prstGeom prst="roundRect">
              <a:avLst>
                <a:gd name="adj" fmla="val 36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78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方案 3：先根遍历带上层号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364103" cy="2129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LeafInEachLevel(TreeNode *t,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k,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leafnum[],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&amp;h)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k 是递归深度，也就是 t 所在的层数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NULL)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 h) h = k;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更新树高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(t-&gt;left == NULL &amp;&amp; t-&gt;right == NULL)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leafnum[k]++;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LeafInEachLevel(t-&gt;left, k + 1, leafnum, h);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LeafInEachLevel(t-&gt;right, k + 1, leafnum, h);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初始调用：int h = -1;</a:t>
              </a:r>
              <a:br/>
              <a:r>
                <a:rPr lang="en-US" sz="98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         LeafInEachLevel(root, 0, leafnum, h);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305300"/>
            <a:ext cx="5842635" cy="1950720"/>
            <a:chOff x="533400" y="4305300"/>
            <a:chExt cx="5842635" cy="1950720"/>
          </a:xfrm>
        </p:grpSpPr>
        <p:sp>
          <p:nvSpPr>
            <p:cNvPr id="11" name="Rectangle 11"/>
            <p:cNvSpPr/>
            <p:nvPr/>
          </p:nvSpPr>
          <p:spPr>
            <a:xfrm>
              <a:off x="533400" y="4305300"/>
              <a:ext cx="5842635" cy="1950720"/>
            </a:xfrm>
            <a:prstGeom prst="roundRect">
              <a:avLst>
                <a:gd name="adj" fmla="val 683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438650"/>
              <a:ext cx="47625" cy="16840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44862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5147" y="45191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998" y="4825841"/>
              <a:ext cx="521487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源课件这段代码的形参叫 root，函数体里却写成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p-&gt;left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t-&gt;left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个名字混用；注释说 h“初值 0”，而初始调用写的是 −1。按空树高度 −1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的约定，h 的初值应当是 </a:t>
              </a: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−1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51" name="c2-table-1"/>
          <p:cNvGrpSpPr/>
          <p:nvPr/>
        </p:nvGrpSpPr>
        <p:grpSpPr>
          <a:xfrm>
            <a:off x="6675882" y="1524000"/>
            <a:ext cx="4982718" cy="2933414"/>
            <a:chOff x="6675882" y="1524000"/>
            <a:chExt cx="4982718" cy="2933414"/>
          </a:xfrm>
        </p:grpSpPr>
        <p:sp>
          <p:nvSpPr>
            <p:cNvPr id="17" name="Rectangle 17"/>
            <p:cNvSpPr/>
            <p:nvPr/>
          </p:nvSpPr>
          <p:spPr>
            <a:xfrm>
              <a:off x="6680835" y="1524000"/>
              <a:ext cx="497776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98277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层号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12874" y="1641157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该层的结点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23804" y="1641157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叶结点数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75514" y="2023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71816" y="2023110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59759" y="2023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680835" y="2282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680835" y="228695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5514" y="2404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71816" y="2404110"/>
              <a:ext cx="219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259759" y="240411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680835" y="26631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75514" y="278511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71816" y="2785110"/>
              <a:ext cx="473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E F 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59759" y="2785110"/>
              <a:ext cx="4532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1（D）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80835" y="3045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80835" y="3049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75514" y="3167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71816" y="3167062"/>
              <a:ext cx="436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I J 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259759" y="3167062"/>
              <a:ext cx="7071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3（H J K）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80835" y="3426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75514" y="354806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71816" y="3548062"/>
              <a:ext cx="928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59759" y="354806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680835" y="380714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80835" y="3811905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75514" y="393001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71816" y="3930015"/>
              <a:ext cx="2496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259759" y="3930015"/>
              <a:ext cx="6100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2（M N）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680835" y="1524000"/>
              <a:ext cx="497776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7572375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160318" y="1524000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675882" y="4266724"/>
              <a:ext cx="30046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在源课件那棵 14 个结点的树上，三种方案结果相同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680835" y="4584382"/>
            <a:ext cx="4977765" cy="1671638"/>
            <a:chOff x="6680835" y="4584382"/>
            <a:chExt cx="4977765" cy="1671638"/>
          </a:xfrm>
        </p:grpSpPr>
        <p:sp>
          <p:nvSpPr>
            <p:cNvPr id="52" name="Rectangle 52"/>
            <p:cNvSpPr/>
            <p:nvPr/>
          </p:nvSpPr>
          <p:spPr>
            <a:xfrm>
              <a:off x="6680835" y="4584382"/>
              <a:ext cx="4977765" cy="1671638"/>
            </a:xfrm>
            <a:prstGeom prst="roundRect">
              <a:avLst>
                <a:gd name="adj" fmla="val 797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861810" y="4765358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36130" y="479821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三种方案怎么选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871335" y="515778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026783" y="5104924"/>
              <a:ext cx="41419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 1、2 都是层次遍历，队列最坏要开到 O(n)，但顺带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就得到了树高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871335" y="568547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26783" y="5632609"/>
              <a:ext cx="426389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 3 是先根遍历，只用 O(h) 的递归栈，代价是要自己传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层号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8323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9404" y="407194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非递归遍历与层次遍历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四种遍历的归位：深度优先与广度优先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ree-1"/>
          <p:cNvGrpSpPr/>
          <p:nvPr/>
        </p:nvGrpSpPr>
        <p:grpSpPr>
          <a:xfrm>
            <a:off x="533400" y="1673542"/>
            <a:ext cx="4761547" cy="2258378"/>
            <a:chOff x="533400" y="1673542"/>
            <a:chExt cx="4761547" cy="2258378"/>
          </a:xfrm>
        </p:grpSpPr>
        <p:sp>
          <p:nvSpPr>
            <p:cNvPr id="7" name="Freeform 7"/>
            <p:cNvSpPr/>
            <p:nvPr/>
          </p:nvSpPr>
          <p:spPr>
            <a:xfrm>
              <a:off x="3964305" y="1833562"/>
              <a:ext cx="419100" cy="619125"/>
            </a:xfrm>
            <a:custGeom>
              <a:avLst/>
              <a:gdLst/>
              <a:ahLst/>
              <a:cxnLst/>
              <a:rect l="l" t="t" r="r" b="b"/>
              <a:pathLst>
                <a:path w="419100" h="619125">
                  <a:moveTo>
                    <a:pt x="0" y="619125"/>
                  </a:moveTo>
                  <a:lnTo>
                    <a:pt x="209550" y="6191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964305" y="245268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964305" y="2452688"/>
              <a:ext cx="419100" cy="619125"/>
            </a:xfrm>
            <a:custGeom>
              <a:avLst/>
              <a:gdLst/>
              <a:ahLst/>
              <a:cxnLst/>
              <a:rect l="l" t="t" r="r" b="b"/>
              <a:pathLst>
                <a:path w="419100" h="619125">
                  <a:moveTo>
                    <a:pt x="0" y="0"/>
                  </a:moveTo>
                  <a:lnTo>
                    <a:pt x="209550" y="0"/>
                  </a:lnTo>
                  <a:lnTo>
                    <a:pt x="209550" y="619125"/>
                  </a:lnTo>
                  <a:lnTo>
                    <a:pt x="419100" y="6191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964305" y="369093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693545" y="2452688"/>
              <a:ext cx="419100" cy="619125"/>
            </a:xfrm>
            <a:custGeom>
              <a:avLst/>
              <a:gdLst/>
              <a:ahLst/>
              <a:cxnLst/>
              <a:rect l="l" t="t" r="r" b="b"/>
              <a:pathLst>
                <a:path w="419100" h="619125">
                  <a:moveTo>
                    <a:pt x="0" y="619125"/>
                  </a:moveTo>
                  <a:lnTo>
                    <a:pt x="209550" y="6191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693545" y="3071812"/>
              <a:ext cx="419100" cy="619125"/>
            </a:xfrm>
            <a:custGeom>
              <a:avLst/>
              <a:gdLst/>
              <a:ahLst/>
              <a:cxnLst/>
              <a:rect l="l" t="t" r="r" b="b"/>
              <a:pathLst>
                <a:path w="419100" h="619125">
                  <a:moveTo>
                    <a:pt x="0" y="0"/>
                  </a:moveTo>
                  <a:lnTo>
                    <a:pt x="209550" y="0"/>
                  </a:lnTo>
                  <a:lnTo>
                    <a:pt x="209550" y="619125"/>
                  </a:lnTo>
                  <a:lnTo>
                    <a:pt x="419100" y="6191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3405" y="1673542"/>
              <a:ext cx="91154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3405" y="2292668"/>
              <a:ext cx="91154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3405" y="2911792"/>
              <a:ext cx="91154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112645" y="2211705"/>
              <a:ext cx="1850708" cy="481965"/>
            </a:xfrm>
            <a:prstGeom prst="roundRect">
              <a:avLst>
                <a:gd name="adj" fmla="val 19763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83405" y="3530918"/>
              <a:ext cx="91154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112645" y="3449955"/>
              <a:ext cx="1850708" cy="481965"/>
            </a:xfrm>
            <a:prstGeom prst="roundRect">
              <a:avLst>
                <a:gd name="adj" fmla="val 19763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911792"/>
              <a:ext cx="1160145" cy="320992"/>
            </a:xfrm>
            <a:prstGeom prst="roundRect">
              <a:avLst>
                <a:gd name="adj" fmla="val 2967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473702" y="176545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先根遍历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73702" y="238458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中根遍历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73702" y="300370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02942" y="2304574"/>
              <a:ext cx="756666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深度优先搜索</a:t>
              </a:r>
              <a:br/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（用栈）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73702" y="362283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层次遍历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02942" y="3541871"/>
              <a:ext cx="756666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广度优先搜索</a:t>
              </a:r>
              <a:br/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（用队列）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3697" y="300370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二叉树的遍历</a:t>
              </a:r>
            </a:p>
          </p:txBody>
        </p:sp>
      </p:grpSp>
      <p:grpSp>
        <p:nvGrpSpPr>
          <p:cNvPr id="34" name="c1-callout-2"/>
          <p:cNvGrpSpPr/>
          <p:nvPr/>
        </p:nvGrpSpPr>
        <p:grpSpPr>
          <a:xfrm>
            <a:off x="533400" y="4191000"/>
            <a:ext cx="4760595" cy="2158365"/>
            <a:chOff x="533400" y="4191000"/>
            <a:chExt cx="4760595" cy="2158365"/>
          </a:xfrm>
        </p:grpSpPr>
        <p:sp>
          <p:nvSpPr>
            <p:cNvPr id="28" name="Rectangle 28"/>
            <p:cNvSpPr/>
            <p:nvPr/>
          </p:nvSpPr>
          <p:spPr>
            <a:xfrm>
              <a:off x="533400" y="4191000"/>
              <a:ext cx="4760595" cy="2158365"/>
            </a:xfrm>
            <a:prstGeom prst="roundRect">
              <a:avLst>
                <a:gd name="adj" fmla="val 529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5170170"/>
              <a:ext cx="200026" cy="200026"/>
              <a:chOff x="738188" y="5170170"/>
              <a:chExt cx="200026" cy="200026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51701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8200" y="52368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27088" y="52701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0130" y="4889182"/>
              <a:ext cx="3825240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深度优先一条路走到底再回头，广度优先一层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看完再下一层，这两个名字在第 13 讲讲图的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遍历时还会原样出现。</a:t>
              </a:r>
            </a:p>
          </p:txBody>
        </p:sp>
      </p:grpSp>
      <p:grpSp>
        <p:nvGrpSpPr>
          <p:cNvPr id="65" name="c2-table-1"/>
          <p:cNvGrpSpPr/>
          <p:nvPr/>
        </p:nvGrpSpPr>
        <p:grpSpPr>
          <a:xfrm>
            <a:off x="5598795" y="1524000"/>
            <a:ext cx="6059805" cy="2697480"/>
            <a:chOff x="5598795" y="1524000"/>
            <a:chExt cx="6059805" cy="2697480"/>
          </a:xfrm>
        </p:grpSpPr>
        <p:sp>
          <p:nvSpPr>
            <p:cNvPr id="35" name="Rectangle 35"/>
            <p:cNvSpPr/>
            <p:nvPr/>
          </p:nvSpPr>
          <p:spPr>
            <a:xfrm>
              <a:off x="5598795" y="1524000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90482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遍历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23126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辅助结构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4701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1398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典型用途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706618" y="210835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76263" y="2108359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888796" y="2108359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979408" y="210835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复制二叉树、按增强先根序列建树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598795" y="241649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598795" y="2421255"/>
              <a:ext cx="605980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706618" y="267033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76263" y="267033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88796" y="2670334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979408" y="2556986"/>
              <a:ext cx="245135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二叉查找树按中根输出就是有序序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列（第 23 讲）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5598795" y="309276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706618" y="334565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76263" y="3345656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888796" y="3345656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O(h)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79408" y="3232309"/>
              <a:ext cx="2378202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释放子树、求高度，凡是“先处理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孩子”的都用它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598795" y="3768090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5598795" y="3772852"/>
              <a:ext cx="605980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706618" y="39076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676263" y="39076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队列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88796" y="3907631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79408" y="390763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按层统计、求最少层数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598795" y="1524000"/>
              <a:ext cx="6059805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6563678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776210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866822" y="15240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4" name="c2-card-2"/>
          <p:cNvGrpSpPr/>
          <p:nvPr/>
        </p:nvGrpSpPr>
        <p:grpSpPr>
          <a:xfrm>
            <a:off x="5598795" y="4411980"/>
            <a:ext cx="6059805" cy="1937385"/>
            <a:chOff x="5598795" y="4411980"/>
            <a:chExt cx="6059805" cy="1937385"/>
          </a:xfrm>
        </p:grpSpPr>
        <p:sp>
          <p:nvSpPr>
            <p:cNvPr id="66" name="Rectangle 66"/>
            <p:cNvSpPr/>
            <p:nvPr/>
          </p:nvSpPr>
          <p:spPr>
            <a:xfrm>
              <a:off x="5598795" y="4411980"/>
              <a:ext cx="6059805" cy="1937385"/>
            </a:xfrm>
            <a:prstGeom prst="roundRect">
              <a:avLst>
                <a:gd name="adj" fmla="val 68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5608320" y="4545330"/>
              <a:ext cx="47625" cy="167068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5846445" y="4621530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912002" y="465724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空间复杂度的前提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5852160" y="506158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010275" y="4998720"/>
              <a:ext cx="5101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三种深度优先的 O(h)：栈里只装一条从根出发的通路，单支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树时退化成 O(n)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5852160" y="568261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010275" y="5619750"/>
              <a:ext cx="5101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层次遍历的 O(n)：队列规模不超过叶结点数，完全二叉树时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正好是 ⌈n/2⌉</a:t>
              </a:r>
            </a:p>
          </p:txBody>
        </p:sp>
      </p:grpSp>
      <p:grpSp>
        <p:nvGrpSpPr>
          <p:cNvPr id="7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5" name="TextBox 7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135499" cy="3351847"/>
            <a:chOff x="667512" y="1835468"/>
            <a:chExt cx="5135499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二叉树的重建与计数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反过来问：给了序列能不能还原成树，能还原成几棵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先根加中根的重建方法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哪些组合行不通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卡特兰数与出栈序列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洛谷与考研例题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二叉树的重建与计数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先根加中根：根从先根来，左右从中根分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5" name="c1-cells-1"/>
          <p:cNvGrpSpPr/>
          <p:nvPr/>
        </p:nvGrpSpPr>
        <p:grpSpPr>
          <a:xfrm>
            <a:off x="528447" y="1524000"/>
            <a:ext cx="4158805" cy="1009650"/>
            <a:chOff x="528447" y="1524000"/>
            <a:chExt cx="4158805" cy="1009650"/>
          </a:xfrm>
        </p:grpSpPr>
        <p:sp>
          <p:nvSpPr>
            <p:cNvPr id="7" name="TextBox 7"/>
            <p:cNvSpPr txBox="1"/>
            <p:nvPr/>
          </p:nvSpPr>
          <p:spPr>
            <a:xfrm>
              <a:off x="528447" y="167306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先根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5352" y="1524000"/>
              <a:ext cx="41910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79699" y="16730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3445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98799" y="16730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5355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17899" y="16730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7265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36999" y="16730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9175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56099" y="16730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1085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75199" y="16730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2995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94299" y="16730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4905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13399" y="16730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268152" y="152400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32499" y="167306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447" y="22636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中根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5352" y="21145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79699" y="22636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34452" y="21145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98799" y="22636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753552" y="21145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17899" y="22636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172652" y="21145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336999" y="22636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591752" y="2114550"/>
              <a:ext cx="41910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756099" y="22636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010852" y="21145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75199" y="22636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429952" y="21145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594299" y="22636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849052" y="21145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013399" y="22636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4268152" y="211455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432499" y="22636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</p:grpSp>
      <p:grpSp>
        <p:nvGrpSpPr>
          <p:cNvPr id="63" name="c1-steps-2"/>
          <p:cNvGrpSpPr/>
          <p:nvPr/>
        </p:nvGrpSpPr>
        <p:grpSpPr>
          <a:xfrm>
            <a:off x="533400" y="2733675"/>
            <a:ext cx="5428524" cy="2764440"/>
            <a:chOff x="533400" y="2733675"/>
            <a:chExt cx="5428524" cy="2764440"/>
          </a:xfrm>
        </p:grpSpPr>
        <p:sp>
          <p:nvSpPr>
            <p:cNvPr id="46" name="Rectangle 46"/>
            <p:cNvSpPr/>
            <p:nvPr/>
          </p:nvSpPr>
          <p:spPr>
            <a:xfrm>
              <a:off x="666750" y="2876550"/>
              <a:ext cx="19050" cy="218694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533400" y="27336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7024" y="28074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33400" y="33842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702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33400" y="40347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27024" y="41086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33400" y="492061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7024" y="4994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4880" y="276796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定根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6023" y="3061811"/>
              <a:ext cx="26347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先根序列的第一个 A 是整棵树的根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4880" y="341852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切开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6023" y="3712369"/>
              <a:ext cx="50159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中根序列里 A 左边的 H B D F 是左子树，右边的 E K C G 是右子树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44880" y="406908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分序列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46023" y="4362926"/>
              <a:ext cx="484098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回到先根序列，A 后面的 4 个 B H F D 是左子树的先根序列，剩下的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 C K G 是右子树的先根序列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44880" y="495490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6023" y="5248751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对左右两段重复前三步，直到某一段为空</a:t>
              </a:r>
            </a:p>
          </p:txBody>
        </p:sp>
      </p:grpSp>
      <p:grpSp>
        <p:nvGrpSpPr>
          <p:cNvPr id="90" name="c2-tree-1"/>
          <p:cNvGrpSpPr/>
          <p:nvPr/>
        </p:nvGrpSpPr>
        <p:grpSpPr>
          <a:xfrm>
            <a:off x="6904672" y="1671638"/>
            <a:ext cx="4638676" cy="2562224"/>
            <a:chOff x="6904672" y="1671638"/>
            <a:chExt cx="4638676" cy="2562224"/>
          </a:xfrm>
        </p:grpSpPr>
        <p:sp>
          <p:nvSpPr>
            <p:cNvPr id="64" name="Freeform 64"/>
            <p:cNvSpPr/>
            <p:nvPr/>
          </p:nvSpPr>
          <p:spPr>
            <a:xfrm>
              <a:off x="8087678" y="3309938"/>
              <a:ext cx="324803" cy="714375"/>
            </a:xfrm>
            <a:custGeom>
              <a:avLst/>
              <a:gdLst/>
              <a:ahLst/>
              <a:cxnLst/>
              <a:rect l="l" t="t" r="r" b="b"/>
              <a:pathLst>
                <a:path w="324803" h="714375">
                  <a:moveTo>
                    <a:pt x="324803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7114222" y="2595562"/>
              <a:ext cx="648653" cy="714375"/>
            </a:xfrm>
            <a:custGeom>
              <a:avLst/>
              <a:gdLst/>
              <a:ahLst/>
              <a:cxnLst/>
              <a:rect l="l" t="t" r="r" b="b"/>
              <a:pathLst>
                <a:path w="648653" h="714375">
                  <a:moveTo>
                    <a:pt x="648653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7762875" y="2595562"/>
              <a:ext cx="649605" cy="714375"/>
            </a:xfrm>
            <a:custGeom>
              <a:avLst/>
              <a:gdLst/>
              <a:ahLst/>
              <a:cxnLst/>
              <a:rect l="l" t="t" r="r" b="b"/>
              <a:pathLst>
                <a:path w="649605" h="714375">
                  <a:moveTo>
                    <a:pt x="0" y="0"/>
                  </a:moveTo>
                  <a:lnTo>
                    <a:pt x="649605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10685145" y="3309938"/>
              <a:ext cx="323850" cy="714375"/>
            </a:xfrm>
            <a:custGeom>
              <a:avLst/>
              <a:gdLst/>
              <a:ahLst/>
              <a:cxnLst/>
              <a:rect l="l" t="t" r="r" b="b"/>
              <a:pathLst>
                <a:path w="323850" h="714375">
                  <a:moveTo>
                    <a:pt x="323850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11008995" y="3309938"/>
              <a:ext cx="324803" cy="714375"/>
            </a:xfrm>
            <a:custGeom>
              <a:avLst/>
              <a:gdLst/>
              <a:ahLst/>
              <a:cxnLst/>
              <a:rect l="l" t="t" r="r" b="b"/>
              <a:pathLst>
                <a:path w="324803" h="714375">
                  <a:moveTo>
                    <a:pt x="0" y="0"/>
                  </a:moveTo>
                  <a:lnTo>
                    <a:pt x="324803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10360342" y="2595562"/>
              <a:ext cx="648652" cy="714375"/>
            </a:xfrm>
            <a:custGeom>
              <a:avLst/>
              <a:gdLst/>
              <a:ahLst/>
              <a:cxnLst/>
              <a:rect l="l" t="t" r="r" b="b"/>
              <a:pathLst>
                <a:path w="648652" h="714375">
                  <a:moveTo>
                    <a:pt x="0" y="0"/>
                  </a:moveTo>
                  <a:lnTo>
                    <a:pt x="648652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7762875" y="1881188"/>
              <a:ext cx="1299210" cy="714375"/>
            </a:xfrm>
            <a:custGeom>
              <a:avLst/>
              <a:gdLst/>
              <a:ahLst/>
              <a:cxnLst/>
              <a:rect l="l" t="t" r="r" b="b"/>
              <a:pathLst>
                <a:path w="1299210" h="714375">
                  <a:moveTo>
                    <a:pt x="1299210" y="0"/>
                  </a:moveTo>
                  <a:lnTo>
                    <a:pt x="0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9062085" y="1881188"/>
              <a:ext cx="1298258" cy="714375"/>
            </a:xfrm>
            <a:custGeom>
              <a:avLst/>
              <a:gdLst/>
              <a:ahLst/>
              <a:cxnLst/>
              <a:rect l="l" t="t" r="r" b="b"/>
              <a:pathLst>
                <a:path w="1298258" h="714375">
                  <a:moveTo>
                    <a:pt x="0" y="0"/>
                  </a:moveTo>
                  <a:lnTo>
                    <a:pt x="1298258" y="71437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6904672" y="31003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7878128" y="38147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8202930" y="31003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7553325" y="238601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10475595" y="38147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11124248" y="381476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10799445" y="310038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10150792" y="2386012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8852535" y="1671638"/>
              <a:ext cx="419100" cy="4191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069019" y="32494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042474" y="396382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367277" y="32494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717672" y="253507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639942" y="396382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288594" y="396382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963792" y="324945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315139" y="253507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016882" y="182070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99" name="c2-card-2"/>
          <p:cNvGrpSpPr/>
          <p:nvPr/>
        </p:nvGrpSpPr>
        <p:grpSpPr>
          <a:xfrm>
            <a:off x="6464618" y="4572000"/>
            <a:ext cx="5193982" cy="1662112"/>
            <a:chOff x="6464618" y="4572000"/>
            <a:chExt cx="5193982" cy="1662112"/>
          </a:xfrm>
        </p:grpSpPr>
        <p:sp>
          <p:nvSpPr>
            <p:cNvPr id="91" name="Rectangle 91"/>
            <p:cNvSpPr/>
            <p:nvPr/>
          </p:nvSpPr>
          <p:spPr>
            <a:xfrm>
              <a:off x="6464618" y="4572000"/>
              <a:ext cx="5193982" cy="1662112"/>
            </a:xfrm>
            <a:prstGeom prst="roundRect">
              <a:avLst>
                <a:gd name="adj" fmla="val 80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6674168" y="4781550"/>
              <a:ext cx="148971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734823" y="4817269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两条规则各管一件事</a:t>
              </a:r>
            </a:p>
          </p:txBody>
        </p:sp>
        <p:sp>
          <p:nvSpPr>
            <p:cNvPr id="94" name="Ellipse 94"/>
            <p:cNvSpPr/>
            <p:nvPr/>
          </p:nvSpPr>
          <p:spPr>
            <a:xfrm>
              <a:off x="6679883" y="522160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837998" y="515874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先根序列负责指出每棵子树的根</a:t>
              </a:r>
            </a:p>
          </p:txBody>
        </p:sp>
        <p:sp>
          <p:nvSpPr>
            <p:cNvPr id="96" name="Ellipse 96"/>
            <p:cNvSpPr/>
            <p:nvPr/>
          </p:nvSpPr>
          <p:spPr>
            <a:xfrm>
              <a:off x="6679883" y="555688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837998" y="549402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中根序列负责把根两侧切成左子树和右子树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667691" y="5825966"/>
              <a:ext cx="3645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重建出来的树，后根序列是 H D F B K G C E A。</a:t>
              </a:r>
            </a:p>
          </p:txBody>
        </p:sp>
      </p:grpSp>
      <p:grpSp>
        <p:nvGrpSpPr>
          <p:cNvPr id="10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0" name="TextBox 10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二叉树的重建与计数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练习：重建并写出它的后根序列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966946" cy="278702"/>
            <a:chOff x="526161" y="1547336"/>
            <a:chExt cx="6966946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9669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先根序列 A B C K D E H F，中根序列 B K C A H E D F。自己动手做一遍再看右边。</a:t>
              </a:r>
            </a:p>
          </p:txBody>
        </p:sp>
      </p:grpSp>
      <p:grpSp>
        <p:nvGrpSpPr>
          <p:cNvPr id="43" name="c1-cells-1"/>
          <p:cNvGrpSpPr/>
          <p:nvPr/>
        </p:nvGrpSpPr>
        <p:grpSpPr>
          <a:xfrm>
            <a:off x="528638" y="1941195"/>
            <a:ext cx="3719512" cy="919163"/>
            <a:chOff x="528638" y="1941195"/>
            <a:chExt cx="3719512" cy="919163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07645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先根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95350" y="1941195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3173" y="20764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14450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82273" y="20764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33550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01373" y="20764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52650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20473" y="20764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71750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739573" y="20764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990850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58673" y="20764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409950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77773" y="20764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829050" y="194119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996873" y="20764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638" y="261366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中根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95350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63173" y="26136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14450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82273" y="26136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733550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01373" y="26136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152650" y="2479358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320473" y="26136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571750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739573" y="26136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990850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58673" y="26136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409950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577773" y="26136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829050" y="2479358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96873" y="261366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</p:grpSp>
      <p:grpSp>
        <p:nvGrpSpPr>
          <p:cNvPr id="57" name="c1-steps-2"/>
          <p:cNvGrpSpPr/>
          <p:nvPr/>
        </p:nvGrpSpPr>
        <p:grpSpPr>
          <a:xfrm>
            <a:off x="533400" y="3045142"/>
            <a:ext cx="5683712" cy="1900714"/>
            <a:chOff x="533400" y="3045142"/>
            <a:chExt cx="5683712" cy="1900714"/>
          </a:xfrm>
        </p:grpSpPr>
        <p:sp>
          <p:nvSpPr>
            <p:cNvPr id="44" name="Rectangle 44"/>
            <p:cNvSpPr/>
            <p:nvPr/>
          </p:nvSpPr>
          <p:spPr>
            <a:xfrm>
              <a:off x="666750" y="3188018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533400" y="304514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7024" y="311896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33400" y="36318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7024" y="37057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33400" y="421862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7024" y="42924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5642" y="307657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6785" y="3344704"/>
              <a:ext cx="46555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A；中根切成 B K C 与 H E D F，所以左子树 3 个结点、右子树 4 个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5642" y="366331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785" y="3931444"/>
              <a:ext cx="52703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 B C K、中根 B K C：根 B，B 左边没有结点，右子树是 C（C 的左孩子 K）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5642" y="425100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右子树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6785" y="4518184"/>
              <a:ext cx="487603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 D E H F、中根 H E D F：根 D，左子树先根 E H、中根 H E，即 E 的左孩子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H；D 的右孩子是 F</a:t>
              </a:r>
            </a:p>
          </p:txBody>
        </p:sp>
      </p:grpSp>
      <p:grpSp>
        <p:nvGrpSpPr>
          <p:cNvPr id="64" name="c1-card-3"/>
          <p:cNvGrpSpPr/>
          <p:nvPr/>
        </p:nvGrpSpPr>
        <p:grpSpPr>
          <a:xfrm>
            <a:off x="533400" y="5113972"/>
            <a:ext cx="5626418" cy="1209675"/>
            <a:chOff x="533400" y="5113972"/>
            <a:chExt cx="5626418" cy="1209675"/>
          </a:xfrm>
        </p:grpSpPr>
        <p:sp>
          <p:nvSpPr>
            <p:cNvPr id="58" name="Rectangle 58"/>
            <p:cNvSpPr/>
            <p:nvPr/>
          </p:nvSpPr>
          <p:spPr>
            <a:xfrm>
              <a:off x="533400" y="5113972"/>
              <a:ext cx="5626418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42925" y="5247322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63905" y="5306378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35342" y="5340668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两处最容易出错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72478" y="571976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28497" y="566356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切中根序列最容易数错：根左边有几个结点，先根序列里紧跟根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的那一段就取几个</a:t>
              </a:r>
            </a:p>
          </p:txBody>
        </p:sp>
      </p:grpSp>
      <p:grpSp>
        <p:nvGrpSpPr>
          <p:cNvPr id="88" name="c2-tree-1"/>
          <p:cNvGrpSpPr/>
          <p:nvPr/>
        </p:nvGrpSpPr>
        <p:grpSpPr>
          <a:xfrm>
            <a:off x="7572375" y="2054542"/>
            <a:ext cx="3627120" cy="2201228"/>
            <a:chOff x="7572375" y="2054542"/>
            <a:chExt cx="3627120" cy="2201228"/>
          </a:xfrm>
        </p:grpSpPr>
        <p:sp>
          <p:nvSpPr>
            <p:cNvPr id="65" name="Freeform 65"/>
            <p:cNvSpPr/>
            <p:nvPr/>
          </p:nvSpPr>
          <p:spPr>
            <a:xfrm>
              <a:off x="8087678" y="3458528"/>
              <a:ext cx="324803" cy="606742"/>
            </a:xfrm>
            <a:custGeom>
              <a:avLst/>
              <a:gdLst/>
              <a:ahLst/>
              <a:cxnLst/>
              <a:rect l="l" t="t" r="r" b="b"/>
              <a:pathLst>
                <a:path w="324803" h="606742">
                  <a:moveTo>
                    <a:pt x="324803" y="0"/>
                  </a:moveTo>
                  <a:lnTo>
                    <a:pt x="0" y="6067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6" name="Freeform 66"/>
            <p:cNvSpPr/>
            <p:nvPr/>
          </p:nvSpPr>
          <p:spPr>
            <a:xfrm>
              <a:off x="7762875" y="2851785"/>
              <a:ext cx="649605" cy="606743"/>
            </a:xfrm>
            <a:custGeom>
              <a:avLst/>
              <a:gdLst/>
              <a:ahLst/>
              <a:cxnLst/>
              <a:rect l="l" t="t" r="r" b="b"/>
              <a:pathLst>
                <a:path w="649605" h="606743">
                  <a:moveTo>
                    <a:pt x="0" y="0"/>
                  </a:moveTo>
                  <a:lnTo>
                    <a:pt x="649605" y="60674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7" name="Freeform 67"/>
            <p:cNvSpPr/>
            <p:nvPr/>
          </p:nvSpPr>
          <p:spPr>
            <a:xfrm>
              <a:off x="9385935" y="3458528"/>
              <a:ext cx="324803" cy="606742"/>
            </a:xfrm>
            <a:custGeom>
              <a:avLst/>
              <a:gdLst/>
              <a:ahLst/>
              <a:cxnLst/>
              <a:rect l="l" t="t" r="r" b="b"/>
              <a:pathLst>
                <a:path w="324803" h="606742">
                  <a:moveTo>
                    <a:pt x="324803" y="0"/>
                  </a:moveTo>
                  <a:lnTo>
                    <a:pt x="0" y="6067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8" name="Freeform 68"/>
            <p:cNvSpPr/>
            <p:nvPr/>
          </p:nvSpPr>
          <p:spPr>
            <a:xfrm>
              <a:off x="9710738" y="2851785"/>
              <a:ext cx="649605" cy="606743"/>
            </a:xfrm>
            <a:custGeom>
              <a:avLst/>
              <a:gdLst/>
              <a:ahLst/>
              <a:cxnLst/>
              <a:rect l="l" t="t" r="r" b="b"/>
              <a:pathLst>
                <a:path w="649605" h="606743">
                  <a:moveTo>
                    <a:pt x="649605" y="0"/>
                  </a:moveTo>
                  <a:lnTo>
                    <a:pt x="0" y="60674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69" name="Freeform 69"/>
            <p:cNvSpPr/>
            <p:nvPr/>
          </p:nvSpPr>
          <p:spPr>
            <a:xfrm>
              <a:off x="10360342" y="2851785"/>
              <a:ext cx="648652" cy="606743"/>
            </a:xfrm>
            <a:custGeom>
              <a:avLst/>
              <a:gdLst/>
              <a:ahLst/>
              <a:cxnLst/>
              <a:rect l="l" t="t" r="r" b="b"/>
              <a:pathLst>
                <a:path w="648652" h="606743">
                  <a:moveTo>
                    <a:pt x="0" y="0"/>
                  </a:moveTo>
                  <a:lnTo>
                    <a:pt x="648652" y="60674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7762875" y="2245042"/>
              <a:ext cx="1299210" cy="606742"/>
            </a:xfrm>
            <a:custGeom>
              <a:avLst/>
              <a:gdLst/>
              <a:ahLst/>
              <a:cxnLst/>
              <a:rect l="l" t="t" r="r" b="b"/>
              <a:pathLst>
                <a:path w="1299210" h="606742">
                  <a:moveTo>
                    <a:pt x="1299210" y="0"/>
                  </a:moveTo>
                  <a:lnTo>
                    <a:pt x="0" y="6067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9062085" y="2245042"/>
              <a:ext cx="1298258" cy="606742"/>
            </a:xfrm>
            <a:custGeom>
              <a:avLst/>
              <a:gdLst/>
              <a:ahLst/>
              <a:cxnLst/>
              <a:rect l="l" t="t" r="r" b="b"/>
              <a:pathLst>
                <a:path w="1298258" h="606742">
                  <a:moveTo>
                    <a:pt x="0" y="0"/>
                  </a:moveTo>
                  <a:lnTo>
                    <a:pt x="1298258" y="60674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72" name="Ellipse 72"/>
            <p:cNvSpPr/>
            <p:nvPr/>
          </p:nvSpPr>
          <p:spPr>
            <a:xfrm>
              <a:off x="7897178" y="387477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3" name="Ellipse 73"/>
            <p:cNvSpPr/>
            <p:nvPr/>
          </p:nvSpPr>
          <p:spPr>
            <a:xfrm>
              <a:off x="8221980" y="326802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7572375" y="266128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9195435" y="3874770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9520238" y="326802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10818495" y="326802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8" name="Ellipse 78"/>
            <p:cNvSpPr/>
            <p:nvPr/>
          </p:nvSpPr>
          <p:spPr>
            <a:xfrm>
              <a:off x="10169842" y="266128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9" name="Ellipse 79"/>
            <p:cNvSpPr/>
            <p:nvPr/>
          </p:nvSpPr>
          <p:spPr>
            <a:xfrm>
              <a:off x="8871585" y="205454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042474" y="400478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367277" y="339804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717672" y="279130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340732" y="400478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665534" y="339804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963792" y="3398044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315139" y="2791301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016882" y="2184559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98" name="c2-card-2"/>
          <p:cNvGrpSpPr/>
          <p:nvPr/>
        </p:nvGrpSpPr>
        <p:grpSpPr>
          <a:xfrm>
            <a:off x="6464618" y="4543425"/>
            <a:ext cx="5193982" cy="1780222"/>
            <a:chOff x="6464618" y="4543425"/>
            <a:chExt cx="5193982" cy="1780222"/>
          </a:xfrm>
        </p:grpSpPr>
        <p:sp>
          <p:nvSpPr>
            <p:cNvPr id="89" name="Rectangle 89"/>
            <p:cNvSpPr/>
            <p:nvPr/>
          </p:nvSpPr>
          <p:spPr>
            <a:xfrm>
              <a:off x="6464618" y="4543425"/>
              <a:ext cx="5193982" cy="1780222"/>
            </a:xfrm>
            <a:prstGeom prst="roundRect">
              <a:avLst>
                <a:gd name="adj" fmla="val 74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0" name="Rectangle 90"/>
            <p:cNvSpPr/>
            <p:nvPr/>
          </p:nvSpPr>
          <p:spPr>
            <a:xfrm>
              <a:off x="6474142" y="4676775"/>
              <a:ext cx="47625" cy="151352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6695122" y="473583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786562" y="477012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6703695" y="514921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859714" y="5093018"/>
              <a:ext cx="21705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后根序列：K C B H E F D A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6703695" y="545115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859714" y="5394960"/>
              <a:ext cx="21705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层次序列：A B D C E F K H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689408" y="5693569"/>
              <a:ext cx="458444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核对的办法：后根序列的最后一个必须是 A，中根序列里 A 左边 3 个、右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 4 个。</a:t>
              </a:r>
            </a:p>
          </p:txBody>
        </p:sp>
      </p:grpSp>
      <p:grpSp>
        <p:nvGrpSpPr>
          <p:cNvPr id="10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9" name="TextBox 9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二叉树的重建与计数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阿里笔试题：十个结点的重建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4977765" cy="2085975"/>
            <a:chOff x="533400" y="1524000"/>
            <a:chExt cx="4977765" cy="20859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085975"/>
            </a:xfrm>
            <a:prstGeom prst="roundRect">
              <a:avLst>
                <a:gd name="adj" fmla="val 639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1927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9660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阿里笔试题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1332" y="2054542"/>
              <a:ext cx="423995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先序序列 A B C D E F G H I J，中序序列 C B A E F D I H J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G，求后序序列。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612708"/>
              <a:ext cx="3968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C B D E A G I H J F　　B. C B D A E G I H J F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1332" y="2912745"/>
              <a:ext cx="3968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C E D B I J H G F A　　D. C E D B I H J G F 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1332" y="3212782"/>
              <a:ext cx="3968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E. C B F E I J H G D A　　F. C B F E I H J G D A</a:t>
              </a:r>
            </a:p>
          </p:txBody>
        </p:sp>
      </p:grpSp>
      <p:grpSp>
        <p:nvGrpSpPr>
          <p:cNvPr id="29" name="c1-steps-2"/>
          <p:cNvGrpSpPr/>
          <p:nvPr/>
        </p:nvGrpSpPr>
        <p:grpSpPr>
          <a:xfrm>
            <a:off x="533400" y="3789998"/>
            <a:ext cx="4770247" cy="2099785"/>
            <a:chOff x="533400" y="3789998"/>
            <a:chExt cx="4770247" cy="2099785"/>
          </a:xfrm>
        </p:grpSpPr>
        <p:sp>
          <p:nvSpPr>
            <p:cNvPr id="16" name="Rectangle 16"/>
            <p:cNvSpPr/>
            <p:nvPr/>
          </p:nvSpPr>
          <p:spPr>
            <a:xfrm>
              <a:off x="666750" y="3932872"/>
              <a:ext cx="19050" cy="13735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33400" y="378999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27024" y="386381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45796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024" y="46534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533400" y="516255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024" y="52363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5642" y="382143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拆第一层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4089559"/>
              <a:ext cx="435686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A；中序里 A 左边只有 C B，右边是 E F D I H J G，所以左子树 2 个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结点、右子树 7 个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5642" y="461200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4879181"/>
              <a:ext cx="39918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先序 B C、中序 C B：根 B，C 是 B 的左孩子，后序给出 C 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5642" y="519493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右子树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6785" y="5462111"/>
              <a:ext cx="427151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先序 D E F G H I J、中序 E F D I H J G：根 D；D 的左子树是 E（右孩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 F），右子树的根是 G，G 的左孩子 H，H 的左右孩子是 I 和 J</a:t>
              </a:r>
            </a:p>
          </p:txBody>
        </p:sp>
      </p:grpSp>
      <p:grpSp>
        <p:nvGrpSpPr>
          <p:cNvPr id="59" name="c2-tree-1"/>
          <p:cNvGrpSpPr/>
          <p:nvPr/>
        </p:nvGrpSpPr>
        <p:grpSpPr>
          <a:xfrm>
            <a:off x="6419850" y="1649730"/>
            <a:ext cx="4633912" cy="2263140"/>
            <a:chOff x="6419850" y="1649730"/>
            <a:chExt cx="4633912" cy="2263140"/>
          </a:xfrm>
        </p:grpSpPr>
        <p:sp>
          <p:nvSpPr>
            <p:cNvPr id="30" name="Freeform 30"/>
            <p:cNvSpPr/>
            <p:nvPr/>
          </p:nvSpPr>
          <p:spPr>
            <a:xfrm>
              <a:off x="6545580" y="2278380"/>
              <a:ext cx="730567" cy="502920"/>
            </a:xfrm>
            <a:custGeom>
              <a:avLst/>
              <a:gdLst/>
              <a:ahLst/>
              <a:cxnLst/>
              <a:rect l="l" t="t" r="r" b="b"/>
              <a:pathLst>
                <a:path w="730567" h="502920">
                  <a:moveTo>
                    <a:pt x="730567" y="0"/>
                  </a:moveTo>
                  <a:lnTo>
                    <a:pt x="0" y="5029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467850" y="2781300"/>
              <a:ext cx="364807" cy="502920"/>
            </a:xfrm>
            <a:custGeom>
              <a:avLst/>
              <a:gdLst/>
              <a:ahLst/>
              <a:cxnLst/>
              <a:rect l="l" t="t" r="r" b="b"/>
              <a:pathLst>
                <a:path w="364807" h="502920">
                  <a:moveTo>
                    <a:pt x="0" y="0"/>
                  </a:moveTo>
                  <a:lnTo>
                    <a:pt x="364807" y="5029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10380345" y="3284220"/>
              <a:ext cx="182880" cy="502920"/>
            </a:xfrm>
            <a:custGeom>
              <a:avLst/>
              <a:gdLst/>
              <a:ahLst/>
              <a:cxnLst/>
              <a:rect l="l" t="t" r="r" b="b"/>
              <a:pathLst>
                <a:path w="182880" h="502920">
                  <a:moveTo>
                    <a:pt x="182880" y="0"/>
                  </a:moveTo>
                  <a:lnTo>
                    <a:pt x="0" y="5029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10563225" y="3284220"/>
              <a:ext cx="182880" cy="502920"/>
            </a:xfrm>
            <a:custGeom>
              <a:avLst/>
              <a:gdLst/>
              <a:ahLst/>
              <a:cxnLst/>
              <a:rect l="l" t="t" r="r" b="b"/>
              <a:pathLst>
                <a:path w="182880" h="502920">
                  <a:moveTo>
                    <a:pt x="0" y="0"/>
                  </a:moveTo>
                  <a:lnTo>
                    <a:pt x="182880" y="5029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10563225" y="2781300"/>
              <a:ext cx="364807" cy="502920"/>
            </a:xfrm>
            <a:custGeom>
              <a:avLst/>
              <a:gdLst/>
              <a:ahLst/>
              <a:cxnLst/>
              <a:rect l="l" t="t" r="r" b="b"/>
              <a:pathLst>
                <a:path w="364807" h="502920">
                  <a:moveTo>
                    <a:pt x="364807" y="0"/>
                  </a:moveTo>
                  <a:lnTo>
                    <a:pt x="0" y="5029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467850" y="2278380"/>
              <a:ext cx="729615" cy="502920"/>
            </a:xfrm>
            <a:custGeom>
              <a:avLst/>
              <a:gdLst/>
              <a:ahLst/>
              <a:cxnLst/>
              <a:rect l="l" t="t" r="r" b="b"/>
              <a:pathLst>
                <a:path w="729615" h="502920">
                  <a:moveTo>
                    <a:pt x="729615" y="0"/>
                  </a:moveTo>
                  <a:lnTo>
                    <a:pt x="0" y="5029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10197465" y="2278380"/>
              <a:ext cx="730568" cy="502920"/>
            </a:xfrm>
            <a:custGeom>
              <a:avLst/>
              <a:gdLst/>
              <a:ahLst/>
              <a:cxnLst/>
              <a:rect l="l" t="t" r="r" b="b"/>
              <a:pathLst>
                <a:path w="730568" h="502920">
                  <a:moveTo>
                    <a:pt x="0" y="0"/>
                  </a:moveTo>
                  <a:lnTo>
                    <a:pt x="730568" y="5029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276148" y="1775460"/>
              <a:ext cx="1461135" cy="502920"/>
            </a:xfrm>
            <a:custGeom>
              <a:avLst/>
              <a:gdLst/>
              <a:ahLst/>
              <a:cxnLst/>
              <a:rect l="l" t="t" r="r" b="b"/>
              <a:pathLst>
                <a:path w="1461135" h="502920">
                  <a:moveTo>
                    <a:pt x="1461135" y="0"/>
                  </a:moveTo>
                  <a:lnTo>
                    <a:pt x="0" y="5029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737282" y="1775460"/>
              <a:ext cx="1460182" cy="502920"/>
            </a:xfrm>
            <a:custGeom>
              <a:avLst/>
              <a:gdLst/>
              <a:ahLst/>
              <a:cxnLst/>
              <a:rect l="l" t="t" r="r" b="b"/>
              <a:pathLst>
                <a:path w="1460182" h="502920">
                  <a:moveTo>
                    <a:pt x="0" y="0"/>
                  </a:moveTo>
                  <a:lnTo>
                    <a:pt x="1460182" y="50292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419850" y="2655570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150417" y="2152650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9706928" y="3158490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9342120" y="2655570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254615" y="3661410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620375" y="3661410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10437495" y="3158490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0802302" y="2655570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0071735" y="2152650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8611552" y="1649730"/>
              <a:ext cx="251460" cy="25146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03853" y="272510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234420" y="222218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90930" y="322802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26123" y="272510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355420" y="3730942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704378" y="373094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21498" y="322802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886305" y="272510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55738" y="222218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695555" y="171926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65" name="c2-card-2"/>
          <p:cNvGrpSpPr/>
          <p:nvPr/>
        </p:nvGrpSpPr>
        <p:grpSpPr>
          <a:xfrm>
            <a:off x="5815965" y="4208145"/>
            <a:ext cx="5842635" cy="1185862"/>
            <a:chOff x="5815965" y="4208145"/>
            <a:chExt cx="5842635" cy="1185862"/>
          </a:xfrm>
        </p:grpSpPr>
        <p:sp>
          <p:nvSpPr>
            <p:cNvPr id="60" name="Rectangle 60"/>
            <p:cNvSpPr/>
            <p:nvPr/>
          </p:nvSpPr>
          <p:spPr>
            <a:xfrm>
              <a:off x="5815965" y="4208145"/>
              <a:ext cx="5842635" cy="1185862"/>
            </a:xfrm>
            <a:prstGeom prst="roundRect">
              <a:avLst>
                <a:gd name="adj" fmla="val 1124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5825490" y="4341495"/>
              <a:ext cx="47625" cy="9191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40755" y="4394835"/>
              <a:ext cx="569595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126467" y="4427696"/>
              <a:ext cx="3981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答案 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033897" y="4739640"/>
              <a:ext cx="51743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后序序列 C B F E I J H G D A。左子树给出 C B，右子树里 E 那支给出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E、G 那支给出 I J H G，再接 D，最后是根 A。</a:t>
              </a:r>
            </a:p>
          </p:txBody>
        </p:sp>
      </p:grpSp>
      <p:grpSp>
        <p:nvGrpSpPr>
          <p:cNvPr id="72" name="c2-callout-3"/>
          <p:cNvGrpSpPr/>
          <p:nvPr/>
        </p:nvGrpSpPr>
        <p:grpSpPr>
          <a:xfrm>
            <a:off x="5815965" y="5564505"/>
            <a:ext cx="5842635" cy="729615"/>
            <a:chOff x="5815965" y="5564505"/>
            <a:chExt cx="5842635" cy="729615"/>
          </a:xfrm>
        </p:grpSpPr>
        <p:sp>
          <p:nvSpPr>
            <p:cNvPr id="66" name="Rectangle 66"/>
            <p:cNvSpPr/>
            <p:nvPr/>
          </p:nvSpPr>
          <p:spPr>
            <a:xfrm>
              <a:off x="5815965" y="5564505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0" name="Group 70"/>
            <p:cNvGrpSpPr/>
            <p:nvPr/>
          </p:nvGrpSpPr>
          <p:grpSpPr>
            <a:xfrm>
              <a:off x="6020753" y="5829300"/>
              <a:ext cx="200026" cy="200025"/>
              <a:chOff x="6020753" y="5829300"/>
              <a:chExt cx="200026" cy="200025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020753" y="582930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060491" y="587375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6095207" y="598487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71" name="TextBox 71"/>
            <p:cNvSpPr txBox="1"/>
            <p:nvPr/>
          </p:nvSpPr>
          <p:spPr>
            <a:xfrm>
              <a:off x="6323457" y="5710238"/>
              <a:ext cx="470287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选项 D 和 F 的差别只在 I H J 与 I J H，这一段来自 H 的两个孩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子，H 自己必须排在 I、J 之后。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二叉树的重建与计数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重建的编程实现与它的复杂度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783205"/>
            <a:chOff x="533400" y="1524000"/>
            <a:chExt cx="6059805" cy="27832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783205"/>
            </a:xfrm>
            <a:prstGeom prst="roundRect">
              <a:avLst>
                <a:gd name="adj" fmla="val 342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由先根序列和中根序列建树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2934144" cy="22836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find(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*inorder,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val)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n; i++)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(inorder[i] == val)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*buildTree(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*preorder,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*inorder,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(n &lt;= 0)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NULL;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*root =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root-&gt;data = preorder[0];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先根首元素是根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find(inorder, n, preorder[0]);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root-&gt;left = buildTree(preorder + 1, inorder, k);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root-&gt;right = buildTree(preorder + k + 1,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inorder + k + 1, n - k - 1);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482465"/>
            <a:ext cx="6059805" cy="1518285"/>
            <a:chOff x="533400" y="4482465"/>
            <a:chExt cx="6059805" cy="1518285"/>
          </a:xfrm>
        </p:grpSpPr>
        <p:sp>
          <p:nvSpPr>
            <p:cNvPr id="11" name="Rectangle 11"/>
            <p:cNvSpPr/>
            <p:nvPr/>
          </p:nvSpPr>
          <p:spPr>
            <a:xfrm>
              <a:off x="533400" y="4482465"/>
              <a:ext cx="6059805" cy="1518285"/>
            </a:xfrm>
            <a:prstGeom prst="roundRect">
              <a:avLst>
                <a:gd name="adj" fmla="val 87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615815"/>
              <a:ext cx="47625" cy="125158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63905" y="467487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5342" y="470916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三个参数怎么读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508825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5032058"/>
              <a:ext cx="5565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preorder + 1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表示去掉根之后的那一段，长度 k 就是左子树的结点数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2478" y="53901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8497" y="5334000"/>
              <a:ext cx="4311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inorder + k + 1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跳过根，剩下 n−k−1 个结点是右子树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8190" y="5632609"/>
              <a:ext cx="50673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new TreeNode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是 C++ 写法，标准 C 里换成 malloc(sizeof(TreeNode))。</a:t>
              </a:r>
            </a:p>
          </p:txBody>
        </p:sp>
      </p:grpSp>
      <p:grpSp>
        <p:nvGrpSpPr>
          <p:cNvPr id="35" name="c2-cells-1"/>
          <p:cNvGrpSpPr/>
          <p:nvPr/>
        </p:nvGrpSpPr>
        <p:grpSpPr>
          <a:xfrm>
            <a:off x="6893242" y="1524000"/>
            <a:ext cx="3631884" cy="918210"/>
            <a:chOff x="6893242" y="1524000"/>
            <a:chExt cx="3631884" cy="918210"/>
          </a:xfrm>
        </p:grpSpPr>
        <p:sp>
          <p:nvSpPr>
            <p:cNvPr id="21" name="TextBox 21"/>
            <p:cNvSpPr txBox="1"/>
            <p:nvPr/>
          </p:nvSpPr>
          <p:spPr>
            <a:xfrm>
              <a:off x="6893242" y="1658303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先根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259955" y="1524000"/>
              <a:ext cx="108870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84424" y="1658303"/>
              <a:ext cx="2388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47710" y="1524000"/>
              <a:ext cx="108870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82005" y="1658303"/>
              <a:ext cx="6210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 1…k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436418" y="1524000"/>
              <a:ext cx="108870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530775" y="1658303"/>
              <a:ext cx="9009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右子树 k+1…n−1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93242" y="219646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中根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259955" y="2061210"/>
              <a:ext cx="108870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23329" y="2196465"/>
              <a:ext cx="76100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 0…k−1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7710" y="2061210"/>
              <a:ext cx="108870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773132" y="2196465"/>
              <a:ext cx="2388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k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436418" y="2061210"/>
              <a:ext cx="1088708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530775" y="2196465"/>
              <a:ext cx="90094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右子树 k+1…n−1</a:t>
              </a:r>
            </a:p>
          </p:txBody>
        </p:sp>
      </p:grpSp>
      <p:grpSp>
        <p:nvGrpSpPr>
          <p:cNvPr id="45" name="c2-card-2"/>
          <p:cNvGrpSpPr/>
          <p:nvPr/>
        </p:nvGrpSpPr>
        <p:grpSpPr>
          <a:xfrm>
            <a:off x="6898005" y="2617470"/>
            <a:ext cx="4760595" cy="1557338"/>
            <a:chOff x="6898005" y="2617470"/>
            <a:chExt cx="4760595" cy="1557338"/>
          </a:xfrm>
        </p:grpSpPr>
        <p:sp>
          <p:nvSpPr>
            <p:cNvPr id="36" name="Rectangle 36"/>
            <p:cNvSpPr/>
            <p:nvPr/>
          </p:nvSpPr>
          <p:spPr>
            <a:xfrm>
              <a:off x="6898005" y="2617470"/>
              <a:ext cx="4760595" cy="1557338"/>
            </a:xfrm>
            <a:prstGeom prst="roundRect">
              <a:avLst>
                <a:gd name="adj" fmla="val 85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090410" y="2809875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169848" y="2844165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098982" y="322326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255002" y="3167062"/>
              <a:ext cx="36078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每层递归要扫一遍中根序列找根，代价 O(n)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098982" y="352520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255002" y="3469005"/>
              <a:ext cx="4066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树接近平衡时递归 O(log n) 层，合计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098982" y="382809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255002" y="3771900"/>
              <a:ext cx="32186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退化成单支树时递归 n 层，合计 </a:t>
              </a:r>
              <a:r>
                <a:rPr lang="en-US" sz="1350" b="1" dirty="0">
                  <a:solidFill>
                    <a:srgbClr val="FFC2BD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</p:grpSp>
      <p:grpSp>
        <p:nvGrpSpPr>
          <p:cNvPr id="52" name="c2-callout-3"/>
          <p:cNvGrpSpPr/>
          <p:nvPr/>
        </p:nvGrpSpPr>
        <p:grpSpPr>
          <a:xfrm>
            <a:off x="6898005" y="4350068"/>
            <a:ext cx="4760595" cy="1650682"/>
            <a:chOff x="6898005" y="4350068"/>
            <a:chExt cx="4760595" cy="1650682"/>
          </a:xfrm>
        </p:grpSpPr>
        <p:sp>
          <p:nvSpPr>
            <p:cNvPr id="46" name="Rectangle 46"/>
            <p:cNvSpPr/>
            <p:nvPr/>
          </p:nvSpPr>
          <p:spPr>
            <a:xfrm>
              <a:off x="6898005" y="4350068"/>
              <a:ext cx="4760595" cy="1650682"/>
            </a:xfrm>
            <a:prstGeom prst="roundRect">
              <a:avLst>
                <a:gd name="adj" fmla="val 692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102793" y="5075873"/>
              <a:ext cx="200026" cy="200026"/>
              <a:chOff x="7102793" y="5075873"/>
              <a:chExt cx="200026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7102793" y="50758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202805" y="51425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191693" y="51758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405497" y="4956810"/>
              <a:ext cx="351129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把中根序列每个值的位置先存进散列表（第 25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讲），find 变成 O(1)，整体就降到 O(n)。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二叉树的重建与计数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二叉树计数：答案为什么是卡特兰数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619369" cy="3233071"/>
            <a:chOff x="533400" y="1533525"/>
            <a:chExt cx="5619369" cy="3233071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24222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8408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5790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306990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314372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9557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40295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4880" y="156781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换个问法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023" y="1861661"/>
              <a:ext cx="49755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个结点的二叉树有多少种形态？先按先根序列把结点编号成 1…n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4880" y="2218372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一一对应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023" y="2512219"/>
              <a:ext cx="52067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先根序列加中根序列能唯一确定一棵二叉树。现在先根序列固定成 1…n，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那么有多少种可能的中根序列，就有多少棵不同的二叉树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4880" y="3104198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搬到栈上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023" y="3397091"/>
              <a:ext cx="520674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非递归算法已经证明：进栈序列就是先根序列 1…n，出栈序列就是中根序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4880" y="3990022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023" y="4282916"/>
              <a:ext cx="51335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问题变成“进栈序列为 1…n 时有多少个合法的出栈序列”，这正是第 4 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栈那一讲的结论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945380"/>
            <a:ext cx="5842635" cy="782955"/>
            <a:chOff x="533400" y="4945380"/>
            <a:chExt cx="5842635" cy="782955"/>
          </a:xfrm>
        </p:grpSpPr>
        <p:sp>
          <p:nvSpPr>
            <p:cNvPr id="25" name="Rectangle 25"/>
            <p:cNvSpPr/>
            <p:nvPr/>
          </p:nvSpPr>
          <p:spPr>
            <a:xfrm>
              <a:off x="533400" y="4945380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5236847"/>
              <a:ext cx="200023" cy="200023"/>
              <a:chOff x="738188" y="5236847"/>
              <a:chExt cx="200023" cy="20002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38188" y="52368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71538" y="53035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130" y="5093970"/>
              <a:ext cx="4777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三个计数问题是同一个：二叉树的形态数、合法出栈序列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数、可能的中根序列数。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formula14"/>
              <p:cNvSpPr txBox="1">
                <a:spLocks noGrp="1"/>
              </p:cNvSpPr>
              <p:nvPr/>
            </p:nvSpPr>
            <p:spPr>
              <a:xfrm>
                <a:off x="6680835" y="1524000"/>
                <a:ext cx="4977765" cy="6686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C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den>
                      </m:f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2n</m:t>
                              </m:r>
                            </m:num>
                            <m:den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n</m:t>
                              </m:r>
                            </m:den>
                          </m:f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55" name="c2-table-2"/>
          <p:cNvGrpSpPr/>
          <p:nvPr/>
        </p:nvGrpSpPr>
        <p:grpSpPr>
          <a:xfrm>
            <a:off x="6680835" y="2383155"/>
            <a:ext cx="4977765" cy="897255"/>
            <a:chOff x="6680835" y="2383155"/>
            <a:chExt cx="4977765" cy="897255"/>
          </a:xfrm>
        </p:grpSpPr>
        <p:sp>
          <p:nvSpPr>
            <p:cNvPr id="32" name="Rectangle 32"/>
            <p:cNvSpPr/>
            <p:nvPr/>
          </p:nvSpPr>
          <p:spPr>
            <a:xfrm>
              <a:off x="6680835" y="2383155"/>
              <a:ext cx="497776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72290" y="25188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43827" y="25188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690575" y="25188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337322" y="25188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985022" y="25188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31770" y="25188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78517" y="251888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88658" y="29675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形态数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84033" y="29675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432482" y="2841308"/>
              <a:ext cx="62769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530780" y="29675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78480" y="29675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825228" y="29675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471975" y="2967514"/>
              <a:ext cx="2972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429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19675" y="296751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1430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680835" y="2383155"/>
              <a:ext cx="4977765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7771448" y="23831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418195" y="23831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065895" y="23831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712642" y="23831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10359390" y="23831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1007090" y="238315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1" name="c2-card-3"/>
          <p:cNvGrpSpPr/>
          <p:nvPr/>
        </p:nvGrpSpPr>
        <p:grpSpPr>
          <a:xfrm>
            <a:off x="6680835" y="3470910"/>
            <a:ext cx="4977765" cy="2257425"/>
            <a:chOff x="6680835" y="3470910"/>
            <a:chExt cx="4977765" cy="2257425"/>
          </a:xfrm>
        </p:grpSpPr>
        <p:sp>
          <p:nvSpPr>
            <p:cNvPr id="56" name="Rectangle 56"/>
            <p:cNvSpPr/>
            <p:nvPr/>
          </p:nvSpPr>
          <p:spPr>
            <a:xfrm>
              <a:off x="6680835" y="3470910"/>
              <a:ext cx="4977765" cy="2257425"/>
            </a:xfrm>
            <a:prstGeom prst="roundRect">
              <a:avLst>
                <a:gd name="adj" fmla="val 5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690360" y="3604260"/>
              <a:ext cx="47625" cy="199072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928485" y="3680460"/>
              <a:ext cx="109251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001539" y="3716179"/>
              <a:ext cx="9473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和第 7 讲对照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20865" y="4057650"/>
              <a:ext cx="42919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7 讲数过 3 个结点的二叉树有 5 种形态、树只有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种。表里 n = 3 的 5 正是同一个数。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二叉树的重建与计数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卡特兰数怎么用：两道考研题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1914525"/>
            <a:chOff x="533400" y="1524000"/>
            <a:chExt cx="5193982" cy="19145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914525"/>
            </a:xfrm>
            <a:prstGeom prst="roundRect">
              <a:avLst>
                <a:gd name="adj" fmla="val 696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4782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8792" y="176355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考研题全国卷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8096" y="2100739"/>
              <a:ext cx="440575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先根序列为 a, b, c, d 的不同二叉树的个数是（　）。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13　B. 14　C. 15　D. 16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7527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692241"/>
              <a:ext cx="39428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先根序列固定，形态数只取决于结点个数 n = 4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307276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3012281"/>
              <a:ext cx="30413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C₄ = C(8,4)/5 = 70/5 = </a:t>
              </a:r>
              <a:r>
                <a:rPr lang="zh-CN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14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，选 B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624262"/>
            <a:ext cx="5193982" cy="756285"/>
            <a:chOff x="533400" y="3624262"/>
            <a:chExt cx="5193982" cy="756285"/>
          </a:xfrm>
        </p:grpSpPr>
        <p:sp>
          <p:nvSpPr>
            <p:cNvPr id="17" name="Rectangle 17"/>
            <p:cNvSpPr/>
            <p:nvPr/>
          </p:nvSpPr>
          <p:spPr>
            <a:xfrm>
              <a:off x="533400" y="3624262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3902393"/>
              <a:ext cx="200026" cy="200025"/>
              <a:chOff x="738188" y="3902393"/>
              <a:chExt cx="200026" cy="2000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39023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77926" y="39468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12642" y="40579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511" y="3771424"/>
              <a:ext cx="409917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记住前几个值 1、2、5、14、42、132，笔试题里 n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很少超过 6。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4566285"/>
            <a:ext cx="5193982" cy="1574482"/>
            <a:chOff x="533400" y="4566285"/>
            <a:chExt cx="5193982" cy="1574482"/>
          </a:xfrm>
        </p:grpSpPr>
        <p:sp>
          <p:nvSpPr>
            <p:cNvPr id="24" name="Rectangle 24"/>
            <p:cNvSpPr/>
            <p:nvPr/>
          </p:nvSpPr>
          <p:spPr>
            <a:xfrm>
              <a:off x="533400" y="4566285"/>
              <a:ext cx="5193982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699635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75335" y="4770120"/>
              <a:ext cx="92106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2741" y="480583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另一种算法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03464" y="4809649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按根的左右子树分组的递推式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8096" y="5161121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 i 个结点、右子树 n−1−i 个，两边形态任意搭配：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Cₙ = C₀·Cₙ₋₁ + C₁·Cₙ₋₂ + … + Cₙ₋₁·C₀（C₀ = 1）。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9239" y="5749290"/>
              <a:ext cx="48426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逐项算：C₃ = 2+1+2 = 5，C₄ = 5+2+2+5 = 14，与公式结果一致。</a:t>
              </a:r>
            </a:p>
          </p:txBody>
        </p:sp>
      </p:grpSp>
      <p:grpSp>
        <p:nvGrpSpPr>
          <p:cNvPr id="37" name="c2-card-1"/>
          <p:cNvGrpSpPr/>
          <p:nvPr/>
        </p:nvGrpSpPr>
        <p:grpSpPr>
          <a:xfrm>
            <a:off x="6032182" y="1524000"/>
            <a:ext cx="5626418" cy="1545908"/>
            <a:chOff x="6032182" y="1524000"/>
            <a:chExt cx="5626418" cy="1545908"/>
          </a:xfrm>
        </p:grpSpPr>
        <p:sp>
          <p:nvSpPr>
            <p:cNvPr id="32" name="Rectangle 32"/>
            <p:cNvSpPr/>
            <p:nvPr/>
          </p:nvSpPr>
          <p:spPr>
            <a:xfrm>
              <a:off x="6032182" y="1524000"/>
              <a:ext cx="5626418" cy="1545908"/>
            </a:xfrm>
            <a:prstGeom prst="roundRect">
              <a:avLst>
                <a:gd name="adj" fmla="val 8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041708" y="1657350"/>
              <a:ext cx="47625" cy="127920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74118" y="1727835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2672" y="1763554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浙江大学考研题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66879" y="2100739"/>
              <a:ext cx="4955794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入栈序列固定为 1…n 时，合法出栈序列的个数正好等于 n 个结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点的二叉树棵数，且一一对应。请说出一种由“出栈序列”确定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“二叉树形态”的方法并举例。</a:t>
              </a:r>
            </a:p>
          </p:txBody>
        </p:sp>
      </p:grpSp>
      <p:grpSp>
        <p:nvGrpSpPr>
          <p:cNvPr id="47" name="c2-steps-2"/>
          <p:cNvGrpSpPr/>
          <p:nvPr/>
        </p:nvGrpSpPr>
        <p:grpSpPr>
          <a:xfrm>
            <a:off x="6032182" y="3265170"/>
            <a:ext cx="5347716" cy="1611058"/>
            <a:chOff x="6032182" y="3265170"/>
            <a:chExt cx="5347716" cy="1611058"/>
          </a:xfrm>
        </p:grpSpPr>
        <p:sp>
          <p:nvSpPr>
            <p:cNvPr id="38" name="Rectangle 38"/>
            <p:cNvSpPr/>
            <p:nvPr/>
          </p:nvSpPr>
          <p:spPr>
            <a:xfrm>
              <a:off x="6165532" y="3408045"/>
              <a:ext cx="19050" cy="8420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032182" y="326517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125806" y="333898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032182" y="410718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125806" y="418099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44044" y="329803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45186" y="3578542"/>
              <a:ext cx="48889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把入栈序列读作先根序列，把给定的出栈序列读作中根序列，再按先根加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中根重建，得到的就是与之对应的那棵二叉树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44044" y="414004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举例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45186" y="4420552"/>
              <a:ext cx="49347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3，入栈 1 2 3，出栈 2 1 3。于是先根 1 2 3、中根 2 1 3：根是 1，中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根里 1 左边只有 2、右边只有 3，得到根带两个孩子的那棵树</a:t>
              </a:r>
            </a:p>
          </p:txBody>
        </p:sp>
      </p:grpSp>
      <p:grpSp>
        <p:nvGrpSpPr>
          <p:cNvPr id="53" name="c2-callout-3"/>
          <p:cNvGrpSpPr/>
          <p:nvPr/>
        </p:nvGrpSpPr>
        <p:grpSpPr>
          <a:xfrm>
            <a:off x="6032182" y="5052060"/>
            <a:ext cx="5626418" cy="1087755"/>
            <a:chOff x="6032182" y="5052060"/>
            <a:chExt cx="5626418" cy="1087755"/>
          </a:xfrm>
        </p:grpSpPr>
        <p:sp>
          <p:nvSpPr>
            <p:cNvPr id="48" name="Rectangle 48"/>
            <p:cNvSpPr/>
            <p:nvPr/>
          </p:nvSpPr>
          <p:spPr>
            <a:xfrm>
              <a:off x="6032182" y="5052060"/>
              <a:ext cx="5626418" cy="1087755"/>
            </a:xfrm>
            <a:prstGeom prst="roundRect">
              <a:avLst>
                <a:gd name="adj" fmla="val 10508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6236970" y="5495925"/>
              <a:ext cx="200026" cy="200026"/>
              <a:chOff x="6236970" y="5495925"/>
              <a:chExt cx="200026" cy="200026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236970" y="549592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303645" y="55737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6539294" y="5365909"/>
              <a:ext cx="452297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反过来也成立：给一棵二叉树，它的先根序列就是入栈顺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序，中根序列就是对应的出栈顺序。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二叉树的重建与计数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后根加中根可以，先根加后根不行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1" name="c1-cells-1"/>
          <p:cNvGrpSpPr/>
          <p:nvPr/>
        </p:nvGrpSpPr>
        <p:grpSpPr>
          <a:xfrm>
            <a:off x="528638" y="1524000"/>
            <a:ext cx="3719512" cy="918210"/>
            <a:chOff x="528638" y="1524000"/>
            <a:chExt cx="3719512" cy="918210"/>
          </a:xfrm>
        </p:grpSpPr>
        <p:sp>
          <p:nvSpPr>
            <p:cNvPr id="7" name="TextBox 7"/>
            <p:cNvSpPr txBox="1"/>
            <p:nvPr/>
          </p:nvSpPr>
          <p:spPr>
            <a:xfrm>
              <a:off x="528638" y="1658303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后根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9535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3173" y="165830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1445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82273" y="165830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3355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01373" y="165830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5265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20473" y="165830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7175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39573" y="165830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99085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58673" y="165830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09950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77773" y="165830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29050" y="1524000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996873" y="1658303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8638" y="2196465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中根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95350" y="20612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63173" y="21964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314450" y="20612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482273" y="21964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733550" y="20612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901373" y="21964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152650" y="20612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320473" y="21964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571750" y="20612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739573" y="21964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990850" y="2061210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158673" y="21964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409950" y="20612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577773" y="21964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829050" y="206121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96873" y="219646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</p:grpSp>
      <p:grpSp>
        <p:nvGrpSpPr>
          <p:cNvPr id="59" name="c1-steps-2"/>
          <p:cNvGrpSpPr/>
          <p:nvPr/>
        </p:nvGrpSpPr>
        <p:grpSpPr>
          <a:xfrm>
            <a:off x="533400" y="2626995"/>
            <a:ext cx="5524119" cy="2695098"/>
            <a:chOff x="533400" y="2626995"/>
            <a:chExt cx="5524119" cy="2695098"/>
          </a:xfrm>
        </p:grpSpPr>
        <p:sp>
          <p:nvSpPr>
            <p:cNvPr id="42" name="Rectangle 42"/>
            <p:cNvSpPr/>
            <p:nvPr/>
          </p:nvSpPr>
          <p:spPr>
            <a:xfrm>
              <a:off x="666750" y="2769870"/>
              <a:ext cx="19050" cy="196786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533400" y="262699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7024" y="27008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533400" y="32146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27024" y="3288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533400" y="380142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7024" y="38752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533400" y="45958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7024" y="46696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5642" y="265938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6785" y="2926556"/>
              <a:ext cx="1853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后根序列的最后一个 A 是根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5642" y="3246120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切开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785" y="3513296"/>
              <a:ext cx="39520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中根序列里 A 左边 C B E D F 是左子树，右边 G H 是右子树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5642" y="3832860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分序列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6785" y="4100989"/>
              <a:ext cx="511073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后根序列前 5 个 C E F D B 是左子树的后根序列，接着 2 个 H G 是右子树的后根序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列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5642" y="462724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递归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46785" y="4894421"/>
              <a:ext cx="5110734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左子树根是 B（后根末位），中根里 B 左边只有 C；右子树根是 G，中根里 G 右边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 H</a:t>
              </a:r>
            </a:p>
          </p:txBody>
        </p:sp>
      </p:grpSp>
      <p:grpSp>
        <p:nvGrpSpPr>
          <p:cNvPr id="65" name="c1-callout-3"/>
          <p:cNvGrpSpPr/>
          <p:nvPr/>
        </p:nvGrpSpPr>
        <p:grpSpPr>
          <a:xfrm>
            <a:off x="533400" y="5491162"/>
            <a:ext cx="5842635" cy="729615"/>
            <a:chOff x="533400" y="5491162"/>
            <a:chExt cx="5842635" cy="729615"/>
          </a:xfrm>
        </p:grpSpPr>
        <p:sp>
          <p:nvSpPr>
            <p:cNvPr id="60" name="Rectangle 60"/>
            <p:cNvSpPr/>
            <p:nvPr/>
          </p:nvSpPr>
          <p:spPr>
            <a:xfrm>
              <a:off x="533400" y="5491162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738188" y="5755958"/>
              <a:ext cx="200026" cy="200026"/>
              <a:chOff x="738188" y="5755958"/>
              <a:chExt cx="200026" cy="20002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57559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04863" y="583374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1040892" y="5636895"/>
              <a:ext cx="483146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重建结果正是本讲前面那道课下练习的树，先根序列 A B C D E F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G H。</a:t>
              </a:r>
            </a:p>
          </p:txBody>
        </p:sp>
      </p:grpSp>
      <p:grpSp>
        <p:nvGrpSpPr>
          <p:cNvPr id="71" name="c2-card-1"/>
          <p:cNvGrpSpPr/>
          <p:nvPr/>
        </p:nvGrpSpPr>
        <p:grpSpPr>
          <a:xfrm>
            <a:off x="6680835" y="1524000"/>
            <a:ext cx="4977765" cy="1209675"/>
            <a:chOff x="6680835" y="1524000"/>
            <a:chExt cx="4977765" cy="1209675"/>
          </a:xfrm>
        </p:grpSpPr>
        <p:sp>
          <p:nvSpPr>
            <p:cNvPr id="66" name="Rectangle 66"/>
            <p:cNvSpPr/>
            <p:nvPr/>
          </p:nvSpPr>
          <p:spPr>
            <a:xfrm>
              <a:off x="6680835" y="1524000"/>
              <a:ext cx="497776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6690360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911340" y="1716405"/>
              <a:ext cx="15430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70776" y="1750695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先根加后根为什么不行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904482" y="2072640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先根序列 A B、后根序列 B A 对应下面两棵不同的二叉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树。缺了中根序列，就没人告诉你 B 挂在左边还是右边。</a:t>
              </a:r>
            </a:p>
          </p:txBody>
        </p:sp>
      </p:grpSp>
      <p:grpSp>
        <p:nvGrpSpPr>
          <p:cNvPr id="84" name="c2-graph-2"/>
          <p:cNvGrpSpPr/>
          <p:nvPr/>
        </p:nvGrpSpPr>
        <p:grpSpPr>
          <a:xfrm>
            <a:off x="7125652" y="3120390"/>
            <a:ext cx="4088130" cy="1615917"/>
            <a:chOff x="7125652" y="3120390"/>
            <a:chExt cx="4088130" cy="1615917"/>
          </a:xfrm>
        </p:grpSpPr>
        <p:sp>
          <p:nvSpPr>
            <p:cNvPr id="72" name="Freeform 72"/>
            <p:cNvSpPr/>
            <p:nvPr/>
          </p:nvSpPr>
          <p:spPr>
            <a:xfrm>
              <a:off x="7377112" y="3401378"/>
              <a:ext cx="500062" cy="652462"/>
            </a:xfrm>
            <a:custGeom>
              <a:avLst/>
              <a:gdLst/>
              <a:ahLst/>
              <a:cxnLst/>
              <a:rect l="l" t="t" r="r" b="b"/>
              <a:pathLst>
                <a:path w="500062" h="652462">
                  <a:moveTo>
                    <a:pt x="500062" y="0"/>
                  </a:moveTo>
                  <a:lnTo>
                    <a:pt x="0" y="65246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10371772" y="3394710"/>
              <a:ext cx="582930" cy="665798"/>
            </a:xfrm>
            <a:custGeom>
              <a:avLst/>
              <a:gdLst/>
              <a:ahLst/>
              <a:cxnLst/>
              <a:rect l="l" t="t" r="r" b="b"/>
              <a:pathLst>
                <a:path w="582930" h="665798">
                  <a:moveTo>
                    <a:pt x="0" y="0"/>
                  </a:moveTo>
                  <a:lnTo>
                    <a:pt x="582930" y="66579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7822882" y="312039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5" name="Ellipse 75"/>
            <p:cNvSpPr/>
            <p:nvPr/>
          </p:nvSpPr>
          <p:spPr>
            <a:xfrm>
              <a:off x="7125652" y="403002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6" name="Ellipse 76"/>
            <p:cNvSpPr/>
            <p:nvPr/>
          </p:nvSpPr>
          <p:spPr>
            <a:xfrm>
              <a:off x="10112692" y="312039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7" name="Ellipse 77"/>
            <p:cNvSpPr/>
            <p:nvPr/>
          </p:nvSpPr>
          <p:spPr>
            <a:xfrm>
              <a:off x="10908982" y="4030028"/>
              <a:ext cx="304800" cy="3048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923567" y="32027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226337" y="411241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213377" y="320278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009667" y="4112419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302180" y="4516279"/>
              <a:ext cx="749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是左孩子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0288267" y="4516279"/>
              <a:ext cx="7499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 是右孩子</a:t>
              </a:r>
            </a:p>
          </p:txBody>
        </p:sp>
      </p:grpSp>
      <p:grpSp>
        <p:nvGrpSpPr>
          <p:cNvPr id="90" name="c2-callout-3"/>
          <p:cNvGrpSpPr/>
          <p:nvPr/>
        </p:nvGrpSpPr>
        <p:grpSpPr>
          <a:xfrm>
            <a:off x="6680835" y="4903470"/>
            <a:ext cx="4977765" cy="1316355"/>
            <a:chOff x="6680835" y="4903470"/>
            <a:chExt cx="4977765" cy="1316355"/>
          </a:xfrm>
        </p:grpSpPr>
        <p:sp>
          <p:nvSpPr>
            <p:cNvPr id="85" name="Rectangle 85"/>
            <p:cNvSpPr/>
            <p:nvPr/>
          </p:nvSpPr>
          <p:spPr>
            <a:xfrm>
              <a:off x="6680835" y="4903470"/>
              <a:ext cx="4977765" cy="1316355"/>
            </a:xfrm>
            <a:prstGeom prst="roundRect">
              <a:avLst>
                <a:gd name="adj" fmla="val 868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8" name="Group 88"/>
            <p:cNvGrpSpPr/>
            <p:nvPr/>
          </p:nvGrpSpPr>
          <p:grpSpPr>
            <a:xfrm>
              <a:off x="6885623" y="5461637"/>
              <a:ext cx="200023" cy="200023"/>
              <a:chOff x="6885623" y="5461637"/>
              <a:chExt cx="200023" cy="200023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6885623" y="546163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7018973" y="552831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9" name="TextBox 89"/>
            <p:cNvSpPr txBox="1"/>
            <p:nvPr/>
          </p:nvSpPr>
          <p:spPr>
            <a:xfrm>
              <a:off x="7188327" y="5343525"/>
              <a:ext cx="390563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根源在于度为 1 的结点：先根和后根都只说“父子相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邻”，说不出左右。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二叉树的重建与计数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六种两两组合，哪些能唯一确定一棵二叉树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0" name="c1-table-1"/>
          <p:cNvGrpSpPr/>
          <p:nvPr/>
        </p:nvGrpSpPr>
        <p:grpSpPr>
          <a:xfrm>
            <a:off x="533400" y="1524000"/>
            <a:ext cx="5193982" cy="2856548"/>
            <a:chOff x="533400" y="1524000"/>
            <a:chExt cx="5193982" cy="285654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56769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2038" y="17345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64448" y="1641157"/>
              <a:ext cx="677418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能否唯一确</a:t>
              </a:r>
              <a:br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66591" y="173450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理由或反例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8078" y="2209800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 + 中根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78724" y="220980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16948" y="22098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先根定根，中根分左右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33400" y="24688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33400" y="2473642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28078" y="2590800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 + 后根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78724" y="259080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16948" y="2590800"/>
              <a:ext cx="17068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后根末位定根，中根分左右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284988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8078" y="2971800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 + 层次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78724" y="297180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16948" y="2971800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层次序列里最先出现的就是当前子树的根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2318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323659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078" y="335375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 + 后根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78724" y="33537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16948" y="335375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 A B、后根 B A 对应两棵树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128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28078" y="3734752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 + 层次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78724" y="3734752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016948" y="3734752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 A B、层次 A B 对应两棵树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399383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998595"/>
              <a:ext cx="5193982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8078" y="4116705"/>
              <a:ext cx="7467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 + 层次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978724" y="4116705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16948" y="4116705"/>
              <a:ext cx="19767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 B A、层次 A B 对应两棵树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1524000"/>
              <a:ext cx="5193982" cy="285654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1879282" y="1524000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917508" y="1524000"/>
              <a:ext cx="9525" cy="285654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6" name="c1-callout-2"/>
          <p:cNvGrpSpPr/>
          <p:nvPr/>
        </p:nvGrpSpPr>
        <p:grpSpPr>
          <a:xfrm>
            <a:off x="533400" y="4545330"/>
            <a:ext cx="5193982" cy="1199198"/>
            <a:chOff x="533400" y="4545330"/>
            <a:chExt cx="5193982" cy="1199198"/>
          </a:xfrm>
        </p:grpSpPr>
        <p:sp>
          <p:nvSpPr>
            <p:cNvPr id="41" name="Rectangle 41"/>
            <p:cNvSpPr/>
            <p:nvPr/>
          </p:nvSpPr>
          <p:spPr>
            <a:xfrm>
              <a:off x="533400" y="4545330"/>
              <a:ext cx="5193982" cy="1199198"/>
            </a:xfrm>
            <a:prstGeom prst="roundRect">
              <a:avLst>
                <a:gd name="adj" fmla="val 953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38188" y="5045395"/>
              <a:ext cx="200023" cy="200023"/>
              <a:chOff x="738188" y="5045395"/>
              <a:chExt cx="200023" cy="20002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0453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71538" y="51120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041273" y="4938236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规律是中根序列不可替代：只有它能把一个根的左右两侧分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开。穷举 n ≤ 7 的全部二叉树验证过这六行。</a:t>
              </a:r>
            </a:p>
          </p:txBody>
        </p:sp>
      </p:grpSp>
      <p:grpSp>
        <p:nvGrpSpPr>
          <p:cNvPr id="52" name="c2-card-1"/>
          <p:cNvGrpSpPr/>
          <p:nvPr/>
        </p:nvGrpSpPr>
        <p:grpSpPr>
          <a:xfrm>
            <a:off x="6032182" y="1524000"/>
            <a:ext cx="5626418" cy="901065"/>
            <a:chOff x="6032182" y="1524000"/>
            <a:chExt cx="5626418" cy="901065"/>
          </a:xfrm>
        </p:grpSpPr>
        <p:sp>
          <p:nvSpPr>
            <p:cNvPr id="47" name="Rectangle 47"/>
            <p:cNvSpPr/>
            <p:nvPr/>
          </p:nvSpPr>
          <p:spPr>
            <a:xfrm>
              <a:off x="6032182" y="1524000"/>
              <a:ext cx="5626418" cy="901065"/>
            </a:xfrm>
            <a:prstGeom prst="roundRect">
              <a:avLst>
                <a:gd name="adj" fmla="val 1479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041708" y="1657350"/>
              <a:ext cx="47625" cy="6343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251258" y="1704975"/>
              <a:ext cx="242316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284718" y="1737836"/>
              <a:ext cx="23562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清华大学考研题、吉林大学 18 级期末题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44780" y="2045494"/>
              <a:ext cx="53163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中根序列 D B A E C F，层次序列 A B C D E F，唯一确定这棵二叉树。</a:t>
              </a:r>
            </a:p>
          </p:txBody>
        </p:sp>
      </p:grpSp>
      <p:grpSp>
        <p:nvGrpSpPr>
          <p:cNvPr id="66" name="c2-steps-2"/>
          <p:cNvGrpSpPr/>
          <p:nvPr/>
        </p:nvGrpSpPr>
        <p:grpSpPr>
          <a:xfrm>
            <a:off x="6032182" y="2599372"/>
            <a:ext cx="5710961" cy="1596962"/>
            <a:chOff x="6032182" y="2599372"/>
            <a:chExt cx="5710961" cy="1596962"/>
          </a:xfrm>
        </p:grpSpPr>
        <p:sp>
          <p:nvSpPr>
            <p:cNvPr id="53" name="Rectangle 53"/>
            <p:cNvSpPr/>
            <p:nvPr/>
          </p:nvSpPr>
          <p:spPr>
            <a:xfrm>
              <a:off x="6165532" y="2742248"/>
              <a:ext cx="19050" cy="1105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032182" y="259937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125806" y="267319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032182" y="315277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125806" y="322659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032182" y="37052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125806" y="37790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444806" y="263032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45948" y="2885123"/>
              <a:ext cx="4612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层次序列首位 A 是根；中根里 A 左边 D B 是左子树，右边 E C F 是右子树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44806" y="31827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第二层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45948" y="3437573"/>
              <a:ext cx="52971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在层次序列里，左子树 {D, B} 中 B 更靠前，所以 B 是左子树的根，D 是 B 的左孩子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44806" y="373618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第三层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445948" y="3990975"/>
              <a:ext cx="4457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右子树 {E, C, F} 中 C 最靠前，C 是根；中根里 C 左边是 E、右边是 F</a:t>
              </a:r>
            </a:p>
          </p:txBody>
        </p:sp>
      </p:grpSp>
      <p:grpSp>
        <p:nvGrpSpPr>
          <p:cNvPr id="72" name="c2-card-3"/>
          <p:cNvGrpSpPr/>
          <p:nvPr/>
        </p:nvGrpSpPr>
        <p:grpSpPr>
          <a:xfrm>
            <a:off x="6032182" y="4357688"/>
            <a:ext cx="5626418" cy="1386840"/>
            <a:chOff x="6032182" y="4357688"/>
            <a:chExt cx="5626418" cy="1386840"/>
          </a:xfrm>
        </p:grpSpPr>
        <p:sp>
          <p:nvSpPr>
            <p:cNvPr id="67" name="Rectangle 67"/>
            <p:cNvSpPr/>
            <p:nvPr/>
          </p:nvSpPr>
          <p:spPr>
            <a:xfrm>
              <a:off x="6032182" y="4357688"/>
              <a:ext cx="5626418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041708" y="4491038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251258" y="4538662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324625" y="45715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课下思考的答案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244780" y="4879181"/>
              <a:ext cx="48897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对完全二叉树，先根、中根、后根、层次这四种序列中任意一种都能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唯一确定它。因为序列长度就是 n，而 n 一定，完全二叉树的形状就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定了。</a:t>
              </a:r>
            </a:p>
          </p:txBody>
        </p:sp>
      </p:grpSp>
      <p:grpSp>
        <p:nvGrpSpPr>
          <p:cNvPr id="7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3" name="TextBox 7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84130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3354" y="407194"/>
              <a:ext cx="27404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二叉树的重建与计数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先根加后根：树形不唯一，但能数出有几棵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193982" cy="1547812"/>
            <a:chOff x="533400" y="1524000"/>
            <a:chExt cx="5193982" cy="15478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547812"/>
            </a:xfrm>
            <a:prstGeom prst="roundRect">
              <a:avLst>
                <a:gd name="adj" fmla="val 8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8111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31127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每多一个度为 1 的结点，树形翻一倍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39674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若先根序列里 X 紧跟着 Y，而后根序列里 Y 紧挨在 X 前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面，则 Y 是 X 的唯一孩子，它挂左挂右都行。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3524" y="2686050"/>
              <a:ext cx="4520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设这样的结点有 d 个，则符合这两个序列的二叉树共有 </a:t>
              </a:r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2ᵈ</a:t>
              </a: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棵。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251835"/>
            <a:ext cx="5193982" cy="1522095"/>
            <a:chOff x="533400" y="3251835"/>
            <a:chExt cx="5193982" cy="1522095"/>
          </a:xfrm>
        </p:grpSpPr>
        <p:sp>
          <p:nvSpPr>
            <p:cNvPr id="15" name="Rectangle 15"/>
            <p:cNvSpPr/>
            <p:nvPr/>
          </p:nvSpPr>
          <p:spPr>
            <a:xfrm>
              <a:off x="533400" y="3251835"/>
              <a:ext cx="5193982" cy="1522095"/>
            </a:xfrm>
            <a:prstGeom prst="roundRect">
              <a:avLst>
                <a:gd name="adj" fmla="val 87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385185"/>
              <a:ext cx="47625" cy="12553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9620" y="3449955"/>
              <a:ext cx="134493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20701" y="3484245"/>
              <a:ext cx="12427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洛谷 P1229 的例子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381" y="3810476"/>
              <a:ext cx="453199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 A B C、后根 C B A：A 只有孩子 B，B 只有孩子 C，d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2，于是有 2² = 4 棵树，分别是左左、左右、右左、右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右四条链。</a:t>
              </a:r>
            </a:p>
          </p:txBody>
        </p:sp>
      </p:grpSp>
      <p:grpSp>
        <p:nvGrpSpPr>
          <p:cNvPr id="26" name="c1-callout-3"/>
          <p:cNvGrpSpPr/>
          <p:nvPr/>
        </p:nvGrpSpPr>
        <p:grpSpPr>
          <a:xfrm>
            <a:off x="533400" y="4954905"/>
            <a:ext cx="5193982" cy="1407795"/>
            <a:chOff x="533400" y="4954905"/>
            <a:chExt cx="5193982" cy="1407795"/>
          </a:xfrm>
        </p:grpSpPr>
        <p:sp>
          <p:nvSpPr>
            <p:cNvPr id="21" name="Rectangle 21"/>
            <p:cNvSpPr/>
            <p:nvPr/>
          </p:nvSpPr>
          <p:spPr>
            <a:xfrm>
              <a:off x="533400" y="4954905"/>
              <a:ext cx="5193982" cy="1407795"/>
            </a:xfrm>
            <a:prstGeom prst="roundRect">
              <a:avLst>
                <a:gd name="adj" fmla="val 8119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738188" y="5558790"/>
              <a:ext cx="200026" cy="200026"/>
              <a:chOff x="738188" y="5558790"/>
              <a:chExt cx="200026" cy="20002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738188" y="555879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04863" y="563657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040511" y="5427821"/>
              <a:ext cx="413524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穷举 n ≤ 8 的全部二叉树，按先根与后根分组后每组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的棵数都等于 2 的度为 1 结点数次方。</a:t>
              </a:r>
            </a:p>
          </p:txBody>
        </p:sp>
      </p:grpSp>
      <p:grpSp>
        <p:nvGrpSpPr>
          <p:cNvPr id="30" name="c2-code-1"/>
          <p:cNvGrpSpPr/>
          <p:nvPr/>
        </p:nvGrpSpPr>
        <p:grpSpPr>
          <a:xfrm>
            <a:off x="6032182" y="1524000"/>
            <a:ext cx="5626418" cy="2207895"/>
            <a:chOff x="6032182" y="1524000"/>
            <a:chExt cx="5626418" cy="2207895"/>
          </a:xfrm>
        </p:grpSpPr>
        <p:sp>
          <p:nvSpPr>
            <p:cNvPr id="27" name="Rectangle 27"/>
            <p:cNvSpPr/>
            <p:nvPr/>
          </p:nvSpPr>
          <p:spPr>
            <a:xfrm>
              <a:off x="6032182" y="1524000"/>
              <a:ext cx="5626418" cy="2207895"/>
            </a:xfrm>
            <a:prstGeom prst="roundRect">
              <a:avLst>
                <a:gd name="adj" fmla="val 431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160580" y="1675924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统计可能的二叉树结构数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60198" y="1937385"/>
              <a:ext cx="4044506" cy="17217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TreeNum(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preorder[],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postorder[],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 = 1;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n - 1; i++)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1; j &lt; n; j++)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(preorder[i] == postorder[j] &amp;&amp;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preorder[i + 1] == postorder[j - 1])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ans *= 2;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又一个度为 1 的结点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ans;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032182" y="3912870"/>
            <a:ext cx="5626418" cy="1250632"/>
            <a:chOff x="6032182" y="3912870"/>
            <a:chExt cx="5626418" cy="1250632"/>
          </a:xfrm>
        </p:grpSpPr>
        <p:sp>
          <p:nvSpPr>
            <p:cNvPr id="31" name="Rectangle 31"/>
            <p:cNvSpPr/>
            <p:nvPr/>
          </p:nvSpPr>
          <p:spPr>
            <a:xfrm>
              <a:off x="6032182" y="3912870"/>
              <a:ext cx="5626418" cy="1250632"/>
            </a:xfrm>
            <a:prstGeom prst="roundRect">
              <a:avLst>
                <a:gd name="adj" fmla="val 106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041708" y="4046220"/>
              <a:ext cx="47625" cy="9839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68402" y="41109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359842" y="41452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61164" y="4471511"/>
              <a:ext cx="483857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源课件外层写的是 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for(int i=0;i&lt;n;i++)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，当 i = n−1 时会读</a:t>
              </a:r>
              <a:br/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preorder[i+1]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，越出有效范围。上界应当是 </a:t>
              </a:r>
              <a:r>
                <a:rPr lang="en-US" sz="14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n−1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6032182" y="5343525"/>
            <a:ext cx="5626418" cy="1018222"/>
            <a:chOff x="6032182" y="5343525"/>
            <a:chExt cx="5626418" cy="1018222"/>
          </a:xfrm>
        </p:grpSpPr>
        <p:sp>
          <p:nvSpPr>
            <p:cNvPr id="37" name="Rectangle 37"/>
            <p:cNvSpPr/>
            <p:nvPr/>
          </p:nvSpPr>
          <p:spPr>
            <a:xfrm>
              <a:off x="6032182" y="5343525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236970" y="5753102"/>
              <a:ext cx="200023" cy="200023"/>
              <a:chOff x="6236970" y="5753102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236970" y="575310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370320" y="58197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539294" y="5490686"/>
              <a:ext cx="4522978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另一道清华题问的是层次序列：这 2ᵈ 棵树的树形虽然不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同，层次序列却完全一样，因为独生子挂左挂右都在同一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层、同一位置。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8" name="section-title"/>
          <p:cNvGrpSpPr/>
          <p:nvPr/>
        </p:nvGrpSpPr>
        <p:grpSpPr>
          <a:xfrm>
            <a:off x="667512" y="1835468"/>
            <a:ext cx="5579745" cy="3351847"/>
            <a:chOff x="667512" y="1835468"/>
            <a:chExt cx="5579745" cy="335184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二叉树的其他操作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5698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一个递归框架，套出建树、复制、释放、求高度和求路径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解决二叉树问题的一般框架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查找、释放与删除子树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建树与增强先根序列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23900" y="495109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06780" y="489394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序列的首末结点与根到叶的路径</a:t>
              </a:r>
            </a:p>
          </p:txBody>
        </p:sp>
      </p:grpSp>
      <p:grpSp>
        <p:nvGrpSpPr>
          <p:cNvPr id="2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9" name="TextBox 19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二叉树的其他操作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一般框架：三个位置，决定你写的是哪种遍历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410200" cy="2125028"/>
            <a:chOff x="533400" y="1524000"/>
            <a:chExt cx="5410200" cy="212502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解决二叉树问题的框架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2799334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f(TreeNode *t)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NULL)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边界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① 这里处理根 —— 先根位置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f(t-&gt;left);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② 这里处理根 —— 中根位置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f(t-&gt;right);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③ 这里处理根 —— 后根位置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llout-2"/>
          <p:cNvGrpSpPr/>
          <p:nvPr/>
        </p:nvGrpSpPr>
        <p:grpSpPr>
          <a:xfrm>
            <a:off x="533400" y="3839528"/>
            <a:ext cx="5410200" cy="1651635"/>
            <a:chOff x="533400" y="3839528"/>
            <a:chExt cx="5410200" cy="1651635"/>
          </a:xfrm>
        </p:grpSpPr>
        <p:sp>
          <p:nvSpPr>
            <p:cNvPr id="11" name="Rectangle 11"/>
            <p:cNvSpPr/>
            <p:nvPr/>
          </p:nvSpPr>
          <p:spPr>
            <a:xfrm>
              <a:off x="533400" y="3839528"/>
              <a:ext cx="5410200" cy="1651635"/>
            </a:xfrm>
            <a:prstGeom prst="roundRect">
              <a:avLst>
                <a:gd name="adj" fmla="val 692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38188" y="4565335"/>
              <a:ext cx="200023" cy="200023"/>
              <a:chOff x="738188" y="4565335"/>
              <a:chExt cx="200023" cy="20002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45653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538" y="46320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40130" y="4422458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本讲余下的算法都是这个框架加几行：求高度写在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③，复制写在 ③，输出路径写在 ①。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6248400" y="1524000"/>
            <a:ext cx="5410200" cy="2125028"/>
            <a:chOff x="6248400" y="1524000"/>
            <a:chExt cx="5410200" cy="2125028"/>
          </a:xfrm>
        </p:grpSpPr>
        <p:sp>
          <p:nvSpPr>
            <p:cNvPr id="17" name="Rectangle 17"/>
            <p:cNvSpPr/>
            <p:nvPr/>
          </p:nvSpPr>
          <p:spPr>
            <a:xfrm>
              <a:off x="6248400" y="1524000"/>
              <a:ext cx="5410200" cy="2125028"/>
            </a:xfrm>
            <a:prstGeom prst="roundRect">
              <a:avLst>
                <a:gd name="adj" fmla="val 44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76797" y="1675924"/>
              <a:ext cx="14884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在二叉树中找 p 的父结点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76035" y="1937861"/>
              <a:ext cx="3688334" cy="16402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*Father(TreeNode *root, TreeNode *p)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(root == NULL || p == root)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NULL;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(root-&gt;left == p || root-&gt;right == p)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root;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*fa = Father(root-&gt;left, p);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 != NULL)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Father(root-&gt;right, p);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9" name="c2-card-2"/>
          <p:cNvGrpSpPr/>
          <p:nvPr/>
        </p:nvGrpSpPr>
        <p:grpSpPr>
          <a:xfrm>
            <a:off x="6248400" y="3839528"/>
            <a:ext cx="5410200" cy="1651635"/>
            <a:chOff x="6248400" y="3839528"/>
            <a:chExt cx="5410200" cy="1651635"/>
          </a:xfrm>
        </p:grpSpPr>
        <p:sp>
          <p:nvSpPr>
            <p:cNvPr id="21" name="Rectangle 21"/>
            <p:cNvSpPr/>
            <p:nvPr/>
          </p:nvSpPr>
          <p:spPr>
            <a:xfrm>
              <a:off x="6248400" y="3839528"/>
              <a:ext cx="5410200" cy="1651635"/>
            </a:xfrm>
            <a:prstGeom prst="roundRect">
              <a:avLst>
                <a:gd name="adj" fmla="val 8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3972878"/>
              <a:ext cx="47625" cy="138493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96050" y="4049078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78359" y="40847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两点说明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501765" y="448913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659880" y="4426268"/>
              <a:ext cx="45569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根结点没有父结点，p 就是根或树为空时返回 NULL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6501765" y="4824412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59880" y="4761548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实质是一次先根遍历，最坏要走遍整棵树，时间</a:t>
              </a:r>
              <a:br/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；三叉链表里这件事是 O(1)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0" name="TextBox 30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二叉树的其他操作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查找、释放整棵树、删除一棵子树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193982" cy="1505902"/>
            <a:chOff x="533400" y="1524000"/>
            <a:chExt cx="5193982" cy="150590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505902"/>
            </a:xfrm>
            <a:prstGeom prst="roundRect">
              <a:avLst>
                <a:gd name="adj" fmla="val 6325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按数据域查找结点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2161604" cy="10063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TreeNode *Find(TreeNode *t,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item)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NULL)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NULL;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(t-&gt;data == item)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*p = Find(t-&gt;left, item);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NULL)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Find(t-&gt;right, item);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1-code-2"/>
          <p:cNvGrpSpPr/>
          <p:nvPr/>
        </p:nvGrpSpPr>
        <p:grpSpPr>
          <a:xfrm>
            <a:off x="533400" y="3204210"/>
            <a:ext cx="5193982" cy="1363980"/>
            <a:chOff x="533400" y="3204210"/>
            <a:chExt cx="5193982" cy="1363980"/>
          </a:xfrm>
        </p:grpSpPr>
        <p:sp>
          <p:nvSpPr>
            <p:cNvPr id="11" name="Rectangle 11"/>
            <p:cNvSpPr/>
            <p:nvPr/>
          </p:nvSpPr>
          <p:spPr>
            <a:xfrm>
              <a:off x="533400" y="3204210"/>
              <a:ext cx="5193982" cy="1363980"/>
            </a:xfrm>
            <a:prstGeom prst="roundRect">
              <a:avLst>
                <a:gd name="adj" fmla="val 698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797" y="3356134"/>
              <a:ext cx="12246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释放以 p 为根的子树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1988" y="3614499"/>
              <a:ext cx="1935861" cy="864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Del(TreeNode *p)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== NULL)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Del(p-&gt;left);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Del(p-&gt;right);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delete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  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最后才释放根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1-card-3"/>
          <p:cNvGrpSpPr/>
          <p:nvPr/>
        </p:nvGrpSpPr>
        <p:grpSpPr>
          <a:xfrm>
            <a:off x="533400" y="4743450"/>
            <a:ext cx="5193982" cy="1466850"/>
            <a:chOff x="533400" y="4743450"/>
            <a:chExt cx="5193982" cy="1466850"/>
          </a:xfrm>
        </p:grpSpPr>
        <p:sp>
          <p:nvSpPr>
            <p:cNvPr id="15" name="Rectangle 15"/>
            <p:cNvSpPr/>
            <p:nvPr/>
          </p:nvSpPr>
          <p:spPr>
            <a:xfrm>
              <a:off x="533400" y="4743450"/>
              <a:ext cx="5193982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876800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3905" y="4935855"/>
              <a:ext cx="10096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39343" y="497014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查找的复杂度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7047" y="5292090"/>
              <a:ext cx="4560570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Find 在一般二叉树里只能逐个比对，最坏要走遍全部结点，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时间 </a:t>
              </a:r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。只有当数据按大小排好、成为第 23 讲的二叉查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找树时，才能靠比较结果决定往左还是往右，降到 O(h)。</a:t>
              </a:r>
            </a:p>
          </p:txBody>
        </p:sp>
      </p:grpSp>
      <p:grpSp>
        <p:nvGrpSpPr>
          <p:cNvPr id="24" name="c2-code-1"/>
          <p:cNvGrpSpPr/>
          <p:nvPr/>
        </p:nvGrpSpPr>
        <p:grpSpPr>
          <a:xfrm>
            <a:off x="6032182" y="1524000"/>
            <a:ext cx="5626418" cy="1647825"/>
            <a:chOff x="6032182" y="1524000"/>
            <a:chExt cx="5626418" cy="1647825"/>
          </a:xfrm>
        </p:grpSpPr>
        <p:sp>
          <p:nvSpPr>
            <p:cNvPr id="21" name="Rectangle 21"/>
            <p:cNvSpPr/>
            <p:nvPr/>
          </p:nvSpPr>
          <p:spPr>
            <a:xfrm>
              <a:off x="6032182" y="1524000"/>
              <a:ext cx="5626418" cy="1647825"/>
            </a:xfrm>
            <a:prstGeom prst="roundRect">
              <a:avLst>
                <a:gd name="adj" fmla="val 578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60580" y="1675924"/>
              <a:ext cx="10927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删除 p 指向的子树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60770" y="1934289"/>
              <a:ext cx="2608072" cy="11482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DeleteSubTree(TreeNode *&amp;t, TreeNode *p)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== NULL)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== t) { Del(t); t = NULL;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*fa = Father(t, p);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先找父结点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(fa-&gt;left == p) fa-&gt;left = NULL;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(fa-&gt;right == p) fa-&gt;right = NULL;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Del(p);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0" name="c2-card-2"/>
          <p:cNvGrpSpPr/>
          <p:nvPr/>
        </p:nvGrpSpPr>
        <p:grpSpPr>
          <a:xfrm>
            <a:off x="6032182" y="3347085"/>
            <a:ext cx="5626418" cy="1466850"/>
            <a:chOff x="6032182" y="3347085"/>
            <a:chExt cx="5626418" cy="1466850"/>
          </a:xfrm>
        </p:grpSpPr>
        <p:sp>
          <p:nvSpPr>
            <p:cNvPr id="25" name="Rectangle 25"/>
            <p:cNvSpPr/>
            <p:nvPr/>
          </p:nvSpPr>
          <p:spPr>
            <a:xfrm>
              <a:off x="6032182" y="3347085"/>
              <a:ext cx="5626418" cy="146685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41708" y="3480435"/>
              <a:ext cx="47625" cy="12001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62688" y="35394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354128" y="35737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55830" y="3895725"/>
              <a:ext cx="490004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源课件的形参写成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TreeNode *t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，是按值传递，函数里的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t =</a:t>
              </a:r>
              <a:br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NULL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改不了调用者手里的根指针，删根之后外面就成了野指针。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应写成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引用 TreeNode *&amp;t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，或者让函数返回新的根。</a:t>
              </a:r>
            </a:p>
          </p:txBody>
        </p:sp>
      </p:grpSp>
      <p:grpSp>
        <p:nvGrpSpPr>
          <p:cNvPr id="37" name="c2-callout-3"/>
          <p:cNvGrpSpPr/>
          <p:nvPr/>
        </p:nvGrpSpPr>
        <p:grpSpPr>
          <a:xfrm>
            <a:off x="6032182" y="4988242"/>
            <a:ext cx="5626418" cy="1221105"/>
            <a:chOff x="6032182" y="4988242"/>
            <a:chExt cx="5626418" cy="1221105"/>
          </a:xfrm>
        </p:grpSpPr>
        <p:sp>
          <p:nvSpPr>
            <p:cNvPr id="31" name="Rectangle 31"/>
            <p:cNvSpPr/>
            <p:nvPr/>
          </p:nvSpPr>
          <p:spPr>
            <a:xfrm>
              <a:off x="6032182" y="4988242"/>
              <a:ext cx="5626418" cy="1221105"/>
            </a:xfrm>
            <a:prstGeom prst="roundRect">
              <a:avLst>
                <a:gd name="adj" fmla="val 93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224912" y="5495091"/>
              <a:ext cx="224134" cy="192560"/>
              <a:chOff x="6224912" y="5495091"/>
              <a:chExt cx="224134" cy="19256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336983" y="556545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224912" y="549509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336983" y="564324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539674" y="5380673"/>
              <a:ext cx="42999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释放必须按后根次序：先释放左右子树，最后释放根。先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delete 根，两个孩子的地址就再也找不到了。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二叉树的其他操作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建树：光有先根序列不够，要把空指针也写进去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977765" cy="1209675"/>
            <a:chOff x="533400" y="1524000"/>
            <a:chExt cx="4977765" cy="1209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047" y="2072640"/>
              <a:ext cx="43428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下面两棵不同的二叉树有相同的先根序列 A B D E C。先根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序列里看不出哪个指针是空的，所以单凭它无法建树。</a:t>
              </a:r>
            </a:p>
          </p:txBody>
        </p:sp>
      </p:grpSp>
      <p:grpSp>
        <p:nvGrpSpPr>
          <p:cNvPr id="27" name="c1-tree-2"/>
          <p:cNvGrpSpPr/>
          <p:nvPr/>
        </p:nvGrpSpPr>
        <p:grpSpPr>
          <a:xfrm>
            <a:off x="964882" y="2970848"/>
            <a:ext cx="3491866" cy="1392554"/>
            <a:chOff x="964882" y="2970848"/>
            <a:chExt cx="3491866" cy="1392554"/>
          </a:xfrm>
        </p:grpSpPr>
        <p:sp>
          <p:nvSpPr>
            <p:cNvPr id="13" name="Freeform 13"/>
            <p:cNvSpPr/>
            <p:nvPr/>
          </p:nvSpPr>
          <p:spPr>
            <a:xfrm>
              <a:off x="1155382" y="3667125"/>
              <a:ext cx="621982" cy="505778"/>
            </a:xfrm>
            <a:custGeom>
              <a:avLst/>
              <a:gdLst/>
              <a:ahLst/>
              <a:cxnLst/>
              <a:rect l="l" t="t" r="r" b="b"/>
              <a:pathLst>
                <a:path w="621982" h="505778">
                  <a:moveTo>
                    <a:pt x="621982" y="0"/>
                  </a:moveTo>
                  <a:lnTo>
                    <a:pt x="0" y="5057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777365" y="3667125"/>
              <a:ext cx="622935" cy="505778"/>
            </a:xfrm>
            <a:custGeom>
              <a:avLst/>
              <a:gdLst/>
              <a:ahLst/>
              <a:cxnLst/>
              <a:rect l="l" t="t" r="r" b="b"/>
              <a:pathLst>
                <a:path w="622935" h="505778">
                  <a:moveTo>
                    <a:pt x="0" y="0"/>
                  </a:moveTo>
                  <a:lnTo>
                    <a:pt x="622935" y="5057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777365" y="3161348"/>
              <a:ext cx="1244918" cy="505778"/>
            </a:xfrm>
            <a:custGeom>
              <a:avLst/>
              <a:gdLst/>
              <a:ahLst/>
              <a:cxnLst/>
              <a:rect l="l" t="t" r="r" b="b"/>
              <a:pathLst>
                <a:path w="1244918" h="505778">
                  <a:moveTo>
                    <a:pt x="1244918" y="0"/>
                  </a:moveTo>
                  <a:lnTo>
                    <a:pt x="0" y="5057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022282" y="3161348"/>
              <a:ext cx="1243965" cy="505778"/>
            </a:xfrm>
            <a:custGeom>
              <a:avLst/>
              <a:gdLst/>
              <a:ahLst/>
              <a:cxnLst/>
              <a:rect l="l" t="t" r="r" b="b"/>
              <a:pathLst>
                <a:path w="1243965" h="505778">
                  <a:moveTo>
                    <a:pt x="0" y="0"/>
                  </a:moveTo>
                  <a:lnTo>
                    <a:pt x="1243965" y="50577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964882" y="398240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2209800" y="398240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586865" y="347662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075748" y="3476625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831782" y="297084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13655" y="411670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58573" y="411670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35638" y="36109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224520" y="361092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980555" y="310515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42" name="c1-tree-3"/>
          <p:cNvGrpSpPr/>
          <p:nvPr/>
        </p:nvGrpSpPr>
        <p:grpSpPr>
          <a:xfrm>
            <a:off x="964882" y="4599622"/>
            <a:ext cx="3491866" cy="1518286"/>
            <a:chOff x="964882" y="4599622"/>
            <a:chExt cx="3491866" cy="1518286"/>
          </a:xfrm>
        </p:grpSpPr>
        <p:sp>
          <p:nvSpPr>
            <p:cNvPr id="28" name="Freeform 28"/>
            <p:cNvSpPr/>
            <p:nvPr/>
          </p:nvSpPr>
          <p:spPr>
            <a:xfrm>
              <a:off x="1155382" y="5548312"/>
              <a:ext cx="311468" cy="379095"/>
            </a:xfrm>
            <a:custGeom>
              <a:avLst/>
              <a:gdLst/>
              <a:ahLst/>
              <a:cxnLst/>
              <a:rect l="l" t="t" r="r" b="b"/>
              <a:pathLst>
                <a:path w="311468" h="379095">
                  <a:moveTo>
                    <a:pt x="0" y="0"/>
                  </a:moveTo>
                  <a:lnTo>
                    <a:pt x="311468" y="3790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1155382" y="5169218"/>
              <a:ext cx="621982" cy="379095"/>
            </a:xfrm>
            <a:custGeom>
              <a:avLst/>
              <a:gdLst/>
              <a:ahLst/>
              <a:cxnLst/>
              <a:rect l="l" t="t" r="r" b="b"/>
              <a:pathLst>
                <a:path w="621982" h="379095">
                  <a:moveTo>
                    <a:pt x="621982" y="0"/>
                  </a:moveTo>
                  <a:lnTo>
                    <a:pt x="0" y="3790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777365" y="4790122"/>
              <a:ext cx="1244918" cy="379095"/>
            </a:xfrm>
            <a:custGeom>
              <a:avLst/>
              <a:gdLst/>
              <a:ahLst/>
              <a:cxnLst/>
              <a:rect l="l" t="t" r="r" b="b"/>
              <a:pathLst>
                <a:path w="1244918" h="379095">
                  <a:moveTo>
                    <a:pt x="1244918" y="0"/>
                  </a:moveTo>
                  <a:lnTo>
                    <a:pt x="0" y="3790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3022282" y="4790122"/>
              <a:ext cx="1243965" cy="379095"/>
            </a:xfrm>
            <a:custGeom>
              <a:avLst/>
              <a:gdLst/>
              <a:ahLst/>
              <a:cxnLst/>
              <a:rect l="l" t="t" r="r" b="b"/>
              <a:pathLst>
                <a:path w="1243965" h="379095">
                  <a:moveTo>
                    <a:pt x="0" y="0"/>
                  </a:moveTo>
                  <a:lnTo>
                    <a:pt x="1243965" y="37909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1276350" y="573690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964882" y="535781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1586865" y="497871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4075748" y="4978718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2831782" y="4599622"/>
              <a:ext cx="381000" cy="38100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425123" y="587216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3655" y="549211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735638" y="51130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24520" y="511302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980555" y="473392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49" name="c2-card-1"/>
          <p:cNvGrpSpPr/>
          <p:nvPr/>
        </p:nvGrpSpPr>
        <p:grpSpPr>
          <a:xfrm>
            <a:off x="5815965" y="1524000"/>
            <a:ext cx="5842635" cy="1226820"/>
            <a:chOff x="5815965" y="1524000"/>
            <a:chExt cx="5842635" cy="1226820"/>
          </a:xfrm>
        </p:grpSpPr>
        <p:sp>
          <p:nvSpPr>
            <p:cNvPr id="43" name="Rectangle 43"/>
            <p:cNvSpPr/>
            <p:nvPr/>
          </p:nvSpPr>
          <p:spPr>
            <a:xfrm>
              <a:off x="5815965" y="1524000"/>
              <a:ext cx="584263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25490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4647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13791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30162" y="175641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增强先根序列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39612" y="2090738"/>
              <a:ext cx="49600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在先根序列中用一个特殊符号（源课件用 #）标出每个空指针的位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置，得到的序列称为带空指针信息的先根序列。</a:t>
              </a:r>
            </a:p>
          </p:txBody>
        </p:sp>
      </p:grpSp>
      <p:grpSp>
        <p:nvGrpSpPr>
          <p:cNvPr id="96" name="c2-cells-2"/>
          <p:cNvGrpSpPr/>
          <p:nvPr/>
        </p:nvGrpSpPr>
        <p:grpSpPr>
          <a:xfrm>
            <a:off x="5811202" y="2926080"/>
            <a:ext cx="5205413" cy="918210"/>
            <a:chOff x="5811202" y="2926080"/>
            <a:chExt cx="5205413" cy="918210"/>
          </a:xfrm>
        </p:grpSpPr>
        <p:sp>
          <p:nvSpPr>
            <p:cNvPr id="50" name="TextBox 50"/>
            <p:cNvSpPr txBox="1"/>
            <p:nvPr/>
          </p:nvSpPr>
          <p:spPr>
            <a:xfrm>
              <a:off x="5811202" y="306038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上面那棵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640651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74338" y="306038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82561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993438" y="306038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24471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412538" y="306038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66381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833618" y="30603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08291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252718" y="30603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50201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669838" y="306038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892111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090918" y="30603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34021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510018" y="30603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75931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927138" y="306038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1017841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0348218" y="30603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0597515" y="292608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767318" y="306038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5811202" y="359759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下面那棵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6406515" y="346329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574338" y="359759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825615" y="346329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993438" y="359759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7244715" y="346329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7412538" y="359759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663815" y="346329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833618" y="35975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8082915" y="346329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8250738" y="359759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8502015" y="346329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8671818" y="35975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8921115" y="346329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9090918" y="35975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9340215" y="346329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9510018" y="35975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9759315" y="346329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9927138" y="359759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10178415" y="346329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10348218" y="35975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10597515" y="346329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10767318" y="359759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#</a:t>
              </a:r>
            </a:p>
          </p:txBody>
        </p:sp>
      </p:grpSp>
      <p:grpSp>
        <p:nvGrpSpPr>
          <p:cNvPr id="104" name="c2-card-3"/>
          <p:cNvGrpSpPr/>
          <p:nvPr/>
        </p:nvGrpSpPr>
        <p:grpSpPr>
          <a:xfrm>
            <a:off x="5815965" y="4019550"/>
            <a:ext cx="5842635" cy="1254442"/>
            <a:chOff x="5815965" y="4019550"/>
            <a:chExt cx="5842635" cy="1254442"/>
          </a:xfrm>
        </p:grpSpPr>
        <p:sp>
          <p:nvSpPr>
            <p:cNvPr id="97" name="Rectangle 97"/>
            <p:cNvSpPr/>
            <p:nvPr/>
          </p:nvSpPr>
          <p:spPr>
            <a:xfrm>
              <a:off x="5815965" y="4019550"/>
              <a:ext cx="5842635" cy="1254442"/>
            </a:xfrm>
            <a:prstGeom prst="roundRect">
              <a:avLst>
                <a:gd name="adj" fmla="val 1063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6008370" y="421195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6091809" y="424624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两个数字</a:t>
              </a:r>
            </a:p>
          </p:txBody>
        </p:sp>
        <p:sp>
          <p:nvSpPr>
            <p:cNvPr id="100" name="Ellipse 100"/>
            <p:cNvSpPr/>
            <p:nvPr/>
          </p:nvSpPr>
          <p:spPr>
            <a:xfrm>
              <a:off x="6016942" y="462534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172962" y="4569142"/>
              <a:ext cx="48679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n 个结点有 n+1 个空指针，所以增强先根序列长度恒为 </a:t>
              </a:r>
              <a:r>
                <a:rPr lang="en-US" sz="1350" b="1" dirty="0">
                  <a:solidFill>
                    <a:srgbClr val="A8EFD9"/>
                  </a:solidFill>
                  <a:latin typeface="+mn-lt"/>
                  <a:ea typeface="+mn-ea"/>
                  <a:cs typeface="+mn-cs"/>
                </a:rPr>
                <a:t>2n+1</a:t>
              </a:r>
            </a:p>
          </p:txBody>
        </p:sp>
        <p:sp>
          <p:nvSpPr>
            <p:cNvPr id="102" name="Ellipse 102"/>
            <p:cNvSpPr/>
            <p:nvPr/>
          </p:nvSpPr>
          <p:spPr>
            <a:xfrm>
              <a:off x="6016942" y="492728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6172962" y="4871085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上下两行都是 11 个符号，其中 6 个 #，区别只在第 4 到第 8 位</a:t>
              </a:r>
            </a:p>
          </p:txBody>
        </p:sp>
      </p:grpSp>
      <p:grpSp>
        <p:nvGrpSpPr>
          <p:cNvPr id="111" name="c2-callout-4"/>
          <p:cNvGrpSpPr/>
          <p:nvPr/>
        </p:nvGrpSpPr>
        <p:grpSpPr>
          <a:xfrm>
            <a:off x="5815965" y="5449252"/>
            <a:ext cx="5842635" cy="729615"/>
            <a:chOff x="5815965" y="5449252"/>
            <a:chExt cx="5842635" cy="729615"/>
          </a:xfrm>
        </p:grpSpPr>
        <p:sp>
          <p:nvSpPr>
            <p:cNvPr id="105" name="Rectangle 105"/>
            <p:cNvSpPr/>
            <p:nvPr/>
          </p:nvSpPr>
          <p:spPr>
            <a:xfrm>
              <a:off x="5815965" y="5449252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9" name="Group 109"/>
            <p:cNvGrpSpPr/>
            <p:nvPr/>
          </p:nvGrpSpPr>
          <p:grpSpPr>
            <a:xfrm>
              <a:off x="6020753" y="5714048"/>
              <a:ext cx="200026" cy="200025"/>
              <a:chOff x="6020753" y="5714048"/>
              <a:chExt cx="200026" cy="200025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6020753" y="57140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6060491" y="57584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8" name="Freeform 108"/>
              <p:cNvSpPr/>
              <p:nvPr/>
            </p:nvSpPr>
            <p:spPr>
              <a:xfrm>
                <a:off x="6095207" y="58696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0" name="TextBox 110"/>
            <p:cNvSpPr txBox="1"/>
            <p:nvPr/>
          </p:nvSpPr>
          <p:spPr>
            <a:xfrm>
              <a:off x="6323457" y="5595938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加了空指针信息之后，先根序列与二叉树一一对应，建树就成了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一次先根遍历。</a:t>
              </a:r>
            </a:p>
          </p:txBody>
        </p:sp>
      </p:grpSp>
      <p:grpSp>
        <p:nvGrpSpPr>
          <p:cNvPr id="11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2" name="TextBox 11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二叉树的其他操作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按增强先根序列建树的两种常见输入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3139440"/>
            <a:chOff x="533400" y="1524000"/>
            <a:chExt cx="5626418" cy="31394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3139440"/>
            </a:xfrm>
            <a:prstGeom prst="roundRect">
              <a:avLst>
                <a:gd name="adj" fmla="val 303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3150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字符版，# 表示空指针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659886" cy="2654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s[N];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0;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全局下标，指向待读入的字符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*CreateBinTree(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preorder[])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ch = preorder[k++];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(ch == </a:t>
              </a:r>
              <a:r>
                <a:rPr lang="zh-CN" sz="112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'#'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)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NULL;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*t =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t-&gt;data = ch;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t-&gt;left = CreateBinTree(preorder);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t-&gt;right = CreateBinTree(preorder);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调用：scanf("%s", s);</a:t>
              </a:r>
              <a:br/>
              <a:r>
                <a:rPr lang="en-US" sz="1120" dirty="0">
                  <a:solidFill>
                    <a:srgbClr val="0F7A68"/>
                  </a:solidFill>
                  <a:latin typeface="Consolas"/>
                  <a:ea typeface="Consolas"/>
                  <a:cs typeface="Consolas"/>
                </a:rPr>
                <a:t>//      root = CreateBinTree(s);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849178"/>
            <a:ext cx="5626418" cy="1437322"/>
            <a:chOff x="533400" y="4849178"/>
            <a:chExt cx="5626418" cy="1437322"/>
          </a:xfrm>
        </p:grpSpPr>
        <p:sp>
          <p:nvSpPr>
            <p:cNvPr id="11" name="Rectangle 11"/>
            <p:cNvSpPr/>
            <p:nvPr/>
          </p:nvSpPr>
          <p:spPr>
            <a:xfrm>
              <a:off x="533400" y="4849178"/>
              <a:ext cx="5626418" cy="1437322"/>
            </a:xfrm>
            <a:prstGeom prst="roundRect">
              <a:avLst>
                <a:gd name="adj" fmla="val 795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467350"/>
              <a:ext cx="200026" cy="200026"/>
              <a:chOff x="738188" y="5467350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46735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534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56736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5337334"/>
              <a:ext cx="467626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必须是全局的或按引用传递：递归的每一层都在同一个下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标上往后读。</a:t>
              </a:r>
            </a:p>
          </p:txBody>
        </p:sp>
      </p:grpSp>
      <p:grpSp>
        <p:nvGrpSpPr>
          <p:cNvPr id="21" name="c2-code-1"/>
          <p:cNvGrpSpPr/>
          <p:nvPr/>
        </p:nvGrpSpPr>
        <p:grpSpPr>
          <a:xfrm>
            <a:off x="6464618" y="1524000"/>
            <a:ext cx="5193982" cy="2018348"/>
            <a:chOff x="6464618" y="1524000"/>
            <a:chExt cx="5193982" cy="2018348"/>
          </a:xfrm>
        </p:grpSpPr>
        <p:sp>
          <p:nvSpPr>
            <p:cNvPr id="18" name="Rectangle 18"/>
            <p:cNvSpPr/>
            <p:nvPr/>
          </p:nvSpPr>
          <p:spPr>
            <a:xfrm>
              <a:off x="6464618" y="1524000"/>
              <a:ext cx="5193982" cy="2018348"/>
            </a:xfrm>
            <a:prstGeom prst="roundRect">
              <a:avLst>
                <a:gd name="adj" fmla="val 471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593015" y="1675924"/>
              <a:ext cx="13150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整数版，0 表示空指针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93205" y="1934337"/>
              <a:ext cx="1828419" cy="15192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85"/>
                </a:lnSpc>
              </a:pP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*CreateBinTree() {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scanf(</a:t>
              </a:r>
              <a:r>
                <a:rPr lang="en-US" sz="8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"%d"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&amp;k);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== 0)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NULL;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*t =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t-&gt;data = k;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t-&gt;left = CreateBinTree();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t-&gt;right = CreateBinTree();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6" name="c2-tree-2"/>
          <p:cNvGrpSpPr/>
          <p:nvPr/>
        </p:nvGrpSpPr>
        <p:grpSpPr>
          <a:xfrm>
            <a:off x="6911340" y="3794760"/>
            <a:ext cx="3651885" cy="1483995"/>
            <a:chOff x="6911340" y="3794760"/>
            <a:chExt cx="3651885" cy="1483995"/>
          </a:xfrm>
        </p:grpSpPr>
        <p:sp>
          <p:nvSpPr>
            <p:cNvPr id="22" name="Freeform 22"/>
            <p:cNvSpPr/>
            <p:nvPr/>
          </p:nvSpPr>
          <p:spPr>
            <a:xfrm>
              <a:off x="7114222" y="4536758"/>
              <a:ext cx="648653" cy="539115"/>
            </a:xfrm>
            <a:custGeom>
              <a:avLst/>
              <a:gdLst/>
              <a:ahLst/>
              <a:cxnLst/>
              <a:rect l="l" t="t" r="r" b="b"/>
              <a:pathLst>
                <a:path w="648653" h="539115">
                  <a:moveTo>
                    <a:pt x="648653" y="0"/>
                  </a:moveTo>
                  <a:lnTo>
                    <a:pt x="0" y="5391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762875" y="4536758"/>
              <a:ext cx="649605" cy="539115"/>
            </a:xfrm>
            <a:custGeom>
              <a:avLst/>
              <a:gdLst/>
              <a:ahLst/>
              <a:cxnLst/>
              <a:rect l="l" t="t" r="r" b="b"/>
              <a:pathLst>
                <a:path w="649605" h="539115">
                  <a:moveTo>
                    <a:pt x="0" y="0"/>
                  </a:moveTo>
                  <a:lnTo>
                    <a:pt x="649605" y="5391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762875" y="3997642"/>
              <a:ext cx="1299210" cy="539115"/>
            </a:xfrm>
            <a:custGeom>
              <a:avLst/>
              <a:gdLst/>
              <a:ahLst/>
              <a:cxnLst/>
              <a:rect l="l" t="t" r="r" b="b"/>
              <a:pathLst>
                <a:path w="1299210" h="539115">
                  <a:moveTo>
                    <a:pt x="1299210" y="0"/>
                  </a:moveTo>
                  <a:lnTo>
                    <a:pt x="0" y="5391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9062085" y="3997642"/>
              <a:ext cx="1298258" cy="539115"/>
            </a:xfrm>
            <a:custGeom>
              <a:avLst/>
              <a:gdLst/>
              <a:ahLst/>
              <a:cxnLst/>
              <a:rect l="l" t="t" r="r" b="b"/>
              <a:pathLst>
                <a:path w="1298258" h="539115">
                  <a:moveTo>
                    <a:pt x="0" y="0"/>
                  </a:moveTo>
                  <a:lnTo>
                    <a:pt x="1298258" y="53911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6911340" y="487299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8209598" y="487299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559992" y="433387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10157460" y="4333875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859202" y="3794760"/>
              <a:ext cx="405765" cy="40576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68073" y="5010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66331" y="50101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16726" y="44710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314193" y="447103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015936" y="393192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  <p:grpSp>
        <p:nvGrpSpPr>
          <p:cNvPr id="42" name="c2-callout-3"/>
          <p:cNvGrpSpPr/>
          <p:nvPr/>
        </p:nvGrpSpPr>
        <p:grpSpPr>
          <a:xfrm>
            <a:off x="6464618" y="5530215"/>
            <a:ext cx="5193982" cy="756285"/>
            <a:chOff x="6464618" y="5530215"/>
            <a:chExt cx="5193982" cy="756285"/>
          </a:xfrm>
        </p:grpSpPr>
        <p:sp>
          <p:nvSpPr>
            <p:cNvPr id="37" name="Rectangle 37"/>
            <p:cNvSpPr/>
            <p:nvPr/>
          </p:nvSpPr>
          <p:spPr>
            <a:xfrm>
              <a:off x="6464618" y="5530215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669405" y="5808347"/>
              <a:ext cx="200023" cy="200023"/>
              <a:chOff x="6669405" y="5808347"/>
              <a:chExt cx="200023" cy="20002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669405" y="580834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02755" y="587502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971729" y="5677376"/>
              <a:ext cx="4279519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输入 8 5 1 0 0 2 0 0 7 0 0 建出的就是这棵树，读入顺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序与先根遍历完全同步。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二叉树的其他操作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复制、数结点、求高度：三个后根位置的例子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530792"/>
            <a:chOff x="533400" y="1524000"/>
            <a:chExt cx="5626418" cy="253079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30792"/>
            </a:xfrm>
            <a:prstGeom prst="roundRect">
              <a:avLst>
                <a:gd name="adj" fmla="val 376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复制二叉树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3780790" cy="20459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*CopyTree(TreeNode *t)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NULL)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NULL;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*newl = CopyTree(t-&gt;left);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*newr = CopyTree(t-&gt;right);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*p =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TreeNode;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p-&gt;data = t-&gt;data;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先复制子树，再接上根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p-&gt;left = newl;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p-&gt;right = newr;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245292"/>
            <a:ext cx="5626418" cy="1316355"/>
            <a:chOff x="533400" y="4245292"/>
            <a:chExt cx="5626418" cy="1316355"/>
          </a:xfrm>
        </p:grpSpPr>
        <p:sp>
          <p:nvSpPr>
            <p:cNvPr id="11" name="Rectangle 11"/>
            <p:cNvSpPr/>
            <p:nvPr/>
          </p:nvSpPr>
          <p:spPr>
            <a:xfrm>
              <a:off x="533400" y="4245292"/>
              <a:ext cx="5626418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378642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81050" y="445484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1258" y="44905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3430" y="4832032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源课件这一行写作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p-&gt;data = t-data;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，少了一个 </a:t>
              </a:r>
              <a:r>
                <a:rPr lang="zh-CN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&gt;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，应为</a:t>
              </a:r>
              <a:br/>
              <a:r>
                <a:rPr lang="en-US" sz="15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p-&gt;data = t-&gt;data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0" name="c2-code-1"/>
          <p:cNvGrpSpPr/>
          <p:nvPr/>
        </p:nvGrpSpPr>
        <p:grpSpPr>
          <a:xfrm>
            <a:off x="6464618" y="1524000"/>
            <a:ext cx="5193982" cy="2065020"/>
            <a:chOff x="6464618" y="1524000"/>
            <a:chExt cx="5193982" cy="2065020"/>
          </a:xfrm>
        </p:grpSpPr>
        <p:sp>
          <p:nvSpPr>
            <p:cNvPr id="17" name="Rectangle 17"/>
            <p:cNvSpPr/>
            <p:nvPr/>
          </p:nvSpPr>
          <p:spPr>
            <a:xfrm>
              <a:off x="6464618" y="1524000"/>
              <a:ext cx="5193982" cy="2065020"/>
            </a:xfrm>
            <a:prstGeom prst="roundRect">
              <a:avLst>
                <a:gd name="adj" fmla="val 461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93015" y="1675924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结点个数与高度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93205" y="1934766"/>
              <a:ext cx="2892933" cy="1566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22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Count(TreeNode *t)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NULL)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Count(t-&gt;left) + Count(t-&gt;right) + 1;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depth(TreeNode *t)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NULL)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空树高度 -1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d1 = depth(t-&gt;left);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d2 = depth(t-&gt;right);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(d1 &gt; d2) ? d1 + 1 : d2 + 1;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formula16"/>
              <p:cNvSpPr txBox="1">
                <a:spLocks noGrp="1"/>
              </p:cNvSpPr>
              <p:nvPr/>
            </p:nvSpPr>
            <p:spPr>
              <a:xfrm>
                <a:off x="6464618" y="3779520"/>
                <a:ext cx="5193982" cy="542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depth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12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12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=∅</m:t>
                              </m:r>
                            </m:e>
                            <m:e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12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sepChr m:val=""/>
                                      <m:endChr m:val="}"/>
                                      <m:grow m:val="on"/>
                                      <m:ctrlP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depth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1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1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t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1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L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m:rPr>
                                          <m:sty m:val="p"/>
                                        </m:rP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 </m:t>
                                      </m:r>
                                      <m:r>
                                        <a:rPr lang="zh-CN" sz="112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depth</m:t>
                                      </m:r>
                                      <m:d>
                                        <m:dPr>
                                          <m:begChr m:val="("/>
                                          <m:sepChr m:val=""/>
                                          <m:endChr m:val=")"/>
                                          <m:grow m:val="on"/>
                                          <m:ctrlPr>
                                            <a:rPr lang="zh-CN" sz="112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e>
                                              <m:r>
                                                <a:rPr lang="zh-CN" sz="11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t</m:t>
                                              </m:r>
                                            </m:e>
                                            <m:sub>
                                              <m:r>
                                                <a:rPr lang="zh-CN" sz="1120" dirty="0">
                                                  <a:solidFill>
                                                    <a:srgbClr val="1F2937"/>
                                                  </a:solidFill>
                                                  <a:latin typeface="Cambria Math"/>
                                                  <a:ea typeface="Cambria Math"/>
                                                  <a:cs typeface="Cambria Math"/>
                                                </a:rPr>
                                                <m:t>R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t</m:t>
                              </m:r>
                              <m:r>
                                <m:rPr>
                                  <m:sty m:val="p"/>
                                </m:rPr>
                                <a:rPr lang="zh-CN" sz="112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≠∅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7" name="c2-callout-3"/>
          <p:cNvGrpSpPr/>
          <p:nvPr/>
        </p:nvGrpSpPr>
        <p:grpSpPr>
          <a:xfrm>
            <a:off x="6464618" y="4512945"/>
            <a:ext cx="5193982" cy="1048702"/>
            <a:chOff x="6464618" y="4512945"/>
            <a:chExt cx="5193982" cy="1048702"/>
          </a:xfrm>
        </p:grpSpPr>
        <p:sp>
          <p:nvSpPr>
            <p:cNvPr id="22" name="Rectangle 22"/>
            <p:cNvSpPr/>
            <p:nvPr/>
          </p:nvSpPr>
          <p:spPr>
            <a:xfrm>
              <a:off x="6464618" y="4512945"/>
              <a:ext cx="5193982" cy="1048702"/>
            </a:xfrm>
            <a:prstGeom prst="roundRect">
              <a:avLst>
                <a:gd name="adj" fmla="val 108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669405" y="4936810"/>
              <a:ext cx="200023" cy="200023"/>
              <a:chOff x="6669405" y="4936810"/>
              <a:chExt cx="200023" cy="20002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669405" y="49368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802755" y="50034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971348" y="4793932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三段代码都把活儿放在后根位置：必须先拿到两棵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子树的结果，才能算出根的结果。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二叉树的其他操作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序列的首末结点（一）：中根序列的两头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660894" cy="278702"/>
            <a:chOff x="526161" y="1547336"/>
            <a:chExt cx="7660894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6608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上海交通大学、哈尔滨工业大学、吉林大学都考过这组题，共同要求是不用递归、不用栈。</a:t>
              </a:r>
            </a:p>
          </p:txBody>
        </p:sp>
      </p:grpSp>
      <p:grpSp>
        <p:nvGrpSpPr>
          <p:cNvPr id="44" name="c1-tree-1"/>
          <p:cNvGrpSpPr/>
          <p:nvPr/>
        </p:nvGrpSpPr>
        <p:grpSpPr>
          <a:xfrm>
            <a:off x="980122" y="2029778"/>
            <a:ext cx="3934778" cy="2336482"/>
            <a:chOff x="980122" y="2029778"/>
            <a:chExt cx="3934778" cy="2336482"/>
          </a:xfrm>
        </p:grpSpPr>
        <p:sp>
          <p:nvSpPr>
            <p:cNvPr id="9" name="Freeform 9"/>
            <p:cNvSpPr/>
            <p:nvPr/>
          </p:nvSpPr>
          <p:spPr>
            <a:xfrm>
              <a:off x="1243965" y="3827145"/>
              <a:ext cx="70485" cy="418147"/>
            </a:xfrm>
            <a:custGeom>
              <a:avLst/>
              <a:gdLst/>
              <a:ahLst/>
              <a:cxnLst/>
              <a:rect l="l" t="t" r="r" b="b"/>
              <a:pathLst>
                <a:path w="70485" h="418147">
                  <a:moveTo>
                    <a:pt x="0" y="0"/>
                  </a:moveTo>
                  <a:lnTo>
                    <a:pt x="70485" y="4181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43965" y="3408045"/>
              <a:ext cx="141923" cy="419100"/>
            </a:xfrm>
            <a:custGeom>
              <a:avLst/>
              <a:gdLst/>
              <a:ahLst/>
              <a:cxnLst/>
              <a:rect l="l" t="t" r="r" b="b"/>
              <a:pathLst>
                <a:path w="141923" h="419100">
                  <a:moveTo>
                    <a:pt x="141923" y="0"/>
                  </a:moveTo>
                  <a:lnTo>
                    <a:pt x="0" y="419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101090" y="2988945"/>
              <a:ext cx="284798" cy="419100"/>
            </a:xfrm>
            <a:custGeom>
              <a:avLst/>
              <a:gdLst/>
              <a:ahLst/>
              <a:cxnLst/>
              <a:rect l="l" t="t" r="r" b="b"/>
              <a:pathLst>
                <a:path w="284798" h="419100">
                  <a:moveTo>
                    <a:pt x="0" y="0"/>
                  </a:moveTo>
                  <a:lnTo>
                    <a:pt x="284798" y="419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101090" y="2569845"/>
              <a:ext cx="568643" cy="419100"/>
            </a:xfrm>
            <a:custGeom>
              <a:avLst/>
              <a:gdLst/>
              <a:ahLst/>
              <a:cxnLst/>
              <a:rect l="l" t="t" r="r" b="b"/>
              <a:pathLst>
                <a:path w="568643" h="419100">
                  <a:moveTo>
                    <a:pt x="568643" y="0"/>
                  </a:moveTo>
                  <a:lnTo>
                    <a:pt x="0" y="419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296728" y="3827145"/>
              <a:ext cx="71438" cy="418147"/>
            </a:xfrm>
            <a:custGeom>
              <a:avLst/>
              <a:gdLst/>
              <a:ahLst/>
              <a:cxnLst/>
              <a:rect l="l" t="t" r="r" b="b"/>
              <a:pathLst>
                <a:path w="71438" h="418147">
                  <a:moveTo>
                    <a:pt x="71438" y="0"/>
                  </a:moveTo>
                  <a:lnTo>
                    <a:pt x="0" y="41814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226242" y="3408045"/>
              <a:ext cx="141923" cy="419100"/>
            </a:xfrm>
            <a:custGeom>
              <a:avLst/>
              <a:gdLst/>
              <a:ahLst/>
              <a:cxnLst/>
              <a:rect l="l" t="t" r="r" b="b"/>
              <a:pathLst>
                <a:path w="141923" h="419100">
                  <a:moveTo>
                    <a:pt x="0" y="0"/>
                  </a:moveTo>
                  <a:lnTo>
                    <a:pt x="141923" y="419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226242" y="2988945"/>
              <a:ext cx="283845" cy="419100"/>
            </a:xfrm>
            <a:custGeom>
              <a:avLst/>
              <a:gdLst/>
              <a:ahLst/>
              <a:cxnLst/>
              <a:rect l="l" t="t" r="r" b="b"/>
              <a:pathLst>
                <a:path w="283845" h="419100">
                  <a:moveTo>
                    <a:pt x="283845" y="0"/>
                  </a:moveTo>
                  <a:lnTo>
                    <a:pt x="0" y="419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510088" y="2988945"/>
              <a:ext cx="283845" cy="419100"/>
            </a:xfrm>
            <a:custGeom>
              <a:avLst/>
              <a:gdLst/>
              <a:ahLst/>
              <a:cxnLst/>
              <a:rect l="l" t="t" r="r" b="b"/>
              <a:pathLst>
                <a:path w="283845" h="419100">
                  <a:moveTo>
                    <a:pt x="0" y="0"/>
                  </a:moveTo>
                  <a:lnTo>
                    <a:pt x="283845" y="419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941445" y="2569845"/>
              <a:ext cx="568642" cy="419100"/>
            </a:xfrm>
            <a:custGeom>
              <a:avLst/>
              <a:gdLst/>
              <a:ahLst/>
              <a:cxnLst/>
              <a:rect l="l" t="t" r="r" b="b"/>
              <a:pathLst>
                <a:path w="568642" h="419100">
                  <a:moveTo>
                    <a:pt x="0" y="0"/>
                  </a:moveTo>
                  <a:lnTo>
                    <a:pt x="568642" y="419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669732" y="2150745"/>
              <a:ext cx="1136332" cy="419100"/>
            </a:xfrm>
            <a:custGeom>
              <a:avLst/>
              <a:gdLst/>
              <a:ahLst/>
              <a:cxnLst/>
              <a:rect l="l" t="t" r="r" b="b"/>
              <a:pathLst>
                <a:path w="1136332" h="419100">
                  <a:moveTo>
                    <a:pt x="1136332" y="0"/>
                  </a:moveTo>
                  <a:lnTo>
                    <a:pt x="0" y="419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2806065" y="2150745"/>
              <a:ext cx="1135380" cy="419100"/>
            </a:xfrm>
            <a:custGeom>
              <a:avLst/>
              <a:gdLst/>
              <a:ahLst/>
              <a:cxnLst/>
              <a:rect l="l" t="t" r="r" b="b"/>
              <a:pathLst>
                <a:path w="1135380" h="419100">
                  <a:moveTo>
                    <a:pt x="0" y="0"/>
                  </a:moveTo>
                  <a:lnTo>
                    <a:pt x="1135380" y="41910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193482" y="4124325"/>
              <a:ext cx="241935" cy="2419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122998" y="3706178"/>
              <a:ext cx="241935" cy="2419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264920" y="3287078"/>
              <a:ext cx="241935" cy="2419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980122" y="2867978"/>
              <a:ext cx="241935" cy="2419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548765" y="2448878"/>
              <a:ext cx="241935" cy="2419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175760" y="4124325"/>
              <a:ext cx="241935" cy="2419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247198" y="3706178"/>
              <a:ext cx="241935" cy="2419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4105275" y="3287078"/>
              <a:ext cx="241935" cy="2419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672965" y="3287078"/>
              <a:ext cx="241935" cy="241935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4389120" y="2867978"/>
              <a:ext cx="241935" cy="2419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3820478" y="2448878"/>
              <a:ext cx="241935" cy="2419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2685098" y="2029778"/>
              <a:ext cx="241935" cy="24193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72723" y="419004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202238" y="377094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344160" y="335184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59363" y="293274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628005" y="251364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255000" y="419004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326438" y="377094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84515" y="335184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69007" y="3351848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68360" y="293274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99718" y="251364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764338" y="209550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51" name="c1-callout-2"/>
          <p:cNvGrpSpPr/>
          <p:nvPr/>
        </p:nvGrpSpPr>
        <p:grpSpPr>
          <a:xfrm>
            <a:off x="533400" y="4630102"/>
            <a:ext cx="4544378" cy="729615"/>
            <a:chOff x="533400" y="4630102"/>
            <a:chExt cx="4544378" cy="729615"/>
          </a:xfrm>
        </p:grpSpPr>
        <p:sp>
          <p:nvSpPr>
            <p:cNvPr id="45" name="Rectangle 45"/>
            <p:cNvSpPr/>
            <p:nvPr/>
          </p:nvSpPr>
          <p:spPr>
            <a:xfrm>
              <a:off x="533400" y="4630102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38188" y="4894898"/>
              <a:ext cx="200026" cy="200026"/>
              <a:chOff x="738188" y="4894898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38188" y="48948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49615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27088" y="49949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040892" y="4776787"/>
              <a:ext cx="36055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中根序列是 D G J E B A C H L K F I，两头正是高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亮的 D 和 I。</a:t>
              </a:r>
            </a:p>
          </p:txBody>
        </p:sp>
      </p:grpSp>
      <p:grpSp>
        <p:nvGrpSpPr>
          <p:cNvPr id="57" name="c1-callout-3"/>
          <p:cNvGrpSpPr/>
          <p:nvPr/>
        </p:nvGrpSpPr>
        <p:grpSpPr>
          <a:xfrm>
            <a:off x="533400" y="5534978"/>
            <a:ext cx="4544378" cy="820102"/>
            <a:chOff x="533400" y="5534978"/>
            <a:chExt cx="4544378" cy="820102"/>
          </a:xfrm>
        </p:grpSpPr>
        <p:sp>
          <p:nvSpPr>
            <p:cNvPr id="52" name="Rectangle 52"/>
            <p:cNvSpPr/>
            <p:nvPr/>
          </p:nvSpPr>
          <p:spPr>
            <a:xfrm>
              <a:off x="533400" y="5534978"/>
              <a:ext cx="4544378" cy="820102"/>
            </a:xfrm>
            <a:prstGeom prst="roundRect">
              <a:avLst>
                <a:gd name="adj" fmla="val 13937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845495"/>
              <a:ext cx="200023" cy="200023"/>
              <a:chOff x="738188" y="5845495"/>
              <a:chExt cx="200023" cy="200023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584549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71538" y="591216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892" y="5726430"/>
              <a:ext cx="3537013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两段都只沿一条路走到底，时间 O(h)，h 是树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高；只用一个指针，不需要栈。</a:t>
              </a:r>
            </a:p>
          </p:txBody>
        </p:sp>
      </p:grpSp>
      <p:grpSp>
        <p:nvGrpSpPr>
          <p:cNvPr id="79" name="c2-table-1"/>
          <p:cNvGrpSpPr/>
          <p:nvPr/>
        </p:nvGrpSpPr>
        <p:grpSpPr>
          <a:xfrm>
            <a:off x="5382578" y="1941195"/>
            <a:ext cx="6276022" cy="2023110"/>
            <a:chOff x="5382578" y="1941195"/>
            <a:chExt cx="6276022" cy="2023110"/>
          </a:xfrm>
        </p:grpSpPr>
        <p:sp>
          <p:nvSpPr>
            <p:cNvPr id="58" name="Rectangle 58"/>
            <p:cNvSpPr/>
            <p:nvPr/>
          </p:nvSpPr>
          <p:spPr>
            <a:xfrm>
              <a:off x="5382578" y="1941195"/>
              <a:ext cx="627602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5790921" y="20654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序列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16419" y="20654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第一个结点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13734" y="206549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最后一个结点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482590" y="257127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612255" y="2571274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t 本身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185910" y="2471261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沿右分支找第一个叶结点（下一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82578" y="294798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5382578" y="2952750"/>
              <a:ext cx="627602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482590" y="307705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521768" y="2962275"/>
              <a:ext cx="255365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612255" y="307705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从根一路向左到底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095422" y="2962275"/>
              <a:ext cx="255365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185910" y="307705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从根一路向右到底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5382578" y="335375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482590" y="35828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12255" y="3482816"/>
              <a:ext cx="200279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沿左分支找第一个叶结点（下一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页）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185910" y="3582829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 t 本身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5382578" y="1941195"/>
              <a:ext cx="6276022" cy="20231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6507480" y="194119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9081135" y="1941195"/>
              <a:ext cx="9525" cy="20231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3" name="c2-code-2"/>
          <p:cNvGrpSpPr/>
          <p:nvPr/>
        </p:nvGrpSpPr>
        <p:grpSpPr>
          <a:xfrm>
            <a:off x="5382578" y="4139565"/>
            <a:ext cx="6276022" cy="2215515"/>
            <a:chOff x="5382578" y="4139565"/>
            <a:chExt cx="6276022" cy="2215515"/>
          </a:xfrm>
        </p:grpSpPr>
        <p:sp>
          <p:nvSpPr>
            <p:cNvPr id="80" name="Rectangle 80"/>
            <p:cNvSpPr/>
            <p:nvPr/>
          </p:nvSpPr>
          <p:spPr>
            <a:xfrm>
              <a:off x="5382578" y="4139565"/>
              <a:ext cx="6276022" cy="2215515"/>
            </a:xfrm>
            <a:prstGeom prst="roundRect">
              <a:avLst>
                <a:gd name="adj" fmla="val 429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510974" y="429148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中根序列的第一个与最后一个结点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511165" y="4549854"/>
              <a:ext cx="2327148" cy="17159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*InFirst(TreeNode *t)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NULL)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NULL;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*p = 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(p-&gt;left != NULL) p = p-&gt;left;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*InLast(TreeNode *t)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NULL)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NULL;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*p = 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(p-&gt;right != NULL) p = p-&gt;right;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8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4" name="TextBox 84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二叉树的其他操作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序列的首末结点（二）：先根的末位与后根的首位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2" name="c1-tree-1"/>
          <p:cNvGrpSpPr/>
          <p:nvPr/>
        </p:nvGrpSpPr>
        <p:grpSpPr>
          <a:xfrm>
            <a:off x="1116330" y="1592580"/>
            <a:ext cx="4460558" cy="2126933"/>
            <a:chOff x="1116330" y="1592580"/>
            <a:chExt cx="4460558" cy="2126933"/>
          </a:xfrm>
        </p:grpSpPr>
        <p:sp>
          <p:nvSpPr>
            <p:cNvPr id="7" name="Freeform 7"/>
            <p:cNvSpPr/>
            <p:nvPr/>
          </p:nvSpPr>
          <p:spPr>
            <a:xfrm>
              <a:off x="1412558" y="3221355"/>
              <a:ext cx="87630" cy="377190"/>
            </a:xfrm>
            <a:custGeom>
              <a:avLst/>
              <a:gdLst/>
              <a:ahLst/>
              <a:cxnLst/>
              <a:rect l="l" t="t" r="r" b="b"/>
              <a:pathLst>
                <a:path w="87630" h="377190">
                  <a:moveTo>
                    <a:pt x="0" y="0"/>
                  </a:moveTo>
                  <a:lnTo>
                    <a:pt x="87630" y="3771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412558" y="2844165"/>
              <a:ext cx="176212" cy="377190"/>
            </a:xfrm>
            <a:custGeom>
              <a:avLst/>
              <a:gdLst/>
              <a:ahLst/>
              <a:cxnLst/>
              <a:rect l="l" t="t" r="r" b="b"/>
              <a:pathLst>
                <a:path w="176212" h="377190">
                  <a:moveTo>
                    <a:pt x="176212" y="0"/>
                  </a:moveTo>
                  <a:lnTo>
                    <a:pt x="0" y="3771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236345" y="2466975"/>
              <a:ext cx="352425" cy="377190"/>
            </a:xfrm>
            <a:custGeom>
              <a:avLst/>
              <a:gdLst/>
              <a:ahLst/>
              <a:cxnLst/>
              <a:rect l="l" t="t" r="r" b="b"/>
              <a:pathLst>
                <a:path w="352425" h="377190">
                  <a:moveTo>
                    <a:pt x="0" y="0"/>
                  </a:moveTo>
                  <a:lnTo>
                    <a:pt x="352425" y="3771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36345" y="2089785"/>
              <a:ext cx="703897" cy="377190"/>
            </a:xfrm>
            <a:custGeom>
              <a:avLst/>
              <a:gdLst/>
              <a:ahLst/>
              <a:cxnLst/>
              <a:rect l="l" t="t" r="r" b="b"/>
              <a:pathLst>
                <a:path w="703897" h="377190">
                  <a:moveTo>
                    <a:pt x="703897" y="0"/>
                  </a:moveTo>
                  <a:lnTo>
                    <a:pt x="0" y="3771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280660" y="3221355"/>
              <a:ext cx="88583" cy="377190"/>
            </a:xfrm>
            <a:custGeom>
              <a:avLst/>
              <a:gdLst/>
              <a:ahLst/>
              <a:cxnLst/>
              <a:rect l="l" t="t" r="r" b="b"/>
              <a:pathLst>
                <a:path w="88583" h="377190">
                  <a:moveTo>
                    <a:pt x="0" y="0"/>
                  </a:moveTo>
                  <a:lnTo>
                    <a:pt x="88583" y="3771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929188" y="2844165"/>
              <a:ext cx="176212" cy="377190"/>
            </a:xfrm>
            <a:custGeom>
              <a:avLst/>
              <a:gdLst/>
              <a:ahLst/>
              <a:cxnLst/>
              <a:rect l="l" t="t" r="r" b="b"/>
              <a:pathLst>
                <a:path w="176212" h="377190">
                  <a:moveTo>
                    <a:pt x="176212" y="0"/>
                  </a:moveTo>
                  <a:lnTo>
                    <a:pt x="0" y="3771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5105400" y="2844165"/>
              <a:ext cx="175260" cy="377190"/>
            </a:xfrm>
            <a:custGeom>
              <a:avLst/>
              <a:gdLst/>
              <a:ahLst/>
              <a:cxnLst/>
              <a:rect l="l" t="t" r="r" b="b"/>
              <a:pathLst>
                <a:path w="175260" h="377190">
                  <a:moveTo>
                    <a:pt x="0" y="0"/>
                  </a:moveTo>
                  <a:lnTo>
                    <a:pt x="175260" y="3771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105400" y="2466975"/>
              <a:ext cx="351472" cy="377190"/>
            </a:xfrm>
            <a:custGeom>
              <a:avLst/>
              <a:gdLst/>
              <a:ahLst/>
              <a:cxnLst/>
              <a:rect l="l" t="t" r="r" b="b"/>
              <a:pathLst>
                <a:path w="351472" h="377190">
                  <a:moveTo>
                    <a:pt x="351472" y="0"/>
                  </a:moveTo>
                  <a:lnTo>
                    <a:pt x="0" y="3771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4752975" y="2089785"/>
              <a:ext cx="703897" cy="377190"/>
            </a:xfrm>
            <a:custGeom>
              <a:avLst/>
              <a:gdLst/>
              <a:ahLst/>
              <a:cxnLst/>
              <a:rect l="l" t="t" r="r" b="b"/>
              <a:pathLst>
                <a:path w="703897" h="377190">
                  <a:moveTo>
                    <a:pt x="0" y="0"/>
                  </a:moveTo>
                  <a:lnTo>
                    <a:pt x="703897" y="3771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940242" y="1712595"/>
              <a:ext cx="1406842" cy="377190"/>
            </a:xfrm>
            <a:custGeom>
              <a:avLst/>
              <a:gdLst/>
              <a:ahLst/>
              <a:cxnLst/>
              <a:rect l="l" t="t" r="r" b="b"/>
              <a:pathLst>
                <a:path w="1406842" h="377190">
                  <a:moveTo>
                    <a:pt x="1406842" y="0"/>
                  </a:moveTo>
                  <a:lnTo>
                    <a:pt x="0" y="3771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347085" y="1712595"/>
              <a:ext cx="1405890" cy="377190"/>
            </a:xfrm>
            <a:custGeom>
              <a:avLst/>
              <a:gdLst/>
              <a:ahLst/>
              <a:cxnLst/>
              <a:rect l="l" t="t" r="r" b="b"/>
              <a:pathLst>
                <a:path w="1405890" h="377190">
                  <a:moveTo>
                    <a:pt x="0" y="0"/>
                  </a:moveTo>
                  <a:lnTo>
                    <a:pt x="1405890" y="37719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380172" y="3478530"/>
              <a:ext cx="240030" cy="240030"/>
            </a:xfrm>
            <a:prstGeom prst="ellipse">
              <a:avLst/>
            </a:prstGeom>
            <a:solidFill>
              <a:srgbClr val="E3F5F1"/>
            </a:solidFill>
            <a:ln w="17145">
              <a:solidFill>
                <a:srgbClr val="14A38B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292543" y="3101340"/>
              <a:ext cx="240030" cy="2400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468755" y="2724150"/>
              <a:ext cx="240030" cy="2400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116330" y="2346960"/>
              <a:ext cx="240030" cy="2400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1820228" y="1969770"/>
              <a:ext cx="240030" cy="2400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809172" y="3101340"/>
              <a:ext cx="240030" cy="2400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5248275" y="3477578"/>
              <a:ext cx="241935" cy="241935"/>
            </a:xfrm>
            <a:prstGeom prst="ellipse">
              <a:avLst/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160645" y="3101340"/>
              <a:ext cx="240030" cy="2400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985385" y="2724150"/>
              <a:ext cx="240030" cy="2400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5336858" y="2346960"/>
              <a:ext cx="240030" cy="2400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4632960" y="1969770"/>
              <a:ext cx="240030" cy="2400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3227070" y="1592580"/>
              <a:ext cx="240030" cy="24003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58460" y="354330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70830" y="316611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47043" y="278796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94618" y="241077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98515" y="20335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87460" y="316611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14074" y="3543300"/>
              <a:ext cx="11033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38933" y="316611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63673" y="278796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415145" y="241077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11248" y="203358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305358" y="165639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51" name="c1-card-2"/>
          <p:cNvGrpSpPr/>
          <p:nvPr/>
        </p:nvGrpSpPr>
        <p:grpSpPr>
          <a:xfrm>
            <a:off x="533400" y="3972878"/>
            <a:ext cx="5626418" cy="2282190"/>
            <a:chOff x="533400" y="3972878"/>
            <a:chExt cx="5626418" cy="2282190"/>
          </a:xfrm>
        </p:grpSpPr>
        <p:sp>
          <p:nvSpPr>
            <p:cNvPr id="43" name="Rectangle 43"/>
            <p:cNvSpPr/>
            <p:nvPr/>
          </p:nvSpPr>
          <p:spPr>
            <a:xfrm>
              <a:off x="533400" y="3972878"/>
              <a:ext cx="5626418" cy="2282190"/>
            </a:xfrm>
            <a:prstGeom prst="roundRect">
              <a:avLst>
                <a:gd name="adj" fmla="val 584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37235" y="4176712"/>
              <a:ext cx="134778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1840" y="42124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两条规则互为镜像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44855" y="461010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01446" y="454961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先根末位：从根开始，有右孩子就走右，没有才走左，直到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叶结点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744855" y="520160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1446" y="5141119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后根首位：把左右对调，有左孩子就走左，否则走右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1139" y="5457825"/>
              <a:ext cx="48579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图中先根序列 A B D E G J C F H N K M，末位 M；后根序列首位 J。</a:t>
              </a:r>
            </a:p>
          </p:txBody>
        </p:sp>
      </p:grpSp>
      <p:grpSp>
        <p:nvGrpSpPr>
          <p:cNvPr id="55" name="c2-code-1"/>
          <p:cNvGrpSpPr/>
          <p:nvPr/>
        </p:nvGrpSpPr>
        <p:grpSpPr>
          <a:xfrm>
            <a:off x="6464618" y="1524000"/>
            <a:ext cx="5193982" cy="3527108"/>
            <a:chOff x="6464618" y="1524000"/>
            <a:chExt cx="5193982" cy="3527108"/>
          </a:xfrm>
        </p:grpSpPr>
        <p:sp>
          <p:nvSpPr>
            <p:cNvPr id="52" name="Rectangle 52"/>
            <p:cNvSpPr/>
            <p:nvPr/>
          </p:nvSpPr>
          <p:spPr>
            <a:xfrm>
              <a:off x="6464618" y="1524000"/>
              <a:ext cx="5193982" cy="3527108"/>
            </a:xfrm>
            <a:prstGeom prst="roundRect">
              <a:avLst>
                <a:gd name="adj" fmla="val 270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93015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先根末位与后根首位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593205" y="1934337"/>
              <a:ext cx="2825877" cy="30241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85"/>
                </a:lnSpc>
              </a:pPr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先根序列的最后一个结点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*PreLast(TreeNode *t) {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*p = t;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NULL) {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(p-&gt;right != NULL) p = p-&gt;right;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(p-&gt;left != NULL) p = p-&gt;left;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          </a:t>
              </a:r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到叶结点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NULL;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后根序列的第一个结点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TreeNode *PostFirst(TreeNode *t) {</a:t>
              </a:r>
              <a:br/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TreeNode *p = t;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 != NULL) {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(p-&gt;left != NULL) p = p-&gt;left;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(p-&gt;right != NULL) p = p-&gt;right;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4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NULL;</a:t>
              </a:r>
              <a:br/>
              <a:r>
                <a:rPr lang="zh-CN" sz="8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62" name="c2-callout-2"/>
          <p:cNvGrpSpPr/>
          <p:nvPr/>
        </p:nvGrpSpPr>
        <p:grpSpPr>
          <a:xfrm>
            <a:off x="6464618" y="5236845"/>
            <a:ext cx="5193982" cy="1018222"/>
            <a:chOff x="6464618" y="5236845"/>
            <a:chExt cx="5193982" cy="1018222"/>
          </a:xfrm>
        </p:grpSpPr>
        <p:sp>
          <p:nvSpPr>
            <p:cNvPr id="56" name="Rectangle 56"/>
            <p:cNvSpPr/>
            <p:nvPr/>
          </p:nvSpPr>
          <p:spPr>
            <a:xfrm>
              <a:off x="6464618" y="5236845"/>
              <a:ext cx="5193982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6657347" y="5642728"/>
              <a:ext cx="224134" cy="192560"/>
              <a:chOff x="6657347" y="5642728"/>
              <a:chExt cx="224134" cy="19256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6769418" y="571309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6657347" y="564272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6769418" y="57908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6971729" y="5384006"/>
              <a:ext cx="4180332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先根末位不是“一路向右到底”：最右边的结点若还有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左子树，最后访问的会落在那棵左子树里。时间同样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是 O(h)。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99385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8256" y="407194"/>
              <a:ext cx="2589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 · 二叉树的其他操作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二叉树的路径：先根遍历加回溯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4977765" cy="2357438"/>
            <a:chOff x="533400" y="1524000"/>
            <a:chExt cx="4977765" cy="23574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977765" cy="2357438"/>
            </a:xfrm>
            <a:prstGeom prst="roundRect">
              <a:avLst>
                <a:gd name="adj" fmla="val 40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输出从根到每个叶结点的路径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4289"/>
              <a:ext cx="2763584" cy="18578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18"/>
                </a:lnSpc>
              </a:pP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findPath(TreeNode *t,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path[],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 == NULL)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path[k] = t-&gt;data;      </a:t>
              </a:r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当前结点存进 path[k]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(t-&gt;left == NULL &amp;&amp; t-&gt;right == NULL) {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&lt;= k; i++)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printf(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 "</a:t>
              </a:r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, path[i]);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printf(</a:t>
              </a:r>
              <a:r>
                <a:rPr lang="en-US" sz="79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"\n"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79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findPath(t-&gt;left, path, k + 1);</a:t>
              </a:r>
              <a:br/>
              <a:r>
                <a:rPr lang="en-US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findPath(t-&gt;right, path, k + 1);</a:t>
              </a:r>
              <a:br/>
              <a:r>
                <a:rPr lang="zh-CN" sz="79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79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// 初始调用：findPath(root, path, 0);</a:t>
              </a:r>
            </a:p>
          </p:txBody>
        </p:sp>
      </p:grpSp>
      <p:grpSp>
        <p:nvGrpSpPr>
          <p:cNvPr id="16" name="c1-card-2"/>
          <p:cNvGrpSpPr/>
          <p:nvPr/>
        </p:nvGrpSpPr>
        <p:grpSpPr>
          <a:xfrm>
            <a:off x="533400" y="4046220"/>
            <a:ext cx="4977765" cy="1386840"/>
            <a:chOff x="533400" y="4046220"/>
            <a:chExt cx="4977765" cy="1386840"/>
          </a:xfrm>
        </p:grpSpPr>
        <p:sp>
          <p:nvSpPr>
            <p:cNvPr id="11" name="Rectangle 11"/>
            <p:cNvSpPr/>
            <p:nvPr/>
          </p:nvSpPr>
          <p:spPr>
            <a:xfrm>
              <a:off x="533400" y="4046220"/>
              <a:ext cx="4977765" cy="1386840"/>
            </a:xfrm>
            <a:prstGeom prst="roundRect">
              <a:avLst>
                <a:gd name="adj" fmla="val 961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179570"/>
              <a:ext cx="47625" cy="112014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422719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5147" y="426005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5998" y="4567714"/>
              <a:ext cx="428015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源课件还有一个“找到数据值为 x 的路径”的版本，返回类型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是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bool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，开头却写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if(t==NULL) return;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，应为 </a:t>
              </a:r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return</a:t>
              </a:r>
              <a:br/>
              <a:r>
                <a:rPr lang="en-US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false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2" name="c1-callout-3"/>
          <p:cNvGrpSpPr/>
          <p:nvPr/>
        </p:nvGrpSpPr>
        <p:grpSpPr>
          <a:xfrm>
            <a:off x="533400" y="5597842"/>
            <a:ext cx="4977765" cy="702945"/>
            <a:chOff x="533400" y="5597842"/>
            <a:chExt cx="4977765" cy="702945"/>
          </a:xfrm>
        </p:grpSpPr>
        <p:sp>
          <p:nvSpPr>
            <p:cNvPr id="17" name="Rectangle 17"/>
            <p:cNvSpPr/>
            <p:nvPr/>
          </p:nvSpPr>
          <p:spPr>
            <a:xfrm>
              <a:off x="533400" y="5597842"/>
              <a:ext cx="4977765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5849305"/>
              <a:ext cx="200023" cy="200023"/>
              <a:chOff x="738188" y="5849305"/>
              <a:chExt cx="200023" cy="20002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584930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1538" y="591597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1273" y="5743099"/>
              <a:ext cx="39794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递归深度 k 就是当前结点的层数，path[0…k] 始终是从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根到它的那条路径。</a:t>
              </a:r>
            </a:p>
          </p:txBody>
        </p:sp>
      </p:grpSp>
      <p:grpSp>
        <p:nvGrpSpPr>
          <p:cNvPr id="58" name="c2-tree-1"/>
          <p:cNvGrpSpPr/>
          <p:nvPr/>
        </p:nvGrpSpPr>
        <p:grpSpPr>
          <a:xfrm>
            <a:off x="5884545" y="1568768"/>
            <a:ext cx="4426267" cy="1496376"/>
            <a:chOff x="5884545" y="1568768"/>
            <a:chExt cx="4426267" cy="1496376"/>
          </a:xfrm>
        </p:grpSpPr>
        <p:sp>
          <p:nvSpPr>
            <p:cNvPr id="23" name="Freeform 23"/>
            <p:cNvSpPr/>
            <p:nvPr/>
          </p:nvSpPr>
          <p:spPr>
            <a:xfrm>
              <a:off x="5997892" y="2628900"/>
              <a:ext cx="182880" cy="316230"/>
            </a:xfrm>
            <a:custGeom>
              <a:avLst/>
              <a:gdLst/>
              <a:ahLst/>
              <a:cxnLst/>
              <a:rect l="l" t="t" r="r" b="b"/>
              <a:pathLst>
                <a:path w="182880" h="316230">
                  <a:moveTo>
                    <a:pt x="182880" y="0"/>
                  </a:moveTo>
                  <a:lnTo>
                    <a:pt x="0" y="3162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180772" y="2628900"/>
              <a:ext cx="182880" cy="316230"/>
            </a:xfrm>
            <a:custGeom>
              <a:avLst/>
              <a:gdLst/>
              <a:ahLst/>
              <a:cxnLst/>
              <a:rect l="l" t="t" r="r" b="b"/>
              <a:pathLst>
                <a:path w="182880" h="316230">
                  <a:moveTo>
                    <a:pt x="0" y="0"/>
                  </a:moveTo>
                  <a:lnTo>
                    <a:pt x="182880" y="3162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180772" y="2313622"/>
              <a:ext cx="364808" cy="315277"/>
            </a:xfrm>
            <a:custGeom>
              <a:avLst/>
              <a:gdLst/>
              <a:ahLst/>
              <a:cxnLst/>
              <a:rect l="l" t="t" r="r" b="b"/>
              <a:pathLst>
                <a:path w="364808" h="315277">
                  <a:moveTo>
                    <a:pt x="364808" y="0"/>
                  </a:moveTo>
                  <a:lnTo>
                    <a:pt x="0" y="3152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545580" y="2313622"/>
              <a:ext cx="365760" cy="315277"/>
            </a:xfrm>
            <a:custGeom>
              <a:avLst/>
              <a:gdLst/>
              <a:ahLst/>
              <a:cxnLst/>
              <a:rect l="l" t="t" r="r" b="b"/>
              <a:pathLst>
                <a:path w="365760" h="315277">
                  <a:moveTo>
                    <a:pt x="0" y="0"/>
                  </a:moveTo>
                  <a:lnTo>
                    <a:pt x="365760" y="3152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8006715" y="2313622"/>
              <a:ext cx="364807" cy="315277"/>
            </a:xfrm>
            <a:custGeom>
              <a:avLst/>
              <a:gdLst/>
              <a:ahLst/>
              <a:cxnLst/>
              <a:rect l="l" t="t" r="r" b="b"/>
              <a:pathLst>
                <a:path w="364807" h="315277">
                  <a:moveTo>
                    <a:pt x="0" y="0"/>
                  </a:moveTo>
                  <a:lnTo>
                    <a:pt x="364807" y="3152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545580" y="1997392"/>
              <a:ext cx="730567" cy="316230"/>
            </a:xfrm>
            <a:custGeom>
              <a:avLst/>
              <a:gdLst/>
              <a:ahLst/>
              <a:cxnLst/>
              <a:rect l="l" t="t" r="r" b="b"/>
              <a:pathLst>
                <a:path w="730567" h="316230">
                  <a:moveTo>
                    <a:pt x="730567" y="0"/>
                  </a:moveTo>
                  <a:lnTo>
                    <a:pt x="0" y="3162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276148" y="1997392"/>
              <a:ext cx="730568" cy="316230"/>
            </a:xfrm>
            <a:custGeom>
              <a:avLst/>
              <a:gdLst/>
              <a:ahLst/>
              <a:cxnLst/>
              <a:rect l="l" t="t" r="r" b="b"/>
              <a:pathLst>
                <a:path w="730568" h="316230">
                  <a:moveTo>
                    <a:pt x="0" y="0"/>
                  </a:moveTo>
                  <a:lnTo>
                    <a:pt x="730568" y="3162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9467850" y="2313622"/>
              <a:ext cx="364807" cy="315277"/>
            </a:xfrm>
            <a:custGeom>
              <a:avLst/>
              <a:gdLst/>
              <a:ahLst/>
              <a:cxnLst/>
              <a:rect l="l" t="t" r="r" b="b"/>
              <a:pathLst>
                <a:path w="364807" h="315277">
                  <a:moveTo>
                    <a:pt x="0" y="0"/>
                  </a:moveTo>
                  <a:lnTo>
                    <a:pt x="364807" y="3152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9467850" y="1997392"/>
              <a:ext cx="729615" cy="316230"/>
            </a:xfrm>
            <a:custGeom>
              <a:avLst/>
              <a:gdLst/>
              <a:ahLst/>
              <a:cxnLst/>
              <a:rect l="l" t="t" r="r" b="b"/>
              <a:pathLst>
                <a:path w="729615" h="316230">
                  <a:moveTo>
                    <a:pt x="729615" y="0"/>
                  </a:moveTo>
                  <a:lnTo>
                    <a:pt x="0" y="31623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276148" y="1682115"/>
              <a:ext cx="1461135" cy="315277"/>
            </a:xfrm>
            <a:custGeom>
              <a:avLst/>
              <a:gdLst/>
              <a:ahLst/>
              <a:cxnLst/>
              <a:rect l="l" t="t" r="r" b="b"/>
              <a:pathLst>
                <a:path w="1461135" h="315277">
                  <a:moveTo>
                    <a:pt x="1461135" y="0"/>
                  </a:moveTo>
                  <a:lnTo>
                    <a:pt x="0" y="3152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8737282" y="1682115"/>
              <a:ext cx="1460182" cy="315277"/>
            </a:xfrm>
            <a:custGeom>
              <a:avLst/>
              <a:gdLst/>
              <a:ahLst/>
              <a:cxnLst/>
              <a:rect l="l" t="t" r="r" b="b"/>
              <a:pathLst>
                <a:path w="1460182" h="315277">
                  <a:moveTo>
                    <a:pt x="0" y="0"/>
                  </a:moveTo>
                  <a:lnTo>
                    <a:pt x="1460182" y="31527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5884545" y="2831782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6250305" y="2831782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6067425" y="2515552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797992" y="2515552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6432233" y="2200275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8258175" y="2515552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893368" y="2200275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7162800" y="1884045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2" name="Ellipse 42"/>
            <p:cNvSpPr/>
            <p:nvPr/>
          </p:nvSpPr>
          <p:spPr>
            <a:xfrm>
              <a:off x="9719310" y="2515552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9354502" y="2200275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4" name="Ellipse 44"/>
            <p:cNvSpPr/>
            <p:nvPr/>
          </p:nvSpPr>
          <p:spPr>
            <a:xfrm>
              <a:off x="10084117" y="1884045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5" name="Ellipse 45"/>
            <p:cNvSpPr/>
            <p:nvPr/>
          </p:nvSpPr>
          <p:spPr>
            <a:xfrm>
              <a:off x="8623935" y="1568768"/>
              <a:ext cx="226695" cy="22669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956165" y="288893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321925" y="288893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139045" y="257270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69613" y="257270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03853" y="225742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29795" y="257270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64988" y="225742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34420" y="19411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90930" y="2572702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442925" y="2257425"/>
              <a:ext cx="498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155738" y="19411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95555" y="162591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81" name="c2-table-2"/>
          <p:cNvGrpSpPr/>
          <p:nvPr/>
        </p:nvGrpSpPr>
        <p:grpSpPr>
          <a:xfrm>
            <a:off x="5811012" y="3268028"/>
            <a:ext cx="5847588" cy="2551461"/>
            <a:chOff x="5811012" y="3268028"/>
            <a:chExt cx="5847588" cy="2551461"/>
          </a:xfrm>
        </p:grpSpPr>
        <p:sp>
          <p:nvSpPr>
            <p:cNvPr id="59" name="Rectangle 59"/>
            <p:cNvSpPr/>
            <p:nvPr/>
          </p:nvSpPr>
          <p:spPr>
            <a:xfrm>
              <a:off x="5815965" y="3268028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431596" y="3385185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根到叶的路径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494264" y="338518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路径长度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5910644" y="3766185"/>
              <a:ext cx="630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E G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00678" y="376618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815965" y="402526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815965" y="403002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910644" y="4148138"/>
              <a:ext cx="6301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E F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000678" y="414813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815965" y="44072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5910644" y="4529138"/>
              <a:ext cx="496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C D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000678" y="452913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815965" y="47882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815965" y="4792980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5910644" y="4910138"/>
              <a:ext cx="496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B K L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000678" y="491013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5815965" y="517017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910644" y="5292090"/>
              <a:ext cx="4576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H I J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000678" y="529209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5815965" y="3268028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9901238" y="3268028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811012" y="5628799"/>
              <a:ext cx="39215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回溯：返回上一层时 k 自动减一，path 末尾随即被后来的结点覆盖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02652" cy="909257"/>
            <a:chOff x="520446" y="342900"/>
            <a:chExt cx="1402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9626060" cy="264033"/>
            <a:chOff x="526542" y="1545907"/>
            <a:chExt cx="96260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9626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先自己写出答案再看解答。另外自问两题：为什么顺序存储要空着 T[0]？非递归后根遍历里 pre 指针去掉会出什么错？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1914525"/>
            <a:chOff x="533400" y="1928812"/>
            <a:chExt cx="3505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97276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顺序存储一棵完全二叉树，下标 9 的结点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的父结点和左孩子分别在哪个下标？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95529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父结点在 T[⌊9/2⌋] = T[4]，左孩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 T[18]，右孩子 T[19]，越界即没有。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前提是根放在 T[1] 且按层次编号。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3505200" cy="2157412"/>
            <a:chOff x="533400" y="4008120"/>
            <a:chExt cx="3505200" cy="2157412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非递归中根遍历中，栈的进栈序列和出栈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序列各是什么序列？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057299"/>
              <a:ext cx="293903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进栈序列是先根序列，出栈序列是中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根序列。它与非递归先根算法控制流相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同，只差 visit 写在压栈前还是弹栈后。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914525"/>
            <a:chOff x="4343400" y="1928812"/>
            <a:chExt cx="3505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921559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个结点的二叉链表里有多少个空指针？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请说出理由。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977991"/>
              <a:ext cx="29878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n+1 个。2n 个指针域，n−1 条边各用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掉一个，剩下 2n − (n−1) = n+1。第 9 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的线索二叉树就用它们存前驱后继。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08120"/>
            <a:ext cx="3505200" cy="2157412"/>
            <a:chOff x="4343400" y="4008120"/>
            <a:chExt cx="3505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434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529614"/>
              <a:ext cx="276672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2021 个结点的完全二叉树做层次遍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历，辅助队列至少要开多大？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5057299"/>
              <a:ext cx="302031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1011 = ⌈2021/2⌉。出队到最后一个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非叶结点（编号 1010）时，队列里正好装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着全部 1011 个叶结点。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1914525"/>
            <a:chOff x="8153400" y="1928812"/>
            <a:chExt cx="3505200" cy="19145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92684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先根序列 A B C D E F、中根序列 B D C A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E，写出后根序列。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29065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C B F E A。A 把中根切成 B D C 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 E；左子树先根 B C D、中根 B D C 得到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 的右孩子 C、C 的左孩子 D。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08120"/>
            <a:ext cx="3505200" cy="2157412"/>
            <a:chOff x="8153400" y="4008120"/>
            <a:chExt cx="3505200" cy="2157412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529614"/>
              <a:ext cx="2939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先根序列和后根序列都给定，二叉树唯一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吗？层次序列唯一吗？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5057299"/>
              <a:ext cx="2963418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树不唯一：每个度为 1 的结点都可左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可右，共 2ᵈ 棵（d 是这类结点的个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数）。但层次序列唯一，因为独生子挂左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挂右都在同一层同一位置。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02652" cy="909257"/>
            <a:chOff x="520446" y="342900"/>
            <a:chExt cx="140265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38969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7064" y="407194"/>
              <a:ext cx="12014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第8讲 二叉树操作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5" name="c1-table-1"/>
          <p:cNvGrpSpPr/>
          <p:nvPr/>
        </p:nvGrpSpPr>
        <p:grpSpPr>
          <a:xfrm>
            <a:off x="533400" y="1524000"/>
            <a:ext cx="5842635" cy="2000250"/>
            <a:chOff x="533400" y="1524000"/>
            <a:chExt cx="5842635" cy="20002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079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83063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0555" y="20454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顺序存储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99272" y="2045494"/>
              <a:ext cx="26047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编号当下标：左 2i、右 2i+1、父 ⌊i/2⌋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3193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3241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30555" y="24455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二叉链表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99272" y="2445544"/>
              <a:ext cx="2386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data 加左右指针，空指针有 n+1 个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7193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0555" y="284559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三种遍历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99272" y="2845594"/>
              <a:ext cx="29594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只差访问根的时机；时间 O(n)、空间 O(h)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11943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124200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0555" y="32456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重建与计数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99272" y="3245644"/>
              <a:ext cx="32665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中根加任意一种可唯一确定；形态数 Catalan(n)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1524000"/>
              <a:ext cx="5842635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697355" y="152400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4" name="c1-card-2"/>
          <p:cNvGrpSpPr/>
          <p:nvPr/>
        </p:nvGrpSpPr>
        <p:grpSpPr>
          <a:xfrm>
            <a:off x="533400" y="3693795"/>
            <a:ext cx="5842635" cy="2000250"/>
            <a:chOff x="533400" y="3693795"/>
            <a:chExt cx="5842635" cy="2000250"/>
          </a:xfrm>
        </p:grpSpPr>
        <p:sp>
          <p:nvSpPr>
            <p:cNvPr id="26" name="Rectangle 26"/>
            <p:cNvSpPr/>
            <p:nvPr/>
          </p:nvSpPr>
          <p:spPr>
            <a:xfrm>
              <a:off x="533400" y="3693795"/>
              <a:ext cx="5842635" cy="200025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3827145"/>
              <a:ext cx="47625" cy="173355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58190" y="3880485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9155" y="3913346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66762" y="428148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22782" y="4225290"/>
              <a:ext cx="503720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 5 处：复制二叉树少一个 </a:t>
              </a:r>
              <a:r>
                <a:rPr lang="zh-CN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&gt;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、方案 3 的形参名与 h 初值、删除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子树的 t 应按引用传、bool 版 findPath 应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return false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、洛谷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P1229 的循环上界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66762" y="509587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22782" y="5039678"/>
              <a:ext cx="4985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补充：两处栈变化全过程、阿里笔试题推导、清华判断题证明、六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种组合唯一性表</a:t>
              </a:r>
            </a:p>
          </p:txBody>
        </p:sp>
      </p:grpSp>
      <p:grpSp>
        <p:nvGrpSpPr>
          <p:cNvPr id="50" name="c2-bullets-1"/>
          <p:cNvGrpSpPr/>
          <p:nvPr/>
        </p:nvGrpSpPr>
        <p:grpSpPr>
          <a:xfrm>
            <a:off x="6680835" y="1534478"/>
            <a:ext cx="5019675" cy="2024252"/>
            <a:chOff x="6680835" y="1534478"/>
            <a:chExt cx="5019675" cy="2024252"/>
          </a:xfrm>
        </p:grpSpPr>
        <p:sp>
          <p:nvSpPr>
            <p:cNvPr id="35" name="Ellipse 35"/>
            <p:cNvSpPr/>
            <p:nvPr/>
          </p:nvSpPr>
          <p:spPr>
            <a:xfrm>
              <a:off x="6680835" y="153447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736513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961632" y="1545907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存储方式决定操作代价，顺序存储算下标，链接存储走指针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680835" y="184308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36513" y="18814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61632" y="1854518"/>
              <a:ext cx="44456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三种深度优先遍历只差 visit 的位置，非递归版本也只差这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一行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0835" y="240887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6513" y="244725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61632" y="2420302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后根遍历要额外记住右子树访问完没有，这是它更难的原因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80835" y="271748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6513" y="275586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61632" y="2728912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重建题先找根再切中根序列，没有中根序列就无法唯一还原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80835" y="302609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6513" y="306447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61632" y="3037522"/>
              <a:ext cx="42742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层次遍历的队列规模不超过叶结点数，完全二叉树时是 ⌈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n/2⌉</a:t>
              </a:r>
            </a:p>
          </p:txBody>
        </p:sp>
      </p:grpSp>
      <p:grpSp>
        <p:nvGrpSpPr>
          <p:cNvPr id="59" name="c2-card-2"/>
          <p:cNvGrpSpPr/>
          <p:nvPr/>
        </p:nvGrpSpPr>
        <p:grpSpPr>
          <a:xfrm>
            <a:off x="6680835" y="3675698"/>
            <a:ext cx="4977765" cy="2018348"/>
            <a:chOff x="6680835" y="3675698"/>
            <a:chExt cx="4977765" cy="2018348"/>
          </a:xfrm>
        </p:grpSpPr>
        <p:sp>
          <p:nvSpPr>
            <p:cNvPr id="51" name="Rectangle 51"/>
            <p:cNvSpPr/>
            <p:nvPr/>
          </p:nvSpPr>
          <p:spPr>
            <a:xfrm>
              <a:off x="6680835" y="3675698"/>
              <a:ext cx="4977765" cy="2018348"/>
            </a:xfrm>
            <a:prstGeom prst="roundRect">
              <a:avLst>
                <a:gd name="adj" fmla="val 660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867525" y="386238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953047" y="389524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876098" y="426339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32117" y="4207192"/>
              <a:ext cx="41542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画一棵 8 个结点的二叉树，写出四个序列，再手推一遍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栈的变化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876098" y="482060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032117" y="4764405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把先根和中根序列抄下来，隔一天重建这棵树，核对是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否与原图一致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861810" y="5318284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这两步能不查书做完，本讲就算过关了。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0" name="Rectangle 6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8373"/>
              <a:ext cx="9872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下一讲讲线索二叉树，要用的正是本讲数出来的那 n+1 个空指针：把它们改存中根序列的前驱和后继，遍历就不再需要栈。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22526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第8讲 二叉树的存储和操作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08">
  <a:themeElements>
    <a:clrScheme name="ds_l0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08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0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2026-09-19T13:05:37Z</dcterms:created>
  <dcterms:modified xsi:type="dcterms:W3CDTF">2026-09-19T13:05:37Z</dcterms:modified>
  <cp:category/>
  <cp:contentStatus/>
</cp:coreProperties>
</file>