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ds_l09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ds_l09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784c885bca9fc40f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cf72f3eaefbfacf.png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c6ed8fefa284ba26.png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4147566" cy="3437763"/>
            <a:chOff x="666750" y="1619250"/>
            <a:chExt cx="4147566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1529715" cy="3429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15751" y="1718310"/>
              <a:ext cx="12698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数据结构 · 第9讲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2865120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线索二叉树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413766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把用不上的空指针改成前驱后继的捷径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空指针到底有多少个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线索与两个标志位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四个基本操作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中序线索化算法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4152252" cy="205359"/>
            <a:chOff x="680466" y="6192202"/>
            <a:chExt cx="4152252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415225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自学复习版｜据吉林大学《数据结构》第 9 讲课件整理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10490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5916" y="407194"/>
              <a:ext cx="8998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第9讲 线索树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0" name="c1-agenda-1"/>
          <p:cNvGrpSpPr/>
          <p:nvPr/>
        </p:nvGrpSpPr>
        <p:grpSpPr>
          <a:xfrm>
            <a:off x="521970" y="1515428"/>
            <a:ext cx="6287453" cy="4461795"/>
            <a:chOff x="521970" y="1515428"/>
            <a:chExt cx="6287453" cy="4461795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151542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5086" y="155162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动机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6990" y="1868329"/>
              <a:ext cx="46654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没有父指针时找中根前驱后继有多费劲，空指针又浪费了多少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3468" y="218122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1970" y="228695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5086" y="2323148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基本概念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990" y="2639854"/>
              <a:ext cx="38038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线索、标志位、结点结构，三种线索二叉树的命名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73468" y="2953702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1970" y="305847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5086" y="3094673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四个基本操作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990" y="3412331"/>
              <a:ext cx="43207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找首结点、末结点、中根前驱、中根后继，以及整趟遍历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73468" y="3725228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1970" y="3830955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5086" y="3867150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中序线索化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990" y="4183856"/>
              <a:ext cx="332137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把中根遍历里的“访问结点”换成“建立线索”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73468" y="449770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1970" y="460248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5086" y="4638675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两种实现方案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6990" y="4955381"/>
              <a:ext cx="34569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一个字节的 Tag，和多两个指针的扩展二叉树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073468" y="5269230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1970" y="537495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65086" y="541115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先序与后序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66990" y="5727859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这两种线索树各自解决不了哪个问题</a:t>
              </a:r>
            </a:p>
          </p:txBody>
        </p:sp>
      </p:grpSp>
      <p:grpSp>
        <p:nvGrpSpPr>
          <p:cNvPr id="45" name="c2-card-1"/>
          <p:cNvGrpSpPr/>
          <p:nvPr/>
        </p:nvGrpSpPr>
        <p:grpSpPr>
          <a:xfrm>
            <a:off x="7114222" y="1524000"/>
            <a:ext cx="4544378" cy="4402455"/>
            <a:chOff x="7114222" y="1524000"/>
            <a:chExt cx="4544378" cy="4402455"/>
          </a:xfrm>
        </p:grpSpPr>
        <p:sp>
          <p:nvSpPr>
            <p:cNvPr id="31" name="Rectangle 31"/>
            <p:cNvSpPr/>
            <p:nvPr/>
          </p:nvSpPr>
          <p:spPr>
            <a:xfrm>
              <a:off x="7114222" y="1524000"/>
              <a:ext cx="4544378" cy="4402455"/>
            </a:xfrm>
            <a:prstGeom prst="roundRect">
              <a:avLst>
                <a:gd name="adj" fmla="val 30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7123748" y="1657350"/>
              <a:ext cx="47625" cy="413575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5702" y="2110740"/>
              <a:ext cx="36633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说出 n 个结点的二叉树有几个空指针域，线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索化后能挂上几条线索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67588" y="279463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25702" y="273177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给定一棵二叉树，画出中序线索二叉树并标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出每个结点的 LThread 与 RThread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67588" y="341566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25702" y="3352800"/>
              <a:ext cx="36728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写出 FirstInOrder 与 NextInOrder，并说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清各自复杂度成立的前提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367588" y="403669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525702" y="3973830"/>
              <a:ext cx="37109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手工模拟中序线索化算法，写出 p 与 pre 每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一步停在哪个结点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367588" y="465772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525702" y="459486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解释先序线索树为什么找不到先根前驱，后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序线索树为什么找不到后根后继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第9讲 线索二叉树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6023991" cy="3351847"/>
            <a:chOff x="667512" y="1835468"/>
            <a:chExt cx="6023991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42900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动机与基本概念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601408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从一道面试题出发，看看二叉树里那些空指针能派上什么用场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中根前驱与中根后继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有父指针时怎么找后继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空指针的个数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线索、标志位与结点结构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第9讲 线索二叉树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168063" cy="909257"/>
            <a:chOff x="520446" y="342900"/>
            <a:chExt cx="616806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第9讲 线索树 · 动机与基本概念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16806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引子：给定结点 p，怎么找它的中根后继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8234375" cy="278702"/>
            <a:chOff x="526161" y="1547336"/>
            <a:chExt cx="8234375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823437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中根序列中一个结点的前驱叫它的中根前驱，后继叫它的中根后继。先看结点里带父指针的情形。</a:t>
              </a:r>
            </a:p>
          </p:txBody>
        </p:sp>
      </p:grpSp>
      <p:grpSp>
        <p:nvGrpSpPr>
          <p:cNvPr id="15" name="c1-card-1"/>
          <p:cNvGrpSpPr/>
          <p:nvPr/>
        </p:nvGrpSpPr>
        <p:grpSpPr>
          <a:xfrm>
            <a:off x="533400" y="1941195"/>
            <a:ext cx="5085398" cy="1226820"/>
            <a:chOff x="533400" y="1941195"/>
            <a:chExt cx="5085398" cy="1226820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5085398" cy="1226820"/>
            </a:xfrm>
            <a:prstGeom prst="roundRect">
              <a:avLst>
                <a:gd name="adj" fmla="val 1087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74545"/>
              <a:ext cx="47625" cy="96012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3905" y="213360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55345" y="216789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练习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47597" y="2173605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腾讯面试题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7047" y="2507932"/>
              <a:ext cx="44714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已知二叉树的结点结构如下，给定一棵二叉树和其中一个结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 p，找出 p 的中根后继结点。</a:t>
              </a:r>
            </a:p>
          </p:txBody>
        </p:sp>
      </p:grpSp>
      <p:grpSp>
        <p:nvGrpSpPr>
          <p:cNvPr id="19" name="c1-code-2"/>
          <p:cNvGrpSpPr/>
          <p:nvPr/>
        </p:nvGrpSpPr>
        <p:grpSpPr>
          <a:xfrm>
            <a:off x="533400" y="3343275"/>
            <a:ext cx="5085398" cy="1468755"/>
            <a:chOff x="533400" y="3343275"/>
            <a:chExt cx="5085398" cy="1468755"/>
          </a:xfrm>
        </p:grpSpPr>
        <p:sp>
          <p:nvSpPr>
            <p:cNvPr id="16" name="Rectangle 16"/>
            <p:cNvSpPr/>
            <p:nvPr/>
          </p:nvSpPr>
          <p:spPr>
            <a:xfrm>
              <a:off x="533400" y="3343275"/>
              <a:ext cx="5085398" cy="1468755"/>
            </a:xfrm>
            <a:prstGeom prst="roundRect">
              <a:avLst>
                <a:gd name="adj" fmla="val 648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61797" y="34951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结点结构（这一页专用，带父指针）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61988" y="3755422"/>
              <a:ext cx="2557653" cy="9734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60"/>
                </a:lnSpc>
              </a:pP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typedef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struct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TreeNode {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data;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struct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TreeNode *parent;  </a:t>
              </a:r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父结点 */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struct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TreeNode *left;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struct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TreeNode *right;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 TreeNode;</a:t>
              </a:r>
            </a:p>
          </p:txBody>
        </p:sp>
      </p:grpSp>
      <p:grpSp>
        <p:nvGrpSpPr>
          <p:cNvPr id="26" name="c1-callout-3"/>
          <p:cNvGrpSpPr/>
          <p:nvPr/>
        </p:nvGrpSpPr>
        <p:grpSpPr>
          <a:xfrm>
            <a:off x="533400" y="4987290"/>
            <a:ext cx="5085398" cy="1226820"/>
            <a:chOff x="533400" y="4987290"/>
            <a:chExt cx="5085398" cy="1226820"/>
          </a:xfrm>
        </p:grpSpPr>
        <p:sp>
          <p:nvSpPr>
            <p:cNvPr id="20" name="Rectangle 20"/>
            <p:cNvSpPr/>
            <p:nvPr/>
          </p:nvSpPr>
          <p:spPr>
            <a:xfrm>
              <a:off x="533400" y="4987290"/>
              <a:ext cx="5085398" cy="1226820"/>
            </a:xfrm>
            <a:prstGeom prst="roundRect">
              <a:avLst>
                <a:gd name="adj" fmla="val 9317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738188" y="5500688"/>
              <a:ext cx="200026" cy="200026"/>
              <a:chOff x="738188" y="5500688"/>
              <a:chExt cx="200026" cy="200026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738188" y="55006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38200" y="55673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827088" y="560070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1040892" y="5133023"/>
              <a:ext cx="3905631" cy="10098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源课件写的是 </a:t>
              </a:r>
              <a:r>
                <a:rPr lang="en-US" sz="135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struct TreeNode{ … TreeNode</a:t>
              </a:r>
              <a:br/>
              <a:r>
                <a:rPr lang="en-US" sz="135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*parent; … }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，这是 C++ 的写法。标准 C 里要先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typedef 才能直接用 </a:t>
              </a:r>
              <a:r>
                <a:rPr lang="en-US" sz="135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TreeNode *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，算法本身一行没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改。</a:t>
              </a:r>
            </a:p>
          </p:txBody>
        </p:sp>
      </p:grpSp>
      <p:grpSp>
        <p:nvGrpSpPr>
          <p:cNvPr id="47" name="c2-tree-1"/>
          <p:cNvGrpSpPr/>
          <p:nvPr/>
        </p:nvGrpSpPr>
        <p:grpSpPr>
          <a:xfrm>
            <a:off x="6450330" y="2061210"/>
            <a:ext cx="4681538" cy="1624012"/>
            <a:chOff x="6450330" y="2061210"/>
            <a:chExt cx="4681538" cy="1624012"/>
          </a:xfrm>
        </p:grpSpPr>
        <p:sp>
          <p:nvSpPr>
            <p:cNvPr id="27" name="Freeform 27"/>
            <p:cNvSpPr/>
            <p:nvPr/>
          </p:nvSpPr>
          <p:spPr>
            <a:xfrm>
              <a:off x="6640830" y="2873692"/>
              <a:ext cx="716280" cy="621030"/>
            </a:xfrm>
            <a:custGeom>
              <a:avLst/>
              <a:gdLst/>
              <a:ahLst/>
              <a:cxnLst/>
              <a:rect l="l" t="t" r="r" b="b"/>
              <a:pathLst>
                <a:path w="716280" h="621030">
                  <a:moveTo>
                    <a:pt x="716280" y="0"/>
                  </a:moveTo>
                  <a:lnTo>
                    <a:pt x="0" y="62103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7357110" y="2873692"/>
              <a:ext cx="717233" cy="621030"/>
            </a:xfrm>
            <a:custGeom>
              <a:avLst/>
              <a:gdLst/>
              <a:ahLst/>
              <a:cxnLst/>
              <a:rect l="l" t="t" r="r" b="b"/>
              <a:pathLst>
                <a:path w="717233" h="621030">
                  <a:moveTo>
                    <a:pt x="0" y="0"/>
                  </a:moveTo>
                  <a:lnTo>
                    <a:pt x="717233" y="62103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9507855" y="2873692"/>
              <a:ext cx="717232" cy="621030"/>
            </a:xfrm>
            <a:custGeom>
              <a:avLst/>
              <a:gdLst/>
              <a:ahLst/>
              <a:cxnLst/>
              <a:rect l="l" t="t" r="r" b="b"/>
              <a:pathLst>
                <a:path w="717232" h="621030">
                  <a:moveTo>
                    <a:pt x="717232" y="0"/>
                  </a:moveTo>
                  <a:lnTo>
                    <a:pt x="0" y="62103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10225088" y="2873692"/>
              <a:ext cx="716280" cy="621030"/>
            </a:xfrm>
            <a:custGeom>
              <a:avLst/>
              <a:gdLst/>
              <a:ahLst/>
              <a:cxnLst/>
              <a:rect l="l" t="t" r="r" b="b"/>
              <a:pathLst>
                <a:path w="716280" h="621030">
                  <a:moveTo>
                    <a:pt x="0" y="0"/>
                  </a:moveTo>
                  <a:lnTo>
                    <a:pt x="716280" y="62103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7357110" y="2251710"/>
              <a:ext cx="1434465" cy="621982"/>
            </a:xfrm>
            <a:custGeom>
              <a:avLst/>
              <a:gdLst/>
              <a:ahLst/>
              <a:cxnLst/>
              <a:rect l="l" t="t" r="r" b="b"/>
              <a:pathLst>
                <a:path w="1434465" h="621982">
                  <a:moveTo>
                    <a:pt x="1434465" y="0"/>
                  </a:moveTo>
                  <a:lnTo>
                    <a:pt x="0" y="62198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8791575" y="2251710"/>
              <a:ext cx="1433512" cy="621982"/>
            </a:xfrm>
            <a:custGeom>
              <a:avLst/>
              <a:gdLst/>
              <a:ahLst/>
              <a:cxnLst/>
              <a:rect l="l" t="t" r="r" b="b"/>
              <a:pathLst>
                <a:path w="1433512" h="621982">
                  <a:moveTo>
                    <a:pt x="0" y="0"/>
                  </a:moveTo>
                  <a:lnTo>
                    <a:pt x="1433512" y="62198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3" name="Ellipse 33"/>
            <p:cNvSpPr/>
            <p:nvPr/>
          </p:nvSpPr>
          <p:spPr>
            <a:xfrm>
              <a:off x="6450330" y="3304222"/>
              <a:ext cx="381000" cy="3810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4" name="Ellipse 34"/>
            <p:cNvSpPr/>
            <p:nvPr/>
          </p:nvSpPr>
          <p:spPr>
            <a:xfrm>
              <a:off x="7883842" y="3304222"/>
              <a:ext cx="381000" cy="3810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5" name="Ellipse 35"/>
            <p:cNvSpPr/>
            <p:nvPr/>
          </p:nvSpPr>
          <p:spPr>
            <a:xfrm>
              <a:off x="7166610" y="2683192"/>
              <a:ext cx="381000" cy="3810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9317355" y="3304222"/>
              <a:ext cx="381000" cy="3810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7" name="Ellipse 37"/>
            <p:cNvSpPr/>
            <p:nvPr/>
          </p:nvSpPr>
          <p:spPr>
            <a:xfrm>
              <a:off x="10750868" y="3304222"/>
              <a:ext cx="381000" cy="3810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8" name="Ellipse 38"/>
            <p:cNvSpPr/>
            <p:nvPr/>
          </p:nvSpPr>
          <p:spPr>
            <a:xfrm>
              <a:off x="10034588" y="2683192"/>
              <a:ext cx="381000" cy="3810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9" name="Ellipse 39"/>
            <p:cNvSpPr/>
            <p:nvPr/>
          </p:nvSpPr>
          <p:spPr>
            <a:xfrm>
              <a:off x="8601075" y="2061210"/>
              <a:ext cx="381000" cy="3810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592371" y="3429000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025883" y="3429000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308651" y="2807970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459396" y="3429000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892908" y="3429000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176628" y="2807970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743116" y="2186940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</p:grpSp>
      <p:grpSp>
        <p:nvGrpSpPr>
          <p:cNvPr id="49" name="c2-text-2"/>
          <p:cNvGrpSpPr/>
          <p:nvPr/>
        </p:nvGrpSpPr>
        <p:grpSpPr>
          <a:xfrm>
            <a:off x="5917882" y="3999071"/>
            <a:ext cx="1710401" cy="220028"/>
            <a:chOff x="5917882" y="3999071"/>
            <a:chExt cx="1710401" cy="220028"/>
          </a:xfrm>
        </p:grpSpPr>
        <p:sp>
          <p:nvSpPr>
            <p:cNvPr id="48" name="TextBox 48"/>
            <p:cNvSpPr txBox="1"/>
            <p:nvPr/>
          </p:nvSpPr>
          <p:spPr>
            <a:xfrm>
              <a:off x="5917882" y="3999071"/>
              <a:ext cx="171040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中根序列：</a:t>
              </a:r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 B E A F C G</a:t>
              </a:r>
            </a:p>
          </p:txBody>
        </p:sp>
      </p:grpSp>
      <p:grpSp>
        <p:nvGrpSpPr>
          <p:cNvPr id="56" name="c2-card-3"/>
          <p:cNvGrpSpPr/>
          <p:nvPr/>
        </p:nvGrpSpPr>
        <p:grpSpPr>
          <a:xfrm>
            <a:off x="5923598" y="4349115"/>
            <a:ext cx="5735002" cy="1864042"/>
            <a:chOff x="5923598" y="4349115"/>
            <a:chExt cx="5735002" cy="1864042"/>
          </a:xfrm>
        </p:grpSpPr>
        <p:sp>
          <p:nvSpPr>
            <p:cNvPr id="50" name="Rectangle 50"/>
            <p:cNvSpPr/>
            <p:nvPr/>
          </p:nvSpPr>
          <p:spPr>
            <a:xfrm>
              <a:off x="5923598" y="4349115"/>
              <a:ext cx="5735002" cy="1864042"/>
            </a:xfrm>
            <a:prstGeom prst="roundRect">
              <a:avLst>
                <a:gd name="adj" fmla="val 7154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6116002" y="4541520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203442" y="457581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情形一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833044" y="4581525"/>
              <a:ext cx="9028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 有右孩子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109144" y="4915852"/>
              <a:ext cx="5028629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p 的中根后继就是 </a:t>
              </a:r>
              <a:r>
                <a:rPr lang="zh-CN" sz="135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p 的右子树的中根序列的第 1 个结点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，也就是右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子树里最左下的那个结点。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110288" y="5471636"/>
              <a:ext cx="5089398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图中 A 有右子树 C，C 的最左下是 F，所以 A 的后继是 F；B 的右孩子 E 本身就是</a:t>
              </a:r>
              <a:br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叶结点，B 的后继是 E。</a:t>
              </a:r>
            </a:p>
          </p:txBody>
        </p:sp>
      </p:grpSp>
      <p:grpSp>
        <p:nvGrpSpPr>
          <p:cNvPr id="5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7" name="TextBox 57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第9讲 线索二叉树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672104" cy="909257"/>
            <a:chOff x="520446" y="342900"/>
            <a:chExt cx="96721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第9讲 线索树 · 动机与基本概念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6721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情形二：p 没有右孩子时，往上找把 p 含在左子树里的最低祖先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735002" cy="2821305"/>
            <a:chOff x="533400" y="1524000"/>
            <a:chExt cx="5735002" cy="28213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735002" cy="2821305"/>
            </a:xfrm>
            <a:prstGeom prst="roundRect">
              <a:avLst>
                <a:gd name="adj" fmla="val 337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两种情形合在一起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988" y="1935766"/>
              <a:ext cx="4028821" cy="23336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05"/>
                </a:lnSpc>
              </a:pP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TreeNode *NextWithParent(TreeNode *p)</a:t>
              </a:r>
              <a:br/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{</a:t>
              </a:r>
              <a:br/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TreeNode *q;</a:t>
              </a:r>
              <a:br/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(p-&gt;right != </a:t>
              </a:r>
              <a:r>
                <a:rPr lang="en-US" sz="9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 {          </a:t>
              </a:r>
              <a:r>
                <a:rPr lang="zh-CN" sz="9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情形一 */</a:t>
              </a:r>
              <a:br/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q = p-&gt;right;</a:t>
              </a:r>
              <a:br/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(q-&gt;left != </a:t>
              </a:r>
              <a:r>
                <a:rPr lang="en-US" sz="9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</a:t>
              </a:r>
              <a:br/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q = q-&gt;left;             </a:t>
              </a:r>
              <a:r>
                <a:rPr lang="zh-CN" sz="9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右子树最左下 */</a:t>
              </a:r>
              <a:br/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q;</a:t>
              </a:r>
              <a:br/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q = p;                           </a:t>
              </a:r>
              <a:r>
                <a:rPr lang="zh-CN" sz="9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情形二 */</a:t>
              </a:r>
              <a:br/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(q-&gt;parent != </a:t>
              </a:r>
              <a:r>
                <a:rPr lang="en-US" sz="9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&amp;&amp; q-&gt;parent-&gt;left != q)</a:t>
              </a:r>
              <a:br/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q = q-&gt;parent;               </a:t>
              </a:r>
              <a:r>
                <a:rPr lang="zh-CN" sz="9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一直爬到自己是左孩子 */</a:t>
              </a:r>
              <a:br/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q-&gt;parent;                </a:t>
              </a:r>
              <a:r>
                <a:rPr lang="zh-CN" sz="9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没有这种祖先就是 NULL */</a:t>
              </a:r>
              <a:br/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9" name="c1-card-2"/>
          <p:cNvGrpSpPr/>
          <p:nvPr/>
        </p:nvGrpSpPr>
        <p:grpSpPr>
          <a:xfrm>
            <a:off x="533400" y="4526280"/>
            <a:ext cx="5735002" cy="1797368"/>
            <a:chOff x="533400" y="4526280"/>
            <a:chExt cx="5735002" cy="1797368"/>
          </a:xfrm>
        </p:grpSpPr>
        <p:sp>
          <p:nvSpPr>
            <p:cNvPr id="11" name="Rectangle 11"/>
            <p:cNvSpPr/>
            <p:nvPr/>
          </p:nvSpPr>
          <p:spPr>
            <a:xfrm>
              <a:off x="533400" y="4526280"/>
              <a:ext cx="5735002" cy="1797368"/>
            </a:xfrm>
            <a:prstGeom prst="roundRect">
              <a:avLst>
                <a:gd name="adj" fmla="val 7419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731520" y="4724400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18959" y="475869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复杂度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39140" y="5144452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95731" y="5084921"/>
              <a:ext cx="400807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有父指针：每次最多爬 h 层或下行 h 层，</a:t>
              </a:r>
              <a:r>
                <a:rPr lang="en-US" sz="1420" b="1" dirty="0">
                  <a:solidFill>
                    <a:srgbClr val="A8EFD9"/>
                  </a:solidFill>
                  <a:latin typeface="+mn-lt"/>
                  <a:ea typeface="+mn-ea"/>
                  <a:cs typeface="+mn-cs"/>
                </a:rPr>
                <a:t>O(h)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39140" y="5462588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95731" y="5402104"/>
              <a:ext cx="37595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没有父指针：只能重做一趟中根遍历，</a:t>
              </a:r>
              <a:r>
                <a:rPr lang="en-US" sz="1420" b="1" dirty="0">
                  <a:solidFill>
                    <a:srgbClr val="FFC2BD"/>
                  </a:solidFill>
                  <a:latin typeface="+mn-lt"/>
                  <a:ea typeface="+mn-ea"/>
                  <a:cs typeface="+mn-cs"/>
                </a:rPr>
                <a:t>O(n)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25424" y="5716905"/>
              <a:ext cx="497281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本课程约定根的层数为 0、树高等于最深结点的层数，所以完全二叉树 h =</a:t>
              </a:r>
              <a:br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⌊log₂n⌋，O(h) 即 O(log n)；单支链 h = n−1，O(h) 退化成 O(n)。</a:t>
              </a:r>
            </a:p>
          </p:txBody>
        </p:sp>
      </p:grpSp>
      <p:grpSp>
        <p:nvGrpSpPr>
          <p:cNvPr id="66" name="c2-table-1"/>
          <p:cNvGrpSpPr/>
          <p:nvPr/>
        </p:nvGrpSpPr>
        <p:grpSpPr>
          <a:xfrm>
            <a:off x="6573202" y="1524000"/>
            <a:ext cx="5085398" cy="3395662"/>
            <a:chOff x="6573202" y="1524000"/>
            <a:chExt cx="5085398" cy="3395662"/>
          </a:xfrm>
        </p:grpSpPr>
        <p:sp>
          <p:nvSpPr>
            <p:cNvPr id="20" name="Rectangle 20"/>
            <p:cNvSpPr/>
            <p:nvPr/>
          </p:nvSpPr>
          <p:spPr>
            <a:xfrm>
              <a:off x="6573202" y="1524000"/>
              <a:ext cx="5085398" cy="42481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761798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结点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434834" y="1652588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有无右孩子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531924" y="165258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中根后继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321290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依据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675692" y="2076450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387209" y="207645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506396" y="2076450"/>
              <a:ext cx="1060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421749" y="2076450"/>
              <a:ext cx="14843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把 D 含在左子树里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573202" y="2367915"/>
              <a:ext cx="508539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573202" y="2372678"/>
              <a:ext cx="5085398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675692" y="2501265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387209" y="2501265"/>
              <a:ext cx="31882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 E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506396" y="2501265"/>
              <a:ext cx="1060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421749" y="2501265"/>
              <a:ext cx="166237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右子树只有 E 一个结点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573202" y="2792730"/>
              <a:ext cx="508539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675692" y="2926080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387209" y="292608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506396" y="2926080"/>
              <a:ext cx="1060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421749" y="2926080"/>
              <a:ext cx="15355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爬到 B 是 A 的左孩子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573202" y="3216592"/>
              <a:ext cx="508539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573202" y="3221355"/>
              <a:ext cx="5085398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675692" y="3349942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387209" y="3349942"/>
              <a:ext cx="31882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 C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506396" y="3349942"/>
              <a:ext cx="1060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421749" y="3349942"/>
              <a:ext cx="11100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 的最左下是 F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573202" y="3641408"/>
              <a:ext cx="508539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675692" y="3774757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387209" y="3774757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506396" y="3774757"/>
              <a:ext cx="1060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421749" y="3774757"/>
              <a:ext cx="14843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 把 F 含在左子树里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573202" y="4066222"/>
              <a:ext cx="508539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6573202" y="4070985"/>
              <a:ext cx="5085398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675692" y="4198620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387209" y="4198620"/>
              <a:ext cx="31882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 G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506396" y="4198620"/>
              <a:ext cx="1060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421749" y="4198620"/>
              <a:ext cx="166237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右子树只有 G 一个结点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6573202" y="4490085"/>
              <a:ext cx="508539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675692" y="4623435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387209" y="4623435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506396" y="4623435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421749" y="4623435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一路爬到根也没有这种祖先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6573202" y="1524000"/>
              <a:ext cx="5085398" cy="33956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7279958" y="1524000"/>
              <a:ext cx="9525" cy="33956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8399145" y="1524000"/>
              <a:ext cx="9525" cy="33956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9314498" y="1524000"/>
              <a:ext cx="9525" cy="33956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3" name="c2-callout-2"/>
          <p:cNvGrpSpPr/>
          <p:nvPr/>
        </p:nvGrpSpPr>
        <p:grpSpPr>
          <a:xfrm>
            <a:off x="6573202" y="5099685"/>
            <a:ext cx="5085398" cy="1223010"/>
            <a:chOff x="6573202" y="5099685"/>
            <a:chExt cx="5085398" cy="1223010"/>
          </a:xfrm>
        </p:grpSpPr>
        <p:sp>
          <p:nvSpPr>
            <p:cNvPr id="67" name="Rectangle 67"/>
            <p:cNvSpPr/>
            <p:nvPr/>
          </p:nvSpPr>
          <p:spPr>
            <a:xfrm>
              <a:off x="6573202" y="5099685"/>
              <a:ext cx="5085398" cy="1223010"/>
            </a:xfrm>
            <a:prstGeom prst="roundRect">
              <a:avLst>
                <a:gd name="adj" fmla="val 934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1" name="Group 71"/>
            <p:cNvGrpSpPr/>
            <p:nvPr/>
          </p:nvGrpSpPr>
          <p:grpSpPr>
            <a:xfrm>
              <a:off x="6777990" y="5611178"/>
              <a:ext cx="200026" cy="200025"/>
              <a:chOff x="6777990" y="5611178"/>
              <a:chExt cx="200026" cy="200025"/>
            </a:xfrm>
          </p:grpSpPr>
          <p:sp>
            <p:nvSpPr>
              <p:cNvPr id="68" name="Freeform 68"/>
              <p:cNvSpPr/>
              <p:nvPr/>
            </p:nvSpPr>
            <p:spPr>
              <a:xfrm>
                <a:off x="6777990" y="561117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6817729" y="565562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6852444" y="576675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2" name="TextBox 72"/>
            <p:cNvSpPr txBox="1"/>
            <p:nvPr/>
          </p:nvSpPr>
          <p:spPr>
            <a:xfrm>
              <a:off x="7080314" y="5349716"/>
              <a:ext cx="4189349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情形二的循环可以这样记：只要 q 还是父结点的右孩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子，父结点就已经在 q 之前访问过了，得继续往上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爬。</a:t>
              </a:r>
            </a:p>
          </p:txBody>
        </p:sp>
      </p:grpSp>
      <p:grpSp>
        <p:nvGrpSpPr>
          <p:cNvPr id="7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4" name="TextBox 74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第9讲 线索二叉树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294495" cy="909257"/>
            <a:chOff x="520446" y="342900"/>
            <a:chExt cx="929449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第9讲 线索树 · 动机与基本概念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29449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动机一：结点里没有父指针时，找前驱后继只能重走一趟遍历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4" name="c1-tree-1"/>
          <p:cNvGrpSpPr/>
          <p:nvPr/>
        </p:nvGrpSpPr>
        <p:grpSpPr>
          <a:xfrm>
            <a:off x="1514475" y="1618298"/>
            <a:ext cx="2799397" cy="2240280"/>
            <a:chOff x="1514475" y="1618298"/>
            <a:chExt cx="2799397" cy="2240280"/>
          </a:xfrm>
        </p:grpSpPr>
        <p:sp>
          <p:nvSpPr>
            <p:cNvPr id="7" name="Freeform 7"/>
            <p:cNvSpPr/>
            <p:nvPr/>
          </p:nvSpPr>
          <p:spPr>
            <a:xfrm>
              <a:off x="2021205" y="3042285"/>
              <a:ext cx="297180" cy="606743"/>
            </a:xfrm>
            <a:custGeom>
              <a:avLst/>
              <a:gdLst/>
              <a:ahLst/>
              <a:cxnLst/>
              <a:rect l="l" t="t" r="r" b="b"/>
              <a:pathLst>
                <a:path w="297180" h="606743">
                  <a:moveTo>
                    <a:pt x="297180" y="0"/>
                  </a:moveTo>
                  <a:lnTo>
                    <a:pt x="0" y="60674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724025" y="2434590"/>
              <a:ext cx="594360" cy="607695"/>
            </a:xfrm>
            <a:custGeom>
              <a:avLst/>
              <a:gdLst/>
              <a:ahLst/>
              <a:cxnLst/>
              <a:rect l="l" t="t" r="r" b="b"/>
              <a:pathLst>
                <a:path w="594360" h="607695">
                  <a:moveTo>
                    <a:pt x="0" y="0"/>
                  </a:moveTo>
                  <a:lnTo>
                    <a:pt x="594360" y="60769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3509010" y="2434590"/>
              <a:ext cx="595312" cy="607695"/>
            </a:xfrm>
            <a:custGeom>
              <a:avLst/>
              <a:gdLst/>
              <a:ahLst/>
              <a:cxnLst/>
              <a:rect l="l" t="t" r="r" b="b"/>
              <a:pathLst>
                <a:path w="595312" h="607695">
                  <a:moveTo>
                    <a:pt x="595312" y="0"/>
                  </a:moveTo>
                  <a:lnTo>
                    <a:pt x="0" y="60769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724025" y="1827848"/>
              <a:ext cx="1189672" cy="606742"/>
            </a:xfrm>
            <a:custGeom>
              <a:avLst/>
              <a:gdLst/>
              <a:ahLst/>
              <a:cxnLst/>
              <a:rect l="l" t="t" r="r" b="b"/>
              <a:pathLst>
                <a:path w="1189672" h="606742">
                  <a:moveTo>
                    <a:pt x="1189672" y="0"/>
                  </a:moveTo>
                  <a:lnTo>
                    <a:pt x="0" y="60674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2913698" y="1827848"/>
              <a:ext cx="1190625" cy="606742"/>
            </a:xfrm>
            <a:custGeom>
              <a:avLst/>
              <a:gdLst/>
              <a:ahLst/>
              <a:cxnLst/>
              <a:rect l="l" t="t" r="r" b="b"/>
              <a:pathLst>
                <a:path w="1190625" h="606742">
                  <a:moveTo>
                    <a:pt x="0" y="0"/>
                  </a:moveTo>
                  <a:lnTo>
                    <a:pt x="1190625" y="60674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1811655" y="3439478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2108835" y="2832735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1514475" y="2225040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3299460" y="2832735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3894772" y="2225040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2704148" y="1618298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969490" y="3579019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266670" y="297227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672310" y="236458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457295" y="297227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052607" y="236458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861982" y="1757839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</p:grpSp>
      <p:grpSp>
        <p:nvGrpSpPr>
          <p:cNvPr id="26" name="c1-text-2"/>
          <p:cNvGrpSpPr/>
          <p:nvPr/>
        </p:nvGrpSpPr>
        <p:grpSpPr>
          <a:xfrm>
            <a:off x="526923" y="4164806"/>
            <a:ext cx="2136768" cy="249364"/>
            <a:chOff x="526923" y="4164806"/>
            <a:chExt cx="2136768" cy="249364"/>
          </a:xfrm>
        </p:grpSpPr>
        <p:sp>
          <p:nvSpPr>
            <p:cNvPr id="25" name="TextBox 25"/>
            <p:cNvSpPr txBox="1"/>
            <p:nvPr/>
          </p:nvSpPr>
          <p:spPr>
            <a:xfrm>
              <a:off x="526923" y="4164806"/>
              <a:ext cx="21367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中根遍历序列：</a:t>
              </a:r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D C A F E</a:t>
              </a:r>
            </a:p>
          </p:txBody>
        </p:sp>
      </p:grpSp>
      <p:grpSp>
        <p:nvGrpSpPr>
          <p:cNvPr id="33" name="c2-bullets-1"/>
          <p:cNvGrpSpPr/>
          <p:nvPr/>
        </p:nvGrpSpPr>
        <p:grpSpPr>
          <a:xfrm>
            <a:off x="5604510" y="1548765"/>
            <a:ext cx="5697855" cy="1268730"/>
            <a:chOff x="5604510" y="1548765"/>
            <a:chExt cx="5697855" cy="1268730"/>
          </a:xfrm>
        </p:grpSpPr>
        <p:sp>
          <p:nvSpPr>
            <p:cNvPr id="27" name="Ellipse 27"/>
            <p:cNvSpPr/>
            <p:nvPr/>
          </p:nvSpPr>
          <p:spPr>
            <a:xfrm>
              <a:off x="5604510" y="161163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762625" y="1548765"/>
              <a:ext cx="5539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在二叉树上（结点无父指针域）只能找到结点的左孩子、右孩子；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要找中根、先根、后根的前驱和后继，只能通过遍历。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5604510" y="224218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762625" y="2179320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能不能更快地找到给定结点的前驱和后继？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5604510" y="258699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762625" y="2524125"/>
              <a:ext cx="46596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二叉树的结点里有很多空指针，白白占着存储空间。</a:t>
              </a:r>
            </a:p>
          </p:txBody>
        </p:sp>
      </p:grpSp>
      <p:grpSp>
        <p:nvGrpSpPr>
          <p:cNvPr id="41" name="c2-card-2"/>
          <p:cNvGrpSpPr/>
          <p:nvPr/>
        </p:nvGrpSpPr>
        <p:grpSpPr>
          <a:xfrm>
            <a:off x="5598795" y="2948940"/>
            <a:ext cx="6059805" cy="1866900"/>
            <a:chOff x="5598795" y="2948940"/>
            <a:chExt cx="6059805" cy="1866900"/>
          </a:xfrm>
        </p:grpSpPr>
        <p:sp>
          <p:nvSpPr>
            <p:cNvPr id="34" name="Rectangle 34"/>
            <p:cNvSpPr/>
            <p:nvPr/>
          </p:nvSpPr>
          <p:spPr>
            <a:xfrm>
              <a:off x="5598795" y="2948940"/>
              <a:ext cx="6059805" cy="1866900"/>
            </a:xfrm>
            <a:prstGeom prst="roundRect">
              <a:avLst>
                <a:gd name="adj" fmla="val 714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5608320" y="3082290"/>
              <a:ext cx="47625" cy="160020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5846445" y="315849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937606" y="319420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447473" y="3193732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中根前驱与中根后继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838825" y="3554730"/>
              <a:ext cx="52158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中根序列中某个结点的前一个结点叫它的 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中根前驱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，后一个结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点叫它的 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中根后继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。先根、后根序列同理。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839968" y="4172426"/>
              <a:ext cx="530428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上图中 D 的中根前驱是 B、中根后继是 C；A 的中根前驱是 C、中根后继是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F。</a:t>
              </a:r>
            </a:p>
          </p:txBody>
        </p:sp>
      </p:grpSp>
      <p:grpSp>
        <p:nvGrpSpPr>
          <p:cNvPr id="47" name="c2-callout-3"/>
          <p:cNvGrpSpPr/>
          <p:nvPr/>
        </p:nvGrpSpPr>
        <p:grpSpPr>
          <a:xfrm>
            <a:off x="5598795" y="5006340"/>
            <a:ext cx="6059805" cy="782955"/>
            <a:chOff x="5598795" y="5006340"/>
            <a:chExt cx="6059805" cy="782955"/>
          </a:xfrm>
        </p:grpSpPr>
        <p:sp>
          <p:nvSpPr>
            <p:cNvPr id="42" name="Rectangle 42"/>
            <p:cNvSpPr/>
            <p:nvPr/>
          </p:nvSpPr>
          <p:spPr>
            <a:xfrm>
              <a:off x="5598795" y="5006340"/>
              <a:ext cx="6059805" cy="782955"/>
            </a:xfrm>
            <a:prstGeom prst="roundRect">
              <a:avLst>
                <a:gd name="adj" fmla="val 14599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5803583" y="5297807"/>
              <a:ext cx="200023" cy="200023"/>
              <a:chOff x="5803583" y="5297807"/>
              <a:chExt cx="200023" cy="200023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5803583" y="529780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5936933" y="536448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6105525" y="5154930"/>
              <a:ext cx="48253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遍历一趟是 O(n)。如果程序要反复问“这个结点的后继是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谁”，每问一次就重走一趟，代价太高。</a:t>
              </a:r>
            </a:p>
          </p:txBody>
        </p:sp>
      </p:grpSp>
      <p:grpSp>
        <p:nvGrpSpPr>
          <p:cNvPr id="5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8" name="TextBox 48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第9讲 线索二叉树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863871" cy="909257"/>
            <a:chOff x="520446" y="342900"/>
            <a:chExt cx="78638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第9讲 线索树 · 动机与基本概念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8638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动机二：2n 个指针域里，只有 n−1 个真正指向孩子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4" name="c1-tree-1"/>
          <p:cNvGrpSpPr/>
          <p:nvPr/>
        </p:nvGrpSpPr>
        <p:grpSpPr>
          <a:xfrm>
            <a:off x="1085850" y="1573530"/>
            <a:ext cx="2546985" cy="1722120"/>
            <a:chOff x="1085850" y="1573530"/>
            <a:chExt cx="2546985" cy="1722120"/>
          </a:xfrm>
        </p:grpSpPr>
        <p:sp>
          <p:nvSpPr>
            <p:cNvPr id="7" name="Freeform 7"/>
            <p:cNvSpPr/>
            <p:nvPr/>
          </p:nvSpPr>
          <p:spPr>
            <a:xfrm>
              <a:off x="2359342" y="2662238"/>
              <a:ext cx="364808" cy="455295"/>
            </a:xfrm>
            <a:custGeom>
              <a:avLst/>
              <a:gdLst/>
              <a:ahLst/>
              <a:cxnLst/>
              <a:rect l="l" t="t" r="r" b="b"/>
              <a:pathLst>
                <a:path w="364808" h="455295">
                  <a:moveTo>
                    <a:pt x="364808" y="0"/>
                  </a:moveTo>
                  <a:lnTo>
                    <a:pt x="0" y="45529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724150" y="2662238"/>
              <a:ext cx="365760" cy="455295"/>
            </a:xfrm>
            <a:custGeom>
              <a:avLst/>
              <a:gdLst/>
              <a:ahLst/>
              <a:cxnLst/>
              <a:rect l="l" t="t" r="r" b="b"/>
              <a:pathLst>
                <a:path w="365760" h="455295">
                  <a:moveTo>
                    <a:pt x="0" y="0"/>
                  </a:moveTo>
                  <a:lnTo>
                    <a:pt x="365760" y="45529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1263968" y="2206942"/>
              <a:ext cx="730568" cy="455295"/>
            </a:xfrm>
            <a:custGeom>
              <a:avLst/>
              <a:gdLst/>
              <a:ahLst/>
              <a:cxnLst/>
              <a:rect l="l" t="t" r="r" b="b"/>
              <a:pathLst>
                <a:path w="730568" h="455295">
                  <a:moveTo>
                    <a:pt x="730568" y="0"/>
                  </a:moveTo>
                  <a:lnTo>
                    <a:pt x="0" y="45529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994535" y="2206942"/>
              <a:ext cx="729615" cy="455295"/>
            </a:xfrm>
            <a:custGeom>
              <a:avLst/>
              <a:gdLst/>
              <a:ahLst/>
              <a:cxnLst/>
              <a:rect l="l" t="t" r="r" b="b"/>
              <a:pathLst>
                <a:path w="729615" h="455295">
                  <a:moveTo>
                    <a:pt x="0" y="0"/>
                  </a:moveTo>
                  <a:lnTo>
                    <a:pt x="729615" y="45529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994535" y="1751648"/>
              <a:ext cx="1460182" cy="455295"/>
            </a:xfrm>
            <a:custGeom>
              <a:avLst/>
              <a:gdLst/>
              <a:ahLst/>
              <a:cxnLst/>
              <a:rect l="l" t="t" r="r" b="b"/>
              <a:pathLst>
                <a:path w="1460182" h="455295">
                  <a:moveTo>
                    <a:pt x="1460182" y="0"/>
                  </a:moveTo>
                  <a:lnTo>
                    <a:pt x="0" y="45529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1085850" y="2484120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2181225" y="2939415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2911792" y="2939415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2546032" y="2484120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1816418" y="2028825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3276600" y="1573530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218764" y="2601754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314139" y="3057049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044707" y="3057049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678947" y="2601754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949332" y="2146459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409514" y="1691164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</p:grpSp>
      <p:grpSp>
        <p:nvGrpSpPr>
          <p:cNvPr id="32" name="c1-card-2"/>
          <p:cNvGrpSpPr/>
          <p:nvPr/>
        </p:nvGrpSpPr>
        <p:grpSpPr>
          <a:xfrm>
            <a:off x="533400" y="3510915"/>
            <a:ext cx="5842635" cy="1444942"/>
            <a:chOff x="533400" y="3510915"/>
            <a:chExt cx="5842635" cy="1444942"/>
          </a:xfrm>
        </p:grpSpPr>
        <p:sp>
          <p:nvSpPr>
            <p:cNvPr id="25" name="Rectangle 25"/>
            <p:cNvSpPr/>
            <p:nvPr/>
          </p:nvSpPr>
          <p:spPr>
            <a:xfrm>
              <a:off x="533400" y="3510915"/>
              <a:ext cx="5842635" cy="1444942"/>
            </a:xfrm>
            <a:prstGeom prst="roundRect">
              <a:avLst>
                <a:gd name="adj" fmla="val 92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542925" y="3644265"/>
              <a:ext cx="47625" cy="1178242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752475" y="369189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45147" y="372475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计数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318450" y="3731419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空指针域的个数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45998" y="4047649"/>
              <a:ext cx="5150663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n 个结点共有 </a:t>
              </a:r>
              <a:r>
                <a:rPr lang="en-US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2n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个指针域。每个非空指针域正好对应树中的一条边，而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n 个结点的树只有 </a:t>
              </a:r>
              <a:r>
                <a:rPr lang="en-US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n−1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条边。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45998" y="4575334"/>
              <a:ext cx="521380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所以空指针域有 2n − (n−1) = </a:t>
              </a:r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n+1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个。上图 n = 6，空指针域 7 个。</a:t>
              </a:r>
            </a:p>
          </p:txBody>
        </p:sp>
      </p:grpSp>
      <p:grpSp>
        <p:nvGrpSpPr>
          <p:cNvPr id="38" name="c1-card-3"/>
          <p:cNvGrpSpPr/>
          <p:nvPr/>
        </p:nvGrpSpPr>
        <p:grpSpPr>
          <a:xfrm>
            <a:off x="533400" y="5120640"/>
            <a:ext cx="5842635" cy="1143952"/>
            <a:chOff x="533400" y="5120640"/>
            <a:chExt cx="5842635" cy="1143952"/>
          </a:xfrm>
        </p:grpSpPr>
        <p:sp>
          <p:nvSpPr>
            <p:cNvPr id="33" name="Rectangle 33"/>
            <p:cNvSpPr/>
            <p:nvPr/>
          </p:nvSpPr>
          <p:spPr>
            <a:xfrm>
              <a:off x="533400" y="5120640"/>
              <a:ext cx="5842635" cy="1143952"/>
            </a:xfrm>
            <a:prstGeom prst="roundRect">
              <a:avLst>
                <a:gd name="adj" fmla="val 116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542925" y="5253990"/>
              <a:ext cx="47625" cy="87725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752475" y="530161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45147" y="533447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45998" y="5642134"/>
              <a:ext cx="501980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源课件第 10 页的链接结构图只标了 6 个 ∧，E 的右指针域漏标。n = 6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的二叉树应当有 7 个空指针域。</a:t>
              </a:r>
            </a:p>
          </p:txBody>
        </p:sp>
      </p:grpSp>
      <p:grpSp>
        <p:nvGrpSpPr>
          <p:cNvPr id="41" name="c2-image-1"/>
          <p:cNvGrpSpPr/>
          <p:nvPr/>
        </p:nvGrpSpPr>
        <p:grpSpPr>
          <a:xfrm>
            <a:off x="7317778" y="1524000"/>
            <a:ext cx="3703879" cy="1739931"/>
            <a:chOff x="7317778" y="1524000"/>
            <a:chExt cx="3703879" cy="1739931"/>
          </a:xfrm>
        </p:grpSpPr>
        <p:pic>
          <p:nvPicPr>
            <p:cNvPr id="39" name="Image 3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198168" y="1524000"/>
              <a:ext cx="1943100" cy="1457325"/>
            </a:xfrm>
            <a:prstGeom prst="roundRect">
              <a:avLst>
                <a:gd name="adj" fmla="val 9150"/>
              </a:avLst>
            </a:prstGeom>
          </p:spPr>
        </p:pic>
        <p:sp>
          <p:nvSpPr>
            <p:cNvPr id="40" name="TextBox 40"/>
            <p:cNvSpPr txBox="1"/>
            <p:nvPr/>
          </p:nvSpPr>
          <p:spPr>
            <a:xfrm>
              <a:off x="7317778" y="3073241"/>
              <a:ext cx="370387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分叉的框架上，空着的挂钩被红绳两两连起来，没有新增一根杆</a:t>
              </a:r>
            </a:p>
          </p:txBody>
        </p:sp>
      </p:grpSp>
      <p:grpSp>
        <p:nvGrpSpPr>
          <p:cNvPr id="72" name="c2-table-2"/>
          <p:cNvGrpSpPr/>
          <p:nvPr/>
        </p:nvGrpSpPr>
        <p:grpSpPr>
          <a:xfrm>
            <a:off x="6680835" y="3409950"/>
            <a:ext cx="4977765" cy="1906905"/>
            <a:chOff x="6680835" y="3409950"/>
            <a:chExt cx="4977765" cy="1906905"/>
          </a:xfrm>
        </p:grpSpPr>
        <p:sp>
          <p:nvSpPr>
            <p:cNvPr id="42" name="Rectangle 42"/>
            <p:cNvSpPr/>
            <p:nvPr/>
          </p:nvSpPr>
          <p:spPr>
            <a:xfrm>
              <a:off x="6680835" y="3409950"/>
              <a:ext cx="4977765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182373" y="352710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101704" y="3527108"/>
              <a:ext cx="64250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指针域 2n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429369" y="352710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指向孩子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723816" y="352710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空指针域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775514" y="390810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870888" y="390810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165336" y="390810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458831" y="390810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680835" y="4168140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6680835" y="4172902"/>
              <a:ext cx="497776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775514" y="429006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870888" y="429006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165336" y="429006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458831" y="429006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6680835" y="4549140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775514" y="467106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870888" y="467106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165336" y="467106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0458831" y="467106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6680835" y="4930140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6680835" y="4934902"/>
              <a:ext cx="497776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775514" y="505301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870888" y="505301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9165336" y="505301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0458831" y="505301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6680835" y="3409950"/>
              <a:ext cx="4977765" cy="1906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9" name="Rectangle 69"/>
            <p:cNvSpPr/>
            <p:nvPr/>
          </p:nvSpPr>
          <p:spPr>
            <a:xfrm>
              <a:off x="7771448" y="3409950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9065895" y="3409950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1" name="Rectangle 71"/>
            <p:cNvSpPr/>
            <p:nvPr/>
          </p:nvSpPr>
          <p:spPr>
            <a:xfrm>
              <a:off x="10359390" y="3409950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8" name="c2-callout-3"/>
          <p:cNvGrpSpPr/>
          <p:nvPr/>
        </p:nvGrpSpPr>
        <p:grpSpPr>
          <a:xfrm>
            <a:off x="6680835" y="5481638"/>
            <a:ext cx="4977765" cy="782955"/>
            <a:chOff x="6680835" y="5481638"/>
            <a:chExt cx="4977765" cy="782955"/>
          </a:xfrm>
        </p:grpSpPr>
        <p:sp>
          <p:nvSpPr>
            <p:cNvPr id="73" name="Rectangle 73"/>
            <p:cNvSpPr/>
            <p:nvPr/>
          </p:nvSpPr>
          <p:spPr>
            <a:xfrm>
              <a:off x="6680835" y="5481638"/>
              <a:ext cx="4977765" cy="782955"/>
            </a:xfrm>
            <a:prstGeom prst="roundRect">
              <a:avLst>
                <a:gd name="adj" fmla="val 14599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76" name="Group 76"/>
            <p:cNvGrpSpPr/>
            <p:nvPr/>
          </p:nvGrpSpPr>
          <p:grpSpPr>
            <a:xfrm>
              <a:off x="6885623" y="5773105"/>
              <a:ext cx="200023" cy="200023"/>
              <a:chOff x="6885623" y="5773105"/>
              <a:chExt cx="200023" cy="200023"/>
            </a:xfrm>
          </p:grpSpPr>
          <p:sp>
            <p:nvSpPr>
              <p:cNvPr id="74" name="Freeform 74"/>
              <p:cNvSpPr/>
              <p:nvPr/>
            </p:nvSpPr>
            <p:spPr>
              <a:xfrm>
                <a:off x="6885623" y="577310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7018973" y="583977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7" name="TextBox 77"/>
            <p:cNvSpPr txBox="1"/>
            <p:nvPr/>
          </p:nvSpPr>
          <p:spPr>
            <a:xfrm>
              <a:off x="7188708" y="5666899"/>
              <a:ext cx="407695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可以把这些空指针利用起来：让它们指向结点的中根前驱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或中根后继。</a:t>
              </a:r>
            </a:p>
          </p:txBody>
        </p:sp>
      </p:grpSp>
      <p:grpSp>
        <p:nvGrpSpPr>
          <p:cNvPr id="8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9" name="TextBox 79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第9讲 线索二叉树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0324338" cy="909257"/>
            <a:chOff x="520446" y="342900"/>
            <a:chExt cx="1032433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第9讲 线索树 · 动机与基本概念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032433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线索二叉树：空指针改指前驱或后继，再加一位标志说明它指的是谁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bullets-1"/>
          <p:cNvGrpSpPr/>
          <p:nvPr/>
        </p:nvGrpSpPr>
        <p:grpSpPr>
          <a:xfrm>
            <a:off x="533400" y="1545907"/>
            <a:ext cx="5154168" cy="1658493"/>
            <a:chOff x="533400" y="1545907"/>
            <a:chExt cx="5154168" cy="1658493"/>
          </a:xfrm>
        </p:grpSpPr>
        <p:sp>
          <p:nvSpPr>
            <p:cNvPr id="7" name="Freeform 7"/>
            <p:cNvSpPr/>
            <p:nvPr/>
          </p:nvSpPr>
          <p:spPr>
            <a:xfrm>
              <a:off x="533400" y="1574482"/>
              <a:ext cx="129540" cy="104775"/>
            </a:xfrm>
            <a:custGeom>
              <a:avLst/>
              <a:gdLst/>
              <a:ahLst/>
              <a:cxnLst/>
              <a:rect l="l" t="t" r="r" b="b"/>
              <a:pathLst>
                <a:path w="129540" h="104775">
                  <a:moveTo>
                    <a:pt x="0" y="56197"/>
                  </a:moveTo>
                  <a:lnTo>
                    <a:pt x="49530" y="104775"/>
                  </a:lnTo>
                  <a:lnTo>
                    <a:pt x="12954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70382" y="1545907"/>
              <a:ext cx="48143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某个结点有左孩子，Left 就指向左孩子；没有左孩子，Left 就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指向它在某种遍历序列中的前驱。</a:t>
              </a:r>
            </a:p>
          </p:txBody>
        </p:sp>
        <p:sp>
          <p:nvSpPr>
            <p:cNvPr id="9" name="Freeform 9"/>
            <p:cNvSpPr/>
            <p:nvPr/>
          </p:nvSpPr>
          <p:spPr>
            <a:xfrm>
              <a:off x="533400" y="2143125"/>
              <a:ext cx="129540" cy="104775"/>
            </a:xfrm>
            <a:custGeom>
              <a:avLst/>
              <a:gdLst/>
              <a:ahLst/>
              <a:cxnLst/>
              <a:rect l="l" t="t" r="r" b="b"/>
              <a:pathLst>
                <a:path w="129540" h="104775">
                  <a:moveTo>
                    <a:pt x="0" y="55245"/>
                  </a:moveTo>
                  <a:lnTo>
                    <a:pt x="49530" y="104775"/>
                  </a:lnTo>
                  <a:lnTo>
                    <a:pt x="12954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70382" y="2114550"/>
              <a:ext cx="491718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某个结点有右孩子，Right 就指向右孩子；没有右孩子，Right 就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指向它在该遍历序列中的后继。</a:t>
              </a:r>
            </a:p>
          </p:txBody>
        </p:sp>
        <p:sp>
          <p:nvSpPr>
            <p:cNvPr id="11" name="Freeform 11"/>
            <p:cNvSpPr/>
            <p:nvPr/>
          </p:nvSpPr>
          <p:spPr>
            <a:xfrm>
              <a:off x="533400" y="2711768"/>
              <a:ext cx="129540" cy="104775"/>
            </a:xfrm>
            <a:custGeom>
              <a:avLst/>
              <a:gdLst/>
              <a:ahLst/>
              <a:cxnLst/>
              <a:rect l="l" t="t" r="r" b="b"/>
              <a:pathLst>
                <a:path w="129540" h="104775">
                  <a:moveTo>
                    <a:pt x="0" y="55245"/>
                  </a:moveTo>
                  <a:lnTo>
                    <a:pt x="49530" y="104775"/>
                  </a:lnTo>
                  <a:lnTo>
                    <a:pt x="12954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70382" y="2683192"/>
              <a:ext cx="48143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光看指针分不清它指的是孩子还是前驱后继，所以每个指针要配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一个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标志位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19" name="c1-card-2"/>
          <p:cNvGrpSpPr/>
          <p:nvPr/>
        </p:nvGrpSpPr>
        <p:grpSpPr>
          <a:xfrm>
            <a:off x="533400" y="3326130"/>
            <a:ext cx="5410200" cy="2126932"/>
            <a:chOff x="533400" y="3326130"/>
            <a:chExt cx="5410200" cy="2126932"/>
          </a:xfrm>
        </p:grpSpPr>
        <p:sp>
          <p:nvSpPr>
            <p:cNvPr id="14" name="Rectangle 14"/>
            <p:cNvSpPr/>
            <p:nvPr/>
          </p:nvSpPr>
          <p:spPr>
            <a:xfrm>
              <a:off x="533400" y="3326130"/>
              <a:ext cx="5410200" cy="2126932"/>
            </a:xfrm>
            <a:prstGeom prst="roundRect">
              <a:avLst>
                <a:gd name="adj" fmla="val 627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42925" y="3459480"/>
              <a:ext cx="47625" cy="186023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63905" y="351853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55345" y="355282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57047" y="3874770"/>
              <a:ext cx="4711446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源课件第 11 页写成“有子结点则 Left/Right 指向子结点，无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子结点则指向前驱/后继”，按结点整体判断。实际要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按左右指</a:t>
              </a:r>
              <a:br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针分别判断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：一个结点完全可以有左孩子而没有右孩子，那时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Left 指孩子、Right 指后继。第 12 页给的才是准确说法。</a:t>
              </a:r>
            </a:p>
          </p:txBody>
        </p:sp>
      </p:grpSp>
      <p:grpSp>
        <p:nvGrpSpPr>
          <p:cNvPr id="26" name="c2-card-1"/>
          <p:cNvGrpSpPr/>
          <p:nvPr/>
        </p:nvGrpSpPr>
        <p:grpSpPr>
          <a:xfrm>
            <a:off x="6248400" y="1524000"/>
            <a:ext cx="5410200" cy="1226820"/>
            <a:chOff x="6248400" y="1524000"/>
            <a:chExt cx="5410200" cy="1226820"/>
          </a:xfrm>
        </p:grpSpPr>
        <p:sp>
          <p:nvSpPr>
            <p:cNvPr id="20" name="Rectangle 20"/>
            <p:cNvSpPr/>
            <p:nvPr/>
          </p:nvSpPr>
          <p:spPr>
            <a:xfrm>
              <a:off x="6248400" y="1524000"/>
              <a:ext cx="5410200" cy="1226820"/>
            </a:xfrm>
            <a:prstGeom prst="roundRect">
              <a:avLst>
                <a:gd name="adj" fmla="val 1087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6257925" y="1657350"/>
              <a:ext cx="47625" cy="96012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478905" y="171640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570345" y="175069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062597" y="175641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线索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72047" y="2090738"/>
              <a:ext cx="383705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指向某结点的中根前驱和中根后继的指针称为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线索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（thread）。</a:t>
              </a:r>
            </a:p>
          </p:txBody>
        </p:sp>
      </p:grpSp>
      <p:grpSp>
        <p:nvGrpSpPr>
          <p:cNvPr id="43" name="c2-table-2"/>
          <p:cNvGrpSpPr/>
          <p:nvPr/>
        </p:nvGrpSpPr>
        <p:grpSpPr>
          <a:xfrm>
            <a:off x="6248400" y="2926080"/>
            <a:ext cx="5410200" cy="1623060"/>
            <a:chOff x="6248400" y="2926080"/>
            <a:chExt cx="5410200" cy="1623060"/>
          </a:xfrm>
        </p:grpSpPr>
        <p:sp>
          <p:nvSpPr>
            <p:cNvPr id="27" name="Rectangle 27"/>
            <p:cNvSpPr/>
            <p:nvPr/>
          </p:nvSpPr>
          <p:spPr>
            <a:xfrm>
              <a:off x="6248400" y="2926080"/>
              <a:ext cx="5410200" cy="40576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732778" y="3050381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按哪种遍历序列建线索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965588" y="305038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叫什么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257925" y="3341370"/>
              <a:ext cx="2469832" cy="38671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348412" y="345614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中根遍历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8746808" y="3341370"/>
              <a:ext cx="2902268" cy="38671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837295" y="345614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中序线索二叉树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248400" y="373284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248400" y="3737610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348412" y="386191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先根遍历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837295" y="3861911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先序线索二叉树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248400" y="413861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348412" y="426767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后根遍历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837295" y="426767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后序线索二叉树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248400" y="2926080"/>
              <a:ext cx="5410200" cy="162306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732520" y="2926080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0" name="c2-callout-3"/>
          <p:cNvGrpSpPr/>
          <p:nvPr/>
        </p:nvGrpSpPr>
        <p:grpSpPr>
          <a:xfrm>
            <a:off x="6248400" y="4724400"/>
            <a:ext cx="5410200" cy="729615"/>
            <a:chOff x="6248400" y="4724400"/>
            <a:chExt cx="5410200" cy="729615"/>
          </a:xfrm>
        </p:grpSpPr>
        <p:sp>
          <p:nvSpPr>
            <p:cNvPr id="44" name="Rectangle 44"/>
            <p:cNvSpPr/>
            <p:nvPr/>
          </p:nvSpPr>
          <p:spPr>
            <a:xfrm>
              <a:off x="6248400" y="4724400"/>
              <a:ext cx="5410200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6453188" y="4989195"/>
              <a:ext cx="200026" cy="200025"/>
              <a:chOff x="6453188" y="4989195"/>
              <a:chExt cx="200026" cy="200025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6453188" y="49891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6492926" y="50336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6527642" y="51447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6755892" y="4870132"/>
              <a:ext cx="447141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本讲绝大部分篇幅讲中序线索二叉树，它是三种里唯一前驱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后继都能高效找到的，原因放在最后一部分讲。</a:t>
              </a:r>
            </a:p>
          </p:txBody>
        </p:sp>
      </p:grpSp>
      <p:grpSp>
        <p:nvGrpSpPr>
          <p:cNvPr id="57" name="takeaway"/>
          <p:cNvGrpSpPr/>
          <p:nvPr/>
        </p:nvGrpSpPr>
        <p:grpSpPr>
          <a:xfrm>
            <a:off x="533400" y="5633085"/>
            <a:ext cx="11125200" cy="729615"/>
            <a:chOff x="533400" y="5633085"/>
            <a:chExt cx="11125200" cy="729615"/>
          </a:xfrm>
        </p:grpSpPr>
        <p:sp>
          <p:nvSpPr>
            <p:cNvPr id="51" name="Rectangle 51"/>
            <p:cNvSpPr/>
            <p:nvPr/>
          </p:nvSpPr>
          <p:spPr>
            <a:xfrm>
              <a:off x="533400" y="5633085"/>
              <a:ext cx="11125200" cy="729615"/>
            </a:xfrm>
            <a:prstGeom prst="roundRect">
              <a:avLst>
                <a:gd name="adj" fmla="val 1566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738188" y="5897880"/>
              <a:ext cx="200026" cy="200026"/>
              <a:chOff x="738188" y="5897880"/>
              <a:chExt cx="200026" cy="200026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738188" y="589788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838200" y="596455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827088" y="599789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1040892" y="5779770"/>
              <a:ext cx="9932098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线索二叉树由 Alan J. Perlis 提出，他是首届图灵奖获得者、卡内基梅隆大学计算机系创始人。吉林大学计算机系 1977 级毕业的李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凯（现普林斯顿大学教授、美国工程院院士）是他的博士生。</a:t>
              </a:r>
            </a:p>
          </p:txBody>
        </p:sp>
      </p:grpSp>
      <p:grpSp>
        <p:nvGrpSpPr>
          <p:cNvPr id="6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8" name="TextBox 58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第9讲 线索二叉树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354925" cy="909257"/>
            <a:chOff x="520446" y="342900"/>
            <a:chExt cx="935492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第9讲 线索树 · 动机与基本概念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35492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结点结构：LThread 和 RThread 各占一位，说明指针的身份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8" name="c1-cells-1"/>
          <p:cNvGrpSpPr/>
          <p:nvPr/>
        </p:nvGrpSpPr>
        <p:grpSpPr>
          <a:xfrm>
            <a:off x="528066" y="1524000"/>
            <a:ext cx="4339209" cy="419100"/>
            <a:chOff x="528066" y="1524000"/>
            <a:chExt cx="4339209" cy="419100"/>
          </a:xfrm>
        </p:grpSpPr>
        <p:sp>
          <p:nvSpPr>
            <p:cNvPr id="7" name="TextBox 7"/>
            <p:cNvSpPr txBox="1"/>
            <p:nvPr/>
          </p:nvSpPr>
          <p:spPr>
            <a:xfrm>
              <a:off x="528066" y="166782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结点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933450" y="1524000"/>
              <a:ext cx="786765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31172" y="1667828"/>
              <a:ext cx="5913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LThread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720215" y="1524000"/>
              <a:ext cx="78676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942693" y="1667828"/>
              <a:ext cx="3418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Left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2506980" y="1524000"/>
              <a:ext cx="78676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729458" y="1667828"/>
              <a:ext cx="3418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Data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293745" y="1524000"/>
              <a:ext cx="78676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494170" y="1667828"/>
              <a:ext cx="38591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Right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4080510" y="1524000"/>
              <a:ext cx="786765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178232" y="1667828"/>
              <a:ext cx="5913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RThread</a:t>
              </a:r>
            </a:p>
          </p:txBody>
        </p:sp>
      </p:grpSp>
      <p:grpSp>
        <p:nvGrpSpPr>
          <p:cNvPr id="32" name="c1-card-2"/>
          <p:cNvGrpSpPr/>
          <p:nvPr/>
        </p:nvGrpSpPr>
        <p:grpSpPr>
          <a:xfrm>
            <a:off x="533400" y="2133600"/>
            <a:ext cx="5193982" cy="2626995"/>
            <a:chOff x="533400" y="2133600"/>
            <a:chExt cx="5193982" cy="2626995"/>
          </a:xfrm>
        </p:grpSpPr>
        <p:sp>
          <p:nvSpPr>
            <p:cNvPr id="19" name="Rectangle 19"/>
            <p:cNvSpPr/>
            <p:nvPr/>
          </p:nvSpPr>
          <p:spPr>
            <a:xfrm>
              <a:off x="533400" y="2133600"/>
              <a:ext cx="5193982" cy="2626995"/>
            </a:xfrm>
            <a:prstGeom prst="roundRect">
              <a:avLst>
                <a:gd name="adj" fmla="val 507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542925" y="2266950"/>
              <a:ext cx="47625" cy="236029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781050" y="23431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71258" y="23788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382078" y="2378392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两个标志位（以中根线索为例）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786765" y="280225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44880" y="2739390"/>
              <a:ext cx="37459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LThread = 0：Left 指向该结点的 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左孩子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786765" y="313753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44880" y="3074670"/>
              <a:ext cx="42729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LThread = 1：Left 指向该结点的 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中根前驱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，此时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称 Left 为线索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786765" y="375856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44880" y="3695700"/>
              <a:ext cx="38057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RThread = 0：Right 指向该结点的 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右孩子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786765" y="409384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44880" y="4030980"/>
              <a:ext cx="43300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RThread = 1：Right 指向该结点的 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中根后继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，此时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称 Right 为线索</a:t>
              </a:r>
            </a:p>
          </p:txBody>
        </p:sp>
      </p:grpSp>
      <p:grpSp>
        <p:nvGrpSpPr>
          <p:cNvPr id="39" name="c1-callout-3"/>
          <p:cNvGrpSpPr/>
          <p:nvPr/>
        </p:nvGrpSpPr>
        <p:grpSpPr>
          <a:xfrm>
            <a:off x="533400" y="4951095"/>
            <a:ext cx="5193982" cy="1069658"/>
            <a:chOff x="533400" y="4951095"/>
            <a:chExt cx="5193982" cy="1069658"/>
          </a:xfrm>
        </p:grpSpPr>
        <p:sp>
          <p:nvSpPr>
            <p:cNvPr id="33" name="Rectangle 33"/>
            <p:cNvSpPr/>
            <p:nvPr/>
          </p:nvSpPr>
          <p:spPr>
            <a:xfrm>
              <a:off x="533400" y="4951095"/>
              <a:ext cx="5193982" cy="1069658"/>
            </a:xfrm>
            <a:prstGeom prst="roundRect">
              <a:avLst>
                <a:gd name="adj" fmla="val 1068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738188" y="5385435"/>
              <a:ext cx="200026" cy="200025"/>
              <a:chOff x="738188" y="5385435"/>
              <a:chExt cx="200026" cy="200025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738188" y="538543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777926" y="542988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12642" y="554101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1040130" y="5104448"/>
              <a:ext cx="42062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上面那张五格图只是习惯画法。标志位在结构体里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写在哪个位置不影响正确性，只影响结点占多少字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节，第 27 页会用编译器实测这件事。</a:t>
              </a:r>
            </a:p>
          </p:txBody>
        </p:sp>
      </p:grpSp>
      <p:grpSp>
        <p:nvGrpSpPr>
          <p:cNvPr id="43" name="c2-code-1"/>
          <p:cNvGrpSpPr/>
          <p:nvPr/>
        </p:nvGrpSpPr>
        <p:grpSpPr>
          <a:xfrm>
            <a:off x="6032182" y="1524000"/>
            <a:ext cx="5626418" cy="1737360"/>
            <a:chOff x="6032182" y="1524000"/>
            <a:chExt cx="5626418" cy="1737360"/>
          </a:xfrm>
        </p:grpSpPr>
        <p:sp>
          <p:nvSpPr>
            <p:cNvPr id="40" name="Rectangle 40"/>
            <p:cNvSpPr/>
            <p:nvPr/>
          </p:nvSpPr>
          <p:spPr>
            <a:xfrm>
              <a:off x="6032182" y="1524000"/>
              <a:ext cx="5626418" cy="1737360"/>
            </a:xfrm>
            <a:prstGeom prst="roundRect">
              <a:avLst>
                <a:gd name="adj" fmla="val 548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160580" y="1675924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结点定义（本讲后面各算法统一用它）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160580" y="1935956"/>
              <a:ext cx="4216654" cy="12479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typedef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struct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TreeNode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data;    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数据域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struct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TreeNode *left;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左孩子，或指向中根前驱的线索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struct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TreeNode *right;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右孩子，或指向中根后继的线索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unsigned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LThread : 1;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0 孩子，1 线索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unsigned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RThread : 1;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 TreeNode;</a:t>
              </a:r>
            </a:p>
          </p:txBody>
        </p:sp>
      </p:grpSp>
      <p:grpSp>
        <p:nvGrpSpPr>
          <p:cNvPr id="54" name="c2-card-2"/>
          <p:cNvGrpSpPr/>
          <p:nvPr/>
        </p:nvGrpSpPr>
        <p:grpSpPr>
          <a:xfrm>
            <a:off x="6032182" y="3451860"/>
            <a:ext cx="5626418" cy="2568892"/>
            <a:chOff x="6032182" y="3451860"/>
            <a:chExt cx="5626418" cy="2568892"/>
          </a:xfrm>
        </p:grpSpPr>
        <p:sp>
          <p:nvSpPr>
            <p:cNvPr id="44" name="Rectangle 44"/>
            <p:cNvSpPr/>
            <p:nvPr/>
          </p:nvSpPr>
          <p:spPr>
            <a:xfrm>
              <a:off x="6032182" y="3451860"/>
              <a:ext cx="5626418" cy="2568892"/>
            </a:xfrm>
            <a:prstGeom prst="roundRect">
              <a:avLst>
                <a:gd name="adj" fmla="val 519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6041708" y="3585210"/>
              <a:ext cx="47625" cy="230219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6279832" y="3661410"/>
              <a:ext cx="1916430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327686" y="3697129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线索化前后，判断方式要换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6285548" y="410146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443662" y="4038600"/>
              <a:ext cx="397621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线索化 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前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：有没有左孩子，看 </a:t>
              </a:r>
              <a:r>
                <a:rPr lang="en-US" sz="150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left == NULL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6285548" y="443674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443662" y="4373880"/>
              <a:ext cx="40131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线索化 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后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：有没有左孩子，看 </a:t>
              </a:r>
              <a:r>
                <a:rPr lang="en-US" sz="150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LThread == 1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272212" y="4709160"/>
              <a:ext cx="4968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标志位只说明指针的身份，不改变指针的类型。线索化之后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left 基本不再为空，继续拿它判空就会把线索当成孩子，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一路走进死循环。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273356" y="5611654"/>
              <a:ext cx="523405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两个标志位的初值要显式置 0 或 1，malloc 出来的内存不保证干净。</a:t>
              </a:r>
            </a:p>
          </p:txBody>
        </p:sp>
      </p:grpSp>
      <p:grpSp>
        <p:nvGrpSpPr>
          <p:cNvPr id="5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5" name="TextBox 55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第9讲 线索二叉树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第9讲 线索树 · 动机与基本概念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例：把一棵二叉树做成中序线索二叉树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8227077" cy="264033"/>
            <a:chOff x="526542" y="1545907"/>
            <a:chExt cx="8227077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82270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先写出中根序列，再逐个结点填 LThread、Left、Right、RThread 四栏，这是考试要求的标准做法。</a:t>
              </a:r>
            </a:p>
          </p:txBody>
        </p:sp>
      </p:grpSp>
      <p:grpSp>
        <p:nvGrpSpPr>
          <p:cNvPr id="23" name="c1-tree-1"/>
          <p:cNvGrpSpPr/>
          <p:nvPr/>
        </p:nvGrpSpPr>
        <p:grpSpPr>
          <a:xfrm>
            <a:off x="1437322" y="2026920"/>
            <a:ext cx="2520315" cy="1463040"/>
            <a:chOff x="1437322" y="2026920"/>
            <a:chExt cx="2520315" cy="1463040"/>
          </a:xfrm>
        </p:grpSpPr>
        <p:sp>
          <p:nvSpPr>
            <p:cNvPr id="9" name="Freeform 9"/>
            <p:cNvSpPr/>
            <p:nvPr/>
          </p:nvSpPr>
          <p:spPr>
            <a:xfrm>
              <a:off x="1615440" y="2758440"/>
              <a:ext cx="541020" cy="553402"/>
            </a:xfrm>
            <a:custGeom>
              <a:avLst/>
              <a:gdLst/>
              <a:ahLst/>
              <a:cxnLst/>
              <a:rect l="l" t="t" r="r" b="b"/>
              <a:pathLst>
                <a:path w="541020" h="553402">
                  <a:moveTo>
                    <a:pt x="0" y="0"/>
                  </a:moveTo>
                  <a:lnTo>
                    <a:pt x="541020" y="55340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238500" y="2758440"/>
              <a:ext cx="541020" cy="553402"/>
            </a:xfrm>
            <a:custGeom>
              <a:avLst/>
              <a:gdLst/>
              <a:ahLst/>
              <a:cxnLst/>
              <a:rect l="l" t="t" r="r" b="b"/>
              <a:pathLst>
                <a:path w="541020" h="553402">
                  <a:moveTo>
                    <a:pt x="541020" y="0"/>
                  </a:moveTo>
                  <a:lnTo>
                    <a:pt x="0" y="55340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615440" y="2205038"/>
              <a:ext cx="1082040" cy="553403"/>
            </a:xfrm>
            <a:custGeom>
              <a:avLst/>
              <a:gdLst/>
              <a:ahLst/>
              <a:cxnLst/>
              <a:rect l="l" t="t" r="r" b="b"/>
              <a:pathLst>
                <a:path w="1082040" h="553403">
                  <a:moveTo>
                    <a:pt x="1082040" y="0"/>
                  </a:moveTo>
                  <a:lnTo>
                    <a:pt x="0" y="55340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697480" y="2205038"/>
              <a:ext cx="1082040" cy="553403"/>
            </a:xfrm>
            <a:custGeom>
              <a:avLst/>
              <a:gdLst/>
              <a:ahLst/>
              <a:cxnLst/>
              <a:rect l="l" t="t" r="r" b="b"/>
              <a:pathLst>
                <a:path w="1082040" h="553403">
                  <a:moveTo>
                    <a:pt x="0" y="0"/>
                  </a:moveTo>
                  <a:lnTo>
                    <a:pt x="1082040" y="55340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1978343" y="3133725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1437322" y="2580323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3060382" y="3133725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3601402" y="2580323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2519362" y="2026920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2111257" y="3251359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570237" y="2697956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193297" y="3251359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734317" y="2697956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652277" y="2144554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</p:grpSp>
      <p:grpSp>
        <p:nvGrpSpPr>
          <p:cNvPr id="25" name="c1-text-2"/>
          <p:cNvGrpSpPr/>
          <p:nvPr/>
        </p:nvGrpSpPr>
        <p:grpSpPr>
          <a:xfrm>
            <a:off x="528066" y="3770948"/>
            <a:ext cx="2043615" cy="205359"/>
            <a:chOff x="528066" y="3770948"/>
            <a:chExt cx="2043615" cy="205359"/>
          </a:xfrm>
        </p:grpSpPr>
        <p:sp>
          <p:nvSpPr>
            <p:cNvPr id="24" name="TextBox 24"/>
            <p:cNvSpPr txBox="1"/>
            <p:nvPr/>
          </p:nvSpPr>
          <p:spPr>
            <a:xfrm>
              <a:off x="528066" y="3770948"/>
              <a:ext cx="204361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第一步，写中根序列：</a:t>
              </a:r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C A E D</a:t>
              </a:r>
            </a:p>
          </p:txBody>
        </p:sp>
      </p:grpSp>
      <p:grpSp>
        <p:nvGrpSpPr>
          <p:cNvPr id="31" name="c1-callout-3"/>
          <p:cNvGrpSpPr/>
          <p:nvPr/>
        </p:nvGrpSpPr>
        <p:grpSpPr>
          <a:xfrm>
            <a:off x="533400" y="4099560"/>
            <a:ext cx="4328160" cy="2000250"/>
            <a:chOff x="533400" y="4099560"/>
            <a:chExt cx="4328160" cy="2000250"/>
          </a:xfrm>
        </p:grpSpPr>
        <p:sp>
          <p:nvSpPr>
            <p:cNvPr id="26" name="Rectangle 26"/>
            <p:cNvSpPr/>
            <p:nvPr/>
          </p:nvSpPr>
          <p:spPr>
            <a:xfrm>
              <a:off x="533400" y="4099560"/>
              <a:ext cx="4328160" cy="2000250"/>
            </a:xfrm>
            <a:prstGeom prst="roundRect">
              <a:avLst>
                <a:gd name="adj" fmla="val 5714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738188" y="4998722"/>
              <a:ext cx="200023" cy="200023"/>
              <a:chOff x="738188" y="4998722"/>
              <a:chExt cx="200023" cy="200023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738188" y="499872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871538" y="506539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1041273" y="4775359"/>
              <a:ext cx="3426714" cy="7179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中根序列的第一个结点一定没有左孩子，最后一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个结点一定没有右孩子，所以这两处的线索只能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是空。</a:t>
              </a:r>
            </a:p>
          </p:txBody>
        </p:sp>
      </p:grpSp>
      <p:grpSp>
        <p:nvGrpSpPr>
          <p:cNvPr id="83" name="c2-table-1"/>
          <p:cNvGrpSpPr/>
          <p:nvPr/>
        </p:nvGrpSpPr>
        <p:grpSpPr>
          <a:xfrm>
            <a:off x="5166360" y="1928812"/>
            <a:ext cx="6492240" cy="2287905"/>
            <a:chOff x="5166360" y="1928812"/>
            <a:chExt cx="6492240" cy="2287905"/>
          </a:xfrm>
        </p:grpSpPr>
        <p:sp>
          <p:nvSpPr>
            <p:cNvPr id="32" name="Rectangle 32"/>
            <p:cNvSpPr/>
            <p:nvPr/>
          </p:nvSpPr>
          <p:spPr>
            <a:xfrm>
              <a:off x="5166360" y="1928812"/>
              <a:ext cx="6492240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409248" y="20459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结点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168957" y="2045970"/>
              <a:ext cx="5913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LThread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268120" y="2045970"/>
              <a:ext cx="3418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Left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154753" y="2045970"/>
              <a:ext cx="38591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Right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025505" y="2045970"/>
              <a:ext cx="5913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RThread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603230" y="20459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261038" y="2426970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040184" y="242697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078409" y="2426970"/>
              <a:ext cx="92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988046" y="2426970"/>
              <a:ext cx="92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896731" y="242697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935909" y="242697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左右都有孩子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166360" y="268700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5166360" y="2691765"/>
              <a:ext cx="649224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261038" y="2808923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040184" y="2808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993255" y="2701290"/>
              <a:ext cx="889635" cy="361950"/>
            </a:xfrm>
            <a:prstGeom prst="rect">
              <a:avLst/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078409" y="2808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∧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988046" y="2808923"/>
              <a:ext cx="92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896731" y="2808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935909" y="2808923"/>
              <a:ext cx="15511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是首结点，左线索为空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5166360" y="306800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5261038" y="3189923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040184" y="3189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078409" y="3189923"/>
              <a:ext cx="92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988046" y="3189923"/>
              <a:ext cx="92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896731" y="3189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935909" y="3189923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叶结点，两边都是线索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5166360" y="344900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5166360" y="3453765"/>
              <a:ext cx="649224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5261038" y="3571875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040184" y="3571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078409" y="3571875"/>
              <a:ext cx="92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7902892" y="3463290"/>
              <a:ext cx="889635" cy="361950"/>
            </a:xfrm>
            <a:prstGeom prst="rect">
              <a:avLst/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7988046" y="3571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∧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896731" y="3571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9935909" y="3571875"/>
              <a:ext cx="15511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 是末结点，右线索为空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5166360" y="3830955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5261038" y="3952875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040184" y="3952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7078409" y="3952875"/>
              <a:ext cx="92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7988046" y="3952875"/>
              <a:ext cx="92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8896731" y="3952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9935909" y="3952875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叶结点，两边都是线索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5166360" y="1928812"/>
              <a:ext cx="6492240" cy="2287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8" name="Rectangle 78"/>
            <p:cNvSpPr/>
            <p:nvPr/>
          </p:nvSpPr>
          <p:spPr>
            <a:xfrm>
              <a:off x="5940742" y="1928812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9" name="Rectangle 79"/>
            <p:cNvSpPr/>
            <p:nvPr/>
          </p:nvSpPr>
          <p:spPr>
            <a:xfrm>
              <a:off x="6978968" y="1928812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0" name="Rectangle 80"/>
            <p:cNvSpPr/>
            <p:nvPr/>
          </p:nvSpPr>
          <p:spPr>
            <a:xfrm>
              <a:off x="7888605" y="1928812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1" name="Rectangle 81"/>
            <p:cNvSpPr/>
            <p:nvPr/>
          </p:nvSpPr>
          <p:spPr>
            <a:xfrm>
              <a:off x="8797290" y="1928812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2" name="Rectangle 82"/>
            <p:cNvSpPr/>
            <p:nvPr/>
          </p:nvSpPr>
          <p:spPr>
            <a:xfrm>
              <a:off x="9836468" y="1928812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98" name="c2-card-2"/>
          <p:cNvGrpSpPr/>
          <p:nvPr/>
        </p:nvGrpSpPr>
        <p:grpSpPr>
          <a:xfrm>
            <a:off x="5166360" y="4381500"/>
            <a:ext cx="6492240" cy="1717358"/>
            <a:chOff x="5166360" y="4381500"/>
            <a:chExt cx="6492240" cy="1717358"/>
          </a:xfrm>
        </p:grpSpPr>
        <p:sp>
          <p:nvSpPr>
            <p:cNvPr id="84" name="Rectangle 84"/>
            <p:cNvSpPr/>
            <p:nvPr/>
          </p:nvSpPr>
          <p:spPr>
            <a:xfrm>
              <a:off x="5166360" y="4381500"/>
              <a:ext cx="6492240" cy="1717358"/>
            </a:xfrm>
            <a:prstGeom prst="roundRect">
              <a:avLst>
                <a:gd name="adj" fmla="val 776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5" name="Rectangle 85"/>
            <p:cNvSpPr/>
            <p:nvPr/>
          </p:nvSpPr>
          <p:spPr>
            <a:xfrm>
              <a:off x="5175885" y="4514850"/>
              <a:ext cx="47625" cy="1450658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86" name="Rectangle 86"/>
            <p:cNvSpPr/>
            <p:nvPr/>
          </p:nvSpPr>
          <p:spPr>
            <a:xfrm>
              <a:off x="5385435" y="4562475"/>
              <a:ext cx="831532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5466906" y="4595336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填表的顺序</a:t>
              </a:r>
            </a:p>
          </p:txBody>
        </p:sp>
        <p:sp>
          <p:nvSpPr>
            <p:cNvPr id="88" name="Ellipse 88"/>
            <p:cNvSpPr/>
            <p:nvPr/>
          </p:nvSpPr>
          <p:spPr>
            <a:xfrm>
              <a:off x="5385435" y="4892040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5437342" y="492671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5655183" y="4902994"/>
              <a:ext cx="18206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写出中根序列 B C A E D</a:t>
              </a:r>
            </a:p>
          </p:txBody>
        </p:sp>
        <p:sp>
          <p:nvSpPr>
            <p:cNvPr id="91" name="Ellipse 91"/>
            <p:cNvSpPr/>
            <p:nvPr/>
          </p:nvSpPr>
          <p:spPr>
            <a:xfrm>
              <a:off x="5385435" y="5176838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5437342" y="521246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5655183" y="5187791"/>
              <a:ext cx="29164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有孩子的指针原样抄下来，标志位填 0</a:t>
              </a:r>
            </a:p>
          </p:txBody>
        </p:sp>
        <p:sp>
          <p:nvSpPr>
            <p:cNvPr id="94" name="Ellipse 94"/>
            <p:cNvSpPr/>
            <p:nvPr/>
          </p:nvSpPr>
          <p:spPr>
            <a:xfrm>
              <a:off x="5385435" y="5461635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5437342" y="549725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5655183" y="5472589"/>
              <a:ext cx="481188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空着的指针查中根序列：左边填前驱，右边填后继，标志位填 1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5380101" y="5754052"/>
              <a:ext cx="38667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首结点 B 的左边、末结点 D 的右边在序列里没有邻居，填 ∧。</a:t>
              </a:r>
            </a:p>
          </p:txBody>
        </p:sp>
      </p:grpSp>
      <p:grpSp>
        <p:nvGrpSpPr>
          <p:cNvPr id="10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9" name="TextBox 99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第9讲 线索二叉树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第9讲 线索树 · 动机与基本概念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同一棵树的链接结构：虚线就是四条线索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5" name="c1-graph-1"/>
          <p:cNvGrpSpPr/>
          <p:nvPr/>
        </p:nvGrpSpPr>
        <p:grpSpPr>
          <a:xfrm>
            <a:off x="791870" y="1864995"/>
            <a:ext cx="4524032" cy="3690937"/>
            <a:chOff x="791870" y="1864995"/>
            <a:chExt cx="4524032" cy="3690937"/>
          </a:xfrm>
        </p:grpSpPr>
        <p:sp>
          <p:nvSpPr>
            <p:cNvPr id="7" name="Freeform 7"/>
            <p:cNvSpPr/>
            <p:nvPr/>
          </p:nvSpPr>
          <p:spPr>
            <a:xfrm>
              <a:off x="2119312" y="2211705"/>
              <a:ext cx="1240155" cy="1217295"/>
            </a:xfrm>
            <a:custGeom>
              <a:avLst/>
              <a:gdLst/>
              <a:ahLst/>
              <a:cxnLst/>
              <a:rect l="l" t="t" r="r" b="b"/>
              <a:pathLst>
                <a:path w="1240155" h="1217295">
                  <a:moveTo>
                    <a:pt x="1240155" y="0"/>
                  </a:moveTo>
                  <a:lnTo>
                    <a:pt x="0" y="121729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051685" y="3395662"/>
              <a:ext cx="100965" cy="100012"/>
            </a:xfrm>
            <a:custGeom>
              <a:avLst/>
              <a:gdLst/>
              <a:ahLst/>
              <a:cxnLst/>
              <a:rect l="l" t="t" r="r" b="b"/>
              <a:pathLst>
                <a:path w="100965" h="100012">
                  <a:moveTo>
                    <a:pt x="0" y="100012"/>
                  </a:moveTo>
                  <a:lnTo>
                    <a:pt x="34290" y="0"/>
                  </a:lnTo>
                  <a:lnTo>
                    <a:pt x="100965" y="67628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3658552" y="2211705"/>
              <a:ext cx="1240155" cy="1217295"/>
            </a:xfrm>
            <a:custGeom>
              <a:avLst/>
              <a:gdLst/>
              <a:ahLst/>
              <a:cxnLst/>
              <a:rect l="l" t="t" r="r" b="b"/>
              <a:pathLst>
                <a:path w="1240155" h="1217295">
                  <a:moveTo>
                    <a:pt x="0" y="0"/>
                  </a:moveTo>
                  <a:lnTo>
                    <a:pt x="1240155" y="121729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4865370" y="3395662"/>
              <a:ext cx="100965" cy="100012"/>
            </a:xfrm>
            <a:custGeom>
              <a:avLst/>
              <a:gdLst/>
              <a:ahLst/>
              <a:cxnLst/>
              <a:rect l="l" t="t" r="r" b="b"/>
              <a:pathLst>
                <a:path w="100965" h="100012">
                  <a:moveTo>
                    <a:pt x="100965" y="100012"/>
                  </a:moveTo>
                  <a:lnTo>
                    <a:pt x="0" y="67628"/>
                  </a:lnTo>
                  <a:lnTo>
                    <a:pt x="66675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2013585" y="3820478"/>
              <a:ext cx="798195" cy="1277303"/>
            </a:xfrm>
            <a:custGeom>
              <a:avLst/>
              <a:gdLst/>
              <a:ahLst/>
              <a:cxnLst/>
              <a:rect l="l" t="t" r="r" b="b"/>
              <a:pathLst>
                <a:path w="798195" h="1277303">
                  <a:moveTo>
                    <a:pt x="0" y="0"/>
                  </a:moveTo>
                  <a:lnTo>
                    <a:pt x="798195" y="127730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771775" y="5072062"/>
              <a:ext cx="90488" cy="106680"/>
            </a:xfrm>
            <a:custGeom>
              <a:avLst/>
              <a:gdLst/>
              <a:ahLst/>
              <a:cxnLst/>
              <a:rect l="l" t="t" r="r" b="b"/>
              <a:pathLst>
                <a:path w="90488" h="106680">
                  <a:moveTo>
                    <a:pt x="90488" y="106680"/>
                  </a:moveTo>
                  <a:lnTo>
                    <a:pt x="0" y="50482"/>
                  </a:lnTo>
                  <a:lnTo>
                    <a:pt x="8001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4206240" y="3820478"/>
              <a:ext cx="798195" cy="1277303"/>
            </a:xfrm>
            <a:custGeom>
              <a:avLst/>
              <a:gdLst/>
              <a:ahLst/>
              <a:cxnLst/>
              <a:rect l="l" t="t" r="r" b="b"/>
              <a:pathLst>
                <a:path w="798195" h="1277303">
                  <a:moveTo>
                    <a:pt x="798195" y="0"/>
                  </a:moveTo>
                  <a:lnTo>
                    <a:pt x="0" y="127730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4155758" y="5072062"/>
              <a:ext cx="90488" cy="106680"/>
            </a:xfrm>
            <a:custGeom>
              <a:avLst/>
              <a:gdLst/>
              <a:ahLst/>
              <a:cxnLst/>
              <a:rect l="l" t="t" r="r" b="b"/>
              <a:pathLst>
                <a:path w="90488" h="106680">
                  <a:moveTo>
                    <a:pt x="0" y="106680"/>
                  </a:moveTo>
                  <a:lnTo>
                    <a:pt x="10477" y="0"/>
                  </a:lnTo>
                  <a:lnTo>
                    <a:pt x="90488" y="50482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2191702" y="3736658"/>
              <a:ext cx="914082" cy="1411605"/>
            </a:xfrm>
            <a:custGeom>
              <a:avLst/>
              <a:gdLst/>
              <a:ahLst/>
              <a:cxnLst/>
              <a:rect l="l" t="t" r="r" b="b"/>
              <a:pathLst>
                <a:path w="914082" h="1411605">
                  <a:moveTo>
                    <a:pt x="810578" y="1411605"/>
                  </a:moveTo>
                  <a:cubicBezTo>
                    <a:pt x="914082" y="678815"/>
                    <a:pt x="643890" y="208280"/>
                    <a:pt x="0" y="0"/>
                  </a:cubicBezTo>
                </a:path>
              </a:pathLst>
            </a:custGeom>
            <a:noFill/>
            <a:ln w="17145">
              <a:solidFill>
                <a:srgbClr val="C2410C"/>
              </a:solidFill>
              <a:custDash>
                <a:ds d="333333" sp="222222"/>
              </a:custDash>
            </a:ln>
          </p:spPr>
        </p:sp>
        <p:sp>
          <p:nvSpPr>
            <p:cNvPr id="16" name="Freeform 16"/>
            <p:cNvSpPr/>
            <p:nvPr/>
          </p:nvSpPr>
          <p:spPr>
            <a:xfrm>
              <a:off x="2101215" y="3691890"/>
              <a:ext cx="105727" cy="90488"/>
            </a:xfrm>
            <a:custGeom>
              <a:avLst/>
              <a:gdLst/>
              <a:ahLst/>
              <a:cxnLst/>
              <a:rect l="l" t="t" r="r" b="b"/>
              <a:pathLst>
                <a:path w="105727" h="90488">
                  <a:moveTo>
                    <a:pt x="0" y="15240"/>
                  </a:moveTo>
                  <a:lnTo>
                    <a:pt x="105727" y="0"/>
                  </a:lnTo>
                  <a:lnTo>
                    <a:pt x="76200" y="90488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3081338" y="2362200"/>
              <a:ext cx="710248" cy="2814638"/>
            </a:xfrm>
            <a:custGeom>
              <a:avLst/>
              <a:gdLst/>
              <a:ahLst/>
              <a:cxnLst/>
              <a:rect l="l" t="t" r="r" b="b"/>
              <a:pathLst>
                <a:path w="710248" h="2814638">
                  <a:moveTo>
                    <a:pt x="0" y="2814638"/>
                  </a:moveTo>
                  <a:cubicBezTo>
                    <a:pt x="545465" y="1908492"/>
                    <a:pt x="710248" y="970280"/>
                    <a:pt x="494347" y="0"/>
                  </a:cubicBezTo>
                </a:path>
              </a:pathLst>
            </a:custGeom>
            <a:noFill/>
            <a:ln w="17145">
              <a:solidFill>
                <a:srgbClr val="C2410C"/>
              </a:solidFill>
              <a:custDash>
                <a:ds d="333333" sp="222222"/>
              </a:custDash>
            </a:ln>
          </p:spPr>
        </p:sp>
        <p:sp>
          <p:nvSpPr>
            <p:cNvPr id="18" name="Freeform 18"/>
            <p:cNvSpPr/>
            <p:nvPr/>
          </p:nvSpPr>
          <p:spPr>
            <a:xfrm>
              <a:off x="3529012" y="2269808"/>
              <a:ext cx="92392" cy="102870"/>
            </a:xfrm>
            <a:custGeom>
              <a:avLst/>
              <a:gdLst/>
              <a:ahLst/>
              <a:cxnLst/>
              <a:rect l="l" t="t" r="r" b="b"/>
              <a:pathLst>
                <a:path w="92392" h="102870">
                  <a:moveTo>
                    <a:pt x="25717" y="0"/>
                  </a:moveTo>
                  <a:lnTo>
                    <a:pt x="92392" y="81915"/>
                  </a:lnTo>
                  <a:lnTo>
                    <a:pt x="0" y="10287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3226435" y="2362200"/>
              <a:ext cx="710248" cy="2814638"/>
            </a:xfrm>
            <a:custGeom>
              <a:avLst/>
              <a:gdLst/>
              <a:ahLst/>
              <a:cxnLst/>
              <a:rect l="l" t="t" r="r" b="b"/>
              <a:pathLst>
                <a:path w="710248" h="2814638">
                  <a:moveTo>
                    <a:pt x="710248" y="2814638"/>
                  </a:moveTo>
                  <a:cubicBezTo>
                    <a:pt x="164783" y="1908492"/>
                    <a:pt x="0" y="970280"/>
                    <a:pt x="215900" y="0"/>
                  </a:cubicBezTo>
                </a:path>
              </a:pathLst>
            </a:custGeom>
            <a:noFill/>
            <a:ln w="17145">
              <a:solidFill>
                <a:srgbClr val="C2410C"/>
              </a:solidFill>
              <a:custDash>
                <a:ds d="333333" sp="222222"/>
              </a:custDash>
            </a:ln>
          </p:spPr>
        </p:sp>
        <p:sp>
          <p:nvSpPr>
            <p:cNvPr id="20" name="Freeform 20"/>
            <p:cNvSpPr/>
            <p:nvPr/>
          </p:nvSpPr>
          <p:spPr>
            <a:xfrm>
              <a:off x="3396615" y="2269808"/>
              <a:ext cx="92392" cy="102870"/>
            </a:xfrm>
            <a:custGeom>
              <a:avLst/>
              <a:gdLst/>
              <a:ahLst/>
              <a:cxnLst/>
              <a:rect l="l" t="t" r="r" b="b"/>
              <a:pathLst>
                <a:path w="92392" h="102870">
                  <a:moveTo>
                    <a:pt x="66675" y="0"/>
                  </a:moveTo>
                  <a:lnTo>
                    <a:pt x="92392" y="102870"/>
                  </a:lnTo>
                  <a:lnTo>
                    <a:pt x="0" y="81915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3912235" y="3736658"/>
              <a:ext cx="914082" cy="1411605"/>
            </a:xfrm>
            <a:custGeom>
              <a:avLst/>
              <a:gdLst/>
              <a:ahLst/>
              <a:cxnLst/>
              <a:rect l="l" t="t" r="r" b="b"/>
              <a:pathLst>
                <a:path w="914082" h="1411605">
                  <a:moveTo>
                    <a:pt x="103505" y="1411605"/>
                  </a:moveTo>
                  <a:cubicBezTo>
                    <a:pt x="0" y="678815"/>
                    <a:pt x="270193" y="208280"/>
                    <a:pt x="914082" y="0"/>
                  </a:cubicBezTo>
                </a:path>
              </a:pathLst>
            </a:custGeom>
            <a:noFill/>
            <a:ln w="17145">
              <a:solidFill>
                <a:srgbClr val="C2410C"/>
              </a:solidFill>
              <a:custDash>
                <a:ds d="333333" sp="222222"/>
              </a:custDash>
            </a:ln>
          </p:spPr>
        </p:sp>
        <p:sp>
          <p:nvSpPr>
            <p:cNvPr id="22" name="Freeform 22"/>
            <p:cNvSpPr/>
            <p:nvPr/>
          </p:nvSpPr>
          <p:spPr>
            <a:xfrm>
              <a:off x="4811078" y="3691890"/>
              <a:ext cx="105728" cy="90488"/>
            </a:xfrm>
            <a:custGeom>
              <a:avLst/>
              <a:gdLst/>
              <a:ahLst/>
              <a:cxnLst/>
              <a:rect l="l" t="t" r="r" b="b"/>
              <a:pathLst>
                <a:path w="105728" h="90488">
                  <a:moveTo>
                    <a:pt x="105728" y="15240"/>
                  </a:moveTo>
                  <a:lnTo>
                    <a:pt x="29527" y="904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3308985" y="1864995"/>
              <a:ext cx="400050" cy="4000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1702118" y="3443288"/>
              <a:ext cx="400050" cy="4000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4915852" y="3443288"/>
              <a:ext cx="400050" cy="4000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2773680" y="5155882"/>
              <a:ext cx="400050" cy="4000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3844290" y="5155882"/>
              <a:ext cx="400050" cy="4000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457295" y="199501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850427" y="3573304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064162" y="3573304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921990" y="5285899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992600" y="5285899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91870" y="1935480"/>
              <a:ext cx="10299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实线 孩子指针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53414" y="2386013"/>
              <a:ext cx="7068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虚线 线索</a:t>
              </a:r>
            </a:p>
          </p:txBody>
        </p:sp>
      </p:grpSp>
      <p:grpSp>
        <p:nvGrpSpPr>
          <p:cNvPr id="45" name="c2-card-1"/>
          <p:cNvGrpSpPr/>
          <p:nvPr/>
        </p:nvGrpSpPr>
        <p:grpSpPr>
          <a:xfrm>
            <a:off x="6789420" y="1524000"/>
            <a:ext cx="4869180" cy="1844040"/>
            <a:chOff x="6789420" y="1524000"/>
            <a:chExt cx="4869180" cy="1844040"/>
          </a:xfrm>
        </p:grpSpPr>
        <p:sp>
          <p:nvSpPr>
            <p:cNvPr id="36" name="Rectangle 36"/>
            <p:cNvSpPr/>
            <p:nvPr/>
          </p:nvSpPr>
          <p:spPr>
            <a:xfrm>
              <a:off x="6789420" y="1524000"/>
              <a:ext cx="4869180" cy="1844040"/>
            </a:xfrm>
            <a:prstGeom prst="roundRect">
              <a:avLst>
                <a:gd name="adj" fmla="val 7231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993255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083463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读图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594664" y="1767364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四条线索分别是什么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7000875" y="2179320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157466" y="2119789"/>
              <a:ext cx="282345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 的左线索指向 B，右线索指向 A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7000875" y="2499360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157466" y="2439829"/>
              <a:ext cx="282345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 的左线索指向 A，右线索指向 D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987159" y="2755582"/>
              <a:ext cx="414223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把实线和虚线合起来看，从 B 出发总能一步步走到 C、A、E、</a:t>
              </a:r>
              <a:br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D，正好是中根序列。</a:t>
              </a:r>
            </a:p>
          </p:txBody>
        </p:sp>
      </p:grpSp>
      <p:grpSp>
        <p:nvGrpSpPr>
          <p:cNvPr id="51" name="c2-card-2"/>
          <p:cNvGrpSpPr/>
          <p:nvPr/>
        </p:nvGrpSpPr>
        <p:grpSpPr>
          <a:xfrm>
            <a:off x="6789420" y="3553778"/>
            <a:ext cx="4869180" cy="1274445"/>
            <a:chOff x="6789420" y="3553778"/>
            <a:chExt cx="4869180" cy="1274445"/>
          </a:xfrm>
        </p:grpSpPr>
        <p:sp>
          <p:nvSpPr>
            <p:cNvPr id="46" name="Rectangle 46"/>
            <p:cNvSpPr/>
            <p:nvPr/>
          </p:nvSpPr>
          <p:spPr>
            <a:xfrm>
              <a:off x="6789420" y="3553778"/>
              <a:ext cx="4869180" cy="1274445"/>
            </a:xfrm>
            <a:prstGeom prst="roundRect">
              <a:avLst>
                <a:gd name="adj" fmla="val 104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6798945" y="3687128"/>
              <a:ext cx="47625" cy="100774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7031355" y="3757612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100862" y="3793331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对照上一页的表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024116" y="4130516"/>
              <a:ext cx="4216400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图里 B 的左边和 D 的右边没有画虚线，因为那两个位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置的线索是空的，对应表里的两个 ∧。</a:t>
              </a:r>
            </a:p>
          </p:txBody>
        </p:sp>
      </p:grpSp>
      <p:grpSp>
        <p:nvGrpSpPr>
          <p:cNvPr id="58" name="c2-callout-3"/>
          <p:cNvGrpSpPr/>
          <p:nvPr/>
        </p:nvGrpSpPr>
        <p:grpSpPr>
          <a:xfrm>
            <a:off x="6789420" y="5013960"/>
            <a:ext cx="4869180" cy="1018222"/>
            <a:chOff x="6789420" y="5013960"/>
            <a:chExt cx="4869180" cy="1018222"/>
          </a:xfrm>
        </p:grpSpPr>
        <p:sp>
          <p:nvSpPr>
            <p:cNvPr id="52" name="Rectangle 52"/>
            <p:cNvSpPr/>
            <p:nvPr/>
          </p:nvSpPr>
          <p:spPr>
            <a:xfrm>
              <a:off x="6789420" y="5013960"/>
              <a:ext cx="4869180" cy="1018222"/>
            </a:xfrm>
            <a:prstGeom prst="roundRect">
              <a:avLst>
                <a:gd name="adj" fmla="val 11225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6994208" y="5422583"/>
              <a:ext cx="200026" cy="200025"/>
              <a:chOff x="6994208" y="5422583"/>
              <a:chExt cx="200026" cy="200025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6994208" y="542258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7033946" y="546703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7068662" y="557815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7296531" y="5161121"/>
              <a:ext cx="3999992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考试如果要求“画链接结构图”，画成每个结点一个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五格框（LThread Left Data Right RThread）更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保险，孩子用实箭头、线索用虚箭头。</a:t>
              </a:r>
            </a:p>
          </p:txBody>
        </p:sp>
      </p:grpSp>
      <p:grpSp>
        <p:nvGrpSpPr>
          <p:cNvPr id="6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9" name="TextBox 59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第9讲 线索二叉树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115437" cy="909257"/>
            <a:chOff x="520446" y="342900"/>
            <a:chExt cx="311543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第9讲 线索树 · 动机与基本概念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11543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三条随手能用的结论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626418" cy="1670685"/>
            <a:chOff x="533400" y="1524000"/>
            <a:chExt cx="5626418" cy="167068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670685"/>
            </a:xfrm>
            <a:prstGeom prst="roundRect">
              <a:avLst>
                <a:gd name="adj" fmla="val 798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40398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7308" y="176926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结论一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24000" y="1768792"/>
              <a:ext cx="17038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线索恰好有 n−1 条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4968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空指针域有 n+1 个。中序线索化后，只有中根序列首结点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的左线索和末结点的右线索无处可指，其余全部挂上线索。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73430" y="2750820"/>
              <a:ext cx="51997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所以线索数 = (n+1) − 2 = </a:t>
              </a:r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n−1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，仍为空的指针恰好 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 个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47" name="c1-table-2"/>
          <p:cNvGrpSpPr/>
          <p:nvPr/>
        </p:nvGrpSpPr>
        <p:grpSpPr>
          <a:xfrm>
            <a:off x="533400" y="3385185"/>
            <a:ext cx="5626418" cy="1795462"/>
            <a:chOff x="533400" y="3385185"/>
            <a:chExt cx="5626418" cy="1795462"/>
          </a:xfrm>
        </p:grpSpPr>
        <p:sp>
          <p:nvSpPr>
            <p:cNvPr id="15" name="Rectangle 15"/>
            <p:cNvSpPr/>
            <p:nvPr/>
          </p:nvSpPr>
          <p:spPr>
            <a:xfrm>
              <a:off x="533400" y="3385185"/>
              <a:ext cx="5626418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198524" y="352091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例子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559332" y="352091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220771" y="352091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空指针域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461789" y="352091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线索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389093" y="352091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仍为空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41223" y="3969544"/>
              <a:ext cx="100978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本讲第 10 页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329053" y="396954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116770" y="396954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4144328" y="3843338"/>
              <a:ext cx="993458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242626" y="396954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255133" y="396954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427767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33400" y="4282440"/>
              <a:ext cx="562641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41223" y="441817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吉大期末题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329053" y="441817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116770" y="441817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4144328" y="4291965"/>
              <a:ext cx="993458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242626" y="441817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255133" y="441817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472725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41223" y="4866799"/>
              <a:ext cx="100978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16 页的树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329053" y="486679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116770" y="486679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4144328" y="4741545"/>
              <a:ext cx="993458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4242626" y="486679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255133" y="486679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33400" y="3385185"/>
              <a:ext cx="5626418" cy="1795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2216468" y="3385185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3004185" y="3385185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4130040" y="3385185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5142548" y="3385185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4" name="c1-callout-3"/>
          <p:cNvGrpSpPr/>
          <p:nvPr/>
        </p:nvGrpSpPr>
        <p:grpSpPr>
          <a:xfrm>
            <a:off x="533400" y="5371148"/>
            <a:ext cx="5626418" cy="795338"/>
            <a:chOff x="533400" y="5371148"/>
            <a:chExt cx="5626418" cy="795338"/>
          </a:xfrm>
        </p:grpSpPr>
        <p:sp>
          <p:nvSpPr>
            <p:cNvPr id="48" name="Rectangle 48"/>
            <p:cNvSpPr/>
            <p:nvPr/>
          </p:nvSpPr>
          <p:spPr>
            <a:xfrm>
              <a:off x="533400" y="5371148"/>
              <a:ext cx="5626418" cy="795338"/>
            </a:xfrm>
            <a:prstGeom prst="roundRect">
              <a:avLst>
                <a:gd name="adj" fmla="val 14371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738188" y="5668328"/>
              <a:ext cx="200026" cy="200025"/>
              <a:chOff x="738188" y="5668328"/>
              <a:chExt cx="200026" cy="200025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738188" y="566832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777926" y="571277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812642" y="582390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1040130" y="5525452"/>
              <a:ext cx="44919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记法：空的有 n+1 个，掐掉首末两头，剩下 n−1 条线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索。这三个数只和 n 有关，和树长成什么样子无关。</a:t>
              </a:r>
            </a:p>
          </p:txBody>
        </p:sp>
      </p:grpSp>
      <p:grpSp>
        <p:nvGrpSpPr>
          <p:cNvPr id="62" name="c2-card-1"/>
          <p:cNvGrpSpPr/>
          <p:nvPr/>
        </p:nvGrpSpPr>
        <p:grpSpPr>
          <a:xfrm>
            <a:off x="6464618" y="1524000"/>
            <a:ext cx="5193982" cy="1866900"/>
            <a:chOff x="6464618" y="1524000"/>
            <a:chExt cx="5193982" cy="1866900"/>
          </a:xfrm>
        </p:grpSpPr>
        <p:sp>
          <p:nvSpPr>
            <p:cNvPr id="55" name="Rectangle 55"/>
            <p:cNvSpPr/>
            <p:nvPr/>
          </p:nvSpPr>
          <p:spPr>
            <a:xfrm>
              <a:off x="6464618" y="1524000"/>
              <a:ext cx="5193982" cy="1866900"/>
            </a:xfrm>
            <a:prstGeom prst="roundRect">
              <a:avLst>
                <a:gd name="adj" fmla="val 714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6474142" y="1657350"/>
              <a:ext cx="47625" cy="160020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6712268" y="1733550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798526" y="176926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结论二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455218" y="1768792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叶结点的充要条件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704648" y="2129790"/>
              <a:ext cx="4206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线索二叉树中，一个结点是叶结点，当且仅当它的</a:t>
              </a:r>
              <a:br/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LThread 和 RThread 都是 1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705791" y="2747486"/>
              <a:ext cx="451586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LThread = 1 说明没有左孩子，RThread = 1 说明没有右孩子，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两个凑齐就是叶结点。</a:t>
              </a:r>
            </a:p>
          </p:txBody>
        </p:sp>
      </p:grpSp>
      <p:grpSp>
        <p:nvGrpSpPr>
          <p:cNvPr id="69" name="c2-card-2"/>
          <p:cNvGrpSpPr/>
          <p:nvPr/>
        </p:nvGrpSpPr>
        <p:grpSpPr>
          <a:xfrm>
            <a:off x="6464618" y="3581400"/>
            <a:ext cx="5193982" cy="1335405"/>
            <a:chOff x="6464618" y="3581400"/>
            <a:chExt cx="5193982" cy="1335405"/>
          </a:xfrm>
        </p:grpSpPr>
        <p:sp>
          <p:nvSpPr>
            <p:cNvPr id="63" name="Rectangle 63"/>
            <p:cNvSpPr/>
            <p:nvPr/>
          </p:nvSpPr>
          <p:spPr>
            <a:xfrm>
              <a:off x="6464618" y="3581400"/>
              <a:ext cx="5193982" cy="1335405"/>
            </a:xfrm>
            <a:prstGeom prst="roundRect">
              <a:avLst>
                <a:gd name="adj" fmla="val 99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6474142" y="3714750"/>
              <a:ext cx="47625" cy="106870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6712268" y="3790950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798526" y="382666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结论三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455218" y="3826192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线索二叉树的目的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704648" y="4187190"/>
              <a:ext cx="4396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在中序线索二叉树中可以方便地找到给定结点的中根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前驱和中根后继，而且不需要太多额外空间。</a:t>
              </a:r>
            </a:p>
          </p:txBody>
        </p:sp>
      </p:grpSp>
      <p:grpSp>
        <p:nvGrpSpPr>
          <p:cNvPr id="76" name="c2-callout-3"/>
          <p:cNvGrpSpPr/>
          <p:nvPr/>
        </p:nvGrpSpPr>
        <p:grpSpPr>
          <a:xfrm>
            <a:off x="6464618" y="5107305"/>
            <a:ext cx="5193982" cy="1059180"/>
            <a:chOff x="6464618" y="5107305"/>
            <a:chExt cx="5193982" cy="1059180"/>
          </a:xfrm>
        </p:grpSpPr>
        <p:sp>
          <p:nvSpPr>
            <p:cNvPr id="70" name="Rectangle 70"/>
            <p:cNvSpPr/>
            <p:nvPr/>
          </p:nvSpPr>
          <p:spPr>
            <a:xfrm>
              <a:off x="6464618" y="5107305"/>
              <a:ext cx="5193982" cy="1059180"/>
            </a:xfrm>
            <a:prstGeom prst="roundRect">
              <a:avLst>
                <a:gd name="adj" fmla="val 10791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74" name="Group 74"/>
            <p:cNvGrpSpPr/>
            <p:nvPr/>
          </p:nvGrpSpPr>
          <p:grpSpPr>
            <a:xfrm>
              <a:off x="6657347" y="5533191"/>
              <a:ext cx="224134" cy="192560"/>
              <a:chOff x="6657347" y="5533191"/>
              <a:chExt cx="224134" cy="192560"/>
            </a:xfrm>
          </p:grpSpPr>
          <p:sp>
            <p:nvSpPr>
              <p:cNvPr id="71" name="Freeform 71"/>
              <p:cNvSpPr/>
              <p:nvPr/>
            </p:nvSpPr>
            <p:spPr>
              <a:xfrm>
                <a:off x="6769418" y="560355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6657347" y="553319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6769418" y="568134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75" name="TextBox 75"/>
            <p:cNvSpPr txBox="1"/>
            <p:nvPr/>
          </p:nvSpPr>
          <p:spPr>
            <a:xfrm>
              <a:off x="6971348" y="5255895"/>
              <a:ext cx="42062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结论二只在线索树上成立。没有线索化的普通二叉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 xml:space="preserve">树，判叶结点还是看 </a:t>
              </a:r>
              <a:r>
                <a:rPr lang="en-US" sz="150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left == NULL &amp;&amp; right ==</a:t>
              </a:r>
              <a:br/>
              <a:r>
                <a:rPr lang="en-US" sz="150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NULL</a:t>
              </a: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7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7" name="TextBox 77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第9讲 线索二叉树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1842" cy="909257"/>
            <a:chOff x="520446" y="342900"/>
            <a:chExt cx="48318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第9讲 线索树 · 动机与基本概念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课下思考（一）：考研题全国卷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7917792" cy="308039"/>
            <a:chOff x="525399" y="1550194"/>
            <a:chExt cx="7917792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791779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若对图中的二叉树进行中序线索化，则结点 x 的左右线索指向的结点分别是哪两个？</a:t>
              </a:r>
            </a:p>
          </p:txBody>
        </p:sp>
      </p:grpSp>
      <p:grpSp>
        <p:nvGrpSpPr>
          <p:cNvPr id="26" name="c1-tree-1"/>
          <p:cNvGrpSpPr/>
          <p:nvPr/>
        </p:nvGrpSpPr>
        <p:grpSpPr>
          <a:xfrm>
            <a:off x="864870" y="2031682"/>
            <a:ext cx="3124200" cy="2062163"/>
            <a:chOff x="864870" y="2031682"/>
            <a:chExt cx="3124200" cy="2062163"/>
          </a:xfrm>
        </p:grpSpPr>
        <p:sp>
          <p:nvSpPr>
            <p:cNvPr id="9" name="Freeform 9"/>
            <p:cNvSpPr/>
            <p:nvPr/>
          </p:nvSpPr>
          <p:spPr>
            <a:xfrm>
              <a:off x="1074420" y="3336608"/>
              <a:ext cx="270510" cy="547688"/>
            </a:xfrm>
            <a:custGeom>
              <a:avLst/>
              <a:gdLst/>
              <a:ahLst/>
              <a:cxnLst/>
              <a:rect l="l" t="t" r="r" b="b"/>
              <a:pathLst>
                <a:path w="270510" h="547688">
                  <a:moveTo>
                    <a:pt x="0" y="0"/>
                  </a:moveTo>
                  <a:lnTo>
                    <a:pt x="270510" y="54768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074420" y="2788920"/>
              <a:ext cx="541020" cy="547688"/>
            </a:xfrm>
            <a:custGeom>
              <a:avLst/>
              <a:gdLst/>
              <a:ahLst/>
              <a:cxnLst/>
              <a:rect l="l" t="t" r="r" b="b"/>
              <a:pathLst>
                <a:path w="541020" h="547688">
                  <a:moveTo>
                    <a:pt x="541020" y="0"/>
                  </a:moveTo>
                  <a:lnTo>
                    <a:pt x="0" y="54768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615440" y="2788920"/>
              <a:ext cx="541020" cy="547688"/>
            </a:xfrm>
            <a:custGeom>
              <a:avLst/>
              <a:gdLst/>
              <a:ahLst/>
              <a:cxnLst/>
              <a:rect l="l" t="t" r="r" b="b"/>
              <a:pathLst>
                <a:path w="541020" h="547688">
                  <a:moveTo>
                    <a:pt x="0" y="0"/>
                  </a:moveTo>
                  <a:lnTo>
                    <a:pt x="541020" y="54768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615440" y="2241232"/>
              <a:ext cx="1082040" cy="547688"/>
            </a:xfrm>
            <a:custGeom>
              <a:avLst/>
              <a:gdLst/>
              <a:ahLst/>
              <a:cxnLst/>
              <a:rect l="l" t="t" r="r" b="b"/>
              <a:pathLst>
                <a:path w="1082040" h="547688">
                  <a:moveTo>
                    <a:pt x="1082040" y="0"/>
                  </a:moveTo>
                  <a:lnTo>
                    <a:pt x="0" y="54768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2697480" y="2241232"/>
              <a:ext cx="1082040" cy="547688"/>
            </a:xfrm>
            <a:custGeom>
              <a:avLst/>
              <a:gdLst/>
              <a:ahLst/>
              <a:cxnLst/>
              <a:rect l="l" t="t" r="r" b="b"/>
              <a:pathLst>
                <a:path w="1082040" h="547688">
                  <a:moveTo>
                    <a:pt x="0" y="0"/>
                  </a:moveTo>
                  <a:lnTo>
                    <a:pt x="1082040" y="54768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1135380" y="3674745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864870" y="3127058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1946910" y="3127058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1405890" y="2579370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3569970" y="2579370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2487930" y="2031682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295679" y="381428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25169" y="326659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107209" y="326659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566189" y="271891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730269" y="271891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648229" y="21712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</p:grpSp>
      <p:grpSp>
        <p:nvGrpSpPr>
          <p:cNvPr id="29" name="c1-bullets-2"/>
          <p:cNvGrpSpPr/>
          <p:nvPr/>
        </p:nvGrpSpPr>
        <p:grpSpPr>
          <a:xfrm>
            <a:off x="698373" y="4369594"/>
            <a:ext cx="1271315" cy="555116"/>
            <a:chOff x="698373" y="4369594"/>
            <a:chExt cx="1271315" cy="555116"/>
          </a:xfrm>
        </p:grpSpPr>
        <p:sp>
          <p:nvSpPr>
            <p:cNvPr id="27" name="TextBox 27"/>
            <p:cNvSpPr txBox="1"/>
            <p:nvPr/>
          </p:nvSpPr>
          <p:spPr>
            <a:xfrm>
              <a:off x="698373" y="4369594"/>
              <a:ext cx="12419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A. e, c B. e, a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98373" y="4675346"/>
              <a:ext cx="127131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C. d, c </a:t>
              </a:r>
              <a:r>
                <a:rPr lang="en-US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D. b, a</a:t>
              </a:r>
            </a:p>
          </p:txBody>
        </p:sp>
      </p:grpSp>
      <p:grpSp>
        <p:nvGrpSpPr>
          <p:cNvPr id="43" name="c2-steps-1"/>
          <p:cNvGrpSpPr/>
          <p:nvPr/>
        </p:nvGrpSpPr>
        <p:grpSpPr>
          <a:xfrm>
            <a:off x="5166360" y="1977390"/>
            <a:ext cx="6249695" cy="2112931"/>
            <a:chOff x="5166360" y="1977390"/>
            <a:chExt cx="6249695" cy="2112931"/>
          </a:xfrm>
        </p:grpSpPr>
        <p:sp>
          <p:nvSpPr>
            <p:cNvPr id="30" name="Rectangle 30"/>
            <p:cNvSpPr/>
            <p:nvPr/>
          </p:nvSpPr>
          <p:spPr>
            <a:xfrm>
              <a:off x="5299710" y="2120265"/>
              <a:ext cx="19050" cy="13011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5166360" y="197739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259984" y="20512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5166360" y="262794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259984" y="27017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5166360" y="327850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259984" y="33523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577840" y="2011680"/>
              <a:ext cx="16942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第一步 写中根序列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578983" y="2304574"/>
              <a:ext cx="550803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左子树 b 的部分是 d e b x，加上根 a 和右子树 c，整串是 </a:t>
              </a:r>
              <a:r>
                <a:rPr lang="en-US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d e b x a c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577840" y="2662238"/>
              <a:ext cx="21400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第二步 看 x 有没有孩子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578983" y="2955131"/>
              <a:ext cx="564760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是叶结点，左右指针都空，所以两个指针都会变成线索，标志位都是 1。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577840" y="3312795"/>
              <a:ext cx="189621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第三步 查前驱与后继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578983" y="3606641"/>
              <a:ext cx="583707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在序列 d e b x a c 里，x 的前一个是 b、后一个是 a，所以左线索指向 </a:t>
              </a:r>
              <a:r>
                <a:rPr lang="en-US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b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、右线索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指向 </a:t>
              </a:r>
              <a:r>
                <a:rPr lang="en-US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a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，选 D。</a:t>
              </a:r>
            </a:p>
          </p:txBody>
        </p:sp>
      </p:grpSp>
      <p:grpSp>
        <p:nvGrpSpPr>
          <p:cNvPr id="52" name="c2-card-2"/>
          <p:cNvGrpSpPr/>
          <p:nvPr/>
        </p:nvGrpSpPr>
        <p:grpSpPr>
          <a:xfrm>
            <a:off x="5166360" y="4269105"/>
            <a:ext cx="6492240" cy="1937385"/>
            <a:chOff x="5166360" y="4269105"/>
            <a:chExt cx="6492240" cy="1937385"/>
          </a:xfrm>
        </p:grpSpPr>
        <p:sp>
          <p:nvSpPr>
            <p:cNvPr id="44" name="Rectangle 44"/>
            <p:cNvSpPr/>
            <p:nvPr/>
          </p:nvSpPr>
          <p:spPr>
            <a:xfrm>
              <a:off x="5166360" y="4269105"/>
              <a:ext cx="6492240" cy="1937385"/>
            </a:xfrm>
            <a:prstGeom prst="roundRect">
              <a:avLst>
                <a:gd name="adj" fmla="val 688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5175885" y="4402455"/>
              <a:ext cx="47625" cy="167068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5414010" y="4478655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483517" y="4514374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两个常见的错法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5419725" y="491871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577840" y="4855845"/>
              <a:ext cx="55873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d 的右孩子 e 看成左孩子：序列变成 e d b x a c，x 的前驱仍是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b，答案不受影响，但 d、e 自己的线索会写反。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5419725" y="553974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577840" y="5476875"/>
              <a:ext cx="55968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直接答 x 的父结点 b 和祖父 a 而不查序列：这题碰巧对了，换成 x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有右子树的树就会错。</a:t>
              </a:r>
            </a:p>
          </p:txBody>
        </p:sp>
      </p:grpSp>
      <p:grpSp>
        <p:nvGrpSpPr>
          <p:cNvPr id="5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3" name="TextBox 53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第9讲 线索二叉树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第9讲 线索树 · 动机与基本概念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课下思考（二）：吉林大学期末考试题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6919722" cy="264033"/>
            <a:chOff x="526542" y="1545907"/>
            <a:chExt cx="6919722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69197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画出下图二叉树的中序线索二叉树的链接结构图。八个结点逐一填表，一处都不能漏。</a:t>
              </a:r>
            </a:p>
          </p:txBody>
        </p:sp>
      </p:grpSp>
      <p:grpSp>
        <p:nvGrpSpPr>
          <p:cNvPr id="32" name="c1-tree-1"/>
          <p:cNvGrpSpPr/>
          <p:nvPr/>
        </p:nvGrpSpPr>
        <p:grpSpPr>
          <a:xfrm>
            <a:off x="869632" y="1987868"/>
            <a:ext cx="3439478" cy="1784032"/>
            <a:chOff x="869632" y="1987868"/>
            <a:chExt cx="3439478" cy="1784032"/>
          </a:xfrm>
        </p:grpSpPr>
        <p:sp>
          <p:nvSpPr>
            <p:cNvPr id="9" name="Freeform 9"/>
            <p:cNvSpPr/>
            <p:nvPr/>
          </p:nvSpPr>
          <p:spPr>
            <a:xfrm>
              <a:off x="1047750" y="2642235"/>
              <a:ext cx="513398" cy="475298"/>
            </a:xfrm>
            <a:custGeom>
              <a:avLst/>
              <a:gdLst/>
              <a:ahLst/>
              <a:cxnLst/>
              <a:rect l="l" t="t" r="r" b="b"/>
              <a:pathLst>
                <a:path w="513398" h="475298">
                  <a:moveTo>
                    <a:pt x="513398" y="0"/>
                  </a:moveTo>
                  <a:lnTo>
                    <a:pt x="0" y="47529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103245" y="3117532"/>
              <a:ext cx="257175" cy="476250"/>
            </a:xfrm>
            <a:custGeom>
              <a:avLst/>
              <a:gdLst/>
              <a:ahLst/>
              <a:cxnLst/>
              <a:rect l="l" t="t" r="r" b="b"/>
              <a:pathLst>
                <a:path w="257175" h="476250">
                  <a:moveTo>
                    <a:pt x="0" y="0"/>
                  </a:moveTo>
                  <a:lnTo>
                    <a:pt x="257175" y="47625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3873818" y="3117532"/>
              <a:ext cx="257175" cy="476250"/>
            </a:xfrm>
            <a:custGeom>
              <a:avLst/>
              <a:gdLst/>
              <a:ahLst/>
              <a:cxnLst/>
              <a:rect l="l" t="t" r="r" b="b"/>
              <a:pathLst>
                <a:path w="257175" h="476250">
                  <a:moveTo>
                    <a:pt x="257175" y="0"/>
                  </a:moveTo>
                  <a:lnTo>
                    <a:pt x="0" y="47625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103245" y="2642235"/>
              <a:ext cx="514350" cy="475298"/>
            </a:xfrm>
            <a:custGeom>
              <a:avLst/>
              <a:gdLst/>
              <a:ahLst/>
              <a:cxnLst/>
              <a:rect l="l" t="t" r="r" b="b"/>
              <a:pathLst>
                <a:path w="514350" h="475298">
                  <a:moveTo>
                    <a:pt x="514350" y="0"/>
                  </a:moveTo>
                  <a:lnTo>
                    <a:pt x="0" y="47529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3617595" y="2642235"/>
              <a:ext cx="513397" cy="475298"/>
            </a:xfrm>
            <a:custGeom>
              <a:avLst/>
              <a:gdLst/>
              <a:ahLst/>
              <a:cxnLst/>
              <a:rect l="l" t="t" r="r" b="b"/>
              <a:pathLst>
                <a:path w="513397" h="475298">
                  <a:moveTo>
                    <a:pt x="0" y="0"/>
                  </a:moveTo>
                  <a:lnTo>
                    <a:pt x="513397" y="47529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1561148" y="2165985"/>
              <a:ext cx="1027748" cy="476250"/>
            </a:xfrm>
            <a:custGeom>
              <a:avLst/>
              <a:gdLst/>
              <a:ahLst/>
              <a:cxnLst/>
              <a:rect l="l" t="t" r="r" b="b"/>
              <a:pathLst>
                <a:path w="1027748" h="476250">
                  <a:moveTo>
                    <a:pt x="1027748" y="0"/>
                  </a:moveTo>
                  <a:lnTo>
                    <a:pt x="0" y="47625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2588895" y="2165985"/>
              <a:ext cx="1028700" cy="476250"/>
            </a:xfrm>
            <a:custGeom>
              <a:avLst/>
              <a:gdLst/>
              <a:ahLst/>
              <a:cxnLst/>
              <a:rect l="l" t="t" r="r" b="b"/>
              <a:pathLst>
                <a:path w="1028700" h="476250">
                  <a:moveTo>
                    <a:pt x="0" y="0"/>
                  </a:moveTo>
                  <a:lnTo>
                    <a:pt x="1028700" y="47625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869632" y="2939415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1383030" y="2464118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3182302" y="3415665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2925128" y="2939415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3695700" y="3415665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3952875" y="2939415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3439478" y="2464118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2410778" y="1987868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002547" y="3057049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515944" y="2581751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315217" y="3532346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058042" y="3057049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828614" y="3532346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085789" y="3057049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572392" y="2581751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543692" y="2105501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</p:grpSp>
      <p:grpSp>
        <p:nvGrpSpPr>
          <p:cNvPr id="34" name="c1-text-2"/>
          <p:cNvGrpSpPr/>
          <p:nvPr/>
        </p:nvGrpSpPr>
        <p:grpSpPr>
          <a:xfrm>
            <a:off x="528066" y="4012882"/>
            <a:ext cx="2019452" cy="205359"/>
            <a:chOff x="528066" y="4012882"/>
            <a:chExt cx="2019452" cy="205359"/>
          </a:xfrm>
        </p:grpSpPr>
        <p:sp>
          <p:nvSpPr>
            <p:cNvPr id="33" name="TextBox 33"/>
            <p:cNvSpPr txBox="1"/>
            <p:nvPr/>
          </p:nvSpPr>
          <p:spPr>
            <a:xfrm>
              <a:off x="528066" y="4012882"/>
              <a:ext cx="201945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中根遍历序列：</a:t>
              </a:r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 B A E F D H G</a:t>
              </a:r>
            </a:p>
          </p:txBody>
        </p:sp>
      </p:grpSp>
      <p:grpSp>
        <p:nvGrpSpPr>
          <p:cNvPr id="40" name="c1-callout-3"/>
          <p:cNvGrpSpPr/>
          <p:nvPr/>
        </p:nvGrpSpPr>
        <p:grpSpPr>
          <a:xfrm>
            <a:off x="533400" y="4342448"/>
            <a:ext cx="4111942" cy="702945"/>
            <a:chOff x="533400" y="4342448"/>
            <a:chExt cx="4111942" cy="702945"/>
          </a:xfrm>
        </p:grpSpPr>
        <p:sp>
          <p:nvSpPr>
            <p:cNvPr id="35" name="Rectangle 35"/>
            <p:cNvSpPr/>
            <p:nvPr/>
          </p:nvSpPr>
          <p:spPr>
            <a:xfrm>
              <a:off x="533400" y="4342448"/>
              <a:ext cx="4111942" cy="702945"/>
            </a:xfrm>
            <a:prstGeom prst="roundRect">
              <a:avLst>
                <a:gd name="adj" fmla="val 16260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738188" y="4593910"/>
              <a:ext cx="200023" cy="200023"/>
              <a:chOff x="738188" y="4593910"/>
              <a:chExt cx="200023" cy="200023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738188" y="459391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871538" y="46605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1041273" y="4486751"/>
              <a:ext cx="328041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首结点 C 的左线索、末结点 G 的右线索为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空，其余 7 条线索全部有指向，正好是 n−1。</a:t>
              </a:r>
            </a:p>
          </p:txBody>
        </p:sp>
      </p:grpSp>
      <p:grpSp>
        <p:nvGrpSpPr>
          <p:cNvPr id="115" name="c2-table-1"/>
          <p:cNvGrpSpPr/>
          <p:nvPr/>
        </p:nvGrpSpPr>
        <p:grpSpPr>
          <a:xfrm>
            <a:off x="4950142" y="1928812"/>
            <a:ext cx="6708458" cy="3432810"/>
            <a:chOff x="4950142" y="1928812"/>
            <a:chExt cx="6708458" cy="3432810"/>
          </a:xfrm>
        </p:grpSpPr>
        <p:sp>
          <p:nvSpPr>
            <p:cNvPr id="41" name="Rectangle 41"/>
            <p:cNvSpPr/>
            <p:nvPr/>
          </p:nvSpPr>
          <p:spPr>
            <a:xfrm>
              <a:off x="4950142" y="1928812"/>
              <a:ext cx="6708458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172075" y="20459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结点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928927" y="2045970"/>
              <a:ext cx="5913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LThread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026185" y="2045970"/>
              <a:ext cx="3418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Left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876623" y="2045970"/>
              <a:ext cx="38591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Right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746422" y="2045970"/>
              <a:ext cx="5913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RThread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189083" y="204597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左指针是什么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044821" y="2426970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783009" y="242697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855524" y="2426970"/>
              <a:ext cx="92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728014" y="2426970"/>
              <a:ext cx="92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600504" y="242697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673971" y="2426970"/>
              <a:ext cx="5616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左孩子 B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4950142" y="2687002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4950142" y="2691765"/>
              <a:ext cx="6708458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5044821" y="2808923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5783009" y="2808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855524" y="2808923"/>
              <a:ext cx="92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728014" y="2808923"/>
              <a:ext cx="92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600504" y="2808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673971" y="2808923"/>
              <a:ext cx="16924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左孩子 C，右边是后继线索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4950142" y="3068002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5044821" y="3189923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5783009" y="3189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6770370" y="3082290"/>
              <a:ext cx="853440" cy="361950"/>
            </a:xfrm>
            <a:prstGeom prst="rect">
              <a:avLst/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855524" y="3189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∧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728014" y="3189923"/>
              <a:ext cx="92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600504" y="3189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9673971" y="3189923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首结点，左线索为空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4950142" y="3449002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1" name="Rectangle 71"/>
            <p:cNvSpPr/>
            <p:nvPr/>
          </p:nvSpPr>
          <p:spPr>
            <a:xfrm>
              <a:off x="4950142" y="3453765"/>
              <a:ext cx="6708458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5044821" y="3571875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5783009" y="3571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6855524" y="3571875"/>
              <a:ext cx="92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7728014" y="3571875"/>
              <a:ext cx="92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8600504" y="3571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9673971" y="3571875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左右都有孩子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4950142" y="3830955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5044821" y="3952875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5783009" y="3952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6855524" y="3952875"/>
              <a:ext cx="92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7728014" y="3952875"/>
              <a:ext cx="92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8600504" y="3952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9673971" y="3952875"/>
              <a:ext cx="13953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前驱线索 A，右孩子 F</a:t>
              </a:r>
            </a:p>
          </p:txBody>
        </p:sp>
        <p:sp>
          <p:nvSpPr>
            <p:cNvPr id="85" name="Rectangle 85"/>
            <p:cNvSpPr/>
            <p:nvPr/>
          </p:nvSpPr>
          <p:spPr>
            <a:xfrm>
              <a:off x="4950142" y="4211955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6" name="Rectangle 86"/>
            <p:cNvSpPr/>
            <p:nvPr/>
          </p:nvSpPr>
          <p:spPr>
            <a:xfrm>
              <a:off x="4950142" y="4216718"/>
              <a:ext cx="6708458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5044821" y="4333875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5783009" y="4333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6855524" y="4333875"/>
              <a:ext cx="92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7728014" y="4333875"/>
              <a:ext cx="92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8600504" y="4333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9673971" y="4333875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叶结点</a:t>
              </a:r>
            </a:p>
          </p:txBody>
        </p:sp>
        <p:sp>
          <p:nvSpPr>
            <p:cNvPr id="93" name="Rectangle 93"/>
            <p:cNvSpPr/>
            <p:nvPr/>
          </p:nvSpPr>
          <p:spPr>
            <a:xfrm>
              <a:off x="4950142" y="4593908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5044821" y="4715828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5783009" y="471582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6855524" y="4715828"/>
              <a:ext cx="92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</a:t>
              </a:r>
            </a:p>
          </p:txBody>
        </p:sp>
        <p:sp>
          <p:nvSpPr>
            <p:cNvPr id="97" name="Rectangle 97"/>
            <p:cNvSpPr/>
            <p:nvPr/>
          </p:nvSpPr>
          <p:spPr>
            <a:xfrm>
              <a:off x="7642860" y="4608195"/>
              <a:ext cx="853440" cy="361950"/>
            </a:xfrm>
            <a:prstGeom prst="rect">
              <a:avLst/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98" name="TextBox 98"/>
            <p:cNvSpPr txBox="1"/>
            <p:nvPr/>
          </p:nvSpPr>
          <p:spPr>
            <a:xfrm>
              <a:off x="7728014" y="471582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∧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8600504" y="471582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9673971" y="4715828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末结点，右线索为空</a:t>
              </a:r>
            </a:p>
          </p:txBody>
        </p:sp>
        <p:sp>
          <p:nvSpPr>
            <p:cNvPr id="101" name="Rectangle 101"/>
            <p:cNvSpPr/>
            <p:nvPr/>
          </p:nvSpPr>
          <p:spPr>
            <a:xfrm>
              <a:off x="4950142" y="4974908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2" name="Rectangle 102"/>
            <p:cNvSpPr/>
            <p:nvPr/>
          </p:nvSpPr>
          <p:spPr>
            <a:xfrm>
              <a:off x="4950142" y="4979670"/>
              <a:ext cx="6708458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3" name="TextBox 103"/>
            <p:cNvSpPr txBox="1"/>
            <p:nvPr/>
          </p:nvSpPr>
          <p:spPr>
            <a:xfrm>
              <a:off x="5044821" y="5096828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5783009" y="509682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6855524" y="5096828"/>
              <a:ext cx="92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7728014" y="5096828"/>
              <a:ext cx="92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8600504" y="509682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9673971" y="5096828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叶结点</a:t>
              </a:r>
            </a:p>
          </p:txBody>
        </p:sp>
        <p:sp>
          <p:nvSpPr>
            <p:cNvPr id="109" name="Rectangle 109"/>
            <p:cNvSpPr/>
            <p:nvPr/>
          </p:nvSpPr>
          <p:spPr>
            <a:xfrm>
              <a:off x="4950142" y="1928812"/>
              <a:ext cx="6708458" cy="343281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10" name="Rectangle 110"/>
            <p:cNvSpPr/>
            <p:nvPr/>
          </p:nvSpPr>
          <p:spPr>
            <a:xfrm>
              <a:off x="5683568" y="1928812"/>
              <a:ext cx="9525" cy="34328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1" name="Rectangle 111"/>
            <p:cNvSpPr/>
            <p:nvPr/>
          </p:nvSpPr>
          <p:spPr>
            <a:xfrm>
              <a:off x="6756082" y="1928812"/>
              <a:ext cx="9525" cy="34328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2" name="Rectangle 112"/>
            <p:cNvSpPr/>
            <p:nvPr/>
          </p:nvSpPr>
          <p:spPr>
            <a:xfrm>
              <a:off x="7628572" y="1928812"/>
              <a:ext cx="9525" cy="34328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3" name="Rectangle 113"/>
            <p:cNvSpPr/>
            <p:nvPr/>
          </p:nvSpPr>
          <p:spPr>
            <a:xfrm>
              <a:off x="8501062" y="1928812"/>
              <a:ext cx="9525" cy="34328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4" name="Rectangle 114"/>
            <p:cNvSpPr/>
            <p:nvPr/>
          </p:nvSpPr>
          <p:spPr>
            <a:xfrm>
              <a:off x="9574530" y="1928812"/>
              <a:ext cx="9525" cy="34328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122" name="c2-callout-2"/>
          <p:cNvGrpSpPr/>
          <p:nvPr/>
        </p:nvGrpSpPr>
        <p:grpSpPr>
          <a:xfrm>
            <a:off x="4950142" y="5525452"/>
            <a:ext cx="6708458" cy="702945"/>
            <a:chOff x="4950142" y="5525452"/>
            <a:chExt cx="6708458" cy="702945"/>
          </a:xfrm>
        </p:grpSpPr>
        <p:sp>
          <p:nvSpPr>
            <p:cNvPr id="116" name="Rectangle 116"/>
            <p:cNvSpPr/>
            <p:nvPr/>
          </p:nvSpPr>
          <p:spPr>
            <a:xfrm>
              <a:off x="4950142" y="5525452"/>
              <a:ext cx="6708458" cy="702945"/>
            </a:xfrm>
            <a:prstGeom prst="roundRect">
              <a:avLst>
                <a:gd name="adj" fmla="val 1626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20" name="Group 120"/>
            <p:cNvGrpSpPr/>
            <p:nvPr/>
          </p:nvGrpSpPr>
          <p:grpSpPr>
            <a:xfrm>
              <a:off x="5154930" y="5776913"/>
              <a:ext cx="200026" cy="200025"/>
              <a:chOff x="5154930" y="5776913"/>
              <a:chExt cx="200026" cy="200025"/>
            </a:xfrm>
          </p:grpSpPr>
          <p:sp>
            <p:nvSpPr>
              <p:cNvPr id="117" name="Freeform 117"/>
              <p:cNvSpPr/>
              <p:nvPr/>
            </p:nvSpPr>
            <p:spPr>
              <a:xfrm>
                <a:off x="5154930" y="577691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18" name="Freeform 118"/>
              <p:cNvSpPr/>
              <p:nvPr/>
            </p:nvSpPr>
            <p:spPr>
              <a:xfrm>
                <a:off x="5194669" y="582136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19" name="Freeform 119"/>
              <p:cNvSpPr/>
              <p:nvPr/>
            </p:nvSpPr>
            <p:spPr>
              <a:xfrm>
                <a:off x="5229384" y="593248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21" name="TextBox 121"/>
            <p:cNvSpPr txBox="1"/>
            <p:nvPr/>
          </p:nvSpPr>
          <p:spPr>
            <a:xfrm>
              <a:off x="5458016" y="5670709"/>
              <a:ext cx="567817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核对办法：把 RThread 为 1 的结点按 Right 串起来，从首结点 C 出发应当正好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走出中根序列 C B A E F D H G。</a:t>
              </a:r>
            </a:p>
          </p:txBody>
        </p:sp>
      </p:grpSp>
      <p:grpSp>
        <p:nvGrpSpPr>
          <p:cNvPr id="12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23" name="TextBox 123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第9讲 线索二叉树</a:t>
              </a:r>
            </a:p>
          </p:txBody>
        </p:sp>
        <p:sp>
          <p:nvSpPr>
            <p:cNvPr id="124" name="TextBox 12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6437376" cy="4247197"/>
            <a:chOff x="667512" y="1835468"/>
            <a:chExt cx="6437376" cy="424719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6437376" cy="12755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4500"/>
                </a:lnSpc>
              </a:pPr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中序线索二叉树上的四个基本操</a:t>
              </a:r>
              <a:br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6128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949065"/>
              <a:ext cx="6303264" cy="6465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找首结点、找末结点、找中根前驱、找中根后继，再用它们拼出一趟</a:t>
              </a:r>
              <a:br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不用栈的遍历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478345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4726305"/>
              <a:ext cx="286056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FirstInOrder 与 LastInOrder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513778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5080635"/>
              <a:ext cx="26897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PreInOrder 与 NextInOrder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549211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543496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四个操作的复杂度与前提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584644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578929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中根遍历的时间与空间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第9讲 线索二叉树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821342" cy="909257"/>
            <a:chOff x="520446" y="342900"/>
            <a:chExt cx="78213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40995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6603" y="407194"/>
              <a:ext cx="33435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第9讲 线索树 · 中序线索二叉树上的四个基本操作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8213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FirstInOrder：从根沿左分支一直走，走不动为止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3" name="c1-graph-1"/>
          <p:cNvGrpSpPr/>
          <p:nvPr/>
        </p:nvGrpSpPr>
        <p:grpSpPr>
          <a:xfrm>
            <a:off x="1416368" y="1669732"/>
            <a:ext cx="3957637" cy="3593783"/>
            <a:chOff x="1416368" y="1669732"/>
            <a:chExt cx="3957637" cy="3593783"/>
          </a:xfrm>
        </p:grpSpPr>
        <p:sp>
          <p:nvSpPr>
            <p:cNvPr id="7" name="Freeform 7"/>
            <p:cNvSpPr/>
            <p:nvPr/>
          </p:nvSpPr>
          <p:spPr>
            <a:xfrm>
              <a:off x="2640330" y="1932622"/>
              <a:ext cx="541973" cy="396240"/>
            </a:xfrm>
            <a:custGeom>
              <a:avLst/>
              <a:gdLst/>
              <a:ahLst/>
              <a:cxnLst/>
              <a:rect l="l" t="t" r="r" b="b"/>
              <a:pathLst>
                <a:path w="541973" h="396240">
                  <a:moveTo>
                    <a:pt x="541973" y="0"/>
                  </a:moveTo>
                  <a:lnTo>
                    <a:pt x="0" y="39624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563178" y="2289810"/>
              <a:ext cx="104775" cy="95250"/>
            </a:xfrm>
            <a:custGeom>
              <a:avLst/>
              <a:gdLst/>
              <a:ahLst/>
              <a:cxnLst/>
              <a:rect l="l" t="t" r="r" b="b"/>
              <a:pathLst>
                <a:path w="104775" h="95250">
                  <a:moveTo>
                    <a:pt x="0" y="95250"/>
                  </a:moveTo>
                  <a:lnTo>
                    <a:pt x="48577" y="0"/>
                  </a:lnTo>
                  <a:lnTo>
                    <a:pt x="104775" y="77152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3468052" y="1919288"/>
              <a:ext cx="719138" cy="429577"/>
            </a:xfrm>
            <a:custGeom>
              <a:avLst/>
              <a:gdLst/>
              <a:ahLst/>
              <a:cxnLst/>
              <a:rect l="l" t="t" r="r" b="b"/>
              <a:pathLst>
                <a:path w="719138" h="429577">
                  <a:moveTo>
                    <a:pt x="0" y="0"/>
                  </a:moveTo>
                  <a:lnTo>
                    <a:pt x="719138" y="42957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4162425" y="2307908"/>
              <a:ext cx="105728" cy="89535"/>
            </a:xfrm>
            <a:custGeom>
              <a:avLst/>
              <a:gdLst/>
              <a:ahLst/>
              <a:cxnLst/>
              <a:rect l="l" t="t" r="r" b="b"/>
              <a:pathLst>
                <a:path w="105728" h="89535">
                  <a:moveTo>
                    <a:pt x="105728" y="89535"/>
                  </a:moveTo>
                  <a:lnTo>
                    <a:pt x="0" y="81915"/>
                  </a:lnTo>
                  <a:lnTo>
                    <a:pt x="48578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789748" y="2590800"/>
              <a:ext cx="499110" cy="385762"/>
            </a:xfrm>
            <a:custGeom>
              <a:avLst/>
              <a:gdLst/>
              <a:ahLst/>
              <a:cxnLst/>
              <a:rect l="l" t="t" r="r" b="b"/>
              <a:pathLst>
                <a:path w="499110" h="385762">
                  <a:moveTo>
                    <a:pt x="499110" y="0"/>
                  </a:moveTo>
                  <a:lnTo>
                    <a:pt x="0" y="38576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714500" y="2939415"/>
              <a:ext cx="103823" cy="95250"/>
            </a:xfrm>
            <a:custGeom>
              <a:avLst/>
              <a:gdLst/>
              <a:ahLst/>
              <a:cxnLst/>
              <a:rect l="l" t="t" r="r" b="b"/>
              <a:pathLst>
                <a:path w="103823" h="95250">
                  <a:moveTo>
                    <a:pt x="0" y="95250"/>
                  </a:moveTo>
                  <a:lnTo>
                    <a:pt x="45720" y="0"/>
                  </a:lnTo>
                  <a:lnTo>
                    <a:pt x="103823" y="75247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2553652" y="2598420"/>
              <a:ext cx="417195" cy="365760"/>
            </a:xfrm>
            <a:custGeom>
              <a:avLst/>
              <a:gdLst/>
              <a:ahLst/>
              <a:cxnLst/>
              <a:rect l="l" t="t" r="r" b="b"/>
              <a:pathLst>
                <a:path w="417195" h="365760">
                  <a:moveTo>
                    <a:pt x="0" y="0"/>
                  </a:moveTo>
                  <a:lnTo>
                    <a:pt x="417195" y="36576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2939415" y="2927985"/>
              <a:ext cx="102870" cy="99060"/>
            </a:xfrm>
            <a:custGeom>
              <a:avLst/>
              <a:gdLst/>
              <a:ahLst/>
              <a:cxnLst/>
              <a:rect l="l" t="t" r="r" b="b"/>
              <a:pathLst>
                <a:path w="102870" h="99060">
                  <a:moveTo>
                    <a:pt x="102870" y="99060"/>
                  </a:moveTo>
                  <a:lnTo>
                    <a:pt x="0" y="72390"/>
                  </a:lnTo>
                  <a:lnTo>
                    <a:pt x="62865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1704022" y="3257550"/>
              <a:ext cx="377190" cy="354330"/>
            </a:xfrm>
            <a:custGeom>
              <a:avLst/>
              <a:gdLst/>
              <a:ahLst/>
              <a:cxnLst/>
              <a:rect l="l" t="t" r="r" b="b"/>
              <a:pathLst>
                <a:path w="377190" h="354330">
                  <a:moveTo>
                    <a:pt x="0" y="0"/>
                  </a:moveTo>
                  <a:lnTo>
                    <a:pt x="377190" y="35433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2048828" y="3576638"/>
              <a:ext cx="101918" cy="100012"/>
            </a:xfrm>
            <a:custGeom>
              <a:avLst/>
              <a:gdLst/>
              <a:ahLst/>
              <a:cxnLst/>
              <a:rect l="l" t="t" r="r" b="b"/>
              <a:pathLst>
                <a:path w="101918" h="100012">
                  <a:moveTo>
                    <a:pt x="101918" y="100012"/>
                  </a:moveTo>
                  <a:lnTo>
                    <a:pt x="0" y="69533"/>
                  </a:lnTo>
                  <a:lnTo>
                    <a:pt x="6477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1858328" y="3920490"/>
              <a:ext cx="301943" cy="330517"/>
            </a:xfrm>
            <a:custGeom>
              <a:avLst/>
              <a:gdLst/>
              <a:ahLst/>
              <a:cxnLst/>
              <a:rect l="l" t="t" r="r" b="b"/>
              <a:pathLst>
                <a:path w="301943" h="330517">
                  <a:moveTo>
                    <a:pt x="301943" y="0"/>
                  </a:moveTo>
                  <a:lnTo>
                    <a:pt x="0" y="33051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1793558" y="4218622"/>
              <a:ext cx="100012" cy="102870"/>
            </a:xfrm>
            <a:custGeom>
              <a:avLst/>
              <a:gdLst/>
              <a:ahLst/>
              <a:cxnLst/>
              <a:rect l="l" t="t" r="r" b="b"/>
              <a:pathLst>
                <a:path w="100012" h="102870">
                  <a:moveTo>
                    <a:pt x="0" y="102870"/>
                  </a:moveTo>
                  <a:lnTo>
                    <a:pt x="29527" y="0"/>
                  </a:lnTo>
                  <a:lnTo>
                    <a:pt x="100012" y="6477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2390775" y="3920490"/>
              <a:ext cx="301942" cy="330517"/>
            </a:xfrm>
            <a:custGeom>
              <a:avLst/>
              <a:gdLst/>
              <a:ahLst/>
              <a:cxnLst/>
              <a:rect l="l" t="t" r="r" b="b"/>
              <a:pathLst>
                <a:path w="301942" h="330517">
                  <a:moveTo>
                    <a:pt x="0" y="0"/>
                  </a:moveTo>
                  <a:lnTo>
                    <a:pt x="301942" y="33051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2657475" y="4218622"/>
              <a:ext cx="100012" cy="102870"/>
            </a:xfrm>
            <a:custGeom>
              <a:avLst/>
              <a:gdLst/>
              <a:ahLst/>
              <a:cxnLst/>
              <a:rect l="l" t="t" r="r" b="b"/>
              <a:pathLst>
                <a:path w="100012" h="102870">
                  <a:moveTo>
                    <a:pt x="100012" y="102870"/>
                  </a:moveTo>
                  <a:lnTo>
                    <a:pt x="0" y="64770"/>
                  </a:lnTo>
                  <a:lnTo>
                    <a:pt x="70485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1793558" y="4574858"/>
              <a:ext cx="301942" cy="330517"/>
            </a:xfrm>
            <a:custGeom>
              <a:avLst/>
              <a:gdLst/>
              <a:ahLst/>
              <a:cxnLst/>
              <a:rect l="l" t="t" r="r" b="b"/>
              <a:pathLst>
                <a:path w="301942" h="330517">
                  <a:moveTo>
                    <a:pt x="0" y="0"/>
                  </a:moveTo>
                  <a:lnTo>
                    <a:pt x="301942" y="33051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2060258" y="4872990"/>
              <a:ext cx="100012" cy="102870"/>
            </a:xfrm>
            <a:custGeom>
              <a:avLst/>
              <a:gdLst/>
              <a:ahLst/>
              <a:cxnLst/>
              <a:rect l="l" t="t" r="r" b="b"/>
              <a:pathLst>
                <a:path w="100012" h="102870">
                  <a:moveTo>
                    <a:pt x="100012" y="102870"/>
                  </a:moveTo>
                  <a:lnTo>
                    <a:pt x="0" y="63817"/>
                  </a:lnTo>
                  <a:lnTo>
                    <a:pt x="70485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3296602" y="3257550"/>
              <a:ext cx="377190" cy="354330"/>
            </a:xfrm>
            <a:custGeom>
              <a:avLst/>
              <a:gdLst/>
              <a:ahLst/>
              <a:cxnLst/>
              <a:rect l="l" t="t" r="r" b="b"/>
              <a:pathLst>
                <a:path w="377190" h="354330">
                  <a:moveTo>
                    <a:pt x="0" y="0"/>
                  </a:moveTo>
                  <a:lnTo>
                    <a:pt x="377190" y="35433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3641408" y="3576638"/>
              <a:ext cx="101917" cy="100012"/>
            </a:xfrm>
            <a:custGeom>
              <a:avLst/>
              <a:gdLst/>
              <a:ahLst/>
              <a:cxnLst/>
              <a:rect l="l" t="t" r="r" b="b"/>
              <a:pathLst>
                <a:path w="101917" h="100012">
                  <a:moveTo>
                    <a:pt x="101917" y="100012"/>
                  </a:moveTo>
                  <a:lnTo>
                    <a:pt x="0" y="69533"/>
                  </a:lnTo>
                  <a:lnTo>
                    <a:pt x="6477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4505325" y="2632710"/>
              <a:ext cx="169545" cy="279083"/>
            </a:xfrm>
            <a:custGeom>
              <a:avLst/>
              <a:gdLst/>
              <a:ahLst/>
              <a:cxnLst/>
              <a:rect l="l" t="t" r="r" b="b"/>
              <a:pathLst>
                <a:path w="169545" h="279083">
                  <a:moveTo>
                    <a:pt x="0" y="0"/>
                  </a:moveTo>
                  <a:lnTo>
                    <a:pt x="169545" y="27908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4634865" y="2887028"/>
              <a:ext cx="89535" cy="106680"/>
            </a:xfrm>
            <a:custGeom>
              <a:avLst/>
              <a:gdLst/>
              <a:ahLst/>
              <a:cxnLst/>
              <a:rect l="l" t="t" r="r" b="b"/>
              <a:pathLst>
                <a:path w="89535" h="106680">
                  <a:moveTo>
                    <a:pt x="89535" y="106680"/>
                  </a:moveTo>
                  <a:lnTo>
                    <a:pt x="0" y="49530"/>
                  </a:lnTo>
                  <a:lnTo>
                    <a:pt x="80962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4903470" y="3286125"/>
              <a:ext cx="169545" cy="280035"/>
            </a:xfrm>
            <a:custGeom>
              <a:avLst/>
              <a:gdLst/>
              <a:ahLst/>
              <a:cxnLst/>
              <a:rect l="l" t="t" r="r" b="b"/>
              <a:pathLst>
                <a:path w="169545" h="280035">
                  <a:moveTo>
                    <a:pt x="0" y="0"/>
                  </a:moveTo>
                  <a:lnTo>
                    <a:pt x="169545" y="28003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5033010" y="3541395"/>
              <a:ext cx="89535" cy="105727"/>
            </a:xfrm>
            <a:custGeom>
              <a:avLst/>
              <a:gdLst/>
              <a:ahLst/>
              <a:cxnLst/>
              <a:rect l="l" t="t" r="r" b="b"/>
              <a:pathLst>
                <a:path w="89535" h="105727">
                  <a:moveTo>
                    <a:pt x="89535" y="105727"/>
                  </a:moveTo>
                  <a:lnTo>
                    <a:pt x="0" y="49530"/>
                  </a:lnTo>
                  <a:lnTo>
                    <a:pt x="80962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3158490" y="1669732"/>
              <a:ext cx="323850" cy="3238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2263140" y="2324100"/>
              <a:ext cx="323850" cy="3238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4253865" y="2324100"/>
              <a:ext cx="323850" cy="3238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1416368" y="2977515"/>
              <a:ext cx="323850" cy="32385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33" name="Ellipse 33"/>
            <p:cNvSpPr/>
            <p:nvPr/>
          </p:nvSpPr>
          <p:spPr>
            <a:xfrm>
              <a:off x="3009900" y="2977515"/>
              <a:ext cx="323850" cy="3238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4" name="Ellipse 34"/>
            <p:cNvSpPr/>
            <p:nvPr/>
          </p:nvSpPr>
          <p:spPr>
            <a:xfrm>
              <a:off x="4652010" y="2977515"/>
              <a:ext cx="323850" cy="3238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5" name="Ellipse 35"/>
            <p:cNvSpPr/>
            <p:nvPr/>
          </p:nvSpPr>
          <p:spPr>
            <a:xfrm>
              <a:off x="2113598" y="3631882"/>
              <a:ext cx="323850" cy="3238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3706178" y="3631882"/>
              <a:ext cx="323850" cy="3238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7" name="Ellipse 37"/>
            <p:cNvSpPr/>
            <p:nvPr/>
          </p:nvSpPr>
          <p:spPr>
            <a:xfrm>
              <a:off x="5050155" y="3631882"/>
              <a:ext cx="323850" cy="3238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8" name="Ellipse 38"/>
            <p:cNvSpPr/>
            <p:nvPr/>
          </p:nvSpPr>
          <p:spPr>
            <a:xfrm>
              <a:off x="1516380" y="4286250"/>
              <a:ext cx="323850" cy="3238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9" name="Ellipse 39"/>
            <p:cNvSpPr/>
            <p:nvPr/>
          </p:nvSpPr>
          <p:spPr>
            <a:xfrm>
              <a:off x="2710815" y="4286250"/>
              <a:ext cx="323850" cy="3238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0" name="Ellipse 40"/>
            <p:cNvSpPr/>
            <p:nvPr/>
          </p:nvSpPr>
          <p:spPr>
            <a:xfrm>
              <a:off x="2113598" y="4939665"/>
              <a:ext cx="323850" cy="3238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3278688" y="1775460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383338" y="2429828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374063" y="2429828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536565" y="3084195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130098" y="3084195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789010" y="3084195"/>
              <a:ext cx="4985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2233795" y="3737610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3826375" y="3737610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170353" y="3737610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636578" y="4391978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2831013" y="4391978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2233795" y="5046345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</a:t>
              </a:r>
            </a:p>
          </p:txBody>
        </p:sp>
      </p:grpSp>
      <p:grpSp>
        <p:nvGrpSpPr>
          <p:cNvPr id="59" name="c2-card-1"/>
          <p:cNvGrpSpPr/>
          <p:nvPr/>
        </p:nvGrpSpPr>
        <p:grpSpPr>
          <a:xfrm>
            <a:off x="5815965" y="1524000"/>
            <a:ext cx="5842635" cy="1446848"/>
            <a:chOff x="5815965" y="1524000"/>
            <a:chExt cx="5842635" cy="1446848"/>
          </a:xfrm>
        </p:grpSpPr>
        <p:sp>
          <p:nvSpPr>
            <p:cNvPr id="54" name="Rectangle 54"/>
            <p:cNvSpPr/>
            <p:nvPr/>
          </p:nvSpPr>
          <p:spPr>
            <a:xfrm>
              <a:off x="5815965" y="1524000"/>
              <a:ext cx="5842635" cy="1446848"/>
            </a:xfrm>
            <a:prstGeom prst="roundRect">
              <a:avLst>
                <a:gd name="adj" fmla="val 9217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6002655" y="171069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094374" y="174355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规则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5995797" y="2054542"/>
              <a:ext cx="51572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从根结点出发，沿左分支下行，直到再也没有左孩子的结点，它就是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中根序列的第一个结点。图中走 A → B → </a:t>
              </a:r>
              <a:r>
                <a:rPr lang="en-US" sz="135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C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5996940" y="2608421"/>
              <a:ext cx="50683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首结点不一定是叶结点</a:t>
              </a:r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。C 没有左孩子，却带着一整棵右子树 D、E、F、G。</a:t>
              </a:r>
            </a:p>
          </p:txBody>
        </p:sp>
      </p:grpSp>
      <p:grpSp>
        <p:nvGrpSpPr>
          <p:cNvPr id="63" name="c2-code-2"/>
          <p:cNvGrpSpPr/>
          <p:nvPr/>
        </p:nvGrpSpPr>
        <p:grpSpPr>
          <a:xfrm>
            <a:off x="5815965" y="3141345"/>
            <a:ext cx="5842635" cy="1592580"/>
            <a:chOff x="5815965" y="3141345"/>
            <a:chExt cx="5842635" cy="1592580"/>
          </a:xfrm>
        </p:grpSpPr>
        <p:sp>
          <p:nvSpPr>
            <p:cNvPr id="60" name="Rectangle 60"/>
            <p:cNvSpPr/>
            <p:nvPr/>
          </p:nvSpPr>
          <p:spPr>
            <a:xfrm>
              <a:off x="5815965" y="3141345"/>
              <a:ext cx="5842635" cy="1592580"/>
            </a:xfrm>
            <a:prstGeom prst="roundRect">
              <a:avLst>
                <a:gd name="adj" fmla="val 598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5944362" y="3293269"/>
              <a:ext cx="214812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在以 t 为根的中序线索树中找首结点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5944552" y="3551968"/>
              <a:ext cx="2838323" cy="10934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15"/>
                </a:lnSpc>
              </a:pP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TreeNode *FirstInOrder(TreeNode *t)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{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TreeNode *p = t;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(p-&gt;LThread == 0)   </a:t>
              </a:r>
              <a:r>
                <a:rPr lang="zh-CN" sz="86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p 还有左孩子 */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p = p-&gt;left;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70" name="c2-card-3"/>
          <p:cNvGrpSpPr/>
          <p:nvPr/>
        </p:nvGrpSpPr>
        <p:grpSpPr>
          <a:xfrm>
            <a:off x="5815965" y="4903470"/>
            <a:ext cx="5842635" cy="1446848"/>
            <a:chOff x="5815965" y="4903470"/>
            <a:chExt cx="5842635" cy="1446848"/>
          </a:xfrm>
        </p:grpSpPr>
        <p:sp>
          <p:nvSpPr>
            <p:cNvPr id="64" name="Rectangle 64"/>
            <p:cNvSpPr/>
            <p:nvPr/>
          </p:nvSpPr>
          <p:spPr>
            <a:xfrm>
              <a:off x="5815965" y="4903470"/>
              <a:ext cx="5842635" cy="1446848"/>
            </a:xfrm>
            <a:prstGeom prst="roundRect">
              <a:avLst>
                <a:gd name="adj" fmla="val 921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5825490" y="5036820"/>
              <a:ext cx="47625" cy="118014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6040755" y="509016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132474" y="512302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033897" y="5434012"/>
              <a:ext cx="5097209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源课件第 20 页函数体里写成 </a:t>
              </a:r>
              <a:r>
                <a:rPr lang="en-US" sz="135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Node *p = t;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，而 Node 这个类型从未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定义过，应为 </a:t>
              </a:r>
              <a:r>
                <a:rPr lang="en-US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TreeNode *p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035040" y="5987891"/>
              <a:ext cx="448940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 xml:space="preserve">时间复杂度 </a:t>
              </a:r>
              <a:r>
                <a:rPr lang="en-US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O(h)</a:t>
              </a: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。前提是树非空，t 为 NULL 时要在调用处挡掉。</a:t>
              </a:r>
            </a:p>
          </p:txBody>
        </p:sp>
      </p:grpSp>
      <p:grpSp>
        <p:nvGrpSpPr>
          <p:cNvPr id="7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1" name="TextBox 71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第9讲 线索二叉树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714460" cy="909257"/>
            <a:chOff x="520446" y="342900"/>
            <a:chExt cx="771446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40995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6603" y="407194"/>
              <a:ext cx="33435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第9讲 线索树 · 中序线索二叉树上的四个基本操作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71446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LastInOrder：从根沿右分支一直走，走不动为止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9" name="c1-graph-1"/>
          <p:cNvGrpSpPr/>
          <p:nvPr/>
        </p:nvGrpSpPr>
        <p:grpSpPr>
          <a:xfrm>
            <a:off x="968692" y="1680210"/>
            <a:ext cx="3309938" cy="3706178"/>
            <a:chOff x="968692" y="1680210"/>
            <a:chExt cx="3309938" cy="3706178"/>
          </a:xfrm>
        </p:grpSpPr>
        <p:sp>
          <p:nvSpPr>
            <p:cNvPr id="7" name="Freeform 7"/>
            <p:cNvSpPr/>
            <p:nvPr/>
          </p:nvSpPr>
          <p:spPr>
            <a:xfrm>
              <a:off x="2030730" y="1953578"/>
              <a:ext cx="462915" cy="392430"/>
            </a:xfrm>
            <a:custGeom>
              <a:avLst/>
              <a:gdLst/>
              <a:ahLst/>
              <a:cxnLst/>
              <a:rect l="l" t="t" r="r" b="b"/>
              <a:pathLst>
                <a:path w="462915" h="392430">
                  <a:moveTo>
                    <a:pt x="462915" y="0"/>
                  </a:moveTo>
                  <a:lnTo>
                    <a:pt x="0" y="39243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958340" y="2309812"/>
              <a:ext cx="102870" cy="98108"/>
            </a:xfrm>
            <a:custGeom>
              <a:avLst/>
              <a:gdLst/>
              <a:ahLst/>
              <a:cxnLst/>
              <a:rect l="l" t="t" r="r" b="b"/>
              <a:pathLst>
                <a:path w="102870" h="98108">
                  <a:moveTo>
                    <a:pt x="0" y="98108"/>
                  </a:moveTo>
                  <a:lnTo>
                    <a:pt x="41910" y="0"/>
                  </a:lnTo>
                  <a:lnTo>
                    <a:pt x="102870" y="7239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2766060" y="1938338"/>
              <a:ext cx="632460" cy="430530"/>
            </a:xfrm>
            <a:custGeom>
              <a:avLst/>
              <a:gdLst/>
              <a:ahLst/>
              <a:cxnLst/>
              <a:rect l="l" t="t" r="r" b="b"/>
              <a:pathLst>
                <a:path w="632460" h="430530">
                  <a:moveTo>
                    <a:pt x="0" y="0"/>
                  </a:moveTo>
                  <a:lnTo>
                    <a:pt x="632460" y="43053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371850" y="2329815"/>
              <a:ext cx="105728" cy="92393"/>
            </a:xfrm>
            <a:custGeom>
              <a:avLst/>
              <a:gdLst/>
              <a:ahLst/>
              <a:cxnLst/>
              <a:rect l="l" t="t" r="r" b="b"/>
              <a:pathLst>
                <a:path w="105728" h="92393">
                  <a:moveTo>
                    <a:pt x="105728" y="92393"/>
                  </a:moveTo>
                  <a:lnTo>
                    <a:pt x="0" y="78105"/>
                  </a:lnTo>
                  <a:lnTo>
                    <a:pt x="5334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322070" y="2638425"/>
              <a:ext cx="381952" cy="370522"/>
            </a:xfrm>
            <a:custGeom>
              <a:avLst/>
              <a:gdLst/>
              <a:ahLst/>
              <a:cxnLst/>
              <a:rect l="l" t="t" r="r" b="b"/>
              <a:pathLst>
                <a:path w="381952" h="370522">
                  <a:moveTo>
                    <a:pt x="381952" y="0"/>
                  </a:moveTo>
                  <a:lnTo>
                    <a:pt x="0" y="37052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253490" y="2974658"/>
              <a:ext cx="101918" cy="100965"/>
            </a:xfrm>
            <a:custGeom>
              <a:avLst/>
              <a:gdLst/>
              <a:ahLst/>
              <a:cxnLst/>
              <a:rect l="l" t="t" r="r" b="b"/>
              <a:pathLst>
                <a:path w="101918" h="100965">
                  <a:moveTo>
                    <a:pt x="0" y="100965"/>
                  </a:moveTo>
                  <a:lnTo>
                    <a:pt x="35243" y="0"/>
                  </a:lnTo>
                  <a:lnTo>
                    <a:pt x="101918" y="6858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1941195" y="2646998"/>
              <a:ext cx="306705" cy="347662"/>
            </a:xfrm>
            <a:custGeom>
              <a:avLst/>
              <a:gdLst/>
              <a:ahLst/>
              <a:cxnLst/>
              <a:rect l="l" t="t" r="r" b="b"/>
              <a:pathLst>
                <a:path w="306705" h="347662">
                  <a:moveTo>
                    <a:pt x="0" y="0"/>
                  </a:moveTo>
                  <a:lnTo>
                    <a:pt x="306705" y="34766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2212658" y="2963228"/>
              <a:ext cx="99060" cy="102870"/>
            </a:xfrm>
            <a:custGeom>
              <a:avLst/>
              <a:gdLst/>
              <a:ahLst/>
              <a:cxnLst/>
              <a:rect l="l" t="t" r="r" b="b"/>
              <a:pathLst>
                <a:path w="99060" h="102870">
                  <a:moveTo>
                    <a:pt x="99060" y="102870"/>
                  </a:moveTo>
                  <a:lnTo>
                    <a:pt x="0" y="63817"/>
                  </a:lnTo>
                  <a:lnTo>
                    <a:pt x="71438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3721418" y="2656522"/>
              <a:ext cx="237173" cy="323850"/>
            </a:xfrm>
            <a:custGeom>
              <a:avLst/>
              <a:gdLst/>
              <a:ahLst/>
              <a:cxnLst/>
              <a:rect l="l" t="t" r="r" b="b"/>
              <a:pathLst>
                <a:path w="237173" h="323850">
                  <a:moveTo>
                    <a:pt x="0" y="0"/>
                  </a:moveTo>
                  <a:lnTo>
                    <a:pt x="237173" y="32385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3920490" y="2951798"/>
              <a:ext cx="95250" cy="104775"/>
            </a:xfrm>
            <a:custGeom>
              <a:avLst/>
              <a:gdLst/>
              <a:ahLst/>
              <a:cxnLst/>
              <a:rect l="l" t="t" r="r" b="b"/>
              <a:pathLst>
                <a:path w="95250" h="104775">
                  <a:moveTo>
                    <a:pt x="95250" y="104775"/>
                  </a:moveTo>
                  <a:lnTo>
                    <a:pt x="0" y="56198"/>
                  </a:lnTo>
                  <a:lnTo>
                    <a:pt x="77152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2085022" y="3332798"/>
              <a:ext cx="238125" cy="323850"/>
            </a:xfrm>
            <a:custGeom>
              <a:avLst/>
              <a:gdLst/>
              <a:ahLst/>
              <a:cxnLst/>
              <a:rect l="l" t="t" r="r" b="b"/>
              <a:pathLst>
                <a:path w="238125" h="323850">
                  <a:moveTo>
                    <a:pt x="238125" y="0"/>
                  </a:moveTo>
                  <a:lnTo>
                    <a:pt x="0" y="32385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2028825" y="3628072"/>
              <a:ext cx="94298" cy="104775"/>
            </a:xfrm>
            <a:custGeom>
              <a:avLst/>
              <a:gdLst/>
              <a:ahLst/>
              <a:cxnLst/>
              <a:rect l="l" t="t" r="r" b="b"/>
              <a:pathLst>
                <a:path w="94298" h="104775">
                  <a:moveTo>
                    <a:pt x="0" y="104775"/>
                  </a:moveTo>
                  <a:lnTo>
                    <a:pt x="18098" y="0"/>
                  </a:lnTo>
                  <a:lnTo>
                    <a:pt x="94298" y="56198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2040255" y="3999548"/>
              <a:ext cx="307658" cy="348615"/>
            </a:xfrm>
            <a:custGeom>
              <a:avLst/>
              <a:gdLst/>
              <a:ahLst/>
              <a:cxnLst/>
              <a:rect l="l" t="t" r="r" b="b"/>
              <a:pathLst>
                <a:path w="307658" h="348615">
                  <a:moveTo>
                    <a:pt x="0" y="0"/>
                  </a:moveTo>
                  <a:lnTo>
                    <a:pt x="307658" y="34861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2311718" y="4315778"/>
              <a:ext cx="99060" cy="103822"/>
            </a:xfrm>
            <a:custGeom>
              <a:avLst/>
              <a:gdLst/>
              <a:ahLst/>
              <a:cxnLst/>
              <a:rect l="l" t="t" r="r" b="b"/>
              <a:pathLst>
                <a:path w="99060" h="103822">
                  <a:moveTo>
                    <a:pt x="99060" y="103822"/>
                  </a:moveTo>
                  <a:lnTo>
                    <a:pt x="0" y="63817"/>
                  </a:lnTo>
                  <a:lnTo>
                    <a:pt x="71438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3696652" y="3323272"/>
              <a:ext cx="306705" cy="347662"/>
            </a:xfrm>
            <a:custGeom>
              <a:avLst/>
              <a:gdLst/>
              <a:ahLst/>
              <a:cxnLst/>
              <a:rect l="l" t="t" r="r" b="b"/>
              <a:pathLst>
                <a:path w="306705" h="347662">
                  <a:moveTo>
                    <a:pt x="306705" y="0"/>
                  </a:moveTo>
                  <a:lnTo>
                    <a:pt x="0" y="34766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3633788" y="3639502"/>
              <a:ext cx="98108" cy="102870"/>
            </a:xfrm>
            <a:custGeom>
              <a:avLst/>
              <a:gdLst/>
              <a:ahLst/>
              <a:cxnLst/>
              <a:rect l="l" t="t" r="r" b="b"/>
              <a:pathLst>
                <a:path w="98108" h="102870">
                  <a:moveTo>
                    <a:pt x="0" y="102870"/>
                  </a:moveTo>
                  <a:lnTo>
                    <a:pt x="26670" y="0"/>
                  </a:lnTo>
                  <a:lnTo>
                    <a:pt x="98108" y="63817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3633788" y="3999548"/>
              <a:ext cx="306705" cy="348615"/>
            </a:xfrm>
            <a:custGeom>
              <a:avLst/>
              <a:gdLst/>
              <a:ahLst/>
              <a:cxnLst/>
              <a:rect l="l" t="t" r="r" b="b"/>
              <a:pathLst>
                <a:path w="306705" h="348615">
                  <a:moveTo>
                    <a:pt x="0" y="0"/>
                  </a:moveTo>
                  <a:lnTo>
                    <a:pt x="306705" y="34861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3905250" y="4315778"/>
              <a:ext cx="98108" cy="103822"/>
            </a:xfrm>
            <a:custGeom>
              <a:avLst/>
              <a:gdLst/>
              <a:ahLst/>
              <a:cxnLst/>
              <a:rect l="l" t="t" r="r" b="b"/>
              <a:pathLst>
                <a:path w="98108" h="103822">
                  <a:moveTo>
                    <a:pt x="98108" y="103822"/>
                  </a:moveTo>
                  <a:lnTo>
                    <a:pt x="0" y="63817"/>
                  </a:lnTo>
                  <a:lnTo>
                    <a:pt x="71438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3611880" y="4667250"/>
              <a:ext cx="381953" cy="371475"/>
            </a:xfrm>
            <a:custGeom>
              <a:avLst/>
              <a:gdLst/>
              <a:ahLst/>
              <a:cxnLst/>
              <a:rect l="l" t="t" r="r" b="b"/>
              <a:pathLst>
                <a:path w="381953" h="371475">
                  <a:moveTo>
                    <a:pt x="381953" y="0"/>
                  </a:moveTo>
                  <a:lnTo>
                    <a:pt x="0" y="37147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3543300" y="5004435"/>
              <a:ext cx="101917" cy="100012"/>
            </a:xfrm>
            <a:custGeom>
              <a:avLst/>
              <a:gdLst/>
              <a:ahLst/>
              <a:cxnLst/>
              <a:rect l="l" t="t" r="r" b="b"/>
              <a:pathLst>
                <a:path w="101917" h="100012">
                  <a:moveTo>
                    <a:pt x="0" y="100012"/>
                  </a:moveTo>
                  <a:lnTo>
                    <a:pt x="35242" y="0"/>
                  </a:lnTo>
                  <a:lnTo>
                    <a:pt x="101917" y="67628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2462212" y="1680210"/>
              <a:ext cx="323850" cy="3238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1665922" y="2356485"/>
              <a:ext cx="323850" cy="3238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3457575" y="2356485"/>
              <a:ext cx="323850" cy="3238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968692" y="3032760"/>
              <a:ext cx="323850" cy="3238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2263140" y="3032760"/>
              <a:ext cx="323850" cy="3238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3954780" y="3032760"/>
              <a:ext cx="323850" cy="32385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33" name="Ellipse 33"/>
            <p:cNvSpPr/>
            <p:nvPr/>
          </p:nvSpPr>
          <p:spPr>
            <a:xfrm>
              <a:off x="1764982" y="3709035"/>
              <a:ext cx="323850" cy="3238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4" name="Ellipse 34"/>
            <p:cNvSpPr/>
            <p:nvPr/>
          </p:nvSpPr>
          <p:spPr>
            <a:xfrm>
              <a:off x="3357562" y="3709035"/>
              <a:ext cx="323850" cy="3238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5" name="Ellipse 35"/>
            <p:cNvSpPr/>
            <p:nvPr/>
          </p:nvSpPr>
          <p:spPr>
            <a:xfrm>
              <a:off x="2362200" y="4385310"/>
              <a:ext cx="323850" cy="3238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3954780" y="4385310"/>
              <a:ext cx="323850" cy="3238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7" name="Ellipse 37"/>
            <p:cNvSpPr/>
            <p:nvPr/>
          </p:nvSpPr>
          <p:spPr>
            <a:xfrm>
              <a:off x="3258502" y="5062538"/>
              <a:ext cx="323850" cy="3238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2582410" y="1785938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786120" y="2462212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577773" y="2462212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88890" y="3138488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383338" y="3138488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074978" y="3138488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885180" y="3815715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477760" y="3815715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2482398" y="4491990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074978" y="4491990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3378700" y="5168265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</a:t>
              </a:r>
            </a:p>
          </p:txBody>
        </p:sp>
      </p:grpSp>
      <p:grpSp>
        <p:nvGrpSpPr>
          <p:cNvPr id="54" name="c2-card-1"/>
          <p:cNvGrpSpPr/>
          <p:nvPr/>
        </p:nvGrpSpPr>
        <p:grpSpPr>
          <a:xfrm>
            <a:off x="5815965" y="1524000"/>
            <a:ext cx="5842635" cy="1209675"/>
            <a:chOff x="5815965" y="1524000"/>
            <a:chExt cx="5842635" cy="1209675"/>
          </a:xfrm>
        </p:grpSpPr>
        <p:sp>
          <p:nvSpPr>
            <p:cNvPr id="50" name="Rectangle 50"/>
            <p:cNvSpPr/>
            <p:nvPr/>
          </p:nvSpPr>
          <p:spPr>
            <a:xfrm>
              <a:off x="5815965" y="1524000"/>
              <a:ext cx="5842635" cy="1209675"/>
            </a:xfrm>
            <a:prstGeom prst="roundRect">
              <a:avLst>
                <a:gd name="adj" fmla="val 11024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6008370" y="171640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099810" y="175069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规则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001512" y="2072640"/>
              <a:ext cx="51572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从根结点开始沿右分支下行，找第一个没有右孩子的结点，它就是中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根序列的最后一个结点。图中走 A → C → </a:t>
              </a:r>
              <a:r>
                <a:rPr lang="en-US" sz="135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F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58" name="c2-code-2"/>
          <p:cNvGrpSpPr/>
          <p:nvPr/>
        </p:nvGrpSpPr>
        <p:grpSpPr>
          <a:xfrm>
            <a:off x="5815965" y="2908935"/>
            <a:ext cx="5842635" cy="1628775"/>
            <a:chOff x="5815965" y="2908935"/>
            <a:chExt cx="5842635" cy="1628775"/>
          </a:xfrm>
        </p:grpSpPr>
        <p:sp>
          <p:nvSpPr>
            <p:cNvPr id="55" name="Rectangle 55"/>
            <p:cNvSpPr/>
            <p:nvPr/>
          </p:nvSpPr>
          <p:spPr>
            <a:xfrm>
              <a:off x="5815965" y="2908935"/>
              <a:ext cx="5842635" cy="1628775"/>
            </a:xfrm>
            <a:prstGeom prst="roundRect">
              <a:avLst>
                <a:gd name="adj" fmla="val 5848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5944362" y="3060859"/>
              <a:ext cx="214812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在以 t 为根的中序线索树中找末结点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5944552" y="3320129"/>
              <a:ext cx="2904109" cy="11334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60"/>
                </a:lnSpc>
              </a:pP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TreeNode *LastInOrder(TreeNode *t)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{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TreeNode *p = t;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(p-&gt;RThread == 0)   </a:t>
              </a:r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p 还有右孩子 */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p = p-&gt;right;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65" name="c2-card-3"/>
          <p:cNvGrpSpPr/>
          <p:nvPr/>
        </p:nvGrpSpPr>
        <p:grpSpPr>
          <a:xfrm>
            <a:off x="5815965" y="4712018"/>
            <a:ext cx="5842635" cy="1473518"/>
            <a:chOff x="5815965" y="4712018"/>
            <a:chExt cx="5842635" cy="1473518"/>
          </a:xfrm>
        </p:grpSpPr>
        <p:sp>
          <p:nvSpPr>
            <p:cNvPr id="59" name="Rectangle 59"/>
            <p:cNvSpPr/>
            <p:nvPr/>
          </p:nvSpPr>
          <p:spPr>
            <a:xfrm>
              <a:off x="5815965" y="4712018"/>
              <a:ext cx="5842635" cy="1473518"/>
            </a:xfrm>
            <a:prstGeom prst="roundRect">
              <a:avLst>
                <a:gd name="adj" fmla="val 905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5825490" y="4845368"/>
              <a:ext cx="47625" cy="120681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6046470" y="4904422"/>
              <a:ext cx="114300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117908" y="493871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容易看错的地方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039612" y="5261610"/>
              <a:ext cx="513149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F 的下面还挂着 H、K、L 三个结点，但它们都在 F 的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左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子树里，中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根序列里排在 F 前面。只要 F 没有右孩子，右分支就到此为止。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040755" y="5817394"/>
              <a:ext cx="45010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这棵树的完整中根序列是 D B G J E A C H L K F，末结点确实是 F。</a:t>
              </a:r>
            </a:p>
          </p:txBody>
        </p:sp>
      </p:grpSp>
      <p:grpSp>
        <p:nvGrpSpPr>
          <p:cNvPr id="6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6" name="TextBox 66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第9讲 线索二叉树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932017" cy="909257"/>
            <a:chOff x="520446" y="342900"/>
            <a:chExt cx="993201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40995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6603" y="407194"/>
              <a:ext cx="33435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第9讲 线索树 · 中序线索二叉树上的四个基本操作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93201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NextInOrder 与 PreInOrder：先看标志位，再决定走不走子树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5410200" cy="1185862"/>
            <a:chOff x="533400" y="1524000"/>
            <a:chExt cx="5410200" cy="118586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185862"/>
            </a:xfrm>
            <a:prstGeom prst="roundRect">
              <a:avLst>
                <a:gd name="adj" fmla="val 1124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919162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831532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3946" y="1737836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找中根后继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62000" y="2097405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17448" y="2045494"/>
              <a:ext cx="38929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RThread 为 1：</a:t>
              </a:r>
              <a:r>
                <a:rPr lang="en-US" sz="128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p-&gt;right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就是中根后继，直接返回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62000" y="2382202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17448" y="2330291"/>
              <a:ext cx="40135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RThread 为 0：后继是 p 的右子树中根序列的首结点</a:t>
              </a:r>
            </a:p>
          </p:txBody>
        </p:sp>
      </p:grpSp>
      <p:grpSp>
        <p:nvGrpSpPr>
          <p:cNvPr id="19" name="c1-code-2"/>
          <p:cNvGrpSpPr/>
          <p:nvPr/>
        </p:nvGrpSpPr>
        <p:grpSpPr>
          <a:xfrm>
            <a:off x="533400" y="2874645"/>
            <a:ext cx="5410200" cy="1406842"/>
            <a:chOff x="533400" y="2874645"/>
            <a:chExt cx="5410200" cy="1406842"/>
          </a:xfrm>
        </p:grpSpPr>
        <p:sp>
          <p:nvSpPr>
            <p:cNvPr id="16" name="Rectangle 16"/>
            <p:cNvSpPr/>
            <p:nvPr/>
          </p:nvSpPr>
          <p:spPr>
            <a:xfrm>
              <a:off x="533400" y="2874645"/>
              <a:ext cx="5410200" cy="1406842"/>
            </a:xfrm>
            <a:prstGeom prst="roundRect">
              <a:avLst>
                <a:gd name="adj" fmla="val 677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61797" y="3026569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61988" y="3285649"/>
              <a:ext cx="1956943" cy="909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8"/>
                </a:lnSpc>
              </a:pP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TreeNode *NextInOrder(TreeNode *p)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{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(p-&gt;RThread == 1)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p-&gt;right;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FirstInOrder(p-&gt;right);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5" name="c1-callout-3"/>
          <p:cNvGrpSpPr/>
          <p:nvPr/>
        </p:nvGrpSpPr>
        <p:grpSpPr>
          <a:xfrm>
            <a:off x="533400" y="4447222"/>
            <a:ext cx="5410200" cy="1584008"/>
            <a:chOff x="533400" y="4447222"/>
            <a:chExt cx="5410200" cy="1584008"/>
          </a:xfrm>
        </p:grpSpPr>
        <p:sp>
          <p:nvSpPr>
            <p:cNvPr id="20" name="Rectangle 20"/>
            <p:cNvSpPr/>
            <p:nvPr/>
          </p:nvSpPr>
          <p:spPr>
            <a:xfrm>
              <a:off x="533400" y="4447222"/>
              <a:ext cx="5410200" cy="1584008"/>
            </a:xfrm>
            <a:prstGeom prst="roundRect">
              <a:avLst>
                <a:gd name="adj" fmla="val 7216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738188" y="5138738"/>
              <a:ext cx="200026" cy="200026"/>
              <a:chOff x="738188" y="5138738"/>
              <a:chExt cx="200026" cy="200026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738188" y="513873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04863" y="5216525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1041273" y="5032534"/>
              <a:ext cx="4421581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 xml:space="preserve">标志位为 1 时只花 </a:t>
              </a:r>
              <a:r>
                <a:rPr lang="en-US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O(1)</a:t>
              </a:r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；为 0 时要沿右子树的左分支下行，</a:t>
              </a:r>
              <a:br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 xml:space="preserve">最坏 </a:t>
              </a:r>
              <a:r>
                <a:rPr lang="en-US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O(h)</a:t>
              </a:r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34" name="c2-card-1"/>
          <p:cNvGrpSpPr/>
          <p:nvPr/>
        </p:nvGrpSpPr>
        <p:grpSpPr>
          <a:xfrm>
            <a:off x="6248400" y="1524000"/>
            <a:ext cx="5410200" cy="1185862"/>
            <a:chOff x="6248400" y="1524000"/>
            <a:chExt cx="5410200" cy="1185862"/>
          </a:xfrm>
        </p:grpSpPr>
        <p:sp>
          <p:nvSpPr>
            <p:cNvPr id="26" name="Rectangle 26"/>
            <p:cNvSpPr/>
            <p:nvPr/>
          </p:nvSpPr>
          <p:spPr>
            <a:xfrm>
              <a:off x="6248400" y="1524000"/>
              <a:ext cx="5410200" cy="1185862"/>
            </a:xfrm>
            <a:prstGeom prst="roundRect">
              <a:avLst>
                <a:gd name="adj" fmla="val 1124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6257925" y="1657350"/>
              <a:ext cx="47625" cy="919162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67475" y="1704975"/>
              <a:ext cx="831532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548946" y="1737836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找中根前驱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6477000" y="2097405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632448" y="2045494"/>
              <a:ext cx="37981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LThread 为 1：</a:t>
              </a:r>
              <a:r>
                <a:rPr lang="en-US" sz="128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p-&gt;left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就是中根前驱，直接返回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6477000" y="2382202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632448" y="2330291"/>
              <a:ext cx="40135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LThread 为 0：前驱是 p 的左子树中根序列的末结点</a:t>
              </a:r>
            </a:p>
          </p:txBody>
        </p:sp>
      </p:grpSp>
      <p:grpSp>
        <p:nvGrpSpPr>
          <p:cNvPr id="38" name="c2-code-2"/>
          <p:cNvGrpSpPr/>
          <p:nvPr/>
        </p:nvGrpSpPr>
        <p:grpSpPr>
          <a:xfrm>
            <a:off x="6248400" y="2874645"/>
            <a:ext cx="5410200" cy="1406842"/>
            <a:chOff x="6248400" y="2874645"/>
            <a:chExt cx="5410200" cy="1406842"/>
          </a:xfrm>
        </p:grpSpPr>
        <p:sp>
          <p:nvSpPr>
            <p:cNvPr id="35" name="Rectangle 35"/>
            <p:cNvSpPr/>
            <p:nvPr/>
          </p:nvSpPr>
          <p:spPr>
            <a:xfrm>
              <a:off x="6248400" y="2874645"/>
              <a:ext cx="5410200" cy="1406842"/>
            </a:xfrm>
            <a:prstGeom prst="roundRect">
              <a:avLst>
                <a:gd name="adj" fmla="val 677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376797" y="3026569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376988" y="3285649"/>
              <a:ext cx="1899666" cy="909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8"/>
                </a:lnSpc>
              </a:pP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TreeNode *PreInOrder(TreeNode *p)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{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(p-&gt;LThread == 1)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p-&gt;left;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LastInOrder(p-&gt;left);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44" name="c2-card-3"/>
          <p:cNvGrpSpPr/>
          <p:nvPr/>
        </p:nvGrpSpPr>
        <p:grpSpPr>
          <a:xfrm>
            <a:off x="6248400" y="4447222"/>
            <a:ext cx="5410200" cy="1584008"/>
            <a:chOff x="6248400" y="4447222"/>
            <a:chExt cx="5410200" cy="1584008"/>
          </a:xfrm>
        </p:grpSpPr>
        <p:sp>
          <p:nvSpPr>
            <p:cNvPr id="39" name="Rectangle 39"/>
            <p:cNvSpPr/>
            <p:nvPr/>
          </p:nvSpPr>
          <p:spPr>
            <a:xfrm>
              <a:off x="6248400" y="4447222"/>
              <a:ext cx="5410200" cy="1584008"/>
            </a:xfrm>
            <a:prstGeom prst="roundRect">
              <a:avLst>
                <a:gd name="adj" fmla="val 8419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429375" y="4628198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513944" y="466105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对称着记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422898" y="4967764"/>
              <a:ext cx="480034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后继看右边，标志位为 0 就去右子树找 </a:t>
              </a:r>
              <a:r>
                <a:rPr lang="zh-CN" sz="128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最左下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；前驱看左边，标志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位为 0 就去左子树找 </a:t>
              </a:r>
              <a:r>
                <a:rPr lang="zh-CN" sz="128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最右下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。四个函数两两对称，记住一半就够。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424041" y="5492115"/>
              <a:ext cx="4857940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首结点调用 PreInOrder、末结点调用 NextInOrder 都返回空线索，调用方必须判</a:t>
              </a:r>
              <a:br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返回值是不是 NULL，否则下一步解引用就崩。</a:t>
              </a:r>
            </a:p>
          </p:txBody>
        </p:sp>
      </p:grpSp>
      <p:grpSp>
        <p:nvGrpSpPr>
          <p:cNvPr id="4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5" name="TextBox 45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第9讲 线索二叉树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422904" cy="909257"/>
            <a:chOff x="520446" y="342900"/>
            <a:chExt cx="34229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40995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6603" y="407194"/>
              <a:ext cx="33435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第9讲 线索树 · 中序线索二叉树上的四个基本操作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11543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四个操作放在一起看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7" name="c1-table-1"/>
          <p:cNvGrpSpPr/>
          <p:nvPr/>
        </p:nvGrpSpPr>
        <p:grpSpPr>
          <a:xfrm>
            <a:off x="533400" y="1524000"/>
            <a:ext cx="6059805" cy="2577465"/>
            <a:chOff x="533400" y="1524000"/>
            <a:chExt cx="6059805" cy="257746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43053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32510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操作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406206" y="165544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做什么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162616" y="165544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怎么走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738050" y="165544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复杂度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38746" y="2085022"/>
              <a:ext cx="10959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FirstInOrder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972246" y="2085022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找中根序列首结点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547682" y="2085022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从根沿左分支到底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486019" y="2085022"/>
              <a:ext cx="4108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O(h)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37934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384108"/>
              <a:ext cx="605980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38746" y="2515552"/>
              <a:ext cx="10456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LastInOrder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972246" y="2515552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找中根序列末结点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547682" y="2515552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从根沿右分支到底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486019" y="2515552"/>
              <a:ext cx="4108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O(h)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280987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8746" y="3052762"/>
              <a:ext cx="9523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PreInOrder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972246" y="3052762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找中根前驱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547682" y="2946082"/>
              <a:ext cx="15361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左线索，或左子树最右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486019" y="3052762"/>
              <a:ext cx="4108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O(h)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345281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33400" y="3457575"/>
              <a:ext cx="6059805" cy="6438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8746" y="3695700"/>
              <a:ext cx="10456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NextInOrder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972246" y="369570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找中根后继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547682" y="3589020"/>
              <a:ext cx="15361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右线索，或右子树最左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486019" y="3695700"/>
              <a:ext cx="4108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O(h)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1524000"/>
              <a:ext cx="6059805" cy="257746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1862138" y="1524000"/>
              <a:ext cx="9525" cy="257746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3437572" y="1524000"/>
              <a:ext cx="9525" cy="257746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5375910" y="1524000"/>
              <a:ext cx="9525" cy="257746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6" name="c1-card-2"/>
          <p:cNvGrpSpPr/>
          <p:nvPr/>
        </p:nvGrpSpPr>
        <p:grpSpPr>
          <a:xfrm>
            <a:off x="533400" y="4287202"/>
            <a:ext cx="6059805" cy="1865948"/>
            <a:chOff x="533400" y="4287202"/>
            <a:chExt cx="6059805" cy="1865948"/>
          </a:xfrm>
        </p:grpSpPr>
        <p:sp>
          <p:nvSpPr>
            <p:cNvPr id="38" name="Rectangle 38"/>
            <p:cNvSpPr/>
            <p:nvPr/>
          </p:nvSpPr>
          <p:spPr>
            <a:xfrm>
              <a:off x="533400" y="4287202"/>
              <a:ext cx="6059805" cy="1865948"/>
            </a:xfrm>
            <a:prstGeom prst="roundRect">
              <a:avLst>
                <a:gd name="adj" fmla="val 714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542925" y="4420552"/>
              <a:ext cx="47625" cy="159924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775335" y="4491038"/>
              <a:ext cx="1510665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28439" y="4526756"/>
              <a:ext cx="14044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这四个 O(h) 的前提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782955" y="4923472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39546" y="4863941"/>
              <a:ext cx="5073015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树已经完成中序线索化，标志位全部正确，否则 while 条件会一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路走到野指针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782955" y="5514975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39546" y="5455444"/>
              <a:ext cx="5136134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 是树的高度，不是 log n。只有形态接近完全二叉树时 O(h) 才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等于 O(log n)，单支链上 h = n−1，四个操作全退化成 O(n)</a:t>
              </a:r>
            </a:p>
          </p:txBody>
        </p:sp>
      </p:grpSp>
      <p:grpSp>
        <p:nvGrpSpPr>
          <p:cNvPr id="66" name="c2-table-1"/>
          <p:cNvGrpSpPr/>
          <p:nvPr/>
        </p:nvGrpSpPr>
        <p:grpSpPr>
          <a:xfrm>
            <a:off x="6898005" y="1524000"/>
            <a:ext cx="4760595" cy="1290638"/>
            <a:chOff x="6898005" y="1524000"/>
            <a:chExt cx="4760595" cy="1290638"/>
          </a:xfrm>
        </p:grpSpPr>
        <p:sp>
          <p:nvSpPr>
            <p:cNvPr id="47" name="Rectangle 47"/>
            <p:cNvSpPr/>
            <p:nvPr/>
          </p:nvSpPr>
          <p:spPr>
            <a:xfrm>
              <a:off x="6898005" y="1524000"/>
              <a:ext cx="4760595" cy="43053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681912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场景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348788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前驱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776585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后继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003352" y="2085022"/>
              <a:ext cx="8025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标志位为 1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8811578" y="1964055"/>
              <a:ext cx="1409700" cy="41148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907399" y="2085022"/>
              <a:ext cx="4218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O(1)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10239375" y="1964055"/>
              <a:ext cx="1409700" cy="41148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10335196" y="2085022"/>
              <a:ext cx="4218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O(1)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6898005" y="2379345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6898005" y="2384108"/>
              <a:ext cx="476059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003352" y="2515552"/>
              <a:ext cx="8025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标志位为 0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8811578" y="2393632"/>
              <a:ext cx="1409700" cy="41148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8907399" y="2515552"/>
              <a:ext cx="4108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O(h)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10239375" y="2393632"/>
              <a:ext cx="1409700" cy="41148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10335196" y="2515552"/>
              <a:ext cx="4108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O(h)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6898005" y="1524000"/>
              <a:ext cx="4760595" cy="129063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8797290" y="1524000"/>
              <a:ext cx="9525" cy="129063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10225088" y="1524000"/>
              <a:ext cx="9525" cy="129063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2" name="c2-card-2"/>
          <p:cNvGrpSpPr/>
          <p:nvPr/>
        </p:nvGrpSpPr>
        <p:grpSpPr>
          <a:xfrm>
            <a:off x="6898005" y="2999422"/>
            <a:ext cx="4760595" cy="3153728"/>
            <a:chOff x="6898005" y="2999422"/>
            <a:chExt cx="4760595" cy="3153728"/>
          </a:xfrm>
        </p:grpSpPr>
        <p:sp>
          <p:nvSpPr>
            <p:cNvPr id="67" name="Rectangle 67"/>
            <p:cNvSpPr/>
            <p:nvPr/>
          </p:nvSpPr>
          <p:spPr>
            <a:xfrm>
              <a:off x="6898005" y="2999422"/>
              <a:ext cx="4760595" cy="3153728"/>
            </a:xfrm>
            <a:prstGeom prst="roundRect">
              <a:avLst>
                <a:gd name="adj" fmla="val 4228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7101840" y="3203258"/>
              <a:ext cx="1474470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7162979" y="3238976"/>
              <a:ext cx="13521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什么时候标志位是 1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094601" y="3577114"/>
              <a:ext cx="4081145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叶结点两边都是 1，两个方向都是 O(1)。有左右孩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子的内结点两边都是 0，两个方向都要下行。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095744" y="4164330"/>
              <a:ext cx="410413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 个结点的二叉树里叶结点占比不小，所以平均下来比最坏情</a:t>
              </a:r>
              <a:br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形快得多。</a:t>
              </a:r>
            </a:p>
          </p:txBody>
        </p:sp>
      </p:grpSp>
      <p:grpSp>
        <p:nvGrpSpPr>
          <p:cNvPr id="7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3" name="TextBox 73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第9讲 线索二叉树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40995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6603" y="407194"/>
              <a:ext cx="33435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第9讲 线索树 · 中序线索二叉树上的四个基本操作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中根遍历：先访问首结点，再一路追后继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1" name="c1-card-1"/>
          <p:cNvGrpSpPr/>
          <p:nvPr/>
        </p:nvGrpSpPr>
        <p:grpSpPr>
          <a:xfrm>
            <a:off x="533400" y="1524000"/>
            <a:ext cx="5842635" cy="1316355"/>
            <a:chOff x="533400" y="1524000"/>
            <a:chExt cx="5842635" cy="131635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1316355"/>
            </a:xfrm>
            <a:prstGeom prst="roundRect">
              <a:avLst>
                <a:gd name="adj" fmla="val 1013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429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331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思路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35330" y="2110740"/>
              <a:ext cx="5158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先访问中根序列中的第一个结点，然后依次访问结点的中根后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继，直到后继为空为止。</a:t>
              </a:r>
            </a:p>
          </p:txBody>
        </p:sp>
      </p:grpSp>
      <p:grpSp>
        <p:nvGrpSpPr>
          <p:cNvPr id="15" name="c1-code-2"/>
          <p:cNvGrpSpPr/>
          <p:nvPr/>
        </p:nvGrpSpPr>
        <p:grpSpPr>
          <a:xfrm>
            <a:off x="533400" y="3030855"/>
            <a:ext cx="5842635" cy="1912620"/>
            <a:chOff x="533400" y="3030855"/>
            <a:chExt cx="5842635" cy="1912620"/>
          </a:xfrm>
        </p:grpSpPr>
        <p:sp>
          <p:nvSpPr>
            <p:cNvPr id="12" name="Rectangle 12"/>
            <p:cNvSpPr/>
            <p:nvPr/>
          </p:nvSpPr>
          <p:spPr>
            <a:xfrm>
              <a:off x="533400" y="3030855"/>
              <a:ext cx="5842635" cy="1912620"/>
            </a:xfrm>
            <a:prstGeom prst="roundRect">
              <a:avLst>
                <a:gd name="adj" fmla="val 498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61797" y="3182779"/>
              <a:ext cx="14611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线索二叉树上的中根遍历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61797" y="3443764"/>
              <a:ext cx="2748026" cy="14241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InOrder(TreeNode *t)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TreeNode *p;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(t ==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(p = FirstInOrder(t); p !=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p = NextInOrder(p))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visit(p-&gt;data);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1" name="c1-callout-3"/>
          <p:cNvGrpSpPr/>
          <p:nvPr/>
        </p:nvGrpSpPr>
        <p:grpSpPr>
          <a:xfrm>
            <a:off x="533400" y="5133975"/>
            <a:ext cx="5842635" cy="853440"/>
            <a:chOff x="533400" y="5133975"/>
            <a:chExt cx="5842635" cy="853440"/>
          </a:xfrm>
        </p:grpSpPr>
        <p:sp>
          <p:nvSpPr>
            <p:cNvPr id="16" name="Rectangle 16"/>
            <p:cNvSpPr/>
            <p:nvPr/>
          </p:nvSpPr>
          <p:spPr>
            <a:xfrm>
              <a:off x="533400" y="5133975"/>
              <a:ext cx="5842635" cy="853440"/>
            </a:xfrm>
            <a:prstGeom prst="roundRect">
              <a:avLst>
                <a:gd name="adj" fmla="val 13393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738188" y="5460683"/>
              <a:ext cx="200026" cy="200026"/>
              <a:chOff x="738188" y="5460683"/>
              <a:chExt cx="200026" cy="200026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738188" y="546068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804863" y="5538470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1040130" y="5317808"/>
              <a:ext cx="4777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整个函数没有递归，也没有显式的栈，额外空间只有一个</a:t>
              </a:r>
              <a:br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 xml:space="preserve">指针变量 p，空间复杂度 </a:t>
              </a:r>
              <a:r>
                <a:rPr lang="en-US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O(1)</a:t>
              </a:r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24" name="c2-image-1"/>
          <p:cNvGrpSpPr/>
          <p:nvPr/>
        </p:nvGrpSpPr>
        <p:grpSpPr>
          <a:xfrm>
            <a:off x="6977774" y="1524000"/>
            <a:ext cx="4383888" cy="2696052"/>
            <a:chOff x="6977774" y="1524000"/>
            <a:chExt cx="4383888" cy="2696052"/>
          </a:xfrm>
        </p:grpSpPr>
        <p:pic>
          <p:nvPicPr>
            <p:cNvPr id="22" name="Image 22"/>
            <p:cNvPicPr>
              <a:picLocks noChangeAspect="1"/>
            </p:cNvPicPr>
            <p:nvPr/>
          </p:nvPicPr>
          <p:blipFill>
            <a:blip r:embed="rId2"/>
            <a:srcRect l="5" t="0" r="5" b="0"/>
            <a:stretch>
              <a:fillRect/>
            </a:stretch>
          </p:blipFill>
          <p:spPr>
            <a:xfrm>
              <a:off x="7582852" y="1524000"/>
              <a:ext cx="3174682" cy="2381250"/>
            </a:xfrm>
            <a:prstGeom prst="roundRect">
              <a:avLst>
                <a:gd name="adj" fmla="val 5600"/>
              </a:avLst>
            </a:prstGeom>
          </p:spPr>
        </p:pic>
        <p:sp>
          <p:nvSpPr>
            <p:cNvPr id="23" name="TextBox 23"/>
            <p:cNvSpPr txBox="1"/>
            <p:nvPr/>
          </p:nvSpPr>
          <p:spPr>
            <a:xfrm>
              <a:off x="6977774" y="4000024"/>
              <a:ext cx="43838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左边是要一层层搬的托盘（递归栈），右边只要顺着一根绳走到头</a:t>
              </a:r>
            </a:p>
          </p:txBody>
        </p:sp>
      </p:grpSp>
      <p:grpSp>
        <p:nvGrpSpPr>
          <p:cNvPr id="30" name="c2-card-2"/>
          <p:cNvGrpSpPr/>
          <p:nvPr/>
        </p:nvGrpSpPr>
        <p:grpSpPr>
          <a:xfrm>
            <a:off x="6680835" y="4385310"/>
            <a:ext cx="4977765" cy="1602105"/>
            <a:chOff x="6680835" y="4385310"/>
            <a:chExt cx="4977765" cy="1602105"/>
          </a:xfrm>
        </p:grpSpPr>
        <p:sp>
          <p:nvSpPr>
            <p:cNvPr id="25" name="Rectangle 25"/>
            <p:cNvSpPr/>
            <p:nvPr/>
          </p:nvSpPr>
          <p:spPr>
            <a:xfrm>
              <a:off x="6680835" y="4385310"/>
              <a:ext cx="4977765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6690360" y="4518660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6928485" y="4594860"/>
              <a:ext cx="1489710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989140" y="4630579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循环能停下来的原因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920865" y="4972050"/>
              <a:ext cx="43491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末结点的 RThread 被置为 1 且 right 为空，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NextInOrder 返回 NULL，for 循环随之结束。线索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化算法最后那句收尾就是为了这个。</a:t>
              </a:r>
            </a:p>
          </p:txBody>
        </p:sp>
      </p:grpSp>
      <p:grpSp>
        <p:nvGrpSpPr>
          <p:cNvPr id="3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1" name="TextBox 31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第9讲 线索二叉树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107487" cy="909257"/>
            <a:chOff x="520446" y="342900"/>
            <a:chExt cx="610748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40995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6603" y="407194"/>
              <a:ext cx="33435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第9讲 线索树 · 中序线索二叉树上的四个基本操作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10748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为什么整趟遍历是 O(n) 而不是 O(nh)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8739495" cy="308039"/>
            <a:chOff x="525399" y="1550194"/>
            <a:chExt cx="8739495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873949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单次 NextInOrder 最坏要走 h 步，n 次相乘像是 O(nh)。但这些步数不会同时取到最坏值。</a:t>
              </a:r>
            </a:p>
          </p:txBody>
        </p:sp>
      </p:grpSp>
      <p:grpSp>
        <p:nvGrpSpPr>
          <p:cNvPr id="22" name="c1-steps-1"/>
          <p:cNvGrpSpPr/>
          <p:nvPr/>
        </p:nvGrpSpPr>
        <p:grpSpPr>
          <a:xfrm>
            <a:off x="533400" y="1977390"/>
            <a:ext cx="5424297" cy="2582514"/>
            <a:chOff x="533400" y="1977390"/>
            <a:chExt cx="5424297" cy="2582514"/>
          </a:xfrm>
        </p:grpSpPr>
        <p:sp>
          <p:nvSpPr>
            <p:cNvPr id="9" name="Rectangle 9"/>
            <p:cNvSpPr/>
            <p:nvPr/>
          </p:nvSpPr>
          <p:spPr>
            <a:xfrm>
              <a:off x="666750" y="2120265"/>
              <a:ext cx="19050" cy="177069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533400" y="197739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0512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86226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93608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74808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8219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4880" y="2011680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每条右指针至多走一次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023" y="2304574"/>
              <a:ext cx="501167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 p 跳到后继时，只有当 RThread 为 1 才用右线索，或者第一步踏进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右孩子。每个结点的右指针在整趟里最多被踏一次。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4880" y="2896552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每条左边至多走一次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023" y="3190399"/>
              <a:ext cx="482473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FirstInOrder 沿左分支下行时经过的左边，属于刚踏进的那棵右子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树。这棵子树之后不会再被进入，所以这些左边整趟只走一次。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4880" y="3782378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合计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023" y="4076224"/>
              <a:ext cx="495477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总指针步数不超过左边数加右边数再加一，也就是不超过 2n。整趟时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间 </a:t>
              </a:r>
              <a:r>
                <a:rPr lang="en-US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O(n)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28" name="c1-card-2"/>
          <p:cNvGrpSpPr/>
          <p:nvPr/>
        </p:nvGrpSpPr>
        <p:grpSpPr>
          <a:xfrm>
            <a:off x="533400" y="4738688"/>
            <a:ext cx="5626418" cy="1602105"/>
            <a:chOff x="533400" y="4738688"/>
            <a:chExt cx="5626418" cy="1602105"/>
          </a:xfrm>
        </p:grpSpPr>
        <p:sp>
          <p:nvSpPr>
            <p:cNvPr id="23" name="Rectangle 23"/>
            <p:cNvSpPr/>
            <p:nvPr/>
          </p:nvSpPr>
          <p:spPr>
            <a:xfrm>
              <a:off x="533400" y="4738688"/>
              <a:ext cx="5626418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542925" y="4872038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781050" y="4948238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71258" y="498395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实测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73430" y="5325428"/>
              <a:ext cx="48063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用脚本随机生成 400 棵 1 到 60 个结点的二叉树，逐棵做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完整的线索遍历并统计指针步数，总步数与 n 的比值最大</a:t>
              </a:r>
              <a:br/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1.667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，始终小于 2。</a:t>
              </a:r>
            </a:p>
          </p:txBody>
        </p:sp>
      </p:grpSp>
      <p:grpSp>
        <p:nvGrpSpPr>
          <p:cNvPr id="54" name="c2-table-1"/>
          <p:cNvGrpSpPr/>
          <p:nvPr/>
        </p:nvGrpSpPr>
        <p:grpSpPr>
          <a:xfrm>
            <a:off x="6464618" y="1967865"/>
            <a:ext cx="5193982" cy="2022158"/>
            <a:chOff x="6464618" y="1967865"/>
            <a:chExt cx="5193982" cy="2022158"/>
          </a:xfrm>
        </p:grpSpPr>
        <p:sp>
          <p:nvSpPr>
            <p:cNvPr id="29" name="Rectangle 29"/>
            <p:cNvSpPr/>
            <p:nvPr/>
          </p:nvSpPr>
          <p:spPr>
            <a:xfrm>
              <a:off x="6464618" y="1967865"/>
              <a:ext cx="5193982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892658" y="210264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遍历方式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259407" y="21026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时间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177706" y="210264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额外空间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580738" y="210264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依赖什么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572441" y="2551271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递归中根遍历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130730" y="2551271"/>
              <a:ext cx="43821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O(n)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961310" y="2551271"/>
              <a:ext cx="100830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O(h) 系统栈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311955" y="2551271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编译器的调用栈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464618" y="286035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464618" y="2865120"/>
              <a:ext cx="5193982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572441" y="3114199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非递归加显式栈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130730" y="3114199"/>
              <a:ext cx="43821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O(n)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961310" y="3000851"/>
              <a:ext cx="939546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O(h) 自己的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栈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311955" y="3114199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手写一个栈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464618" y="353568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572441" y="367617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线索树上遍历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130730" y="3676174"/>
              <a:ext cx="43821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O(n)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8863012" y="3549968"/>
              <a:ext cx="1331595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961310" y="3676174"/>
              <a:ext cx="44991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O(1)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311955" y="367617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事先做过线索化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464618" y="1967865"/>
              <a:ext cx="5193982" cy="202215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8018145" y="1967865"/>
              <a:ext cx="9525" cy="20221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8848725" y="1967865"/>
              <a:ext cx="9525" cy="20221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10199370" y="1967865"/>
              <a:ext cx="9525" cy="20221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0" name="c2-card-2"/>
          <p:cNvGrpSpPr/>
          <p:nvPr/>
        </p:nvGrpSpPr>
        <p:grpSpPr>
          <a:xfrm>
            <a:off x="6464618" y="4179570"/>
            <a:ext cx="5193982" cy="2160270"/>
            <a:chOff x="6464618" y="4179570"/>
            <a:chExt cx="5193982" cy="2160270"/>
          </a:xfrm>
        </p:grpSpPr>
        <p:sp>
          <p:nvSpPr>
            <p:cNvPr id="55" name="Rectangle 55"/>
            <p:cNvSpPr/>
            <p:nvPr/>
          </p:nvSpPr>
          <p:spPr>
            <a:xfrm>
              <a:off x="6464618" y="4179570"/>
              <a:ext cx="5193982" cy="2160270"/>
            </a:xfrm>
            <a:prstGeom prst="roundRect">
              <a:avLst>
                <a:gd name="adj" fmla="val 617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6474142" y="4312920"/>
              <a:ext cx="47625" cy="189357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6712268" y="4389120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785724" y="4424839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代价记在别处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704648" y="4766310"/>
              <a:ext cx="4415790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线索遍历省下的栈空间，是拿线索化的一次性开销换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来的。线索化本身要做一趟递归中根遍历，时间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O(n)、空间 O(h)。只遍历一次的话，直接递归更划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算。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1" name="TextBox 61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第9讲 线索二叉树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6239827" cy="3675697"/>
            <a:chOff x="667512" y="1835468"/>
            <a:chExt cx="6239827" cy="367569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39826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二叉树的中序线索化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6229921" cy="6465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把中根遍历里的“访问结点”改写成“建立当前结点与它前驱之间的线</a:t>
              </a:r>
              <a:br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索关系”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421195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4154805"/>
              <a:ext cx="289274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用一个全局的 pre 指针记住前驱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56628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50913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算法的四种情况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92061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86346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末结点的收尾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527494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521779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逐步执行过程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第9讲 线索二叉树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968102" cy="909257"/>
            <a:chOff x="520446" y="342900"/>
            <a:chExt cx="596810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第9讲 线索树 · 二叉树的中序线索化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96810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线索化的思路：把“访问”换成“建线索”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bullets-1"/>
          <p:cNvGrpSpPr/>
          <p:nvPr/>
        </p:nvGrpSpPr>
        <p:grpSpPr>
          <a:xfrm>
            <a:off x="539115" y="1548765"/>
            <a:ext cx="5364480" cy="1840230"/>
            <a:chOff x="539115" y="1548765"/>
            <a:chExt cx="5364480" cy="1840230"/>
          </a:xfrm>
        </p:grpSpPr>
        <p:sp>
          <p:nvSpPr>
            <p:cNvPr id="7" name="Ellipse 7"/>
            <p:cNvSpPr/>
            <p:nvPr/>
          </p:nvSpPr>
          <p:spPr>
            <a:xfrm>
              <a:off x="539115" y="161163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97230" y="1548765"/>
              <a:ext cx="411441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使二叉树变为线索二叉树的过程称为 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线索化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539115" y="195643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97230" y="1893570"/>
              <a:ext cx="50920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把中根遍历算法中的“访问结点”操作，具体化为“建立当前访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问的结点与它的中根前驱结点之间的线索关系”。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539115" y="258699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97230" y="2524125"/>
              <a:ext cx="52063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算法中指针 p 指向当前正在访问的结点，同时设置一个指针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pre 始终指向 p 的中根前驱，也就是中根遍历过程中在 p 之前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访问的那个结点。pre 的初值为 NULL。</a:t>
              </a:r>
            </a:p>
          </p:txBody>
        </p:sp>
      </p:grpSp>
      <p:grpSp>
        <p:nvGrpSpPr>
          <p:cNvPr id="19" name="c1-callout-2"/>
          <p:cNvGrpSpPr/>
          <p:nvPr/>
        </p:nvGrpSpPr>
        <p:grpSpPr>
          <a:xfrm>
            <a:off x="533400" y="3520440"/>
            <a:ext cx="5626418" cy="1832610"/>
            <a:chOff x="533400" y="3520440"/>
            <a:chExt cx="5626418" cy="1832610"/>
          </a:xfrm>
        </p:grpSpPr>
        <p:sp>
          <p:nvSpPr>
            <p:cNvPr id="14" name="Rectangle 14"/>
            <p:cNvSpPr/>
            <p:nvPr/>
          </p:nvSpPr>
          <p:spPr>
            <a:xfrm>
              <a:off x="533400" y="3520440"/>
              <a:ext cx="5626418" cy="1832610"/>
            </a:xfrm>
            <a:prstGeom prst="roundRect">
              <a:avLst>
                <a:gd name="adj" fmla="val 6237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738188" y="4336735"/>
              <a:ext cx="200023" cy="200023"/>
              <a:chOff x="738188" y="4336735"/>
              <a:chExt cx="200023" cy="200023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738188" y="433673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871538" y="440340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040130" y="4055745"/>
              <a:ext cx="463486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一次只能建半条线索。走到 p 时，p 的左线索和 pre 的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右线索这两件事可以当场办掉，p 自己的右线索要等下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一个结点来了才知道。</a:t>
              </a:r>
            </a:p>
          </p:txBody>
        </p:sp>
      </p:grpSp>
      <p:grpSp>
        <p:nvGrpSpPr>
          <p:cNvPr id="36" name="c2-card-1"/>
          <p:cNvGrpSpPr/>
          <p:nvPr/>
        </p:nvGrpSpPr>
        <p:grpSpPr>
          <a:xfrm>
            <a:off x="6464618" y="1524000"/>
            <a:ext cx="5193982" cy="2036445"/>
            <a:chOff x="6464618" y="1524000"/>
            <a:chExt cx="5193982" cy="2036445"/>
          </a:xfrm>
        </p:grpSpPr>
        <p:sp>
          <p:nvSpPr>
            <p:cNvPr id="20" name="Rectangle 20"/>
            <p:cNvSpPr/>
            <p:nvPr/>
          </p:nvSpPr>
          <p:spPr>
            <a:xfrm>
              <a:off x="6464618" y="1524000"/>
              <a:ext cx="5193982" cy="2036445"/>
            </a:xfrm>
            <a:prstGeom prst="roundRect">
              <a:avLst>
                <a:gd name="adj" fmla="val 654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6474142" y="1657350"/>
              <a:ext cx="47625" cy="176974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712268" y="1733550"/>
              <a:ext cx="2058352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756171" y="1769269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在每个结点上要判断的四件事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6712267" y="2097405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774117" y="213969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013258" y="2110740"/>
              <a:ext cx="418509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 没有左孩子：p 的左指针改成线索，指向 pre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6712267" y="2432685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774117" y="247497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013258" y="2446020"/>
              <a:ext cx="403710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 有左孩子：LThread 置 0，左指针原样不动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6712267" y="2767965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774117" y="281025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013258" y="2781300"/>
              <a:ext cx="440721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pre 没有右孩子：pre 的右指针改成线索，指向 p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6712267" y="3103245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774117" y="314553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013258" y="3116580"/>
              <a:ext cx="42592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pre 有右孩子：RThread 置 0，右指针原样不动</a:t>
              </a:r>
            </a:p>
          </p:txBody>
        </p:sp>
      </p:grpSp>
      <p:grpSp>
        <p:nvGrpSpPr>
          <p:cNvPr id="42" name="c2-card-2"/>
          <p:cNvGrpSpPr/>
          <p:nvPr/>
        </p:nvGrpSpPr>
        <p:grpSpPr>
          <a:xfrm>
            <a:off x="6464618" y="3750945"/>
            <a:ext cx="5193982" cy="1602105"/>
            <a:chOff x="6464618" y="3750945"/>
            <a:chExt cx="5193982" cy="1602105"/>
          </a:xfrm>
        </p:grpSpPr>
        <p:sp>
          <p:nvSpPr>
            <p:cNvPr id="37" name="Rectangle 37"/>
            <p:cNvSpPr/>
            <p:nvPr/>
          </p:nvSpPr>
          <p:spPr>
            <a:xfrm>
              <a:off x="6464618" y="3750945"/>
              <a:ext cx="5193982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6474142" y="3884295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712268" y="3960495"/>
              <a:ext cx="1211580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781051" y="3996214"/>
              <a:ext cx="10740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pre 是全局变量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704648" y="4337685"/>
              <a:ext cx="44443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递归函数每层都有自己的局部变量，但 pre 必须在整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趟遍历中连续传递，所以写成全局变量或者传引用。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每次对一棵新树调用前，务必把 pre 重置为 NULL。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第9讲 线索二叉树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569464" cy="909257"/>
            <a:chOff x="520446" y="342900"/>
            <a:chExt cx="256946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第9讲 线索树 · 二叉树的中序线索化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42887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中序线索化算法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6276022" cy="3917632"/>
            <a:chOff x="533400" y="1524000"/>
            <a:chExt cx="6276022" cy="391763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3917632"/>
            </a:xfrm>
            <a:prstGeom prst="roundRect">
              <a:avLst>
                <a:gd name="adj" fmla="val 243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4884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线索化以 p 为根的二叉树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949" y="1936337"/>
              <a:ext cx="4301312" cy="34242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42"/>
                </a:lnSpc>
              </a:pP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TreeNode *pre = </a:t>
              </a:r>
              <a:r>
                <a:rPr lang="en-US" sz="94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;          </a:t>
              </a:r>
              <a:r>
                <a:rPr lang="zh-CN" sz="94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全局，指向 p 的中根前驱 */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4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Inorder_threading(TreeNode *p)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{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4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(p == </a:t>
              </a:r>
              <a:r>
                <a:rPr lang="en-US" sz="94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 </a:t>
              </a:r>
              <a:r>
                <a:rPr lang="en-US" sz="94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Inorder_threading(p-&gt;left);        </a:t>
              </a:r>
              <a:r>
                <a:rPr lang="zh-CN" sz="94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线索化左子树 */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4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(p-&gt;left == </a:t>
              </a:r>
              <a:r>
                <a:rPr lang="en-US" sz="94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 {             </a:t>
              </a:r>
              <a:r>
                <a:rPr lang="zh-CN" sz="94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p 没有左孩子 */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p-&gt;LThread = 1;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p-&gt;left = pre;                 </a:t>
              </a:r>
              <a:r>
                <a:rPr lang="zh-CN" sz="94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左指针指向前驱 */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 </a:t>
              </a:r>
              <a:r>
                <a:rPr lang="en-US" sz="94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p-&gt;LThread = 0;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4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(pre != </a:t>
              </a:r>
              <a:r>
                <a:rPr lang="en-US" sz="94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&amp;&amp; pre-&gt;right == </a:t>
              </a:r>
              <a:r>
                <a:rPr lang="en-US" sz="94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 {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pre-&gt;RThread = 1;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pre-&gt;right = p;                </a:t>
              </a:r>
              <a:r>
                <a:rPr lang="zh-CN" sz="94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右指针指向后继 */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 </a:t>
              </a:r>
              <a:r>
                <a:rPr lang="en-US" sz="94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4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(pre != </a:t>
              </a:r>
              <a:r>
                <a:rPr lang="en-US" sz="94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 pre-&gt;RThread = 0;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pre = p;                           </a:t>
              </a:r>
              <a:r>
                <a:rPr lang="zh-CN" sz="94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pre 指向刚访问完的结点 */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Inorder_threading(p-&gt;right);       </a:t>
              </a:r>
              <a:r>
                <a:rPr lang="zh-CN" sz="94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线索化右子树 */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4" name="c2-code-1"/>
          <p:cNvGrpSpPr/>
          <p:nvPr/>
        </p:nvGrpSpPr>
        <p:grpSpPr>
          <a:xfrm>
            <a:off x="7114222" y="1524000"/>
            <a:ext cx="4544378" cy="1701165"/>
            <a:chOff x="7114222" y="1524000"/>
            <a:chExt cx="4544378" cy="1701165"/>
          </a:xfrm>
        </p:grpSpPr>
        <p:sp>
          <p:nvSpPr>
            <p:cNvPr id="11" name="Rectangle 11"/>
            <p:cNvSpPr/>
            <p:nvPr/>
          </p:nvSpPr>
          <p:spPr>
            <a:xfrm>
              <a:off x="7114222" y="1524000"/>
              <a:ext cx="4544378" cy="1701165"/>
            </a:xfrm>
            <a:prstGeom prst="roundRect">
              <a:avLst>
                <a:gd name="adj" fmla="val 5599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242620" y="1675924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外层入口，别漏了收尾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242772" y="1936337"/>
              <a:ext cx="2600147" cy="12078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42"/>
                </a:lnSpc>
              </a:pPr>
              <a:r>
                <a:rPr lang="en-US" sz="94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CreateInThread(TreeNode *root)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{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pre = </a:t>
              </a:r>
              <a:r>
                <a:rPr lang="en-US" sz="94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Inorder_threading(root);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4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(pre != </a:t>
              </a:r>
              <a:r>
                <a:rPr lang="en-US" sz="94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pre-&gt;RThread = 1;   </a:t>
              </a:r>
              <a:r>
                <a:rPr lang="zh-CN" sz="94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末结点 */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0" name="c2-card-2"/>
          <p:cNvGrpSpPr/>
          <p:nvPr/>
        </p:nvGrpSpPr>
        <p:grpSpPr>
          <a:xfrm>
            <a:off x="7114222" y="3409950"/>
            <a:ext cx="4544378" cy="1817370"/>
            <a:chOff x="7114222" y="3409950"/>
            <a:chExt cx="4544378" cy="1817370"/>
          </a:xfrm>
        </p:grpSpPr>
        <p:sp>
          <p:nvSpPr>
            <p:cNvPr id="15" name="Rectangle 15"/>
            <p:cNvSpPr/>
            <p:nvPr/>
          </p:nvSpPr>
          <p:spPr>
            <a:xfrm>
              <a:off x="7114222" y="3409950"/>
              <a:ext cx="4544378" cy="1817370"/>
            </a:xfrm>
            <a:prstGeom prst="roundRect">
              <a:avLst>
                <a:gd name="adj" fmla="val 733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3748" y="3543300"/>
              <a:ext cx="47625" cy="155067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56158" y="3613785"/>
              <a:ext cx="1631632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411910" y="3649504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为什么必须补最后一句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348918" y="3986689"/>
              <a:ext cx="3909822" cy="10930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递归结束时，pre 停在中根序列的最后一个结点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上。这个结点的 RThread 从头到尾没人给它赋过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值，是个未初始化的随机值。必须显式置 1，右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指针本来就是 NULL，于是正好表示“后继为空”。</a:t>
              </a:r>
            </a:p>
          </p:txBody>
        </p:sp>
      </p:grpSp>
      <p:grpSp>
        <p:nvGrpSpPr>
          <p:cNvPr id="27" name="c2-callout-3"/>
          <p:cNvGrpSpPr/>
          <p:nvPr/>
        </p:nvGrpSpPr>
        <p:grpSpPr>
          <a:xfrm>
            <a:off x="7114222" y="5413058"/>
            <a:ext cx="4544378" cy="756285"/>
            <a:chOff x="7114222" y="5413058"/>
            <a:chExt cx="4544378" cy="756285"/>
          </a:xfrm>
        </p:grpSpPr>
        <p:sp>
          <p:nvSpPr>
            <p:cNvPr id="21" name="Rectangle 21"/>
            <p:cNvSpPr/>
            <p:nvPr/>
          </p:nvSpPr>
          <p:spPr>
            <a:xfrm>
              <a:off x="7114222" y="5413058"/>
              <a:ext cx="4544378" cy="756285"/>
            </a:xfrm>
            <a:prstGeom prst="roundRect">
              <a:avLst>
                <a:gd name="adj" fmla="val 1511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7319010" y="5691188"/>
              <a:ext cx="200026" cy="200025"/>
              <a:chOff x="7319010" y="5691188"/>
              <a:chExt cx="200026" cy="200025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7319010" y="56911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7358749" y="57356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7393464" y="58467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7621334" y="5560219"/>
              <a:ext cx="3588817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 xml:space="preserve">整个算法就是中根遍历的骨架，时间 </a:t>
              </a:r>
              <a:r>
                <a:rPr lang="en-US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O(n)</a:t>
              </a: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，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 xml:space="preserve">递归深度等于树高，空间 </a:t>
              </a:r>
              <a:r>
                <a:rPr lang="en-US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O(h)</a:t>
              </a: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3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8" name="TextBox 28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第9讲 线索二叉树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94542" cy="909257"/>
            <a:chOff x="520446" y="342900"/>
            <a:chExt cx="75945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第9讲 线索树 · 二叉树的中序线索化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945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线索化的逐步执行：按中根序列 B C A E D 走一遍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7065112" cy="264033"/>
            <a:chOff x="526542" y="1545907"/>
            <a:chExt cx="7065112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70651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下表每一行是递归走到一个结点时做的事，p 是当前结点，pre 是上一个访问完的结点。</a:t>
              </a:r>
            </a:p>
          </p:txBody>
        </p:sp>
      </p:grpSp>
      <p:grpSp>
        <p:nvGrpSpPr>
          <p:cNvPr id="51" name="c1-table-1"/>
          <p:cNvGrpSpPr/>
          <p:nvPr/>
        </p:nvGrpSpPr>
        <p:grpSpPr>
          <a:xfrm>
            <a:off x="533400" y="1928812"/>
            <a:ext cx="6708458" cy="3043238"/>
            <a:chOff x="533400" y="1928812"/>
            <a:chExt cx="6708458" cy="3043238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6708458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25996" y="204597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步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59741" y="204597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015346" y="2045970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pre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393882" y="204597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这一步改了什么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28078" y="242697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64336" y="2426970"/>
              <a:ext cx="92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835848" y="2426970"/>
              <a:ext cx="3392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NULL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640711" y="2426970"/>
              <a:ext cx="407729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无左孩子：LThread=1，left 指向 NULL；pre 是空，右边不动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2687002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2691765"/>
              <a:ext cx="6708458" cy="5676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8078" y="290226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64336" y="2902268"/>
              <a:ext cx="92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835848" y="2902268"/>
              <a:ext cx="92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640711" y="2808923"/>
              <a:ext cx="3844480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 无左孩子：LThread=1，left 指向 B；B 有右孩子 C，只把 B 的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RThread 置 0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3254692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28078" y="337661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64336" y="3376612"/>
              <a:ext cx="92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835848" y="3376612"/>
              <a:ext cx="92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640711" y="3376612"/>
              <a:ext cx="44996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有左孩子：LThread=0；C 无右孩子：C 的 RThread=1，right 指向 A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3635692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533400" y="3640455"/>
              <a:ext cx="6708458" cy="5676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28078" y="38519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64336" y="3851910"/>
              <a:ext cx="92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835848" y="3851910"/>
              <a:ext cx="92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640711" y="3758565"/>
              <a:ext cx="4264533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 无左孩子：LThread=1，left 指向 A；A 有右孩子 D，A 的 RThread 置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4204335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28078" y="432625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64336" y="4326255"/>
              <a:ext cx="92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835848" y="4326255"/>
              <a:ext cx="92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640711" y="4326255"/>
              <a:ext cx="44996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 有左孩子：LThread=0；E 无右孩子：E 的 RThread=1，right 指向 D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33400" y="4585335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533400" y="4590098"/>
              <a:ext cx="6708458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28078" y="470725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64336" y="470725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收尾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835848" y="4707255"/>
              <a:ext cx="92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2555558" y="4599622"/>
              <a:ext cx="4676775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2640711" y="4707255"/>
              <a:ext cx="36007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递归结束，pre 停在 D。置 D 的 RThread=1，右线索为空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33400" y="1928812"/>
              <a:ext cx="6708458" cy="304323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1064895" y="1928812"/>
              <a:ext cx="9525" cy="304323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1736408" y="1928812"/>
              <a:ext cx="9525" cy="304323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2541270" y="1928812"/>
              <a:ext cx="9525" cy="304323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8" name="c1-callout-2"/>
          <p:cNvGrpSpPr/>
          <p:nvPr/>
        </p:nvGrpSpPr>
        <p:grpSpPr>
          <a:xfrm>
            <a:off x="533400" y="5136832"/>
            <a:ext cx="6708458" cy="702945"/>
            <a:chOff x="533400" y="5136832"/>
            <a:chExt cx="6708458" cy="702945"/>
          </a:xfrm>
        </p:grpSpPr>
        <p:sp>
          <p:nvSpPr>
            <p:cNvPr id="52" name="Rectangle 52"/>
            <p:cNvSpPr/>
            <p:nvPr/>
          </p:nvSpPr>
          <p:spPr>
            <a:xfrm>
              <a:off x="533400" y="5136832"/>
              <a:ext cx="6708458" cy="702945"/>
            </a:xfrm>
            <a:prstGeom prst="roundRect">
              <a:avLst>
                <a:gd name="adj" fmla="val 1626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738188" y="5387340"/>
              <a:ext cx="200026" cy="200026"/>
              <a:chOff x="738188" y="5387340"/>
              <a:chExt cx="200026" cy="200026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738188" y="538734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838200" y="545401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827088" y="548735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1041273" y="5281136"/>
              <a:ext cx="565378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六步结束后每个结点的四栏取值，与本讲第 10 页手工填出来的表完全一致，脚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本已逐行比对。</a:t>
              </a:r>
            </a:p>
          </p:txBody>
        </p:sp>
      </p:grpSp>
      <p:grpSp>
        <p:nvGrpSpPr>
          <p:cNvPr id="73" name="c2-tree-1"/>
          <p:cNvGrpSpPr/>
          <p:nvPr/>
        </p:nvGrpSpPr>
        <p:grpSpPr>
          <a:xfrm>
            <a:off x="8396288" y="2000250"/>
            <a:ext cx="2412682" cy="1354455"/>
            <a:chOff x="8396288" y="2000250"/>
            <a:chExt cx="2412682" cy="1354455"/>
          </a:xfrm>
        </p:grpSpPr>
        <p:sp>
          <p:nvSpPr>
            <p:cNvPr id="59" name="Freeform 59"/>
            <p:cNvSpPr/>
            <p:nvPr/>
          </p:nvSpPr>
          <p:spPr>
            <a:xfrm>
              <a:off x="8574405" y="2677478"/>
              <a:ext cx="514350" cy="499110"/>
            </a:xfrm>
            <a:custGeom>
              <a:avLst/>
              <a:gdLst/>
              <a:ahLst/>
              <a:cxnLst/>
              <a:rect l="l" t="t" r="r" b="b"/>
              <a:pathLst>
                <a:path w="514350" h="499110">
                  <a:moveTo>
                    <a:pt x="0" y="0"/>
                  </a:moveTo>
                  <a:lnTo>
                    <a:pt x="514350" y="49911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60" name="Freeform 60"/>
            <p:cNvSpPr/>
            <p:nvPr/>
          </p:nvSpPr>
          <p:spPr>
            <a:xfrm>
              <a:off x="10116502" y="2677478"/>
              <a:ext cx="514350" cy="499110"/>
            </a:xfrm>
            <a:custGeom>
              <a:avLst/>
              <a:gdLst/>
              <a:ahLst/>
              <a:cxnLst/>
              <a:rect l="l" t="t" r="r" b="b"/>
              <a:pathLst>
                <a:path w="514350" h="499110">
                  <a:moveTo>
                    <a:pt x="514350" y="0"/>
                  </a:moveTo>
                  <a:lnTo>
                    <a:pt x="0" y="49911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61" name="Freeform 61"/>
            <p:cNvSpPr/>
            <p:nvPr/>
          </p:nvSpPr>
          <p:spPr>
            <a:xfrm>
              <a:off x="8574405" y="2178368"/>
              <a:ext cx="1028700" cy="499110"/>
            </a:xfrm>
            <a:custGeom>
              <a:avLst/>
              <a:gdLst/>
              <a:ahLst/>
              <a:cxnLst/>
              <a:rect l="l" t="t" r="r" b="b"/>
              <a:pathLst>
                <a:path w="1028700" h="499110">
                  <a:moveTo>
                    <a:pt x="1028700" y="0"/>
                  </a:moveTo>
                  <a:lnTo>
                    <a:pt x="0" y="49911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62" name="Freeform 62"/>
            <p:cNvSpPr/>
            <p:nvPr/>
          </p:nvSpPr>
          <p:spPr>
            <a:xfrm>
              <a:off x="9603105" y="2178368"/>
              <a:ext cx="1027747" cy="499110"/>
            </a:xfrm>
            <a:custGeom>
              <a:avLst/>
              <a:gdLst/>
              <a:ahLst/>
              <a:cxnLst/>
              <a:rect l="l" t="t" r="r" b="b"/>
              <a:pathLst>
                <a:path w="1027747" h="499110">
                  <a:moveTo>
                    <a:pt x="0" y="0"/>
                  </a:moveTo>
                  <a:lnTo>
                    <a:pt x="1027747" y="49911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63" name="Ellipse 63"/>
            <p:cNvSpPr/>
            <p:nvPr/>
          </p:nvSpPr>
          <p:spPr>
            <a:xfrm>
              <a:off x="8910638" y="2998470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4" name="Ellipse 64"/>
            <p:cNvSpPr/>
            <p:nvPr/>
          </p:nvSpPr>
          <p:spPr>
            <a:xfrm>
              <a:off x="8396288" y="2499360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5" name="Ellipse 65"/>
            <p:cNvSpPr/>
            <p:nvPr/>
          </p:nvSpPr>
          <p:spPr>
            <a:xfrm>
              <a:off x="9938385" y="2998470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6" name="Ellipse 66"/>
            <p:cNvSpPr/>
            <p:nvPr/>
          </p:nvSpPr>
          <p:spPr>
            <a:xfrm>
              <a:off x="10452735" y="2499360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7" name="Ellipse 67"/>
            <p:cNvSpPr/>
            <p:nvPr/>
          </p:nvSpPr>
          <p:spPr>
            <a:xfrm>
              <a:off x="9424988" y="2000250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9047028" y="3120390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8532678" y="2621280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0074775" y="3120390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0589125" y="2621280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9561378" y="2122170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</p:grpSp>
      <p:grpSp>
        <p:nvGrpSpPr>
          <p:cNvPr id="82" name="c2-card-2"/>
          <p:cNvGrpSpPr/>
          <p:nvPr/>
        </p:nvGrpSpPr>
        <p:grpSpPr>
          <a:xfrm>
            <a:off x="7546658" y="3590925"/>
            <a:ext cx="4111942" cy="2247900"/>
            <a:chOff x="7546658" y="3590925"/>
            <a:chExt cx="4111942" cy="2247900"/>
          </a:xfrm>
        </p:grpSpPr>
        <p:sp>
          <p:nvSpPr>
            <p:cNvPr id="74" name="Rectangle 74"/>
            <p:cNvSpPr/>
            <p:nvPr/>
          </p:nvSpPr>
          <p:spPr>
            <a:xfrm>
              <a:off x="7546658" y="3590925"/>
              <a:ext cx="4111942" cy="2247900"/>
            </a:xfrm>
            <a:prstGeom prst="roundRect">
              <a:avLst>
                <a:gd name="adj" fmla="val 5932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5" name="Rectangle 75"/>
            <p:cNvSpPr/>
            <p:nvPr/>
          </p:nvSpPr>
          <p:spPr>
            <a:xfrm>
              <a:off x="7727632" y="3771900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7813154" y="3804761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盯住两点</a:t>
              </a:r>
            </a:p>
          </p:txBody>
        </p:sp>
        <p:sp>
          <p:nvSpPr>
            <p:cNvPr id="77" name="Ellipse 77"/>
            <p:cNvSpPr/>
            <p:nvPr/>
          </p:nvSpPr>
          <p:spPr>
            <a:xfrm>
              <a:off x="7737158" y="4164330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7892606" y="4112419"/>
              <a:ext cx="33041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每一步最多写两处：p 的左边和 pre 的右边</a:t>
              </a:r>
            </a:p>
          </p:txBody>
        </p:sp>
        <p:sp>
          <p:nvSpPr>
            <p:cNvPr id="79" name="Ellipse 79"/>
            <p:cNvSpPr/>
            <p:nvPr/>
          </p:nvSpPr>
          <p:spPr>
            <a:xfrm>
              <a:off x="7737158" y="4450080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7892606" y="4397216"/>
              <a:ext cx="336981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pre 永远落后 p 一个结点，对照中根序列 B C A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 D 看就不会乱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7722298" y="4921568"/>
              <a:ext cx="3531108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自己动手：拿第 14 页那棵八结点的树再走一遍，共 9 步（8</a:t>
              </a:r>
              <a:br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个结点加收尾），最后对照那页的八行表核对。</a:t>
              </a:r>
            </a:p>
          </p:txBody>
        </p:sp>
      </p:grpSp>
      <p:grpSp>
        <p:nvGrpSpPr>
          <p:cNvPr id="8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3" name="TextBox 83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第9讲 线索二叉树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6344602" cy="3675697"/>
            <a:chOff x="667512" y="1835468"/>
            <a:chExt cx="6344602" cy="367569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94436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两种实现方案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6334696" cy="6465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一比特的标志位在 C 里没法直接定义，工程上要么合并成一个字节，</a:t>
              </a:r>
              <a:br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要么干脆换成指针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421195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4154805"/>
              <a:ext cx="28725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标志位为什么不能真的占 1 比特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56628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509135"/>
              <a:ext cx="370903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方案一：用一个字节的 Tag 表示四种状态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92061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86346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方案二：扩展二叉树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527494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521779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两种方案的空间与时间取舍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第9讲 线索二叉树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34534" cy="909257"/>
            <a:chOff x="520446" y="342900"/>
            <a:chExt cx="623453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第9讲 线索树 · 两种实现方案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3453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方案一：把两个标志合成一个字节的 Tag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1" name="c1-bullets-1"/>
          <p:cNvGrpSpPr/>
          <p:nvPr/>
        </p:nvGrpSpPr>
        <p:grpSpPr>
          <a:xfrm>
            <a:off x="541972" y="1545907"/>
            <a:ext cx="5103896" cy="832676"/>
            <a:chOff x="541972" y="1545907"/>
            <a:chExt cx="5103896" cy="832676"/>
          </a:xfrm>
        </p:grpSpPr>
        <p:sp>
          <p:nvSpPr>
            <p:cNvPr id="7" name="Ellipse 7"/>
            <p:cNvSpPr/>
            <p:nvPr/>
          </p:nvSpPr>
          <p:spPr>
            <a:xfrm>
              <a:off x="541972" y="1602105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97992" y="1545907"/>
              <a:ext cx="483146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LThread 和 RThread 理论上各占 1 比特，但包括 C/C++ 在内的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众多程序设计语言无法定义 1 比特的变量。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541972" y="2170748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97992" y="2114550"/>
              <a:ext cx="49478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变通做法是用 1 个字节（8 比特）的变量表示 4 种标志状态。</a:t>
              </a:r>
            </a:p>
          </p:txBody>
        </p:sp>
      </p:grpSp>
      <p:grpSp>
        <p:nvGrpSpPr>
          <p:cNvPr id="32" name="c1-cells-2"/>
          <p:cNvGrpSpPr/>
          <p:nvPr/>
        </p:nvGrpSpPr>
        <p:grpSpPr>
          <a:xfrm>
            <a:off x="528447" y="2500312"/>
            <a:ext cx="4265485" cy="918210"/>
            <a:chOff x="528447" y="2500312"/>
            <a:chExt cx="4265485" cy="918210"/>
          </a:xfrm>
        </p:grpSpPr>
        <p:sp>
          <p:nvSpPr>
            <p:cNvPr id="12" name="TextBox 12"/>
            <p:cNvSpPr txBox="1"/>
            <p:nvPr/>
          </p:nvSpPr>
          <p:spPr>
            <a:xfrm>
              <a:off x="528447" y="2630329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原结构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1040130" y="2500312"/>
              <a:ext cx="75057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139491" y="2630329"/>
              <a:ext cx="5518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LThread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1790700" y="2500312"/>
              <a:ext cx="75057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2006499" y="2630329"/>
              <a:ext cx="3189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Left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2541270" y="2500312"/>
              <a:ext cx="75057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2758022" y="2630329"/>
              <a:ext cx="3189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Data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3292792" y="2500312"/>
              <a:ext cx="75057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488009" y="2630329"/>
              <a:ext cx="36013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Right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4043362" y="2500312"/>
              <a:ext cx="75057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142723" y="2630329"/>
              <a:ext cx="5518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RThread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28447" y="3167539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方案一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1040130" y="3037522"/>
              <a:ext cx="574358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167347" y="3167539"/>
              <a:ext cx="3189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Left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614488" y="3037522"/>
              <a:ext cx="574358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742657" y="3167539"/>
              <a:ext cx="3189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Data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2188845" y="3037522"/>
              <a:ext cx="574358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2295479" y="3167539"/>
              <a:ext cx="36013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Right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2763202" y="3037522"/>
              <a:ext cx="574358" cy="3810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2928513" y="3167539"/>
              <a:ext cx="24278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Tag</a:t>
              </a:r>
            </a:p>
          </p:txBody>
        </p:sp>
      </p:grpSp>
      <p:grpSp>
        <p:nvGrpSpPr>
          <p:cNvPr id="58" name="c1-table-3"/>
          <p:cNvGrpSpPr/>
          <p:nvPr/>
        </p:nvGrpSpPr>
        <p:grpSpPr>
          <a:xfrm>
            <a:off x="533400" y="3594735"/>
            <a:ext cx="5193982" cy="2028825"/>
            <a:chOff x="533400" y="3594735"/>
            <a:chExt cx="5193982" cy="2028825"/>
          </a:xfrm>
        </p:grpSpPr>
        <p:sp>
          <p:nvSpPr>
            <p:cNvPr id="33" name="Rectangle 33"/>
            <p:cNvSpPr/>
            <p:nvPr/>
          </p:nvSpPr>
          <p:spPr>
            <a:xfrm>
              <a:off x="533400" y="3594735"/>
              <a:ext cx="5193982" cy="40576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100971" y="3719036"/>
              <a:ext cx="6307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LThread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866906" y="3719036"/>
              <a:ext cx="6307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RThread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757062" y="3719036"/>
              <a:ext cx="277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Tag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33412" y="41248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399348" y="412480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165282" y="412480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33400" y="440150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533400" y="4406265"/>
              <a:ext cx="5193982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33412" y="45305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2399348" y="453056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165282" y="453056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33400" y="480726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33412" y="49363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2399348" y="493633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165282" y="493633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33400" y="521303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533400" y="5217795"/>
              <a:ext cx="5193982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33412" y="53420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2399348" y="534209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4074795" y="5227320"/>
              <a:ext cx="1643062" cy="38671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4165282" y="534209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533400" y="3594735"/>
              <a:ext cx="5193982" cy="20288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2294572" y="3594735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4060508" y="3594735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2" name="c2-code-1"/>
          <p:cNvGrpSpPr/>
          <p:nvPr/>
        </p:nvGrpSpPr>
        <p:grpSpPr>
          <a:xfrm>
            <a:off x="6032182" y="1524000"/>
            <a:ext cx="5626418" cy="1948815"/>
            <a:chOff x="6032182" y="1524000"/>
            <a:chExt cx="5626418" cy="1948815"/>
          </a:xfrm>
        </p:grpSpPr>
        <p:sp>
          <p:nvSpPr>
            <p:cNvPr id="59" name="Rectangle 59"/>
            <p:cNvSpPr/>
            <p:nvPr/>
          </p:nvSpPr>
          <p:spPr>
            <a:xfrm>
              <a:off x="6032182" y="1524000"/>
              <a:ext cx="5626418" cy="1948815"/>
            </a:xfrm>
            <a:prstGeom prst="roundRect">
              <a:avLst>
                <a:gd name="adj" fmla="val 4888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160580" y="1675924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用一个字节存两个标志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160770" y="1935194"/>
              <a:ext cx="2814701" cy="14535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60"/>
                </a:lnSpc>
              </a:pP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typedef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struct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TagNode {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struct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TagNode *left;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data;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char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Tag;              </a:t>
              </a:r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取值 0 1 2 3 */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struct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TagNode *right;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 TagNode;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#define LTHREAD(p)  (((p)-&gt;Tag &gt;&gt; 1) &amp; 1)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#define RTHREAD(p)  ((p)-&gt;Tag &amp; 1)</a:t>
              </a:r>
            </a:p>
          </p:txBody>
        </p:sp>
      </p:grpSp>
      <p:grpSp>
        <p:nvGrpSpPr>
          <p:cNvPr id="69" name="c2-card-2"/>
          <p:cNvGrpSpPr/>
          <p:nvPr/>
        </p:nvGrpSpPr>
        <p:grpSpPr>
          <a:xfrm>
            <a:off x="6032182" y="3648075"/>
            <a:ext cx="5626418" cy="1975485"/>
            <a:chOff x="6032182" y="3648075"/>
            <a:chExt cx="5626418" cy="1975485"/>
          </a:xfrm>
        </p:grpSpPr>
        <p:sp>
          <p:nvSpPr>
            <p:cNvPr id="63" name="Rectangle 63"/>
            <p:cNvSpPr/>
            <p:nvPr/>
          </p:nvSpPr>
          <p:spPr>
            <a:xfrm>
              <a:off x="6032182" y="3648075"/>
              <a:ext cx="5626418" cy="1975485"/>
            </a:xfrm>
            <a:prstGeom prst="roundRect">
              <a:avLst>
                <a:gd name="adj" fmla="val 675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6041708" y="3781425"/>
              <a:ext cx="47625" cy="170878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6262688" y="3840480"/>
              <a:ext cx="18097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314123" y="3874770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实测：这一个字节可以白捡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255830" y="4196715"/>
              <a:ext cx="4918043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用 zig cc 在 64 位下编译：普通结点 </a:t>
              </a:r>
              <a:r>
                <a:rPr lang="en-US" sz="135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{left, data, right}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是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24</a:t>
              </a:r>
              <a:br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字节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，因为 int 后面本来就有 4 字节的对齐填充。把 Tag 写在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data 后面，塞进那个空洞，仍是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24 字节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256972" y="5009674"/>
              <a:ext cx="4968494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写在结构体末尾则要补齐到 32 字节，白涨 8 个字节。字段顺序在这里是有讲究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的。</a:t>
              </a:r>
            </a:p>
          </p:txBody>
        </p:sp>
      </p:grpSp>
      <p:grpSp>
        <p:nvGrpSpPr>
          <p:cNvPr id="76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70" name="Rectangle 70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4" name="Group 74"/>
            <p:cNvGrpSpPr/>
            <p:nvPr/>
          </p:nvGrpSpPr>
          <p:grpSpPr>
            <a:xfrm>
              <a:off x="738188" y="6017895"/>
              <a:ext cx="200026" cy="200025"/>
              <a:chOff x="738188" y="6017895"/>
              <a:chExt cx="200026" cy="200025"/>
            </a:xfrm>
          </p:grpSpPr>
          <p:sp>
            <p:nvSpPr>
              <p:cNvPr id="71" name="Freeform 71"/>
              <p:cNvSpPr/>
              <p:nvPr/>
            </p:nvSpPr>
            <p:spPr>
              <a:xfrm>
                <a:off x="738188" y="60178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777926" y="60623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812642" y="61734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5" name="TextBox 75"/>
            <p:cNvSpPr txBox="1"/>
            <p:nvPr/>
          </p:nvSpPr>
          <p:spPr>
            <a:xfrm>
              <a:off x="1040892" y="6023610"/>
              <a:ext cx="104717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现代 C 其实有位域（</a:t>
              </a:r>
              <a:r>
                <a:rPr lang="en-US" sz="135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unsigned LThread : 1;</a:t>
              </a: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），实测把两个位域也塞进同一个空洞，结点同样是 24 字节，可读性比手工移位好。</a:t>
              </a:r>
            </a:p>
          </p:txBody>
        </p:sp>
      </p:grpSp>
      <p:grpSp>
        <p:nvGrpSpPr>
          <p:cNvPr id="7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7" name="TextBox 77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第9讲 线索二叉树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第9讲 线索树 · 两种实现方案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方案二：扩展二叉树，直接多存两个指针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bullets-1"/>
          <p:cNvGrpSpPr/>
          <p:nvPr/>
        </p:nvGrpSpPr>
        <p:grpSpPr>
          <a:xfrm>
            <a:off x="541972" y="1545907"/>
            <a:ext cx="5073206" cy="1401318"/>
            <a:chOff x="541972" y="1545907"/>
            <a:chExt cx="5073206" cy="1401318"/>
          </a:xfrm>
        </p:grpSpPr>
        <p:sp>
          <p:nvSpPr>
            <p:cNvPr id="7" name="Ellipse 7"/>
            <p:cNvSpPr/>
            <p:nvPr/>
          </p:nvSpPr>
          <p:spPr>
            <a:xfrm>
              <a:off x="541972" y="1602105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97992" y="1545907"/>
              <a:ext cx="488289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空间换时间，把 LThread 和 RThread 换成两个指针域，Pred 指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向中根前驱，Succ 指向中根后继。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541972" y="2170748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97992" y="2114550"/>
              <a:ext cx="491718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虽然存储空间增加，但使找中根前驱和后继的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最坏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时间复杂度由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O(h) 降为 </a:t>
              </a:r>
              <a:r>
                <a:rPr lang="en-US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O(1)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541972" y="2739390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97992" y="2683192"/>
              <a:ext cx="25762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此种结构亦称为“扩展二叉树”。</a:t>
              </a:r>
            </a:p>
          </p:txBody>
        </p:sp>
      </p:grpSp>
      <p:grpSp>
        <p:nvGrpSpPr>
          <p:cNvPr id="25" name="c1-cells-2"/>
          <p:cNvGrpSpPr/>
          <p:nvPr/>
        </p:nvGrpSpPr>
        <p:grpSpPr>
          <a:xfrm>
            <a:off x="528447" y="3068955"/>
            <a:ext cx="3383471" cy="381000"/>
            <a:chOff x="528447" y="3068955"/>
            <a:chExt cx="3383471" cy="381000"/>
          </a:xfrm>
        </p:grpSpPr>
        <p:sp>
          <p:nvSpPr>
            <p:cNvPr id="14" name="TextBox 14"/>
            <p:cNvSpPr txBox="1"/>
            <p:nvPr/>
          </p:nvSpPr>
          <p:spPr>
            <a:xfrm>
              <a:off x="528447" y="3198971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方案二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1040130" y="3068955"/>
              <a:ext cx="574358" cy="3810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167347" y="3198971"/>
              <a:ext cx="3189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Pred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1614488" y="3068955"/>
              <a:ext cx="574358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742657" y="3198971"/>
              <a:ext cx="3189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Left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2188845" y="3068955"/>
              <a:ext cx="574358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2316062" y="3198971"/>
              <a:ext cx="3189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Data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2763202" y="3068955"/>
              <a:ext cx="574358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869837" y="3198971"/>
              <a:ext cx="36013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Right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3337560" y="3068955"/>
              <a:ext cx="574358" cy="3810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465729" y="3198971"/>
              <a:ext cx="3189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Succ</a:t>
              </a:r>
            </a:p>
          </p:txBody>
        </p:sp>
      </p:grpSp>
      <p:grpSp>
        <p:nvGrpSpPr>
          <p:cNvPr id="29" name="c1-code-3"/>
          <p:cNvGrpSpPr/>
          <p:nvPr/>
        </p:nvGrpSpPr>
        <p:grpSpPr>
          <a:xfrm>
            <a:off x="533400" y="3625215"/>
            <a:ext cx="5410200" cy="1628775"/>
            <a:chOff x="533400" y="3625215"/>
            <a:chExt cx="5410200" cy="1628775"/>
          </a:xfrm>
        </p:grpSpPr>
        <p:sp>
          <p:nvSpPr>
            <p:cNvPr id="26" name="Rectangle 26"/>
            <p:cNvSpPr/>
            <p:nvPr/>
          </p:nvSpPr>
          <p:spPr>
            <a:xfrm>
              <a:off x="533400" y="3625215"/>
              <a:ext cx="5410200" cy="1628775"/>
            </a:xfrm>
            <a:prstGeom prst="roundRect">
              <a:avLst>
                <a:gd name="adj" fmla="val 5848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61797" y="3777139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61988" y="4037362"/>
              <a:ext cx="2607945" cy="11334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60"/>
                </a:lnSpc>
              </a:pP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typedef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struct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ExtNode {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struct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ExtNode *Pred;    </a:t>
              </a:r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中根前驱 */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struct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ExtNode *left;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data;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struct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ExtNode *right;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struct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ExtNode *Succ;    </a:t>
              </a:r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中根后继 */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 ExtNode;</a:t>
              </a:r>
            </a:p>
          </p:txBody>
        </p:sp>
      </p:grpSp>
      <p:grpSp>
        <p:nvGrpSpPr>
          <p:cNvPr id="73" name="c2-table-1"/>
          <p:cNvGrpSpPr/>
          <p:nvPr/>
        </p:nvGrpSpPr>
        <p:grpSpPr>
          <a:xfrm>
            <a:off x="6243066" y="1524000"/>
            <a:ext cx="5415534" cy="2714244"/>
            <a:chOff x="6243066" y="1524000"/>
            <a:chExt cx="5415534" cy="2714244"/>
          </a:xfrm>
        </p:grpSpPr>
        <p:sp>
          <p:nvSpPr>
            <p:cNvPr id="30" name="Rectangle 30"/>
            <p:cNvSpPr/>
            <p:nvPr/>
          </p:nvSpPr>
          <p:spPr>
            <a:xfrm>
              <a:off x="6248400" y="1524000"/>
              <a:ext cx="5410200" cy="40576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524346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结点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499589" y="1648301"/>
              <a:ext cx="364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Pred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635921" y="1648301"/>
              <a:ext cx="364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Left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748731" y="1648301"/>
              <a:ext cx="4116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Right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908586" y="1648301"/>
              <a:ext cx="364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Succ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348412" y="205406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214235" y="2054066"/>
              <a:ext cx="99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350567" y="2054066"/>
              <a:ext cx="99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485948" y="2054066"/>
              <a:ext cx="99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622280" y="2054066"/>
              <a:ext cx="99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248400" y="233076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248400" y="2335530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348412" y="245983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214235" y="245983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∧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350567" y="245983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∧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485948" y="2459831"/>
              <a:ext cx="99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622280" y="2459831"/>
              <a:ext cx="99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248400" y="273653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348412" y="286559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214235" y="2865596"/>
              <a:ext cx="99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350567" y="286559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∧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485948" y="286559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∧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622280" y="2865596"/>
              <a:ext cx="99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248400" y="314229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6248400" y="3147060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348412" y="327136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214235" y="3271361"/>
              <a:ext cx="99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350567" y="3271361"/>
              <a:ext cx="99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485948" y="327136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∧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0622280" y="327136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∧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6248400" y="354806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348412" y="367712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214235" y="3677126"/>
              <a:ext cx="99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350567" y="367712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∧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9485948" y="367712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∧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0622280" y="3677126"/>
              <a:ext cx="99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6248400" y="1524000"/>
              <a:ext cx="5410200" cy="24345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8" name="Rectangle 68"/>
            <p:cNvSpPr/>
            <p:nvPr/>
          </p:nvSpPr>
          <p:spPr>
            <a:xfrm>
              <a:off x="7109460" y="1524000"/>
              <a:ext cx="9525" cy="24345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8245792" y="1524000"/>
              <a:ext cx="9525" cy="24345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9381172" y="1524000"/>
              <a:ext cx="9525" cy="24345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1" name="Rectangle 71"/>
            <p:cNvSpPr/>
            <p:nvPr/>
          </p:nvSpPr>
          <p:spPr>
            <a:xfrm>
              <a:off x="10517505" y="1524000"/>
              <a:ext cx="9525" cy="24345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6243066" y="4032885"/>
              <a:ext cx="29306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仍用中根序列为 B C A E D 的那棵树，∧ 表示空</a:t>
              </a:r>
            </a:p>
          </p:txBody>
        </p:sp>
      </p:grpSp>
      <p:grpSp>
        <p:nvGrpSpPr>
          <p:cNvPr id="80" name="c2-card-2"/>
          <p:cNvGrpSpPr/>
          <p:nvPr/>
        </p:nvGrpSpPr>
        <p:grpSpPr>
          <a:xfrm>
            <a:off x="6248400" y="4371975"/>
            <a:ext cx="5410200" cy="1730692"/>
            <a:chOff x="6248400" y="4371975"/>
            <a:chExt cx="5410200" cy="1730692"/>
          </a:xfrm>
        </p:grpSpPr>
        <p:sp>
          <p:nvSpPr>
            <p:cNvPr id="74" name="Rectangle 74"/>
            <p:cNvSpPr/>
            <p:nvPr/>
          </p:nvSpPr>
          <p:spPr>
            <a:xfrm>
              <a:off x="6248400" y="4371975"/>
              <a:ext cx="5410200" cy="1730692"/>
            </a:xfrm>
            <a:prstGeom prst="roundRect">
              <a:avLst>
                <a:gd name="adj" fmla="val 770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5" name="Rectangle 75"/>
            <p:cNvSpPr/>
            <p:nvPr/>
          </p:nvSpPr>
          <p:spPr>
            <a:xfrm>
              <a:off x="6257925" y="4505325"/>
              <a:ext cx="47625" cy="146399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76" name="Rectangle 76"/>
            <p:cNvSpPr/>
            <p:nvPr/>
          </p:nvSpPr>
          <p:spPr>
            <a:xfrm>
              <a:off x="6478905" y="4564380"/>
              <a:ext cx="140970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6542342" y="4598670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和方案一的关键差别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6472047" y="4921568"/>
              <a:ext cx="476288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孩子指针和线索各占各的位置，互不挤占。B 的右孩子是 C，B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的后继也是 C，两栏都填 C，这在方案一里是同一个指针，在这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里是两个。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6473190" y="5734526"/>
              <a:ext cx="48527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首结点 B 的 Pred 和末结点 D 的 Succ 仍然为空，这一点两种方案一样。</a:t>
              </a:r>
            </a:p>
          </p:txBody>
        </p:sp>
      </p:grpSp>
      <p:grpSp>
        <p:nvGrpSpPr>
          <p:cNvPr id="8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1" name="TextBox 81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第9讲 线索二叉树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428875" cy="909257"/>
            <a:chOff x="520446" y="342900"/>
            <a:chExt cx="242887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第9讲 线索树 · 两种实现方案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42887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两种方案怎么选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3" name="c1-table-1"/>
          <p:cNvGrpSpPr/>
          <p:nvPr/>
        </p:nvGrpSpPr>
        <p:grpSpPr>
          <a:xfrm>
            <a:off x="533400" y="1524000"/>
            <a:ext cx="5842635" cy="2840355"/>
            <a:chOff x="533400" y="1524000"/>
            <a:chExt cx="5842635" cy="284035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40576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60666" y="164830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对比项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569611" y="1648301"/>
              <a:ext cx="11282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方案一 Tag 字节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663340" y="1648301"/>
              <a:ext cx="12651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方案二 扩展二叉树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3412" y="205406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结点多存什么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152650" y="2054066"/>
              <a:ext cx="10422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个字节的 Tag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314825" y="2054066"/>
              <a:ext cx="15530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个指针 Pred 和 Succ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33076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335530"/>
              <a:ext cx="584263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3412" y="245983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实测结点大小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2062162" y="2345055"/>
              <a:ext cx="2143125" cy="38671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2152650" y="2459831"/>
              <a:ext cx="5240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24 字节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314825" y="2459831"/>
              <a:ext cx="5240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40 字节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273653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3412" y="286559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比普通结点涨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152650" y="2865596"/>
              <a:ext cx="2074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0%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4224338" y="2750820"/>
              <a:ext cx="2143125" cy="386715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314825" y="2865596"/>
              <a:ext cx="2903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67%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314229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33400" y="3147060"/>
              <a:ext cx="584263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33412" y="327136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找前驱后继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152650" y="3271361"/>
              <a:ext cx="7315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最坏 O(h)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224338" y="3156585"/>
              <a:ext cx="2143125" cy="38671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314825" y="3271361"/>
              <a:ext cx="3937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O(1)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354806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33412" y="367712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找首结点末结点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152650" y="3677126"/>
              <a:ext cx="3835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O(h)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314825" y="3677126"/>
              <a:ext cx="3835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O(h)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395382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533400" y="3958590"/>
              <a:ext cx="584263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33412" y="408289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线索化开销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152650" y="4082891"/>
              <a:ext cx="10331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一趟遍历 O(n)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314825" y="4082891"/>
              <a:ext cx="10331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一趟遍历 O(n)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33400" y="1524000"/>
              <a:ext cx="5842635" cy="28403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2047875" y="1524000"/>
              <a:ext cx="9525" cy="2840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4210050" y="1524000"/>
              <a:ext cx="9525" cy="2840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9" name="c1-callout-2"/>
          <p:cNvGrpSpPr/>
          <p:nvPr/>
        </p:nvGrpSpPr>
        <p:grpSpPr>
          <a:xfrm>
            <a:off x="533400" y="4539615"/>
            <a:ext cx="5842635" cy="978218"/>
            <a:chOff x="533400" y="4539615"/>
            <a:chExt cx="5842635" cy="978218"/>
          </a:xfrm>
        </p:grpSpPr>
        <p:sp>
          <p:nvSpPr>
            <p:cNvPr id="44" name="Rectangle 44"/>
            <p:cNvSpPr/>
            <p:nvPr/>
          </p:nvSpPr>
          <p:spPr>
            <a:xfrm>
              <a:off x="533400" y="4539615"/>
              <a:ext cx="5842635" cy="978218"/>
            </a:xfrm>
            <a:prstGeom prst="roundRect">
              <a:avLst>
                <a:gd name="adj" fmla="val 11685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738188" y="4928237"/>
              <a:ext cx="200023" cy="200023"/>
              <a:chOff x="738188" y="4928237"/>
              <a:chExt cx="200023" cy="200023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738188" y="492823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71538" y="499491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1040892" y="4685348"/>
              <a:ext cx="4917186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结点大小是 zig cc 在 64 位下对 </a:t>
              </a:r>
              <a:r>
                <a:rPr lang="en-US" sz="1350" dirty="0">
                  <a:solidFill>
                    <a:srgbClr val="E6EFF9"/>
                  </a:solidFill>
                  <a:latin typeface="+mn-lt"/>
                  <a:ea typeface="+mn-ea"/>
                  <a:cs typeface="+mn-cs"/>
                </a:rPr>
                <a:t>int data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加指针的实测值，换成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别的数据类型数字会变，但方案二比方案一多两个指针这一点不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变。</a:t>
              </a:r>
            </a:p>
          </p:txBody>
        </p:sp>
      </p:grpSp>
      <p:grpSp>
        <p:nvGrpSpPr>
          <p:cNvPr id="57" name="c2-card-1"/>
          <p:cNvGrpSpPr/>
          <p:nvPr/>
        </p:nvGrpSpPr>
        <p:grpSpPr>
          <a:xfrm>
            <a:off x="6680835" y="1524000"/>
            <a:ext cx="4977765" cy="1768792"/>
            <a:chOff x="6680835" y="1524000"/>
            <a:chExt cx="4977765" cy="1768792"/>
          </a:xfrm>
        </p:grpSpPr>
        <p:sp>
          <p:nvSpPr>
            <p:cNvPr id="50" name="Rectangle 50"/>
            <p:cNvSpPr/>
            <p:nvPr/>
          </p:nvSpPr>
          <p:spPr>
            <a:xfrm>
              <a:off x="6680835" y="1524000"/>
              <a:ext cx="4977765" cy="1768792"/>
            </a:xfrm>
            <a:prstGeom prst="roundRect">
              <a:avLst>
                <a:gd name="adj" fmla="val 7539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6873240" y="1716405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960680" y="1750695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选哪个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6881812" y="2128838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037832" y="2072640"/>
              <a:ext cx="417995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只是偶尔查前驱后继，或者内存紧张：选 </a:t>
              </a:r>
              <a:r>
                <a:rPr lang="zh-CN" sz="135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方案一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，一个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字节甚至一个字节都不用多花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6881812" y="2688907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037832" y="2632710"/>
              <a:ext cx="417995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程序反复在中根序列上来回跳，且不在乎内存：选 </a:t>
              </a:r>
              <a:r>
                <a:rPr lang="zh-CN" sz="135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方案</a:t>
              </a:r>
              <a:br/>
              <a:r>
                <a:rPr lang="zh-CN" sz="135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二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，每次都是 O(1)</a:t>
              </a:r>
            </a:p>
          </p:txBody>
        </p:sp>
      </p:grpSp>
      <p:grpSp>
        <p:nvGrpSpPr>
          <p:cNvPr id="63" name="c2-card-2"/>
          <p:cNvGrpSpPr/>
          <p:nvPr/>
        </p:nvGrpSpPr>
        <p:grpSpPr>
          <a:xfrm>
            <a:off x="6680835" y="3468052"/>
            <a:ext cx="4977765" cy="2048828"/>
            <a:chOff x="6680835" y="3468052"/>
            <a:chExt cx="4977765" cy="2048828"/>
          </a:xfrm>
        </p:grpSpPr>
        <p:sp>
          <p:nvSpPr>
            <p:cNvPr id="58" name="Rectangle 58"/>
            <p:cNvSpPr/>
            <p:nvPr/>
          </p:nvSpPr>
          <p:spPr>
            <a:xfrm>
              <a:off x="6680835" y="3468052"/>
              <a:ext cx="4977765" cy="2048828"/>
            </a:xfrm>
            <a:prstGeom prst="roundRect">
              <a:avLst>
                <a:gd name="adj" fmla="val 65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6690360" y="3601402"/>
              <a:ext cx="47625" cy="178212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6911340" y="3660458"/>
              <a:ext cx="140970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974777" y="3694748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方案二没有解决的事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904482" y="4017645"/>
              <a:ext cx="435140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Pred 和 Succ 只管中根序列上的邻居。要找首结点仍得从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根沿左分支下行 O(h)，要找先根或后根的前驱后继更是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一点忙都帮不上。</a:t>
              </a:r>
            </a:p>
          </p:txBody>
        </p:sp>
      </p:grpSp>
      <p:grpSp>
        <p:nvGrpSpPr>
          <p:cNvPr id="70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64" name="Rectangle 64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8" name="Group 68"/>
            <p:cNvGrpSpPr/>
            <p:nvPr/>
          </p:nvGrpSpPr>
          <p:grpSpPr>
            <a:xfrm>
              <a:off x="738188" y="6017895"/>
              <a:ext cx="200026" cy="200026"/>
              <a:chOff x="738188" y="6017895"/>
              <a:chExt cx="200026" cy="200026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738188" y="601789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838200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827088" y="611790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9" name="TextBox 69"/>
            <p:cNvSpPr txBox="1"/>
            <p:nvPr/>
          </p:nvSpPr>
          <p:spPr>
            <a:xfrm>
              <a:off x="1040892" y="6023610"/>
              <a:ext cx="88500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方案二把线索和孩子指针拆开以后，判叶结点不能再看标志位，要退回去看 </a:t>
              </a:r>
              <a:r>
                <a:rPr lang="en-US" sz="135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left == NULL &amp;&amp; right == NULL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7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1" name="TextBox 71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第9讲 线索二叉树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6313170" cy="3675697"/>
            <a:chOff x="667512" y="1835468"/>
            <a:chExt cx="6313170" cy="367569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第五部分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585216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关于先序与后序线索二叉树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6303264" cy="6465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同样是把空指针改成线索，这两种线索树各自留下一个解决不了的问</a:t>
              </a:r>
              <a:br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题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421195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415480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先序线索树找不到先根前驱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56628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50913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后序线索树找不到后根后继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92061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86346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原因都在于没有父指针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527494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521779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三种线索方式的能力对照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第9讲 线索二叉树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第9讲 线索树 · 关于先序与后序线索二叉树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先序线索树：后继一步就到，前驱却可能找不到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7" name="c1-tree-1"/>
          <p:cNvGrpSpPr/>
          <p:nvPr/>
        </p:nvGrpSpPr>
        <p:grpSpPr>
          <a:xfrm>
            <a:off x="922972" y="1636395"/>
            <a:ext cx="3765233" cy="1516380"/>
            <a:chOff x="922972" y="1636395"/>
            <a:chExt cx="3765233" cy="1516380"/>
          </a:xfrm>
        </p:grpSpPr>
        <p:sp>
          <p:nvSpPr>
            <p:cNvPr id="7" name="Freeform 7"/>
            <p:cNvSpPr/>
            <p:nvPr/>
          </p:nvSpPr>
          <p:spPr>
            <a:xfrm>
              <a:off x="1101090" y="2394585"/>
              <a:ext cx="568643" cy="580072"/>
            </a:xfrm>
            <a:custGeom>
              <a:avLst/>
              <a:gdLst/>
              <a:ahLst/>
              <a:cxnLst/>
              <a:rect l="l" t="t" r="r" b="b"/>
              <a:pathLst>
                <a:path w="568643" h="580072">
                  <a:moveTo>
                    <a:pt x="568643" y="0"/>
                  </a:moveTo>
                  <a:lnTo>
                    <a:pt x="0" y="58007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669732" y="2394585"/>
              <a:ext cx="567690" cy="580072"/>
            </a:xfrm>
            <a:custGeom>
              <a:avLst/>
              <a:gdLst/>
              <a:ahLst/>
              <a:cxnLst/>
              <a:rect l="l" t="t" r="r" b="b"/>
              <a:pathLst>
                <a:path w="567690" h="580072">
                  <a:moveTo>
                    <a:pt x="0" y="0"/>
                  </a:moveTo>
                  <a:lnTo>
                    <a:pt x="567690" y="58007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3373755" y="2394585"/>
              <a:ext cx="567690" cy="580072"/>
            </a:xfrm>
            <a:custGeom>
              <a:avLst/>
              <a:gdLst/>
              <a:ahLst/>
              <a:cxnLst/>
              <a:rect l="l" t="t" r="r" b="b"/>
              <a:pathLst>
                <a:path w="567690" h="580072">
                  <a:moveTo>
                    <a:pt x="567690" y="0"/>
                  </a:moveTo>
                  <a:lnTo>
                    <a:pt x="0" y="58007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941445" y="2394585"/>
              <a:ext cx="568642" cy="580072"/>
            </a:xfrm>
            <a:custGeom>
              <a:avLst/>
              <a:gdLst/>
              <a:ahLst/>
              <a:cxnLst/>
              <a:rect l="l" t="t" r="r" b="b"/>
              <a:pathLst>
                <a:path w="568642" h="580072">
                  <a:moveTo>
                    <a:pt x="0" y="0"/>
                  </a:moveTo>
                  <a:lnTo>
                    <a:pt x="568642" y="58007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669732" y="1814512"/>
              <a:ext cx="1136332" cy="580072"/>
            </a:xfrm>
            <a:custGeom>
              <a:avLst/>
              <a:gdLst/>
              <a:ahLst/>
              <a:cxnLst/>
              <a:rect l="l" t="t" r="r" b="b"/>
              <a:pathLst>
                <a:path w="1136332" h="580072">
                  <a:moveTo>
                    <a:pt x="1136332" y="0"/>
                  </a:moveTo>
                  <a:lnTo>
                    <a:pt x="0" y="58007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806065" y="1814512"/>
              <a:ext cx="1135380" cy="580072"/>
            </a:xfrm>
            <a:custGeom>
              <a:avLst/>
              <a:gdLst/>
              <a:ahLst/>
              <a:cxnLst/>
              <a:rect l="l" t="t" r="r" b="b"/>
              <a:pathLst>
                <a:path w="1135380" h="580072">
                  <a:moveTo>
                    <a:pt x="0" y="0"/>
                  </a:moveTo>
                  <a:lnTo>
                    <a:pt x="1135380" y="58007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922972" y="2796540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2059305" y="2796540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1491615" y="2216468"/>
              <a:ext cx="356235" cy="356235"/>
            </a:xfrm>
            <a:prstGeom prst="ellipse">
              <a:avLst/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3195638" y="2796540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4331970" y="2796540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3763328" y="2216468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2627948" y="1636395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55887" y="2914174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192219" y="2914174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624529" y="2334101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328552" y="2914174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464884" y="2914174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896242" y="2334101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760862" y="1753076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</p:grpSp>
      <p:grpSp>
        <p:nvGrpSpPr>
          <p:cNvPr id="29" name="c1-text-2"/>
          <p:cNvGrpSpPr/>
          <p:nvPr/>
        </p:nvGrpSpPr>
        <p:grpSpPr>
          <a:xfrm>
            <a:off x="528066" y="3447098"/>
            <a:ext cx="1603454" cy="205359"/>
            <a:chOff x="528066" y="3447098"/>
            <a:chExt cx="1603454" cy="205359"/>
          </a:xfrm>
        </p:grpSpPr>
        <p:sp>
          <p:nvSpPr>
            <p:cNvPr id="28" name="TextBox 28"/>
            <p:cNvSpPr txBox="1"/>
            <p:nvPr/>
          </p:nvSpPr>
          <p:spPr>
            <a:xfrm>
              <a:off x="528066" y="3447098"/>
              <a:ext cx="16034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先根序列：</a:t>
              </a:r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B C D E F G</a:t>
              </a:r>
            </a:p>
          </p:txBody>
        </p:sp>
      </p:grpSp>
      <p:grpSp>
        <p:nvGrpSpPr>
          <p:cNvPr id="35" name="c1-callout-3"/>
          <p:cNvGrpSpPr/>
          <p:nvPr/>
        </p:nvGrpSpPr>
        <p:grpSpPr>
          <a:xfrm>
            <a:off x="533400" y="3775710"/>
            <a:ext cx="4544378" cy="937260"/>
            <a:chOff x="533400" y="3775710"/>
            <a:chExt cx="4544378" cy="937260"/>
          </a:xfrm>
        </p:grpSpPr>
        <p:sp>
          <p:nvSpPr>
            <p:cNvPr id="30" name="Rectangle 30"/>
            <p:cNvSpPr/>
            <p:nvPr/>
          </p:nvSpPr>
          <p:spPr>
            <a:xfrm>
              <a:off x="533400" y="3775710"/>
              <a:ext cx="4544378" cy="937260"/>
            </a:xfrm>
            <a:prstGeom prst="roundRect">
              <a:avLst>
                <a:gd name="adj" fmla="val 12195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738188" y="4144328"/>
              <a:ext cx="200026" cy="200026"/>
              <a:chOff x="738188" y="4144328"/>
              <a:chExt cx="200026" cy="200026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738188" y="414432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804863" y="4222115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1041273" y="3920966"/>
              <a:ext cx="3589274" cy="7179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找先根后继总是 O(1)：有左孩子就是左孩子，没</a:t>
              </a:r>
              <a:br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左孩子有右孩子就是右孩子，都没有就走右线索。</a:t>
              </a:r>
              <a:br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三种情况都不用下行。</a:t>
              </a:r>
            </a:p>
          </p:txBody>
        </p:sp>
      </p:grpSp>
      <p:grpSp>
        <p:nvGrpSpPr>
          <p:cNvPr id="42" name="c2-card-1"/>
          <p:cNvGrpSpPr/>
          <p:nvPr/>
        </p:nvGrpSpPr>
        <p:grpSpPr>
          <a:xfrm>
            <a:off x="5382578" y="1524000"/>
            <a:ext cx="6276022" cy="1390650"/>
            <a:chOff x="5382578" y="1524000"/>
            <a:chExt cx="6276022" cy="1390650"/>
          </a:xfrm>
        </p:grpSpPr>
        <p:sp>
          <p:nvSpPr>
            <p:cNvPr id="36" name="Rectangle 36"/>
            <p:cNvSpPr/>
            <p:nvPr/>
          </p:nvSpPr>
          <p:spPr>
            <a:xfrm>
              <a:off x="5382578" y="1524000"/>
              <a:ext cx="6276022" cy="1390650"/>
            </a:xfrm>
            <a:prstGeom prst="roundRect">
              <a:avLst>
                <a:gd name="adj" fmla="val 958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5392102" y="1657350"/>
              <a:ext cx="47625" cy="112395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5601652" y="1704975"/>
              <a:ext cx="831532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683123" y="1737836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问题出在哪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595176" y="2045494"/>
              <a:ext cx="563753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先序线索树里，左指针只有在 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没有左孩子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时才腾得出来当线索。而一个结点的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先根前驱恰恰要在它有左孩子的时候才需要去别处找。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596319" y="2568893"/>
              <a:ext cx="58779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图中 B 有左孩子 C，LThread 为 0，左指针被 C 占着，B 的先根前驱 A 没有任何线索指向它。</a:t>
              </a:r>
            </a:p>
          </p:txBody>
        </p:sp>
      </p:grpSp>
      <p:grpSp>
        <p:nvGrpSpPr>
          <p:cNvPr id="80" name="c2-table-2"/>
          <p:cNvGrpSpPr/>
          <p:nvPr/>
        </p:nvGrpSpPr>
        <p:grpSpPr>
          <a:xfrm>
            <a:off x="5382578" y="3079432"/>
            <a:ext cx="6276022" cy="2287905"/>
            <a:chOff x="5382578" y="3079432"/>
            <a:chExt cx="6276022" cy="2287905"/>
          </a:xfrm>
        </p:grpSpPr>
        <p:sp>
          <p:nvSpPr>
            <p:cNvPr id="43" name="Rectangle 43"/>
            <p:cNvSpPr/>
            <p:nvPr/>
          </p:nvSpPr>
          <p:spPr>
            <a:xfrm>
              <a:off x="5382578" y="3079432"/>
              <a:ext cx="6276022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674995" y="319659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结点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663309" y="319659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有左孩子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044434" y="319659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先根前驱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817075" y="3196590"/>
              <a:ext cx="10465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能否 O(1) 找到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477256" y="3577590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356414" y="357759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736586" y="357759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117711" y="3577590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它是首结点，不需要找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5382578" y="3836670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5382578" y="3841432"/>
              <a:ext cx="6276022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5477256" y="3959543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356414" y="3959543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736586" y="3959543"/>
              <a:ext cx="92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9032558" y="3850958"/>
              <a:ext cx="2616518" cy="36195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9117711" y="3959543"/>
              <a:ext cx="1313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否，左指针被 C 占用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5382578" y="421862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5477256" y="4340542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356414" y="4340542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736586" y="4340542"/>
              <a:ext cx="92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117711" y="4340542"/>
              <a:ext cx="14097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是，左线索直接指向 B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5382578" y="459962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5382578" y="4604385"/>
              <a:ext cx="6276022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5477256" y="4721542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356414" y="4721542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736586" y="4721542"/>
              <a:ext cx="92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9032558" y="4613910"/>
              <a:ext cx="2616518" cy="36195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9117711" y="4721542"/>
              <a:ext cx="1313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否，左指针被 F 占用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5382578" y="4981575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5477256" y="5103495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356414" y="5103495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7736586" y="5103495"/>
              <a:ext cx="92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9117711" y="5103495"/>
              <a:ext cx="14097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是，左线索直接指向 F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5382578" y="3079432"/>
              <a:ext cx="6276022" cy="2287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7" name="Rectangle 77"/>
            <p:cNvSpPr/>
            <p:nvPr/>
          </p:nvSpPr>
          <p:spPr>
            <a:xfrm>
              <a:off x="6256972" y="3079432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8" name="Rectangle 78"/>
            <p:cNvSpPr/>
            <p:nvPr/>
          </p:nvSpPr>
          <p:spPr>
            <a:xfrm>
              <a:off x="7637145" y="3079432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9" name="Rectangle 79"/>
            <p:cNvSpPr/>
            <p:nvPr/>
          </p:nvSpPr>
          <p:spPr>
            <a:xfrm>
              <a:off x="9018270" y="3079432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86" name="c2-callout-3"/>
          <p:cNvGrpSpPr/>
          <p:nvPr/>
        </p:nvGrpSpPr>
        <p:grpSpPr>
          <a:xfrm>
            <a:off x="5382578" y="5532120"/>
            <a:ext cx="6276022" cy="702945"/>
            <a:chOff x="5382578" y="5532120"/>
            <a:chExt cx="6276022" cy="702945"/>
          </a:xfrm>
        </p:grpSpPr>
        <p:sp>
          <p:nvSpPr>
            <p:cNvPr id="81" name="Rectangle 81"/>
            <p:cNvSpPr/>
            <p:nvPr/>
          </p:nvSpPr>
          <p:spPr>
            <a:xfrm>
              <a:off x="5382578" y="5532120"/>
              <a:ext cx="6276022" cy="702945"/>
            </a:xfrm>
            <a:prstGeom prst="roundRect">
              <a:avLst>
                <a:gd name="adj" fmla="val 16260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84" name="Group 84"/>
            <p:cNvGrpSpPr/>
            <p:nvPr/>
          </p:nvGrpSpPr>
          <p:grpSpPr>
            <a:xfrm>
              <a:off x="5587365" y="5783582"/>
              <a:ext cx="200023" cy="200023"/>
              <a:chOff x="5587365" y="5783582"/>
              <a:chExt cx="200023" cy="200023"/>
            </a:xfrm>
          </p:grpSpPr>
          <p:sp>
            <p:nvSpPr>
              <p:cNvPr id="82" name="Freeform 82"/>
              <p:cNvSpPr/>
              <p:nvPr/>
            </p:nvSpPr>
            <p:spPr>
              <a:xfrm>
                <a:off x="5587365" y="578358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83" name="Freeform 83"/>
              <p:cNvSpPr/>
              <p:nvPr/>
            </p:nvSpPr>
            <p:spPr>
              <a:xfrm>
                <a:off x="5720715" y="585025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85" name="TextBox 85"/>
            <p:cNvSpPr txBox="1"/>
            <p:nvPr/>
          </p:nvSpPr>
          <p:spPr>
            <a:xfrm>
              <a:off x="5890451" y="5677376"/>
              <a:ext cx="521487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结论：若结点结构中没有父指针，先序线索二叉树不能解决高效查找结点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先根前驱的问题。</a:t>
              </a:r>
            </a:p>
          </p:txBody>
        </p:sp>
      </p:grpSp>
      <p:grpSp>
        <p:nvGrpSpPr>
          <p:cNvPr id="8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7" name="TextBox 87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第9讲 线索二叉树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第9讲 线索树 · 关于先序与后序线索二叉树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后序线索树：前驱一步就到，后继却可能找不到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c1-text-1"/>
          <p:cNvGrpSpPr/>
          <p:nvPr/>
        </p:nvGrpSpPr>
        <p:grpSpPr>
          <a:xfrm>
            <a:off x="527304" y="1544002"/>
            <a:ext cx="2801783" cy="234696"/>
            <a:chOff x="527304" y="1544002"/>
            <a:chExt cx="2801783" cy="234696"/>
          </a:xfrm>
        </p:grpSpPr>
        <p:sp>
          <p:nvSpPr>
            <p:cNvPr id="7" name="TextBox 7"/>
            <p:cNvSpPr txBox="1"/>
            <p:nvPr/>
          </p:nvSpPr>
          <p:spPr>
            <a:xfrm>
              <a:off x="527304" y="1544002"/>
              <a:ext cx="280178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还是这棵树，后根序列：</a:t>
              </a:r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 D B F G E A</a:t>
              </a:r>
            </a:p>
          </p:txBody>
        </p:sp>
      </p:grpSp>
      <p:grpSp>
        <p:nvGrpSpPr>
          <p:cNvPr id="15" name="c1-card-2"/>
          <p:cNvGrpSpPr/>
          <p:nvPr/>
        </p:nvGrpSpPr>
        <p:grpSpPr>
          <a:xfrm>
            <a:off x="533400" y="1916430"/>
            <a:ext cx="5626418" cy="2048828"/>
            <a:chOff x="533400" y="1916430"/>
            <a:chExt cx="5626418" cy="2048828"/>
          </a:xfrm>
        </p:grpSpPr>
        <p:sp>
          <p:nvSpPr>
            <p:cNvPr id="9" name="Rectangle 9"/>
            <p:cNvSpPr/>
            <p:nvPr/>
          </p:nvSpPr>
          <p:spPr>
            <a:xfrm>
              <a:off x="533400" y="1916430"/>
              <a:ext cx="5626418" cy="2048828"/>
            </a:xfrm>
            <a:prstGeom prst="roundRect">
              <a:avLst>
                <a:gd name="adj" fmla="val 65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49780"/>
              <a:ext cx="47625" cy="178212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75335" y="2120265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52741" y="215598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问题出在哪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8096" y="2493169"/>
              <a:ext cx="4991862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后序线索树里，右指针只有在 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没有右孩子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时才能当线索。而一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个结点的后根后继恰恰要在它有右孩子的时候才需要去别处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找。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9239" y="3352800"/>
              <a:ext cx="488899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图中 B 有右孩子 D，RThread 为 0，B 的后根后继 F 没有线索可循，只能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靠父结点 A 绕过去。</a:t>
              </a:r>
            </a:p>
          </p:txBody>
        </p:sp>
      </p:grpSp>
      <p:grpSp>
        <p:nvGrpSpPr>
          <p:cNvPr id="48" name="c1-table-3"/>
          <p:cNvGrpSpPr/>
          <p:nvPr/>
        </p:nvGrpSpPr>
        <p:grpSpPr>
          <a:xfrm>
            <a:off x="533400" y="4150042"/>
            <a:ext cx="5626418" cy="2151698"/>
            <a:chOff x="533400" y="4150042"/>
            <a:chExt cx="5626418" cy="2151698"/>
          </a:xfrm>
        </p:grpSpPr>
        <p:sp>
          <p:nvSpPr>
            <p:cNvPr id="16" name="Rectangle 16"/>
            <p:cNvSpPr/>
            <p:nvPr/>
          </p:nvSpPr>
          <p:spPr>
            <a:xfrm>
              <a:off x="533400" y="4150042"/>
              <a:ext cx="5626418" cy="43053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0095" y="42814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结点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611058" y="428148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有右孩子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848356" y="428148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后根后继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380700" y="4281488"/>
              <a:ext cx="11960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能否 O(1) 找到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38746" y="4712018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426464" y="4712018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664714" y="4712018"/>
              <a:ext cx="1060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902012" y="4712018"/>
              <a:ext cx="161117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是，右线索直接指向 D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500634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33400" y="5011102"/>
              <a:ext cx="5626418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38746" y="5141595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426464" y="5141595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664714" y="5141595"/>
              <a:ext cx="1060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3806190" y="5020628"/>
              <a:ext cx="2344102" cy="41148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902012" y="5141595"/>
              <a:ext cx="15008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否，右指针被 D 占用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543591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38746" y="5572125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426464" y="5572125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664714" y="5572125"/>
              <a:ext cx="1060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3806190" y="5450205"/>
              <a:ext cx="2344102" cy="41148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3902012" y="5572125"/>
              <a:ext cx="15008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否，右指针被 G 占用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586644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533400" y="5871210"/>
              <a:ext cx="5626418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38746" y="6002655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426464" y="6002655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664714" y="6002655"/>
              <a:ext cx="1060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902012" y="6002655"/>
              <a:ext cx="161117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是，右线索直接指向 E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33400" y="4150042"/>
              <a:ext cx="5626418" cy="215074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1316355" y="4150042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2554605" y="4150042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3791902" y="4150042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4" name="c2-callout-1"/>
          <p:cNvGrpSpPr/>
          <p:nvPr/>
        </p:nvGrpSpPr>
        <p:grpSpPr>
          <a:xfrm>
            <a:off x="6464618" y="1524000"/>
            <a:ext cx="5193982" cy="756285"/>
            <a:chOff x="6464618" y="1524000"/>
            <a:chExt cx="5193982" cy="756285"/>
          </a:xfrm>
        </p:grpSpPr>
        <p:sp>
          <p:nvSpPr>
            <p:cNvPr id="49" name="Rectangle 49"/>
            <p:cNvSpPr/>
            <p:nvPr/>
          </p:nvSpPr>
          <p:spPr>
            <a:xfrm>
              <a:off x="6464618" y="1524000"/>
              <a:ext cx="5193982" cy="756285"/>
            </a:xfrm>
            <a:prstGeom prst="roundRect">
              <a:avLst>
                <a:gd name="adj" fmla="val 15113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6669405" y="1802130"/>
              <a:ext cx="200026" cy="200026"/>
              <a:chOff x="6669405" y="1802130"/>
              <a:chExt cx="200026" cy="200026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6669405" y="180213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6736080" y="1879918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6971729" y="1671161"/>
              <a:ext cx="4288536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找后根前驱总是 O(1)：有右孩子就是右孩子，没右孩</a:t>
              </a:r>
              <a:br/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子有左孩子就是左孩子，都没有就走左线索。</a:t>
              </a:r>
            </a:p>
          </p:txBody>
        </p:sp>
      </p:grpSp>
      <p:grpSp>
        <p:nvGrpSpPr>
          <p:cNvPr id="79" name="c2-table-2"/>
          <p:cNvGrpSpPr/>
          <p:nvPr/>
        </p:nvGrpSpPr>
        <p:grpSpPr>
          <a:xfrm>
            <a:off x="6458902" y="2466022"/>
            <a:ext cx="5199698" cy="2015967"/>
            <a:chOff x="6458902" y="2466022"/>
            <a:chExt cx="5199698" cy="2015967"/>
          </a:xfrm>
        </p:grpSpPr>
        <p:sp>
          <p:nvSpPr>
            <p:cNvPr id="55" name="Rectangle 55"/>
            <p:cNvSpPr/>
            <p:nvPr/>
          </p:nvSpPr>
          <p:spPr>
            <a:xfrm>
              <a:off x="6464618" y="2466022"/>
              <a:ext cx="5193982" cy="43053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914579" y="259651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线索方式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683180" y="259651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找前驱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501503" y="259651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找后继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569964" y="302704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中序线索树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8032432" y="2905125"/>
              <a:ext cx="1798320" cy="41148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8128254" y="3027045"/>
              <a:ext cx="4108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O(h)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9850755" y="2905125"/>
              <a:ext cx="1798320" cy="41148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9946576" y="3027045"/>
              <a:ext cx="4108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O(h)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6464618" y="332136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6464618" y="3326130"/>
              <a:ext cx="5193982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569964" y="3456622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先序线索树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8032432" y="3335655"/>
              <a:ext cx="1798320" cy="41148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8128254" y="3456622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有左孩子时找不到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9946576" y="3456622"/>
              <a:ext cx="4218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O(1)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6464618" y="375094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6569964" y="3887152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后序线索树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128254" y="3887152"/>
              <a:ext cx="4218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O(1)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9850755" y="3765232"/>
              <a:ext cx="1798320" cy="41148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9946576" y="3887152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有右孩子时找不到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6464618" y="2466022"/>
              <a:ext cx="5193982" cy="172021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6" name="Rectangle 76"/>
            <p:cNvSpPr/>
            <p:nvPr/>
          </p:nvSpPr>
          <p:spPr>
            <a:xfrm>
              <a:off x="8018145" y="2466022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7" name="Rectangle 77"/>
            <p:cNvSpPr/>
            <p:nvPr/>
          </p:nvSpPr>
          <p:spPr>
            <a:xfrm>
              <a:off x="9836468" y="2466022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6458902" y="4261961"/>
              <a:ext cx="36300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三种线索方式的能力对照，前提都是结点里没有父指针</a:t>
              </a:r>
            </a:p>
          </p:txBody>
        </p:sp>
      </p:grpSp>
      <p:grpSp>
        <p:nvGrpSpPr>
          <p:cNvPr id="84" name="c2-card-3"/>
          <p:cNvGrpSpPr/>
          <p:nvPr/>
        </p:nvGrpSpPr>
        <p:grpSpPr>
          <a:xfrm>
            <a:off x="6464618" y="4623435"/>
            <a:ext cx="5193982" cy="1678305"/>
            <a:chOff x="6464618" y="4623435"/>
            <a:chExt cx="5193982" cy="1678305"/>
          </a:xfrm>
        </p:grpSpPr>
        <p:sp>
          <p:nvSpPr>
            <p:cNvPr id="80" name="Rectangle 80"/>
            <p:cNvSpPr/>
            <p:nvPr/>
          </p:nvSpPr>
          <p:spPr>
            <a:xfrm>
              <a:off x="6464618" y="4623435"/>
              <a:ext cx="5193982" cy="1678305"/>
            </a:xfrm>
            <a:prstGeom prst="roundRect">
              <a:avLst>
                <a:gd name="adj" fmla="val 7946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1" name="Rectangle 81"/>
            <p:cNvSpPr/>
            <p:nvPr/>
          </p:nvSpPr>
          <p:spPr>
            <a:xfrm>
              <a:off x="6668452" y="4827270"/>
              <a:ext cx="1774508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6721208" y="4862036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为什么中序线索树最常用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6661214" y="5200174"/>
              <a:ext cx="452297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它是三种里唯一两个方向都能靠线索走通的。代价是最坏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O(h) 而不是 O(1)，但至少不会出现“根本找不到”的情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况。</a:t>
              </a:r>
            </a:p>
          </p:txBody>
        </p:sp>
      </p:grpSp>
      <p:grpSp>
        <p:nvGrpSpPr>
          <p:cNvPr id="8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5" name="TextBox 85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第9讲 线索二叉树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117854" cy="909257"/>
            <a:chOff x="520446" y="342900"/>
            <a:chExt cx="111785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10490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5916" y="407194"/>
              <a:ext cx="8998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第9讲 线索树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05575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10054685" cy="264033"/>
            <a:chOff x="526542" y="1545907"/>
            <a:chExt cx="10054685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100546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先自己写出答案再看解答。另外自问两题：线索化算法里 pre 为什么必须是全局的？方案二为什么不能再用标志位判叶结点？</a:t>
              </a:r>
            </a:p>
          </p:txBody>
        </p:sp>
      </p:grpSp>
      <p:grpSp>
        <p:nvGrpSpPr>
          <p:cNvPr id="14" name="c1-card-1"/>
          <p:cNvGrpSpPr/>
          <p:nvPr/>
        </p:nvGrpSpPr>
        <p:grpSpPr>
          <a:xfrm>
            <a:off x="533400" y="1928812"/>
            <a:ext cx="3505200" cy="2000250"/>
            <a:chOff x="533400" y="1928812"/>
            <a:chExt cx="3505200" cy="2000250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3505200" cy="2000250"/>
            </a:xfrm>
            <a:prstGeom prst="roundRect">
              <a:avLst>
                <a:gd name="adj" fmla="val 666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20090" y="2115502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09547" y="2148364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13232" y="2459355"/>
              <a:ext cx="2909935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个结点的二叉树线索化后共有多少条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线索？还有几个指针是空的？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13232" y="3016568"/>
              <a:ext cx="301409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空指针域原有 n+1 个，其中 n−1 个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变成线索。仍为空的恰好 2 个：首结点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的左线索、末结点的右线索。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4098608"/>
            <a:ext cx="3505200" cy="2257425"/>
            <a:chOff x="533400" y="4098608"/>
            <a:chExt cx="3505200" cy="2257425"/>
          </a:xfrm>
        </p:grpSpPr>
        <p:sp>
          <p:nvSpPr>
            <p:cNvPr id="15" name="Rectangle 15"/>
            <p:cNvSpPr/>
            <p:nvPr/>
          </p:nvSpPr>
          <p:spPr>
            <a:xfrm>
              <a:off x="533400" y="4098608"/>
              <a:ext cx="3505200" cy="2257425"/>
            </a:xfrm>
            <a:prstGeom prst="roundRect">
              <a:avLst>
                <a:gd name="adj" fmla="val 590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20090" y="428529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09547" y="431815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13232" y="4630102"/>
              <a:ext cx="291636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FirstInOrder 返回的结点一定是叶结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点吗？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13232" y="5187315"/>
              <a:ext cx="292836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不一定，它只保证没有左孩子。第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 页那棵树的首结点 C 就带着四个后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代。</a:t>
              </a:r>
            </a:p>
          </p:txBody>
        </p:sp>
      </p:grpSp>
      <p:grpSp>
        <p:nvGrpSpPr>
          <p:cNvPr id="26" name="c2-card-1"/>
          <p:cNvGrpSpPr/>
          <p:nvPr/>
        </p:nvGrpSpPr>
        <p:grpSpPr>
          <a:xfrm>
            <a:off x="4343400" y="1928812"/>
            <a:ext cx="3505200" cy="2000250"/>
            <a:chOff x="4343400" y="1928812"/>
            <a:chExt cx="3505200" cy="2000250"/>
          </a:xfrm>
        </p:grpSpPr>
        <p:sp>
          <p:nvSpPr>
            <p:cNvPr id="21" name="Rectangle 21"/>
            <p:cNvSpPr/>
            <p:nvPr/>
          </p:nvSpPr>
          <p:spPr>
            <a:xfrm>
              <a:off x="4343400" y="1928812"/>
              <a:ext cx="3505200" cy="2000250"/>
            </a:xfrm>
            <a:prstGeom prst="roundRect">
              <a:avLst>
                <a:gd name="adj" fmla="val 666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4530090" y="2115502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619547" y="2148364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523232" y="2459355"/>
              <a:ext cx="29283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怎样一眼看出线索二叉树里哪些结点是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叶结点？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523232" y="3016568"/>
              <a:ext cx="3005518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LThread 与 RThread 同时为 1，分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别表示没有左孩子、没有右孩子。普通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二叉树不能这样判。</a:t>
              </a:r>
            </a:p>
          </p:txBody>
        </p:sp>
      </p:grpSp>
      <p:grpSp>
        <p:nvGrpSpPr>
          <p:cNvPr id="32" name="c2-card-2"/>
          <p:cNvGrpSpPr/>
          <p:nvPr/>
        </p:nvGrpSpPr>
        <p:grpSpPr>
          <a:xfrm>
            <a:off x="4343400" y="4098608"/>
            <a:ext cx="3505200" cy="2257425"/>
            <a:chOff x="4343400" y="4098608"/>
            <a:chExt cx="3505200" cy="2257425"/>
          </a:xfrm>
        </p:grpSpPr>
        <p:sp>
          <p:nvSpPr>
            <p:cNvPr id="27" name="Rectangle 27"/>
            <p:cNvSpPr/>
            <p:nvPr/>
          </p:nvSpPr>
          <p:spPr>
            <a:xfrm>
              <a:off x="4343400" y="4098608"/>
              <a:ext cx="3505200" cy="2257425"/>
            </a:xfrm>
            <a:prstGeom prst="roundRect">
              <a:avLst>
                <a:gd name="adj" fmla="val 590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4530090" y="428529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619547" y="431815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523232" y="4630102"/>
              <a:ext cx="29283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在线索树上做一趟中根遍历，时间和空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间各是多少？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523232" y="5187315"/>
              <a:ext cx="299694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时间 O(n)：单次最坏 O(h)，但整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趟每条边至多走一次，实测总步数不到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2n。空间 O(1)。</a:t>
              </a:r>
            </a:p>
          </p:txBody>
        </p:sp>
      </p:grpSp>
      <p:grpSp>
        <p:nvGrpSpPr>
          <p:cNvPr id="38" name="c3-card-1"/>
          <p:cNvGrpSpPr/>
          <p:nvPr/>
        </p:nvGrpSpPr>
        <p:grpSpPr>
          <a:xfrm>
            <a:off x="8153400" y="1928812"/>
            <a:ext cx="3505200" cy="2257425"/>
            <a:chOff x="8153400" y="1928812"/>
            <a:chExt cx="3505200" cy="2257425"/>
          </a:xfrm>
        </p:grpSpPr>
        <p:sp>
          <p:nvSpPr>
            <p:cNvPr id="33" name="Rectangle 33"/>
            <p:cNvSpPr/>
            <p:nvPr/>
          </p:nvSpPr>
          <p:spPr>
            <a:xfrm>
              <a:off x="8153400" y="1928812"/>
              <a:ext cx="3505200" cy="2257425"/>
            </a:xfrm>
            <a:prstGeom prst="roundRect">
              <a:avLst>
                <a:gd name="adj" fmla="val 590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8340090" y="2115502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429547" y="2148364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333232" y="2459355"/>
              <a:ext cx="2963942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中序线索树里找 p 的中根后继，两种情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况各怎么做？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333232" y="3016568"/>
              <a:ext cx="2551176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RThread 为 1 时返回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`p-&gt;right`，O(1)；为 0 时返回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FirstInOrder(p-&gt;right)，最坏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O(h)。</a:t>
              </a:r>
            </a:p>
          </p:txBody>
        </p:sp>
      </p:grpSp>
      <p:grpSp>
        <p:nvGrpSpPr>
          <p:cNvPr id="44" name="c3-card-2"/>
          <p:cNvGrpSpPr/>
          <p:nvPr/>
        </p:nvGrpSpPr>
        <p:grpSpPr>
          <a:xfrm>
            <a:off x="8153400" y="4355782"/>
            <a:ext cx="3505200" cy="2000250"/>
            <a:chOff x="8153400" y="4355782"/>
            <a:chExt cx="3505200" cy="2000250"/>
          </a:xfrm>
        </p:grpSpPr>
        <p:sp>
          <p:nvSpPr>
            <p:cNvPr id="39" name="Rectangle 39"/>
            <p:cNvSpPr/>
            <p:nvPr/>
          </p:nvSpPr>
          <p:spPr>
            <a:xfrm>
              <a:off x="8153400" y="4355782"/>
              <a:ext cx="3505200" cy="2000250"/>
            </a:xfrm>
            <a:prstGeom prst="roundRect">
              <a:avLst>
                <a:gd name="adj" fmla="val 666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8340090" y="4542472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429547" y="4575334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333232" y="4887278"/>
              <a:ext cx="29283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没有父指针时，先序线索树和后序线索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树各解决不了什么？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333232" y="5444490"/>
              <a:ext cx="292836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先序找不到有左孩子的结点的先根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前驱，后序找不到有右孩子的结点的后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根后继。</a:t>
              </a:r>
            </a:p>
          </p:txBody>
        </p:sp>
      </p:grpSp>
      <p:grpSp>
        <p:nvGrpSpPr>
          <p:cNvPr id="4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5" name="TextBox 45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第9讲 线索二叉树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399032" cy="909257"/>
            <a:chOff x="520446" y="342900"/>
            <a:chExt cx="139903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10490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5916" y="407194"/>
              <a:ext cx="8998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第9讲 线索树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8" name="c1-table-1"/>
          <p:cNvGrpSpPr/>
          <p:nvPr/>
        </p:nvGrpSpPr>
        <p:grpSpPr>
          <a:xfrm>
            <a:off x="533400" y="1524000"/>
            <a:ext cx="5842635" cy="2287905"/>
            <a:chOff x="533400" y="1524000"/>
            <a:chExt cx="5842635" cy="22879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29652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概念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950970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要点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28078" y="20231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线索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913954" y="2023110"/>
              <a:ext cx="24489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空指针改指中根前驱或后继，共 n−1 条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28219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286952"/>
              <a:ext cx="584263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28078" y="240411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标志位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913954" y="2404110"/>
              <a:ext cx="23146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 1 表示该指针是线索，为 0 是孩子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66319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8078" y="278511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四个操作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913954" y="2785110"/>
              <a:ext cx="289363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First/Last 沿分支到底，Pre/Next 看标志位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04514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049905"/>
              <a:ext cx="584263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28078" y="316706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中根遍历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913954" y="3167062"/>
              <a:ext cx="25025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时间 O(n)，空间 O(1)，不用递归和栈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42614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28078" y="354806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两种实现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913954" y="3548062"/>
              <a:ext cx="2606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一个字节的 Tag，或扩展成 Pred 与 Succ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1524000"/>
              <a:ext cx="5842635" cy="2287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1814512" y="1524000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9" name="c1-card-2"/>
          <p:cNvGrpSpPr/>
          <p:nvPr/>
        </p:nvGrpSpPr>
        <p:grpSpPr>
          <a:xfrm>
            <a:off x="533400" y="3976688"/>
            <a:ext cx="5842635" cy="1714500"/>
            <a:chOff x="533400" y="3976688"/>
            <a:chExt cx="5842635" cy="1714500"/>
          </a:xfrm>
        </p:grpSpPr>
        <p:sp>
          <p:nvSpPr>
            <p:cNvPr id="29" name="Rectangle 29"/>
            <p:cNvSpPr/>
            <p:nvPr/>
          </p:nvSpPr>
          <p:spPr>
            <a:xfrm>
              <a:off x="533400" y="3976688"/>
              <a:ext cx="5842635" cy="1714500"/>
            </a:xfrm>
            <a:prstGeom prst="roundRect">
              <a:avLst>
                <a:gd name="adj" fmla="val 777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542925" y="4110038"/>
              <a:ext cx="47625" cy="144780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752475" y="4157662"/>
              <a:ext cx="182784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03440" y="4190524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本讲义对源课件的更正与补充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62000" y="4551045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17448" y="4498181"/>
              <a:ext cx="465807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第 20 页 </a:t>
              </a:r>
              <a:r>
                <a:rPr lang="en-US" sz="128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Node *p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应为 </a:t>
              </a:r>
              <a:r>
                <a:rPr lang="en-US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TreeNode *p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；第 10 页图漏标一个 ∧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62000" y="4835842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17448" y="4782979"/>
              <a:ext cx="40364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11 页“有子结点/无子结点”应按左右指针分别判断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62000" y="5120640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17448" y="5067776"/>
              <a:ext cx="493039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补：线索恰 n−1 条、遍历 O(n) 的论证、结点大小实测、三种线索对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照表</a:t>
              </a:r>
            </a:p>
          </p:txBody>
        </p:sp>
      </p:grpSp>
      <p:grpSp>
        <p:nvGrpSpPr>
          <p:cNvPr id="55" name="c2-bullets-1"/>
          <p:cNvGrpSpPr/>
          <p:nvPr/>
        </p:nvGrpSpPr>
        <p:grpSpPr>
          <a:xfrm>
            <a:off x="6681788" y="1533525"/>
            <a:ext cx="4898106" cy="1432845"/>
            <a:chOff x="6681788" y="1533525"/>
            <a:chExt cx="4898106" cy="1432845"/>
          </a:xfrm>
        </p:grpSpPr>
        <p:sp>
          <p:nvSpPr>
            <p:cNvPr id="40" name="Ellipse 40"/>
            <p:cNvSpPr/>
            <p:nvPr/>
          </p:nvSpPr>
          <p:spPr>
            <a:xfrm>
              <a:off x="6681788" y="1533525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733694" y="156914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951536" y="1545431"/>
              <a:ext cx="38038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做题先写中根序列，再逐结点填四栏，别凭感觉指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6681788" y="1826895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733694" y="1862519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951536" y="1837849"/>
              <a:ext cx="43207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线索化之后判有无孩子一律看标志位，不看指针是否为空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6681788" y="2120265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733694" y="215588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951536" y="2131219"/>
              <a:ext cx="46283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四个操作的 O(h) 前提是树已正确线索化，且 h 不等于 log n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6681788" y="2413635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733694" y="244830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951536" y="2424589"/>
              <a:ext cx="39761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线索化算法最后那句收尾不能漏，否则遍历停不下来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6681788" y="2706052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733694" y="274167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951536" y="2717006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先序缺前驱、后序缺后继，中序两头都通</a:t>
              </a:r>
            </a:p>
          </p:txBody>
        </p:sp>
      </p:grpSp>
      <p:grpSp>
        <p:nvGrpSpPr>
          <p:cNvPr id="63" name="c2-card-2"/>
          <p:cNvGrpSpPr/>
          <p:nvPr/>
        </p:nvGrpSpPr>
        <p:grpSpPr>
          <a:xfrm>
            <a:off x="6680835" y="3081338"/>
            <a:ext cx="4977765" cy="2609850"/>
            <a:chOff x="6680835" y="3081338"/>
            <a:chExt cx="4977765" cy="2609850"/>
          </a:xfrm>
        </p:grpSpPr>
        <p:sp>
          <p:nvSpPr>
            <p:cNvPr id="56" name="Rectangle 56"/>
            <p:cNvSpPr/>
            <p:nvPr/>
          </p:nvSpPr>
          <p:spPr>
            <a:xfrm>
              <a:off x="6680835" y="3081338"/>
              <a:ext cx="4977765" cy="2609850"/>
            </a:xfrm>
            <a:prstGeom prst="roundRect">
              <a:avLst>
                <a:gd name="adj" fmla="val 5109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6861810" y="3262312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947332" y="329517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复习方法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6871335" y="3654742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026783" y="3602831"/>
              <a:ext cx="419074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拿第 14 页那棵八结点的树，不看讲义画出完整的链接结构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图，再对答案</a:t>
              </a:r>
            </a:p>
          </p:txBody>
        </p:sp>
        <p:sp>
          <p:nvSpPr>
            <p:cNvPr id="61" name="Ellipse 61"/>
            <p:cNvSpPr/>
            <p:nvPr/>
          </p:nvSpPr>
          <p:spPr>
            <a:xfrm>
              <a:off x="6871335" y="4182428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026783" y="4130516"/>
              <a:ext cx="427202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默写 FirstInOrder 与 NextInOrder，然后手推一遍线索化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的九步</a:t>
              </a:r>
            </a:p>
          </p:txBody>
        </p:sp>
      </p:grpSp>
      <p:grpSp>
        <p:nvGrpSpPr>
          <p:cNvPr id="70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64" name="Rectangle 64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8" name="Group 68"/>
            <p:cNvGrpSpPr/>
            <p:nvPr/>
          </p:nvGrpSpPr>
          <p:grpSpPr>
            <a:xfrm>
              <a:off x="738188" y="6028373"/>
              <a:ext cx="200026" cy="200025"/>
              <a:chOff x="738188" y="6028373"/>
              <a:chExt cx="200026" cy="200025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738188" y="60283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777926" y="60728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812642" y="61839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9" name="TextBox 69"/>
            <p:cNvSpPr txBox="1"/>
            <p:nvPr/>
          </p:nvSpPr>
          <p:spPr>
            <a:xfrm>
              <a:off x="1041273" y="6039326"/>
              <a:ext cx="86630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下一讲是树的存储和操作，那里会把一般的树转换成二叉树，本讲的左右指针会换上“长子”和“兄弟”两种新身份。</a:t>
              </a:r>
            </a:p>
          </p:txBody>
        </p:sp>
      </p:grpSp>
      <p:grpSp>
        <p:nvGrpSpPr>
          <p:cNvPr id="7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1" name="TextBox 71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第9讲 线索二叉树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ds_l09">
  <a:themeElements>
    <a:clrScheme name="ds_l09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s_l09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s_l09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34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2026-09-19T12:45:29Z</dcterms:created>
  <dcterms:modified xsi:type="dcterms:W3CDTF">2026-09-19T12:45:29Z</dcterms:modified>
  <cp:category/>
  <cp:contentStatus/>
</cp:coreProperties>
</file>