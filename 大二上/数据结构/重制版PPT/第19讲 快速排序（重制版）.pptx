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d693e87916d6d4c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eddefa6e28a403a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31c82afcb294e80.png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527281" cy="3437763"/>
            <a:chOff x="666750" y="1619250"/>
            <a:chExt cx="5527281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第19讲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5173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一趟分划把一个元素放到最终位置，平均 O(nlogn)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09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分划操作 Partition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三种情况的复杂度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八条优化策略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508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快速选择与 BFPRT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19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分划操作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两个指针相向而行，一趟把基准元素放到最终位置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快速排序主体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分治法，对分划出的左右两段分别递归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三种情况的复杂度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827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最好 O(nlogn)、最坏 O(n²)、平均 1.386nlog₂n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八条优化策略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小区间插排、随机基准、三数取中、尾递归、三路分划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缓存与常数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为什么平均情况下快排比堆排还快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快速选择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41097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只递归一侧，平均 O(n)；BFPRT 把最坏也压到 O(n)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手推给定数组一趟分划的全过程，写出每次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交换后的序列和返回的下标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Partition 与 QuickSort 的 C 代码，说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清每个指针的边界条件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说出最好、最坏、平均三种情况各自的输入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长什么样，并推出平均情况的递推式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给定一条优化策略，能说出它改善的是时间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还是空间、能不能杜绝最坏情况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44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QuickSelect 并解释它为什么是 O(n)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而快速排序是 O(nlogn)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3923347"/>
            <a:chOff x="667512" y="1835468"/>
            <a:chExt cx="6437376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分划：一趟把一个元素放到最终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4033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快速排序的全部力气都花在 Partition 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基准元素与三段结构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两个指针相向而行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分划的完整例子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分治法的主函数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分划：一趟把一个元素放到最终位置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快速排序的基本思想：先把一个元素放对，再分头处理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579413" cy="293370"/>
            <a:chOff x="525780" y="1548765"/>
            <a:chExt cx="657941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5794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Hoare 1960 年提出，1962 年发表，被 IEEE 评为 20 世纪十大算法之一。</a:t>
              </a:r>
            </a:p>
          </p:txBody>
        </p:sp>
      </p:grpSp>
      <p:grpSp>
        <p:nvGrpSpPr>
          <p:cNvPr id="24" name="c1-card-1"/>
          <p:cNvGrpSpPr/>
          <p:nvPr/>
        </p:nvGrpSpPr>
        <p:grpSpPr>
          <a:xfrm>
            <a:off x="533400" y="1954530"/>
            <a:ext cx="5842635" cy="2757488"/>
            <a:chOff x="533400" y="1954530"/>
            <a:chExt cx="5842635" cy="275748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2757488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249078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7644" y="21940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基本思想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0588" y="219789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选基准、分两段、再递归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5335" y="253746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3680" y="25777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6228" y="2550319"/>
              <a:ext cx="47574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取待排序数组中的某个元素 K（例如第 1 个）作为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基准元素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（主元、轴点，Pivot）。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5335" y="312896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680" y="316930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6228" y="3141821"/>
              <a:ext cx="47213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K 的大小重排数组：左段元素都 ≤ K，右段元素都 &gt; K，K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排在两段中间。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5335" y="372046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680" y="376080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6228" y="373332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对左右两个子数组重复上述做法，直到每一段都短到不用再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9239" y="4320540"/>
              <a:ext cx="3667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 步叫分划（Partition，也译作分割、划分）。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897755"/>
            <a:ext cx="5842635" cy="756285"/>
            <a:chOff x="533400" y="4897755"/>
            <a:chExt cx="5842635" cy="756285"/>
          </a:xfrm>
        </p:grpSpPr>
        <p:sp>
          <p:nvSpPr>
            <p:cNvPr id="25" name="Rectangle 25"/>
            <p:cNvSpPr/>
            <p:nvPr/>
          </p:nvSpPr>
          <p:spPr>
            <a:xfrm>
              <a:off x="533400" y="4897755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175887"/>
              <a:ext cx="200023" cy="200023"/>
              <a:chOff x="738188" y="5175887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17588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52425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5044916"/>
              <a:ext cx="491070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一趟分划结束后，基准元素 K 就待在整个数组排好序后它应该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在的位置上，以后再也不会移动。</a:t>
              </a:r>
            </a:p>
          </p:txBody>
        </p:sp>
      </p:grpSp>
      <p:grpSp>
        <p:nvGrpSpPr>
          <p:cNvPr id="69" name="c2-cells-1"/>
          <p:cNvGrpSpPr/>
          <p:nvPr/>
        </p:nvGrpSpPr>
        <p:grpSpPr>
          <a:xfrm>
            <a:off x="6675120" y="1954530"/>
            <a:ext cx="4723447" cy="979170"/>
            <a:chOff x="6675120" y="1954530"/>
            <a:chExt cx="4723447" cy="979170"/>
          </a:xfrm>
        </p:grpSpPr>
        <p:sp>
          <p:nvSpPr>
            <p:cNvPr id="31" name="TextBox 31"/>
            <p:cNvSpPr txBox="1"/>
            <p:nvPr/>
          </p:nvSpPr>
          <p:spPr>
            <a:xfrm>
              <a:off x="6675120" y="20874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分划前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240905" y="1954530"/>
              <a:ext cx="419100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98740" y="208740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60005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20304" y="2087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79105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39404" y="2087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498205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58504" y="2087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917305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7604" y="2087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36405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96704" y="2087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755505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15804" y="2087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174605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334904" y="2087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593705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754004" y="2087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75120" y="26608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分划后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240905" y="2526982"/>
              <a:ext cx="4619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74647" y="266080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≤K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702868" y="2526982"/>
              <a:ext cx="4619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836609" y="266080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≤K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164830" y="2526982"/>
              <a:ext cx="4619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298572" y="266080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≤K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626792" y="2526982"/>
              <a:ext cx="4619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760534" y="266080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≤K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88755" y="2526982"/>
              <a:ext cx="461962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268497" y="266080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550718" y="2526982"/>
              <a:ext cx="4619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684459" y="266080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&gt;K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012680" y="2526982"/>
              <a:ext cx="4619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146422" y="266080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&gt;K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474642" y="2526982"/>
              <a:ext cx="4619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608384" y="266080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&gt;K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0936605" y="2526982"/>
              <a:ext cx="4619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1070347" y="266080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&gt;K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6680835" y="3119438"/>
            <a:ext cx="4977765" cy="2534602"/>
            <a:chOff x="6680835" y="3119438"/>
            <a:chExt cx="4977765" cy="2534602"/>
          </a:xfrm>
        </p:grpSpPr>
        <p:sp>
          <p:nvSpPr>
            <p:cNvPr id="70" name="Rectangle 70"/>
            <p:cNvSpPr/>
            <p:nvPr/>
          </p:nvSpPr>
          <p:spPr>
            <a:xfrm>
              <a:off x="6680835" y="3119438"/>
              <a:ext cx="4977765" cy="2534602"/>
            </a:xfrm>
            <a:prstGeom prst="roundRect">
              <a:avLst>
                <a:gd name="adj" fmla="val 5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690360" y="3252788"/>
              <a:ext cx="47625" cy="22679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922770" y="332327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992277" y="335899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和前两讲的区别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35696" y="3362801"/>
              <a:ext cx="3091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17、18 讲每趟只确定一个“最值”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930390" y="377475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086981" y="371427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直接选择排序每趟选出当前最大值，放到末尾；堆排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序每趟取走堆顶，也是当前最大值。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930390" y="43662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086981" y="4305776"/>
              <a:ext cx="40360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快速排序每趟放对的是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基准元素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，它该排在哪里事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先并不知道，要由分划的结果决定。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80" name="Rectangle 8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0511" y="6004084"/>
              <a:ext cx="8482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判断一个序列是不是某趟快速排序的中间结果，就看有没有某个元素左边全部 ≤ 它、右边全部 &gt; 它。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61142" cy="909257"/>
            <a:chOff x="520446" y="342900"/>
            <a:chExt cx="86611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分划：一趟把一个元素放到最终位置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611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分划的做法：两个指针相向而行，见到“站错队”的就交换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1730692"/>
            <a:chOff x="533400" y="1524000"/>
            <a:chExt cx="5626418" cy="1730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30692"/>
            </a:xfrm>
            <a:prstGeom prst="roundRect">
              <a:avLst>
                <a:gd name="adj" fmla="val 770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89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两个指针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29906" y="1744504"/>
              <a:ext cx="1888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 喜欢小的，G 喜欢大的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23900" y="211359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9348" y="2061686"/>
              <a:ext cx="48795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 L（Less）从左向右扫描，遇到第一个 &gt; K 的元素就停下。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23900" y="239839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9348" y="2346484"/>
              <a:ext cx="51638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指针 G（Greater）从右向左扫描，遇到第一个 ≤ K 的元素就停下。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23900" y="268414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9348" y="2631281"/>
              <a:ext cx="47922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两人各停在一个“站错队”的元素上，交换 R[L] 与 R[G]，然后各自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继续走。</a:t>
              </a:r>
            </a:p>
          </p:txBody>
        </p:sp>
      </p:grpSp>
      <p:grpSp>
        <p:nvGrpSpPr>
          <p:cNvPr id="20" name="c1-image-2"/>
          <p:cNvGrpSpPr/>
          <p:nvPr/>
        </p:nvGrpSpPr>
        <p:grpSpPr>
          <a:xfrm>
            <a:off x="1356622" y="3419475"/>
            <a:ext cx="3980927" cy="1723739"/>
            <a:chOff x="1356622" y="3419475"/>
            <a:chExt cx="3980927" cy="1723739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rcRect l="8" t="0" r="9" b="0"/>
            <a:stretch>
              <a:fillRect/>
            </a:stretch>
          </p:blipFill>
          <p:spPr>
            <a:xfrm>
              <a:off x="2386012" y="3419475"/>
              <a:ext cx="1921192" cy="1441132"/>
            </a:xfrm>
            <a:prstGeom prst="roundRect">
              <a:avLst>
                <a:gd name="adj" fmla="val 9253"/>
              </a:avLst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1356622" y="4952524"/>
              <a:ext cx="39809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两人从两端相向走来，各自把手里“不该在自己这边”的东西递给对方</a:t>
              </a:r>
            </a:p>
          </p:txBody>
        </p:sp>
      </p:grpSp>
      <p:grpSp>
        <p:nvGrpSpPr>
          <p:cNvPr id="56" name="c2-cells-1"/>
          <p:cNvGrpSpPr/>
          <p:nvPr/>
        </p:nvGrpSpPr>
        <p:grpSpPr>
          <a:xfrm>
            <a:off x="6459855" y="1549241"/>
            <a:ext cx="4395787" cy="813435"/>
            <a:chOff x="6459855" y="1549241"/>
            <a:chExt cx="4395787" cy="813435"/>
          </a:xfrm>
        </p:grpSpPr>
        <p:sp>
          <p:nvSpPr>
            <p:cNvPr id="21" name="TextBox 21"/>
            <p:cNvSpPr txBox="1"/>
            <p:nvPr/>
          </p:nvSpPr>
          <p:spPr>
            <a:xfrm>
              <a:off x="6459855" y="19126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63690" y="1790700"/>
              <a:ext cx="419100" cy="3562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8509" y="19126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082790" y="17907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17609" y="19126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501890" y="17907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36709" y="19126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920990" y="17907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55809" y="19126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40090" y="17907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74909" y="19126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759190" y="17907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94009" y="19126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178290" y="17907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13109" y="19126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597390" y="17907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33161" y="19126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017442" y="17907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152261" y="19126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436542" y="179070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571361" y="191262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38121" y="22007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57221" y="22007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76321" y="22007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95421" y="22007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14521" y="22007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33621" y="22007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52721" y="22007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72773" y="22007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91873" y="22007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80616" y="220075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53899" y="1549241"/>
              <a:ext cx="768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7254240" y="16954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607651" y="1549241"/>
              <a:ext cx="768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10607992" y="16954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70" name="c2-steps-2"/>
          <p:cNvGrpSpPr/>
          <p:nvPr/>
        </p:nvGrpSpPr>
        <p:grpSpPr>
          <a:xfrm>
            <a:off x="6464618" y="2502218"/>
            <a:ext cx="4521613" cy="1596961"/>
            <a:chOff x="6464618" y="2502218"/>
            <a:chExt cx="4521613" cy="1596961"/>
          </a:xfrm>
        </p:grpSpPr>
        <p:sp>
          <p:nvSpPr>
            <p:cNvPr id="57" name="Rectangle 57"/>
            <p:cNvSpPr/>
            <p:nvPr/>
          </p:nvSpPr>
          <p:spPr>
            <a:xfrm>
              <a:off x="6597968" y="264509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6464618" y="250221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58241" y="25760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64618" y="30556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58241" y="31294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64618" y="360807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58241" y="36818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77241" y="25331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78384" y="2787015"/>
              <a:ext cx="4107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R[m] = 60，L 从 m+1 出发，G 从 n 出发，基准不参与扫描。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77241" y="308562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停下的条件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78384" y="3340418"/>
              <a:ext cx="38228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与基准相等的元素归到左段，所以 L 在 R[L] ≤ K 时继续走。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77241" y="363902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结束的条件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78384" y="3893820"/>
              <a:ext cx="22738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越过了 G，两段的分界就在 G 处。</a:t>
              </a:r>
            </a:p>
          </p:txBody>
        </p:sp>
      </p:grpSp>
      <p:grpSp>
        <p:nvGrpSpPr>
          <p:cNvPr id="77" name="c2-card-3"/>
          <p:cNvGrpSpPr/>
          <p:nvPr/>
        </p:nvGrpSpPr>
        <p:grpSpPr>
          <a:xfrm>
            <a:off x="6464618" y="4260532"/>
            <a:ext cx="5193982" cy="1403032"/>
            <a:chOff x="6464618" y="4260532"/>
            <a:chExt cx="5193982" cy="1403032"/>
          </a:xfrm>
        </p:grpSpPr>
        <p:sp>
          <p:nvSpPr>
            <p:cNvPr id="71" name="Rectangle 71"/>
            <p:cNvSpPr/>
            <p:nvPr/>
          </p:nvSpPr>
          <p:spPr>
            <a:xfrm>
              <a:off x="6464618" y="4260532"/>
              <a:ext cx="5193982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74142" y="439388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683692" y="444150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772313" y="447436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想一想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74446" y="448103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全部元素都相等时会发生什么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77216" y="4797266"/>
              <a:ext cx="45321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一路走到 n+1，G 在 n 处立刻停住，第一轮就退出循环，基准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被换到最右端，左段长 n−1，退化成最坏情况。第 27 页的三路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分划就是为它准备的。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8" name="Rectangle 7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1273" y="6039326"/>
              <a:ext cx="79660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L 和 G 加起来只扫一遍数组，所以一次分划是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；这里的 n 指当前子数组的长度，不是原数组长度。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14410" cy="909257"/>
            <a:chOff x="520446" y="342900"/>
            <a:chExt cx="86144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分划：一趟把一个元素放到最终位置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144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Partition 的代码：一次扫描，最后一次交换把基准归位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2586990"/>
            <a:chOff x="533400" y="1524000"/>
            <a:chExt cx="6059805" cy="2586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768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Partition（源课件第 8 页写法）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0466" y="1937385"/>
              <a:ext cx="157353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492"/>
                </a:lnSpc>
              </a:pPr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1451" y="1937385"/>
              <a:ext cx="4357878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对子数组 R[m..n] 分划，返回基准元素的最终下标 */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Partition(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R[m], L = m + 1, G = n;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R[m] 为基准元素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 &lt;= G)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 &lt;= n &amp;&amp; R[L] &lt;= K) L++;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找第一个 &gt;K 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(R[G] &gt; K) G--;             /* 找第一个 ≤K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 &lt; G) { swap(&amp;R[L], &amp;R[G]); L++; G--;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swap(&amp;R[m], &amp;R[G]);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基准换到分界处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4291012"/>
            <a:ext cx="6059805" cy="1072515"/>
            <a:chOff x="533400" y="4291012"/>
            <a:chExt cx="6059805" cy="1072515"/>
          </a:xfrm>
        </p:grpSpPr>
        <p:sp>
          <p:nvSpPr>
            <p:cNvPr id="12" name="Rectangle 12"/>
            <p:cNvSpPr/>
            <p:nvPr/>
          </p:nvSpPr>
          <p:spPr>
            <a:xfrm>
              <a:off x="533400" y="4291012"/>
              <a:ext cx="6059805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4442936"/>
              <a:ext cx="7797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配套的 swap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416" y="4704398"/>
              <a:ext cx="2504313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swap(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*a,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= *a;  *a = *b;  *b = 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898005" y="1524000"/>
            <a:ext cx="4760595" cy="2718435"/>
            <a:chOff x="6898005" y="1524000"/>
            <a:chExt cx="4760595" cy="2718435"/>
          </a:xfrm>
        </p:grpSpPr>
        <p:sp>
          <p:nvSpPr>
            <p:cNvPr id="16" name="Rectangle 16"/>
            <p:cNvSpPr/>
            <p:nvPr/>
          </p:nvSpPr>
          <p:spPr>
            <a:xfrm>
              <a:off x="6898005" y="1524000"/>
              <a:ext cx="4760595" cy="2718435"/>
            </a:xfrm>
            <a:prstGeom prst="roundRect">
              <a:avLst>
                <a:gd name="adj" fmla="val 49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907530" y="1657350"/>
              <a:ext cx="47625" cy="2451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34225" y="17221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09663" y="17564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三处容易写错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50936" y="17568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边界与收尾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134225" y="208883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92570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24166" y="2100739"/>
              <a:ext cx="37384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L 的内层循环必须写 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 &lt;= n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：当所有元素都 ≤ K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时，L 会一路走到 n+1。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134225" y="2677477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92570" y="2717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4166" y="2690336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G 的内层循环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不需要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判左边界：R[m] 就是 K，</a:t>
              </a:r>
              <a:br/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R[G] &gt; K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 G 走到 m 时必然为假。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134225" y="326707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92570" y="330646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24166" y="3278981"/>
              <a:ext cx="378358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收尾交换的是 R[m] 与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R[G]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。循环结束时 L &gt;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G，R[G] 是左段最后一个元素，换过去正好把 K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夹在中间。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6898005" y="4423410"/>
            <a:ext cx="4760595" cy="940118"/>
            <a:chOff x="6898005" y="4423410"/>
            <a:chExt cx="4760595" cy="940118"/>
          </a:xfrm>
        </p:grpSpPr>
        <p:sp>
          <p:nvSpPr>
            <p:cNvPr id="31" name="Rectangle 31"/>
            <p:cNvSpPr/>
            <p:nvPr/>
          </p:nvSpPr>
          <p:spPr>
            <a:xfrm>
              <a:off x="6898005" y="4423410"/>
              <a:ext cx="4760595" cy="940118"/>
            </a:xfrm>
            <a:prstGeom prst="roundRect">
              <a:avLst>
                <a:gd name="adj" fmla="val 1215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102793" y="4792980"/>
              <a:ext cx="200026" cy="200026"/>
              <a:chOff x="7102793" y="4792980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102793" y="47929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169468" y="48707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405116" y="4662011"/>
              <a:ext cx="382866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返回值 G 就是基准元素的最终下标，主函数要用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它切出左右两段。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37" name="Rectangle 37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884547"/>
              <a:ext cx="200023" cy="200023"/>
              <a:chOff x="738188" y="5884547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884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5753576"/>
              <a:ext cx="1003461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一次 Partition 的关键词比较次数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最多 n+1 次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（n 为子数组长度）：L 扫过的格子加 G 扫过的格子最多把数组覆盖一遍再多两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格。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分划：一趟把一个元素放到最终位置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分划的完整例子（上）：前两次交换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336106" cy="264033"/>
            <a:chOff x="526542" y="1545907"/>
            <a:chExt cx="633610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336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 R[1..10] = 60 70 56 69 23 93 18 11 35 68 分划，基准 K = R[1] = 60。</a:t>
              </a:r>
            </a:p>
          </p:txBody>
        </p:sp>
      </p:grpSp>
      <p:grpSp>
        <p:nvGrpSpPr>
          <p:cNvPr id="114" name="c1-cells-1"/>
          <p:cNvGrpSpPr/>
          <p:nvPr/>
        </p:nvGrpSpPr>
        <p:grpSpPr>
          <a:xfrm>
            <a:off x="528638" y="1954054"/>
            <a:ext cx="8943975" cy="2712720"/>
            <a:chOff x="528638" y="1954054"/>
            <a:chExt cx="8943975" cy="2712720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31743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76362" y="2195512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06444" y="23174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85988" y="2195512"/>
              <a:ext cx="809625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16069" y="23174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995612" y="2195512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25694" y="23174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05238" y="2195512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35319" y="23174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614862" y="2195512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944944" y="23174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424488" y="2195512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54569" y="23174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34112" y="2195512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64194" y="23174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043738" y="2195512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73819" y="23174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53362" y="2195512"/>
              <a:ext cx="80962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83444" y="23174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662988" y="2195512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93069" y="23174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46056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55681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65306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74931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84556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94181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03806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13431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3056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02324" y="26055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65594" y="1954054"/>
              <a:ext cx="4504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 70&gt;60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2552700" y="21002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032969" y="1954054"/>
              <a:ext cx="4504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 35≤60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220075" y="21002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8638" y="3267075"/>
              <a:ext cx="7616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次交换后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376362" y="3145155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06444" y="32670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185988" y="3145155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516069" y="32670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995612" y="3145155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325694" y="32670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805238" y="3145155"/>
              <a:ext cx="809625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135319" y="32670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614862" y="3145155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944944" y="32670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424488" y="3145155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54569" y="32670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34112" y="3145155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64194" y="32670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043738" y="3145155"/>
              <a:ext cx="80962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73819" y="32670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853362" y="3145155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183444" y="32670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662988" y="3145155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993069" y="32670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746056" y="35552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55681" y="35552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365306" y="35552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174931" y="35552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984556" y="35552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794181" y="35552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03806" y="35552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13431" y="35552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23056" y="35552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002324" y="355520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984844" y="2903696"/>
              <a:ext cx="4504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 69&gt;60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4171950" y="30499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223344" y="2903696"/>
              <a:ext cx="4504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 11≤60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7410450" y="304990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28638" y="4216718"/>
              <a:ext cx="7616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2 次交换后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376362" y="4094798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706444" y="42167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2185988" y="4094798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2516069" y="42167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2995612" y="4094798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325694" y="42167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3805238" y="4094798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4135319" y="42167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4614862" y="4094798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4944944" y="42167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424488" y="4094798"/>
              <a:ext cx="809625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754569" y="42167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234112" y="4094798"/>
              <a:ext cx="809625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564194" y="42167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043738" y="4094798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373819" y="42167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853362" y="4094798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183444" y="42167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8662988" y="4094798"/>
              <a:ext cx="809625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993069" y="421671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746056" y="45048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2555681" y="45048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3365306" y="45048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4174931" y="45048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4984556" y="45048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5794181" y="45048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603806" y="45048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413431" y="45048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223056" y="45048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002324" y="45048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5790859" y="3853339"/>
              <a:ext cx="768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111" name="Freeform 111"/>
            <p:cNvSpPr/>
            <p:nvPr/>
          </p:nvSpPr>
          <p:spPr>
            <a:xfrm>
              <a:off x="5791200" y="399954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600484" y="3853339"/>
              <a:ext cx="768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13" name="Freeform 113"/>
            <p:cNvSpPr/>
            <p:nvPr/>
          </p:nvSpPr>
          <p:spPr>
            <a:xfrm>
              <a:off x="6600825" y="399954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120" name="c1-kv-2"/>
          <p:cNvGrpSpPr/>
          <p:nvPr/>
        </p:nvGrpSpPr>
        <p:grpSpPr>
          <a:xfrm>
            <a:off x="526923" y="4817269"/>
            <a:ext cx="11131677" cy="863726"/>
            <a:chOff x="526923" y="4817269"/>
            <a:chExt cx="11131677" cy="863726"/>
          </a:xfrm>
        </p:grpSpPr>
        <p:sp>
          <p:nvSpPr>
            <p:cNvPr id="115" name="TextBox 115"/>
            <p:cNvSpPr txBox="1"/>
            <p:nvPr/>
          </p:nvSpPr>
          <p:spPr>
            <a:xfrm>
              <a:off x="526923" y="4817269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轮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317498" y="4817269"/>
              <a:ext cx="97665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停在下标 2（70 是第一个大于 60 的），G 跳过 68 停在下标 9（35 是第一个不大于 60 的）。L &lt; G，交换 R[2] 与 R[9]，随后 L 走到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3、G 退到 8。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533400" y="53292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526923" y="5431631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2 轮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317498" y="5431631"/>
              <a:ext cx="7916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跳过 56 停在下标 4（69），G 停在下标 8（11）。L &lt; G，交换 R[4] 与 R[8]，L 走到 5、G 退到 7。</a:t>
              </a:r>
            </a:p>
          </p:txBody>
        </p:sp>
      </p:grpSp>
      <p:grpSp>
        <p:nvGrpSpPr>
          <p:cNvPr id="12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21" name="Rectangle 12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5" name="Group 125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6" name="TextBox 126"/>
            <p:cNvSpPr txBox="1"/>
            <p:nvPr/>
          </p:nvSpPr>
          <p:spPr>
            <a:xfrm>
              <a:off x="1041273" y="6039326"/>
              <a:ext cx="84735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每交换一次，左右两边就各多一个“站对队”的元素；交换后两个指针各走一格，不会把刚换好的元素再扫一遍。</a:t>
              </a:r>
            </a:p>
          </p:txBody>
        </p:sp>
      </p:grpSp>
      <p:grpSp>
        <p:nvGrpSpPr>
          <p:cNvPr id="1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8" name="TextBox 128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分划：一趟把一个元素放到最终位置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分划的完整例子（下）：指针交错后把基准换到分界处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5" name="c1-cells-1"/>
          <p:cNvGrpSpPr/>
          <p:nvPr/>
        </p:nvGrpSpPr>
        <p:grpSpPr>
          <a:xfrm>
            <a:off x="528447" y="1558766"/>
            <a:ext cx="9578530" cy="1833563"/>
            <a:chOff x="528447" y="1558766"/>
            <a:chExt cx="9578530" cy="1833563"/>
          </a:xfrm>
        </p:grpSpPr>
        <p:sp>
          <p:nvSpPr>
            <p:cNvPr id="7" name="TextBox 7"/>
            <p:cNvSpPr txBox="1"/>
            <p:nvPr/>
          </p:nvSpPr>
          <p:spPr>
            <a:xfrm>
              <a:off x="528447" y="1930241"/>
              <a:ext cx="828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3 次交换后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439228" y="180022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91474" y="19302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306002" y="180022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58249" y="19302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172778" y="180022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25024" y="19302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39552" y="180022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91799" y="19302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906328" y="180022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8574" y="19302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3102" y="1800225"/>
              <a:ext cx="86677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25349" y="19302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39878" y="1800225"/>
              <a:ext cx="866775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92124" y="19302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506652" y="180022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58899" y="19302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73428" y="180022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25674" y="19302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240202" y="180022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592449" y="19302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37496" y="2235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04271" y="2235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71046" y="2235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37821" y="2235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04596" y="2235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71371" y="2235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38146" y="2235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04921" y="2235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71696" y="22350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08114" y="22350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67466" y="1558766"/>
              <a:ext cx="2115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L=7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7035165" y="17049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00691" y="1558766"/>
              <a:ext cx="2115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G=6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168390" y="17049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8447" y="29246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收尾交换后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439228" y="279463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791474" y="292465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306002" y="279463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658249" y="292465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172778" y="279463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525024" y="292465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039552" y="279463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391799" y="292465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906328" y="279463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58574" y="292465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73102" y="2794635"/>
              <a:ext cx="866775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25349" y="292465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39878" y="279463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2124" y="292465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506652" y="279463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58899" y="292465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373428" y="279463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725674" y="292465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240202" y="2794635"/>
              <a:ext cx="86677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592449" y="292465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837496" y="3230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704271" y="3230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571046" y="3230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437821" y="3230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304596" y="3230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71371" y="3230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038146" y="3230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904921" y="3230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771696" y="3230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608114" y="32304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992817" y="2553176"/>
              <a:ext cx="4273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返回 j=6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6168390" y="269938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113" name="c1-table-2"/>
          <p:cNvGrpSpPr/>
          <p:nvPr/>
        </p:nvGrpSpPr>
        <p:grpSpPr>
          <a:xfrm>
            <a:off x="533400" y="3531870"/>
            <a:ext cx="11125200" cy="2028825"/>
            <a:chOff x="533400" y="3531870"/>
            <a:chExt cx="11125200" cy="2028825"/>
          </a:xfrm>
        </p:grpSpPr>
        <p:sp>
          <p:nvSpPr>
            <p:cNvPr id="76" name="Rectangle 76"/>
            <p:cNvSpPr/>
            <p:nvPr/>
          </p:nvSpPr>
          <p:spPr>
            <a:xfrm>
              <a:off x="533400" y="3531870"/>
              <a:ext cx="11125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77926" y="36561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197484" y="3656171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 停在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976754" y="3656171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 停在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106198" y="36561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936190" y="365617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本轮结束后的序列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33412" y="40619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634490" y="4061936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2（70）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414712" y="4061936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9（35）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194935" y="40619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531417" y="4061936"/>
              <a:ext cx="2077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60 35 56 69 23 93 18 11 70 68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33400" y="4338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533400" y="434340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33412" y="4467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634490" y="4467701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4（69）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3414712" y="4467701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8（11）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194935" y="44677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531417" y="4467701"/>
              <a:ext cx="2077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60 35 56 11 23 93 18 69 70 68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33400" y="47444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33412" y="48734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634490" y="4873466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6（93）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3414712" y="4873466"/>
              <a:ext cx="908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7（18）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194935" y="48734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531417" y="4873466"/>
              <a:ext cx="2077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60 35 56 11 23 18 93 69 70 68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533400" y="51501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533400" y="51549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33412" y="5279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634490" y="527923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7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3414712" y="5279231"/>
              <a:ext cx="441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 6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5194935" y="5279231"/>
              <a:ext cx="11237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&gt; G，退出循环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7440930" y="5164455"/>
              <a:ext cx="420814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31417" y="5279231"/>
              <a:ext cx="362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swap(R[1],R[6]) 后 18 35 56 11 23 </a:t>
              </a:r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60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93 69 70 68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533400" y="3531870"/>
              <a:ext cx="11125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1529715" y="353187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3309938" y="353187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5090160" y="353187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7426642" y="353187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14" name="Rectangle 11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17" name="Group 11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8" name="TextBox 118"/>
            <p:cNvSpPr txBox="1"/>
            <p:nvPr/>
          </p:nvSpPr>
          <p:spPr>
            <a:xfrm>
              <a:off x="1040892" y="6023610"/>
              <a:ext cx="10474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返回 j = 6。左段 R[1..5] 全部 ≤ 60，右段 R[7..10] 全部 &gt; 60，60 本身再也不动。本例整趟只比较了 </a:t>
              </a:r>
              <a:r>
                <a:rPr lang="zh-CN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9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次，上界是 n+1 = 11。</a:t>
              </a:r>
            </a:p>
          </p:txBody>
        </p:sp>
      </p:grpSp>
      <p:grpSp>
        <p:nvGrpSpPr>
          <p:cNvPr id="12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0" name="TextBox 120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分划：一趟把一个元素放到最终位置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另一种写法：把指针移动提到循环开头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361767" cy="264033"/>
            <a:chOff x="526542" y="1545907"/>
            <a:chExt cx="636176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361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9 页给了第二种 Partition，两种写法在任何输入上的结果完全一样。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842635" cy="2616518"/>
            <a:chOff x="533400" y="1928812"/>
            <a:chExt cx="5842635" cy="261651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5537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Partition（第二种写法）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2748026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Partition(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R[m], L = m, G = n + 1;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 &lt; G)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L++;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 &lt;= n &amp;&amp; R[L] &lt;= K) L++;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G--;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(R[G] &gt; K) G--;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 &lt; G) swap(&amp;R[L], &amp;R[G]);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swap(&amp;R[m], &amp;R[G]);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709160"/>
            <a:ext cx="5842635" cy="937260"/>
            <a:chOff x="533400" y="4709160"/>
            <a:chExt cx="5842635" cy="937260"/>
          </a:xfrm>
        </p:grpSpPr>
        <p:sp>
          <p:nvSpPr>
            <p:cNvPr id="13" name="Rectangle 13"/>
            <p:cNvSpPr/>
            <p:nvPr/>
          </p:nvSpPr>
          <p:spPr>
            <a:xfrm>
              <a:off x="533400" y="4709160"/>
              <a:ext cx="5842635" cy="937260"/>
            </a:xfrm>
            <a:prstGeom prst="roundRect">
              <a:avLst>
                <a:gd name="adj" fmla="val 1219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077778"/>
              <a:ext cx="200026" cy="200026"/>
              <a:chOff x="738188" y="5077778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0777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4863" y="515556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1273" y="4854416"/>
              <a:ext cx="489788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边界自测：R = 9 5 3（基准是最大值）时 L 走到 4、G 停在 3，返回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j=3；R = 1 5 3（基准是最小值）时 G 一路退到 1，返回 j=1。两种极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端都不越界。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680835" y="1928812"/>
            <a:ext cx="4977765" cy="1687830"/>
            <a:chOff x="6680835" y="1928812"/>
            <a:chExt cx="4977765" cy="1687830"/>
          </a:xfrm>
        </p:grpSpPr>
        <p:sp>
          <p:nvSpPr>
            <p:cNvPr id="19" name="Rectangle 19"/>
            <p:cNvSpPr/>
            <p:nvPr/>
          </p:nvSpPr>
          <p:spPr>
            <a:xfrm>
              <a:off x="6680835" y="1928812"/>
              <a:ext cx="4977765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90360" y="2062162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99910" y="210978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77329" y="21426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源课件的提问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64043" y="2149316"/>
              <a:ext cx="2300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G 不用判左边界越界？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93433" y="2465546"/>
              <a:ext cx="42070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R[m] 存的就是基准 K，条件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R[G] &gt; K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 G = m 时写成 K &gt;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K，必然为假，循环一定在 m 处停住。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93433" y="2994184"/>
              <a:ext cx="43045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那一侧没有这样的哨兵：若全部元素都 ≤ K，L 会走出右边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界，所以必须显式写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L &lt;= 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680835" y="3781425"/>
            <a:ext cx="4977765" cy="1864995"/>
            <a:chOff x="6680835" y="3781425"/>
            <a:chExt cx="4977765" cy="1864995"/>
          </a:xfrm>
        </p:grpSpPr>
        <p:sp>
          <p:nvSpPr>
            <p:cNvPr id="27" name="Rectangle 27"/>
            <p:cNvSpPr/>
            <p:nvPr/>
          </p:nvSpPr>
          <p:spPr>
            <a:xfrm>
              <a:off x="6680835" y="3781425"/>
              <a:ext cx="4977765" cy="1864995"/>
            </a:xfrm>
            <a:prstGeom prst="roundRect">
              <a:avLst>
                <a:gd name="adj" fmla="val 71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90360" y="3914775"/>
              <a:ext cx="47625" cy="1598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99910" y="396240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74230" y="399526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两种写法的差别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88820" y="4001929"/>
              <a:ext cx="2424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只是把 L++ 与 G-- 换了个位置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909435" y="437102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64883" y="4319111"/>
              <a:ext cx="41501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第一种：L 从 m+1、G 从 n 起步，交换后在 if 里手工走一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909435" y="489966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64883" y="4846796"/>
              <a:ext cx="4337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第二种：L 从 m、G 从 n+1 起步，每轮开头先各走一格。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909435" y="518445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64883" y="5131594"/>
              <a:ext cx="3355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实测两者都返回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j = 6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，数组内容逐格相同。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9" name="Rectangle 3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1273" y="6039326"/>
              <a:ext cx="5061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两种写法都把与基准相等的元素归入左段，所以快速排序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不稳定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分划：一趟把一个元素放到最终位置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主函数：分划一次，左右各递归一次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327910"/>
            <a:chOff x="533400" y="1524000"/>
            <a:chExt cx="5410200" cy="2327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568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QuickSort（分治法）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062478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对 R[m..n] 递增排序 */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QuickSort(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 &lt; n)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Partition(R, m, n);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QuickSort(R, m, j - 1);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QuickSort(R, j + 1, n);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初始调用： QuickSort(R, 1, n); */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037648"/>
            <a:ext cx="5410200" cy="1346835"/>
            <a:chOff x="533400" y="4037648"/>
            <a:chExt cx="5410200" cy="1346835"/>
          </a:xfrm>
        </p:grpSpPr>
        <p:sp>
          <p:nvSpPr>
            <p:cNvPr id="11" name="Rectangle 11"/>
            <p:cNvSpPr/>
            <p:nvPr/>
          </p:nvSpPr>
          <p:spPr>
            <a:xfrm>
              <a:off x="533400" y="4037648"/>
              <a:ext cx="5410200" cy="1346835"/>
            </a:xfrm>
            <a:prstGeom prst="roundRect">
              <a:avLst>
                <a:gd name="adj" fmla="val 848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4611055"/>
              <a:ext cx="200023" cy="200023"/>
              <a:chOff x="738188" y="4611055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6110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46777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511" y="4480084"/>
              <a:ext cx="445084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递归出口是 </a:t>
              </a:r>
              <a:r>
                <a:rPr lang="en-US" sz="142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m &gt;= n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：长度 0 或 1 的子数组天然有序，不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必再分划。</a:t>
              </a:r>
            </a:p>
          </p:txBody>
        </p:sp>
      </p:grpSp>
      <p:grpSp>
        <p:nvGrpSpPr>
          <p:cNvPr id="30" name="c2-steps-1"/>
          <p:cNvGrpSpPr/>
          <p:nvPr/>
        </p:nvGrpSpPr>
        <p:grpSpPr>
          <a:xfrm>
            <a:off x="6248400" y="1533525"/>
            <a:ext cx="5257825" cy="1790128"/>
            <a:chOff x="6248400" y="1533525"/>
            <a:chExt cx="5257825" cy="1790128"/>
          </a:xfrm>
        </p:grpSpPr>
        <p:sp>
          <p:nvSpPr>
            <p:cNvPr id="17" name="Rectangle 17"/>
            <p:cNvSpPr/>
            <p:nvPr/>
          </p:nvSpPr>
          <p:spPr>
            <a:xfrm>
              <a:off x="6381750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248400" y="21545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42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248400" y="27755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42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0261" y="156638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404" y="1846898"/>
              <a:ext cx="4844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Partition 把 R[m..n] 切成 R[m..j−1]、R[j]、R[j+1..n] 三段。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0261" y="218741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1404" y="2467927"/>
              <a:ext cx="43557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对左右两段各调用一次 QuickSort，中间的 R[j] 跳过不管。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0261" y="2808446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1404" y="3088957"/>
              <a:ext cx="43496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什么也不用做。两段排好后整体就有序了，合并的代价是 0。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248400" y="3499485"/>
            <a:ext cx="5410200" cy="1884998"/>
            <a:chOff x="6248400" y="3499485"/>
            <a:chExt cx="5410200" cy="1884998"/>
          </a:xfrm>
        </p:grpSpPr>
        <p:sp>
          <p:nvSpPr>
            <p:cNvPr id="31" name="Rectangle 31"/>
            <p:cNvSpPr/>
            <p:nvPr/>
          </p:nvSpPr>
          <p:spPr>
            <a:xfrm>
              <a:off x="6248400" y="3499485"/>
              <a:ext cx="541020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3632835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90335" y="3703320"/>
              <a:ext cx="11744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0810" y="3739039"/>
              <a:ext cx="1034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与第 20 讲对照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71829" y="3743801"/>
              <a:ext cx="23380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归并排序把力气花在“合”上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97955" y="41548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4546" y="4095274"/>
              <a:ext cx="447789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快速排序：分的时候做重活（Partition 扫一遍），合的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时候不做事。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97955" y="47463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4546" y="4686776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归并排序：分的时候只算个中点，合的时候做重活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（Merge 扫一遍）。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1" name="Rectangle 4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511" y="6004084"/>
              <a:ext cx="6245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QuickSort 里的 j 必须用 Partition 的返回值，不能自己猜成 (m+n)/2。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50977" cy="909257"/>
            <a:chOff x="520446" y="342900"/>
            <a:chExt cx="57509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77666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6125" y="407194"/>
              <a:ext cx="3732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分划：一趟把一个元素放到最终位置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509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完整跑一遍：10 个元素一共分划 7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737985" cy="264033"/>
            <a:chOff x="526542" y="1545907"/>
            <a:chExt cx="673798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同一个数组 60 70 56 69 23 93 18 11 35 68，方括号标出本次分划归位的基准元素。</a:t>
              </a:r>
            </a:p>
          </p:txBody>
        </p:sp>
      </p:grpSp>
      <p:grpSp>
        <p:nvGrpSpPr>
          <p:cNvPr id="56" name="c1-table-1"/>
          <p:cNvGrpSpPr/>
          <p:nvPr/>
        </p:nvGrpSpPr>
        <p:grpSpPr>
          <a:xfrm>
            <a:off x="533400" y="1928812"/>
            <a:ext cx="11125200" cy="3050858"/>
            <a:chOff x="533400" y="1928812"/>
            <a:chExt cx="11125200" cy="305085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53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8887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13124" y="2045970"/>
              <a:ext cx="382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 j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7508" y="204597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本次分划后的整个数组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7714" y="2426970"/>
              <a:ext cx="118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QuickSort(1,10)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4275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770120" y="2319338"/>
              <a:ext cx="6878955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55274" y="2426970"/>
              <a:ext cx="21026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 35 56 11 23 [60] 93 69 70 68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87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691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17714" y="2808923"/>
              <a:ext cx="1105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QuickSort(1,5)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4275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55274" y="2808923"/>
              <a:ext cx="2342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[18] 56 35 23 · 60 · 93 69 70 68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68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17714" y="3189923"/>
              <a:ext cx="1105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QuickSort(3,5)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4275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55274" y="3189923"/>
              <a:ext cx="2342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18 23 35 [56] · 60 · 93 69 70 68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4490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45376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8078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17714" y="3571875"/>
              <a:ext cx="1105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QuickSort(3,4)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4275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55274" y="3571875"/>
              <a:ext cx="2342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18 [23] 35 56 · 60 · 93 69 70 68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830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8078" y="3952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17714" y="3952875"/>
              <a:ext cx="118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QuickSort(7,10)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42754" y="3952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55274" y="3952875"/>
              <a:ext cx="22228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18 23 35 56 60 · 68 69 70 [93]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211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216718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8078" y="4333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17714" y="4333875"/>
              <a:ext cx="1105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QuickSort(7,9)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742754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855274" y="4333875"/>
              <a:ext cx="22228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18 23 35 56 60 · [68] 69 70 93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59390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8078" y="4715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517714" y="4715828"/>
              <a:ext cx="1105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QuickSort(8,9)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742754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855274" y="4715828"/>
              <a:ext cx="21026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18 23 35 56 60 68 [69] 70 93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1928812"/>
              <a:ext cx="1112520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418272" y="19288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643312" y="19288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755832" y="1928812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1-callout-2"/>
          <p:cNvGrpSpPr/>
          <p:nvPr/>
        </p:nvGrpSpPr>
        <p:grpSpPr>
          <a:xfrm>
            <a:off x="533400" y="5144452"/>
            <a:ext cx="11125200" cy="579120"/>
            <a:chOff x="533400" y="5144452"/>
            <a:chExt cx="11125200" cy="579120"/>
          </a:xfrm>
        </p:grpSpPr>
        <p:sp>
          <p:nvSpPr>
            <p:cNvPr id="57" name="Rectangle 57"/>
            <p:cNvSpPr/>
            <p:nvPr/>
          </p:nvSpPr>
          <p:spPr>
            <a:xfrm>
              <a:off x="533400" y="5144452"/>
              <a:ext cx="11125200" cy="579120"/>
            </a:xfrm>
            <a:prstGeom prst="roundRect">
              <a:avLst>
                <a:gd name="adj" fmla="val 19737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334000"/>
              <a:ext cx="200026" cy="200026"/>
              <a:chOff x="738188" y="5334000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53340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04863" y="541178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5344954"/>
              <a:ext cx="7657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最终结果 11 18 23 35 56 60 68 69 70 93，最大递归深度 5 层。整个过程已用 C 程序逐步打印核对。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71898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2、5 次分划的基准落在了子数组的端点（j=2 靠左、j=10 靠右），这就是最坏情况的苗头。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821424" cy="3675697"/>
            <a:chOff x="667512" y="1835468"/>
            <a:chExt cx="6821424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时空复杂度：分划位置决定一切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8230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同一段代码，最好 O(nlogn)、最坏 O(n²)，差距全在基准挑得准不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最好情况的递归树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最坏情况长什么样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平均情况的递推式与求解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稳定性与空间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86124" cy="909257"/>
            <a:chOff x="520446" y="342900"/>
            <a:chExt cx="59861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时空复杂度：分划位置决定一切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861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最好情况：每次都劈成两半，树高 logn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ree-1"/>
          <p:cNvGrpSpPr/>
          <p:nvPr/>
        </p:nvGrpSpPr>
        <p:grpSpPr>
          <a:xfrm>
            <a:off x="964882" y="1766888"/>
            <a:ext cx="4113848" cy="2114550"/>
            <a:chOff x="964882" y="1766888"/>
            <a:chExt cx="4113848" cy="2114550"/>
          </a:xfrm>
        </p:grpSpPr>
        <p:sp>
          <p:nvSpPr>
            <p:cNvPr id="7" name="Freeform 7"/>
            <p:cNvSpPr/>
            <p:nvPr/>
          </p:nvSpPr>
          <p:spPr>
            <a:xfrm>
              <a:off x="1155382" y="2824162"/>
              <a:ext cx="621982" cy="866775"/>
            </a:xfrm>
            <a:custGeom>
              <a:avLst/>
              <a:gdLst/>
              <a:ahLst/>
              <a:cxnLst/>
              <a:rect l="l" t="t" r="r" b="b"/>
              <a:pathLst>
                <a:path w="621982" h="866775">
                  <a:moveTo>
                    <a:pt x="621982" y="0"/>
                  </a:moveTo>
                  <a:lnTo>
                    <a:pt x="0" y="866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77365" y="2824162"/>
              <a:ext cx="622935" cy="866775"/>
            </a:xfrm>
            <a:custGeom>
              <a:avLst/>
              <a:gdLst/>
              <a:ahLst/>
              <a:cxnLst/>
              <a:rect l="l" t="t" r="r" b="b"/>
              <a:pathLst>
                <a:path w="622935" h="866775">
                  <a:moveTo>
                    <a:pt x="0" y="0"/>
                  </a:moveTo>
                  <a:lnTo>
                    <a:pt x="622935" y="866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644265" y="2824162"/>
              <a:ext cx="621982" cy="866775"/>
            </a:xfrm>
            <a:custGeom>
              <a:avLst/>
              <a:gdLst/>
              <a:ahLst/>
              <a:cxnLst/>
              <a:rect l="l" t="t" r="r" b="b"/>
              <a:pathLst>
                <a:path w="621982" h="866775">
                  <a:moveTo>
                    <a:pt x="621982" y="0"/>
                  </a:moveTo>
                  <a:lnTo>
                    <a:pt x="0" y="866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66248" y="2824162"/>
              <a:ext cx="621983" cy="866775"/>
            </a:xfrm>
            <a:custGeom>
              <a:avLst/>
              <a:gdLst/>
              <a:ahLst/>
              <a:cxnLst/>
              <a:rect l="l" t="t" r="r" b="b"/>
              <a:pathLst>
                <a:path w="621983" h="866775">
                  <a:moveTo>
                    <a:pt x="0" y="0"/>
                  </a:moveTo>
                  <a:lnTo>
                    <a:pt x="621983" y="866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77365" y="1957388"/>
              <a:ext cx="1244918" cy="866775"/>
            </a:xfrm>
            <a:custGeom>
              <a:avLst/>
              <a:gdLst/>
              <a:ahLst/>
              <a:cxnLst/>
              <a:rect l="l" t="t" r="r" b="b"/>
              <a:pathLst>
                <a:path w="1244918" h="866775">
                  <a:moveTo>
                    <a:pt x="1244918" y="0"/>
                  </a:moveTo>
                  <a:lnTo>
                    <a:pt x="0" y="866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22282" y="1957388"/>
              <a:ext cx="1243965" cy="866775"/>
            </a:xfrm>
            <a:custGeom>
              <a:avLst/>
              <a:gdLst/>
              <a:ahLst/>
              <a:cxnLst/>
              <a:rect l="l" t="t" r="r" b="b"/>
              <a:pathLst>
                <a:path w="1243965" h="866775">
                  <a:moveTo>
                    <a:pt x="0" y="0"/>
                  </a:moveTo>
                  <a:lnTo>
                    <a:pt x="1243965" y="866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64882" y="350043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209800" y="350043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586865" y="263366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453765" y="350043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697730" y="350043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075748" y="263366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831782" y="176688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5667" y="363474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90584" y="363474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67649" y="276796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34549" y="363474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78514" y="363474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56532" y="276796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82536" y="19011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299585"/>
            <a:ext cx="4977765" cy="1062990"/>
            <a:chOff x="533400" y="4299585"/>
            <a:chExt cx="4977765" cy="1062990"/>
          </a:xfrm>
        </p:grpSpPr>
        <p:sp>
          <p:nvSpPr>
            <p:cNvPr id="28" name="Rectangle 28"/>
            <p:cNvSpPr/>
            <p:nvPr/>
          </p:nvSpPr>
          <p:spPr>
            <a:xfrm>
              <a:off x="533400" y="4299585"/>
              <a:ext cx="4977765" cy="1062990"/>
            </a:xfrm>
            <a:prstGeom prst="roundRect">
              <a:avLst>
                <a:gd name="adj" fmla="val 1075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731070"/>
              <a:ext cx="200023" cy="200023"/>
              <a:chOff x="738188" y="4731070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7310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47977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4612005"/>
              <a:ext cx="39656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每一层所有 Partition 加起来正好扫一遍数组，代价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O(n)；共 logn 层。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5815965" y="1524000"/>
            <a:ext cx="5842635" cy="1877378"/>
            <a:chOff x="5815965" y="1524000"/>
            <a:chExt cx="5842635" cy="1877378"/>
          </a:xfrm>
        </p:grpSpPr>
        <p:sp>
          <p:nvSpPr>
            <p:cNvPr id="34" name="Rectangle 34"/>
            <p:cNvSpPr/>
            <p:nvPr/>
          </p:nvSpPr>
          <p:spPr>
            <a:xfrm>
              <a:off x="5815965" y="1524000"/>
              <a:ext cx="5842635" cy="1877378"/>
            </a:xfrm>
            <a:prstGeom prst="roundRect">
              <a:avLst>
                <a:gd name="adj" fmla="val 71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25490" y="1657350"/>
              <a:ext cx="47625" cy="161067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4647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3791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30162" y="1756410"/>
              <a:ext cx="2609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O(nlogn)，空间 O(logn)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055042" y="21469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11062" y="209073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每次分划都发生在最中间，两个子数组长度相等。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055042" y="244887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11062" y="2392680"/>
              <a:ext cx="4984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递归深度 ⌊log₂n⌋+1 层：n=1024 是 11 层，n=2²⁰ 是 21 层。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055042" y="27517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11062" y="2695575"/>
              <a:ext cx="3114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时间 = 层数 × 每层代价 =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O(nlogn)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055042" y="30537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11062" y="2997518"/>
              <a:ext cx="4618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空间是递归用掉的系统栈，深度就是层数，故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O(logn)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5815965" y="3576638"/>
            <a:ext cx="5842635" cy="1786890"/>
            <a:chOff x="5815965" y="3576638"/>
            <a:chExt cx="5842635" cy="1786890"/>
          </a:xfrm>
        </p:grpSpPr>
        <p:sp>
          <p:nvSpPr>
            <p:cNvPr id="48" name="Rectangle 48"/>
            <p:cNvSpPr/>
            <p:nvPr/>
          </p:nvSpPr>
          <p:spPr>
            <a:xfrm>
              <a:off x="5815965" y="3576638"/>
              <a:ext cx="584263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25490" y="3709988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46470" y="376904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37910" y="38033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30162" y="38080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这两个结论成立的条件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39612" y="4142422"/>
              <a:ext cx="50972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 的前提是每次分划都接近对半。只要分划位置均匀随机，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平均情况也能达到这个量级。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39612" y="4702492"/>
              <a:ext cx="51743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 的空间只算递归栈，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不含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待排数组本身；快速排序是原地排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6" name="Rectangle 5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3610"/>
              <a:ext cx="6129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n=8 时最好情况只要 4 层；把 n 翻一倍，层数只加 1，这就是 logn 的含义。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23005" cy="909257"/>
            <a:chOff x="520446" y="342900"/>
            <a:chExt cx="67230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时空复杂度：分划位置决定一切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230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最坏情况：已排好序或逆序，退化成 O(n²)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9" name="c1-cells-1"/>
          <p:cNvGrpSpPr/>
          <p:nvPr/>
        </p:nvGrpSpPr>
        <p:grpSpPr>
          <a:xfrm>
            <a:off x="528447" y="1524000"/>
            <a:ext cx="4702683" cy="1315879"/>
            <a:chOff x="528447" y="1524000"/>
            <a:chExt cx="4702683" cy="1315879"/>
          </a:xfrm>
        </p:grpSpPr>
        <p:sp>
          <p:nvSpPr>
            <p:cNvPr id="7" name="TextBox 7"/>
            <p:cNvSpPr txBox="1"/>
            <p:nvPr/>
          </p:nvSpPr>
          <p:spPr>
            <a:xfrm>
              <a:off x="528447" y="16540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0130" y="1524000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06633" y="1654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45923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25733" y="1654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87833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44833" y="1654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29743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25839" y="16540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1653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44939" y="16540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3563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64039" y="16540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55473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83139" y="16540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97383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02239" y="16540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9293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21339" y="16540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81203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40439" y="16540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1456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3366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5276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7186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9096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1006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2916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4826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6736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56104" y="19588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8447" y="237220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分划后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40130" y="2242185"/>
              <a:ext cx="41910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206633" y="23722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459230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625733" y="23722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878330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044833" y="23722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297430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425839" y="23722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716530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844939" y="23722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135630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264039" y="23722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554730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683139" y="23722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973830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102239" y="23722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392930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521339" y="23722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812030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940439" y="23722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214561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633661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052761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471861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890961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310061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729161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148261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67361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956104" y="26779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77" name="c1-card-2"/>
          <p:cNvGrpSpPr/>
          <p:nvPr/>
        </p:nvGrpSpPr>
        <p:grpSpPr>
          <a:xfrm>
            <a:off x="533400" y="2979420"/>
            <a:ext cx="5410200" cy="1786890"/>
            <a:chOff x="533400" y="2979420"/>
            <a:chExt cx="5410200" cy="1786890"/>
          </a:xfrm>
        </p:grpSpPr>
        <p:sp>
          <p:nvSpPr>
            <p:cNvPr id="70" name="Rectangle 70"/>
            <p:cNvSpPr/>
            <p:nvPr/>
          </p:nvSpPr>
          <p:spPr>
            <a:xfrm>
              <a:off x="533400" y="2979420"/>
              <a:ext cx="541020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542925" y="311277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63905" y="317182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51344" y="32061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480947" y="321183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基准恰好是当前子数组的最小值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7047" y="3546158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取第 1 个元素作基准时，升序输入里它永远是最小的，分划后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左段为空、右段长 n−1。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7047" y="4106227"/>
              <a:ext cx="439383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递归深度变成 n 层，每层还要扫一遍，时间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、空间</a:t>
              </a:r>
              <a:br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4" name="c1-callout-3"/>
          <p:cNvGrpSpPr/>
          <p:nvPr/>
        </p:nvGrpSpPr>
        <p:grpSpPr>
          <a:xfrm>
            <a:off x="533400" y="4941570"/>
            <a:ext cx="5410200" cy="729615"/>
            <a:chOff x="533400" y="4941570"/>
            <a:chExt cx="5410200" cy="729615"/>
          </a:xfrm>
        </p:grpSpPr>
        <p:sp>
          <p:nvSpPr>
            <p:cNvPr id="78" name="Rectangle 78"/>
            <p:cNvSpPr/>
            <p:nvPr/>
          </p:nvSpPr>
          <p:spPr>
            <a:xfrm>
              <a:off x="533400" y="494157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26129" y="5202673"/>
              <a:ext cx="224134" cy="192560"/>
              <a:chOff x="726129" y="5202673"/>
              <a:chExt cx="224134" cy="19256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838200" y="52730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26129" y="52026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38200" y="53508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892" y="5087302"/>
              <a:ext cx="45142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“接近有序”的数据在工程里很常见，所以裸用第 1 个元素当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基准是有风险的。</a:t>
              </a:r>
            </a:p>
          </p:txBody>
        </p:sp>
      </p:grpSp>
      <p:grpSp>
        <p:nvGrpSpPr>
          <p:cNvPr id="117" name="c2-table-1"/>
          <p:cNvGrpSpPr/>
          <p:nvPr/>
        </p:nvGrpSpPr>
        <p:grpSpPr>
          <a:xfrm>
            <a:off x="6243066" y="1524000"/>
            <a:ext cx="5415534" cy="1902714"/>
            <a:chOff x="6243066" y="1524000"/>
            <a:chExt cx="5415534" cy="1902714"/>
          </a:xfrm>
        </p:grpSpPr>
        <p:sp>
          <p:nvSpPr>
            <p:cNvPr id="85" name="Rectangle 85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578244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32035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升序输入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56527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逆序输入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75494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随机输入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964391" y="164830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n²/2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348412" y="20540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105650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350567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594532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730865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348412" y="245983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105650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5148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350567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5098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594532" y="2459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673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730865" y="24598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5000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348412" y="286559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7015162" y="2750820"/>
              <a:ext cx="122491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105650" y="286559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125748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350567" y="286559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125498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9504045" y="2750820"/>
              <a:ext cx="111728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594532" y="28655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5341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730865" y="286559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125000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6248400" y="1524000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7000875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824579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9489758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1062609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6243066" y="3221355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关键词比较次数实测（由程序统计，随机输入取一次抽样）</a:t>
              </a:r>
            </a:p>
          </p:txBody>
        </p:sp>
      </p:grpSp>
      <p:grpSp>
        <p:nvGrpSpPr>
          <p:cNvPr id="127" name="c2-card-2"/>
          <p:cNvGrpSpPr/>
          <p:nvPr/>
        </p:nvGrpSpPr>
        <p:grpSpPr>
          <a:xfrm>
            <a:off x="6248400" y="3560445"/>
            <a:ext cx="5410200" cy="2109788"/>
            <a:chOff x="6248400" y="3560445"/>
            <a:chExt cx="5410200" cy="2109788"/>
          </a:xfrm>
        </p:grpSpPr>
        <p:sp>
          <p:nvSpPr>
            <p:cNvPr id="118" name="Rectangle 118"/>
            <p:cNvSpPr/>
            <p:nvPr/>
          </p:nvSpPr>
          <p:spPr>
            <a:xfrm>
              <a:off x="6248400" y="3560445"/>
              <a:ext cx="5410200" cy="2109788"/>
            </a:xfrm>
            <a:prstGeom prst="roundRect">
              <a:avLst>
                <a:gd name="adj" fmla="val 63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6257925" y="3693795"/>
              <a:ext cx="47625" cy="18430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6478905" y="37528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570345" y="37871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062597" y="3792855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有序输入的代价随 n 平方增长</a:t>
              </a:r>
            </a:p>
          </p:txBody>
        </p:sp>
        <p:sp>
          <p:nvSpPr>
            <p:cNvPr id="123" name="Ellipse 123"/>
            <p:cNvSpPr/>
            <p:nvPr/>
          </p:nvSpPr>
          <p:spPr>
            <a:xfrm>
              <a:off x="6487478" y="418338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6643497" y="4127182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从 100 涨到 500（5 倍），升序输入的比较次数涨了 24 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（≈5²）。</a:t>
              </a:r>
            </a:p>
          </p:txBody>
        </p:sp>
        <p:sp>
          <p:nvSpPr>
            <p:cNvPr id="125" name="Ellipse 125"/>
            <p:cNvSpPr/>
            <p:nvPr/>
          </p:nvSpPr>
          <p:spPr>
            <a:xfrm>
              <a:off x="6487478" y="47424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6643497" y="4686300"/>
              <a:ext cx="37598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同样的 n=500，随机输入只要 5341 次，与理论值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1.386nlog₂n = 6213 同一量级。</a:t>
              </a:r>
            </a:p>
          </p:txBody>
        </p:sp>
      </p:grpSp>
      <p:grpSp>
        <p:nvGrpSpPr>
          <p:cNvPr id="13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28" name="Rectangle 12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31" name="Group 131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0" name="Freeform 130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32" name="TextBox 132"/>
            <p:cNvSpPr txBox="1"/>
            <p:nvPr/>
          </p:nvSpPr>
          <p:spPr>
            <a:xfrm>
              <a:off x="1040892" y="6023610"/>
              <a:ext cx="804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最坏情况不是“数据很乱”，恰恰是“数据太整齐”。后面的随机基准和三数取中就是冲着这件事去的。</a:t>
              </a:r>
            </a:p>
          </p:txBody>
        </p:sp>
      </p:grpSp>
      <p:grpSp>
        <p:nvGrpSpPr>
          <p:cNvPr id="1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4" name="TextBox 134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72686" cy="909257"/>
            <a:chOff x="520446" y="342900"/>
            <a:chExt cx="66726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时空复杂度：分划位置决定一切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726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平均情况（一）：一次分划最多比较 n+1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cells-1"/>
          <p:cNvGrpSpPr/>
          <p:nvPr/>
        </p:nvGrpSpPr>
        <p:grpSpPr>
          <a:xfrm>
            <a:off x="528447" y="1558766"/>
            <a:ext cx="4158805" cy="851535"/>
            <a:chOff x="528447" y="1558766"/>
            <a:chExt cx="4158805" cy="851535"/>
          </a:xfrm>
        </p:grpSpPr>
        <p:sp>
          <p:nvSpPr>
            <p:cNvPr id="7" name="TextBox 7"/>
            <p:cNvSpPr txBox="1"/>
            <p:nvPr/>
          </p:nvSpPr>
          <p:spPr>
            <a:xfrm>
              <a:off x="528447" y="19369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扫描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5352" y="1800225"/>
              <a:ext cx="419100" cy="3943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9699" y="193690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34452" y="180022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00955" y="19369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53552" y="180022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20055" y="19369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72652" y="180022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39155" y="19369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91752" y="180022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58255" y="19369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10852" y="180022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77355" y="19369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29952" y="180022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96455" y="19369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49052" y="180022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15555" y="19369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268152" y="180022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34655" y="19369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9783" y="22483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08883" y="22483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27983" y="22483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47083" y="22483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66183" y="22483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5283" y="22483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04383" y="22483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23483" y="22483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42583" y="22483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43761" y="1558766"/>
              <a:ext cx="768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2344102" y="17049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762861" y="1558766"/>
              <a:ext cx="768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2763202" y="17049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50" name="c1-card-2"/>
          <p:cNvGrpSpPr/>
          <p:nvPr/>
        </p:nvGrpSpPr>
        <p:grpSpPr>
          <a:xfrm>
            <a:off x="533400" y="2555558"/>
            <a:ext cx="5626418" cy="2175510"/>
            <a:chOff x="533400" y="2555558"/>
            <a:chExt cx="5626418" cy="2175510"/>
          </a:xfrm>
        </p:grpSpPr>
        <p:sp>
          <p:nvSpPr>
            <p:cNvPr id="40" name="Rectangle 40"/>
            <p:cNvSpPr/>
            <p:nvPr/>
          </p:nvSpPr>
          <p:spPr>
            <a:xfrm>
              <a:off x="533400" y="2555558"/>
              <a:ext cx="5626418" cy="2175510"/>
            </a:xfrm>
            <a:prstGeom prst="roundRect">
              <a:avLst>
                <a:gd name="adj" fmla="val 613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1520" y="275367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2960" y="27879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14831" y="278844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两个指针合起来只把数组覆盖一遍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39140" y="319182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5731" y="3132296"/>
              <a:ext cx="47574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 从 m+1 走到停住的位置，每经过一格做一次关键词比较；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 从 n 往回走，同样每格一次。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39140" y="378142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95731" y="3720941"/>
              <a:ext cx="48385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两人相向而行，合起来把 R[m+1..n] 恰好覆盖一遍，只在交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错处多看至多两格。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9140" y="43710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5731" y="4310539"/>
              <a:ext cx="29741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于是比较次数 ≤ (n−1) + 2 = </a:t>
              </a:r>
              <a:r>
                <a:rPr lang="en-US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n+1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6" name="c1-callout-3"/>
          <p:cNvGrpSpPr/>
          <p:nvPr/>
        </p:nvGrpSpPr>
        <p:grpSpPr>
          <a:xfrm>
            <a:off x="533400" y="4911090"/>
            <a:ext cx="5626418" cy="756285"/>
            <a:chOff x="533400" y="4911090"/>
            <a:chExt cx="5626418" cy="756285"/>
          </a:xfrm>
        </p:grpSpPr>
        <p:sp>
          <p:nvSpPr>
            <p:cNvPr id="51" name="Rectangle 51"/>
            <p:cNvSpPr/>
            <p:nvPr/>
          </p:nvSpPr>
          <p:spPr>
            <a:xfrm>
              <a:off x="533400" y="4911090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189220"/>
              <a:ext cx="200026" cy="200026"/>
              <a:chOff x="738188" y="5189220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1892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04863" y="52670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5059204"/>
              <a:ext cx="460413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 万组随机输入实测，一次 Partition 的比较次数从未超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过 n+1；升序的 1 2 3 4 5 正好取到上界 6。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464618" y="1524000"/>
            <a:ext cx="5193982" cy="1768792"/>
            <a:chOff x="6464618" y="1524000"/>
            <a:chExt cx="5193982" cy="1768792"/>
          </a:xfrm>
        </p:grpSpPr>
        <p:sp>
          <p:nvSpPr>
            <p:cNvPr id="57" name="Rectangle 57"/>
            <p:cNvSpPr/>
            <p:nvPr/>
          </p:nvSpPr>
          <p:spPr>
            <a:xfrm>
              <a:off x="6464618" y="1524000"/>
              <a:ext cx="5193982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4142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700838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92278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建模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84148" y="1756886"/>
              <a:ext cx="29551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Partition 的代价统一记作 n+1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93598" y="2100739"/>
              <a:ext cx="45680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分析平均情况时，把每次分划的代价都按上界 n+1 计，得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到的 T(n) 是平均比较次数的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上界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94742" y="2686050"/>
              <a:ext cx="43784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实测 n=800 的随机数据平均比较 9235 次，按上界算出来是 9500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次，低 3%。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464618" y="3472815"/>
            <a:ext cx="5193982" cy="2194560"/>
            <a:chOff x="6464618" y="3472815"/>
            <a:chExt cx="5193982" cy="2194560"/>
          </a:xfrm>
        </p:grpSpPr>
        <p:sp>
          <p:nvSpPr>
            <p:cNvPr id="65" name="Rectangle 65"/>
            <p:cNvSpPr/>
            <p:nvPr/>
          </p:nvSpPr>
          <p:spPr>
            <a:xfrm>
              <a:off x="6464618" y="3472815"/>
              <a:ext cx="5193982" cy="2194560"/>
            </a:xfrm>
            <a:prstGeom prst="roundRect">
              <a:avLst>
                <a:gd name="adj" fmla="val 60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74142" y="3606165"/>
              <a:ext cx="47625" cy="192786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700838" y="367093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84277" y="37052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概率假设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50848" y="3706654"/>
              <a:ext cx="17143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种分划位置等概率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93598" y="4049554"/>
              <a:ext cx="44869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对随机排列的输入，基准元素落在第 1、2、…、n 个位置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的概率各为 1/n。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93598" y="4639151"/>
              <a:ext cx="34649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种情况：左段长 k−1，右段长 n−k。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73" name="Rectangle 73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511" y="6011704"/>
              <a:ext cx="80117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这个 1/n 的假设只对“各种排列等可能”的输入成立；对人为构造的有序数据，仍然是 </a:t>
              </a:r>
              <a:r>
                <a:rPr lang="en-US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时空复杂度：分划位置决定一切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平均情况（二）：列出递推式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cells-1"/>
          <p:cNvGrpSpPr/>
          <p:nvPr/>
        </p:nvGrpSpPr>
        <p:grpSpPr>
          <a:xfrm>
            <a:off x="528066" y="1568291"/>
            <a:ext cx="4338256" cy="863918"/>
            <a:chOff x="528066" y="1568291"/>
            <a:chExt cx="4338256" cy="863918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947862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k 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94422" y="1809750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513522" y="1809750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932622" y="1809750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51722" y="1809750"/>
              <a:ext cx="419100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512813" y="19478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770822" y="1809750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189922" y="1809750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609022" y="1809750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028122" y="1809750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47222" y="1809750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68853" y="22702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87953" y="22702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07053" y="22702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6153" y="22702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5253" y="22702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64353" y="22702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83453" y="22702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02553" y="22702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21653" y="22702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79475" y="1568291"/>
              <a:ext cx="3635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k 位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2523172" y="17145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38" name="c1-kv-2"/>
          <p:cNvGrpSpPr/>
          <p:nvPr/>
        </p:nvGrpSpPr>
        <p:grpSpPr>
          <a:xfrm>
            <a:off x="526161" y="2606516"/>
            <a:ext cx="5201221" cy="1121665"/>
            <a:chOff x="526161" y="2606516"/>
            <a:chExt cx="5201221" cy="1121665"/>
          </a:xfrm>
        </p:grpSpPr>
        <p:sp>
          <p:nvSpPr>
            <p:cNvPr id="30" name="TextBox 30"/>
            <p:cNvSpPr txBox="1"/>
            <p:nvPr/>
          </p:nvSpPr>
          <p:spPr>
            <a:xfrm>
              <a:off x="526161" y="2606516"/>
              <a:ext cx="9132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Partition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52016" y="2606516"/>
              <a:ext cx="960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n+1 次比较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9117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161" y="30275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排左段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52016" y="3027521"/>
              <a:ext cx="6631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T(k−1)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3337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6161" y="34494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排右段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52016" y="3449479"/>
              <a:ext cx="657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T(n−k)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16"/>
              <p:cNvSpPr txBox="1">
                <a:spLocks noGrp="1"/>
              </p:cNvSpPr>
              <p:nvPr/>
            </p:nvSpPr>
            <p:spPr>
              <a:xfrm>
                <a:off x="533400" y="3857625"/>
                <a:ext cx="5193982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6" name="c1-callout-4"/>
          <p:cNvGrpSpPr/>
          <p:nvPr/>
        </p:nvGrpSpPr>
        <p:grpSpPr>
          <a:xfrm>
            <a:off x="533400" y="4385310"/>
            <a:ext cx="5193982" cy="1863090"/>
            <a:chOff x="533400" y="4385310"/>
            <a:chExt cx="5193982" cy="1863090"/>
          </a:xfrm>
        </p:grpSpPr>
        <p:sp>
          <p:nvSpPr>
            <p:cNvPr id="40" name="Rectangle 40"/>
            <p:cNvSpPr/>
            <p:nvPr/>
          </p:nvSpPr>
          <p:spPr>
            <a:xfrm>
              <a:off x="533400" y="4385310"/>
              <a:ext cx="5193982" cy="1863090"/>
            </a:xfrm>
            <a:prstGeom prst="roundRect">
              <a:avLst>
                <a:gd name="adj" fmla="val 613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216843"/>
              <a:ext cx="200026" cy="200025"/>
              <a:chOff x="738188" y="5216843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2168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52612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53724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5085874"/>
              <a:ext cx="414426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k=1 时左段为空、右段长 n−1，这正是最坏情况那一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支。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032182" y="1524000"/>
            <a:ext cx="5626418" cy="1022032"/>
            <a:chOff x="6032182" y="1524000"/>
            <a:chExt cx="5626418" cy="1022032"/>
          </a:xfrm>
        </p:grpSpPr>
        <p:sp>
          <p:nvSpPr>
            <p:cNvPr id="47" name="Rectangle 47"/>
            <p:cNvSpPr/>
            <p:nvPr/>
          </p:nvSpPr>
          <p:spPr>
            <a:xfrm>
              <a:off x="6032182" y="1524000"/>
              <a:ext cx="5626418" cy="1022032"/>
            </a:xfrm>
            <a:prstGeom prst="roundRect">
              <a:avLst>
                <a:gd name="adj" fmla="val 13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41708" y="1657350"/>
              <a:ext cx="47625" cy="7553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74118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60376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全概率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17448" y="1767364"/>
              <a:ext cx="15834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n 种情况取平均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66879" y="2119789"/>
              <a:ext cx="46214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每种分划位置的概率都是 1/n，把 n 个式子加权平均：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formula17"/>
              <p:cNvSpPr txBox="1">
                <a:spLocks noGrp="1"/>
              </p:cNvSpPr>
              <p:nvPr/>
            </p:nvSpPr>
            <p:spPr>
              <a:xfrm>
                <a:off x="6032182" y="2730818"/>
                <a:ext cx="5626418" cy="566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formula18"/>
              <p:cNvSpPr txBox="1">
                <a:spLocks noGrp="1"/>
              </p:cNvSpPr>
              <p:nvPr/>
            </p:nvSpPr>
            <p:spPr>
              <a:xfrm>
                <a:off x="6032182" y="3483292"/>
                <a:ext cx="5626418" cy="566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61" name="c2-card-4"/>
          <p:cNvGrpSpPr/>
          <p:nvPr/>
        </p:nvGrpSpPr>
        <p:grpSpPr>
          <a:xfrm>
            <a:off x="6032182" y="4235768"/>
            <a:ext cx="5626418" cy="1293495"/>
            <a:chOff x="6032182" y="4235768"/>
            <a:chExt cx="5626418" cy="1293495"/>
          </a:xfrm>
        </p:grpSpPr>
        <p:sp>
          <p:nvSpPr>
            <p:cNvPr id="56" name="Rectangle 56"/>
            <p:cNvSpPr/>
            <p:nvPr/>
          </p:nvSpPr>
          <p:spPr>
            <a:xfrm>
              <a:off x="6032182" y="4235768"/>
              <a:ext cx="5626418" cy="1293495"/>
            </a:xfrm>
            <a:prstGeom prst="roundRect">
              <a:avLst>
                <a:gd name="adj" fmla="val 1030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36018" y="443960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17374" y="447532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关键一步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21271" y="447913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两个求和其实是同一串数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28779" y="4830604"/>
              <a:ext cx="49138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从 1 到 n 时，T(k−1) 跑遍 T(0)…T(n−1)，T(n−k) 也跑遍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T(0)…T(n−1)，所以括号里的和等于 </a:t>
              </a:r>
              <a:r>
                <a:rPr lang="en-US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2·[T(0)+…+T(n−1)]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formula19"/>
              <p:cNvSpPr txBox="1">
                <a:spLocks noGrp="1"/>
              </p:cNvSpPr>
              <p:nvPr/>
            </p:nvSpPr>
            <p:spPr>
              <a:xfrm>
                <a:off x="6032182" y="5714048"/>
                <a:ext cx="5626418" cy="534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时空复杂度：分划位置决定一切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平均情况（三）：两式相减，把求和号消掉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685" y="1542574"/>
            <a:ext cx="5132070" cy="441008"/>
            <a:chOff x="527685" y="1542574"/>
            <a:chExt cx="5132070" cy="441008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542574"/>
              <a:ext cx="513207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递推式里带着一个长度随 n 变化的求和，没法直接迭代。标准办法是两边乘 n，再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n−1 替换 n，然后相减。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40"/>
              <p:cNvSpPr txBox="1">
                <a:spLocks noGrp="1"/>
              </p:cNvSpPr>
              <p:nvPr/>
            </p:nvSpPr>
            <p:spPr>
              <a:xfrm>
                <a:off x="533400" y="2114550"/>
                <a:ext cx="541020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41"/>
              <p:cNvSpPr txBox="1">
                <a:spLocks noGrp="1"/>
              </p:cNvSpPr>
              <p:nvPr/>
            </p:nvSpPr>
            <p:spPr>
              <a:xfrm>
                <a:off x="533400" y="2792730"/>
                <a:ext cx="541020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llout-4"/>
          <p:cNvGrpSpPr/>
          <p:nvPr/>
        </p:nvGrpSpPr>
        <p:grpSpPr>
          <a:xfrm>
            <a:off x="533400" y="3470910"/>
            <a:ext cx="5410200" cy="729615"/>
            <a:chOff x="533400" y="3470910"/>
            <a:chExt cx="5410200" cy="729615"/>
          </a:xfrm>
        </p:grpSpPr>
        <p:sp>
          <p:nvSpPr>
            <p:cNvPr id="11" name="Rectangle 11"/>
            <p:cNvSpPr/>
            <p:nvPr/>
          </p:nvSpPr>
          <p:spPr>
            <a:xfrm>
              <a:off x="533400" y="347091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3735707"/>
              <a:ext cx="200023" cy="200023"/>
              <a:chOff x="738188" y="3735707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37357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38023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892" y="3616642"/>
              <a:ext cx="44028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左边这两式相减，两个求和只差一项 T(n−1)，求和号就消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失了。</a:t>
              </a:r>
            </a:p>
          </p:txBody>
        </p:sp>
      </p:grpSp>
      <p:grpSp>
        <p:nvGrpSpPr>
          <p:cNvPr id="24" name="c1-card-5"/>
          <p:cNvGrpSpPr/>
          <p:nvPr/>
        </p:nvGrpSpPr>
        <p:grpSpPr>
          <a:xfrm>
            <a:off x="533400" y="4374832"/>
            <a:ext cx="5410200" cy="1970722"/>
            <a:chOff x="533400" y="4374832"/>
            <a:chExt cx="5410200" cy="1970722"/>
          </a:xfrm>
        </p:grpSpPr>
        <p:sp>
          <p:nvSpPr>
            <p:cNvPr id="17" name="Rectangle 17"/>
            <p:cNvSpPr/>
            <p:nvPr/>
          </p:nvSpPr>
          <p:spPr>
            <a:xfrm>
              <a:off x="533400" y="4374832"/>
              <a:ext cx="5410200" cy="1970722"/>
            </a:xfrm>
            <a:prstGeom prst="roundRect">
              <a:avLst>
                <a:gd name="adj" fmla="val 67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508182"/>
              <a:ext cx="47625" cy="17040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3905" y="4567238"/>
              <a:ext cx="99536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9321" y="4601528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为什么先乘 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66710" y="460724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清掉分母，再造出一个可以相减的式子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" y="4941570"/>
              <a:ext cx="475430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原式里有个 1/n 和一个到 n−1 的求和。两边乘 n 之后右边成了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n(n+1) + 2ΣT(k)；把 n 换成 n−1 再写一遍，求和恰好只少了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最后一项 T(n−1)。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8190" y="5754529"/>
              <a:ext cx="51317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边界：T(0) = T(1) = 0，长度 0 或 1 的子数组直接返回，一次比较也不做。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42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2n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43"/>
              <p:cNvSpPr txBox="1">
                <a:spLocks noGrp="1"/>
              </p:cNvSpPr>
              <p:nvPr/>
            </p:nvSpPr>
            <p:spPr>
              <a:xfrm>
                <a:off x="6248400" y="2004060"/>
                <a:ext cx="5410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2n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3" name="c2-card-3"/>
          <p:cNvGrpSpPr/>
          <p:nvPr/>
        </p:nvGrpSpPr>
        <p:grpSpPr>
          <a:xfrm>
            <a:off x="6248400" y="2484120"/>
            <a:ext cx="5410200" cy="969645"/>
            <a:chOff x="6248400" y="2484120"/>
            <a:chExt cx="5410200" cy="969645"/>
          </a:xfrm>
        </p:grpSpPr>
        <p:sp>
          <p:nvSpPr>
            <p:cNvPr id="27" name="Rectangle 27"/>
            <p:cNvSpPr/>
            <p:nvPr/>
          </p:nvSpPr>
          <p:spPr>
            <a:xfrm>
              <a:off x="6248400" y="2484120"/>
              <a:ext cx="5410200" cy="969645"/>
            </a:xfrm>
            <a:prstGeom prst="roundRect">
              <a:avLst>
                <a:gd name="adj" fmla="val 13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2617470"/>
              <a:ext cx="47625" cy="7029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8905" y="267652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2344" y="27108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再来一步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29297" y="2715577"/>
              <a:ext cx="3063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两边同除 n(n+1)，凑成可裂项的形式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2047" y="304990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目的是让等式两边长得一模一样，只差一个下标。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44"/>
              <p:cNvSpPr txBox="1">
                <a:spLocks noGrp="1"/>
              </p:cNvSpPr>
              <p:nvPr/>
            </p:nvSpPr>
            <p:spPr>
              <a:xfrm>
                <a:off x="6248400" y="3628072"/>
                <a:ext cx="54102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d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0" name="c2-callout-5"/>
          <p:cNvGrpSpPr/>
          <p:nvPr/>
        </p:nvGrpSpPr>
        <p:grpSpPr>
          <a:xfrm>
            <a:off x="6248400" y="4214812"/>
            <a:ext cx="5410200" cy="729615"/>
            <a:chOff x="6248400" y="4214812"/>
            <a:chExt cx="5410200" cy="729615"/>
          </a:xfrm>
        </p:grpSpPr>
        <p:sp>
          <p:nvSpPr>
            <p:cNvPr id="35" name="Rectangle 35"/>
            <p:cNvSpPr/>
            <p:nvPr/>
          </p:nvSpPr>
          <p:spPr>
            <a:xfrm>
              <a:off x="6248400" y="421481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453188" y="4479608"/>
              <a:ext cx="200026" cy="200026"/>
              <a:chOff x="6453188" y="447960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453188" y="4479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19863" y="455739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755892" y="4361498"/>
              <a:ext cx="441140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记 Sₙ = T(n)/(n+1)，就得到最简单的差分式 Sₙ − Sₙ₋₁ =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2/(n+1)。</a:t>
              </a:r>
            </a:p>
          </p:txBody>
        </p:sp>
      </p:grpSp>
      <p:grpSp>
        <p:nvGrpSpPr>
          <p:cNvPr id="47" name="c2-card-6"/>
          <p:cNvGrpSpPr/>
          <p:nvPr/>
        </p:nvGrpSpPr>
        <p:grpSpPr>
          <a:xfrm>
            <a:off x="6248400" y="5119688"/>
            <a:ext cx="5410200" cy="1226820"/>
            <a:chOff x="6248400" y="5119688"/>
            <a:chExt cx="5410200" cy="1226820"/>
          </a:xfrm>
        </p:grpSpPr>
        <p:sp>
          <p:nvSpPr>
            <p:cNvPr id="41" name="Rectangle 41"/>
            <p:cNvSpPr/>
            <p:nvPr/>
          </p:nvSpPr>
          <p:spPr>
            <a:xfrm>
              <a:off x="6248400" y="5119688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5253038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8905" y="53120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70345" y="534638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62597" y="5352098"/>
              <a:ext cx="1972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为什么偏偏除以 n(n+1)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2047" y="5685473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只有这样左右两边才长成同一个式子、只差一个下标，接下来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才能像等差数列那样逐项相消。这一步叫裂项。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90243" cy="909257"/>
            <a:chOff x="520446" y="342900"/>
            <a:chExt cx="90902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时空复杂度：分划位置决定一切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902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平均情况（四）：累加得到调和级数，答案是 1.386nlog₂n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884998"/>
            <a:chOff x="533400" y="1524000"/>
            <a:chExt cx="5410200" cy="18849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累加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把差分式一层层写下来再相加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7213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Sₙ − Sₙ₋₁ = 2/(n+1)，Sₙ₋₁ − Sₙ₋₂ = 2/n，……，S₃ − S₂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2/4。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096" y="2711291"/>
              <a:ext cx="46041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左边逐项抵消，只剩 Sₙ − S₂。边界 T(2)=3，故 S₂ = 3/3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53"/>
              <p:cNvSpPr txBox="1">
                <a:spLocks noGrp="1"/>
              </p:cNvSpPr>
              <p:nvPr/>
            </p:nvSpPr>
            <p:spPr>
              <a:xfrm>
                <a:off x="533400" y="3593782"/>
                <a:ext cx="5410200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+⋯+</m:t>
                          </m:r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54"/>
              <p:cNvSpPr txBox="1">
                <a:spLocks noGrp="1"/>
              </p:cNvSpPr>
              <p:nvPr/>
            </p:nvSpPr>
            <p:spPr>
              <a:xfrm>
                <a:off x="533400" y="4216718"/>
                <a:ext cx="5410200" cy="453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dx</m:t>
                              </m:r>
                            </m:num>
                            <m:den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llout-4"/>
          <p:cNvGrpSpPr/>
          <p:nvPr/>
        </p:nvGrpSpPr>
        <p:grpSpPr>
          <a:xfrm>
            <a:off x="533400" y="4855845"/>
            <a:ext cx="5410200" cy="1408748"/>
            <a:chOff x="533400" y="4855845"/>
            <a:chExt cx="5410200" cy="1408748"/>
          </a:xfrm>
        </p:grpSpPr>
        <p:sp>
          <p:nvSpPr>
            <p:cNvPr id="17" name="Rectangle 17"/>
            <p:cNvSpPr/>
            <p:nvPr/>
          </p:nvSpPr>
          <p:spPr>
            <a:xfrm>
              <a:off x="533400" y="4855845"/>
              <a:ext cx="5410200" cy="1408748"/>
            </a:xfrm>
            <a:prstGeom prst="roundRect">
              <a:avLst>
                <a:gd name="adj" fmla="val 811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459732"/>
              <a:ext cx="200023" cy="200023"/>
              <a:chOff x="738188" y="5459732"/>
              <a:chExt cx="200023" cy="2000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45973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1538" y="55264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511" y="5328761"/>
              <a:ext cx="443280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调和级数没有初等闭式，用积分夹逼即可：Sₙ ≈ 2ln n，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于是 T(n) = (n+1)Sₙ ≈ 2n·ln n。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55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2n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2n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func>
                            <m:funcPr/>
                            <m:fNam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56"/>
              <p:cNvSpPr txBox="1">
                <a:spLocks noGrp="1"/>
              </p:cNvSpPr>
              <p:nvPr/>
            </p:nvSpPr>
            <p:spPr>
              <a:xfrm>
                <a:off x="6248400" y="2052638"/>
                <a:ext cx="54102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1.386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⋅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func>
                            <m:funcPr/>
                            <m:fNam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4" name="c2-card-3"/>
          <p:cNvGrpSpPr/>
          <p:nvPr/>
        </p:nvGrpSpPr>
        <p:grpSpPr>
          <a:xfrm>
            <a:off x="6248400" y="2580322"/>
            <a:ext cx="5410200" cy="1613535"/>
            <a:chOff x="6248400" y="2580322"/>
            <a:chExt cx="5410200" cy="1613535"/>
          </a:xfrm>
        </p:grpSpPr>
        <p:sp>
          <p:nvSpPr>
            <p:cNvPr id="25" name="Rectangle 25"/>
            <p:cNvSpPr/>
            <p:nvPr/>
          </p:nvSpPr>
          <p:spPr>
            <a:xfrm>
              <a:off x="6248400" y="2580322"/>
              <a:ext cx="5410200" cy="1613535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2713672"/>
              <a:ext cx="47625" cy="13468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90335" y="27841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80543" y="28198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91744" y="2824639"/>
              <a:ext cx="30980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平均情况 O(nlogn)，常系数 1.386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97955" y="32356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4546" y="3176111"/>
              <a:ext cx="40384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2·ln2 = 1.386294，这就是那个常系数的来历。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97955" y="355568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4546" y="3496151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前提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：输入的各种排列等可能。对固定的坏输入仍是</a:t>
              </a:r>
              <a:br/>
              <a:r>
                <a:rPr lang="en-US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2" name="c2-card-4"/>
          <p:cNvGrpSpPr/>
          <p:nvPr/>
        </p:nvGrpSpPr>
        <p:grpSpPr>
          <a:xfrm>
            <a:off x="6248400" y="4379595"/>
            <a:ext cx="5410200" cy="1884998"/>
            <a:chOff x="6248400" y="4379595"/>
            <a:chExt cx="5410200" cy="1884998"/>
          </a:xfrm>
        </p:grpSpPr>
        <p:sp>
          <p:nvSpPr>
            <p:cNvPr id="35" name="Rectangle 35"/>
            <p:cNvSpPr/>
            <p:nvPr/>
          </p:nvSpPr>
          <p:spPr>
            <a:xfrm>
              <a:off x="6248400" y="4379595"/>
              <a:ext cx="541020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4512945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0335" y="45834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0543" y="46191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91744" y="4622959"/>
              <a:ext cx="21160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推导的边界应取 T(2)=3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3096" y="4974431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源课件把差分式一路推到 S₂ − S₁ = 2/3，但 n=2 时差分式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尚不成立（长度 1 的子数组不做分划）。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3096" y="5565934"/>
              <a:ext cx="463118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T(2)=3 定边界的精确解是 2(n+1)(Hₙ₊₁ − 4/3)，与课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件结果只差一个 O(n) 的低阶项，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结论不受影响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05772" cy="909257"/>
            <a:chOff x="520446" y="342900"/>
            <a:chExt cx="35057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时空复杂度：分划位置决定一切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三种情况汇总与稳定性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28066" y="1524000"/>
            <a:ext cx="5847969" cy="2308479"/>
            <a:chOff x="528066" y="1524000"/>
            <a:chExt cx="5847969" cy="230847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510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1434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1642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1850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05406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179320" y="1939290"/>
              <a:ext cx="138303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269808" y="2054066"/>
              <a:ext cx="673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71888" y="2054066"/>
              <a:ext cx="673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O(nlogn)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983480" y="1939290"/>
              <a:ext cx="1383030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73967" y="205406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典型输入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69808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每次对半劈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1888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随机排列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73967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有序或逆序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递归深度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69808" y="2865596"/>
              <a:ext cx="590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71888" y="2865596"/>
              <a:ext cx="590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73967" y="286559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32713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空间复杂度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69808" y="3271361"/>
              <a:ext cx="590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71888" y="3271361"/>
              <a:ext cx="590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73967" y="3271361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524000"/>
              <a:ext cx="584263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16503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56711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96919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066" y="362712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快速排序的时空复杂度与稳定性</a:t>
              </a:r>
            </a:p>
          </p:txBody>
        </p:sp>
      </p:grpSp>
      <p:grpSp>
        <p:nvGrpSpPr>
          <p:cNvPr id="55" name="c1-card-2"/>
          <p:cNvGrpSpPr/>
          <p:nvPr/>
        </p:nvGrpSpPr>
        <p:grpSpPr>
          <a:xfrm>
            <a:off x="533400" y="3966210"/>
            <a:ext cx="5842635" cy="2264092"/>
            <a:chOff x="533400" y="3966210"/>
            <a:chExt cx="5842635" cy="2264092"/>
          </a:xfrm>
        </p:grpSpPr>
        <p:sp>
          <p:nvSpPr>
            <p:cNvPr id="41" name="Rectangle 41"/>
            <p:cNvSpPr/>
            <p:nvPr/>
          </p:nvSpPr>
          <p:spPr>
            <a:xfrm>
              <a:off x="533400" y="3966210"/>
              <a:ext cx="5842635" cy="2264092"/>
            </a:xfrm>
            <a:prstGeom prst="roundRect">
              <a:avLst>
                <a:gd name="adj" fmla="val 58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4099560"/>
              <a:ext cx="47625" cy="19973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3905" y="41586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5345" y="41929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47597" y="419862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这张表的三个默认条件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63905" y="452056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9583" y="455895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4702" y="4532948"/>
              <a:ext cx="48400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基准固定取子数组第 1 个元素；换成随机或三数取中，最坏情况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的概率会大幅下降。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63905" y="508063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19583" y="511902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4702" y="509206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空间只计递归栈，数组本身是原地重排。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63905" y="538257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19583" y="54209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4702" y="5394960"/>
              <a:ext cx="34394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指当前子数组长度，不是原始数组长度。</a:t>
              </a:r>
            </a:p>
          </p:txBody>
        </p:sp>
      </p:grpSp>
      <p:grpSp>
        <p:nvGrpSpPr>
          <p:cNvPr id="76" name="c2-cells-1"/>
          <p:cNvGrpSpPr/>
          <p:nvPr/>
        </p:nvGrpSpPr>
        <p:grpSpPr>
          <a:xfrm>
            <a:off x="6675501" y="1524000"/>
            <a:ext cx="1796034" cy="1315879"/>
            <a:chOff x="6675501" y="1524000"/>
            <a:chExt cx="1796034" cy="1315879"/>
          </a:xfrm>
        </p:grpSpPr>
        <p:sp>
          <p:nvSpPr>
            <p:cNvPr id="56" name="TextBox 56"/>
            <p:cNvSpPr txBox="1"/>
            <p:nvPr/>
          </p:nvSpPr>
          <p:spPr>
            <a:xfrm>
              <a:off x="6675501" y="164973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排序前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214235" y="1524000"/>
              <a:ext cx="41910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77636" y="16497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633335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55921" y="16497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3*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052435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215836" y="16497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88666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07766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26866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75501" y="236791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分划后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214235" y="224218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377636" y="23679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633335" y="2242185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755921" y="23679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3*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052435" y="2242185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215836" y="23679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388666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07766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26866" y="26779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85" name="c2-card-2"/>
          <p:cNvGrpSpPr/>
          <p:nvPr/>
        </p:nvGrpSpPr>
        <p:grpSpPr>
          <a:xfrm>
            <a:off x="6680835" y="2979420"/>
            <a:ext cx="4977765" cy="2346008"/>
            <a:chOff x="6680835" y="2979420"/>
            <a:chExt cx="4977765" cy="2346008"/>
          </a:xfrm>
        </p:grpSpPr>
        <p:sp>
          <p:nvSpPr>
            <p:cNvPr id="77" name="Rectangle 77"/>
            <p:cNvSpPr/>
            <p:nvPr/>
          </p:nvSpPr>
          <p:spPr>
            <a:xfrm>
              <a:off x="6680835" y="2979420"/>
              <a:ext cx="4977765" cy="2346008"/>
            </a:xfrm>
            <a:prstGeom prst="roundRect">
              <a:avLst>
                <a:gd name="adj" fmla="val 56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690360" y="3112770"/>
              <a:ext cx="47625" cy="20793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911340" y="317182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002780" y="32061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495032" y="3211830"/>
              <a:ext cx="26897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3, 3*, 2 验证快速排序不稳定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904482" y="3546158"/>
              <a:ext cx="42742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R[1] = 3。L 从 2 出发，3* 与 2 都不大于 3，L 一路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走到 4 越界。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904482" y="4106227"/>
              <a:ext cx="43428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从 3 出发，2 不大于 3，立刻停住。此时 L &gt; G，退出循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环。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904482" y="4665345"/>
              <a:ext cx="43428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收尾执行 swap(R[1], R[3])，序列变成 2, 3*, 3。原本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排在前面的 3 跑到了 3* 后面，所以 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不稳定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92" name="c2-callout-3"/>
          <p:cNvGrpSpPr/>
          <p:nvPr/>
        </p:nvGrpSpPr>
        <p:grpSpPr>
          <a:xfrm>
            <a:off x="6680835" y="5500688"/>
            <a:ext cx="4977765" cy="729615"/>
            <a:chOff x="6680835" y="5500688"/>
            <a:chExt cx="4977765" cy="729615"/>
          </a:xfrm>
        </p:grpSpPr>
        <p:sp>
          <p:nvSpPr>
            <p:cNvPr id="86" name="Rectangle 86"/>
            <p:cNvSpPr/>
            <p:nvPr/>
          </p:nvSpPr>
          <p:spPr>
            <a:xfrm>
              <a:off x="6680835" y="5500688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6885623" y="5765483"/>
              <a:ext cx="200026" cy="200025"/>
              <a:chOff x="6885623" y="5765483"/>
              <a:chExt cx="200026" cy="20002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6885623" y="57654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6925361" y="58099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960077" y="59210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7188327" y="5647373"/>
              <a:ext cx="40770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这是源课件第 43 页留给课下验证的题，此处补出完整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过程。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24884" cy="3351847"/>
            <a:chOff x="667512" y="1835468"/>
            <a:chExt cx="402488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八条优化策略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从换个基准到换个算法，每条各治一种病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小区间转插入排序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随机基准与三数取中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尾递归与显式栈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三路分划与荷兰国旗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1344" cy="909257"/>
            <a:chOff x="520446" y="342900"/>
            <a:chExt cx="6511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八条优化策略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1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1：小区间不值得递归，交给插入排序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010144" cy="264033"/>
            <a:chOff x="526542" y="1545907"/>
            <a:chExt cx="801014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待排元素很少时，为极小的子数组产生大量递归调用得不偿失，这时快速排序反而不如插入排序快。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2088832"/>
            <a:chOff x="533400" y="1928812"/>
            <a:chExt cx="5410200" cy="208883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7174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 A：小区间当场插入排序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2679573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threshold = 16;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QuickSort(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- m + 1 &gt; threshold)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Partition(R, m, n);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QuickSort(R, m, j - 1);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QuickSort(R, j + 1, n);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InsertionSort(R, m, n);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187190"/>
            <a:ext cx="5410200" cy="1202055"/>
            <a:chOff x="533400" y="4187190"/>
            <a:chExt cx="5410200" cy="1202055"/>
          </a:xfrm>
        </p:grpSpPr>
        <p:sp>
          <p:nvSpPr>
            <p:cNvPr id="13" name="Rectangle 13"/>
            <p:cNvSpPr/>
            <p:nvPr/>
          </p:nvSpPr>
          <p:spPr>
            <a:xfrm>
              <a:off x="533400" y="4187190"/>
              <a:ext cx="5410200" cy="1202055"/>
            </a:xfrm>
            <a:prstGeom prst="roundRect">
              <a:avLst>
                <a:gd name="adj" fmla="val 950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688205"/>
              <a:ext cx="200026" cy="200025"/>
              <a:chOff x="738188" y="4688205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6882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47326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48437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4693920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阈值一般取 16 左右。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1928812"/>
            <a:ext cx="5410200" cy="2088832"/>
            <a:chOff x="6248400" y="1928812"/>
            <a:chExt cx="5410200" cy="2088832"/>
          </a:xfrm>
        </p:grpSpPr>
        <p:sp>
          <p:nvSpPr>
            <p:cNvPr id="20" name="Rectangle 20"/>
            <p:cNvSpPr/>
            <p:nvPr/>
          </p:nvSpPr>
          <p:spPr>
            <a:xfrm>
              <a:off x="6248400" y="1928812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080736"/>
              <a:ext cx="23770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 B：小区间先不管，最后统一排一次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6797" y="2340769"/>
              <a:ext cx="2679573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QuickSort(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- m + 1 &gt; threshold)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Partition(R, m, n);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QuickSort(R, m, j - 1);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QuickSort(R, j + 1, n);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/* 主函数： QuickSort(R, 1, n);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InsertionSort(R, 1, n);  */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248400" y="4187190"/>
            <a:ext cx="5410200" cy="1202055"/>
            <a:chOff x="6248400" y="4187190"/>
            <a:chExt cx="5410200" cy="1202055"/>
          </a:xfrm>
        </p:grpSpPr>
        <p:sp>
          <p:nvSpPr>
            <p:cNvPr id="24" name="Rectangle 24"/>
            <p:cNvSpPr/>
            <p:nvPr/>
          </p:nvSpPr>
          <p:spPr>
            <a:xfrm>
              <a:off x="6248400" y="4187190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35090" y="4373880"/>
              <a:ext cx="12306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99546" y="4406741"/>
              <a:ext cx="11017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 B 为什么也快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73162" y="4409122"/>
              <a:ext cx="2949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退出递归后整个数组已经“接近有序”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4734878"/>
              <a:ext cx="46943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每个元素离最终位置不超过 threshold 格，插入排序在这种序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列上只做 O(n·threshold) 次移动。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30" name="Rectangle 30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892" y="5779770"/>
              <a:ext cx="99835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实测 n=4000 随机数据，把阈值从 1 调到 8，含插入排序在内的总比较次数从 62309 降到 60165；调到 128 反而涨到 119122，因为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插入排序的 O(k²) 压过来了。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41187" cy="909257"/>
            <a:chOff x="520446" y="342900"/>
            <a:chExt cx="7541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八条优化策略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41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2：随机选基准，把最坏输入变成小概率事件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884998"/>
            <a:chOff x="533400" y="1524000"/>
            <a:chExt cx="5410200" cy="18849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84998"/>
            </a:xfrm>
            <a:prstGeom prst="roundRect">
              <a:avLst>
                <a:gd name="adj" fmla="val 70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4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病根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38644" y="1767364"/>
              <a:ext cx="19657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基准固定取第 1 个元素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119789"/>
              <a:ext cx="47303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数组有序时，第 1 个元素恒为当前子数组的最小值，分划年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年落在最边上。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9996" y="2711291"/>
              <a:ext cx="47213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只要基准的选取与数据排列无关，这种“总是撞上最坏”的情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况就没了。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593782"/>
            <a:ext cx="5410200" cy="1110615"/>
            <a:chOff x="533400" y="3593782"/>
            <a:chExt cx="5410200" cy="1110615"/>
          </a:xfrm>
        </p:grpSpPr>
        <p:sp>
          <p:nvSpPr>
            <p:cNvPr id="14" name="Rectangle 14"/>
            <p:cNvSpPr/>
            <p:nvPr/>
          </p:nvSpPr>
          <p:spPr>
            <a:xfrm>
              <a:off x="533400" y="3593782"/>
              <a:ext cx="5410200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74570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随机化基准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035" y="4008596"/>
              <a:ext cx="432130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rand() % (n - m + 1) + m;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m..n 间的随机数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swap(&amp;R[m], &amp;R[k]);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之后照常把 R[m] 当作基准元素 */</a:t>
              </a:r>
            </a:p>
          </p:txBody>
        </p:sp>
      </p:grpSp>
      <p:grpSp>
        <p:nvGrpSpPr>
          <p:cNvPr id="24" name="c1-callout-3"/>
          <p:cNvGrpSpPr/>
          <p:nvPr/>
        </p:nvGrpSpPr>
        <p:grpSpPr>
          <a:xfrm>
            <a:off x="533400" y="4890135"/>
            <a:ext cx="5410200" cy="756285"/>
            <a:chOff x="533400" y="4890135"/>
            <a:chExt cx="5410200" cy="756285"/>
          </a:xfrm>
        </p:grpSpPr>
        <p:sp>
          <p:nvSpPr>
            <p:cNvPr id="18" name="Rectangle 18"/>
            <p:cNvSpPr/>
            <p:nvPr/>
          </p:nvSpPr>
          <p:spPr>
            <a:xfrm>
              <a:off x="533400" y="4890135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26129" y="5164573"/>
              <a:ext cx="224134" cy="192560"/>
              <a:chOff x="726129" y="5164573"/>
              <a:chExt cx="224134" cy="19256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38200" y="52349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6129" y="51645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3127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5037296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只能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降低</a:t>
              </a: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最坏情况发生的概率，不能杜绝：运气极差时随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机数仍可能次次挑中最小值。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2476500"/>
            <a:chOff x="6248400" y="1524000"/>
            <a:chExt cx="5410200" cy="24765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90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80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91744" y="176736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随机算法与确定型算法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97955" y="21793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4546" y="2119789"/>
              <a:ext cx="439674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行为不仅由输入决定、还由随机数决定的算法叫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随机算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法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；不用随机数做决策的叫确定型算法。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97955" y="2770823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4546" y="271129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确定型算法总存在某些特定输入，稳定地把它拖进最坏情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况；随机算法用同一份输入跑两次，运行时间往往不同。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97955" y="33623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4546" y="3302794"/>
              <a:ext cx="454101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对“平均很好、只有最坏很差”的算法，加一点随机性就能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把最坏情况的概率压到可以忽略。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6248400" y="4185285"/>
            <a:ext cx="5410200" cy="1461135"/>
            <a:chOff x="6248400" y="4185285"/>
            <a:chExt cx="5410200" cy="1461135"/>
          </a:xfrm>
        </p:grpSpPr>
        <p:sp>
          <p:nvSpPr>
            <p:cNvPr id="37" name="Rectangle 37"/>
            <p:cNvSpPr/>
            <p:nvPr/>
          </p:nvSpPr>
          <p:spPr>
            <a:xfrm>
              <a:off x="6248400" y="4185285"/>
              <a:ext cx="5410200" cy="1461135"/>
            </a:xfrm>
            <a:prstGeom prst="roundRect">
              <a:avLst>
                <a:gd name="adj" fmla="val 782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453188" y="4815840"/>
              <a:ext cx="200026" cy="200026"/>
              <a:chOff x="6453188" y="4815840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53188" y="48158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19863" y="489362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755511" y="4684871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实际工程里随机基准的快速排序几乎不会退化，这是最常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用的一条策略。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3" name="Rectangle 4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04084"/>
              <a:ext cx="64346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随机基准改变的是“遇到最坏情况的概率”，不改变最坏情况本身的 </a:t>
              </a:r>
              <a:r>
                <a:rPr lang="en-US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4468" cy="909257"/>
            <a:chOff x="520446" y="342900"/>
            <a:chExt cx="78844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八条优化策略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4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3：三数取中，保证基准既不是最小也不是最大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631632"/>
            <a:chOff x="533400" y="1524000"/>
            <a:chExt cx="5626418" cy="1631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4197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R[m]、R[(m+n)/2]、R[n] 三者的中位数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中位数一定不是这三个数里的最小值，也不是最大值，所以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分划至少会往两边各分一个元素，不会分到最边上。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2747486"/>
              <a:ext cx="5064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Sedgewick 与 Singleton 建议的实现：三次比较、最多四次交换。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346132"/>
            <a:ext cx="5626418" cy="1313498"/>
            <a:chOff x="533400" y="3346132"/>
            <a:chExt cx="5626418" cy="1313498"/>
          </a:xfrm>
        </p:grpSpPr>
        <p:sp>
          <p:nvSpPr>
            <p:cNvPr id="15" name="Rectangle 15"/>
            <p:cNvSpPr/>
            <p:nvPr/>
          </p:nvSpPr>
          <p:spPr>
            <a:xfrm>
              <a:off x="533400" y="3346132"/>
              <a:ext cx="5626418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498056"/>
              <a:ext cx="2033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三数取中（放在 Partition 之前）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035" y="3760946"/>
              <a:ext cx="3140710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swap(&amp;R[(m + n) / 2], &amp;R[m + 1]);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(R[m+1] &gt; R[n]) swap(&amp;R[m+1], &amp;R[n]);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(R[m]   &gt; R[n]) swap(&amp;R[m],   &amp;R[n]);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(R[m+1] &gt; R[m]) swap(&amp;R[m+1], &amp;R[m]);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4850130"/>
            <a:ext cx="5626418" cy="782955"/>
            <a:chOff x="533400" y="4850130"/>
            <a:chExt cx="5626418" cy="782955"/>
          </a:xfrm>
        </p:grpSpPr>
        <p:sp>
          <p:nvSpPr>
            <p:cNvPr id="19" name="Rectangle 19"/>
            <p:cNvSpPr/>
            <p:nvPr/>
          </p:nvSpPr>
          <p:spPr>
            <a:xfrm>
              <a:off x="533400" y="485013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5137903"/>
              <a:ext cx="224134" cy="192560"/>
              <a:chOff x="726129" y="5137903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52082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51379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2860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998720"/>
              <a:ext cx="4606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同样只是降低概率：专门构造的“杀手输入”仍能让它次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次分到最边上。</a:t>
              </a:r>
            </a:p>
          </p:txBody>
        </p:sp>
      </p:grpSp>
      <p:grpSp>
        <p:nvGrpSpPr>
          <p:cNvPr id="48" name="c2-cells-1"/>
          <p:cNvGrpSpPr/>
          <p:nvPr/>
        </p:nvGrpSpPr>
        <p:grpSpPr>
          <a:xfrm>
            <a:off x="6459284" y="1524000"/>
            <a:ext cx="4479226" cy="1009650"/>
            <a:chOff x="6459284" y="1524000"/>
            <a:chExt cx="4479226" cy="1009650"/>
          </a:xfrm>
        </p:grpSpPr>
        <p:sp>
          <p:nvSpPr>
            <p:cNvPr id="26" name="TextBox 26"/>
            <p:cNvSpPr txBox="1"/>
            <p:nvPr/>
          </p:nvSpPr>
          <p:spPr>
            <a:xfrm>
              <a:off x="6459284" y="1667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64668" y="1524000"/>
              <a:ext cx="419100" cy="4191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8208" y="16678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83768" y="15240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17308" y="16678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70286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6626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12196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8536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541068" y="1524000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74608" y="16678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59284" y="22583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下标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64668" y="2114550"/>
              <a:ext cx="8143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11347" y="2258378"/>
              <a:ext cx="1219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80008" y="2114550"/>
              <a:ext cx="8143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44104" y="2258378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m+1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494395" y="2114550"/>
              <a:ext cx="8143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96183" y="2258378"/>
              <a:ext cx="611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(m+n)/2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308782" y="2114550"/>
              <a:ext cx="8143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670303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124122" y="2114550"/>
              <a:ext cx="81438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484691" y="2258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464618" y="2724150"/>
            <a:ext cx="5193982" cy="2908935"/>
            <a:chOff x="6464618" y="2724150"/>
            <a:chExt cx="5193982" cy="2908935"/>
          </a:xfrm>
        </p:grpSpPr>
        <p:sp>
          <p:nvSpPr>
            <p:cNvPr id="49" name="Rectangle 49"/>
            <p:cNvSpPr/>
            <p:nvPr/>
          </p:nvSpPr>
          <p:spPr>
            <a:xfrm>
              <a:off x="6464618" y="2724150"/>
              <a:ext cx="5193982" cy="2908935"/>
            </a:xfrm>
            <a:prstGeom prst="roundRect">
              <a:avLst>
                <a:gd name="adj" fmla="val 458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74168" y="293370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7624" y="296941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三次比较之后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6548" y="3310890"/>
              <a:ext cx="4172902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中位数落在 R[m]，最小落在 R[m+1]，最大落在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R[n]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6548" y="3922395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前两个 if 把三者的最大值挤到 R[n]，第三个 if 在剩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下两个里把较大者放到 R[m]，那就是中位数。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6548" y="4543425"/>
              <a:ext cx="35071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 万组随机数据逐组核对，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0 组失败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6" name="Rectangle 5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991225"/>
              <a:ext cx="9740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实测 n=800 的升序输入：不取中要比较 321198 次，三数取中只要 </a:t>
              </a:r>
              <a:r>
                <a:rPr lang="zh-CN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7124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次，理论值 1.386nlog₂n = 10693。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52870" cy="909257"/>
            <a:chOff x="520446" y="342900"/>
            <a:chExt cx="70528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八条优化策略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528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4、5：尾递归转循环，并且先处理短区间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1737360"/>
            <a:chOff x="533400" y="1524000"/>
            <a:chExt cx="5410200" cy="17373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746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策略 4：把第二个递归改写成循环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426333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QuickSort(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 &lt;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Partition(R, m, n);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QuickSort(R, m, j - 1);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先递归左区间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 = j + 1;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后循环右区间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426142"/>
            <a:ext cx="5410200" cy="2039302"/>
            <a:chOff x="533400" y="3426142"/>
            <a:chExt cx="5410200" cy="2039302"/>
          </a:xfrm>
        </p:grpSpPr>
        <p:sp>
          <p:nvSpPr>
            <p:cNvPr id="11" name="Rectangle 11"/>
            <p:cNvSpPr/>
            <p:nvPr/>
          </p:nvSpPr>
          <p:spPr>
            <a:xfrm>
              <a:off x="533400" y="3426142"/>
              <a:ext cx="5410200" cy="2039302"/>
            </a:xfrm>
            <a:prstGeom prst="roundRect">
              <a:avLst>
                <a:gd name="adj" fmla="val 6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559492"/>
              <a:ext cx="47625" cy="177260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360711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1096" y="363997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还不够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3228" y="3646646"/>
              <a:ext cx="15491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最坏空间仍是 O(n)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998" y="3962876"/>
              <a:ext cx="4767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若每次分划都分到最右边，左区间长度依次是 n−1, n−2, …, 1，递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归那一支照样堆到 n 层。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7141" y="4487228"/>
              <a:ext cx="4983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实测 n=200 的逆序输入：递归深度 </a:t>
              </a:r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101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层；同样 n=200 的升序输入只有 2 层。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248400" y="1524000"/>
            <a:ext cx="5410200" cy="2616518"/>
            <a:chOff x="6248400" y="1524000"/>
            <a:chExt cx="5410200" cy="2616518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797" y="1675924"/>
              <a:ext cx="14469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策略 5：短的那段才递归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6797" y="1935956"/>
              <a:ext cx="3245866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QuickSort(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 &lt;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Partition(R, m, n);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- m &lt; n - j) {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左区间短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QuickSort(R, m, j - 1);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 = j + 1;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右区间短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QuickSort(R, j + 1, n);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n = j - 1;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248400" y="4305300"/>
            <a:ext cx="5410200" cy="1160145"/>
            <a:chOff x="6248400" y="4305300"/>
            <a:chExt cx="5410200" cy="1160145"/>
          </a:xfrm>
        </p:grpSpPr>
        <p:sp>
          <p:nvSpPr>
            <p:cNvPr id="23" name="Rectangle 23"/>
            <p:cNvSpPr/>
            <p:nvPr/>
          </p:nvSpPr>
          <p:spPr>
            <a:xfrm>
              <a:off x="6248400" y="4305300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44386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67475" y="44862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0147" y="45191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33451" y="4525804"/>
              <a:ext cx="1797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最坏空间降到 O(logn)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0998" y="4842034"/>
              <a:ext cx="45402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递归处理的一定是较短那段，长度至多是原来的一半，故深度 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log₂n + 1。实测 n=1000 随机数据最大深度 8 层。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0" name="Rectangle 3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6039326"/>
              <a:ext cx="105996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源课件的课下思考“这样能把最坏时间降为 O(nlogn) 么”：</a:t>
              </a:r>
              <a:r>
                <a:rPr lang="zh-CN" sz="1280" b="1" dirty="0">
                  <a:solidFill>
                    <a:srgbClr val="FFC2BD"/>
                  </a:solidFill>
                  <a:latin typeface="+mn-lt"/>
                  <a:ea typeface="+mn-ea"/>
                  <a:cs typeface="+mn-cs"/>
                </a:rPr>
                <a:t>不能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。它只压缩递归深度，分划次数和比较次数一次也没少，时间仍是 O(n²)。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81501" cy="909257"/>
            <a:chOff x="520446" y="342900"/>
            <a:chExt cx="54815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八条优化策略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815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6：用一个显式栈彻底消掉递归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410200" cy="2586990"/>
            <a:chOff x="533400" y="1524000"/>
            <a:chExt cx="5410200" cy="2586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栈里存待处理区间的二元组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84416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416" y="1937385"/>
              <a:ext cx="3464433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QuickSort(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Stack s;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栈需预先实现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s.Push(m, n);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(!s.Empty())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s.Pop(m, n);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 &gt;= n)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continue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补上的判断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Partition(R, m, n);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s.Push(m, j - 1);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s.Push(j + 1, n);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286250"/>
            <a:ext cx="5410200" cy="1243012"/>
            <a:chOff x="533400" y="4286250"/>
            <a:chExt cx="5410200" cy="1243012"/>
          </a:xfrm>
        </p:grpSpPr>
        <p:sp>
          <p:nvSpPr>
            <p:cNvPr id="12" name="Rectangle 12"/>
            <p:cNvSpPr/>
            <p:nvPr/>
          </p:nvSpPr>
          <p:spPr>
            <a:xfrm>
              <a:off x="533400" y="4286250"/>
              <a:ext cx="5410200" cy="1243012"/>
            </a:xfrm>
            <a:prstGeom prst="roundRect">
              <a:avLst>
                <a:gd name="adj" fmla="val 91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4807268"/>
              <a:ext cx="200026" cy="200025"/>
              <a:chOff x="738188" y="4807268"/>
              <a:chExt cx="200026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48072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7926" y="48517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2642" y="49628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892" y="4689158"/>
              <a:ext cx="42656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出栈顺序是后进先出，所以先处理的是最后压入的 (j+1,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n)。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524000"/>
            <a:ext cx="5410200" cy="2044065"/>
            <a:chOff x="6248400" y="1524000"/>
            <a:chExt cx="5410200" cy="204406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044065"/>
            </a:xfrm>
            <a:prstGeom prst="roundRect">
              <a:avLst>
                <a:gd name="adj" fmla="val 65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1657350"/>
              <a:ext cx="47625" cy="17773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62597" y="1756410"/>
              <a:ext cx="2337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58 页漏了出口判断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2047" y="2090738"/>
              <a:ext cx="40085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原代码出栈后直接调用 Partition，没有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if (m &gt;= n)</a:t>
              </a:r>
              <a:br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continue;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2047" y="2649855"/>
              <a:ext cx="478859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实测 R = 3 1 2：第一次分划返回 j=3，压入 (1,2) 与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(4,3)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下一轮弹出 (4,3) 时 m &gt; n，Partition 会读写区间外的单元并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返回越界下标。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248400" y="3742372"/>
            <a:ext cx="5410200" cy="1786890"/>
            <a:chOff x="6248400" y="3742372"/>
            <a:chExt cx="5410200" cy="1786890"/>
          </a:xfrm>
        </p:grpSpPr>
        <p:sp>
          <p:nvSpPr>
            <p:cNvPr id="27" name="Rectangle 27"/>
            <p:cNvSpPr/>
            <p:nvPr/>
          </p:nvSpPr>
          <p:spPr>
            <a:xfrm>
              <a:off x="6248400" y="3742372"/>
              <a:ext cx="541020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3875722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8905" y="393477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4343" y="396906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容易被误以为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95997" y="397478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用栈并不会自动省空间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2047" y="4309110"/>
              <a:ext cx="47084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实测 n=500 的升序输入，这个写法的最大栈深是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500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，和递归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版一样是 O(n)。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2047" y="4869180"/>
              <a:ext cx="46600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把入栈顺序改成“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长区间先入栈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”，出栈时自然先处理短的，同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一份输入最大栈深降到 2。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5" name="Rectangle 3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892" y="6023610"/>
              <a:ext cx="63014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 语言 qsort() 的实现就是“显式栈 + 先处理短区间”，正是这两条合起来用。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68063" cy="909257"/>
            <a:chOff x="520446" y="342900"/>
            <a:chExt cx="61680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八条优化策略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680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7：侦测递归深度，到点改用堆排序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flow-1"/>
          <p:cNvGrpSpPr/>
          <p:nvPr/>
        </p:nvGrpSpPr>
        <p:grpSpPr>
          <a:xfrm>
            <a:off x="715328" y="2031682"/>
            <a:ext cx="4830126" cy="3239454"/>
            <a:chOff x="715328" y="2031682"/>
            <a:chExt cx="4830126" cy="3239454"/>
          </a:xfrm>
        </p:grpSpPr>
        <p:sp>
          <p:nvSpPr>
            <p:cNvPr id="7" name="Freeform 7"/>
            <p:cNvSpPr/>
            <p:nvPr/>
          </p:nvSpPr>
          <p:spPr>
            <a:xfrm>
              <a:off x="1831658" y="2404110"/>
              <a:ext cx="9525" cy="817245"/>
            </a:xfrm>
            <a:custGeom>
              <a:avLst/>
              <a:gdLst/>
              <a:ahLst/>
              <a:cxnLst/>
              <a:rect l="l" t="t" r="r" b="b"/>
              <a:pathLst>
                <a:path w="9525" h="817245">
                  <a:moveTo>
                    <a:pt x="0" y="0"/>
                  </a:moveTo>
                  <a:lnTo>
                    <a:pt x="0" y="81724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79270" y="32213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948940" y="3607118"/>
              <a:ext cx="258127" cy="9525"/>
            </a:xfrm>
            <a:custGeom>
              <a:avLst/>
              <a:gdLst/>
              <a:ahLst/>
              <a:cxnLst/>
              <a:rect l="l" t="t" r="r" b="b"/>
              <a:pathLst>
                <a:path w="258127" h="9525">
                  <a:moveTo>
                    <a:pt x="0" y="0"/>
                  </a:moveTo>
                  <a:lnTo>
                    <a:pt x="25812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07068" y="35547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831658" y="3888105"/>
              <a:ext cx="9525" cy="726758"/>
            </a:xfrm>
            <a:custGeom>
              <a:avLst/>
              <a:gdLst/>
              <a:ahLst/>
              <a:cxnLst/>
              <a:rect l="l" t="t" r="r" b="b"/>
              <a:pathLst>
                <a:path w="9525" h="726758">
                  <a:moveTo>
                    <a:pt x="0" y="0"/>
                  </a:moveTo>
                  <a:lnTo>
                    <a:pt x="0" y="7267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79270" y="46148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429125" y="3882390"/>
              <a:ext cx="9525" cy="822007"/>
            </a:xfrm>
            <a:custGeom>
              <a:avLst/>
              <a:gdLst/>
              <a:ahLst/>
              <a:cxnLst/>
              <a:rect l="l" t="t" r="r" b="b"/>
              <a:pathLst>
                <a:path w="9525" h="822007">
                  <a:moveTo>
                    <a:pt x="0" y="0"/>
                  </a:moveTo>
                  <a:lnTo>
                    <a:pt x="0" y="82200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76738" y="47043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948940" y="4995862"/>
              <a:ext cx="258127" cy="9525"/>
            </a:xfrm>
            <a:custGeom>
              <a:avLst/>
              <a:gdLst/>
              <a:ahLst/>
              <a:cxnLst/>
              <a:rect l="l" t="t" r="r" b="b"/>
              <a:pathLst>
                <a:path w="258127" h="9525">
                  <a:moveTo>
                    <a:pt x="0" y="0"/>
                  </a:moveTo>
                  <a:lnTo>
                    <a:pt x="258127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207068" y="49434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15328" y="2031682"/>
              <a:ext cx="2233612" cy="37242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715328" y="3326130"/>
              <a:ext cx="2233613" cy="561975"/>
            </a:xfrm>
            <a:custGeom>
              <a:avLst/>
              <a:gdLst/>
              <a:ahLst/>
              <a:cxnLst/>
              <a:rect l="l" t="t" r="r" b="b"/>
              <a:pathLst>
                <a:path w="2233613" h="561975">
                  <a:moveTo>
                    <a:pt x="1116330" y="0"/>
                  </a:moveTo>
                  <a:lnTo>
                    <a:pt x="2233613" y="280988"/>
                  </a:lnTo>
                  <a:lnTo>
                    <a:pt x="1116330" y="561975"/>
                  </a:lnTo>
                  <a:lnTo>
                    <a:pt x="0" y="28098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311842" y="3330892"/>
              <a:ext cx="2233612" cy="551498"/>
            </a:xfrm>
            <a:prstGeom prst="roundRect">
              <a:avLst>
                <a:gd name="adj" fmla="val 17271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5328" y="4719638"/>
              <a:ext cx="2233612" cy="551498"/>
            </a:xfrm>
            <a:prstGeom prst="roundRect">
              <a:avLst>
                <a:gd name="adj" fmla="val 1727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11842" y="4809172"/>
              <a:ext cx="2233612" cy="37242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15293" y="2145030"/>
              <a:ext cx="12327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QuickSort(m, n)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86710" y="3533775"/>
              <a:ext cx="1289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递归深度 ≥ 2log₂n ?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57066" y="3443288"/>
              <a:ext cx="9441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 HeapSort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处理当前子数组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59598" y="4832033"/>
              <a:ext cx="94411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Partition 后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左右各递归一次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82440" y="49225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025140" y="3410902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64574" y="343376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860232" y="4225290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884045" y="424815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032182" y="1524000"/>
            <a:ext cx="5626418" cy="1973580"/>
            <a:chOff x="6032182" y="1524000"/>
            <a:chExt cx="5626418" cy="1973580"/>
          </a:xfrm>
        </p:grpSpPr>
        <p:sp>
          <p:nvSpPr>
            <p:cNvPr id="32" name="Rectangle 32"/>
            <p:cNvSpPr/>
            <p:nvPr/>
          </p:nvSpPr>
          <p:spPr>
            <a:xfrm>
              <a:off x="6032182" y="1524000"/>
              <a:ext cx="5626418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41708" y="1657350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1258" y="1704975"/>
              <a:ext cx="82391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0206" y="1737836"/>
              <a:ext cx="665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Introsort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82993" y="1744504"/>
              <a:ext cx="26870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内省排序，David R. Musser 提出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60782" y="21135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6230" y="206168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正常情况下走快速排序，享受它的小常数和好缓存。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260782" y="23983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6230" y="2346484"/>
              <a:ext cx="48328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一旦递归深度超过 2log₂n 层，说明分划已经严重失衡，当前子数组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转交堆排序。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60782" y="292703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16230" y="2874169"/>
              <a:ext cx="40688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堆排序最坏也是 O(nlogn)，于是整体最坏时间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真正降为</a:t>
              </a:r>
              <a:br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O(nlogn)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032182" y="3662362"/>
            <a:ext cx="5626418" cy="1160145"/>
            <a:chOff x="6032182" y="3662362"/>
            <a:chExt cx="5626418" cy="1160145"/>
          </a:xfrm>
        </p:grpSpPr>
        <p:sp>
          <p:nvSpPr>
            <p:cNvPr id="44" name="Rectangle 44"/>
            <p:cNvSpPr/>
            <p:nvPr/>
          </p:nvSpPr>
          <p:spPr>
            <a:xfrm>
              <a:off x="6032182" y="3662362"/>
              <a:ext cx="5626418" cy="1160145"/>
            </a:xfrm>
            <a:prstGeom prst="roundRect">
              <a:avLst>
                <a:gd name="adj" fmla="val 114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13158" y="384333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86525" y="38761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与前几条的区别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01116" y="388286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这是唯一改掉最坏时间复杂度的策略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06680" y="4199096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随机基准和三数取中只降低概率，尾递归与显式栈只省空间。只有换一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个最坏情况有保证的算法，才能把 </a:t>
              </a:r>
              <a:r>
                <a:rPr lang="en-US" sz="1280" b="1" dirty="0">
                  <a:solidFill>
                    <a:srgbClr val="FFC2BD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从纸面上抹掉。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032182" y="4987290"/>
            <a:ext cx="5626418" cy="702945"/>
            <a:chOff x="6032182" y="4987290"/>
            <a:chExt cx="5626418" cy="702945"/>
          </a:xfrm>
        </p:grpSpPr>
        <p:sp>
          <p:nvSpPr>
            <p:cNvPr id="50" name="Rectangle 50"/>
            <p:cNvSpPr/>
            <p:nvPr/>
          </p:nvSpPr>
          <p:spPr>
            <a:xfrm>
              <a:off x="6032182" y="4987290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236970" y="5238750"/>
              <a:ext cx="200026" cy="200026"/>
              <a:chOff x="6236970" y="5238750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236970" y="52387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303645" y="531653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540056" y="5131594"/>
              <a:ext cx="46377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C++ STL 的 std::sort 用的就是 Introsort，所以标准明确承诺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O(nlogn) 的最坏复杂度。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6" name="Rectangle 5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273" y="6039326"/>
              <a:ext cx="6871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2log₂n 这个阈值是工程经验值：正常随机数据的递归深度大约 1.4log₂n，很少触发切换。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84468" cy="909257"/>
            <a:chOff x="520446" y="342900"/>
            <a:chExt cx="78844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八条优化策略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844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8：三路分划，把等于基准的元素一次性扔出去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937370" cy="278702"/>
            <a:chOff x="526161" y="1547336"/>
            <a:chExt cx="693737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9373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重复元素很多时，传统分划会把大量等于 K 的元素反复搬来搬去，退化得很厉害。</a:t>
              </a:r>
            </a:p>
          </p:txBody>
        </p:sp>
      </p:grpSp>
      <p:grpSp>
        <p:nvGrpSpPr>
          <p:cNvPr id="147" name="c1-cells-1"/>
          <p:cNvGrpSpPr/>
          <p:nvPr/>
        </p:nvGrpSpPr>
        <p:grpSpPr>
          <a:xfrm>
            <a:off x="528447" y="1941195"/>
            <a:ext cx="9737597" cy="2034064"/>
            <a:chOff x="528447" y="1941195"/>
            <a:chExt cx="9737597" cy="2034064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07121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原数组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64908" y="1941195"/>
              <a:ext cx="606742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24755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71650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31498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78392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638240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985135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44983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591878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51725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198620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58468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805362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65210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412105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71953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18848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78695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25590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85438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232332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92180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839075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98923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45818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05665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052560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12408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659302" y="1941195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919150" y="2071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32683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3942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4616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52911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59653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6639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73138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79881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86623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63009" y="23769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69751" y="23769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76494" y="23769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83236" y="23769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89979" y="23769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896721" y="237696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28447" y="27903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传统分划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164908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424755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771650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031498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378392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638240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985135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244983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591878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851725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198620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458468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805362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065210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412105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671953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018848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278695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625590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85438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232332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492180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839075" y="2660332"/>
              <a:ext cx="606742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098923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445818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705665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052560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312408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9659302" y="2660332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919150" y="2790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432683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039426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646168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252911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859653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4466396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073138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679881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286623" y="3095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863009" y="30951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469751" y="30951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076494" y="30951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683236" y="30951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289979" y="30951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896721" y="309514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28447" y="350853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三路分划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1164908" y="3378518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424755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1771650" y="3378518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2031498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2378392" y="3378518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2638240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2985135" y="3378518"/>
              <a:ext cx="60674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3244983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3591878" y="3378518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3851725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4198620" y="3378518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4458468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4805362" y="3378518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5065210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5412105" y="3378518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5671953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6018848" y="3378518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6278695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6625590" y="3378518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885438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7232332" y="3378518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7492180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7839075" y="3378518"/>
              <a:ext cx="60674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8098923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8445818" y="3378518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8705665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9052560" y="3378518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9312408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9659302" y="3378518"/>
              <a:ext cx="60674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9919150" y="3508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432683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2039426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2646168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3252911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3859653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4466396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5073138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5679881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6286623" y="38133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6863009" y="381333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7469751" y="381333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076494" y="381333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8683236" y="381333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9289979" y="381333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9896721" y="381333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  <p:grpSp>
        <p:nvGrpSpPr>
          <p:cNvPr id="168" name="c1-table-2"/>
          <p:cNvGrpSpPr/>
          <p:nvPr/>
        </p:nvGrpSpPr>
        <p:grpSpPr>
          <a:xfrm>
            <a:off x="533400" y="4115752"/>
            <a:ext cx="11125200" cy="1217295"/>
            <a:chOff x="533400" y="4115752"/>
            <a:chExt cx="11125200" cy="1217295"/>
          </a:xfrm>
        </p:grpSpPr>
        <p:sp>
          <p:nvSpPr>
            <p:cNvPr id="148" name="Rectangle 148"/>
            <p:cNvSpPr/>
            <p:nvPr/>
          </p:nvSpPr>
          <p:spPr>
            <a:xfrm>
              <a:off x="533400" y="4115752"/>
              <a:ext cx="11125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1227214" y="42400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划分方式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3230321" y="42400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基准归位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6004116" y="424005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下一层还要递归的范围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10015931" y="42400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递归规模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633412" y="46458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传统分划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2635568" y="4645819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12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4638675" y="4645819"/>
              <a:ext cx="33379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R[1..11] 与 R[13..15]，11 个 5 还留在左段里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9088755" y="4645819"/>
              <a:ext cx="772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+ 3 = 14</a:t>
              </a:r>
            </a:p>
          </p:txBody>
        </p:sp>
        <p:sp>
          <p:nvSpPr>
            <p:cNvPr id="157" name="Rectangle 157"/>
            <p:cNvSpPr/>
            <p:nvPr/>
          </p:nvSpPr>
          <p:spPr>
            <a:xfrm>
              <a:off x="533400" y="49225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8" name="Rectangle 158"/>
            <p:cNvSpPr/>
            <p:nvPr/>
          </p:nvSpPr>
          <p:spPr>
            <a:xfrm>
              <a:off x="533400" y="4927282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9" name="TextBox 159"/>
            <p:cNvSpPr txBox="1"/>
            <p:nvPr/>
          </p:nvSpPr>
          <p:spPr>
            <a:xfrm>
              <a:off x="633412" y="50515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三路分划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2635568" y="5051584"/>
              <a:ext cx="863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4, k = 12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4638675" y="5051584"/>
              <a:ext cx="37127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只递归 R[1..3] 与 R[13..15]，中间 9 个 5 整段跳过</a:t>
              </a:r>
            </a:p>
          </p:txBody>
        </p:sp>
        <p:sp>
          <p:nvSpPr>
            <p:cNvPr id="162" name="Rectangle 162"/>
            <p:cNvSpPr/>
            <p:nvPr/>
          </p:nvSpPr>
          <p:spPr>
            <a:xfrm>
              <a:off x="8998268" y="4936808"/>
              <a:ext cx="265080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3" name="TextBox 163"/>
            <p:cNvSpPr txBox="1"/>
            <p:nvPr/>
          </p:nvSpPr>
          <p:spPr>
            <a:xfrm>
              <a:off x="9088755" y="5051584"/>
              <a:ext cx="6069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+ 3 = 6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533400" y="4115752"/>
              <a:ext cx="1112520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65" name="Rectangle 165"/>
            <p:cNvSpPr/>
            <p:nvPr/>
          </p:nvSpPr>
          <p:spPr>
            <a:xfrm>
              <a:off x="2530792" y="411575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4533900" y="411575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7" name="Rectangle 167"/>
            <p:cNvSpPr/>
            <p:nvPr/>
          </p:nvSpPr>
          <p:spPr>
            <a:xfrm>
              <a:off x="8983980" y="411575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74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169" name="Rectangle 169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72" name="Group 172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170" name="Freeform 170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71" name="Freeform 171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3" name="TextBox 173"/>
            <p:cNvSpPr txBox="1"/>
            <p:nvPr/>
          </p:nvSpPr>
          <p:spPr>
            <a:xfrm>
              <a:off x="1040892" y="5779770"/>
              <a:ext cx="989780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 n=2000 全部相同的元素：传统快排比较 2000999 次，三路分划只比较 2000 次；取值种类越多优势越小，1000 种取值时两者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持平。</a:t>
              </a:r>
            </a:p>
          </p:txBody>
        </p:sp>
      </p:grpSp>
      <p:grpSp>
        <p:nvGrpSpPr>
          <p:cNvPr id="1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5" name="TextBox 17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八条优化策略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三路分划的实现：三个指针一次扫描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4101465"/>
            <a:chOff x="533400" y="1524000"/>
            <a:chExt cx="5626418" cy="4101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101465"/>
            </a:xfrm>
            <a:prstGeom prst="roundRect">
              <a:avLst>
                <a:gd name="adj" fmla="val 23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621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Partition3way 与配套的 QuickSort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311081" cy="36172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Partition3way(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*i,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*k)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m, pivot = R[m];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*i = m;  *k = n;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&lt;= *k)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(R[j] &lt; pivot)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swap(&amp;R[j], &amp;R[*i]); j++; (*i)++;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(R[j] &gt; pivot)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swap(&amp;R[j], &amp;R[*k]); (*k)--;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j++;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QuickSort(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 &gt;= n)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i, k;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Partition3way(R, m, n, &amp;i, &amp;k);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QuickSort(R, m, i - 1);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QuickSort(R, k + 1, n);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4" name="c2-cells-1"/>
          <p:cNvGrpSpPr/>
          <p:nvPr/>
        </p:nvGrpSpPr>
        <p:grpSpPr>
          <a:xfrm>
            <a:off x="6459665" y="1558766"/>
            <a:ext cx="3864483" cy="635794"/>
            <a:chOff x="6459665" y="1558766"/>
            <a:chExt cx="3864483" cy="635794"/>
          </a:xfrm>
        </p:grpSpPr>
        <p:sp>
          <p:nvSpPr>
            <p:cNvPr id="11" name="TextBox 11"/>
            <p:cNvSpPr txBox="1"/>
            <p:nvPr/>
          </p:nvSpPr>
          <p:spPr>
            <a:xfrm>
              <a:off x="6459665" y="193690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不变式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971348" y="1800225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95444" y="193690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&lt;K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390448" y="1800225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4544" y="193690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&lt;K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809548" y="1800225"/>
              <a:ext cx="419100" cy="3943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33644" y="193690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=K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228648" y="1800225"/>
              <a:ext cx="419100" cy="3943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52744" y="193690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=K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647748" y="180022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14250" y="19369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066848" y="1800225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33350" y="193690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485948" y="1800225"/>
              <a:ext cx="419100" cy="3943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10044" y="193690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&gt;K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905048" y="1800225"/>
              <a:ext cx="419100" cy="3943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29144" y="193690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&gt;K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6949" y="1558766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7980998" y="17049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35149" y="1558766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819198" y="17049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658860" y="155876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9657398" y="17049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0" name="c2-card-2"/>
          <p:cNvGrpSpPr/>
          <p:nvPr/>
        </p:nvGrpSpPr>
        <p:grpSpPr>
          <a:xfrm>
            <a:off x="6464618" y="2374582"/>
            <a:ext cx="5193982" cy="1586865"/>
            <a:chOff x="6464618" y="2374582"/>
            <a:chExt cx="5193982" cy="1586865"/>
          </a:xfrm>
        </p:grpSpPr>
        <p:sp>
          <p:nvSpPr>
            <p:cNvPr id="35" name="Rectangle 35"/>
            <p:cNvSpPr/>
            <p:nvPr/>
          </p:nvSpPr>
          <p:spPr>
            <a:xfrm>
              <a:off x="6464618" y="2374582"/>
              <a:ext cx="5193982" cy="1586865"/>
            </a:xfrm>
            <a:prstGeom prst="roundRect">
              <a:avLst>
                <a:gd name="adj" fmla="val 840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62738" y="257270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2176" y="260699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三段不变式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5498" y="2933224"/>
              <a:ext cx="44009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R[m..i−1] &lt; K，R[i..j−1] = K，R[k+1..n] &gt; 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5498" y="3268504"/>
              <a:ext cx="46041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R[j..k] 是还没看过的部分。每轮只看 R[j] 一个元素，三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种情况各走一步，所以一趟仍是 </a:t>
              </a:r>
              <a:r>
                <a:rPr lang="en-US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7" name="c2-card-3"/>
          <p:cNvGrpSpPr/>
          <p:nvPr/>
        </p:nvGrpSpPr>
        <p:grpSpPr>
          <a:xfrm>
            <a:off x="6464618" y="4141470"/>
            <a:ext cx="5193982" cy="1540192"/>
            <a:chOff x="6464618" y="4141470"/>
            <a:chExt cx="5193982" cy="1540192"/>
          </a:xfrm>
        </p:grpSpPr>
        <p:sp>
          <p:nvSpPr>
            <p:cNvPr id="41" name="Rectangle 41"/>
            <p:cNvSpPr/>
            <p:nvPr/>
          </p:nvSpPr>
          <p:spPr>
            <a:xfrm>
              <a:off x="6464618" y="4141470"/>
              <a:ext cx="5193982" cy="1540192"/>
            </a:xfrm>
            <a:prstGeom prst="roundRect">
              <a:avLst>
                <a:gd name="adj" fmla="val 86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4274820"/>
              <a:ext cx="47625" cy="12734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00838" y="433959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68274" y="437388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源课件的课下思考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84248" y="4374356"/>
              <a:ext cx="24584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换到右边以后为什么不 j++？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93598" y="4718209"/>
              <a:ext cx="446887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换给 j 的是原来的 R[k]，那个元素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从来没被检查过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须留在 j 处再判一次。换自左边 R[i] 的那一支是已看过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的“等于 K”，所以可以 j++。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8" name="Rectangle 4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6011704"/>
              <a:ext cx="9336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返回的是两个下标 i 和 k，不是一个 j；QuickSort 里要写 (m, i−1) 与 (k+1, n)，中间那段一个都不能再碰。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八条优化策略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荷兰国旗问题：三路分划的原型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784556" cy="293370"/>
            <a:chOff x="525780" y="1548765"/>
            <a:chExt cx="978455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7845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给定 n 粒红、白、蓝三色石头，重排成红在前、白居中、蓝在后。Dijkstra 提出，是多家公司的面试常考题。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4977765" cy="2936558"/>
            <a:chOff x="533400" y="1954530"/>
            <a:chExt cx="4977765" cy="293655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977765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三指针一趟扫描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68391"/>
              <a:ext cx="3126486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1, j = 1, k = n;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&lt;= k)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(R[j] ==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'红'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swap(&amp;R[j], &amp;R[i]);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j++;  i++;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(R[j] ==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'蓝'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swap(&amp;R[j], &amp;R[k]);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k--;          /* 这里不 j++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R[j] == '白'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j++;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3" name="c2-cells-1"/>
          <p:cNvGrpSpPr/>
          <p:nvPr/>
        </p:nvGrpSpPr>
        <p:grpSpPr>
          <a:xfrm>
            <a:off x="5810631" y="1998821"/>
            <a:ext cx="3891534" cy="1220629"/>
            <a:chOff x="5810631" y="1998821"/>
            <a:chExt cx="3891534" cy="1220629"/>
          </a:xfrm>
        </p:grpSpPr>
        <p:sp>
          <p:nvSpPr>
            <p:cNvPr id="13" name="TextBox 13"/>
            <p:cNvSpPr txBox="1"/>
            <p:nvPr/>
          </p:nvSpPr>
          <p:spPr>
            <a:xfrm>
              <a:off x="5810631" y="237839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扫描中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349365" y="2240280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82906" y="237839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红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768465" y="224028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02006" y="237839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187565" y="2240280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21106" y="237839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红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06665" y="2240280"/>
              <a:ext cx="419100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40206" y="237839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蓝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25765" y="224028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89166" y="23783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444865" y="224028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08266" y="23783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863965" y="2240280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97506" y="237839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红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283065" y="2240280"/>
              <a:ext cx="419100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16606" y="237839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55866" y="1998821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939915" y="21450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213166" y="1998821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197215" y="21450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55978" y="199882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9454515" y="21450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10631" y="295084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结束时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349365" y="2812732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82906" y="295084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红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68465" y="2812732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02006" y="295084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红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187565" y="2812732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21106" y="295084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红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06665" y="281273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740206" y="295084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25765" y="281273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59306" y="295084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444865" y="281273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78406" y="295084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863965" y="2812732"/>
              <a:ext cx="419100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997506" y="295084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蓝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283065" y="2812732"/>
              <a:ext cx="419100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16606" y="295084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蓝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5815965" y="3405188"/>
            <a:ext cx="5842635" cy="2205038"/>
            <a:chOff x="5815965" y="3405188"/>
            <a:chExt cx="5842635" cy="2205038"/>
          </a:xfrm>
        </p:grpSpPr>
        <p:sp>
          <p:nvSpPr>
            <p:cNvPr id="54" name="Rectangle 54"/>
            <p:cNvSpPr/>
            <p:nvPr/>
          </p:nvSpPr>
          <p:spPr>
            <a:xfrm>
              <a:off x="5815965" y="3405188"/>
              <a:ext cx="5842635" cy="2205038"/>
            </a:xfrm>
            <a:prstGeom prst="roundRect">
              <a:avLst>
                <a:gd name="adj" fmla="val 604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19800" y="3609022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84405" y="364474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三个指针各管一段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73696" y="3648551"/>
              <a:ext cx="36756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划红白的界，k 划白蓝的界，j 负责往前扫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027420" y="406050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84011" y="4000024"/>
              <a:ext cx="49918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R[1..i−1] 全红，R[i..j−1] 全白，R[k+1..n] 全蓝，R[j..k]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待定。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027420" y="465201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84011" y="4591526"/>
              <a:ext cx="504596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每轮只前进 0 或 1 格，k 每轮最多后退 1 格，两者相遇时扫描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结束。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027420" y="524351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84011" y="5183029"/>
              <a:ext cx="40009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时间 </a:t>
              </a:r>
              <a:r>
                <a:rPr lang="en-US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，空间 </a:t>
              </a:r>
              <a:r>
                <a:rPr lang="en-US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，全程只用交换操作。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5" name="Rectangle 6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511" y="6004084"/>
              <a:ext cx="75375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识别信号：只要题面出现“分成三类、要求 O(n) 时间 O(1) 空间”，就往三路分划上套。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79543" cy="909257"/>
            <a:chOff x="520446" y="342900"/>
            <a:chExt cx="84795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八条优化策略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795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八条策略汇总，以及 qsort 与 STL sort 各用了哪几条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table-1"/>
          <p:cNvGrpSpPr/>
          <p:nvPr/>
        </p:nvGrpSpPr>
        <p:grpSpPr>
          <a:xfrm>
            <a:off x="528447" y="1524000"/>
            <a:ext cx="6064758" cy="3696366"/>
            <a:chOff x="528447" y="1524000"/>
            <a:chExt cx="6064758" cy="369636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8022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策略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42016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改善的是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36108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能否杜绝最坏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1267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小区间转插入排序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15094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常数因子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33416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1267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随机选取基准元素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15094" y="2404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最坏发生的概率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33416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63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785110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三数取中选基准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15094" y="27851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最坏发生的概率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33416" y="2785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45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049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67062"/>
              <a:ext cx="984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尾递归转循环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15094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33416" y="3167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426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548062"/>
              <a:ext cx="984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先处理短区间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15094" y="3548062"/>
              <a:ext cx="11621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空间降到 O(logn)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33416" y="3548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807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81190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3930015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显式栈消除递归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15094" y="3930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空间常数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33416" y="39300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189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78" y="4311015"/>
              <a:ext cx="1267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侦测深度转堆排序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329940" y="4203382"/>
              <a:ext cx="179832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415094" y="4311015"/>
              <a:ext cx="1522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最坏时间降到 O(nlogn)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48262" y="4203382"/>
              <a:ext cx="143541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33416" y="43110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570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574858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8078" y="4692015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三路分划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15094" y="469201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重复元素多时的时间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33416" y="46920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524000"/>
              <a:ext cx="6059805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3315652" y="1524000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133975" y="1524000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447" y="502967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每条策略治什么病</a:t>
              </a:r>
            </a:p>
          </p:txBody>
        </p:sp>
      </p:grpSp>
      <p:grpSp>
        <p:nvGrpSpPr>
          <p:cNvPr id="81" name="c2-compare-1"/>
          <p:cNvGrpSpPr/>
          <p:nvPr/>
        </p:nvGrpSpPr>
        <p:grpSpPr>
          <a:xfrm>
            <a:off x="6898005" y="1524000"/>
            <a:ext cx="4760595" cy="3237548"/>
            <a:chOff x="6898005" y="1524000"/>
            <a:chExt cx="4760595" cy="3237548"/>
          </a:xfrm>
        </p:grpSpPr>
        <p:sp>
          <p:nvSpPr>
            <p:cNvPr id="53" name="Rectangle 53"/>
            <p:cNvSpPr/>
            <p:nvPr/>
          </p:nvSpPr>
          <p:spPr>
            <a:xfrm>
              <a:off x="6898005" y="1524000"/>
              <a:ext cx="2037398" cy="3237548"/>
            </a:xfrm>
            <a:prstGeom prst="roundRect">
              <a:avLst>
                <a:gd name="adj" fmla="val 65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07530" y="1657350"/>
              <a:ext cx="47625" cy="297084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110603" y="1726406"/>
              <a:ext cx="12709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语言 qsort()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126605" y="20793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82053" y="2027396"/>
              <a:ext cx="12890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子数组长度小于 8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转插入排序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126605" y="26079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82053" y="2555081"/>
              <a:ext cx="1313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三数取中选基准元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126605" y="31356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82053" y="30827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三路分划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126605" y="342042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82053" y="3367564"/>
              <a:ext cx="1313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使用栈消除所有递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126605" y="394811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282053" y="389620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先处理短区间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621202" y="1524000"/>
              <a:ext cx="2037398" cy="3237548"/>
            </a:xfrm>
            <a:prstGeom prst="roundRect">
              <a:avLst>
                <a:gd name="adj" fmla="val 65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9630728" y="1657350"/>
              <a:ext cx="47625" cy="297084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833800" y="1726406"/>
              <a:ext cx="13525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STL sort()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9849802" y="20793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005250" y="2027396"/>
              <a:ext cx="12402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 ≤ 16 时直接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退出本层递归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9849802" y="26079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005250" y="2555081"/>
              <a:ext cx="1313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全部递归退出后整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体做一次插入排序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9849802" y="31356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005250" y="3082766"/>
              <a:ext cx="13703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递归深度达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2log₂n 时转堆排序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9849802" y="366331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005250" y="3610451"/>
              <a:ext cx="1313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三数取中选基准元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9849802" y="419100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005250" y="4139089"/>
              <a:ext cx="1313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尾递归转循环并先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处理短区间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8983028" y="2847975"/>
              <a:ext cx="590550" cy="5905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031224" y="308705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源码剖析</a:t>
              </a:r>
            </a:p>
          </p:txBody>
        </p:sp>
      </p:grpSp>
      <p:grpSp>
        <p:nvGrpSpPr>
          <p:cNvPr id="87" name="c2-callout-2"/>
          <p:cNvGrpSpPr/>
          <p:nvPr/>
        </p:nvGrpSpPr>
        <p:grpSpPr>
          <a:xfrm>
            <a:off x="6898005" y="4926330"/>
            <a:ext cx="4760595" cy="702945"/>
            <a:chOff x="6898005" y="4926330"/>
            <a:chExt cx="4760595" cy="702945"/>
          </a:xfrm>
        </p:grpSpPr>
        <p:sp>
          <p:nvSpPr>
            <p:cNvPr id="82" name="Rectangle 82"/>
            <p:cNvSpPr/>
            <p:nvPr/>
          </p:nvSpPr>
          <p:spPr>
            <a:xfrm>
              <a:off x="6898005" y="4926330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102793" y="5177792"/>
              <a:ext cx="200023" cy="200023"/>
              <a:chOff x="7102793" y="5177792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102793" y="51777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236143" y="52444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7405878" y="5071586"/>
              <a:ext cx="35242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差别在第 7 条：STL sort 用了 Introsort，最坏</a:t>
              </a:r>
              <a:br/>
              <a:r>
                <a:rPr lang="en-US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O(nlogn)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；qsort 没用，最坏仍是 </a:t>
              </a:r>
              <a:r>
                <a:rPr lang="en-US" sz="1280" b="1" dirty="0">
                  <a:solidFill>
                    <a:srgbClr val="FFC2BD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9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8" name="Rectangle 8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1041273" y="6039326"/>
              <a:ext cx="6733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工程实现从来不是单挑一条策略，而是把治时间、治空间、治重复元素的几条叠在一起。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八条优化策略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为什么平均情况下快速排序比堆排序还快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2559368"/>
            <a:chOff x="533400" y="1524000"/>
            <a:chExt cx="4977765" cy="25593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559368"/>
            </a:xfrm>
            <a:prstGeom prst="roundRect">
              <a:avLst>
                <a:gd name="adj" fmla="val 52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266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快速排序是基于关键词比较的内排序里平均最快的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3905" y="238029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9583" y="24196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702" y="2392680"/>
              <a:ext cx="39742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常系数小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：1.386nlog₂n 里每次比较只做一次取值和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一次判断，内层循环很短。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3905" y="294036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9583" y="29787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4702" y="2952750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缓存命中率高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：两个指针访问的都是物理相邻的单元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R[i] 与 R[i+1]。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8190" y="3508534"/>
              <a:ext cx="43284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堆排序的下沉从 R[i] 跳到 R[2i]，跨度随层数翻倍，几乎每次都落在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不同的缓存行上。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4258628"/>
            <a:ext cx="4977765" cy="1325880"/>
            <a:chOff x="533400" y="4258628"/>
            <a:chExt cx="4977765" cy="1325880"/>
          </a:xfrm>
        </p:grpSpPr>
        <p:sp>
          <p:nvSpPr>
            <p:cNvPr id="20" name="Rectangle 20"/>
            <p:cNvSpPr/>
            <p:nvPr/>
          </p:nvSpPr>
          <p:spPr>
            <a:xfrm>
              <a:off x="533400" y="4258628"/>
              <a:ext cx="4977765" cy="1325880"/>
            </a:xfrm>
            <a:prstGeom prst="roundRect">
              <a:avLst>
                <a:gd name="adj" fmla="val 100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391978"/>
              <a:ext cx="47625" cy="10591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3905" y="44510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5345" y="448532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47597" y="4491038"/>
              <a:ext cx="242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 万个随机整数，各跑 3 次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72478" y="48815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8497" y="4825365"/>
              <a:ext cx="3826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快速排序合计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0.585 s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，堆排序合计 0.807 s。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2478" y="518445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8497" y="5127308"/>
              <a:ext cx="4465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堆排序耗时是快排的 1.38 倍，而两者都是 O(nlogn)。</a:t>
              </a:r>
            </a:p>
          </p:txBody>
        </p:sp>
      </p:grpSp>
      <p:grpSp>
        <p:nvGrpSpPr>
          <p:cNvPr id="74" name="c2-cells-1"/>
          <p:cNvGrpSpPr/>
          <p:nvPr/>
        </p:nvGrpSpPr>
        <p:grpSpPr>
          <a:xfrm>
            <a:off x="5811202" y="1549241"/>
            <a:ext cx="3719513" cy="1426369"/>
            <a:chOff x="5811202" y="1549241"/>
            <a:chExt cx="3719513" cy="1426369"/>
          </a:xfrm>
        </p:grpSpPr>
        <p:sp>
          <p:nvSpPr>
            <p:cNvPr id="30" name="TextBox 30"/>
            <p:cNvSpPr txBox="1"/>
            <p:nvPr/>
          </p:nvSpPr>
          <p:spPr>
            <a:xfrm>
              <a:off x="5811202" y="1925003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快排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177915" y="17907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8773" y="1925003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97015" y="17907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27873" y="1925003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016115" y="1790700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46973" y="1925003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435215" y="1790700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66073" y="1925003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854315" y="17907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85173" y="1925003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273415" y="17907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04273" y="1925003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692515" y="17907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23373" y="1925003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R7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111615" y="17907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42473" y="1925003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03516" y="1549241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187565" y="16954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58867" y="1549241"/>
              <a:ext cx="1717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i+1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7606665" y="16954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11202" y="272986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堆排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177915" y="25946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08773" y="272986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597015" y="2594610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27873" y="272986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016115" y="25946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46973" y="272986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435215" y="2594610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66073" y="272986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854315" y="25946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985173" y="272986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R5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273415" y="25946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04273" y="272986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R6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692515" y="25946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823373" y="272986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R7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111615" y="2594610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242473" y="272986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R8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784416" y="2353151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6768465" y="249936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90742" y="2353151"/>
              <a:ext cx="1080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2i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7606665" y="249936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267142" y="2353151"/>
              <a:ext cx="1080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4i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9283065" y="249936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82" name="c2-card-2"/>
          <p:cNvGrpSpPr/>
          <p:nvPr/>
        </p:nvGrpSpPr>
        <p:grpSpPr>
          <a:xfrm>
            <a:off x="5815965" y="3150870"/>
            <a:ext cx="5842635" cy="1529715"/>
            <a:chOff x="5815965" y="3150870"/>
            <a:chExt cx="5842635" cy="1529715"/>
          </a:xfrm>
        </p:grpSpPr>
        <p:sp>
          <p:nvSpPr>
            <p:cNvPr id="75" name="Rectangle 75"/>
            <p:cNvSpPr/>
            <p:nvPr/>
          </p:nvSpPr>
          <p:spPr>
            <a:xfrm>
              <a:off x="5815965" y="3150870"/>
              <a:ext cx="5842635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5825490" y="3284220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046470" y="334327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137910" y="33775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30162" y="33832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空间局部性与缓存友好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039612" y="3717608"/>
              <a:ext cx="52086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从内存取数时是整行搬进 Cache 的。程序若接着访问同一行里的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邻居就直接命中，若跳着访问就要等慢速内存。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039612" y="4277678"/>
              <a:ext cx="4666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尽量顺着地址访问相邻数据的程序，叫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缓存友好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的程序。</a:t>
              </a:r>
            </a:p>
          </p:txBody>
        </p:sp>
      </p:grpSp>
      <p:grpSp>
        <p:nvGrpSpPr>
          <p:cNvPr id="89" name="c2-callout-3"/>
          <p:cNvGrpSpPr/>
          <p:nvPr/>
        </p:nvGrpSpPr>
        <p:grpSpPr>
          <a:xfrm>
            <a:off x="5815965" y="4855845"/>
            <a:ext cx="5842635" cy="729615"/>
            <a:chOff x="5815965" y="4855845"/>
            <a:chExt cx="5842635" cy="729615"/>
          </a:xfrm>
        </p:grpSpPr>
        <p:sp>
          <p:nvSpPr>
            <p:cNvPr id="83" name="Rectangle 83"/>
            <p:cNvSpPr/>
            <p:nvPr/>
          </p:nvSpPr>
          <p:spPr>
            <a:xfrm>
              <a:off x="5815965" y="4855845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008694" y="5116948"/>
              <a:ext cx="224134" cy="192560"/>
              <a:chOff x="6008694" y="5116948"/>
              <a:chExt cx="224134" cy="19256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120765" y="51873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008694" y="51169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120765" y="5265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323457" y="5001578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复杂度相同的两个算法，实际速度可以差一倍以上，差在访存模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式而不是比较次数。</a:t>
              </a:r>
            </a:p>
          </p:txBody>
        </p:sp>
      </p:grpSp>
      <p:grpSp>
        <p:nvGrpSpPr>
          <p:cNvPr id="9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0" name="Rectangle 9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0892" y="6023610"/>
              <a:ext cx="7264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Cache 位于 CPU 与内存之间，容量小但快得多；i7 有 L1/L2/L3 三级，越往外越大越慢。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7723" cy="909257"/>
            <a:chOff x="520446" y="342900"/>
            <a:chExt cx="68177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八条优化策略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77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缓存友好的代码：同样的乘法次数，快 10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698230" cy="293370"/>
            <a:chOff x="525780" y="1548765"/>
            <a:chExt cx="86982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矩阵乘法只把两层循环换个顺序，浮点乘法的次数一次不多一次不少，运行时间却差一个数量级。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410200" cy="1261110"/>
            <a:chOff x="533400" y="1954530"/>
            <a:chExt cx="5410200" cy="126111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2520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ijk 顺序：b 跳着访问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2577656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 n; j++)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0; k &lt; n; k++)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c[i][j] += a[i][k] * b[k][j];</a:t>
              </a:r>
            </a:p>
          </p:txBody>
        </p:sp>
      </p:grpSp>
      <p:grpSp>
        <p:nvGrpSpPr>
          <p:cNvPr id="21" name="c1-kv-2"/>
          <p:cNvGrpSpPr/>
          <p:nvPr/>
        </p:nvGrpSpPr>
        <p:grpSpPr>
          <a:xfrm>
            <a:off x="526161" y="3419951"/>
            <a:ext cx="5417439" cy="1111187"/>
            <a:chOff x="526161" y="3419951"/>
            <a:chExt cx="5417439" cy="1111187"/>
          </a:xfrm>
        </p:grpSpPr>
        <p:sp>
          <p:nvSpPr>
            <p:cNvPr id="13" name="TextBox 13"/>
            <p:cNvSpPr txBox="1"/>
            <p:nvPr/>
          </p:nvSpPr>
          <p:spPr>
            <a:xfrm>
              <a:off x="526161" y="3419951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2396" y="3419951"/>
              <a:ext cx="30634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c[i][j] 反复累加，局部性好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7233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383619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2396" y="3836194"/>
              <a:ext cx="22892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沿行走 a[i][k]，局部性好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1395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425243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2396" y="4252436"/>
              <a:ext cx="38472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沿列走 b[k][j]，每次跨 n 个单元，</a:t>
              </a: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局部性差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4654868"/>
            <a:ext cx="5410200" cy="992505"/>
            <a:chOff x="533400" y="4654868"/>
            <a:chExt cx="5410200" cy="992505"/>
          </a:xfrm>
        </p:grpSpPr>
        <p:sp>
          <p:nvSpPr>
            <p:cNvPr id="22" name="Rectangle 22"/>
            <p:cNvSpPr/>
            <p:nvPr/>
          </p:nvSpPr>
          <p:spPr>
            <a:xfrm>
              <a:off x="533400" y="4654868"/>
              <a:ext cx="5410200" cy="992505"/>
            </a:xfrm>
            <a:prstGeom prst="roundRect">
              <a:avLst>
                <a:gd name="adj" fmla="val 1151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6129" y="5047416"/>
              <a:ext cx="224134" cy="192560"/>
              <a:chOff x="726129" y="5047416"/>
              <a:chExt cx="224134" cy="1925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38200" y="51177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6129" y="50474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1955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511" y="4921091"/>
              <a:ext cx="453199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 语言的二维数组按行存放，b[k][j] 与 b[k+1][j] 在内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存里相隔 n 个 double。</a:t>
              </a:r>
            </a:p>
          </p:txBody>
        </p:sp>
      </p:grpSp>
      <p:grpSp>
        <p:nvGrpSpPr>
          <p:cNvPr id="32" name="c2-code-1"/>
          <p:cNvGrpSpPr/>
          <p:nvPr/>
        </p:nvGrpSpPr>
        <p:grpSpPr>
          <a:xfrm>
            <a:off x="6248400" y="1954530"/>
            <a:ext cx="5410200" cy="1261110"/>
            <a:chOff x="6248400" y="1954530"/>
            <a:chExt cx="5410200" cy="1261110"/>
          </a:xfrm>
        </p:grpSpPr>
        <p:sp>
          <p:nvSpPr>
            <p:cNvPr id="29" name="Rectangle 29"/>
            <p:cNvSpPr/>
            <p:nvPr/>
          </p:nvSpPr>
          <p:spPr>
            <a:xfrm>
              <a:off x="6248400" y="1954530"/>
              <a:ext cx="5410200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797" y="2106454"/>
              <a:ext cx="1661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ikj 顺序：三个数组都顺着走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416" y="2367915"/>
              <a:ext cx="2577656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0; k &lt; n; k++)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 n; j++)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c[i][j] += a[i][k] * b[k][j];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248400" y="3396615"/>
            <a:ext cx="5410200" cy="1315402"/>
            <a:chOff x="6248400" y="3396615"/>
            <a:chExt cx="5410200" cy="1315402"/>
          </a:xfrm>
        </p:grpSpPr>
        <p:sp>
          <p:nvSpPr>
            <p:cNvPr id="33" name="Rectangle 33"/>
            <p:cNvSpPr/>
            <p:nvPr/>
          </p:nvSpPr>
          <p:spPr>
            <a:xfrm>
              <a:off x="6248400" y="3396615"/>
              <a:ext cx="5410200" cy="1315402"/>
            </a:xfrm>
            <a:prstGeom prst="roundRect">
              <a:avLst>
                <a:gd name="adj" fmla="val 10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3529965"/>
              <a:ext cx="47625" cy="10487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84620" y="359473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76060" y="36290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67931" y="3629501"/>
              <a:ext cx="18809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600，zig cc -O2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92240" y="403288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48831" y="3973354"/>
              <a:ext cx="45650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ijk 顺序 0.146 s，ikj 顺序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0.014 s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，相差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10.4 倍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92240" y="43510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48831" y="429053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两段代码算出的结果逐格相同。</a:t>
              </a:r>
            </a:p>
          </p:txBody>
        </p:sp>
      </p:grpSp>
      <p:grpSp>
        <p:nvGrpSpPr>
          <p:cNvPr id="48" name="c2-callout-3"/>
          <p:cNvGrpSpPr/>
          <p:nvPr/>
        </p:nvGrpSpPr>
        <p:grpSpPr>
          <a:xfrm>
            <a:off x="6248400" y="4892040"/>
            <a:ext cx="5410200" cy="756285"/>
            <a:chOff x="6248400" y="4892040"/>
            <a:chExt cx="5410200" cy="756285"/>
          </a:xfrm>
        </p:grpSpPr>
        <p:sp>
          <p:nvSpPr>
            <p:cNvPr id="43" name="Rectangle 43"/>
            <p:cNvSpPr/>
            <p:nvPr/>
          </p:nvSpPr>
          <p:spPr>
            <a:xfrm>
              <a:off x="6248400" y="489204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53188" y="5170170"/>
              <a:ext cx="200026" cy="200026"/>
              <a:chOff x="6453188" y="5170170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1701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19863" y="524795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55511" y="5039201"/>
              <a:ext cx="429755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最内层循环换成 j 之后，c[i][j] 与 b[k][j] 都沿行推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进，一次缓存行加载可以喂饱好几次迭代。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9" name="Rectangle 4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6011704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写循环时先问一句：最内层那个下标，是不是让所有数组都沿着内存顺序走。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87677" cy="3351847"/>
            <a:chOff x="667512" y="1835468"/>
            <a:chExt cx="518767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快速选择：只递归一侧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777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找第 k 小的数不必把整个数组排好，平均 O(n) 就够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减而治之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59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QuickSelect 的两种写法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复杂度分析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BFPRT 把最坏压到 O(n)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90380" cy="909257"/>
            <a:chOff x="520446" y="342900"/>
            <a:chExt cx="65903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快速选择：只递归一侧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903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快速选择问题：找第 k 小的数，要求 O(n)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248727" cy="278702"/>
            <a:chOff x="526161" y="1547336"/>
            <a:chExt cx="724872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248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多家公司的高频面试题。若先排序再取第 k 个，代价是 O(nlogn)，题目要的是线性。</a:t>
              </a:r>
            </a:p>
          </p:txBody>
        </p:sp>
      </p:grpSp>
      <p:grpSp>
        <p:nvGrpSpPr>
          <p:cNvPr id="23" name="c1-card-1"/>
          <p:cNvGrpSpPr/>
          <p:nvPr/>
        </p:nvGrpSpPr>
        <p:grpSpPr>
          <a:xfrm>
            <a:off x="533400" y="1941195"/>
            <a:ext cx="5193982" cy="1877378"/>
            <a:chOff x="533400" y="1941195"/>
            <a:chExt cx="5193982" cy="187737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1877378"/>
            </a:xfrm>
            <a:prstGeom prst="roundRect">
              <a:avLst>
                <a:gd name="adj" fmla="val 710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72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09497" y="217360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分划之后，只有一侧需要继续找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507932"/>
              <a:ext cx="4102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 Partition 返回 j，左区间元素个数 nL = j − m。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5805" y="279844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1483" y="28368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6602" y="2810827"/>
              <a:ext cx="3307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nL = k−1：基准就是第 k 小，直接返回。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25805" y="310038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1483" y="313972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6602" y="3112770"/>
              <a:ext cx="36981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nL &gt; k−1：第 k 小在左区间，递归找第 k 小。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5805" y="340328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1483" y="34416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6602" y="3415665"/>
              <a:ext cx="3485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nL &lt; k−1：在右区间，改找第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k−nL−1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小。</a:t>
              </a:r>
            </a:p>
          </p:txBody>
        </p:sp>
      </p:grpSp>
      <p:grpSp>
        <p:nvGrpSpPr>
          <p:cNvPr id="26" name="c1-image-2"/>
          <p:cNvGrpSpPr/>
          <p:nvPr/>
        </p:nvGrpSpPr>
        <p:grpSpPr>
          <a:xfrm>
            <a:off x="2263140" y="3993832"/>
            <a:ext cx="1733550" cy="1598867"/>
            <a:chOff x="2263140" y="3993832"/>
            <a:chExt cx="1733550" cy="1598867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63140" y="3993832"/>
              <a:ext cx="1733550" cy="1300162"/>
            </a:xfrm>
            <a:prstGeom prst="roundRect">
              <a:avLst>
                <a:gd name="adj" fmla="val 10256"/>
              </a:avLst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2347150" y="538734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每分划一次就扔掉一大半</a:t>
              </a:r>
            </a:p>
          </p:txBody>
        </p:sp>
      </p:grpSp>
      <p:grpSp>
        <p:nvGrpSpPr>
          <p:cNvPr id="58" name="c2-cells-1"/>
          <p:cNvGrpSpPr/>
          <p:nvPr/>
        </p:nvGrpSpPr>
        <p:grpSpPr>
          <a:xfrm>
            <a:off x="6027230" y="1975961"/>
            <a:ext cx="3989260" cy="839153"/>
            <a:chOff x="6027230" y="1975961"/>
            <a:chExt cx="3989260" cy="839153"/>
          </a:xfrm>
        </p:grpSpPr>
        <p:sp>
          <p:nvSpPr>
            <p:cNvPr id="27" name="TextBox 27"/>
            <p:cNvSpPr txBox="1"/>
            <p:nvPr/>
          </p:nvSpPr>
          <p:spPr>
            <a:xfrm>
              <a:off x="6027230" y="23474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分划后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38912" y="2217420"/>
              <a:ext cx="43434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70629" y="234743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≤K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973252" y="2217420"/>
              <a:ext cx="43434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04969" y="234743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≤K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408545" y="2217420"/>
              <a:ext cx="43434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40261" y="234743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≤K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842885" y="2217420"/>
              <a:ext cx="43434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14852" y="234743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277225" y="2217420"/>
              <a:ext cx="43434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09894" y="234743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&gt;K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712518" y="2217420"/>
              <a:ext cx="43434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844234" y="234743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&gt;K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146858" y="2217420"/>
              <a:ext cx="43434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79526" y="234743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&gt;K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582150" y="2217420"/>
              <a:ext cx="43434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713866" y="234743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20963" y="26531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55303" y="26531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90596" y="26531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24936" y="26531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60228" y="26531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94568" y="26531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29861" y="26531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64201" y="26531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07855" y="1975961"/>
              <a:ext cx="964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717982" y="21221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037906" y="1975961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8021955" y="21221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762683" y="197596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9761220" y="212217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73" name="c2-flow-2"/>
          <p:cNvGrpSpPr/>
          <p:nvPr/>
        </p:nvGrpSpPr>
        <p:grpSpPr>
          <a:xfrm>
            <a:off x="6229350" y="3102292"/>
            <a:ext cx="5232082" cy="2322196"/>
            <a:chOff x="6229350" y="3102292"/>
            <a:chExt cx="5232082" cy="2322196"/>
          </a:xfrm>
        </p:grpSpPr>
        <p:sp>
          <p:nvSpPr>
            <p:cNvPr id="59" name="Freeform 59"/>
            <p:cNvSpPr/>
            <p:nvPr/>
          </p:nvSpPr>
          <p:spPr>
            <a:xfrm>
              <a:off x="8844915" y="3679508"/>
              <a:ext cx="9525" cy="94297"/>
            </a:xfrm>
            <a:custGeom>
              <a:avLst/>
              <a:gdLst/>
              <a:ahLst/>
              <a:cxnLst/>
              <a:rect l="l" t="t" r="r" b="b"/>
              <a:pathLst>
                <a:path w="9525" h="94297">
                  <a:moveTo>
                    <a:pt x="0" y="0"/>
                  </a:moveTo>
                  <a:lnTo>
                    <a:pt x="0" y="942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8792528" y="37738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7439025" y="4647248"/>
              <a:ext cx="1405890" cy="99060"/>
            </a:xfrm>
            <a:custGeom>
              <a:avLst/>
              <a:gdLst/>
              <a:ahLst/>
              <a:cxnLst/>
              <a:rect l="l" t="t" r="r" b="b"/>
              <a:pathLst>
                <a:path w="1405890" h="99060">
                  <a:moveTo>
                    <a:pt x="1405890" y="0"/>
                  </a:moveTo>
                  <a:lnTo>
                    <a:pt x="1405890" y="99060"/>
                  </a:lnTo>
                  <a:lnTo>
                    <a:pt x="0" y="99060"/>
                  </a:lnTo>
                  <a:lnTo>
                    <a:pt x="0" y="942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386638" y="47415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844915" y="4647248"/>
              <a:ext cx="1406842" cy="99060"/>
            </a:xfrm>
            <a:custGeom>
              <a:avLst/>
              <a:gdLst/>
              <a:ahLst/>
              <a:cxnLst/>
              <a:rect l="l" t="t" r="r" b="b"/>
              <a:pathLst>
                <a:path w="1406842" h="99060">
                  <a:moveTo>
                    <a:pt x="0" y="0"/>
                  </a:moveTo>
                  <a:lnTo>
                    <a:pt x="0" y="99060"/>
                  </a:lnTo>
                  <a:lnTo>
                    <a:pt x="1406842" y="99060"/>
                  </a:lnTo>
                  <a:lnTo>
                    <a:pt x="1406842" y="9429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0199370" y="47415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25565" y="3102292"/>
              <a:ext cx="4838700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6425565" y="3878580"/>
              <a:ext cx="4838700" cy="768667"/>
            </a:xfrm>
            <a:custGeom>
              <a:avLst/>
              <a:gdLst/>
              <a:ahLst/>
              <a:cxnLst/>
              <a:rect l="l" t="t" r="r" b="b"/>
              <a:pathLst>
                <a:path w="4838700" h="768667">
                  <a:moveTo>
                    <a:pt x="2419350" y="0"/>
                  </a:moveTo>
                  <a:lnTo>
                    <a:pt x="4838700" y="383858"/>
                  </a:lnTo>
                  <a:lnTo>
                    <a:pt x="2419350" y="768667"/>
                  </a:lnTo>
                  <a:lnTo>
                    <a:pt x="0" y="38385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29350" y="4846320"/>
              <a:ext cx="2419350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9042082" y="4846320"/>
              <a:ext cx="2419350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088884" y="3216116"/>
              <a:ext cx="151206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Partition(R, m, n)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nL = j − m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23580" y="4087654"/>
              <a:ext cx="10426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nL 与 k−1 比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相等就返回 R[j]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53682" y="4960144"/>
              <a:ext cx="1170686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nL &gt; k−1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在左区间找第 k 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70834" y="4960144"/>
              <a:ext cx="1561846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nL &lt; k−1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在右区间找第 k−nL−1 小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4" name="Rectangle 7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892" y="6023610"/>
              <a:ext cx="7519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和快速排序唯一的区别：只递归左右两个子数组中的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一个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。这种套路叫减而治之（减治法）。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945448" cy="909257"/>
            <a:chOff x="520446" y="342900"/>
            <a:chExt cx="39454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快速选择：只递归一侧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9454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QuickSelect 的两种写法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207895"/>
            <a:chOff x="533400" y="1524000"/>
            <a:chExt cx="5410200" cy="22078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递归形式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824478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QuickSelect(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Partition(R, m, n);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nL = j - m;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左部分元素个数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(nL == k - 1)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R[j];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(nL &gt; k - 1)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QuickSelect(R, m, j - 1, k);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QuickSelect(R, j + 1, n, k - nL - 1);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3907155"/>
            <a:ext cx="5410200" cy="1416368"/>
            <a:chOff x="533400" y="3907155"/>
            <a:chExt cx="5410200" cy="1416368"/>
          </a:xfrm>
        </p:grpSpPr>
        <p:sp>
          <p:nvSpPr>
            <p:cNvPr id="11" name="Rectangle 11"/>
            <p:cNvSpPr/>
            <p:nvPr/>
          </p:nvSpPr>
          <p:spPr>
            <a:xfrm>
              <a:off x="533400" y="3907155"/>
              <a:ext cx="5410200" cy="1416368"/>
            </a:xfrm>
            <a:prstGeom prst="roundRect">
              <a:avLst>
                <a:gd name="adj" fmla="val 807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515803"/>
              <a:ext cx="200026" cy="200025"/>
              <a:chOff x="738188" y="4515803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5158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45602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46713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4396740"/>
              <a:ext cx="427424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 往右走时会变小，往左走时保持不变。这一步最容易写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错。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2397442"/>
            <a:chOff x="6248400" y="1524000"/>
            <a:chExt cx="5410200" cy="2397442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迭代形式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6416" y="1937385"/>
              <a:ext cx="3457766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QuickSelect(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j, nL;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(1)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j = Partition(R, m, n);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nL = j - m;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(nL == k - 1)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R[j];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(nL &gt; k - 1) n = j - 1;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m = j + 1; k = k - nL - 1;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6248400" y="4096702"/>
            <a:ext cx="5410200" cy="1226820"/>
            <a:chOff x="6248400" y="4096702"/>
            <a:chExt cx="5410200" cy="1226820"/>
          </a:xfrm>
        </p:grpSpPr>
        <p:sp>
          <p:nvSpPr>
            <p:cNvPr id="22" name="Rectangle 22"/>
            <p:cNvSpPr/>
            <p:nvPr/>
          </p:nvSpPr>
          <p:spPr>
            <a:xfrm>
              <a:off x="6248400" y="4096702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40805" y="4289108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08242" y="432339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为什么能改成循环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24597" y="432911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两个递归调用都是尾调用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33947" y="466344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函数返回的就是递归调用的结果，返回之后不再做任何事，所以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直接改写参数继续循环即可，空间从 O(logn) 降到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28" name="Rectangle 28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5779770"/>
              <a:ext cx="970921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初始调用 QuickSelect(R, 1, n, k)。k=1…10 的十个结果与排好序的数组逐个比对，递归版、迭代版、BFPRT 版三种实现完全一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27594" cy="909257"/>
            <a:chOff x="520446" y="342900"/>
            <a:chExt cx="9027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快速选择：只递归一侧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27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例题：在 60 70 56 69 23 93 18 11 35 68 里找第 3 小的数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961632" cy="293370"/>
            <a:chOff x="525780" y="1548765"/>
            <a:chExt cx="696163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961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有序序列是 11 18 23 35 56 60 68 69 70 93，答案应为 23。下面逐步走一遍。</a:t>
              </a:r>
            </a:p>
          </p:txBody>
        </p:sp>
      </p:grpSp>
      <p:grpSp>
        <p:nvGrpSpPr>
          <p:cNvPr id="46" name="c1-table-1"/>
          <p:cNvGrpSpPr/>
          <p:nvPr/>
        </p:nvGrpSpPr>
        <p:grpSpPr>
          <a:xfrm>
            <a:off x="533400" y="1954530"/>
            <a:ext cx="11125200" cy="2150745"/>
            <a:chOff x="533400" y="1954530"/>
            <a:chExt cx="11125200" cy="215074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5539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62799" y="2085975"/>
              <a:ext cx="4370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 j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49819" y="2085975"/>
              <a:ext cx="777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nL = j − 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69318" y="208597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当前要找第几小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46489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判断与去向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8746" y="2515552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(1, 10)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1896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5342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3364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58684" y="2515552"/>
              <a:ext cx="2624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nL &gt; k−1，去左区间 (1, 5)，k 不变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2946082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(1, 5)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1896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5342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3364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58684" y="2946082"/>
              <a:ext cx="33922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nL &lt; k−1，去右区间 (3, 5)，k 改成 3−1−1 = 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3376612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(3, 5)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18969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53422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33644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58684" y="3376612"/>
              <a:ext cx="2624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nL &gt; k−1，去左区间 (3, 4)，k 不变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67474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3806190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(3, 4)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18969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53422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33644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62862" y="3684270"/>
              <a:ext cx="398621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58684" y="3806190"/>
              <a:ext cx="1565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nL = k−1，返回 R[3]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954530"/>
              <a:ext cx="11125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308860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64331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423535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48575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9" name="c1-cells-2"/>
          <p:cNvGrpSpPr/>
          <p:nvPr/>
        </p:nvGrpSpPr>
        <p:grpSpPr>
          <a:xfrm>
            <a:off x="528066" y="4291012"/>
            <a:ext cx="10575226" cy="1375887"/>
            <a:chOff x="528066" y="4291012"/>
            <a:chExt cx="10575226" cy="1375887"/>
          </a:xfrm>
        </p:grpSpPr>
        <p:sp>
          <p:nvSpPr>
            <p:cNvPr id="47" name="TextBox 47"/>
            <p:cNvSpPr txBox="1"/>
            <p:nvPr/>
          </p:nvSpPr>
          <p:spPr>
            <a:xfrm>
              <a:off x="528066" y="4428172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次分划后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494472" y="4291012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887568" y="44281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455545" y="4291012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848641" y="44281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416618" y="4291012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809713" y="44281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376738" y="4291012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770786" y="44281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7810" y="4291012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31858" y="44281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98882" y="4291012"/>
              <a:ext cx="961072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91978" y="44281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259955" y="4291012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53051" y="44281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221028" y="4291012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614123" y="44281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81148" y="4291012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575196" y="44281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142220" y="4291012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536268" y="442817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939413" y="47505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900486" y="47505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861558" y="47505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822631" y="47505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783703" y="47505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743823" y="47505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04896" y="47505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665968" y="47505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627041" y="475059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557756" y="475059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28066" y="5182552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4 次分划后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494472" y="5044440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887568" y="5182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2455545" y="5044440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2848641" y="5182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3416618" y="5044440"/>
              <a:ext cx="961072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809713" y="5182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4376738" y="5044440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4770786" y="5182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337810" y="5044440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731858" y="5182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298882" y="5044440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691978" y="5182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259955" y="5044440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653051" y="5182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221028" y="5044440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614123" y="5182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181148" y="5044440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575196" y="5182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10142220" y="5044440"/>
              <a:ext cx="96107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0536268" y="51825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939413" y="55049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2900486" y="55049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3861558" y="55049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4822631" y="55049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5783703" y="55049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743823" y="55049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704896" y="55049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665968" y="55049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627041" y="55049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0557756" y="550497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11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110" name="Rectangle 11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13" name="Group 11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4" name="TextBox 114"/>
            <p:cNvSpPr txBox="1"/>
            <p:nvPr/>
          </p:nvSpPr>
          <p:spPr>
            <a:xfrm>
              <a:off x="1040511" y="6004084"/>
              <a:ext cx="8463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整个过程只做了 4 次分划，处理的区间长度依次是 10、5、3、2，数组的大部分从头到尾没被碰过。</a:t>
              </a:r>
            </a:p>
          </p:txBody>
        </p:sp>
      </p:grpSp>
      <p:grpSp>
        <p:nvGrpSpPr>
          <p:cNvPr id="11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6" name="TextBox 11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67031" cy="909257"/>
            <a:chOff x="520446" y="342900"/>
            <a:chExt cx="80670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快速选择：只递归一侧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670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快速选择的复杂度：最好与平均 O(n)，最坏 O(n²)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335405"/>
            <a:chOff x="533400" y="1524000"/>
            <a:chExt cx="5410200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最好与平均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8797" y="176879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每次剩下一半，代价是一条等比数列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第一趟扫 n 个元素，第二趟只剩 n/2，第三趟 n/4，如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此下去。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64"/>
              <p:cNvSpPr txBox="1">
                <a:spLocks noGrp="1"/>
              </p:cNvSpPr>
              <p:nvPr/>
            </p:nvSpPr>
            <p:spPr>
              <a:xfrm>
                <a:off x="533400" y="3049905"/>
                <a:ext cx="5410200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s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65"/>
              <p:cNvSpPr txBox="1">
                <a:spLocks noGrp="1"/>
              </p:cNvSpPr>
              <p:nvPr/>
            </p:nvSpPr>
            <p:spPr>
              <a:xfrm>
                <a:off x="533400" y="3729038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2n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1" name="c1-callout-4"/>
          <p:cNvGrpSpPr/>
          <p:nvPr/>
        </p:nvGrpSpPr>
        <p:grpSpPr>
          <a:xfrm>
            <a:off x="533400" y="4281488"/>
            <a:ext cx="5410200" cy="1060132"/>
            <a:chOff x="533400" y="4281488"/>
            <a:chExt cx="5410200" cy="1060132"/>
          </a:xfrm>
        </p:grpSpPr>
        <p:sp>
          <p:nvSpPr>
            <p:cNvPr id="16" name="Rectangle 16"/>
            <p:cNvSpPr/>
            <p:nvPr/>
          </p:nvSpPr>
          <p:spPr>
            <a:xfrm>
              <a:off x="533400" y="4281488"/>
              <a:ext cx="5410200" cy="1060132"/>
            </a:xfrm>
            <a:prstGeom prst="roundRect">
              <a:avLst>
                <a:gd name="adj" fmla="val 1078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712018"/>
              <a:ext cx="200026" cy="200026"/>
              <a:chOff x="738188" y="4712018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7120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04863" y="478980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4569142"/>
              <a:ext cx="4434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令 n = 2ᵏ 实算：n = 2²⁰ 时这条级数和是 2097151，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恰好比 2n = 2097152 小 1。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524000"/>
            <a:ext cx="5410200" cy="1956435"/>
            <a:chOff x="6248400" y="1524000"/>
            <a:chExt cx="5410200" cy="1956435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97078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分划还是可能次次落在最边上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8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初始已排好序或逆序时每趟只淘汰一个元素，规模依次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是 n, n−1, n−2, …，总代价 </a:t>
              </a:r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8430" y="27508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对策与快速排序相同：随机选取基准元素，降低概率但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无法杜绝。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3670935"/>
            <a:ext cx="5410200" cy="1670685"/>
            <a:chOff x="6248400" y="3670935"/>
            <a:chExt cx="5410200" cy="1670685"/>
          </a:xfrm>
        </p:grpSpPr>
        <p:sp>
          <p:nvSpPr>
            <p:cNvPr id="30" name="Rectangle 30"/>
            <p:cNvSpPr/>
            <p:nvPr/>
          </p:nvSpPr>
          <p:spPr>
            <a:xfrm>
              <a:off x="6248400" y="3670935"/>
              <a:ext cx="541020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3804285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6050" y="38804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86258" y="39162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7078" y="391572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随机数据上的平均比较次数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01765" y="43395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9880" y="4276725"/>
              <a:ext cx="4377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n=200 平均 571 次（2.86n），n=800 平均 2463 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（3.08n），n=3200 平均 9604 次（3.00n）。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501765" y="49606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9880" y="4897755"/>
              <a:ext cx="41144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比值稳定在 3 附近不随 n 增长，确认是线性。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0" name="Rectangle 4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728335"/>
              <a:ext cx="9930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快速排序 O(nlogn)、快速选择 O(n)，差别就在于后者每层只走一条分支；O(n) 的前提是分划位置均匀随机，且只要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k 小这一个数。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9761" cy="909257"/>
            <a:chOff x="520446" y="342900"/>
            <a:chExt cx="79097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快速选择：只递归一侧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97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BFPRT：用中位数的中位数当基准，最坏也是 O(n)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1306422" cy="278702"/>
            <a:chOff x="526161" y="1547336"/>
            <a:chExt cx="1130642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13064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中位数的中位数（Median of Medians）算法，由 Blum、Floyd、Pratt、Rivest、Tarjan 五位学者提出，其中四位是图灵奖获得者。</a:t>
              </a:r>
            </a:p>
          </p:txBody>
        </p:sp>
      </p:grpSp>
      <p:grpSp>
        <p:nvGrpSpPr>
          <p:cNvPr id="30" name="c1-steps-1"/>
          <p:cNvGrpSpPr/>
          <p:nvPr/>
        </p:nvGrpSpPr>
        <p:grpSpPr>
          <a:xfrm>
            <a:off x="533400" y="1950720"/>
            <a:ext cx="5367655" cy="3282791"/>
            <a:chOff x="533400" y="1950720"/>
            <a:chExt cx="5367655" cy="3282791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25546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384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2515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195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93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5062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5800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1983105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分组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250281"/>
              <a:ext cx="4655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n 个元素划分为 ⌈n/5⌉ 组，每组 5 个（最后一组可能不足 5 个）。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569845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组内取中位数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2837021"/>
              <a:ext cx="4104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对每组做插入排序，排完后第 3 小的元素就是这组的中位数。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156585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递归求中位数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424714"/>
              <a:ext cx="4740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对上一步得到的 ⌈n/5⌉ 个中位数，递归调用 SELECT 求它们的中位数，记作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950970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分划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218146"/>
              <a:ext cx="3878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M 作基准做一次 Partition，左部分元素个数记作 nL。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4537710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递归一侧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4805839"/>
              <a:ext cx="49542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nL = k−1 结束；nL &gt; k−1 对左部分递归找第 k 小；nL &lt; k−1 对右部分递归找第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k−nL−1 小。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464618" y="1941195"/>
            <a:ext cx="5193982" cy="1226820"/>
            <a:chOff x="6464618" y="1941195"/>
            <a:chExt cx="5193982" cy="1226820"/>
          </a:xfrm>
        </p:grpSpPr>
        <p:sp>
          <p:nvSpPr>
            <p:cNvPr id="31" name="Rectangle 31"/>
            <p:cNvSpPr/>
            <p:nvPr/>
          </p:nvSpPr>
          <p:spPr>
            <a:xfrm>
              <a:off x="6464618" y="1941195"/>
              <a:ext cx="5193982" cy="1226820"/>
            </a:xfrm>
            <a:prstGeom prst="roundRect">
              <a:avLst>
                <a:gd name="adj" fmla="val 1087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57022" y="21336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28460" y="216789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为什么要这么绕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07464" y="217360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目的只有一个，让基准不至于太偏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0164" y="2507932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随机基准是“大概率不偏”，M 是“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一定不偏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”：它能保证被淘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汰的那一侧至少占全部元素的三成。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464618" y="3343275"/>
            <a:ext cx="5193982" cy="1883092"/>
            <a:chOff x="6464618" y="3343275"/>
            <a:chExt cx="5193982" cy="1883092"/>
          </a:xfrm>
        </p:grpSpPr>
        <p:sp>
          <p:nvSpPr>
            <p:cNvPr id="37" name="Rectangle 37"/>
            <p:cNvSpPr/>
            <p:nvPr/>
          </p:nvSpPr>
          <p:spPr>
            <a:xfrm>
              <a:off x="6464618" y="3343275"/>
              <a:ext cx="5193982" cy="1883092"/>
            </a:xfrm>
            <a:prstGeom prst="roundRect">
              <a:avLst>
                <a:gd name="adj" fmla="val 70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3476625"/>
              <a:ext cx="47625" cy="16163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95122" y="3535680"/>
              <a:ext cx="1303972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62182" y="3569970"/>
              <a:ext cx="11708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为什么是 5 个一组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06537" y="3575685"/>
              <a:ext cx="2334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分组大小要让 0.2 + 0.7 &lt; 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88264" y="3910012"/>
              <a:ext cx="44028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步递归的规模是 n/5 = 0.2n，第 5 步递归的规模至多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0.7n，相加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0.9n &lt; 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，递归才收敛到线性。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88264" y="4469130"/>
              <a:ext cx="44971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改成每组 3 个的话两段规模变成 n/3 + 2n/3 = n，递归不再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5" name="Rectangle 45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5779770"/>
              <a:ext cx="99235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步用插入排序是因为组内只有 5 个元素，任何排序方法在这里都是常数时间，选最简单的即可。2000 组随机数据实测，返回值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与排序后取第 k 个逐组一致。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79890" cy="909257"/>
            <a:chOff x="520446" y="342900"/>
            <a:chExt cx="49798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快速选择：只递归一侧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798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BFPRT 为什么最差也能分成 3∶7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622986" y="1689735"/>
            <a:ext cx="4504322" cy="3166110"/>
            <a:chOff x="622986" y="1689735"/>
            <a:chExt cx="4504322" cy="3166110"/>
          </a:xfrm>
        </p:grpSpPr>
        <p:sp>
          <p:nvSpPr>
            <p:cNvPr id="7" name="Ellipse 7"/>
            <p:cNvSpPr/>
            <p:nvPr/>
          </p:nvSpPr>
          <p:spPr>
            <a:xfrm>
              <a:off x="1315402" y="1689735"/>
              <a:ext cx="228600" cy="2286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509838" y="1689735"/>
              <a:ext cx="228600" cy="2286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3704272" y="168973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4898708" y="168973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315402" y="2424112"/>
              <a:ext cx="228600" cy="2286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509838" y="2424112"/>
              <a:ext cx="228600" cy="2286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704272" y="2424112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898708" y="2424112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315402" y="3158490"/>
              <a:ext cx="228600" cy="2286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509838" y="3158490"/>
              <a:ext cx="228600" cy="2286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704272" y="3158490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898708" y="3158490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315402" y="3892868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509838" y="3892868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704272" y="3892868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898708" y="3892868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315402" y="462724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509838" y="462724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704272" y="462724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898708" y="4627245"/>
              <a:ext cx="228600" cy="2286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68969" y="3216592"/>
              <a:ext cx="1103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2986" y="1714976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1670" y="318373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中位数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2986" y="4652486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5815965" y="1524000"/>
            <a:ext cx="5842635" cy="1973580"/>
            <a:chOff x="5815965" y="1524000"/>
            <a:chExt cx="5842635" cy="1973580"/>
          </a:xfrm>
        </p:grpSpPr>
        <p:sp>
          <p:nvSpPr>
            <p:cNvPr id="32" name="Rectangle 32"/>
            <p:cNvSpPr/>
            <p:nvPr/>
          </p:nvSpPr>
          <p:spPr>
            <a:xfrm>
              <a:off x="5815965" y="1524000"/>
              <a:ext cx="5842635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25490" y="1657350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3504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26759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01016" y="1744504"/>
              <a:ext cx="1936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至少三成的元素不大于 M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044565" y="21135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00013" y="2061686"/>
              <a:ext cx="49466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每组 5 个元素按大小竖着排，中位数在第 3 行；M 是这一行的中位数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（图中绿色的都 ≤ M）。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044565" y="26412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00013" y="2589371"/>
              <a:ext cx="4849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约一半组的中位数 ≤ M，这些组里中位数自己和它上面两个元素都 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M，每组至少贡献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044565" y="316992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00013" y="3117056"/>
              <a:ext cx="5224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于是至少有 3 × (n/5)/2 =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3n/10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个元素 ≤ M，另一侧至多 7n/10。</a:t>
              </a:r>
            </a:p>
          </p:txBody>
        </p:sp>
      </p:grpSp>
      <p:grpSp>
        <p:nvGrpSpPr>
          <p:cNvPr id="70" name="c2-table-2"/>
          <p:cNvGrpSpPr/>
          <p:nvPr/>
        </p:nvGrpSpPr>
        <p:grpSpPr>
          <a:xfrm>
            <a:off x="5811012" y="3662362"/>
            <a:ext cx="5847588" cy="1789462"/>
            <a:chOff x="5811012" y="3662362"/>
            <a:chExt cx="5847588" cy="1789462"/>
          </a:xfrm>
        </p:grpSpPr>
        <p:sp>
          <p:nvSpPr>
            <p:cNvPr id="44" name="Rectangle 44"/>
            <p:cNvSpPr/>
            <p:nvPr/>
          </p:nvSpPr>
          <p:spPr>
            <a:xfrm>
              <a:off x="5815965" y="3662362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95596" y="377952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46620" y="37795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98487" y="3779520"/>
              <a:ext cx="10624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至少 ≤ M 的个数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752772" y="37795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占比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910644" y="416052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62204" y="416052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013764" y="416052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34041" y="4160520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29.0%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815965" y="44196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15965" y="442436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10644" y="454247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62204" y="454247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13764" y="454247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299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34041" y="4542472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29.9%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15965" y="48015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10644" y="4923472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962204" y="492347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13764" y="492347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2999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148888" y="4815840"/>
              <a:ext cx="150018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234041" y="4923472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30.0%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815965" y="3662362"/>
              <a:ext cx="584263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862762" y="366236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914322" y="366236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134600" y="366236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811012" y="526113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按上取整精确计数的实测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1" name="Rectangle 7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6039326"/>
              <a:ext cx="93108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对称地也至少有 3n/10 个元素不小于 M，所以无论往哪边递归规模都不超过 0.7n。n 较小时因为取整，比例略低于 30%。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79679" cy="909257"/>
            <a:chOff x="520446" y="342900"/>
            <a:chExt cx="82796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快速选择：只递归一侧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796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BFPRT 的递归式：0.2n + 0.7n = 0.9n 是收敛的关键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ree-1"/>
          <p:cNvGrpSpPr/>
          <p:nvPr/>
        </p:nvGrpSpPr>
        <p:grpSpPr>
          <a:xfrm>
            <a:off x="942022" y="1785938"/>
            <a:ext cx="4376738" cy="2340292"/>
            <a:chOff x="942022" y="1785938"/>
            <a:chExt cx="4376738" cy="2340292"/>
          </a:xfrm>
        </p:grpSpPr>
        <p:sp>
          <p:nvSpPr>
            <p:cNvPr id="7" name="Freeform 7"/>
            <p:cNvSpPr/>
            <p:nvPr/>
          </p:nvSpPr>
          <p:spPr>
            <a:xfrm>
              <a:off x="1183005" y="2941320"/>
              <a:ext cx="648653" cy="943927"/>
            </a:xfrm>
            <a:custGeom>
              <a:avLst/>
              <a:gdLst/>
              <a:ahLst/>
              <a:cxnLst/>
              <a:rect l="l" t="t" r="r" b="b"/>
              <a:pathLst>
                <a:path w="648653" h="943927">
                  <a:moveTo>
                    <a:pt x="648653" y="0"/>
                  </a:moveTo>
                  <a:lnTo>
                    <a:pt x="0" y="9439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31658" y="2941320"/>
              <a:ext cx="649605" cy="943927"/>
            </a:xfrm>
            <a:custGeom>
              <a:avLst/>
              <a:gdLst/>
              <a:ahLst/>
              <a:cxnLst/>
              <a:rect l="l" t="t" r="r" b="b"/>
              <a:pathLst>
                <a:path w="649605" h="943927">
                  <a:moveTo>
                    <a:pt x="0" y="0"/>
                  </a:moveTo>
                  <a:lnTo>
                    <a:pt x="649605" y="9439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779520" y="2941320"/>
              <a:ext cx="649605" cy="943927"/>
            </a:xfrm>
            <a:custGeom>
              <a:avLst/>
              <a:gdLst/>
              <a:ahLst/>
              <a:cxnLst/>
              <a:rect l="l" t="t" r="r" b="b"/>
              <a:pathLst>
                <a:path w="649605" h="943927">
                  <a:moveTo>
                    <a:pt x="649605" y="0"/>
                  </a:moveTo>
                  <a:lnTo>
                    <a:pt x="0" y="9439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429125" y="2941320"/>
              <a:ext cx="648653" cy="943927"/>
            </a:xfrm>
            <a:custGeom>
              <a:avLst/>
              <a:gdLst/>
              <a:ahLst/>
              <a:cxnLst/>
              <a:rect l="l" t="t" r="r" b="b"/>
              <a:pathLst>
                <a:path w="648653" h="943927">
                  <a:moveTo>
                    <a:pt x="0" y="0"/>
                  </a:moveTo>
                  <a:lnTo>
                    <a:pt x="648653" y="9439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831658" y="1996440"/>
              <a:ext cx="1298258" cy="944880"/>
            </a:xfrm>
            <a:custGeom>
              <a:avLst/>
              <a:gdLst/>
              <a:ahLst/>
              <a:cxnLst/>
              <a:rect l="l" t="t" r="r" b="b"/>
              <a:pathLst>
                <a:path w="1298258" h="944880">
                  <a:moveTo>
                    <a:pt x="1298258" y="0"/>
                  </a:moveTo>
                  <a:lnTo>
                    <a:pt x="0" y="9448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29915" y="1996440"/>
              <a:ext cx="1299210" cy="944880"/>
            </a:xfrm>
            <a:custGeom>
              <a:avLst/>
              <a:gdLst/>
              <a:ahLst/>
              <a:cxnLst/>
              <a:rect l="l" t="t" r="r" b="b"/>
              <a:pathLst>
                <a:path w="1299210" h="944880">
                  <a:moveTo>
                    <a:pt x="0" y="0"/>
                  </a:moveTo>
                  <a:lnTo>
                    <a:pt x="1299210" y="9448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42022" y="3644265"/>
              <a:ext cx="481965" cy="4819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240280" y="3644265"/>
              <a:ext cx="481965" cy="4819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621155" y="2730818"/>
              <a:ext cx="421005" cy="4210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538538" y="3644265"/>
              <a:ext cx="481965" cy="4819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836795" y="3644265"/>
              <a:ext cx="481965" cy="4819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218622" y="2730818"/>
              <a:ext cx="421005" cy="4210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19412" y="1785938"/>
              <a:ext cx="421005" cy="4210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3321" y="3829050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01578" y="3829050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86958" y="2885123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99836" y="3829050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98093" y="3829050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0.49n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84425" y="2885123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90168" y="194024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</p:grpSp>
      <p:grpSp>
        <p:nvGrpSpPr>
          <p:cNvPr id="36" name="c1-kv-2"/>
          <p:cNvGrpSpPr/>
          <p:nvPr/>
        </p:nvGrpSpPr>
        <p:grpSpPr>
          <a:xfrm>
            <a:off x="526923" y="4543901"/>
            <a:ext cx="5200459" cy="997077"/>
            <a:chOff x="526923" y="4543901"/>
            <a:chExt cx="5200459" cy="997077"/>
          </a:xfrm>
        </p:grpSpPr>
        <p:sp>
          <p:nvSpPr>
            <p:cNvPr id="28" name="TextBox 28"/>
            <p:cNvSpPr txBox="1"/>
            <p:nvPr/>
          </p:nvSpPr>
          <p:spPr>
            <a:xfrm>
              <a:off x="526923" y="4543901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17498" y="454390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81584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6923" y="4917281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2 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17498" y="491728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0.9cn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18922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6923" y="5291614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3 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17498" y="52916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0.9²cn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formula84"/>
              <p:cNvSpPr txBox="1">
                <a:spLocks noGrp="1"/>
              </p:cNvSpPr>
              <p:nvPr/>
            </p:nvSpPr>
            <p:spPr>
              <a:xfrm>
                <a:off x="6032182" y="1524000"/>
                <a:ext cx="5626418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0.2n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0.7n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cn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85"/>
              <p:cNvSpPr txBox="1">
                <a:spLocks noGrp="1"/>
              </p:cNvSpPr>
              <p:nvPr/>
            </p:nvSpPr>
            <p:spPr>
              <a:xfrm>
                <a:off x="6032182" y="1974532"/>
                <a:ext cx="5626418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0.9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</m:t>
                          </m:r>
                          <m:sSup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</m:t>
                              </m:r>
                            </m:e>
                            <m:sup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</m:t>
                          </m:r>
                          <m:sSup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</m:t>
                              </m:r>
                            </m:e>
                            <m:sup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86"/>
              <p:cNvSpPr txBox="1">
                <a:spLocks noGrp="1"/>
              </p:cNvSpPr>
              <p:nvPr/>
            </p:nvSpPr>
            <p:spPr>
              <a:xfrm>
                <a:off x="6032182" y="2425065"/>
                <a:ext cx="5626418" cy="385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</m:t>
                              </m:r>
                              <m:sSup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9</m:t>
                                  </m:r>
                                </m:e>
                                <m:sup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0.9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10cn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0.</m:t>
                          </m:r>
                          <m:sSup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</m:t>
                              </m:r>
                            </m:e>
                            <m:sup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10cn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6" name="c2-card-4"/>
          <p:cNvGrpSpPr/>
          <p:nvPr/>
        </p:nvGrpSpPr>
        <p:grpSpPr>
          <a:xfrm>
            <a:off x="6032182" y="2975610"/>
            <a:ext cx="5626418" cy="1403032"/>
            <a:chOff x="6032182" y="2975610"/>
            <a:chExt cx="5626418" cy="1403032"/>
          </a:xfrm>
        </p:grpSpPr>
        <p:sp>
          <p:nvSpPr>
            <p:cNvPr id="40" name="Rectangle 40"/>
            <p:cNvSpPr/>
            <p:nvPr/>
          </p:nvSpPr>
          <p:spPr>
            <a:xfrm>
              <a:off x="6032182" y="2975610"/>
              <a:ext cx="5626418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41708" y="310896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1258" y="31565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2977" y="31894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17233" y="3196114"/>
              <a:ext cx="31358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T(n) = O(n)，而且是最坏情况的 O(n)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44780" y="3513296"/>
              <a:ext cx="49547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分组求中位数 O(n)、Partition 一步 O(n)，每层总代价按 0.9 的比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例衰减，求和收敛。实测前 60 项部分和 9.982，极限正是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1/(1−0.9) = 10。</a:t>
              </a:r>
            </a:p>
          </p:txBody>
        </p:sp>
      </p:grpSp>
      <p:grpSp>
        <p:nvGrpSpPr>
          <p:cNvPr id="53" name="c2-card-5"/>
          <p:cNvGrpSpPr/>
          <p:nvPr/>
        </p:nvGrpSpPr>
        <p:grpSpPr>
          <a:xfrm>
            <a:off x="6032182" y="4543425"/>
            <a:ext cx="5626418" cy="1160145"/>
            <a:chOff x="6032182" y="4543425"/>
            <a:chExt cx="5626418" cy="1160145"/>
          </a:xfrm>
        </p:grpSpPr>
        <p:sp>
          <p:nvSpPr>
            <p:cNvPr id="47" name="Rectangle 47"/>
            <p:cNvSpPr/>
            <p:nvPr/>
          </p:nvSpPr>
          <p:spPr>
            <a:xfrm>
              <a:off x="6032182" y="4543425"/>
              <a:ext cx="562641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41708" y="467677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1258" y="472440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31776" y="475726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实际很少用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90613" y="4763929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常数 10 太大了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44780" y="5081111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分组、组内排序、递归求中位数都要真金白银的时间，实测往往比堆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排序或随机基准的快速排序还慢。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4" name="Rectangle 5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6039326"/>
              <a:ext cx="91858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BFPRT 选出的中位数当作快速排序的基准，能让快速排序的最坏时间降到 O(nlogn)，但同样因为常数太大而不划算。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00569" cy="909257"/>
            <a:chOff x="520446" y="342900"/>
            <a:chExt cx="80005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快速选择：只递归一侧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005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两个延伸问题：输出前 k 小，以及增量数据的 Top 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193982" cy="2214562"/>
            <a:chOff x="533400" y="1524000"/>
            <a:chExt cx="5193982" cy="22145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214562"/>
            </a:xfrm>
            <a:prstGeom prst="roundRect">
              <a:avLst>
                <a:gd name="adj" fmla="val 602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349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80566" y="1767364"/>
              <a:ext cx="29215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把数组中 k 个最小的元素全部输出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37235" y="210693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5580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8128" y="2119789"/>
              <a:ext cx="36843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先用 QuickSelect 找出第 k 小的元素 B，代价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O(n)。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7235" y="269843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5580" y="27387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8128" y="2711291"/>
              <a:ext cx="4390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再扫一遍数组，输出所有 ≤ B 的元素，代价 O(n)。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37235" y="301847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5580" y="30588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8128" y="3031331"/>
              <a:ext cx="3845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合计仍是 </a:t>
              </a:r>
              <a:r>
                <a:rPr lang="en-US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，输出的 k 个数不保证有序。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1139" y="334708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 k 个最大的元素同理，把比较方向反过来即可。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3924300"/>
            <a:ext cx="5193982" cy="1390650"/>
            <a:chOff x="533400" y="3924300"/>
            <a:chExt cx="5193982" cy="1390650"/>
          </a:xfrm>
        </p:grpSpPr>
        <p:sp>
          <p:nvSpPr>
            <p:cNvPr id="22" name="Rectangle 22"/>
            <p:cNvSpPr/>
            <p:nvPr/>
          </p:nvSpPr>
          <p:spPr>
            <a:xfrm>
              <a:off x="533400" y="3924300"/>
              <a:ext cx="5193982" cy="1390650"/>
            </a:xfrm>
            <a:prstGeom prst="roundRect">
              <a:avLst>
                <a:gd name="adj" fmla="val 821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6129" y="4515921"/>
              <a:ext cx="224134" cy="192560"/>
              <a:chOff x="726129" y="4515921"/>
              <a:chExt cx="224134" cy="1925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38200" y="45862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6129" y="45159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46640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511" y="4388644"/>
              <a:ext cx="424345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若 B 有重复值，第 2 步要数着输出，凑满 k 个就停，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否则会多输出。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032182" y="1524000"/>
            <a:ext cx="5626418" cy="1884998"/>
            <a:chOff x="6032182" y="1524000"/>
            <a:chExt cx="5626418" cy="1884998"/>
          </a:xfrm>
        </p:grpSpPr>
        <p:sp>
          <p:nvSpPr>
            <p:cNvPr id="29" name="Rectangle 29"/>
            <p:cNvSpPr/>
            <p:nvPr/>
          </p:nvSpPr>
          <p:spPr>
            <a:xfrm>
              <a:off x="6032182" y="1524000"/>
              <a:ext cx="5626418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41708" y="165735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74118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60376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问题二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17448" y="1767364"/>
              <a:ext cx="387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数组又来了一个新元素，怎么维护最大的 k 个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81738" y="21793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38329" y="2119789"/>
              <a:ext cx="433362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用快速选择：长度变成 n+1，只能对整个数组重新调用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QuickSelect，代价 </a:t>
              </a:r>
              <a:r>
                <a:rPr lang="en-US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281738" y="2770823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38329" y="2711291"/>
              <a:ext cx="47303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用堆：维护一个 k 个元素的小根堆，新元素与堆顶比一下，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必要时替换并下沉，代价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O(logk)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0" name="c2-table-2"/>
          <p:cNvGrpSpPr/>
          <p:nvPr/>
        </p:nvGrpSpPr>
        <p:grpSpPr>
          <a:xfrm>
            <a:off x="6032182" y="3593782"/>
            <a:ext cx="5626418" cy="1720215"/>
            <a:chOff x="6032182" y="3593782"/>
            <a:chExt cx="5626418" cy="1720215"/>
          </a:xfrm>
        </p:grpSpPr>
        <p:sp>
          <p:nvSpPr>
            <p:cNvPr id="39" name="Rectangle 39"/>
            <p:cNvSpPr/>
            <p:nvPr/>
          </p:nvSpPr>
          <p:spPr>
            <a:xfrm>
              <a:off x="6032182" y="3593782"/>
              <a:ext cx="5626418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89445" y="372522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97671" y="372522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快速选择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727817" y="3725227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37529" y="4155757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一次性给定全部数据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292465" y="4033838"/>
              <a:ext cx="166878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88286" y="4155757"/>
              <a:ext cx="895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O(n)，更快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076116" y="4155757"/>
              <a:ext cx="7215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O(nlogk)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32182" y="44500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32182" y="4454842"/>
              <a:ext cx="562641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37529" y="4585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数据不断新增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88286" y="4585335"/>
              <a:ext cx="1106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每来一个 O(n)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980295" y="4464368"/>
              <a:ext cx="166878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076116" y="4585335"/>
              <a:ext cx="1328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每来一个 O(logk)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48796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37529" y="501586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是否占额外空间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88286" y="501586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76116" y="5015865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 k 个单元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2182" y="3593782"/>
              <a:ext cx="5626418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278178" y="359378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966008" y="359378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61" name="Rectangle 61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511" y="5753576"/>
              <a:ext cx="987907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选型口诀：数据一次给全用快速选择，数据像流水一样来就用堆。堆更适合处理增量数据，这是第 18 讲优先级队列的典型用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途。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快速选择：只递归一侧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课下思考（一）：三道原地重排题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853235" cy="264033"/>
            <a:chOff x="526542" y="1545907"/>
            <a:chExt cx="485323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853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三题都是分划操作的变形，都要求时间 O(n)、空间 O(1)。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3319462"/>
            <a:chOff x="533400" y="1928812"/>
            <a:chExt cx="5410200" cy="331946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4390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 1、题 2　两个指针相向而行（题 2 源课件只给了题面）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600577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ReArrangeSign(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题 1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1, j = n;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j)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&lt;= n &amp;&amp; a[i] &gt; 0) i++;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找负数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(j &gt;= 1 &amp;&amp; a[j] &lt; 0) j--;  /* 找正数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j) swap(&amp;a[i], &amp;a[j]);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ReArrangeParity(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题 2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1, j = n;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j)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&lt;= n &amp;&amp; a[i] % 2 == 1) i++;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&gt;= 1 &amp;&amp; a[j] % 2 == 0) j--;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j) swap(&amp;a[i], &amp;a[j]);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248400" y="1928812"/>
            <a:ext cx="5410200" cy="2440305"/>
            <a:chOff x="6248400" y="1928812"/>
            <a:chExt cx="5410200" cy="2440305"/>
          </a:xfrm>
        </p:grpSpPr>
        <p:sp>
          <p:nvSpPr>
            <p:cNvPr id="13" name="Rectangle 13"/>
            <p:cNvSpPr/>
            <p:nvPr/>
          </p:nvSpPr>
          <p:spPr>
            <a:xfrm>
              <a:off x="6248400" y="1928812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6797" y="2080736"/>
              <a:ext cx="3057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 3　奇数放奇数位、偶数放偶数位（下标从 0 数）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6797" y="2340769"/>
              <a:ext cx="3525901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ReArrange(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1, j = 0;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i 扫奇数位，j 扫偶数位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n &amp;&amp; j &lt;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n &amp;&amp; A[i] % 2 == 1) i += 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 n &amp;&amp; A[j] % 2 == 0) j += 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 n &amp;&amp; j &lt; n)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swap(&amp;A[i], &amp;A[j]);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 += 2;  j += 2;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callout-2"/>
          <p:cNvGrpSpPr/>
          <p:nvPr/>
        </p:nvGrpSpPr>
        <p:grpSpPr>
          <a:xfrm>
            <a:off x="6248400" y="4538662"/>
            <a:ext cx="5410200" cy="729615"/>
            <a:chOff x="6248400" y="4538662"/>
            <a:chExt cx="5410200" cy="729615"/>
          </a:xfrm>
        </p:grpSpPr>
        <p:sp>
          <p:nvSpPr>
            <p:cNvPr id="17" name="Rectangle 17"/>
            <p:cNvSpPr/>
            <p:nvPr/>
          </p:nvSpPr>
          <p:spPr>
            <a:xfrm>
              <a:off x="6248400" y="453866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453188" y="4803460"/>
              <a:ext cx="200023" cy="200023"/>
              <a:chOff x="6453188" y="4803460"/>
              <a:chExt cx="200023" cy="2000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453188" y="48034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86538" y="48701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755892" y="4685348"/>
              <a:ext cx="44285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题 1、题 2 的指针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相向而行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；题 3 的指针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同向而行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，各自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只踩奇数位或偶数位。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23" name="Rectangle 23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26129" y="5894188"/>
              <a:ext cx="224134" cy="192560"/>
              <a:chOff x="726129" y="5894188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8200" y="5964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6129" y="5894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6042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5779770"/>
              <a:ext cx="99749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实测：题 2 把 2 7 4 9 6 1 8 3 排成 3 7 1 9 · 6 4 8 2；题 3 把 2 4 1 6 3 8 5 7 排成 2 1 4 3 6 5 8 7。题 1 要求输入没有 0，否则 0 会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卡在中间反复交换。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 · 快速选择：只递归一侧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课下思考（二）：两道考研与期末真题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375404" cy="264033"/>
            <a:chOff x="526542" y="1545907"/>
            <a:chExt cx="437540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两题的答案都是同一段三路分划代码，只换判断条件。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28812"/>
            <a:ext cx="5193982" cy="2060258"/>
            <a:chOff x="533400" y="1928812"/>
            <a:chExt cx="5193982" cy="206025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193982" cy="2060258"/>
            </a:xfrm>
            <a:prstGeom prst="roundRect">
              <a:avLst>
                <a:gd name="adj" fmla="val 64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7935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153162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8182" y="2148364"/>
              <a:ext cx="14116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2020 年北京大学考研题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332" y="2459355"/>
              <a:ext cx="3532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仅用交换操作，给只含 0、1、2 的数组排序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776538"/>
              <a:ext cx="43256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就是荷兰国旗问题：把红白蓝换成 0、1、2，算法一字不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改。j 遇 0 与 R[i] 换并同时前进，遇 2 与 R[k] 换且 j 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动，遇 1 只前进。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332" y="3590925"/>
              <a:ext cx="3076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时间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，空间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，只扫一趟。</a:t>
              </a:r>
            </a:p>
          </p:txBody>
        </p:sp>
      </p:grpSp>
      <p:grpSp>
        <p:nvGrpSpPr>
          <p:cNvPr id="67" name="c1-cells-2"/>
          <p:cNvGrpSpPr/>
          <p:nvPr/>
        </p:nvGrpSpPr>
        <p:grpSpPr>
          <a:xfrm>
            <a:off x="528638" y="4158615"/>
            <a:ext cx="4302442" cy="888683"/>
            <a:chOff x="528638" y="4158615"/>
            <a:chExt cx="4302442" cy="888683"/>
          </a:xfrm>
        </p:grpSpPr>
        <p:sp>
          <p:nvSpPr>
            <p:cNvPr id="17" name="TextBox 17"/>
            <p:cNvSpPr txBox="1"/>
            <p:nvPr/>
          </p:nvSpPr>
          <p:spPr>
            <a:xfrm>
              <a:off x="528638" y="428720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09650" y="4158615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28971" y="4287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27785" y="4158615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48058" y="4287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646872" y="4158615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66193" y="4287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965008" y="4158615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84328" y="4287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284095" y="4158615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403416" y="4287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602230" y="4158615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721551" y="4287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920365" y="4158615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040638" y="4287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239452" y="4158615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358773" y="4287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557588" y="4158615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676908" y="4287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76675" y="4158615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995996" y="4287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194810" y="4158615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14131" y="4287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512945" y="4158615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633218" y="4287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8638" y="480631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一趟后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09650" y="4678680"/>
              <a:ext cx="318135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28971" y="48063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327785" y="4678680"/>
              <a:ext cx="318135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448058" y="48063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646872" y="4678680"/>
              <a:ext cx="318135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766193" y="48063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965008" y="4678680"/>
              <a:ext cx="318135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84328" y="48063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284095" y="4678680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403416" y="48063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602230" y="4678680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721551" y="48063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920365" y="4678680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040638" y="48063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239452" y="4678680"/>
              <a:ext cx="31813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358773" y="48063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557588" y="4678680"/>
              <a:ext cx="318135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76908" y="48063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876675" y="4678680"/>
              <a:ext cx="318135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995996" y="48063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194810" y="4678680"/>
              <a:ext cx="318135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314131" y="48063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512945" y="4678680"/>
              <a:ext cx="318135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633218" y="48063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74" name="c2-card-1"/>
          <p:cNvGrpSpPr/>
          <p:nvPr/>
        </p:nvGrpSpPr>
        <p:grpSpPr>
          <a:xfrm>
            <a:off x="6032182" y="1928812"/>
            <a:ext cx="5626418" cy="1202055"/>
            <a:chOff x="6032182" y="1928812"/>
            <a:chExt cx="5626418" cy="1202055"/>
          </a:xfrm>
        </p:grpSpPr>
        <p:sp>
          <p:nvSpPr>
            <p:cNvPr id="68" name="Rectangle 68"/>
            <p:cNvSpPr/>
            <p:nvPr/>
          </p:nvSpPr>
          <p:spPr>
            <a:xfrm>
              <a:off x="6032182" y="1928812"/>
              <a:ext cx="5626418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041708" y="2062162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256972" y="2115502"/>
              <a:ext cx="183927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07386" y="2148364"/>
              <a:ext cx="17374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2020 级吉大期末题（15 分）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03692" y="2150745"/>
              <a:ext cx="3187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x 与 y（y &gt; x），把序列分成三段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250114" y="2476500"/>
              <a:ext cx="48657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 x 小的在左，比 y 大的在右，介于两者之间（含等于）的在中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间。把判断条件换成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A[j] &lt; x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A[j] &gt; y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8" name="c2-code-2"/>
          <p:cNvGrpSpPr/>
          <p:nvPr/>
        </p:nvGrpSpPr>
        <p:grpSpPr>
          <a:xfrm>
            <a:off x="6032182" y="3301365"/>
            <a:ext cx="5626418" cy="2264092"/>
            <a:chOff x="6032182" y="3301365"/>
            <a:chExt cx="5626418" cy="2264092"/>
          </a:xfrm>
        </p:grpSpPr>
        <p:sp>
          <p:nvSpPr>
            <p:cNvPr id="75" name="Rectangle 75"/>
            <p:cNvSpPr/>
            <p:nvPr/>
          </p:nvSpPr>
          <p:spPr>
            <a:xfrm>
              <a:off x="6032182" y="3301365"/>
              <a:ext cx="5626418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160580" y="3453289"/>
              <a:ext cx="21089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三段重排，时间 O(n)、空间 O(1)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160580" y="3713321"/>
              <a:ext cx="3706368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ThreeSplit(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m, j = m, k = n;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&lt;= k)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(A[j] &lt; x)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swap(&amp;A[j], &amp;A[i]); i++; j++;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(A[j] &gt; y)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swap(&amp;A[j], &amp;A[k]); k--;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j++;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9" name="Rectangle 7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892" y="6028373"/>
              <a:ext cx="8246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实测 x=4、y=8 时，9 3 7 1 12 4 8 2 10 5 11 6 重排为 3 1 2 · 6 5 4 8 7 · 10 11 12 9，三段划分正确。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42644" cy="909257"/>
            <a:chOff x="520446" y="342900"/>
            <a:chExt cx="13426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376297" cy="264033"/>
            <a:chOff x="526542" y="1545907"/>
            <a:chExt cx="237629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先自己写出答案，再看解答。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157412"/>
            <a:chOff x="533400" y="1928812"/>
            <a:chExt cx="3505200" cy="215741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86710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38 12 45 7 60 30 做一趟分划（基准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取第 1 个），结果与返回值是什么？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89026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停 45、G 停 30 换得 38 12 30 7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45；再 L 停 60、G 停 7，L&gt;G 退出；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换 R[1] 与 R[4] 得 7 12 30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38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60 45，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j=4。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251008"/>
            <a:ext cx="3505200" cy="1914525"/>
            <a:chOff x="533400" y="4251008"/>
            <a:chExt cx="3505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42510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4319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4648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772501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八条优化策略里，哪一条真的把最坏时间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降到了 O(nlogn)？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300186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只有第 7 条：递归深度到 2log₂n 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转堆排序（Introsort）。随机基准与三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数取中只降概率，尾递归与栈只省空间。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302194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Partition 里 G 不用判左边界，而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必须判右边界？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289026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R[m] 存着基准 K，R[G]&gt;K 在 G=m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处必假，K 自己就是哨兵。L 一侧没有哨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兵，全部元素都 ≤ K 时会越过 n。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2157412"/>
            <a:chOff x="4343400" y="4008120"/>
            <a:chExt cx="3505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288660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三路分划里 R[j] 大于基准时换到右边，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为什么不能 j++？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057299"/>
              <a:ext cx="301218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换过来的 R[k] 从未被检查过，必须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留在 j 处再判一次。换自左边 R[i] 的那一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支是已检查过的“等于”，可以 j++。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914525"/>
            <a:chOff x="8153400" y="1928812"/>
            <a:chExt cx="3505200" cy="19145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4513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快速排序的空间复杂度为什么写成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O(logn) ~ O(n)？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只算递归栈。最好和平均每层规模减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半，深度 O(logn)；最坏每层只减 1，深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 O(n)。数组原地重排，不计入。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08120"/>
            <a:ext cx="3505200" cy="2157412"/>
            <a:chOff x="8153400" y="4008120"/>
            <a:chExt cx="3505200" cy="2157412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529614"/>
              <a:ext cx="277322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nL = j − m = 6，要找第 4 小的元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素，下一步往哪边递归、找第几小？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057299"/>
              <a:ext cx="29796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nL=6 &gt; k−1=3，第 4 小在左区间，递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 QuickSelect(R, m, j−1, 4)，k 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变。只有往右走时才改成 k − nL − 1。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第19讲 快速排序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5857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6812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10027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分划 Partition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47316" y="2023110"/>
              <a:ext cx="2982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两指针相向扫描，一趟 O(n)，最多比较 n+1 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快速排序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47316" y="2404110"/>
              <a:ext cx="3488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 1.386nlog₂n，最坏 O(n²)，空间 O(logn)~O(n)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最坏输入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47316" y="2785110"/>
              <a:ext cx="2717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有序或逆序，因为固定取第 1 个元素作基准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优化策略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47316" y="3167062"/>
              <a:ext cx="2460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八条里只有 Introsort 改掉了最坏时间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快速选择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47316" y="3548062"/>
              <a:ext cx="3371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只递归一侧，平均 O(n)；BFPRT 把最坏也压到 O(n)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04787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1-card-2"/>
          <p:cNvGrpSpPr/>
          <p:nvPr/>
        </p:nvGrpSpPr>
        <p:grpSpPr>
          <a:xfrm>
            <a:off x="533400" y="3976688"/>
            <a:ext cx="5842635" cy="1448752"/>
            <a:chOff x="533400" y="3976688"/>
            <a:chExt cx="5842635" cy="1448752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448752"/>
            </a:xfrm>
            <a:prstGeom prst="roundRect">
              <a:avLst>
                <a:gd name="adj" fmla="val 9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1820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88145" y="419814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两处更正，多处补全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2475" y="450342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382" y="453904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223" y="4514374"/>
              <a:ext cx="4829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58 页显式栈版本漏了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if (m &gt;= n) continue;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（第 25 页）。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2475" y="478821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382" y="48238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223" y="4799171"/>
              <a:ext cx="43724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平均情况推导的边界应取 T(2)=3 而非 S₁（第 18 页）。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7141" y="5080635"/>
              <a:ext cx="55233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补全：稳定性反例的过程、奇偶重排的代码、两道真题的做法、快排与堆排的实测对比。</a:t>
              </a:r>
            </a:p>
          </p:txBody>
        </p:sp>
      </p:grpSp>
      <p:grpSp>
        <p:nvGrpSpPr>
          <p:cNvPr id="54" name="c2-bullets-1"/>
          <p:cNvGrpSpPr/>
          <p:nvPr/>
        </p:nvGrpSpPr>
        <p:grpSpPr>
          <a:xfrm>
            <a:off x="6681788" y="1533525"/>
            <a:ext cx="4804654" cy="1140428"/>
            <a:chOff x="6681788" y="1533525"/>
            <a:chExt cx="4804654" cy="1140428"/>
          </a:xfrm>
        </p:grpSpPr>
        <p:sp>
          <p:nvSpPr>
            <p:cNvPr id="42" name="Ellipse 42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51536" y="1545431"/>
              <a:ext cx="4534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分划口诀：L 找大的、G 找小的，末尾 swap(R[m], R[G])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51536" y="183784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三种复杂度对应三种输入，结论都要带前提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51536" y="2131219"/>
              <a:ext cx="37607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平均情况推导：乘 n 相减、除 n(n+1)、裂项累加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681788" y="24136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33694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51536" y="2424589"/>
              <a:ext cx="28274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八条策略只有 Introsort 治最坏时间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680835" y="2787968"/>
            <a:ext cx="4977765" cy="2637472"/>
            <a:chOff x="6680835" y="2787968"/>
            <a:chExt cx="4977765" cy="2637472"/>
          </a:xfrm>
        </p:grpSpPr>
        <p:sp>
          <p:nvSpPr>
            <p:cNvPr id="55" name="Rectangle 55"/>
            <p:cNvSpPr/>
            <p:nvPr/>
          </p:nvSpPr>
          <p:spPr>
            <a:xfrm>
              <a:off x="6680835" y="2787968"/>
              <a:ext cx="4977765" cy="2637472"/>
            </a:xfrm>
            <a:prstGeom prst="roundRect">
              <a:avLst>
                <a:gd name="adj" fmla="val 505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61810" y="296894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47332" y="300180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77341" y="300942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三步自查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62762" y="331470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914669" y="335032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32511" y="3325654"/>
              <a:ext cx="38727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蒙住第 7、8 页，自己把例子分划一遍，核对 j=6。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862762" y="359949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914669" y="363512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32511" y="3610451"/>
              <a:ext cx="38681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默写 Partition 与 QuickSelect，重点查 </a:t>
              </a:r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L &lt;= n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862762" y="38842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914669" y="391991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32511" y="3895249"/>
              <a:ext cx="4096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遮住第 30 页策略表第三列，逐条判断能否杜绝最坏。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9" name="Rectangle 69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5805011"/>
              <a:ext cx="9441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下一讲：第 20 讲 归并排序及比较排序下界。快速排序把力气花在分上，归并排序花在合上，并会证明任何基于比较的排序都逃不出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Ω(nlogn)。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6655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第19讲 快速排序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19">
  <a:themeElements>
    <a:clrScheme name="ds_l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19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2026-09-19T14:41:25Z</dcterms:created>
  <dcterms:modified xsi:type="dcterms:W3CDTF">2026-09-19T14:41:25Z</dcterms:modified>
  <cp:category/>
  <cp:contentStatus/>
</cp:coreProperties>
</file>