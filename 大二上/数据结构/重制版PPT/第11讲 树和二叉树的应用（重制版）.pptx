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af96ba98b99384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dafff05d2a36dc0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35a1f343e54aa86.png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第11讲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树和二叉树的应用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哈夫曼编码、表达式树与并查集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前缀码与最优编码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哈夫曼算法与实现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表达式树的构造与求值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并查集的两种优化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11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压缩与前缀码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等长编码浪费在哪里，前缀码要满足什么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79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扩充二叉树与 WPL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一个编码方案就是一棵扩充二叉树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构造、正确性、数组实现、解码与考题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后缀建树、后根求值、语法树与 DOM 树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父指针森林、路径压缩、按秩合并与等价类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说出前缀码的定义，判断一组编码是不是前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缀码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给定字符频次，手算哈夫曼树、编码表和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WPL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写出建树求 WPL 的 C 代码，并说清 O(n²)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从哪里来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由后缀表达式建出表达式树，再用后根遍历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求值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写出带路径压缩与按秩合并的并查集，解释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α(n) 的前提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压缩与前缀码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为什么要给不同字符分配不同长度的编码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等长编码的长度由字符种数定死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高频字符给短码才能压缩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不等长编码必须无前缀冲突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压缩与前缀码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压缩就是给每个字符换一套编码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编码把文件里的字符换成二进制位串，解码再把位串换回字符。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5842635" cy="1631632"/>
            <a:chOff x="533400" y="1967865"/>
            <a:chExt cx="5842635" cy="163163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编码与解码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数据压缩把文件中的每个字符转换为一个唯一的二进制位串，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这个过程称为编码；把位串还原成字符的过程称为解码。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19039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压缩要同时满足两件事：总位数尽量少，且解码结果唯一。</a:t>
              </a:r>
            </a:p>
          </p:txBody>
        </p:sp>
      </p:grpSp>
      <p:grpSp>
        <p:nvGrpSpPr>
          <p:cNvPr id="35" name="c1-flow-2"/>
          <p:cNvGrpSpPr/>
          <p:nvPr/>
        </p:nvGrpSpPr>
        <p:grpSpPr>
          <a:xfrm>
            <a:off x="666750" y="4285298"/>
            <a:ext cx="5576888" cy="438150"/>
            <a:chOff x="666750" y="4285298"/>
            <a:chExt cx="5576888" cy="438150"/>
          </a:xfrm>
        </p:grpSpPr>
        <p:sp>
          <p:nvSpPr>
            <p:cNvPr id="17" name="Freeform 17"/>
            <p:cNvSpPr/>
            <p:nvPr/>
          </p:nvSpPr>
          <p:spPr>
            <a:xfrm>
              <a:off x="1568768" y="45043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30692" y="44519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737485" y="45043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899410" y="44519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906202" y="45043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68128" y="44519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074920" y="450437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236845" y="44519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4285298"/>
              <a:ext cx="902018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35468" y="4285298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004185" y="4285298"/>
              <a:ext cx="902018" cy="438150"/>
            </a:xfrm>
            <a:custGeom>
              <a:avLst/>
              <a:gdLst/>
              <a:ahLst/>
              <a:cxnLst/>
              <a:rect l="l" t="t" r="r" b="b"/>
              <a:pathLst>
                <a:path w="902018" h="438150">
                  <a:moveTo>
                    <a:pt x="133350" y="0"/>
                  </a:moveTo>
                  <a:lnTo>
                    <a:pt x="902018" y="0"/>
                  </a:lnTo>
                  <a:lnTo>
                    <a:pt x="76866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172902" y="4285298"/>
              <a:ext cx="902018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41620" y="4285298"/>
              <a:ext cx="902018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2335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原文件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07209" y="44153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75927" y="44153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44644" y="44153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27205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原文件</a:t>
              </a:r>
            </a:p>
          </p:txBody>
        </p:sp>
      </p:grpSp>
      <p:grpSp>
        <p:nvGrpSpPr>
          <p:cNvPr id="42" name="c2-bullets-1"/>
          <p:cNvGrpSpPr/>
          <p:nvPr/>
        </p:nvGrpSpPr>
        <p:grpSpPr>
          <a:xfrm>
            <a:off x="6686550" y="1992630"/>
            <a:ext cx="4745355" cy="1554480"/>
            <a:chOff x="6686550" y="1992630"/>
            <a:chExt cx="4745355" cy="1554480"/>
          </a:xfrm>
        </p:grpSpPr>
        <p:sp>
          <p:nvSpPr>
            <p:cNvPr id="36" name="Ellipse 36"/>
            <p:cNvSpPr/>
            <p:nvPr/>
          </p:nvSpPr>
          <p:spPr>
            <a:xfrm>
              <a:off x="6686550" y="20554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44665" y="199263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嫦娥四号月球探测器、天问一号与祝融号火星车回传图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像，都要先压缩再发回地面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86550" y="26860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44665" y="262318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jpeg、png、mpeg（mp3、mp4）的熵编码环节都用哈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夫曼编码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86550" y="3316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44665" y="3253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本讲只讨论无损压缩，解码必须能一字不差地还原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680835" y="3678555"/>
            <a:ext cx="4977765" cy="1540192"/>
            <a:chOff x="6680835" y="3678555"/>
            <a:chExt cx="4977765" cy="1540192"/>
          </a:xfrm>
        </p:grpSpPr>
        <p:sp>
          <p:nvSpPr>
            <p:cNvPr id="43" name="Rectangle 43"/>
            <p:cNvSpPr/>
            <p:nvPr/>
          </p:nvSpPr>
          <p:spPr>
            <a:xfrm>
              <a:off x="6680835" y="3678555"/>
              <a:ext cx="4977765" cy="1540192"/>
            </a:xfrm>
            <a:prstGeom prst="roundRect">
              <a:avLst>
                <a:gd name="adj" fmla="val 742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885623" y="4348163"/>
              <a:ext cx="200026" cy="200025"/>
              <a:chOff x="6885623" y="434816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885623" y="43481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25361" y="43926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960077" y="45037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187565" y="4205288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同一份文件，编码方案不同，占用的存储空间可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以差出四分之一以上。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压缩要解决的是编码方案的选择问题，和文件内容本身无关。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压缩与前缀码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等长编码把长度定死了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005965"/>
            <a:chOff x="533400" y="1524000"/>
            <a:chExt cx="5410200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种字符的等长编码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文件只含 A、B、C、D 四种字符，其中 11 个 A、4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B、3 个 C、2 个 D。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8413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四种字符要互相区分，每个字符至少 ⌈log₂4⌉ = 2 位。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086100"/>
              <a:ext cx="4952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总编码长度 = (11 + 4 + 3 + 2) × 2 = 40 bit = 5 Byte。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720465"/>
            <a:ext cx="5410200" cy="1079182"/>
            <a:chOff x="533400" y="3720465"/>
            <a:chExt cx="5410200" cy="1079182"/>
          </a:xfrm>
        </p:grpSpPr>
        <p:sp>
          <p:nvSpPr>
            <p:cNvPr id="16" name="Rectangle 16"/>
            <p:cNvSpPr/>
            <p:nvPr/>
          </p:nvSpPr>
          <p:spPr>
            <a:xfrm>
              <a:off x="533400" y="3720465"/>
              <a:ext cx="5410200" cy="1079182"/>
            </a:xfrm>
            <a:prstGeom prst="roundRect">
              <a:avLst>
                <a:gd name="adj" fmla="val 105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160520"/>
              <a:ext cx="200026" cy="200026"/>
              <a:chOff x="738188" y="4160520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1605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2271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2605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01764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等长编码的总长度只跟字符总数有关，出现次数的差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别完全没有被利用。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302192"/>
            <a:chOff x="6248400" y="1524000"/>
            <a:chExt cx="5410200" cy="230219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88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707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频率悬殊时差距有多大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9844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文件有 100 个 A，B、C、D 各 1 个，合计 103 个字符。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6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7040" y="24650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全用 2 位：103 × 2 = 206 bit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800350"/>
              <a:ext cx="4149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用 1 位，B、C、D 各用 5 位：100 × 1 + 3 × 5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 bit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573" y="3418046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第二种方案只有第一种的 55.8%，省下 91 bit。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248400" y="4016692"/>
            <a:ext cx="5410200" cy="782955"/>
            <a:chOff x="6248400" y="4016692"/>
            <a:chExt cx="5410200" cy="782955"/>
          </a:xfrm>
        </p:grpSpPr>
        <p:sp>
          <p:nvSpPr>
            <p:cNvPr id="37" name="Rectangle 37"/>
            <p:cNvSpPr/>
            <p:nvPr/>
          </p:nvSpPr>
          <p:spPr>
            <a:xfrm>
              <a:off x="6248400" y="401669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53188" y="4308158"/>
              <a:ext cx="200026" cy="200026"/>
              <a:chOff x="6453188" y="430815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43081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19863" y="43859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130" y="416528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让出现次数多的字符拿到短编码，这一类编码称为熵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编码。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压缩的第一个着力点：编码长度要随出现频率变化，而不是所有字符一样长。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压缩与前缀码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不等长编码会解错，除非它是前缀码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6059805" cy="1600200"/>
            <a:chOff x="533400" y="1524000"/>
            <a:chExt cx="6059805" cy="16002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090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108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8550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38550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8550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05980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3663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ells-2"/>
          <p:cNvGrpSpPr/>
          <p:nvPr/>
        </p:nvGrpSpPr>
        <p:grpSpPr>
          <a:xfrm>
            <a:off x="527685" y="3339465"/>
            <a:ext cx="2242185" cy="1433513"/>
            <a:chOff x="527685" y="3339465"/>
            <a:chExt cx="2242185" cy="1433513"/>
          </a:xfrm>
        </p:grpSpPr>
        <p:sp>
          <p:nvSpPr>
            <p:cNvPr id="22" name="TextBox 22"/>
            <p:cNvSpPr txBox="1"/>
            <p:nvPr/>
          </p:nvSpPr>
          <p:spPr>
            <a:xfrm>
              <a:off x="527685" y="37037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读法一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93470" y="358902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53769" y="37037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512570" y="358902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72869" y="37037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31670" y="358902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1969" y="37037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50770" y="358902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11069" y="37037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0074" y="3339465"/>
              <a:ext cx="3858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= 10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1264920" y="34937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48274" y="3339465"/>
              <a:ext cx="3858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= 01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2103120" y="34937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45191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读法二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93470" y="440436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53769" y="4519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512570" y="440436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72869" y="4519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931670" y="440436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91969" y="4519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350770" y="440436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511069" y="4519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55245" y="4154805"/>
              <a:ext cx="533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= 1001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684020" y="430911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3" name="c1-callout-3"/>
          <p:cNvGrpSpPr/>
          <p:nvPr/>
        </p:nvGrpSpPr>
        <p:grpSpPr>
          <a:xfrm>
            <a:off x="533400" y="4943475"/>
            <a:ext cx="6059805" cy="729615"/>
            <a:chOff x="533400" y="4943475"/>
            <a:chExt cx="6059805" cy="729615"/>
          </a:xfrm>
        </p:grpSpPr>
        <p:sp>
          <p:nvSpPr>
            <p:cNvPr id="47" name="Rectangle 47"/>
            <p:cNvSpPr/>
            <p:nvPr/>
          </p:nvSpPr>
          <p:spPr>
            <a:xfrm>
              <a:off x="533400" y="4943475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203626"/>
              <a:ext cx="224134" cy="192560"/>
              <a:chOff x="726129" y="520362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2739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2036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3517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5089208"/>
              <a:ext cx="50114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的编码 10 是 C 的编码 1001 的前缀，位串 1001 既能读成 C，也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能读成 A 接 B。</a:t>
              </a:r>
            </a:p>
          </p:txBody>
        </p:sp>
      </p:grpSp>
      <p:grpSp>
        <p:nvGrpSpPr>
          <p:cNvPr id="56" name="c2-image-1"/>
          <p:cNvGrpSpPr/>
          <p:nvPr/>
        </p:nvGrpSpPr>
        <p:grpSpPr>
          <a:xfrm>
            <a:off x="8132445" y="1524000"/>
            <a:ext cx="2290762" cy="2000916"/>
            <a:chOff x="8132445" y="1524000"/>
            <a:chExt cx="2290762" cy="2000916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rcRect l="7" t="0" r="7" b="0"/>
            <a:stretch>
              <a:fillRect/>
            </a:stretch>
          </p:blipFill>
          <p:spPr>
            <a:xfrm>
              <a:off x="8132445" y="1524000"/>
              <a:ext cx="2290762" cy="1718310"/>
            </a:xfrm>
            <a:prstGeom prst="roundRect">
              <a:avLst>
                <a:gd name="adj" fmla="val 7760"/>
              </a:avLst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8283892" y="3334226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岔路的尽头才放箱子，路口上不放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898005" y="3675698"/>
            <a:ext cx="4760595" cy="1996440"/>
            <a:chOff x="6898005" y="3675698"/>
            <a:chExt cx="4760595" cy="1996440"/>
          </a:xfrm>
        </p:grpSpPr>
        <p:sp>
          <p:nvSpPr>
            <p:cNvPr id="57" name="Rectangle 57"/>
            <p:cNvSpPr/>
            <p:nvPr/>
          </p:nvSpPr>
          <p:spPr>
            <a:xfrm>
              <a:off x="6898005" y="3675698"/>
              <a:ext cx="4760595" cy="1996440"/>
            </a:xfrm>
            <a:prstGeom prst="roundRect">
              <a:avLst>
                <a:gd name="adj" fmla="val 66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07530" y="3809048"/>
              <a:ext cx="47625" cy="17297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22795" y="38623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14514" y="38952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88389" y="3897630"/>
              <a:ext cx="2630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前缀码（Prefix-Free Codes）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5937" y="422338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字符集中任何字符的编码，都不是其它字符编码的前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缀，这样的编码称为前缀码，也叫无前缀冲突编码。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4" name="Rectangle 6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8373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等长编码天生是前缀码，所以从来不会解错；一改成不等长，前缀码就成了必须检查的条件。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压缩与前缀码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最优编码问题的形式化描述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3498532"/>
            <a:chOff x="533400" y="1524000"/>
            <a:chExt cx="5626418" cy="34985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498532"/>
            </a:xfrm>
            <a:prstGeom prst="roundRect">
              <a:avLst>
                <a:gd name="adj" fmla="val 38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318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最优编码问题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82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设文件的字符集为 a₁、a₂、…、aₙ，字符 aᵢ 出现 cᵢ 次，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它的编码长度为 lᵢ。要求设计一个前缀码方案，使下面这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个总编码长度最小。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8"/>
                <p:cNvSpPr txBox="1">
                  <a:spLocks noGrp="1"/>
                </p:cNvSpPr>
                <p:nvPr/>
              </p:nvSpPr>
              <p:spPr>
                <a:xfrm>
                  <a:off x="781050" y="3011805"/>
                  <a:ext cx="5169218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table-1"/>
          <p:cNvGrpSpPr/>
          <p:nvPr/>
        </p:nvGrpSpPr>
        <p:grpSpPr>
          <a:xfrm>
            <a:off x="6464618" y="1524000"/>
            <a:ext cx="5193982" cy="2248852"/>
            <a:chOff x="6464618" y="1524000"/>
            <a:chExt cx="5193982" cy="2248852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725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575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0980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违反的后果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72441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唯一可译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44943" y="210835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一个位串只能解出一种字符序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4336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解码歧义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2657475"/>
              <a:ext cx="95345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2441" y="28970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4943" y="2783681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任一编码都不是另一编码的前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43363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需要额外的分隔符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72441" y="34590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熵编码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44943" y="34590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出现次数多的字符编码更短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43363" y="34590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压缩率上不去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43235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03077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llout-2"/>
          <p:cNvGrpSpPr/>
          <p:nvPr/>
        </p:nvGrpSpPr>
        <p:grpSpPr>
          <a:xfrm>
            <a:off x="6464618" y="3963352"/>
            <a:ext cx="5193982" cy="1059180"/>
            <a:chOff x="6464618" y="3963352"/>
            <a:chExt cx="5193982" cy="1059180"/>
          </a:xfrm>
        </p:grpSpPr>
        <p:sp>
          <p:nvSpPr>
            <p:cNvPr id="36" name="Rectangle 36"/>
            <p:cNvSpPr/>
            <p:nvPr/>
          </p:nvSpPr>
          <p:spPr>
            <a:xfrm>
              <a:off x="6464618" y="3963352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4392930"/>
              <a:ext cx="200026" cy="200026"/>
              <a:chOff x="6669405" y="439293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43929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9418" y="44596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58305" y="44929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348" y="4111942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前缀码是充分条件而不是必要条件，但非前缀码要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么需要分隔位，要么解码代价高，实用编码基本都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取前缀码。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到这一步问题还是一堆编码串；下一节把它换成一棵树，就能用二叉树的工具去解。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扩充二叉树与加权路径长度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97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把编码方案画成一棵树，总长度就变成 WPL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空指针位置补成外结点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字符只放在外结点上就是前缀码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7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总编码长度等于 WPL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扩充二叉树与加权路径长度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扩充二叉树：把空指针位置补成外结点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587942"/>
            <a:chOff x="533400" y="1524000"/>
            <a:chExt cx="5410200" cy="2587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87942"/>
            </a:xfrm>
            <a:prstGeom prst="roundRect">
              <a:avLst>
                <a:gd name="adj" fmla="val 51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212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扩充二叉树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在二叉树中每个空指针的位置都增加一个特殊结点（空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叶结点），由此生成的二叉树称为扩充二叉树。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原来的结点画成圆形，称为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内结点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，每个内结点都恰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2 个孩子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新补的结点称为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外结点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，没有孩子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70379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规定：空二叉树的扩充二叉树是只有一个外结点的树。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302442"/>
            <a:ext cx="5410200" cy="1471612"/>
            <a:chOff x="533400" y="4302442"/>
            <a:chExt cx="5410200" cy="1471612"/>
          </a:xfrm>
        </p:grpSpPr>
        <p:sp>
          <p:nvSpPr>
            <p:cNvPr id="19" name="Rectangle 19"/>
            <p:cNvSpPr/>
            <p:nvPr/>
          </p:nvSpPr>
          <p:spPr>
            <a:xfrm>
              <a:off x="533400" y="4302442"/>
              <a:ext cx="5410200" cy="1471612"/>
            </a:xfrm>
            <a:prstGeom prst="roundRect">
              <a:avLst>
                <a:gd name="adj" fmla="val 776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938713"/>
              <a:ext cx="200026" cy="200026"/>
              <a:chOff x="738188" y="493871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9387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4863" y="50165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79583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 n 个外结点的扩充二叉树，一定有 n − 1 个内结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点，总共 2n − 1 个结点。</a:t>
              </a:r>
            </a:p>
          </p:txBody>
        </p:sp>
      </p:grpSp>
      <p:grpSp>
        <p:nvGrpSpPr>
          <p:cNvPr id="33" name="c2-tree-1"/>
          <p:cNvGrpSpPr/>
          <p:nvPr/>
        </p:nvGrpSpPr>
        <p:grpSpPr>
          <a:xfrm>
            <a:off x="7391400" y="1560195"/>
            <a:ext cx="1771650" cy="1403985"/>
            <a:chOff x="7391400" y="1560195"/>
            <a:chExt cx="1771650" cy="1403985"/>
          </a:xfrm>
        </p:grpSpPr>
        <p:sp>
          <p:nvSpPr>
            <p:cNvPr id="25" name="Freeform 25"/>
            <p:cNvSpPr/>
            <p:nvPr/>
          </p:nvSpPr>
          <p:spPr>
            <a:xfrm>
              <a:off x="7600950" y="2262188"/>
              <a:ext cx="676275" cy="492442"/>
            </a:xfrm>
            <a:custGeom>
              <a:avLst/>
              <a:gdLst/>
              <a:ahLst/>
              <a:cxnLst/>
              <a:rect l="l" t="t" r="r" b="b"/>
              <a:pathLst>
                <a:path w="676275" h="492442">
                  <a:moveTo>
                    <a:pt x="0" y="0"/>
                  </a:moveTo>
                  <a:lnTo>
                    <a:pt x="676275" y="4924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00950" y="1769745"/>
              <a:ext cx="1352550" cy="492442"/>
            </a:xfrm>
            <a:custGeom>
              <a:avLst/>
              <a:gdLst/>
              <a:ahLst/>
              <a:cxnLst/>
              <a:rect l="l" t="t" r="r" b="b"/>
              <a:pathLst>
                <a:path w="1352550" h="492442">
                  <a:moveTo>
                    <a:pt x="1352550" y="0"/>
                  </a:moveTo>
                  <a:lnTo>
                    <a:pt x="0" y="4924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067675" y="254508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391400" y="2052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743950" y="156019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32022" y="26931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5747" y="22017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08297" y="170926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5" name="c2-text-2"/>
          <p:cNvGrpSpPr/>
          <p:nvPr/>
        </p:nvGrpSpPr>
        <p:grpSpPr>
          <a:xfrm>
            <a:off x="7508204" y="3212306"/>
            <a:ext cx="2890591" cy="249364"/>
            <a:chOff x="7508204" y="3212306"/>
            <a:chExt cx="2890591" cy="249364"/>
          </a:xfrm>
        </p:grpSpPr>
        <p:sp>
          <p:nvSpPr>
            <p:cNvPr id="34" name="TextBox 34"/>
            <p:cNvSpPr txBox="1"/>
            <p:nvPr/>
          </p:nvSpPr>
          <p:spPr>
            <a:xfrm>
              <a:off x="7508204" y="3212306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原二叉树：3 个结点，4 个空指针位置</a:t>
              </a:r>
            </a:p>
          </p:txBody>
        </p:sp>
      </p:grpSp>
      <p:grpSp>
        <p:nvGrpSpPr>
          <p:cNvPr id="56" name="c2-tree-3"/>
          <p:cNvGrpSpPr/>
          <p:nvPr/>
        </p:nvGrpSpPr>
        <p:grpSpPr>
          <a:xfrm>
            <a:off x="6715125" y="3611880"/>
            <a:ext cx="3800475" cy="1741170"/>
            <a:chOff x="6715125" y="3611880"/>
            <a:chExt cx="3800475" cy="1741170"/>
          </a:xfrm>
        </p:grpSpPr>
        <p:sp>
          <p:nvSpPr>
            <p:cNvPr id="36" name="Freeform 36"/>
            <p:cNvSpPr/>
            <p:nvPr/>
          </p:nvSpPr>
          <p:spPr>
            <a:xfrm>
              <a:off x="7939088" y="4702492"/>
              <a:ext cx="338138" cy="441008"/>
            </a:xfrm>
            <a:custGeom>
              <a:avLst/>
              <a:gdLst/>
              <a:ahLst/>
              <a:cxnLst/>
              <a:rect l="l" t="t" r="r" b="b"/>
              <a:pathLst>
                <a:path w="338138" h="441008">
                  <a:moveTo>
                    <a:pt x="338138" y="0"/>
                  </a:moveTo>
                  <a:lnTo>
                    <a:pt x="0" y="4410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77225" y="4702492"/>
              <a:ext cx="338138" cy="441008"/>
            </a:xfrm>
            <a:custGeom>
              <a:avLst/>
              <a:gdLst/>
              <a:ahLst/>
              <a:cxnLst/>
              <a:rect l="l" t="t" r="r" b="b"/>
              <a:pathLst>
                <a:path w="338138" h="441008">
                  <a:moveTo>
                    <a:pt x="0" y="0"/>
                  </a:moveTo>
                  <a:lnTo>
                    <a:pt x="338138" y="4410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924675" y="4262438"/>
              <a:ext cx="676275" cy="440055"/>
            </a:xfrm>
            <a:custGeom>
              <a:avLst/>
              <a:gdLst/>
              <a:ahLst/>
              <a:cxnLst/>
              <a:rect l="l" t="t" r="r" b="b"/>
              <a:pathLst>
                <a:path w="676275" h="440055">
                  <a:moveTo>
                    <a:pt x="676275" y="0"/>
                  </a:moveTo>
                  <a:lnTo>
                    <a:pt x="0" y="4400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600950" y="4262438"/>
              <a:ext cx="676275" cy="440055"/>
            </a:xfrm>
            <a:custGeom>
              <a:avLst/>
              <a:gdLst/>
              <a:ahLst/>
              <a:cxnLst/>
              <a:rect l="l" t="t" r="r" b="b"/>
              <a:pathLst>
                <a:path w="676275" h="440055">
                  <a:moveTo>
                    <a:pt x="0" y="0"/>
                  </a:moveTo>
                  <a:lnTo>
                    <a:pt x="676275" y="4400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600950" y="3821430"/>
              <a:ext cx="1352550" cy="441008"/>
            </a:xfrm>
            <a:custGeom>
              <a:avLst/>
              <a:gdLst/>
              <a:ahLst/>
              <a:cxnLst/>
              <a:rect l="l" t="t" r="r" b="b"/>
              <a:pathLst>
                <a:path w="1352550" h="441008">
                  <a:moveTo>
                    <a:pt x="1352550" y="0"/>
                  </a:moveTo>
                  <a:lnTo>
                    <a:pt x="0" y="4410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53500" y="3821430"/>
              <a:ext cx="1352550" cy="441008"/>
            </a:xfrm>
            <a:custGeom>
              <a:avLst/>
              <a:gdLst/>
              <a:ahLst/>
              <a:cxnLst/>
              <a:rect l="l" t="t" r="r" b="b"/>
              <a:pathLst>
                <a:path w="1352550" h="441008">
                  <a:moveTo>
                    <a:pt x="0" y="0"/>
                  </a:moveTo>
                  <a:lnTo>
                    <a:pt x="1352550" y="4410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715125" y="4492942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729538" y="4933950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405812" y="4933950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067675" y="449294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391400" y="40528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096500" y="4052888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743950" y="361188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81628" y="46420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96040" y="5083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72315" y="5083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32022" y="46420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5747" y="42019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63003" y="42019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08297" y="37609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8" name="c2-text-4"/>
          <p:cNvGrpSpPr/>
          <p:nvPr/>
        </p:nvGrpSpPr>
        <p:grpSpPr>
          <a:xfrm>
            <a:off x="7680518" y="5575459"/>
            <a:ext cx="2545964" cy="249364"/>
            <a:chOff x="7680518" y="5575459"/>
            <a:chExt cx="2545964" cy="249364"/>
          </a:xfrm>
        </p:grpSpPr>
        <p:sp>
          <p:nvSpPr>
            <p:cNvPr id="57" name="TextBox 57"/>
            <p:cNvSpPr txBox="1"/>
            <p:nvPr/>
          </p:nvSpPr>
          <p:spPr>
            <a:xfrm>
              <a:off x="7680518" y="5575459"/>
              <a:ext cx="25459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扩充后：3 个内结点，4 个外结点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945" cy="909257"/>
            <a:chOff x="520446" y="342900"/>
            <a:chExt cx="5993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扩充二叉树与加权路径长度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加权路径长度 WPL：权值乘深度再求和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317432"/>
            <a:chOff x="533400" y="1524000"/>
            <a:chExt cx="4977765" cy="23174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17432"/>
            </a:xfrm>
            <a:prstGeom prst="roundRect">
              <a:avLst>
                <a:gd name="adj" fmla="val 57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07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加权路径长度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2614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设扩充二叉树有 n 个外结点，第 i 个外结点的权值为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wᵢ、深度为 Lᵢ（根的深度为 0），则加权路径长度定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义为：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"/>
                <p:cNvSpPr txBox="1">
                  <a:spLocks noGrp="1"/>
                </p:cNvSpPr>
                <p:nvPr/>
              </p:nvSpPr>
              <p:spPr>
                <a:xfrm>
                  <a:off x="775335" y="2958465"/>
                  <a:ext cx="4531995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WPL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4026218"/>
            <a:ext cx="4977765" cy="2065020"/>
            <a:chOff x="533400" y="4026218"/>
            <a:chExt cx="4977765" cy="2065020"/>
          </a:xfrm>
        </p:grpSpPr>
        <p:sp>
          <p:nvSpPr>
            <p:cNvPr id="15" name="Rectangle 15"/>
            <p:cNvSpPr/>
            <p:nvPr/>
          </p:nvSpPr>
          <p:spPr>
            <a:xfrm>
              <a:off x="533400" y="4026218"/>
              <a:ext cx="4977765" cy="2065020"/>
            </a:xfrm>
            <a:prstGeom prst="roundRect">
              <a:avLst>
                <a:gd name="adj" fmla="val 6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59568"/>
              <a:ext cx="47625" cy="17983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2300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42657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6744" y="42705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622006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个带权外结点能构成很多棵形状不同的扩充二叉树，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WPL 值最小的那一棵称为最优二叉树。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5815965" y="1524000"/>
            <a:ext cx="5842635" cy="2146935"/>
            <a:chOff x="5815965" y="1524000"/>
            <a:chExt cx="5842635" cy="2146935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6438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2754" y="1655445"/>
              <a:ext cx="206387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外结点权值 4 2 3 11 的三种摆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6389" y="17621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各自的深度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57058" y="1762125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WPL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21312" y="2298382"/>
              <a:ext cx="208026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只走一层，2 和 3 沉到第三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8766" y="2405063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2、3、3、1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409748" y="2177415"/>
              <a:ext cx="2239328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05569" y="2405063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4×2+2×3+3×3+11×1 = 34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28060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15965" y="281082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21312" y="2942272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沉到第三层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8766" y="2942272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2、3、3、1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09748" y="2820352"/>
              <a:ext cx="223932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05569" y="2942272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3×2+4×3+11×3+2×1 = 53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2365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1312" y="337280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全部摆在第二层（等长编码）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18766" y="3372802"/>
              <a:ext cx="852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2、2、2、2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05569" y="3372802"/>
              <a:ext cx="17972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2×2+11×2+3×2+4×2 = 40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1524000"/>
              <a:ext cx="5842635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08658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395460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2"/>
          <p:cNvGrpSpPr/>
          <p:nvPr/>
        </p:nvGrpSpPr>
        <p:grpSpPr>
          <a:xfrm>
            <a:off x="5815965" y="3856672"/>
            <a:ext cx="5842635" cy="756285"/>
            <a:chOff x="5815965" y="3856672"/>
            <a:chExt cx="5842635" cy="756285"/>
          </a:xfrm>
        </p:grpSpPr>
        <p:sp>
          <p:nvSpPr>
            <p:cNvPr id="44" name="Rectangle 44"/>
            <p:cNvSpPr/>
            <p:nvPr/>
          </p:nvSpPr>
          <p:spPr>
            <a:xfrm>
              <a:off x="5815965" y="385667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020753" y="4134805"/>
              <a:ext cx="200023" cy="200023"/>
              <a:chOff x="6020753" y="413480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020753" y="41348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54103" y="4201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323076" y="4003834"/>
              <a:ext cx="484759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同样四个权值，最好的摆法 34，最差的 53，差了将近一半。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穷举 4 个外结点的全部形态与排列，最小值就是 34。</a:t>
              </a:r>
            </a:p>
          </p:txBody>
        </p:sp>
      </p:grpSp>
      <p:grpSp>
        <p:nvGrpSpPr>
          <p:cNvPr id="56" name="c2-card-3"/>
          <p:cNvGrpSpPr/>
          <p:nvPr/>
        </p:nvGrpSpPr>
        <p:grpSpPr>
          <a:xfrm>
            <a:off x="5815965" y="4798695"/>
            <a:ext cx="5842635" cy="1293495"/>
            <a:chOff x="5815965" y="4798695"/>
            <a:chExt cx="5842635" cy="1293495"/>
          </a:xfrm>
        </p:grpSpPr>
        <p:sp>
          <p:nvSpPr>
            <p:cNvPr id="50" name="Rectangle 50"/>
            <p:cNvSpPr/>
            <p:nvPr/>
          </p:nvSpPr>
          <p:spPr>
            <a:xfrm>
              <a:off x="5815965" y="4798695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493204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57900" y="50015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48108" y="50372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58356" y="5042059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深度从 0 数起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50661" y="5393531"/>
              <a:ext cx="51902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 Lᵢ 就是从根走到该外结点经过的边数，也正好是该字符编码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的位数，所以根的深度必须记成 0。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扩充二叉树与加权路径长度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一个编码方案就是一棵扩充二叉树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193982" cy="2244090"/>
            <a:chOff x="533400" y="1524000"/>
            <a:chExt cx="5193982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57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文件编码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4709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扩充二叉树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 aᵢ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48203" y="2108359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 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47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字符的出现次数 cᵢ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48203" y="2556986"/>
              <a:ext cx="1322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外结点的权值 wᵢ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字符的编码长度 lᵢ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48203" y="3005614"/>
              <a:ext cx="13017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外结点的深度 Lᵢ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文件总编码长度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49905" y="3328988"/>
              <a:ext cx="266700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48203" y="3454241"/>
              <a:ext cx="1665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扩充二叉树的 WPL 值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3561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llout-2"/>
          <p:cNvGrpSpPr/>
          <p:nvPr/>
        </p:nvGrpSpPr>
        <p:grpSpPr>
          <a:xfrm>
            <a:off x="533400" y="3958590"/>
            <a:ext cx="5193982" cy="1430655"/>
            <a:chOff x="533400" y="3958590"/>
            <a:chExt cx="5193982" cy="1430655"/>
          </a:xfrm>
        </p:grpSpPr>
        <p:sp>
          <p:nvSpPr>
            <p:cNvPr id="27" name="Rectangle 27"/>
            <p:cNvSpPr/>
            <p:nvPr/>
          </p:nvSpPr>
          <p:spPr>
            <a:xfrm>
              <a:off x="533400" y="3958590"/>
              <a:ext cx="5193982" cy="1430655"/>
            </a:xfrm>
            <a:prstGeom prst="roundRect">
              <a:avLst>
                <a:gd name="adj" fmla="val 798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573905"/>
              <a:ext cx="200026" cy="200026"/>
              <a:chOff x="738188" y="457390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5739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4863" y="46516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43103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字符只放在外结点上，路径标号串就互不为前缀，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前缀码这个条件自动满足。</a:t>
              </a:r>
            </a:p>
          </p:txBody>
        </p:sp>
      </p:grpSp>
      <p:grpSp>
        <p:nvGrpSpPr>
          <p:cNvPr id="57" name="c2-tree-1"/>
          <p:cNvGrpSpPr/>
          <p:nvPr/>
        </p:nvGrpSpPr>
        <p:grpSpPr>
          <a:xfrm>
            <a:off x="7229475" y="1662112"/>
            <a:ext cx="4287203" cy="2720817"/>
            <a:chOff x="7229475" y="1662112"/>
            <a:chExt cx="4287203" cy="2720817"/>
          </a:xfrm>
        </p:grpSpPr>
        <p:sp>
          <p:nvSpPr>
            <p:cNvPr id="33" name="Freeform 33"/>
            <p:cNvSpPr/>
            <p:nvPr/>
          </p:nvSpPr>
          <p:spPr>
            <a:xfrm>
              <a:off x="10603230" y="3262312"/>
              <a:ext cx="352425" cy="695325"/>
            </a:xfrm>
            <a:custGeom>
              <a:avLst/>
              <a:gdLst/>
              <a:ahLst/>
              <a:cxnLst/>
              <a:rect l="l" t="t" r="r" b="b"/>
              <a:pathLst>
                <a:path w="352425" h="695325">
                  <a:moveTo>
                    <a:pt x="352425" y="0"/>
                  </a:moveTo>
                  <a:lnTo>
                    <a:pt x="0" y="695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955655" y="3262312"/>
              <a:ext cx="351472" cy="695325"/>
            </a:xfrm>
            <a:custGeom>
              <a:avLst/>
              <a:gdLst/>
              <a:ahLst/>
              <a:cxnLst/>
              <a:rect l="l" t="t" r="r" b="b"/>
              <a:pathLst>
                <a:path w="351472" h="695325">
                  <a:moveTo>
                    <a:pt x="0" y="0"/>
                  </a:moveTo>
                  <a:lnTo>
                    <a:pt x="351472" y="695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548812" y="2566988"/>
              <a:ext cx="702945" cy="695325"/>
            </a:xfrm>
            <a:custGeom>
              <a:avLst/>
              <a:gdLst/>
              <a:ahLst/>
              <a:cxnLst/>
              <a:rect l="l" t="t" r="r" b="b"/>
              <a:pathLst>
                <a:path w="702945" h="695325">
                  <a:moveTo>
                    <a:pt x="702945" y="0"/>
                  </a:moveTo>
                  <a:lnTo>
                    <a:pt x="0" y="695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51758" y="2566988"/>
              <a:ext cx="703898" cy="695325"/>
            </a:xfrm>
            <a:custGeom>
              <a:avLst/>
              <a:gdLst/>
              <a:ahLst/>
              <a:cxnLst/>
              <a:rect l="l" t="t" r="r" b="b"/>
              <a:pathLst>
                <a:path w="703898" h="695325">
                  <a:moveTo>
                    <a:pt x="0" y="0"/>
                  </a:moveTo>
                  <a:lnTo>
                    <a:pt x="703898" y="695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439025" y="1871662"/>
              <a:ext cx="1405890" cy="695325"/>
            </a:xfrm>
            <a:custGeom>
              <a:avLst/>
              <a:gdLst/>
              <a:ahLst/>
              <a:cxnLst/>
              <a:rect l="l" t="t" r="r" b="b"/>
              <a:pathLst>
                <a:path w="1405890" h="695325">
                  <a:moveTo>
                    <a:pt x="1405890" y="0"/>
                  </a:moveTo>
                  <a:lnTo>
                    <a:pt x="0" y="695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44915" y="1871662"/>
              <a:ext cx="1406842" cy="695325"/>
            </a:xfrm>
            <a:custGeom>
              <a:avLst/>
              <a:gdLst/>
              <a:ahLst/>
              <a:cxnLst/>
              <a:rect l="l" t="t" r="r" b="b"/>
              <a:pathLst>
                <a:path w="1406842" h="695325">
                  <a:moveTo>
                    <a:pt x="0" y="0"/>
                  </a:moveTo>
                  <a:lnTo>
                    <a:pt x="1406842" y="695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229475" y="2357438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339262" y="305276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393680" y="3748088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1097578" y="3748088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46105" y="3052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042208" y="23574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635365" y="16621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57884" y="25065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6636" y="2830354"/>
              <a:ext cx="2447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A｜0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05765" y="3201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96067" y="3525679"/>
              <a:ext cx="305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B｜10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60183" y="38971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20128" y="4221004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C｜110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64080" y="38971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24025" y="4221004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D｜111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12608" y="3201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08710" y="25065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63774" y="18111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  <p:grpSp>
        <p:nvGrpSpPr>
          <p:cNvPr id="59" name="c2-text-2"/>
          <p:cNvGrpSpPr/>
          <p:nvPr/>
        </p:nvGrpSpPr>
        <p:grpSpPr>
          <a:xfrm>
            <a:off x="6025706" y="4688681"/>
            <a:ext cx="5409946" cy="752284"/>
            <a:chOff x="6025706" y="4688681"/>
            <a:chExt cx="5409946" cy="752284"/>
          </a:xfrm>
        </p:grpSpPr>
        <p:sp>
          <p:nvSpPr>
            <p:cNvPr id="58" name="TextBox 58"/>
            <p:cNvSpPr txBox="1"/>
            <p:nvPr/>
          </p:nvSpPr>
          <p:spPr>
            <a:xfrm>
              <a:off x="6025706" y="4688681"/>
              <a:ext cx="5409946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还是例1 那份文件（11 个 A、4 个 B、3 个 C、2 个 D）。等长编码对应四个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外结点全在第二层的那棵树，WPL = 40，正是前面算出的 40 bit；换成上面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这棵树，WPL = 11×1 + 4×2 + 3×3 + 2×3 =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34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bit。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6050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最优编码问题 ⇔ 给定 n 个权值，构造一棵 WPL 最小的扩充二叉树。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哈夫曼树与哈夫曼编码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自底向上每次合并两个最小的权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44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Shannon-Fano 自顶向下切分不保证最优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哈夫曼算法可以证明最优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数组实现与解码过程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981" cy="909257"/>
            <a:chOff x="520446" y="342900"/>
            <a:chExt cx="6891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Shannon-Fano：自顶向下切，但切不出最优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786116" cy="293370"/>
            <a:chOff x="525780" y="1548765"/>
            <a:chExt cx="778611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786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一份新的例子文件：A 出现 15 次，B 7 次，C 6 次，D 6 次，E 5 次，合计 39 个字符。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64055"/>
            <a:ext cx="5475122" cy="2398776"/>
            <a:chOff x="533400" y="1964055"/>
            <a:chExt cx="5475122" cy="2398776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12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75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147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9969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277428"/>
              <a:ext cx="27547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按出现次数递减排成 A15 B7 C6 D6 E5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6141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894648"/>
              <a:ext cx="4595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切成 A B 与 C D E 两部分，两边之和是 22 和 17，差 5 已是最小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2304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510915"/>
              <a:ext cx="50621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切成 A 与 B；C D E 按 C 与 D E 切，差 5 优于按 C D 与 E 切的差 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84762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读编码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128135"/>
              <a:ext cx="4385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左半支记 0、右半支记 1，得 A=00 B=01 C=10 D=110 E=111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533900"/>
            <a:ext cx="5410200" cy="1152525"/>
            <a:chOff x="533400" y="4533900"/>
            <a:chExt cx="5410200" cy="1152525"/>
          </a:xfrm>
        </p:grpSpPr>
        <p:sp>
          <p:nvSpPr>
            <p:cNvPr id="27" name="Rectangle 27"/>
            <p:cNvSpPr/>
            <p:nvPr/>
          </p:nvSpPr>
          <p:spPr>
            <a:xfrm>
              <a:off x="533400" y="4533900"/>
              <a:ext cx="5410200" cy="1152525"/>
            </a:xfrm>
            <a:prstGeom prst="roundRect">
              <a:avLst>
                <a:gd name="adj" fmla="val 991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006458"/>
              <a:ext cx="224134" cy="192560"/>
              <a:chOff x="726129" y="500645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0768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0064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154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4879181"/>
              <a:ext cx="43074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WPL = (15+7+6)×2 + (6+5)×3 = 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89</a:t>
              </a: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，比下一页哈夫曼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算法的 87 多 2。</a:t>
              </a:r>
            </a:p>
          </p:txBody>
        </p:sp>
      </p:grpSp>
      <p:grpSp>
        <p:nvGrpSpPr>
          <p:cNvPr id="65" name="c2-tree-1"/>
          <p:cNvGrpSpPr/>
          <p:nvPr/>
        </p:nvGrpSpPr>
        <p:grpSpPr>
          <a:xfrm>
            <a:off x="6727508" y="2021205"/>
            <a:ext cx="4790122" cy="2194084"/>
            <a:chOff x="6727508" y="2021205"/>
            <a:chExt cx="4790122" cy="2194084"/>
          </a:xfrm>
        </p:grpSpPr>
        <p:sp>
          <p:nvSpPr>
            <p:cNvPr id="34" name="Freeform 34"/>
            <p:cNvSpPr/>
            <p:nvPr/>
          </p:nvSpPr>
          <p:spPr>
            <a:xfrm>
              <a:off x="6924675" y="2746058"/>
              <a:ext cx="676275" cy="528638"/>
            </a:xfrm>
            <a:custGeom>
              <a:avLst/>
              <a:gdLst/>
              <a:ahLst/>
              <a:cxnLst/>
              <a:rect l="l" t="t" r="r" b="b"/>
              <a:pathLst>
                <a:path w="676275" h="528638">
                  <a:moveTo>
                    <a:pt x="676275" y="0"/>
                  </a:moveTo>
                  <a:lnTo>
                    <a:pt x="0" y="528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00950" y="2746058"/>
              <a:ext cx="676275" cy="528638"/>
            </a:xfrm>
            <a:custGeom>
              <a:avLst/>
              <a:gdLst/>
              <a:ahLst/>
              <a:cxnLst/>
              <a:rect l="l" t="t" r="r" b="b"/>
              <a:pathLst>
                <a:path w="676275" h="528638">
                  <a:moveTo>
                    <a:pt x="0" y="0"/>
                  </a:moveTo>
                  <a:lnTo>
                    <a:pt x="676275" y="528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644188" y="3274695"/>
              <a:ext cx="338138" cy="527685"/>
            </a:xfrm>
            <a:custGeom>
              <a:avLst/>
              <a:gdLst/>
              <a:ahLst/>
              <a:cxnLst/>
              <a:rect l="l" t="t" r="r" b="b"/>
              <a:pathLst>
                <a:path w="338138" h="527685">
                  <a:moveTo>
                    <a:pt x="338138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982325" y="3274695"/>
              <a:ext cx="338138" cy="527685"/>
            </a:xfrm>
            <a:custGeom>
              <a:avLst/>
              <a:gdLst/>
              <a:ahLst/>
              <a:cxnLst/>
              <a:rect l="l" t="t" r="r" b="b"/>
              <a:pathLst>
                <a:path w="338138" h="527685">
                  <a:moveTo>
                    <a:pt x="0" y="0"/>
                  </a:moveTo>
                  <a:lnTo>
                    <a:pt x="338138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629775" y="2746058"/>
              <a:ext cx="676275" cy="528638"/>
            </a:xfrm>
            <a:custGeom>
              <a:avLst/>
              <a:gdLst/>
              <a:ahLst/>
              <a:cxnLst/>
              <a:rect l="l" t="t" r="r" b="b"/>
              <a:pathLst>
                <a:path w="676275" h="528638">
                  <a:moveTo>
                    <a:pt x="676275" y="0"/>
                  </a:moveTo>
                  <a:lnTo>
                    <a:pt x="0" y="528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306050" y="2746058"/>
              <a:ext cx="676275" cy="528638"/>
            </a:xfrm>
            <a:custGeom>
              <a:avLst/>
              <a:gdLst/>
              <a:ahLst/>
              <a:cxnLst/>
              <a:rect l="l" t="t" r="r" b="b"/>
              <a:pathLst>
                <a:path w="676275" h="528638">
                  <a:moveTo>
                    <a:pt x="0" y="0"/>
                  </a:moveTo>
                  <a:lnTo>
                    <a:pt x="676275" y="528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600950" y="2218372"/>
              <a:ext cx="1352550" cy="527685"/>
            </a:xfrm>
            <a:custGeom>
              <a:avLst/>
              <a:gdLst/>
              <a:ahLst/>
              <a:cxnLst/>
              <a:rect l="l" t="t" r="r" b="b"/>
              <a:pathLst>
                <a:path w="1352550" h="527685">
                  <a:moveTo>
                    <a:pt x="1352550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53500" y="2218372"/>
              <a:ext cx="1352550" cy="527685"/>
            </a:xfrm>
            <a:custGeom>
              <a:avLst/>
              <a:gdLst/>
              <a:ahLst/>
              <a:cxnLst/>
              <a:rect l="l" t="t" r="r" b="b"/>
              <a:pathLst>
                <a:path w="1352550" h="527685">
                  <a:moveTo>
                    <a:pt x="0" y="0"/>
                  </a:moveTo>
                  <a:lnTo>
                    <a:pt x="135255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727508" y="3077528"/>
              <a:ext cx="394335" cy="3943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080058" y="3077528"/>
              <a:ext cx="394335" cy="3943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403782" y="2548890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432608" y="3077528"/>
              <a:ext cx="394335" cy="3943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447020" y="3605212"/>
              <a:ext cx="394335" cy="3943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1123295" y="3605212"/>
              <a:ext cx="394335" cy="3943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785158" y="307752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108882" y="2548890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756332" y="2021205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49944" y="32184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71930" y="3524726"/>
              <a:ext cx="305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A｜00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37478" y="32184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24480" y="3524726"/>
              <a:ext cx="305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B｜01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26219" y="26908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90028" y="32184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77030" y="3524726"/>
              <a:ext cx="305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C｜10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04441" y="37461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61085" y="4053364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D｜110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80716" y="37461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37360" y="4053364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E｜111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07594" y="321849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31319" y="26908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78769" y="21621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4417695"/>
            <a:ext cx="5410200" cy="1268730"/>
            <a:chOff x="6248400" y="4417695"/>
            <a:chExt cx="5410200" cy="1268730"/>
          </a:xfrm>
        </p:grpSpPr>
        <p:sp>
          <p:nvSpPr>
            <p:cNvPr id="66" name="Rectangle 66"/>
            <p:cNvSpPr/>
            <p:nvPr/>
          </p:nvSpPr>
          <p:spPr>
            <a:xfrm>
              <a:off x="6248400" y="4417695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4551045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84620" y="46158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76060" y="46501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症结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67931" y="465153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每一刀只顾眼前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77381" y="499443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自顶向下切分只保证当前这一刀两边频率接近，并不管后面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还要切几层，所以得到的树不一定是 WPL 最小的。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3" name="Rectangle 7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511" y="6011704"/>
              <a:ext cx="5170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Shannon-Fano 是前缀码，也是熵编码，但它不是最优编码。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哈夫曼算法：每次合并两个最小的权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869180" cy="2577465"/>
            <a:chOff x="533400" y="1524000"/>
            <a:chExt cx="4869180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752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Huffman 算法三步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834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由给定的 n 个权值 w₁…wₙ 构成 n 棵二叉树，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每棵只有一个结点，权值为 wᵢ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选出权值最小的两个根结点合并：新建一个结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点作为它们的父结点，权值取两个孩子之和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3585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371850"/>
              <a:ext cx="3853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重复第 2 步，直到只剩一棵二叉树，它就是哈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夫曼树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291965"/>
            <a:ext cx="4869180" cy="782955"/>
            <a:chOff x="533400" y="4291965"/>
            <a:chExt cx="486918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429196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583430"/>
              <a:ext cx="200026" cy="200026"/>
              <a:chOff x="738188" y="458343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5834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04863" y="46612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4440555"/>
              <a:ext cx="3987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每轮结点总数减 1，n 个外结点要合并 n − 1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次，合并出的 n − 1 个新结点就是全部内结点。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707380" y="1524000"/>
            <a:ext cx="5951220" cy="2244090"/>
            <a:chOff x="5707380" y="1524000"/>
            <a:chExt cx="5951220" cy="2244090"/>
          </a:xfrm>
        </p:grpSpPr>
        <p:sp>
          <p:nvSpPr>
            <p:cNvPr id="28" name="Rectangle 28"/>
            <p:cNvSpPr/>
            <p:nvPr/>
          </p:nvSpPr>
          <p:spPr>
            <a:xfrm>
              <a:off x="5707380" y="1524000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696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2143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当前待合并的权值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9251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取出的两个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7167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15203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6291" y="2108359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5 6 6 7 15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53690" y="2108359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和 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2245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0738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15203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96291" y="2556986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6 7 11 15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53690" y="2556986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和 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2245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5203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96291" y="3005614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11 13 15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53690" y="3005614"/>
              <a:ext cx="6677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和 13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2245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0738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70738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15203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6291" y="3454241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15 24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53690" y="3454241"/>
              <a:ext cx="6677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和 24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24160" y="3328988"/>
              <a:ext cx="122491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2245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07380" y="1524000"/>
              <a:ext cx="595122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837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8411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0987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5707380" y="3958590"/>
            <a:ext cx="5951220" cy="1116330"/>
            <a:chOff x="5707380" y="3958590"/>
            <a:chExt cx="5951220" cy="1116330"/>
          </a:xfrm>
        </p:grpSpPr>
        <p:sp>
          <p:nvSpPr>
            <p:cNvPr id="60" name="Rectangle 60"/>
            <p:cNvSpPr/>
            <p:nvPr/>
          </p:nvSpPr>
          <p:spPr>
            <a:xfrm>
              <a:off x="5707380" y="3958590"/>
              <a:ext cx="5951220" cy="1116330"/>
            </a:xfrm>
            <a:prstGeom prst="roundRect">
              <a:avLst>
                <a:gd name="adj" fmla="val 1023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5912168" y="4416745"/>
              <a:ext cx="200023" cy="200023"/>
              <a:chOff x="5912168" y="441674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912168" y="44167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45518" y="4483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214110" y="4273868"/>
              <a:ext cx="4997768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WPL = 11 + 13 + 24 + 39 = </a:t>
              </a:r>
              <a:r>
                <a:rPr lang="zh-CN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87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。每个新结点的权值恰好被计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入一次，把它们加起来就是 WPL，不用等树建完再数深度。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6" name="Rectangle 6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7807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同一轮里如果有多个权值相等，选哪两个都行，得到的树形状可能不同，但 WPL 一样。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4442" cy="909257"/>
            <a:chOff x="520446" y="342900"/>
            <a:chExt cx="6474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4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左分支记 0、右分支记 1，读出哈夫曼编码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ree-1"/>
          <p:cNvGrpSpPr/>
          <p:nvPr/>
        </p:nvGrpSpPr>
        <p:grpSpPr>
          <a:xfrm>
            <a:off x="1755457" y="1721168"/>
            <a:ext cx="4237673" cy="2877026"/>
            <a:chOff x="1755457" y="1721168"/>
            <a:chExt cx="4237673" cy="2877026"/>
          </a:xfrm>
        </p:grpSpPr>
        <p:sp>
          <p:nvSpPr>
            <p:cNvPr id="7" name="Freeform 7"/>
            <p:cNvSpPr/>
            <p:nvPr/>
          </p:nvSpPr>
          <p:spPr>
            <a:xfrm>
              <a:off x="3698558" y="3433762"/>
              <a:ext cx="351472" cy="763905"/>
            </a:xfrm>
            <a:custGeom>
              <a:avLst/>
              <a:gdLst/>
              <a:ahLst/>
              <a:cxnLst/>
              <a:rect l="l" t="t" r="r" b="b"/>
              <a:pathLst>
                <a:path w="351472" h="763905">
                  <a:moveTo>
                    <a:pt x="351472" y="0"/>
                  </a:moveTo>
                  <a:lnTo>
                    <a:pt x="0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050030" y="3433762"/>
              <a:ext cx="351473" cy="763905"/>
            </a:xfrm>
            <a:custGeom>
              <a:avLst/>
              <a:gdLst/>
              <a:ahLst/>
              <a:cxnLst/>
              <a:rect l="l" t="t" r="r" b="b"/>
              <a:pathLst>
                <a:path w="351473" h="763905">
                  <a:moveTo>
                    <a:pt x="0" y="0"/>
                  </a:moveTo>
                  <a:lnTo>
                    <a:pt x="351473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105400" y="3433762"/>
              <a:ext cx="351472" cy="763905"/>
            </a:xfrm>
            <a:custGeom>
              <a:avLst/>
              <a:gdLst/>
              <a:ahLst/>
              <a:cxnLst/>
              <a:rect l="l" t="t" r="r" b="b"/>
              <a:pathLst>
                <a:path w="351472" h="763905">
                  <a:moveTo>
                    <a:pt x="351472" y="0"/>
                  </a:moveTo>
                  <a:lnTo>
                    <a:pt x="0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56872" y="3433762"/>
              <a:ext cx="351472" cy="763905"/>
            </a:xfrm>
            <a:custGeom>
              <a:avLst/>
              <a:gdLst/>
              <a:ahLst/>
              <a:cxnLst/>
              <a:rect l="l" t="t" r="r" b="b"/>
              <a:pathLst>
                <a:path w="351472" h="763905">
                  <a:moveTo>
                    <a:pt x="0" y="0"/>
                  </a:moveTo>
                  <a:lnTo>
                    <a:pt x="351472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50030" y="2669858"/>
              <a:ext cx="702945" cy="763905"/>
            </a:xfrm>
            <a:custGeom>
              <a:avLst/>
              <a:gdLst/>
              <a:ahLst/>
              <a:cxnLst/>
              <a:rect l="l" t="t" r="r" b="b"/>
              <a:pathLst>
                <a:path w="702945" h="763905">
                  <a:moveTo>
                    <a:pt x="702945" y="0"/>
                  </a:moveTo>
                  <a:lnTo>
                    <a:pt x="0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52975" y="2669858"/>
              <a:ext cx="703897" cy="763905"/>
            </a:xfrm>
            <a:custGeom>
              <a:avLst/>
              <a:gdLst/>
              <a:ahLst/>
              <a:cxnLst/>
              <a:rect l="l" t="t" r="r" b="b"/>
              <a:pathLst>
                <a:path w="703897" h="763905">
                  <a:moveTo>
                    <a:pt x="0" y="0"/>
                  </a:moveTo>
                  <a:lnTo>
                    <a:pt x="703897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0242" y="1905952"/>
              <a:ext cx="1406842" cy="763905"/>
            </a:xfrm>
            <a:custGeom>
              <a:avLst/>
              <a:gdLst/>
              <a:ahLst/>
              <a:cxnLst/>
              <a:rect l="l" t="t" r="r" b="b"/>
              <a:pathLst>
                <a:path w="1406842" h="763905">
                  <a:moveTo>
                    <a:pt x="1406842" y="0"/>
                  </a:moveTo>
                  <a:lnTo>
                    <a:pt x="0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47085" y="1905952"/>
              <a:ext cx="1405890" cy="763905"/>
            </a:xfrm>
            <a:custGeom>
              <a:avLst/>
              <a:gdLst/>
              <a:ahLst/>
              <a:cxnLst/>
              <a:rect l="l" t="t" r="r" b="b"/>
              <a:pathLst>
                <a:path w="1405890" h="763905">
                  <a:moveTo>
                    <a:pt x="0" y="0"/>
                  </a:moveTo>
                  <a:lnTo>
                    <a:pt x="1405890" y="7639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755457" y="2485073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513773" y="4012882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216718" y="4012882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65245" y="324897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920615" y="4012882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623560" y="4012882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272088" y="324897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568190" y="2485073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172116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65511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17854" y="2908459"/>
              <a:ext cx="2447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A｜0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8811" y="4141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15455" y="443626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B｜100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61756" y="4141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18400" y="443626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C｜101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75299" y="33775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65653" y="4141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22298" y="443626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D｜110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68598" y="41414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25243" y="443626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E｜111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82141" y="33775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78244" y="26136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72354" y="184975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  <p:grpSp>
        <p:nvGrpSpPr>
          <p:cNvPr id="40" name="c1-text-2"/>
          <p:cNvGrpSpPr/>
          <p:nvPr/>
        </p:nvGrpSpPr>
        <p:grpSpPr>
          <a:xfrm>
            <a:off x="527685" y="4939189"/>
            <a:ext cx="5373878" cy="441008"/>
            <a:chOff x="527685" y="4939189"/>
            <a:chExt cx="5373878" cy="441008"/>
          </a:xfrm>
        </p:grpSpPr>
        <p:sp>
          <p:nvSpPr>
            <p:cNvPr id="39" name="TextBox 39"/>
            <p:cNvSpPr txBox="1"/>
            <p:nvPr/>
          </p:nvSpPr>
          <p:spPr>
            <a:xfrm>
              <a:off x="527685" y="4939189"/>
              <a:ext cx="5373878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对每个非叶结点，左分支记 0、右分支记 1；把根到叶路径上的标号连起来，就是这个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字符的编码。</a:t>
              </a:r>
            </a:p>
          </p:txBody>
        </p:sp>
      </p:grpSp>
      <p:grpSp>
        <p:nvGrpSpPr>
          <p:cNvPr id="77" name="c2-table-1"/>
          <p:cNvGrpSpPr/>
          <p:nvPr/>
        </p:nvGrpSpPr>
        <p:grpSpPr>
          <a:xfrm>
            <a:off x="6464618" y="1524000"/>
            <a:ext cx="5193982" cy="2400300"/>
            <a:chOff x="6464618" y="1524000"/>
            <a:chExt cx="5193982" cy="2400300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77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5599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542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525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1772" y="20454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60030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071610" y="1933575"/>
              <a:ext cx="127920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5924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57498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1772" y="24455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003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59240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57498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1772" y="28455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003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59240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57498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1772" y="32456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6003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59240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57498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61772" y="36456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6003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59240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57498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1524000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75811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05732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35558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3" name="c2-table-2"/>
          <p:cNvGrpSpPr/>
          <p:nvPr/>
        </p:nvGrpSpPr>
        <p:grpSpPr>
          <a:xfrm>
            <a:off x="6464618" y="4093845"/>
            <a:ext cx="5193982" cy="1600200"/>
            <a:chOff x="6464618" y="4093845"/>
            <a:chExt cx="5193982" cy="1600200"/>
          </a:xfrm>
        </p:grpSpPr>
        <p:sp>
          <p:nvSpPr>
            <p:cNvPr id="78" name="Rectangle 78"/>
            <p:cNvSpPr/>
            <p:nvPr/>
          </p:nvSpPr>
          <p:spPr>
            <a:xfrm>
              <a:off x="6464618" y="4093845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20686" y="4215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91039" y="421528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总编码长度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61772" y="4615339"/>
              <a:ext cx="1701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等长编码（每字符 3 位）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385935" y="4615339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 × 3 = 117 bit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464618" y="48891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464618" y="489394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61772" y="5015389"/>
              <a:ext cx="1067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Shannon-Fano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385935" y="5015389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 bit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464618" y="52892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61772" y="54154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哈夫曼编码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298305" y="5303520"/>
              <a:ext cx="235077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385935" y="5415439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 bit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464618" y="4093845"/>
              <a:ext cx="519398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9284018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c2-callout-3"/>
          <p:cNvGrpSpPr/>
          <p:nvPr/>
        </p:nvGrpSpPr>
        <p:grpSpPr>
          <a:xfrm>
            <a:off x="6464618" y="5864542"/>
            <a:ext cx="5193982" cy="481012"/>
            <a:chOff x="6464618" y="5864542"/>
            <a:chExt cx="5193982" cy="481012"/>
          </a:xfrm>
        </p:grpSpPr>
        <p:sp>
          <p:nvSpPr>
            <p:cNvPr id="94" name="Rectangle 94"/>
            <p:cNvSpPr/>
            <p:nvPr/>
          </p:nvSpPr>
          <p:spPr>
            <a:xfrm>
              <a:off x="6464618" y="5864542"/>
              <a:ext cx="5193982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669405" y="6004560"/>
              <a:ext cx="200026" cy="200026"/>
              <a:chOff x="6669405" y="6004560"/>
              <a:chExt cx="200026" cy="200026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6669405" y="60045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736080" y="60823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972110" y="6010275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87 / 117 ≈ 74.4%，比等长编码省下 30 bit。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765096" cy="909257"/>
            <a:chOff x="520446" y="342900"/>
            <a:chExt cx="37650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7650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例：7 种字符的哈夫曼树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02716" cy="308039"/>
            <a:chOff x="525399" y="1550194"/>
            <a:chExt cx="850271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027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文件含 7 种字符，出现次数为 a 10、e 15、i 12、s 3、t 4、p 13、n 1，合计 58 个字符。</a:t>
              </a:r>
            </a:p>
          </p:txBody>
        </p:sp>
      </p:grpSp>
      <p:grpSp>
        <p:nvGrpSpPr>
          <p:cNvPr id="54" name="c1-tree-1"/>
          <p:cNvGrpSpPr/>
          <p:nvPr/>
        </p:nvGrpSpPr>
        <p:grpSpPr>
          <a:xfrm>
            <a:off x="545782" y="2088832"/>
            <a:ext cx="6946583" cy="3088482"/>
            <a:chOff x="545782" y="2088832"/>
            <a:chExt cx="6946583" cy="3088482"/>
          </a:xfrm>
        </p:grpSpPr>
        <p:sp>
          <p:nvSpPr>
            <p:cNvPr id="9" name="Freeform 9"/>
            <p:cNvSpPr/>
            <p:nvPr/>
          </p:nvSpPr>
          <p:spPr>
            <a:xfrm>
              <a:off x="655320" y="4339590"/>
              <a:ext cx="121920" cy="526732"/>
            </a:xfrm>
            <a:custGeom>
              <a:avLst/>
              <a:gdLst/>
              <a:ahLst/>
              <a:cxnLst/>
              <a:rect l="l" t="t" r="r" b="b"/>
              <a:pathLst>
                <a:path w="121920" h="526732">
                  <a:moveTo>
                    <a:pt x="121920" y="0"/>
                  </a:moveTo>
                  <a:lnTo>
                    <a:pt x="0" y="5267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77240" y="4339590"/>
              <a:ext cx="120968" cy="526732"/>
            </a:xfrm>
            <a:custGeom>
              <a:avLst/>
              <a:gdLst/>
              <a:ahLst/>
              <a:cxnLst/>
              <a:rect l="l" t="t" r="r" b="b"/>
              <a:pathLst>
                <a:path w="120968" h="526732">
                  <a:moveTo>
                    <a:pt x="0" y="0"/>
                  </a:moveTo>
                  <a:lnTo>
                    <a:pt x="120968" y="5267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77240" y="3811905"/>
              <a:ext cx="242888" cy="527685"/>
            </a:xfrm>
            <a:custGeom>
              <a:avLst/>
              <a:gdLst/>
              <a:ahLst/>
              <a:cxnLst/>
              <a:rect l="l" t="t" r="r" b="b"/>
              <a:pathLst>
                <a:path w="242888" h="527685">
                  <a:moveTo>
                    <a:pt x="242888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20128" y="3811905"/>
              <a:ext cx="243840" cy="527685"/>
            </a:xfrm>
            <a:custGeom>
              <a:avLst/>
              <a:gdLst/>
              <a:ahLst/>
              <a:cxnLst/>
              <a:rect l="l" t="t" r="r" b="b"/>
              <a:pathLst>
                <a:path w="243840" h="527685">
                  <a:moveTo>
                    <a:pt x="0" y="0"/>
                  </a:moveTo>
                  <a:lnTo>
                    <a:pt x="24384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20128" y="3285172"/>
              <a:ext cx="486727" cy="526733"/>
            </a:xfrm>
            <a:custGeom>
              <a:avLst/>
              <a:gdLst/>
              <a:ahLst/>
              <a:cxnLst/>
              <a:rect l="l" t="t" r="r" b="b"/>
              <a:pathLst>
                <a:path w="486727" h="526733">
                  <a:moveTo>
                    <a:pt x="486727" y="0"/>
                  </a:moveTo>
                  <a:lnTo>
                    <a:pt x="0" y="5267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06855" y="3285172"/>
              <a:ext cx="487680" cy="526733"/>
            </a:xfrm>
            <a:custGeom>
              <a:avLst/>
              <a:gdLst/>
              <a:ahLst/>
              <a:cxnLst/>
              <a:rect l="l" t="t" r="r" b="b"/>
              <a:pathLst>
                <a:path w="487680" h="526733">
                  <a:moveTo>
                    <a:pt x="0" y="0"/>
                  </a:moveTo>
                  <a:lnTo>
                    <a:pt x="487680" y="5267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06855" y="2758440"/>
              <a:ext cx="974408" cy="526732"/>
            </a:xfrm>
            <a:custGeom>
              <a:avLst/>
              <a:gdLst/>
              <a:ahLst/>
              <a:cxnLst/>
              <a:rect l="l" t="t" r="r" b="b"/>
              <a:pathLst>
                <a:path w="974408" h="526732">
                  <a:moveTo>
                    <a:pt x="974408" y="0"/>
                  </a:moveTo>
                  <a:lnTo>
                    <a:pt x="0" y="5267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81262" y="2758440"/>
              <a:ext cx="973455" cy="526732"/>
            </a:xfrm>
            <a:custGeom>
              <a:avLst/>
              <a:gdLst/>
              <a:ahLst/>
              <a:cxnLst/>
              <a:rect l="l" t="t" r="r" b="b"/>
              <a:pathLst>
                <a:path w="973455" h="526732">
                  <a:moveTo>
                    <a:pt x="0" y="0"/>
                  </a:moveTo>
                  <a:lnTo>
                    <a:pt x="973455" y="5267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402580" y="2758440"/>
              <a:ext cx="973455" cy="526732"/>
            </a:xfrm>
            <a:custGeom>
              <a:avLst/>
              <a:gdLst/>
              <a:ahLst/>
              <a:cxnLst/>
              <a:rect l="l" t="t" r="r" b="b"/>
              <a:pathLst>
                <a:path w="973455" h="526732">
                  <a:moveTo>
                    <a:pt x="973455" y="0"/>
                  </a:moveTo>
                  <a:lnTo>
                    <a:pt x="0" y="5267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376035" y="2758440"/>
              <a:ext cx="974408" cy="526732"/>
            </a:xfrm>
            <a:custGeom>
              <a:avLst/>
              <a:gdLst/>
              <a:ahLst/>
              <a:cxnLst/>
              <a:rect l="l" t="t" r="r" b="b"/>
              <a:pathLst>
                <a:path w="974408" h="526732">
                  <a:moveTo>
                    <a:pt x="0" y="0"/>
                  </a:moveTo>
                  <a:lnTo>
                    <a:pt x="974408" y="5267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81262" y="2230755"/>
              <a:ext cx="1947862" cy="527685"/>
            </a:xfrm>
            <a:custGeom>
              <a:avLst/>
              <a:gdLst/>
              <a:ahLst/>
              <a:cxnLst/>
              <a:rect l="l" t="t" r="r" b="b"/>
              <a:pathLst>
                <a:path w="1947862" h="527685">
                  <a:moveTo>
                    <a:pt x="1947862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29125" y="2230755"/>
              <a:ext cx="1946910" cy="527685"/>
            </a:xfrm>
            <a:custGeom>
              <a:avLst/>
              <a:gdLst/>
              <a:ahLst/>
              <a:cxnLst/>
              <a:rect l="l" t="t" r="r" b="b"/>
              <a:pathLst>
                <a:path w="1946910" h="527685">
                  <a:moveTo>
                    <a:pt x="0" y="0"/>
                  </a:moveTo>
                  <a:lnTo>
                    <a:pt x="194691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45782" y="4756785"/>
              <a:ext cx="219075" cy="21907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88670" y="4756785"/>
              <a:ext cx="219075" cy="21907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67702" y="4230052"/>
              <a:ext cx="219075" cy="2190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54430" y="4230052"/>
              <a:ext cx="219075" cy="21907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10590" y="3702368"/>
              <a:ext cx="219075" cy="2190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852612" y="3669982"/>
              <a:ext cx="283845" cy="28384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364932" y="3143250"/>
              <a:ext cx="283845" cy="2838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12795" y="3143250"/>
              <a:ext cx="283845" cy="28384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339340" y="2616518"/>
              <a:ext cx="283845" cy="2838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5260658" y="3143250"/>
              <a:ext cx="283845" cy="28384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208520" y="3143250"/>
              <a:ext cx="283845" cy="28384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234112" y="2616518"/>
              <a:ext cx="283845" cy="2838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287202" y="2088832"/>
              <a:ext cx="283845" cy="2838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5573" y="48101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0201" y="5015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8461" y="48101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3088" y="5015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493" y="42833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24221" y="42833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28848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0381" y="375570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19804" y="375570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59416" y="39609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32124" y="32289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79986" y="32289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19598" y="34342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06531" y="27022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27849" y="32289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81259" y="3434239"/>
              <a:ext cx="426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75711" y="32289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5323" y="34342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01304" y="27022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354394" y="217455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  <p:grpSp>
        <p:nvGrpSpPr>
          <p:cNvPr id="94" name="c2-table-1"/>
          <p:cNvGrpSpPr/>
          <p:nvPr/>
        </p:nvGrpSpPr>
        <p:grpSpPr>
          <a:xfrm>
            <a:off x="8628698" y="1967865"/>
            <a:ext cx="3029902" cy="3590925"/>
            <a:chOff x="8628698" y="1967865"/>
            <a:chExt cx="3029902" cy="3590925"/>
          </a:xfrm>
        </p:grpSpPr>
        <p:sp>
          <p:nvSpPr>
            <p:cNvPr id="55" name="Rectangle 55"/>
            <p:cNvSpPr/>
            <p:nvPr/>
          </p:nvSpPr>
          <p:spPr>
            <a:xfrm>
              <a:off x="8628698" y="1967865"/>
              <a:ext cx="302990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3091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6533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9879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36520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98546" y="25512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04398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628698" y="2860358"/>
              <a:ext cx="30299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628698" y="2865120"/>
              <a:ext cx="30299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736520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98546" y="300085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06100" y="2874645"/>
              <a:ext cx="94297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804398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628698" y="3308985"/>
              <a:ext cx="30299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36520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698546" y="34494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04398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628698" y="3757612"/>
              <a:ext cx="30299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628698" y="3762375"/>
              <a:ext cx="30299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736520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698546" y="389810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804398" y="38981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628698" y="4207192"/>
              <a:ext cx="30299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736520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98546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706100" y="4221480"/>
              <a:ext cx="94297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804398" y="4346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628698" y="4655820"/>
              <a:ext cx="30299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628698" y="4660582"/>
              <a:ext cx="302990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36520" y="479536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98546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804398" y="47953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628698" y="5104448"/>
              <a:ext cx="30299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736520" y="5244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698546" y="52449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804398" y="52449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628698" y="1967865"/>
              <a:ext cx="3029902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9585960" y="196786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691812" y="1967865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5" name="Rectangle 9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0130" y="5991225"/>
              <a:ext cx="8825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合并出的新权依次是 4、8、18、25、33、58，累加得 WPL = 146；等长编码要 58 × 3 = 174 bit。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哈夫曼树的两条性质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33575"/>
            <a:chOff x="533400" y="1524000"/>
            <a:chExt cx="5410200" cy="1933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8666" y="1767364"/>
              <a:ext cx="23480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二子性：没有度为 1 的结点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哈夫曼树的每个内结点都由两个结点合并而来，所以不存在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只有一个孩子的结点。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469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设叶结点数为 n，则内结点数为 n − 1，总结点数 2n − 1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31331"/>
              <a:ext cx="4172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与二叉树的引理 n₀ = n₂ + 1 一致（此时 n₁ = 0）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642360"/>
            <a:ext cx="5410200" cy="2022158"/>
            <a:chOff x="533400" y="3642360"/>
            <a:chExt cx="5410200" cy="2022158"/>
          </a:xfrm>
        </p:grpSpPr>
        <p:sp>
          <p:nvSpPr>
            <p:cNvPr id="18" name="Rectangle 18"/>
            <p:cNvSpPr/>
            <p:nvPr/>
          </p:nvSpPr>
          <p:spPr>
            <a:xfrm>
              <a:off x="533400" y="3642360"/>
              <a:ext cx="5410200" cy="2022158"/>
            </a:xfrm>
            <a:prstGeom prst="roundRect">
              <a:avLst>
                <a:gd name="adj" fmla="val 6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775710"/>
              <a:ext cx="47625" cy="17554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5335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5543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76744" y="388667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哈夫曼编码一定是前缀码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096" y="423814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字符都放在叶结点上，而任何一个叶结点都不可能是另一个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叶结点的祖先，所以任一编码都不会是另一编码的前缀。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293495"/>
            <a:chOff x="6248400" y="1524000"/>
            <a:chExt cx="5410200" cy="129349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0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6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3666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同权不同构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3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对任意一个内结点，把它的左右子树互换，所有外结点的深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度都不变，WPL 也不变。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248400" y="3002280"/>
            <a:ext cx="5410200" cy="1720215"/>
            <a:chOff x="6248400" y="3002280"/>
            <a:chExt cx="5410200" cy="1720215"/>
          </a:xfrm>
        </p:grpSpPr>
        <p:sp>
          <p:nvSpPr>
            <p:cNvPr id="32" name="Rectangle 32"/>
            <p:cNvSpPr/>
            <p:nvPr/>
          </p:nvSpPr>
          <p:spPr>
            <a:xfrm>
              <a:off x="6248400" y="300228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85735" y="31337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29291" y="31337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是否唯一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3747" y="356425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哈夫曼树的形态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64649" y="3564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8585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86334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3747" y="399383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每个字符的哈夫曼编码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64649" y="399383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2881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3747" y="4424362"/>
              <a:ext cx="2174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最小编码长度（WPL 最小值）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68828" y="4302442"/>
              <a:ext cx="198024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64649" y="44243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002280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54540" y="300228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3"/>
          <p:cNvGrpSpPr/>
          <p:nvPr/>
        </p:nvGrpSpPr>
        <p:grpSpPr>
          <a:xfrm>
            <a:off x="6248400" y="4908232"/>
            <a:ext cx="5410200" cy="756285"/>
            <a:chOff x="6248400" y="4908232"/>
            <a:chExt cx="5410200" cy="756285"/>
          </a:xfrm>
        </p:grpSpPr>
        <p:sp>
          <p:nvSpPr>
            <p:cNvPr id="48" name="Rectangle 48"/>
            <p:cNvSpPr/>
            <p:nvPr/>
          </p:nvSpPr>
          <p:spPr>
            <a:xfrm>
              <a:off x="6248400" y="490823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41129" y="5182671"/>
              <a:ext cx="224134" cy="192560"/>
              <a:chOff x="6441129" y="5182671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553200" y="52530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41129" y="51826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53200" y="53308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511" y="5056346"/>
              <a:ext cx="424345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做题时只要 WPL 对就算对；如果题目要求写出具体编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码，必须说明左右分支的约定，否则答案不唯一。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04084"/>
              <a:ext cx="8346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权值有并列时选哪一对合并也会改变树形，但每一轮取走的两个最小权之和不变，所以 WPL 不变。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为什么每次挑最小的两个一定最优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26820"/>
            <a:chOff x="533400" y="1524000"/>
            <a:chExt cx="5626418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哈夫曼算法的正确性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外结点权值 w₁ ≤ w₂ ≤ … ≤ wₙ 时，由哈夫曼算法构造出的是一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棵最优二叉树。证明用数学归纳法：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935605"/>
            <a:ext cx="5374767" cy="2695098"/>
            <a:chOff x="533400" y="2935605"/>
            <a:chExt cx="5374767" cy="2695098"/>
          </a:xfrm>
        </p:grpSpPr>
        <p:sp>
          <p:nvSpPr>
            <p:cNvPr id="14" name="Rectangle 14"/>
            <p:cNvSpPr/>
            <p:nvPr/>
          </p:nvSpPr>
          <p:spPr>
            <a:xfrm>
              <a:off x="666750" y="307848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356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009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5223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5961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1090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182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9034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977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29670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235166"/>
              <a:ext cx="2785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 和 n = 2 时只有一种形态，显然最优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355377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3821906"/>
              <a:ext cx="2853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设外结点个数为 n − 1 时算法给出的树最优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41414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4408646"/>
              <a:ext cx="49613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在最优树里，最小的两个权 w₁ 与 w₂ 一定在最深一层，且可以互换成兄弟，这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一步不增大 WPL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642" y="493490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5203031"/>
              <a:ext cx="49329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把这对兄弟连同父结点换成一个权为 w₁+w₂ 的外结点，问题变成 n − 1 个外结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6758940" y="1805940"/>
            <a:ext cx="4173855" cy="1538764"/>
            <a:chOff x="6758940" y="1805940"/>
            <a:chExt cx="4173855" cy="1538764"/>
          </a:xfrm>
        </p:grpSpPr>
        <p:sp>
          <p:nvSpPr>
            <p:cNvPr id="32" name="Freeform 32"/>
            <p:cNvSpPr/>
            <p:nvPr/>
          </p:nvSpPr>
          <p:spPr>
            <a:xfrm>
              <a:off x="7900988" y="2308860"/>
              <a:ext cx="378143" cy="258127"/>
            </a:xfrm>
            <a:custGeom>
              <a:avLst/>
              <a:gdLst/>
              <a:ahLst/>
              <a:cxnLst/>
              <a:rect l="l" t="t" r="r" b="b"/>
              <a:pathLst>
                <a:path w="378143" h="258127">
                  <a:moveTo>
                    <a:pt x="378143" y="0"/>
                  </a:moveTo>
                  <a:lnTo>
                    <a:pt x="0" y="2581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381172" y="2308860"/>
              <a:ext cx="754380" cy="258127"/>
            </a:xfrm>
            <a:custGeom>
              <a:avLst/>
              <a:gdLst/>
              <a:ahLst/>
              <a:cxnLst/>
              <a:rect l="l" t="t" r="r" b="b"/>
              <a:pathLst>
                <a:path w="754380" h="258127">
                  <a:moveTo>
                    <a:pt x="0" y="0"/>
                  </a:moveTo>
                  <a:lnTo>
                    <a:pt x="754380" y="2581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61848" y="2827020"/>
              <a:ext cx="359093" cy="245745"/>
            </a:xfrm>
            <a:custGeom>
              <a:avLst/>
              <a:gdLst/>
              <a:ahLst/>
              <a:cxnLst/>
              <a:rect l="l" t="t" r="r" b="b"/>
              <a:pathLst>
                <a:path w="359093" h="245745">
                  <a:moveTo>
                    <a:pt x="359093" y="0"/>
                  </a:moveTo>
                  <a:lnTo>
                    <a:pt x="0" y="245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900988" y="2827020"/>
              <a:ext cx="360045" cy="245745"/>
            </a:xfrm>
            <a:custGeom>
              <a:avLst/>
              <a:gdLst/>
              <a:ahLst/>
              <a:cxnLst/>
              <a:rect l="l" t="t" r="r" b="b"/>
              <a:pathLst>
                <a:path w="360045" h="245745">
                  <a:moveTo>
                    <a:pt x="0" y="0"/>
                  </a:moveTo>
                  <a:lnTo>
                    <a:pt x="360045" y="2457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65745" y="1805940"/>
              <a:ext cx="1560195" cy="502920"/>
            </a:xfrm>
            <a:prstGeom prst="roundRect">
              <a:avLst>
                <a:gd name="adj" fmla="val 1893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73302" y="2566988"/>
              <a:ext cx="67627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58940" y="3072765"/>
              <a:ext cx="450532" cy="242888"/>
            </a:xfrm>
            <a:prstGeom prst="roundRect">
              <a:avLst>
                <a:gd name="adj" fmla="val 392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213408" y="3072765"/>
              <a:ext cx="450532" cy="242888"/>
            </a:xfrm>
            <a:prstGeom prst="roundRect">
              <a:avLst>
                <a:gd name="adj" fmla="val 392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100310" y="2566988"/>
              <a:ext cx="832485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08836" y="1897856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 个外结点的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3192" y="20759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最优子问题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56382" y="2626519"/>
              <a:ext cx="510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w₁+w₂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5111" y="3124676"/>
              <a:ext cx="21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9579" y="3124676"/>
              <a:ext cx="217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13048" y="2626519"/>
              <a:ext cx="6051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w₃ … wₙ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formula16"/>
              <p:cNvSpPr txBox="1">
                <a:spLocks noGrp="1"/>
              </p:cNvSpPr>
              <p:nvPr/>
            </p:nvSpPr>
            <p:spPr>
              <a:xfrm>
                <a:off x="6464618" y="3475672"/>
                <a:ext cx="519398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WP</m:t>
                      </m:r>
                      <m:sSub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WP</m:t>
                      </m:r>
                      <m:sSub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55" name="c2-callout-3"/>
          <p:cNvGrpSpPr/>
          <p:nvPr/>
        </p:nvGrpSpPr>
        <p:grpSpPr>
          <a:xfrm>
            <a:off x="6464618" y="3993832"/>
            <a:ext cx="5193982" cy="1629728"/>
            <a:chOff x="6464618" y="3993832"/>
            <a:chExt cx="5193982" cy="1629728"/>
          </a:xfrm>
        </p:grpSpPr>
        <p:sp>
          <p:nvSpPr>
            <p:cNvPr id="49" name="Rectangle 49"/>
            <p:cNvSpPr/>
            <p:nvPr/>
          </p:nvSpPr>
          <p:spPr>
            <a:xfrm>
              <a:off x="6464618" y="3993832"/>
              <a:ext cx="5193982" cy="1629728"/>
            </a:xfrm>
            <a:prstGeom prst="roundRect">
              <a:avLst>
                <a:gd name="adj" fmla="val 70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4709160"/>
              <a:ext cx="200026" cy="200026"/>
              <a:chOff x="6669405" y="470916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47091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69418" y="47758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58305" y="48091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2110" y="4590098"/>
              <a:ext cx="41885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w₁ 与 w₂ 的深度比归约后的那个外结点多 1，两项各多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算一次，差值正好是 w₁ + w₂。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6242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这条递推式也说明：把每次合并出的新权累加起来就是 WPL，不必等树建完。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91795" cy="909257"/>
            <a:chOff x="520446" y="342900"/>
            <a:chExt cx="43917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917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建树的同时把 WPL 累加出来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549015"/>
            <a:chOff x="533400" y="1524000"/>
            <a:chExt cx="5842635" cy="35490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549015"/>
            </a:xfrm>
            <a:prstGeom prst="roundRect">
              <a:avLst>
                <a:gd name="adj" fmla="val 26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16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构造过程中求 WPL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502025" cy="30537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WPL = 0;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全局变量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HuffmanNode *CreateHuffmanTree(HuffmanNode *H[],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H 已按 weight 升序排好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 - 1; i++)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HuffmanNode *t = malloc(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(HuffmanNode));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t-&gt;weight = H[i]-&gt;weight + H[i + 1]-&gt;weight;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WPL += t-&gt;weight;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把两个最小权之和累加起来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t-&gt;left = H[i];  t-&gt;right = H[i + 1];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t-&gt;data =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 '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 t 插回数组，使 H[i+1..n-1] 仍按权值升序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 + 2;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n &amp;&amp; H[j]-&gt;weight &lt; t-&gt;weight)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H[j - 1] = H[j];  j++;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H[j - 1] = 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H[n - 1];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248275"/>
            <a:ext cx="5842635" cy="1082040"/>
            <a:chOff x="533400" y="5248275"/>
            <a:chExt cx="5842635" cy="1082040"/>
          </a:xfrm>
        </p:grpSpPr>
        <p:sp>
          <p:nvSpPr>
            <p:cNvPr id="11" name="Rectangle 11"/>
            <p:cNvSpPr/>
            <p:nvPr/>
          </p:nvSpPr>
          <p:spPr>
            <a:xfrm>
              <a:off x="533400" y="5248275"/>
              <a:ext cx="5842635" cy="1082040"/>
            </a:xfrm>
            <a:prstGeom prst="roundRect">
              <a:avLst>
                <a:gd name="adj" fmla="val 1056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685591"/>
              <a:ext cx="224134" cy="192560"/>
              <a:chOff x="726129" y="5685591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7559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6855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8337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570220"/>
              <a:ext cx="48400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WPL 是全局变量，每处理一组数据都要先清零。机试里一次读入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多组数据时忘记清零是最常见的错误。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680835" y="1524000"/>
            <a:ext cx="4977765" cy="2028825"/>
            <a:chOff x="6680835" y="1524000"/>
            <a:chExt cx="4977765" cy="202882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3675" y="1648301"/>
              <a:ext cx="455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 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9372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新结点权值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79328" y="1648301"/>
              <a:ext cx="672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WPL 累计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0848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81035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72688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0848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81035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72688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0848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1035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72688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0848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035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982200" y="3156585"/>
              <a:ext cx="166687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2688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1524000"/>
              <a:ext cx="497776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7626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6791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rd-2"/>
          <p:cNvGrpSpPr/>
          <p:nvPr/>
        </p:nvGrpSpPr>
        <p:grpSpPr>
          <a:xfrm>
            <a:off x="6680835" y="3728085"/>
            <a:ext cx="4977765" cy="1697355"/>
            <a:chOff x="6680835" y="3728085"/>
            <a:chExt cx="4977765" cy="1697355"/>
          </a:xfrm>
        </p:grpSpPr>
        <p:sp>
          <p:nvSpPr>
            <p:cNvPr id="44" name="Rectangle 44"/>
            <p:cNvSpPr/>
            <p:nvPr/>
          </p:nvSpPr>
          <p:spPr>
            <a:xfrm>
              <a:off x="6680835" y="3728085"/>
              <a:ext cx="4977765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386143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11340" y="39204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94779" y="3954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两种算法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61732" y="39604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深度法与累加法结果一致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4482" y="4293870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按定义算是 15×1 + (7+6+6+5)×3 = 87；按累加法算是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11+13+24+39 = 87。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05625" y="4850606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考试里给的是权值表时用累加法最快，给的是一棵现成的树时只能按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深度算。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680835" y="5600700"/>
            <a:ext cx="4977765" cy="729615"/>
            <a:chOff x="6680835" y="5600700"/>
            <a:chExt cx="4977765" cy="729615"/>
          </a:xfrm>
        </p:grpSpPr>
        <p:sp>
          <p:nvSpPr>
            <p:cNvPr id="52" name="Rectangle 52"/>
            <p:cNvSpPr/>
            <p:nvPr/>
          </p:nvSpPr>
          <p:spPr>
            <a:xfrm>
              <a:off x="6680835" y="5600700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885623" y="5865495"/>
              <a:ext cx="200026" cy="200025"/>
              <a:chOff x="6885623" y="5865495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885623" y="58654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925361" y="59099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960077" y="60210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188327" y="5746433"/>
              <a:ext cx="40342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累加法不需要真的建树，所以只问 WPL 的题目可以完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全跳过指针操作。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实现：结点结构与一个按权有序的指针数组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670935"/>
            <a:chOff x="533400" y="1524000"/>
            <a:chExt cx="6059805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结点结构与初始化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185539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HuffmanNode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字符值，内结点填空格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weight;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权值：该字符的出现次数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HuffmanNode *left, *right;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左右指针域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HuffmanNode;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MAXN 300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HuffmanNode *H[MAXN];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存放待合并的树根指针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CreateHuffmanNode(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freq[],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 i 种字符是 ch[i]，出现 freq[i] 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H[i] = malloc(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(HuffmanNode));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H[i]-&gt;data = ch[i];  H[i]-&gt;weight = freq[i];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H[i]-&gt;left = H[i]-&gt;right 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sort(H, n);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按 weight 升序排，需自行实现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ells-1"/>
          <p:cNvGrpSpPr/>
          <p:nvPr/>
        </p:nvGrpSpPr>
        <p:grpSpPr>
          <a:xfrm>
            <a:off x="6892290" y="1524000"/>
            <a:ext cx="3154680" cy="634841"/>
            <a:chOff x="6892290" y="1524000"/>
            <a:chExt cx="3154680" cy="634841"/>
          </a:xfrm>
        </p:grpSpPr>
        <p:sp>
          <p:nvSpPr>
            <p:cNvPr id="11" name="TextBox 11"/>
            <p:cNvSpPr txBox="1"/>
            <p:nvPr/>
          </p:nvSpPr>
          <p:spPr>
            <a:xfrm>
              <a:off x="6892290" y="16635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1132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7356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5323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9266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9514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1176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705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086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896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4996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2087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25533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62787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44633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877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068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259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450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641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832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0230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898005" y="2314575"/>
            <a:ext cx="4760595" cy="1621155"/>
            <a:chOff x="6898005" y="2314575"/>
            <a:chExt cx="4760595" cy="1621155"/>
          </a:xfrm>
        </p:grpSpPr>
        <p:sp>
          <p:nvSpPr>
            <p:cNvPr id="34" name="Rectangle 34"/>
            <p:cNvSpPr/>
            <p:nvPr/>
          </p:nvSpPr>
          <p:spPr>
            <a:xfrm>
              <a:off x="6898005" y="2314575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244792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45655" y="25241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27011" y="2559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写法说明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30528" y="2559368"/>
              <a:ext cx="2134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源课件用的是 C++ 写法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8035" y="2920365"/>
              <a:ext cx="3968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源课件直接写 `new HuffmanNode` 和不带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struct 的 `HuffmanNode*`。本讲义按标准 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typedef 加 malloc，算法主体一行未改。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898005" y="4126230"/>
            <a:ext cx="4760595" cy="1068705"/>
            <a:chOff x="6898005" y="4126230"/>
            <a:chExt cx="4760595" cy="1068705"/>
          </a:xfrm>
        </p:grpSpPr>
        <p:sp>
          <p:nvSpPr>
            <p:cNvPr id="41" name="Rectangle 41"/>
            <p:cNvSpPr/>
            <p:nvPr/>
          </p:nvSpPr>
          <p:spPr>
            <a:xfrm>
              <a:off x="6898005" y="4126230"/>
              <a:ext cx="4760595" cy="1068705"/>
            </a:xfrm>
            <a:prstGeom prst="roundRect">
              <a:avLst>
                <a:gd name="adj" fmla="val 1069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102793" y="4560572"/>
              <a:ext cx="200023" cy="200023"/>
              <a:chOff x="7102793" y="4560572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45605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36143" y="46272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04735" y="441769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数组里放的是指针而不是结点本身，合并时只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需要改指针，不必搬动整个结点。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先排好序，后面每一轮的最小两个永远就是当前区间最左边的两个，省掉一次查找。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实现：合并后把新结点插回有序数组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151822"/>
            <a:chOff x="533400" y="1524000"/>
            <a:chExt cx="6059805" cy="31518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151822"/>
            </a:xfrm>
            <a:prstGeom prst="roundRect">
              <a:avLst>
                <a:gd name="adj" fmla="val 30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建树主循环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766"/>
              <a:ext cx="4274185" cy="2665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HuffmanNode *CreateHuffmanTree(HuffmanNode *H[],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 - 1; i++)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HuffmanNode *t = malloc(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sizeof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(HuffmanNode));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t-&gt;weight = H[i]-&gt;weight + H[i + 1]-&gt;weight;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t-&gt;left = H[i];  t-&gt;right = H[i + 1];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t-&gt;data = </a:t>
              </a:r>
              <a:r>
                <a:rPr lang="zh-CN" sz="9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 '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 + 2;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向右找 t 该放的位置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n &amp;&amp; H[j]-&gt;weight &lt; t-&gt;weight)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H[j - 1] = H[j];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比 t 小的整体左移一格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j++;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H[j - 1] = t;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 落位，有效区间变成 [i+1, n-1]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H[n - 1];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最后剩下的那个就是根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856798"/>
            <a:ext cx="6059805" cy="820102"/>
            <a:chOff x="533400" y="4856798"/>
            <a:chExt cx="6059805" cy="820102"/>
          </a:xfrm>
        </p:grpSpPr>
        <p:sp>
          <p:nvSpPr>
            <p:cNvPr id="11" name="Rectangle 11"/>
            <p:cNvSpPr/>
            <p:nvPr/>
          </p:nvSpPr>
          <p:spPr>
            <a:xfrm>
              <a:off x="533400" y="4856798"/>
              <a:ext cx="6059805" cy="820102"/>
            </a:xfrm>
            <a:prstGeom prst="roundRect">
              <a:avLst>
                <a:gd name="adj" fmla="val 1393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166360"/>
              <a:ext cx="200026" cy="200026"/>
              <a:chOff x="738188" y="516636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166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266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035391"/>
              <a:ext cx="504596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的条件是严格小于，所以 t 会排在与它权值相同的结点前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面。改成小于等于同样正确，只是可能建出另一种形状的树。</a:t>
              </a:r>
            </a:p>
          </p:txBody>
        </p:sp>
      </p:grpSp>
      <p:grpSp>
        <p:nvGrpSpPr>
          <p:cNvPr id="60" name="c2-cells-1"/>
          <p:cNvGrpSpPr/>
          <p:nvPr/>
        </p:nvGrpSpPr>
        <p:grpSpPr>
          <a:xfrm>
            <a:off x="6893052" y="1524000"/>
            <a:ext cx="3445383" cy="1504950"/>
            <a:chOff x="6893052" y="1524000"/>
            <a:chExt cx="3445383" cy="1504950"/>
          </a:xfrm>
        </p:grpSpPr>
        <p:sp>
          <p:nvSpPr>
            <p:cNvPr id="18" name="TextBox 18"/>
            <p:cNvSpPr txBox="1"/>
            <p:nvPr/>
          </p:nvSpPr>
          <p:spPr>
            <a:xfrm>
              <a:off x="6893052" y="16606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合并前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04735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123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23835" y="1524000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9033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242935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0943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662035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2853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81135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47638" y="166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00235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28644" y="16606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919335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47744" y="16606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3052" y="221503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左移后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04735" y="207930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23835" y="207930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90338" y="22150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242935" y="207930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09438" y="22150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662035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28538" y="22150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81135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09544" y="22150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00235" y="207930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28644" y="22150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919335" y="2079308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93052" y="277034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 落位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404735" y="2634615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23835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90338" y="27703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42935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09438" y="27703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62035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828538" y="27703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81135" y="2634615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247638" y="27703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500235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28644" y="27703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919335" y="263461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7744" y="27703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898005" y="3208020"/>
            <a:ext cx="4760595" cy="1018222"/>
            <a:chOff x="6898005" y="3208020"/>
            <a:chExt cx="4760595" cy="1018222"/>
          </a:xfrm>
        </p:grpSpPr>
        <p:sp>
          <p:nvSpPr>
            <p:cNvPr id="61" name="Rectangle 61"/>
            <p:cNvSpPr/>
            <p:nvPr/>
          </p:nvSpPr>
          <p:spPr>
            <a:xfrm>
              <a:off x="6898005" y="320802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102793" y="3617597"/>
              <a:ext cx="200023" cy="200023"/>
              <a:chOff x="7102793" y="3617597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102793" y="36175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36143" y="36842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405116" y="3356134"/>
              <a:ext cx="381965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 O(n²)：外层 n − 1 轮，每轮最多把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 个元素左移一格。前提是用有序数组加线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性插入。</a:t>
              </a:r>
            </a:p>
          </p:txBody>
        </p:sp>
      </p:grpSp>
      <p:grpSp>
        <p:nvGrpSpPr>
          <p:cNvPr id="73" name="c2-card-3"/>
          <p:cNvGrpSpPr/>
          <p:nvPr/>
        </p:nvGrpSpPr>
        <p:grpSpPr>
          <a:xfrm>
            <a:off x="6898005" y="4407218"/>
            <a:ext cx="4760595" cy="1268730"/>
            <a:chOff x="6898005" y="4407218"/>
            <a:chExt cx="4760595" cy="1268730"/>
          </a:xfrm>
        </p:grpSpPr>
        <p:sp>
          <p:nvSpPr>
            <p:cNvPr id="67" name="Rectangle 67"/>
            <p:cNvSpPr/>
            <p:nvPr/>
          </p:nvSpPr>
          <p:spPr>
            <a:xfrm>
              <a:off x="6898005" y="4407218"/>
              <a:ext cx="4760595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07530" y="4540568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34225" y="460533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25665" y="46396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改进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17536" y="4640104"/>
              <a:ext cx="24163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换成最小堆就是 O(n log n)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26986" y="4983956"/>
              <a:ext cx="39999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每轮两次删最小、一次插入，各 O(log n)，共 n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轮。n 很大时应该用堆，堆的做法见第 18 讲。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4" name="Rectangle 7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511" y="6011704"/>
              <a:ext cx="7450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数组有效区间的左端随 i 右移，所以被合并掉的两个结点不用删除，自然被甩在区间外。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361952" cy="909257"/>
            <a:chOff x="520446" y="342900"/>
            <a:chExt cx="33619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3619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两道只问 WPL 的考题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143250"/>
            <a:chOff x="533400" y="1524000"/>
            <a:chExt cx="5410200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31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给定权值，不建树直接求 WPL（北邮复试机试）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675253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HuffmanWPL(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sort(w, n);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升序，需自行实现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WPL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 - 1;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w[i] + w[i + 1];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WPL +=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 + 2;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n &amp;&amp; w[j] &lt; 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w[j - 1] = w[j];  j++;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w[j - 1] 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WPL;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857750"/>
            <a:ext cx="5410200" cy="782955"/>
            <a:chOff x="533400" y="4857750"/>
            <a:chExt cx="5410200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48577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149215"/>
              <a:ext cx="200026" cy="200026"/>
              <a:chOff x="738188" y="514921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149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52270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500634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只搬整数不搬指针，代码短一半，这是机试里最省事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的写法。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28312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给定一棵二叉树，求它的 WPL（考研题全国卷）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797" y="1935956"/>
              <a:ext cx="3550793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WPL = 0;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全局变量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WPLPreOrder(TreeNode *t,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k 是 t 的深度，根的深度为 0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(t-&gt;left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t-&gt;right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WPL += t-&gt;weight * k;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只有叶结点带权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WPLPreOrder(t-&gt;left,  k + 1);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WPLPreOrder(t-&gt;right, k + 1);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调用：WPL = 0; WPLPreOrder(root, 0); */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6248400" y="4154805"/>
            <a:ext cx="5410200" cy="1485900"/>
            <a:chOff x="6248400" y="4154805"/>
            <a:chExt cx="5410200" cy="1485900"/>
          </a:xfrm>
        </p:grpSpPr>
        <p:sp>
          <p:nvSpPr>
            <p:cNvPr id="21" name="Rectangle 21"/>
            <p:cNvSpPr/>
            <p:nvPr/>
          </p:nvSpPr>
          <p:spPr>
            <a:xfrm>
              <a:off x="6248400" y="4154805"/>
              <a:ext cx="5410200" cy="1485900"/>
            </a:xfrm>
            <a:prstGeom prst="roundRect">
              <a:avLst>
                <a:gd name="adj" fmla="val 76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41129" y="4794051"/>
              <a:ext cx="224134" cy="192560"/>
              <a:chOff x="6441129" y="479405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53200" y="48644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41129" y="47940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53200" y="49422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55130" y="4516755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这里的树不一定是哈夫曼树，所以不能用累加法，只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能老老实实按深度加权。初值 k 必须是 0，写成 1 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整体多算一份总权值。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哈夫曼算法是贪心算法，而贪心不总是对的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每一步都在当前看来最优的若干选择中挑一个，不回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溯、不反悔。哈夫曼算法的每一步就是挑当前最小的两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个权。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335655"/>
            <a:ext cx="5410200" cy="1059180"/>
            <a:chOff x="533400" y="3335655"/>
            <a:chExt cx="5410200" cy="1059180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765233"/>
              <a:ext cx="200026" cy="200026"/>
              <a:chOff x="738188" y="376523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7652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38430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3484245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哈夫曼算法的贪心之所以正确，是因为上一页那条定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理保证了“最小的两个一定可以做最深的一对兄弟”，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这一步不会堵死后面的路。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585335"/>
            <a:ext cx="5410200" cy="1335405"/>
            <a:chOff x="533400" y="4585335"/>
            <a:chExt cx="5410200" cy="1335405"/>
          </a:xfrm>
        </p:grpSpPr>
        <p:sp>
          <p:nvSpPr>
            <p:cNvPr id="20" name="Rectangle 20"/>
            <p:cNvSpPr/>
            <p:nvPr/>
          </p:nvSpPr>
          <p:spPr>
            <a:xfrm>
              <a:off x="533400" y="458533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71868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7948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1258" y="48306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2078" y="48301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贪心要证明才能用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519112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步步最优并不一定全局最优。没有交换论证或归纳证明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时，贪心只能当作启发式，不能默认它给出最优解。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335405"/>
            <a:chOff x="6248400" y="1524000"/>
            <a:chExt cx="5410200" cy="1335405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7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装包问题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12979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包的容量是 10，四件物品的体积分别是 5、4、3、2，要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让装进去的体积之和最大。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6248400" y="3049905"/>
            <a:ext cx="5410200" cy="1800225"/>
            <a:chOff x="6248400" y="3049905"/>
            <a:chExt cx="5410200" cy="1800225"/>
          </a:xfrm>
        </p:grpSpPr>
        <p:sp>
          <p:nvSpPr>
            <p:cNvPr id="34" name="Rectangle 34"/>
            <p:cNvSpPr/>
            <p:nvPr/>
          </p:nvSpPr>
          <p:spPr>
            <a:xfrm>
              <a:off x="6248400" y="3049905"/>
              <a:ext cx="5410200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03072" y="32989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37713" y="32989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选择过程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10138" y="3185636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装入体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38609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贪心：每次拿能装下的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3148" y="3860959"/>
              <a:ext cx="21506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 5 再 4，剩余容量 1 装不下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和 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871835" y="3734752"/>
              <a:ext cx="777240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70133" y="39743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395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4005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45362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23148" y="453628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 5、3、2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871835" y="4410075"/>
              <a:ext cx="77724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70133" y="453628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049905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10562" y="304990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857548" y="304990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3"/>
          <p:cNvGrpSpPr/>
          <p:nvPr/>
        </p:nvGrpSpPr>
        <p:grpSpPr>
          <a:xfrm>
            <a:off x="6248400" y="5040630"/>
            <a:ext cx="5410200" cy="880110"/>
            <a:chOff x="6248400" y="5040630"/>
            <a:chExt cx="5410200" cy="880110"/>
          </a:xfrm>
        </p:grpSpPr>
        <p:sp>
          <p:nvSpPr>
            <p:cNvPr id="52" name="Rectangle 52"/>
            <p:cNvSpPr/>
            <p:nvPr/>
          </p:nvSpPr>
          <p:spPr>
            <a:xfrm>
              <a:off x="6248400" y="5040630"/>
              <a:ext cx="5410200" cy="880110"/>
            </a:xfrm>
            <a:prstGeom prst="roundRect">
              <a:avLst>
                <a:gd name="adj" fmla="val 1298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453188" y="5380673"/>
              <a:ext cx="200026" cy="200026"/>
              <a:chOff x="6453188" y="538067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53806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53200" y="54473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42088" y="54806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755130" y="5237798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Shannon-Fano 也是贪心，它的每一刀局部最均衡，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整体却不是 WPL 最小，属于同一类失败。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解码：从根出发，按位走到叶结点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ree-1"/>
          <p:cNvGrpSpPr/>
          <p:nvPr/>
        </p:nvGrpSpPr>
        <p:grpSpPr>
          <a:xfrm>
            <a:off x="1676400" y="1709738"/>
            <a:ext cx="4138612" cy="3006566"/>
            <a:chOff x="1676400" y="1709738"/>
            <a:chExt cx="4138612" cy="3006566"/>
          </a:xfrm>
        </p:grpSpPr>
        <p:sp>
          <p:nvSpPr>
            <p:cNvPr id="7" name="Freeform 7"/>
            <p:cNvSpPr/>
            <p:nvPr/>
          </p:nvSpPr>
          <p:spPr>
            <a:xfrm>
              <a:off x="3576638" y="3500438"/>
              <a:ext cx="338138" cy="790575"/>
            </a:xfrm>
            <a:custGeom>
              <a:avLst/>
              <a:gdLst/>
              <a:ahLst/>
              <a:cxnLst/>
              <a:rect l="l" t="t" r="r" b="b"/>
              <a:pathLst>
                <a:path w="338138" h="790575">
                  <a:moveTo>
                    <a:pt x="338138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14775" y="3500438"/>
              <a:ext cx="338138" cy="790575"/>
            </a:xfrm>
            <a:custGeom>
              <a:avLst/>
              <a:gdLst/>
              <a:ahLst/>
              <a:cxnLst/>
              <a:rect l="l" t="t" r="r" b="b"/>
              <a:pathLst>
                <a:path w="338138" h="790575">
                  <a:moveTo>
                    <a:pt x="0" y="0"/>
                  </a:moveTo>
                  <a:lnTo>
                    <a:pt x="338138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929188" y="3500438"/>
              <a:ext cx="338138" cy="790575"/>
            </a:xfrm>
            <a:custGeom>
              <a:avLst/>
              <a:gdLst/>
              <a:ahLst/>
              <a:cxnLst/>
              <a:rect l="l" t="t" r="r" b="b"/>
              <a:pathLst>
                <a:path w="338138" h="790575">
                  <a:moveTo>
                    <a:pt x="338138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67325" y="3500438"/>
              <a:ext cx="338138" cy="790575"/>
            </a:xfrm>
            <a:custGeom>
              <a:avLst/>
              <a:gdLst/>
              <a:ahLst/>
              <a:cxnLst/>
              <a:rect l="l" t="t" r="r" b="b"/>
              <a:pathLst>
                <a:path w="338138" h="790575">
                  <a:moveTo>
                    <a:pt x="0" y="0"/>
                  </a:moveTo>
                  <a:lnTo>
                    <a:pt x="338138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14775" y="2709862"/>
              <a:ext cx="676275" cy="790575"/>
            </a:xfrm>
            <a:custGeom>
              <a:avLst/>
              <a:gdLst/>
              <a:ahLst/>
              <a:cxnLst/>
              <a:rect l="l" t="t" r="r" b="b"/>
              <a:pathLst>
                <a:path w="676275" h="790575">
                  <a:moveTo>
                    <a:pt x="676275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91050" y="2709862"/>
              <a:ext cx="676275" cy="790575"/>
            </a:xfrm>
            <a:custGeom>
              <a:avLst/>
              <a:gdLst/>
              <a:ahLst/>
              <a:cxnLst/>
              <a:rect l="l" t="t" r="r" b="b"/>
              <a:pathLst>
                <a:path w="676275" h="790575">
                  <a:moveTo>
                    <a:pt x="0" y="0"/>
                  </a:moveTo>
                  <a:lnTo>
                    <a:pt x="676275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1919288"/>
              <a:ext cx="1352550" cy="790575"/>
            </a:xfrm>
            <a:custGeom>
              <a:avLst/>
              <a:gdLst/>
              <a:ahLst/>
              <a:cxnLst/>
              <a:rect l="l" t="t" r="r" b="b"/>
              <a:pathLst>
                <a:path w="1352550" h="790575">
                  <a:moveTo>
                    <a:pt x="1352550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38500" y="1919288"/>
              <a:ext cx="1352550" cy="790575"/>
            </a:xfrm>
            <a:custGeom>
              <a:avLst/>
              <a:gdLst/>
              <a:ahLst/>
              <a:cxnLst/>
              <a:rect l="l" t="t" r="r" b="b"/>
              <a:pathLst>
                <a:path w="1352550" h="790575">
                  <a:moveTo>
                    <a:pt x="0" y="0"/>
                  </a:moveTo>
                  <a:lnTo>
                    <a:pt x="135255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676400" y="250031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367088" y="408146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043362" y="408146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705225" y="32908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719638" y="408146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395912" y="408146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057775" y="32908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381500" y="25003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028950" y="17097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04809" y="26493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3561" y="2973229"/>
              <a:ext cx="2447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A｜0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33590" y="42305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93535" y="455437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B｜100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09865" y="42305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69810" y="455437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C｜101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33634" y="34399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86140" y="42305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6085" y="455437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D｜110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62415" y="42305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22360" y="4554379"/>
              <a:ext cx="366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E｜111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86184" y="34399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09909" y="26493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57359" y="18588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  <p:grpSp>
        <p:nvGrpSpPr>
          <p:cNvPr id="40" name="c1-text-2"/>
          <p:cNvGrpSpPr/>
          <p:nvPr/>
        </p:nvGrpSpPr>
        <p:grpSpPr>
          <a:xfrm>
            <a:off x="526923" y="5069681"/>
            <a:ext cx="5101082" cy="500824"/>
            <a:chOff x="526923" y="5069681"/>
            <a:chExt cx="5101082" cy="500824"/>
          </a:xfrm>
        </p:grpSpPr>
        <p:sp>
          <p:nvSpPr>
            <p:cNvPr id="39" name="TextBox 39"/>
            <p:cNvSpPr txBox="1"/>
            <p:nvPr/>
          </p:nvSpPr>
          <p:spPr>
            <a:xfrm>
              <a:off x="526923" y="5069681"/>
              <a:ext cx="510108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依次读入位串，读到 0 走左孩子、读到 1 走右孩子；一旦到达叶结点就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译出一个字符，然后回到根继续。</a:t>
              </a:r>
            </a:p>
          </p:txBody>
        </p:sp>
      </p:grpSp>
      <p:grpSp>
        <p:nvGrpSpPr>
          <p:cNvPr id="56" name="c2-cells-1"/>
          <p:cNvGrpSpPr/>
          <p:nvPr/>
        </p:nvGrpSpPr>
        <p:grpSpPr>
          <a:xfrm>
            <a:off x="6241923" y="1524000"/>
            <a:ext cx="3398329" cy="419100"/>
            <a:chOff x="6241923" y="1524000"/>
            <a:chExt cx="3398329" cy="419100"/>
          </a:xfrm>
        </p:grpSpPr>
        <p:sp>
          <p:nvSpPr>
            <p:cNvPr id="41" name="TextBox 41"/>
            <p:cNvSpPr txBox="1"/>
            <p:nvPr/>
          </p:nvSpPr>
          <p:spPr>
            <a:xfrm>
              <a:off x="6241923" y="16540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位串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06552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98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25652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789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44752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980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963852" y="15240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171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82952" y="15240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362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802052" y="15240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553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221152" y="152400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744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70" name="c2-steps-2"/>
          <p:cNvGrpSpPr/>
          <p:nvPr/>
        </p:nvGrpSpPr>
        <p:grpSpPr>
          <a:xfrm>
            <a:off x="6248400" y="2143125"/>
            <a:ext cx="3880140" cy="1878615"/>
            <a:chOff x="6248400" y="2143125"/>
            <a:chExt cx="3880140" cy="1878615"/>
          </a:xfrm>
        </p:grpSpPr>
        <p:sp>
          <p:nvSpPr>
            <p:cNvPr id="57" name="Rectangle 57"/>
            <p:cNvSpPr/>
            <p:nvPr/>
          </p:nvSpPr>
          <p:spPr>
            <a:xfrm>
              <a:off x="6381750" y="22860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248400" y="21431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42024" y="22169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48400" y="27936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2024" y="28675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48400" y="34442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2024" y="35180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59880" y="2177415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61023" y="2471261"/>
              <a:ext cx="31487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→ 右 → 左 → 右，落到叶结点 6，译出 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9880" y="2827972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1023" y="3121819"/>
              <a:ext cx="3467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回到根，右 → 左 → 左，落到叶结点 7，译出 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59880" y="34785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61023" y="3772376"/>
              <a:ext cx="2821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回到根，一步走到叶结点 15，译出 A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248400" y="4200525"/>
            <a:ext cx="5410200" cy="1319212"/>
            <a:chOff x="6248400" y="4200525"/>
            <a:chExt cx="5410200" cy="1319212"/>
          </a:xfrm>
        </p:grpSpPr>
        <p:sp>
          <p:nvSpPr>
            <p:cNvPr id="71" name="Rectangle 71"/>
            <p:cNvSpPr/>
            <p:nvPr/>
          </p:nvSpPr>
          <p:spPr>
            <a:xfrm>
              <a:off x="6248400" y="4200525"/>
              <a:ext cx="5410200" cy="1319212"/>
            </a:xfrm>
            <a:prstGeom prst="roundRect">
              <a:avLst>
                <a:gd name="adj" fmla="val 866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453188" y="4759645"/>
              <a:ext cx="200023" cy="200023"/>
              <a:chOff x="6453188" y="475964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3188" y="47596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86538" y="4826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755130" y="4616768"/>
              <a:ext cx="4431506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1011000 解码为 </a:t>
              </a:r>
              <a:r>
                <a:rPr lang="en-US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CBA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。因为是前缀码，每一步走到叶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结点就必须停，不存在“再多读一位也合法”的情况。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解码的代价是每位一次指针跳转，总代价与编码后的位数成正比，与字符种数无关。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解码方必须先拿到那棵树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842635" cy="2248852"/>
            <a:chOff x="533400" y="1524000"/>
            <a:chExt cx="5842635" cy="2248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4967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随文件一起保存什么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3130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解码方怎么做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37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整棵哈夫曼树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89086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直接用来走位串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6948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树占的空间较大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6703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哈夫曼编码表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89086" y="255698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由编码表复原出哈夫曼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6948" y="255698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要存每个字符的完整码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只存每个字符的编码长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89086" y="33456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按范式规则重建编码表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38650" y="3107055"/>
              <a:ext cx="1928812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36948" y="323230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存得最省，需要约定规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47650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2436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963352"/>
            <a:ext cx="5842635" cy="1621155"/>
            <a:chOff x="533400" y="3963352"/>
            <a:chExt cx="5842635" cy="1621155"/>
          </a:xfrm>
        </p:grpSpPr>
        <p:sp>
          <p:nvSpPr>
            <p:cNvPr id="28" name="Rectangle 28"/>
            <p:cNvSpPr/>
            <p:nvPr/>
          </p:nvSpPr>
          <p:spPr>
            <a:xfrm>
              <a:off x="533400" y="3963352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096702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41729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1258" y="4208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2078" y="42081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范式哈夫曼编码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4569142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Canonical Huffman Code。在码长相同的字符之间约定一个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固定次序，并规定编码按码长从短到长依次递增，这样只凭码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长就能唯一重建编码表。JPEG 用的就是这种。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6680835" y="1548765"/>
            <a:ext cx="4781550" cy="1268730"/>
            <a:chOff x="6680835" y="1548765"/>
            <a:chExt cx="4781550" cy="1268730"/>
          </a:xfrm>
        </p:grpSpPr>
        <p:sp>
          <p:nvSpPr>
            <p:cNvPr id="35" name="Freeform 35"/>
            <p:cNvSpPr/>
            <p:nvPr/>
          </p:nvSpPr>
          <p:spPr>
            <a:xfrm>
              <a:off x="6680835" y="1580198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32295" y="1548765"/>
              <a:ext cx="3629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jpeg、png 的熵编码环节使用哈夫曼编码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680835" y="192500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32295" y="1893570"/>
              <a:ext cx="4397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mpeg 系列（含 mp3、mp4）同样用到哈夫曼编码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80835" y="2269808"/>
              <a:ext cx="144780" cy="117157"/>
            </a:xfrm>
            <a:custGeom>
              <a:avLst/>
              <a:gdLst/>
              <a:ahLst/>
              <a:cxnLst/>
              <a:rect l="l" t="t" r="r" b="b"/>
              <a:pathLst>
                <a:path w="144780" h="117157">
                  <a:moveTo>
                    <a:pt x="0" y="61912"/>
                  </a:moveTo>
                  <a:lnTo>
                    <a:pt x="55245" y="117157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32295" y="223837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现代压缩器多把哈夫曼编码与 LZ 系列字典算法串联使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680835" y="2948940"/>
            <a:ext cx="4977765" cy="782955"/>
            <a:chOff x="6680835" y="2948940"/>
            <a:chExt cx="4977765" cy="782955"/>
          </a:xfrm>
        </p:grpSpPr>
        <p:sp>
          <p:nvSpPr>
            <p:cNvPr id="42" name="Rectangle 42"/>
            <p:cNvSpPr/>
            <p:nvPr/>
          </p:nvSpPr>
          <p:spPr>
            <a:xfrm>
              <a:off x="6680835" y="294894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873564" y="3236713"/>
              <a:ext cx="224134" cy="192560"/>
              <a:chOff x="6873564" y="323671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985635" y="33070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73564" y="32367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5635" y="3384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187565" y="309753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文件很小的时候，编码表本身的开销可能超过压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缩省下的位数，这时候压缩反而不划算。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压缩率要算总账：编码后的位数加上还原编码表所需的信息，才是真正的文件大小。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两道真题：先手算合并序列，再答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272540"/>
            <a:chOff x="533400" y="1524000"/>
            <a:chExt cx="5410200" cy="12725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阿里笔试题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7647" y="1756410"/>
              <a:ext cx="3675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 alibaba 的哈夫曼编码总长度是多少位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2651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选项：A. 11 B. 12 C. 13 D. 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392680"/>
              <a:ext cx="4693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文本中有 3 个 a、2 个 b、1 个 i、1 个 l，合计 7 个字符。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2970848"/>
            <a:ext cx="5410200" cy="1623060"/>
            <a:chOff x="533400" y="2970848"/>
            <a:chExt cx="5410200" cy="1623060"/>
          </a:xfrm>
        </p:grpSpPr>
        <p:sp>
          <p:nvSpPr>
            <p:cNvPr id="15" name="Rectangle 15"/>
            <p:cNvSpPr/>
            <p:nvPr/>
          </p:nvSpPr>
          <p:spPr>
            <a:xfrm>
              <a:off x="533400" y="2970848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9846" y="3095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32914" y="30951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取出的两个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18306" y="3095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64176" y="3095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3412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79282" y="350091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和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1872" y="3500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97742" y="3500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776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7823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9066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79282" y="390667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和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1872" y="39066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97742" y="39066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833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312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79282" y="431244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和 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1872" y="43124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707255" y="4197668"/>
              <a:ext cx="122682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97742" y="43124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2970848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774508" y="29708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447098" y="29708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92968" y="2970848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3"/>
          <p:cNvGrpSpPr/>
          <p:nvPr/>
        </p:nvGrpSpPr>
        <p:grpSpPr>
          <a:xfrm>
            <a:off x="533400" y="4769168"/>
            <a:ext cx="5410200" cy="1541145"/>
            <a:chOff x="533400" y="4769168"/>
            <a:chExt cx="5410200" cy="1541145"/>
          </a:xfrm>
        </p:grpSpPr>
        <p:sp>
          <p:nvSpPr>
            <p:cNvPr id="41" name="Rectangle 41"/>
            <p:cNvSpPr/>
            <p:nvPr/>
          </p:nvSpPr>
          <p:spPr>
            <a:xfrm>
              <a:off x="533400" y="4769168"/>
              <a:ext cx="5410200" cy="1541145"/>
            </a:xfrm>
            <a:prstGeom prst="roundRect">
              <a:avLst>
                <a:gd name="adj" fmla="val 741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439728"/>
              <a:ext cx="200026" cy="200026"/>
              <a:chOff x="738188" y="543972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439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4863" y="55175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321618"/>
              <a:ext cx="43389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WPL = 13，选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。等长编码要 7 × 2 = 14 位，只省 1 位，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因为字符种类少、频率也不悬殊。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1272540"/>
            <a:chOff x="6248400" y="1524000"/>
            <a:chExt cx="5410200" cy="1272540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8905" y="1716405"/>
              <a:ext cx="149352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40079" y="1750695"/>
              <a:ext cx="1371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2023 年考研题全国卷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2047" y="2072640"/>
              <a:ext cx="5096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个字符频次为 3、4、5、6、8、10，哈夫曼树的 WPL 是多少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2047" y="2392680"/>
              <a:ext cx="2651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选项：A. 86 B. 90 C. 96 D. 99</a:t>
              </a:r>
            </a:p>
          </p:txBody>
        </p:sp>
      </p:grpSp>
      <p:grpSp>
        <p:nvGrpSpPr>
          <p:cNvPr id="90" name="c2-table-2"/>
          <p:cNvGrpSpPr/>
          <p:nvPr/>
        </p:nvGrpSpPr>
        <p:grpSpPr>
          <a:xfrm>
            <a:off x="6248400" y="2970848"/>
            <a:ext cx="5410200" cy="2434590"/>
            <a:chOff x="6248400" y="2970848"/>
            <a:chExt cx="5410200" cy="2434590"/>
          </a:xfrm>
        </p:grpSpPr>
        <p:sp>
          <p:nvSpPr>
            <p:cNvPr id="54" name="Rectangle 54"/>
            <p:cNvSpPr/>
            <p:nvPr/>
          </p:nvSpPr>
          <p:spPr>
            <a:xfrm>
              <a:off x="6248400" y="2970848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4846" y="3095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7914" y="30951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取出的两个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33306" y="3095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79176" y="3095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48412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94282" y="350091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和 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66872" y="3500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12742" y="3500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37776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37823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8412" y="39066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94282" y="390667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和 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266872" y="39066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12742" y="39066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41833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8412" y="4312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94282" y="4312444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和 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66872" y="43124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512742" y="43124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45891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459390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48412" y="4718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94282" y="4718209"/>
              <a:ext cx="584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和 11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266872" y="47182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512742" y="47182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49949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48412" y="51239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594282" y="5123974"/>
              <a:ext cx="584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和 21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266872" y="512397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22255" y="5009198"/>
              <a:ext cx="122682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512742" y="512397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2970848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489508" y="297084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162098" y="297084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407968" y="2970848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callout-3"/>
          <p:cNvGrpSpPr/>
          <p:nvPr/>
        </p:nvGrpSpPr>
        <p:grpSpPr>
          <a:xfrm>
            <a:off x="6248400" y="5580698"/>
            <a:ext cx="5410200" cy="729615"/>
            <a:chOff x="6248400" y="5580698"/>
            <a:chExt cx="5410200" cy="729615"/>
          </a:xfrm>
        </p:grpSpPr>
        <p:sp>
          <p:nvSpPr>
            <p:cNvPr id="91" name="Rectangle 91"/>
            <p:cNvSpPr/>
            <p:nvPr/>
          </p:nvSpPr>
          <p:spPr>
            <a:xfrm>
              <a:off x="6248400" y="558069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6453188" y="5845493"/>
              <a:ext cx="200026" cy="200026"/>
              <a:chOff x="6453188" y="5845493"/>
              <a:chExt cx="200026" cy="200026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453188" y="58454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519863" y="592328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6755892" y="5727383"/>
              <a:ext cx="44932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WPL = 90，选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。注意第 3 轮要拿新生成的 7 和原有的 8，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别漏掉新结点。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哈夫曼树与哈夫曼编码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真题：写出每个字符的哈夫曼编码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55668" cy="264033"/>
            <a:chOff x="526542" y="1545907"/>
            <a:chExt cx="785566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55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字符集是 a b c d e f，出现次数分别是 6、3、8、2、10、4，合计 33。【2018 年考研题全国卷】</a:t>
              </a:r>
            </a:p>
          </p:txBody>
        </p:sp>
      </p:grpSp>
      <p:grpSp>
        <p:nvGrpSpPr>
          <p:cNvPr id="47" name="c1-tree-1"/>
          <p:cNvGrpSpPr/>
          <p:nvPr/>
        </p:nvGrpSpPr>
        <p:grpSpPr>
          <a:xfrm>
            <a:off x="1207770" y="2102168"/>
            <a:ext cx="5468303" cy="3381851"/>
            <a:chOff x="1207770" y="2102168"/>
            <a:chExt cx="5468303" cy="3381851"/>
          </a:xfrm>
        </p:grpSpPr>
        <p:sp>
          <p:nvSpPr>
            <p:cNvPr id="9" name="Freeform 9"/>
            <p:cNvSpPr/>
            <p:nvPr/>
          </p:nvSpPr>
          <p:spPr>
            <a:xfrm>
              <a:off x="1385888" y="2982278"/>
              <a:ext cx="851535" cy="702945"/>
            </a:xfrm>
            <a:custGeom>
              <a:avLst/>
              <a:gdLst/>
              <a:ahLst/>
              <a:cxnLst/>
              <a:rect l="l" t="t" r="r" b="b"/>
              <a:pathLst>
                <a:path w="851535" h="702945">
                  <a:moveTo>
                    <a:pt x="851535" y="0"/>
                  </a:moveTo>
                  <a:lnTo>
                    <a:pt x="0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37422" y="2982278"/>
              <a:ext cx="852487" cy="702945"/>
            </a:xfrm>
            <a:custGeom>
              <a:avLst/>
              <a:gdLst/>
              <a:ahLst/>
              <a:cxnLst/>
              <a:rect l="l" t="t" r="r" b="b"/>
              <a:pathLst>
                <a:path w="852487" h="702945">
                  <a:moveTo>
                    <a:pt x="0" y="0"/>
                  </a:moveTo>
                  <a:lnTo>
                    <a:pt x="852487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007292" y="4387215"/>
              <a:ext cx="212407" cy="702945"/>
            </a:xfrm>
            <a:custGeom>
              <a:avLst/>
              <a:gdLst/>
              <a:ahLst/>
              <a:cxnLst/>
              <a:rect l="l" t="t" r="r" b="b"/>
              <a:pathLst>
                <a:path w="212407" h="702945">
                  <a:moveTo>
                    <a:pt x="212407" y="0"/>
                  </a:moveTo>
                  <a:lnTo>
                    <a:pt x="0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19700" y="4387215"/>
              <a:ext cx="213360" cy="702945"/>
            </a:xfrm>
            <a:custGeom>
              <a:avLst/>
              <a:gdLst/>
              <a:ahLst/>
              <a:cxnLst/>
              <a:rect l="l" t="t" r="r" b="b"/>
              <a:pathLst>
                <a:path w="213360" h="702945">
                  <a:moveTo>
                    <a:pt x="0" y="0"/>
                  </a:moveTo>
                  <a:lnTo>
                    <a:pt x="213360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368165" y="3685222"/>
              <a:ext cx="425767" cy="701993"/>
            </a:xfrm>
            <a:custGeom>
              <a:avLst/>
              <a:gdLst/>
              <a:ahLst/>
              <a:cxnLst/>
              <a:rect l="l" t="t" r="r" b="b"/>
              <a:pathLst>
                <a:path w="425767" h="701993">
                  <a:moveTo>
                    <a:pt x="425767" y="0"/>
                  </a:moveTo>
                  <a:lnTo>
                    <a:pt x="0" y="701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93932" y="3685222"/>
              <a:ext cx="425767" cy="701993"/>
            </a:xfrm>
            <a:custGeom>
              <a:avLst/>
              <a:gdLst/>
              <a:ahLst/>
              <a:cxnLst/>
              <a:rect l="l" t="t" r="r" b="b"/>
              <a:pathLst>
                <a:path w="425767" h="701993">
                  <a:moveTo>
                    <a:pt x="0" y="0"/>
                  </a:moveTo>
                  <a:lnTo>
                    <a:pt x="425767" y="701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93932" y="2982278"/>
              <a:ext cx="852487" cy="702945"/>
            </a:xfrm>
            <a:custGeom>
              <a:avLst/>
              <a:gdLst/>
              <a:ahLst/>
              <a:cxnLst/>
              <a:rect l="l" t="t" r="r" b="b"/>
              <a:pathLst>
                <a:path w="852487" h="702945">
                  <a:moveTo>
                    <a:pt x="852487" y="0"/>
                  </a:moveTo>
                  <a:lnTo>
                    <a:pt x="0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646420" y="2982278"/>
              <a:ext cx="851535" cy="702945"/>
            </a:xfrm>
            <a:custGeom>
              <a:avLst/>
              <a:gdLst/>
              <a:ahLst/>
              <a:cxnLst/>
              <a:rect l="l" t="t" r="r" b="b"/>
              <a:pathLst>
                <a:path w="851535" h="702945">
                  <a:moveTo>
                    <a:pt x="0" y="0"/>
                  </a:moveTo>
                  <a:lnTo>
                    <a:pt x="851535" y="7029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237422" y="2280285"/>
              <a:ext cx="1704022" cy="701993"/>
            </a:xfrm>
            <a:custGeom>
              <a:avLst/>
              <a:gdLst/>
              <a:ahLst/>
              <a:cxnLst/>
              <a:rect l="l" t="t" r="r" b="b"/>
              <a:pathLst>
                <a:path w="1704022" h="701993">
                  <a:moveTo>
                    <a:pt x="1704022" y="0"/>
                  </a:moveTo>
                  <a:lnTo>
                    <a:pt x="0" y="701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41445" y="2280285"/>
              <a:ext cx="1704975" cy="701993"/>
            </a:xfrm>
            <a:custGeom>
              <a:avLst/>
              <a:gdLst/>
              <a:ahLst/>
              <a:cxnLst/>
              <a:rect l="l" t="t" r="r" b="b"/>
              <a:pathLst>
                <a:path w="1704975" h="701993">
                  <a:moveTo>
                    <a:pt x="0" y="0"/>
                  </a:moveTo>
                  <a:lnTo>
                    <a:pt x="1704975" y="7019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207770" y="3507105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1792" y="3507105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059305" y="28041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190048" y="4209098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829175" y="4912042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54942" y="4912042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041582" y="420909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615815" y="350710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319838" y="3507105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468302" y="28041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763328" y="21021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46141" y="36290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4860" y="3917156"/>
              <a:ext cx="3020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a｜00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50163" y="36290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38883" y="3917156"/>
              <a:ext cx="3020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c｜01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62691" y="2926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28418" y="43310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6781" y="4619149"/>
              <a:ext cx="362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f｜100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67546" y="50339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95552" y="5322094"/>
              <a:ext cx="4234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d｜1010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93313" y="50339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21319" y="5322094"/>
              <a:ext cx="4234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b｜1011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9953" y="43310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54186" y="36290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3224" y="362902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46928" y="3917156"/>
              <a:ext cx="3020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e｜11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71689" y="29260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66714" y="22240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  <p:grpSp>
        <p:nvGrpSpPr>
          <p:cNvPr id="49" name="c2-text-1"/>
          <p:cNvGrpSpPr/>
          <p:nvPr/>
        </p:nvGrpSpPr>
        <p:grpSpPr>
          <a:xfrm>
            <a:off x="7649909" y="1945957"/>
            <a:ext cx="3834213" cy="205359"/>
            <a:chOff x="7649909" y="1945957"/>
            <a:chExt cx="3834213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7649909" y="1945957"/>
              <a:ext cx="3834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合并序列：2+3=5，4+5=9，6+8=14，9+10=19，14+19=33。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7655242" y="2274570"/>
            <a:ext cx="4003358" cy="1525905"/>
            <a:chOff x="7655242" y="2274570"/>
            <a:chExt cx="4003358" cy="1525905"/>
          </a:xfrm>
        </p:grpSpPr>
        <p:sp>
          <p:nvSpPr>
            <p:cNvPr id="50" name="Rectangle 50"/>
            <p:cNvSpPr/>
            <p:nvPr/>
          </p:nvSpPr>
          <p:spPr>
            <a:xfrm>
              <a:off x="7655242" y="2274570"/>
              <a:ext cx="400335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98142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99220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00298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01375" y="23917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49921" y="2773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30044" y="277368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51124" y="27736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31246" y="277368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55242" y="3032760"/>
              <a:ext cx="40033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55242" y="3037522"/>
              <a:ext cx="40033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49921" y="3154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30044" y="3154680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51124" y="315468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31246" y="315468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55242" y="3413760"/>
              <a:ext cx="40033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49921" y="35366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30044" y="353663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51124" y="353663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31246" y="353663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55242" y="2274570"/>
              <a:ext cx="400335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630602" y="227457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651682" y="227457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631805" y="227457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callout-3"/>
          <p:cNvGrpSpPr/>
          <p:nvPr/>
        </p:nvGrpSpPr>
        <p:grpSpPr>
          <a:xfrm>
            <a:off x="7655242" y="3965258"/>
            <a:ext cx="4003358" cy="467678"/>
            <a:chOff x="7655242" y="3965258"/>
            <a:chExt cx="4003358" cy="467678"/>
          </a:xfrm>
        </p:grpSpPr>
        <p:sp>
          <p:nvSpPr>
            <p:cNvPr id="75" name="Rectangle 75"/>
            <p:cNvSpPr/>
            <p:nvPr/>
          </p:nvSpPr>
          <p:spPr>
            <a:xfrm>
              <a:off x="7655242" y="3965258"/>
              <a:ext cx="4003358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860030" y="4098610"/>
              <a:ext cx="200023" cy="200023"/>
              <a:chOff x="7860030" y="409861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860030" y="4098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993380" y="4165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163116" y="4109561"/>
              <a:ext cx="2341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WPL = 5+9+14+19+33 = </a:t>
              </a:r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80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7" name="c2-card-4"/>
          <p:cNvGrpSpPr/>
          <p:nvPr/>
        </p:nvGrpSpPr>
        <p:grpSpPr>
          <a:xfrm>
            <a:off x="7655242" y="4597718"/>
            <a:ext cx="4003358" cy="1403032"/>
            <a:chOff x="7655242" y="4597718"/>
            <a:chExt cx="4003358" cy="1403032"/>
          </a:xfrm>
        </p:grpSpPr>
        <p:sp>
          <p:nvSpPr>
            <p:cNvPr id="81" name="Rectangle 81"/>
            <p:cNvSpPr/>
            <p:nvPr/>
          </p:nvSpPr>
          <p:spPr>
            <a:xfrm>
              <a:off x="7655242" y="4597718"/>
              <a:ext cx="400335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664768" y="4731068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874318" y="47786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66037" y="48115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40293" y="481822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编码不唯一，码长唯一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67841" y="5135404"/>
              <a:ext cx="34673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左右分支的 0/1 约定换一种，编码串会跟着变，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但每个字符的码长和整棵树的 WPL 都不会变。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答题时把约定写在旁边。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用二叉树表示表达式，也用来表示整段代码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叶结点是操作数、内结点是运算符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中根序列是中缀式、后根序列是后缀式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后根遍历就是求值过程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表达式树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表达式树：叶结点是操作数，内结点是运算符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660083" y="1584960"/>
            <a:ext cx="3790949" cy="1847850"/>
            <a:chOff x="660083" y="1584960"/>
            <a:chExt cx="3790949" cy="1847850"/>
          </a:xfrm>
        </p:grpSpPr>
        <p:sp>
          <p:nvSpPr>
            <p:cNvPr id="7" name="Freeform 7"/>
            <p:cNvSpPr/>
            <p:nvPr/>
          </p:nvSpPr>
          <p:spPr>
            <a:xfrm>
              <a:off x="844868" y="2754630"/>
              <a:ext cx="310515" cy="493395"/>
            </a:xfrm>
            <a:custGeom>
              <a:avLst/>
              <a:gdLst/>
              <a:ahLst/>
              <a:cxnLst/>
              <a:rect l="l" t="t" r="r" b="b"/>
              <a:pathLst>
                <a:path w="310515" h="493395">
                  <a:moveTo>
                    <a:pt x="310515" y="0"/>
                  </a:moveTo>
                  <a:lnTo>
                    <a:pt x="0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55382" y="2754630"/>
              <a:ext cx="311468" cy="493395"/>
            </a:xfrm>
            <a:custGeom>
              <a:avLst/>
              <a:gdLst/>
              <a:ahLst/>
              <a:cxnLst/>
              <a:rect l="l" t="t" r="r" b="b"/>
              <a:pathLst>
                <a:path w="311468" h="493395">
                  <a:moveTo>
                    <a:pt x="0" y="0"/>
                  </a:moveTo>
                  <a:lnTo>
                    <a:pt x="311468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088832" y="2754630"/>
              <a:ext cx="311467" cy="493395"/>
            </a:xfrm>
            <a:custGeom>
              <a:avLst/>
              <a:gdLst/>
              <a:ahLst/>
              <a:cxnLst/>
              <a:rect l="l" t="t" r="r" b="b"/>
              <a:pathLst>
                <a:path w="311467" h="493395">
                  <a:moveTo>
                    <a:pt x="311467" y="0"/>
                  </a:moveTo>
                  <a:lnTo>
                    <a:pt x="0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00300" y="2754630"/>
              <a:ext cx="310515" cy="493395"/>
            </a:xfrm>
            <a:custGeom>
              <a:avLst/>
              <a:gdLst/>
              <a:ahLst/>
              <a:cxnLst/>
              <a:rect l="l" t="t" r="r" b="b"/>
              <a:pathLst>
                <a:path w="310515" h="493395">
                  <a:moveTo>
                    <a:pt x="0" y="0"/>
                  </a:moveTo>
                  <a:lnTo>
                    <a:pt x="310515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5382" y="2263140"/>
              <a:ext cx="621982" cy="491490"/>
            </a:xfrm>
            <a:custGeom>
              <a:avLst/>
              <a:gdLst/>
              <a:ahLst/>
              <a:cxnLst/>
              <a:rect l="l" t="t" r="r" b="b"/>
              <a:pathLst>
                <a:path w="621982" h="491490">
                  <a:moveTo>
                    <a:pt x="621982" y="0"/>
                  </a:moveTo>
                  <a:lnTo>
                    <a:pt x="0" y="4914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7365" y="2263140"/>
              <a:ext cx="622935" cy="491490"/>
            </a:xfrm>
            <a:custGeom>
              <a:avLst/>
              <a:gdLst/>
              <a:ahLst/>
              <a:cxnLst/>
              <a:rect l="l" t="t" r="r" b="b"/>
              <a:pathLst>
                <a:path w="622935" h="491490">
                  <a:moveTo>
                    <a:pt x="0" y="0"/>
                  </a:moveTo>
                  <a:lnTo>
                    <a:pt x="622935" y="4914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7365" y="1769745"/>
              <a:ext cx="1244918" cy="493395"/>
            </a:xfrm>
            <a:custGeom>
              <a:avLst/>
              <a:gdLst/>
              <a:ahLst/>
              <a:cxnLst/>
              <a:rect l="l" t="t" r="r" b="b"/>
              <a:pathLst>
                <a:path w="1244918" h="493395">
                  <a:moveTo>
                    <a:pt x="1244918" y="0"/>
                  </a:moveTo>
                  <a:lnTo>
                    <a:pt x="0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22282" y="1769745"/>
              <a:ext cx="1243965" cy="493395"/>
            </a:xfrm>
            <a:custGeom>
              <a:avLst/>
              <a:gdLst/>
              <a:ahLst/>
              <a:cxnLst/>
              <a:rect l="l" t="t" r="r" b="b"/>
              <a:pathLst>
                <a:path w="1243965" h="493395">
                  <a:moveTo>
                    <a:pt x="0" y="0"/>
                  </a:moveTo>
                  <a:lnTo>
                    <a:pt x="1243965" y="4933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60083" y="3063240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282065" y="3063240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70598" y="256984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04048" y="3063240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526030" y="3063240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215515" y="256984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592580" y="207835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081462" y="2078355"/>
              <a:ext cx="369570" cy="36957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837498" y="158496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5121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7103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5636" y="26993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49086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71068" y="31918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60553" y="269938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37618" y="2206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26501" y="22069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82536" y="17145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</p:grpSp>
      <p:grpSp>
        <p:nvGrpSpPr>
          <p:cNvPr id="42" name="c2-kv-1"/>
          <p:cNvGrpSpPr/>
          <p:nvPr/>
        </p:nvGrpSpPr>
        <p:grpSpPr>
          <a:xfrm>
            <a:off x="5809107" y="1545907"/>
            <a:ext cx="5849493" cy="1048894"/>
            <a:chOff x="5809107" y="1545907"/>
            <a:chExt cx="5849493" cy="1048894"/>
          </a:xfrm>
        </p:grpSpPr>
        <p:sp>
          <p:nvSpPr>
            <p:cNvPr id="34" name="TextBox 34"/>
            <p:cNvSpPr txBox="1"/>
            <p:nvPr/>
          </p:nvSpPr>
          <p:spPr>
            <a:xfrm>
              <a:off x="5809107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中根序列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1132" y="1545907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(a+b)×(c−d)−e，正是中缀表达式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1832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09107" y="193833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后根序列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71132" y="1938338"/>
              <a:ext cx="2367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ab+cd−×e−，正是后缀表达式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2250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09107" y="2330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先根序列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71132" y="233076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−×+ab−cde，即前缀（波兰）表达式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5815965" y="2711768"/>
            <a:ext cx="5842635" cy="2060258"/>
            <a:chOff x="5815965" y="2711768"/>
            <a:chExt cx="5842635" cy="2060258"/>
          </a:xfrm>
        </p:grpSpPr>
        <p:sp>
          <p:nvSpPr>
            <p:cNvPr id="43" name="Rectangle 43"/>
            <p:cNvSpPr/>
            <p:nvPr/>
          </p:nvSpPr>
          <p:spPr>
            <a:xfrm>
              <a:off x="5815965" y="2711768"/>
              <a:ext cx="5842635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25490" y="2845118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0755" y="28984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32474" y="29313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6349" y="29337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为什么编译器喜欢树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049328" y="33156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05347" y="3259455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树结构本身已经记录了运算次序，中缀式里的括号在树里不再需要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049328" y="36156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05347" y="355949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遍历方式一换就能得到另一种表达式，前缀、中缀、后缀之间互转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都很方便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049328" y="41738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05347" y="4117658"/>
              <a:ext cx="50286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不只表达式，if、for、while 这些语句结构同样能表示成树，便于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编译器统一分析和优化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5815965" y="4941570"/>
            <a:ext cx="5842635" cy="729615"/>
            <a:chOff x="5815965" y="4941570"/>
            <a:chExt cx="5842635" cy="729615"/>
          </a:xfrm>
        </p:grpSpPr>
        <p:sp>
          <p:nvSpPr>
            <p:cNvPr id="55" name="Rectangle 55"/>
            <p:cNvSpPr/>
            <p:nvPr/>
          </p:nvSpPr>
          <p:spPr>
            <a:xfrm>
              <a:off x="5815965" y="494157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020753" y="5206365"/>
              <a:ext cx="200026" cy="200026"/>
              <a:chOff x="6020753" y="5206365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020753" y="52063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120765" y="5273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09653" y="53063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323457" y="5088255"/>
              <a:ext cx="489146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输出中根序列时要按运算符优先级补括号，否则 (a+b)×c 会被打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印成 a+b×c。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2" name="Rectangle 6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8373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同一棵表达式树，三种遍历给出三种表达式；反过来，只有后缀或前缀式能唯一确定一棵树。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表达式树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后缀表达式建树：操作数压栈，运算符弹两个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905731" cy="2764440"/>
            <a:chOff x="533400" y="1533525"/>
            <a:chExt cx="4905731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从左向右扫描后缀表达式，每读到一个符号就新建一个结点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把这个结点直接压栈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从栈中弹出两个结点，先弹出的作右孩子、后弹出的作左孩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子，再把运算符结点压栈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扫描完毕，栈顶就是表达式树的根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4977765" cy="1770698"/>
            <a:chOff x="533400" y="4475798"/>
            <a:chExt cx="4977765" cy="1770698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4977765" cy="1770698"/>
            </a:xfrm>
            <a:prstGeom prst="roundRect">
              <a:avLst>
                <a:gd name="adj" fmla="val 645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257918"/>
              <a:ext cx="224134" cy="192560"/>
              <a:chOff x="726129" y="5257918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3282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2579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4060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980622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弹出次序不能反。后缀式里右操作数离运算符更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近，所以先弹出来的那个是右孩子，写反了会把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a−b 算成 b−a。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815965" y="1524000"/>
            <a:ext cx="5842635" cy="2692718"/>
            <a:chOff x="5815965" y="1524000"/>
            <a:chExt cx="5842635" cy="2692718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38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708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2846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栈内（自底向上）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23788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17233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建叶结点压栈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97618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23788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17233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建叶结点压栈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97618" y="2556986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3788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17233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建叶结点压栈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97618" y="300561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23788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17233" y="34542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c 作右孩子、b 作左孩子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97618" y="3454241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×子树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23788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17233" y="390382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×子树 作右孩子、a 作左孩子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799320" y="3777615"/>
              <a:ext cx="18497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97618" y="390382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+子树（根）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1524000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0464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8503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tree-2"/>
          <p:cNvGrpSpPr/>
          <p:nvPr/>
        </p:nvGrpSpPr>
        <p:grpSpPr>
          <a:xfrm>
            <a:off x="7066598" y="4435792"/>
            <a:ext cx="4070984" cy="1371600"/>
            <a:chOff x="7066598" y="4435792"/>
            <a:chExt cx="4070984" cy="1371600"/>
          </a:xfrm>
        </p:grpSpPr>
        <p:sp>
          <p:nvSpPr>
            <p:cNvPr id="62" name="Freeform 62"/>
            <p:cNvSpPr/>
            <p:nvPr/>
          </p:nvSpPr>
          <p:spPr>
            <a:xfrm>
              <a:off x="9467850" y="5121592"/>
              <a:ext cx="729615" cy="476250"/>
            </a:xfrm>
            <a:custGeom>
              <a:avLst/>
              <a:gdLst/>
              <a:ahLst/>
              <a:cxnLst/>
              <a:rect l="l" t="t" r="r" b="b"/>
              <a:pathLst>
                <a:path w="729615" h="476250">
                  <a:moveTo>
                    <a:pt x="729615" y="0"/>
                  </a:move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197465" y="5121592"/>
              <a:ext cx="730568" cy="476250"/>
            </a:xfrm>
            <a:custGeom>
              <a:avLst/>
              <a:gdLst/>
              <a:ahLst/>
              <a:cxnLst/>
              <a:rect l="l" t="t" r="r" b="b"/>
              <a:pathLst>
                <a:path w="730568" h="476250">
                  <a:moveTo>
                    <a:pt x="0" y="0"/>
                  </a:moveTo>
                  <a:lnTo>
                    <a:pt x="730568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276148" y="4645342"/>
              <a:ext cx="1461135" cy="476250"/>
            </a:xfrm>
            <a:custGeom>
              <a:avLst/>
              <a:gdLst/>
              <a:ahLst/>
              <a:cxnLst/>
              <a:rect l="l" t="t" r="r" b="b"/>
              <a:pathLst>
                <a:path w="1461135" h="476250">
                  <a:moveTo>
                    <a:pt x="1461135" y="0"/>
                  </a:move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737282" y="4645342"/>
              <a:ext cx="1460182" cy="476250"/>
            </a:xfrm>
            <a:custGeom>
              <a:avLst/>
              <a:gdLst/>
              <a:ahLst/>
              <a:cxnLst/>
              <a:rect l="l" t="t" r="r" b="b"/>
              <a:pathLst>
                <a:path w="1460182" h="476250">
                  <a:moveTo>
                    <a:pt x="0" y="0"/>
                  </a:moveTo>
                  <a:lnTo>
                    <a:pt x="1460182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066598" y="491204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258300" y="538829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718482" y="5388292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987915" y="491204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527732" y="443579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29998" y="50568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21701" y="553307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81883" y="553307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51316" y="50568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91133" y="458057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</p:grpSp>
      <p:grpSp>
        <p:nvGrpSpPr>
          <p:cNvPr id="78" name="c2-text-3"/>
          <p:cNvGrpSpPr/>
          <p:nvPr/>
        </p:nvGrpSpPr>
        <p:grpSpPr>
          <a:xfrm>
            <a:off x="7059364" y="6047899"/>
            <a:ext cx="3355838" cy="249364"/>
            <a:chOff x="7059364" y="6047899"/>
            <a:chExt cx="3355838" cy="249364"/>
          </a:xfrm>
        </p:grpSpPr>
        <p:sp>
          <p:nvSpPr>
            <p:cNvPr id="77" name="TextBox 77"/>
            <p:cNvSpPr txBox="1"/>
            <p:nvPr/>
          </p:nvSpPr>
          <p:spPr>
            <a:xfrm>
              <a:off x="7059364" y="6047899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后缀式 abc×+ 建出的树，中根序列是 a+b×c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表达式树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后缀建树的代码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068955"/>
            <a:chOff x="533400" y="1524000"/>
            <a:chExt cx="6276022" cy="3068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068955"/>
            </a:xfrm>
            <a:prstGeom prst="roundRect">
              <a:avLst>
                <a:gd name="adj" fmla="val 310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62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buildExpTree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166745" cy="25736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*buildExpTree(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s 是长度为 n 的后缀表达式，小写字母表示操作数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stack&lt;TreeNode *&gt; stk;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*p =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p-&gt;data = s[i];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&gt;=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s[i] &lt;=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p-&gt;left = p-&gt;right = NULL;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运算符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p-&gt;right = stk.top();  stk.pop();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p-&gt;left  = stk.top();  stk.pop();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stk.push(p);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stk.top();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768215"/>
            <a:ext cx="6276022" cy="812482"/>
            <a:chOff x="533400" y="4768215"/>
            <a:chExt cx="6276022" cy="812482"/>
          </a:xfrm>
        </p:grpSpPr>
        <p:sp>
          <p:nvSpPr>
            <p:cNvPr id="11" name="Rectangle 11"/>
            <p:cNvSpPr/>
            <p:nvPr/>
          </p:nvSpPr>
          <p:spPr>
            <a:xfrm>
              <a:off x="533400" y="4768215"/>
              <a:ext cx="6276022" cy="812482"/>
            </a:xfrm>
            <a:prstGeom prst="roundRect">
              <a:avLst>
                <a:gd name="adj" fmla="val 1406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073968"/>
              <a:ext cx="200026" cy="200026"/>
              <a:chOff x="738188" y="507396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0739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51517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4954905"/>
              <a:ext cx="53286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一遍扫描就能建好树，是因为后缀表达式已经把运算次序写进了符号的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先后顺序，建树时不必再判断优先级。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7114222" y="1524000"/>
            <a:ext cx="4544378" cy="1998345"/>
            <a:chOff x="7114222" y="1524000"/>
            <a:chExt cx="4544378" cy="1998345"/>
          </a:xfrm>
        </p:grpSpPr>
        <p:sp>
          <p:nvSpPr>
            <p:cNvPr id="17" name="Rectangle 17"/>
            <p:cNvSpPr/>
            <p:nvPr/>
          </p:nvSpPr>
          <p:spPr>
            <a:xfrm>
              <a:off x="7114222" y="1524000"/>
              <a:ext cx="4544378" cy="1998345"/>
            </a:xfrm>
            <a:prstGeom prst="roundRect">
              <a:avLst>
                <a:gd name="adj" fmla="val 6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23748" y="1657350"/>
              <a:ext cx="47625" cy="17316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447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61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28420" y="1756410"/>
              <a:ext cx="1926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STL 的 pop 没有返回值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37870" y="2090738"/>
              <a:ext cx="3931348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`p-&gt;right = stk.pop();` 和 `return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stk.peek();`。C++ 标准库的 `stack::pop()` 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void，取栈顶要用 `top()`，并且没有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`peek()` 这个成员。上面按标准写法改成先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`top()` 再 `pop()`。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7114222" y="3697605"/>
            <a:ext cx="4544378" cy="978218"/>
            <a:chOff x="7114222" y="3697605"/>
            <a:chExt cx="4544378" cy="978218"/>
          </a:xfrm>
        </p:grpSpPr>
        <p:sp>
          <p:nvSpPr>
            <p:cNvPr id="24" name="Rectangle 24"/>
            <p:cNvSpPr/>
            <p:nvPr/>
          </p:nvSpPr>
          <p:spPr>
            <a:xfrm>
              <a:off x="7114222" y="3697605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19010" y="4086227"/>
              <a:ext cx="200023" cy="200023"/>
              <a:chOff x="7319010" y="4086227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19010" y="40862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452360" y="4152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621714" y="3843338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 O(n)：每个符号只被读一次，每个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结点只进栈出栈各一次。前提是表达式合法，运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算符都是二元的。</a:t>
              </a:r>
            </a:p>
          </p:txBody>
        </p:sp>
      </p:grpSp>
      <p:grpSp>
        <p:nvGrpSpPr>
          <p:cNvPr id="36" name="c2-callout-3"/>
          <p:cNvGrpSpPr/>
          <p:nvPr/>
        </p:nvGrpSpPr>
        <p:grpSpPr>
          <a:xfrm>
            <a:off x="7114222" y="4850130"/>
            <a:ext cx="4544378" cy="729615"/>
            <a:chOff x="7114222" y="4850130"/>
            <a:chExt cx="4544378" cy="729615"/>
          </a:xfrm>
        </p:grpSpPr>
        <p:sp>
          <p:nvSpPr>
            <p:cNvPr id="30" name="Rectangle 30"/>
            <p:cNvSpPr/>
            <p:nvPr/>
          </p:nvSpPr>
          <p:spPr>
            <a:xfrm>
              <a:off x="7114222" y="4850130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06952" y="5111233"/>
              <a:ext cx="224134" cy="192560"/>
              <a:chOff x="7306952" y="5111233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419023" y="51816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06952" y="51112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19023" y="5259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621714" y="4996815"/>
              <a:ext cx="36227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表达式非法时会在空栈上调用 top()，工程代码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里要先判断 stk.size() 是否够两个。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3610"/>
              <a:ext cx="7310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栈里存的是子树的根指针，不是操作数的值，所以这套流程和第 4 讲的后缀求值只差一步。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表达式树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中缀表达式直接建树：两个栈配合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604260"/>
            <a:chOff x="533400" y="1524000"/>
            <a:chExt cx="6276022" cy="36042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604260"/>
            </a:xfrm>
            <a:prstGeom prst="roundRect">
              <a:avLst>
                <a:gd name="adj" fmla="val 264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双栈建树主函数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4045204" cy="3099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*build(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pr[] 是运算符优先级表：pr['+']=pr['-']=1，pr['*']=pr['/']=2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&gt;=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s[i] &lt;=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'z'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更正：原为 &lt;= 'b'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TreeNode *p 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p-&gt;data = s[i];  p-&gt;left = p-&gt;right = NULL;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EXP.push(p);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OP.push(s[i]);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(s[i] ==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')'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(OP.top() !=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operation();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OP.pop();  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丢掉这对括号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(!OP.empty() &amp;&amp; OP.top() != </a:t>
              </a:r>
              <a:r>
                <a:rPr lang="zh-CN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'('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&amp;&amp; pr[s[i]] &lt;= pr[OP.top()]) operation();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OP.push(s[i]);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(!OP.empty()) operation();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EXP.top();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114222" y="1524000"/>
            <a:ext cx="4544378" cy="2211705"/>
            <a:chOff x="7114222" y="1524000"/>
            <a:chExt cx="4544378" cy="2211705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2211705"/>
            </a:xfrm>
            <a:prstGeom prst="roundRect">
              <a:avLst>
                <a:gd name="adj" fmla="val 43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42620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两个栈与合并动作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810" y="1935575"/>
              <a:ext cx="2963926" cy="171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stack&lt;TreeNode *&gt; EXP;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结点栈，代替操作数栈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stack&lt;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 OP;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运算符栈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p-&gt;data  = OP.top();   OP.pop();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p-&gt;right = EXP.top();  EXP.pop();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p-&gt;left  = EXP.top();  EXP.pop();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EXP.push(p);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2"/>
          <p:cNvGrpSpPr/>
          <p:nvPr/>
        </p:nvGrpSpPr>
        <p:grpSpPr>
          <a:xfrm>
            <a:off x="7114222" y="3905250"/>
            <a:ext cx="4544378" cy="1716405"/>
            <a:chOff x="7114222" y="3905250"/>
            <a:chExt cx="4544378" cy="1716405"/>
          </a:xfrm>
        </p:grpSpPr>
        <p:sp>
          <p:nvSpPr>
            <p:cNvPr id="15" name="Rectangle 15"/>
            <p:cNvSpPr/>
            <p:nvPr/>
          </p:nvSpPr>
          <p:spPr>
            <a:xfrm>
              <a:off x="7114222" y="3905250"/>
              <a:ext cx="4544378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3748" y="4038600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39012" y="40919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30732" y="41248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04607" y="412718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操作数的判断范围写窄了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32154" y="4452938"/>
              <a:ext cx="393134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`s[i] &gt;= 'a' &amp;&amp; s[i] &lt;= 'b'`，只有 a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会被当成操作数，c 以后的字母会掉进最后那个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else 分支当运算符处理。按注释“小写字母表示操作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数”，应为 `&lt;= 'z'`。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2" name="Rectangle 2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6028373"/>
              <a:ext cx="8219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和第 4 讲的中缀转后缀是同一套算法，区别只是把操作数栈换成了结点栈，弹栈时顺手把子树接起来。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表达式树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后根遍历一遍，表达式的值就出来了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791778"/>
            <a:chOff x="533400" y="1524000"/>
            <a:chExt cx="5842635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838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Calc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824605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Calc(TreeNode *t)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t 指向合法表达式树的根，操作数是 0…9 的单个数字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(t-&gt;left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t-&gt;right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t-&gt;data -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'0'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叶结点：操作数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ans1 = Calc(t-&gt;left);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先算左子树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ans2 = Calc(t-&gt;right);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再算右子树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(t-&gt;data) {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最后做根的运算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'+'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ans1 + ans2;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'-'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ans1 - ans2;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'*'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ans1 * ans2;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: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ans1 / ans2;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506278"/>
            <a:ext cx="5842635" cy="1761172"/>
            <a:chOff x="533400" y="4506278"/>
            <a:chExt cx="5842635" cy="1761172"/>
          </a:xfrm>
        </p:grpSpPr>
        <p:sp>
          <p:nvSpPr>
            <p:cNvPr id="11" name="Rectangle 11"/>
            <p:cNvSpPr/>
            <p:nvPr/>
          </p:nvSpPr>
          <p:spPr>
            <a:xfrm>
              <a:off x="533400" y="4506278"/>
              <a:ext cx="5842635" cy="1761172"/>
            </a:xfrm>
            <a:prstGeom prst="roundRect">
              <a:avLst>
                <a:gd name="adj" fmla="val 649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26129" y="5283636"/>
              <a:ext cx="224134" cy="192560"/>
              <a:chOff x="726129" y="528363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38200" y="53540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6129" y="52836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4317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006340"/>
              <a:ext cx="4939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这份代码假定除数一定不为 0、运算符只有四则运算。它的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访问次序正是后根遍历，所以求值和后根遍历是同一件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680835" y="1524000"/>
            <a:ext cx="4977765" cy="1335405"/>
            <a:chOff x="6680835" y="1524000"/>
            <a:chExt cx="4977765" cy="1335405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90360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2848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2359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87590" y="1768792"/>
              <a:ext cx="1796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(8+2)×(9−5)−3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0865" y="2129790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后缀式 82+95−×3−，按上一页的办法建树后调用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Calc。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680835" y="3049905"/>
            <a:ext cx="4977765" cy="2244091"/>
            <a:chOff x="6680835" y="3049905"/>
            <a:chExt cx="4977765" cy="2244091"/>
          </a:xfrm>
        </p:grpSpPr>
        <p:sp>
          <p:nvSpPr>
            <p:cNvPr id="25" name="Rectangle 25"/>
            <p:cNvSpPr/>
            <p:nvPr/>
          </p:nvSpPr>
          <p:spPr>
            <a:xfrm>
              <a:off x="6680835" y="3049905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67474" y="31856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轮到的结点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20468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左子树值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05391" y="31856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右子树值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749" y="31856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8658" y="36342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36458" y="36342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21380" y="36342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06303" y="363426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9423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0835" y="394716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8658" y="40828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36458" y="40828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21380" y="40828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06303" y="40828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43919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8658" y="453151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36458" y="45315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21380" y="45315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06303" y="45315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48406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0835" y="484536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8658" y="498014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36458" y="498014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21380" y="498014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708005" y="4854892"/>
              <a:ext cx="94107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806303" y="498014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3049905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23872" y="304990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08795" y="304990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693718" y="304990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3"/>
          <p:cNvGrpSpPr/>
          <p:nvPr/>
        </p:nvGrpSpPr>
        <p:grpSpPr>
          <a:xfrm>
            <a:off x="6680835" y="5484495"/>
            <a:ext cx="4977765" cy="782955"/>
            <a:chOff x="6680835" y="5484495"/>
            <a:chExt cx="4977765" cy="782955"/>
          </a:xfrm>
        </p:grpSpPr>
        <p:sp>
          <p:nvSpPr>
            <p:cNvPr id="57" name="Rectangle 57"/>
            <p:cNvSpPr/>
            <p:nvPr/>
          </p:nvSpPr>
          <p:spPr>
            <a:xfrm>
              <a:off x="6680835" y="548449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885623" y="5775962"/>
              <a:ext cx="200023" cy="200023"/>
              <a:chOff x="6885623" y="5775962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885623" y="57759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018973" y="5842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187565" y="563308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表格的行序就是后根遍历的访问序；每个内结点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被算到时，它的两棵子树一定已经算完。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表达式树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同一套树结构还用在这些地方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647825"/>
            <a:chOff x="533400" y="1524000"/>
            <a:chExt cx="5410200" cy="1647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47825"/>
            </a:xfrm>
            <a:prstGeom prst="roundRect">
              <a:avLst>
                <a:gd name="adj" fmla="val 57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8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一段 HTML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2066290" cy="11482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&lt;html&gt;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&lt;head&gt;&lt;title&gt;示例网页&lt;/title&gt;&lt;/head&gt;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&lt;body&gt;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&lt;h1&gt;数据&lt;u&gt;结构&lt;/u&gt;&lt;/h1&gt;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&lt;h2&gt;Data &lt;i&gt;Structure&lt;/i&gt;&lt;/h2&gt;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&lt;p&gt;吉大计算机&lt;/p&gt;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&lt;/body&gt;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&lt;/html&gt;</a:t>
              </a:r>
            </a:p>
          </p:txBody>
        </p:sp>
      </p:grpSp>
      <p:grpSp>
        <p:nvGrpSpPr>
          <p:cNvPr id="37" name="c1-tree-2"/>
          <p:cNvGrpSpPr/>
          <p:nvPr/>
        </p:nvGrpSpPr>
        <p:grpSpPr>
          <a:xfrm>
            <a:off x="533400" y="3415665"/>
            <a:ext cx="5410200" cy="1595438"/>
            <a:chOff x="533400" y="3415665"/>
            <a:chExt cx="5410200" cy="1595438"/>
          </a:xfrm>
        </p:grpSpPr>
        <p:sp>
          <p:nvSpPr>
            <p:cNvPr id="11" name="Freeform 11"/>
            <p:cNvSpPr/>
            <p:nvPr/>
          </p:nvSpPr>
          <p:spPr>
            <a:xfrm>
              <a:off x="3115628" y="356330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17720" y="399669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617720" y="443007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15628" y="3996690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433388"/>
                  </a:moveTo>
                  <a:lnTo>
                    <a:pt x="209550" y="43338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15628" y="443007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15628" y="4430078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0"/>
                  </a:moveTo>
                  <a:lnTo>
                    <a:pt x="209550" y="0"/>
                  </a:lnTo>
                  <a:lnTo>
                    <a:pt x="209550" y="433388"/>
                  </a:lnTo>
                  <a:lnTo>
                    <a:pt x="419100" y="4333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17345" y="3563302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433388"/>
                  </a:moveTo>
                  <a:lnTo>
                    <a:pt x="209550" y="43338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17345" y="3996690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0"/>
                  </a:moveTo>
                  <a:lnTo>
                    <a:pt x="209550" y="0"/>
                  </a:lnTo>
                  <a:lnTo>
                    <a:pt x="209550" y="433388"/>
                  </a:lnTo>
                  <a:lnTo>
                    <a:pt x="419100" y="4333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34728" y="3415665"/>
              <a:ext cx="1083945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36445" y="3415665"/>
              <a:ext cx="1078230" cy="295275"/>
            </a:xfrm>
            <a:prstGeom prst="roundRect">
              <a:avLst>
                <a:gd name="adj" fmla="val 32258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36820" y="3849052"/>
              <a:ext cx="9067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34728" y="3849052"/>
              <a:ext cx="1083945" cy="295275"/>
            </a:xfrm>
            <a:prstGeom prst="roundRect">
              <a:avLst>
                <a:gd name="adj" fmla="val 32258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36820" y="4282440"/>
              <a:ext cx="906780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34728" y="4282440"/>
              <a:ext cx="1083945" cy="295275"/>
            </a:xfrm>
            <a:prstGeom prst="roundRect">
              <a:avLst>
                <a:gd name="adj" fmla="val 32258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34728" y="4715828"/>
              <a:ext cx="1083945" cy="295275"/>
            </a:xfrm>
            <a:prstGeom prst="roundRect">
              <a:avLst>
                <a:gd name="adj" fmla="val 32258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036445" y="4282440"/>
              <a:ext cx="1078230" cy="295275"/>
            </a:xfrm>
            <a:prstGeom prst="roundRect">
              <a:avLst>
                <a:gd name="adj" fmla="val 32258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849052"/>
              <a:ext cx="1083945" cy="295275"/>
            </a:xfrm>
            <a:prstGeom prst="roundRect">
              <a:avLst>
                <a:gd name="adj" fmla="val 3225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25215" y="3505676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title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26932" y="3505676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7308" y="3939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25215" y="393906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h1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27308" y="4372451"/>
              <a:ext cx="426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25215" y="437245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h2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25215" y="48058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26932" y="437245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body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888" y="3939064"/>
              <a:ext cx="2587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html</a:t>
              </a:r>
            </a:p>
          </p:txBody>
        </p:sp>
      </p:grpSp>
      <p:grpSp>
        <p:nvGrpSpPr>
          <p:cNvPr id="39" name="c1-text-3"/>
          <p:cNvGrpSpPr/>
          <p:nvPr/>
        </p:nvGrpSpPr>
        <p:grpSpPr>
          <a:xfrm>
            <a:off x="527685" y="5273516"/>
            <a:ext cx="5205679" cy="441008"/>
            <a:chOff x="527685" y="5273516"/>
            <a:chExt cx="5205679" cy="441008"/>
          </a:xfrm>
        </p:grpSpPr>
        <p:sp>
          <p:nvSpPr>
            <p:cNvPr id="38" name="TextBox 38"/>
            <p:cNvSpPr txBox="1"/>
            <p:nvPr/>
          </p:nvSpPr>
          <p:spPr>
            <a:xfrm>
              <a:off x="527685" y="5273516"/>
              <a:ext cx="5205679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浏览器解析 html 后在内存里建出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DOM 树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，标签和文本内容都是它的结点，页面上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看到的排版就是这棵树渲染出来的。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483995"/>
            <a:chOff x="6248400" y="1524000"/>
            <a:chExt cx="5410200" cy="1483995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8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63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5947" y="17564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2047" y="2090738"/>
              <a:ext cx="46943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while、if、赋值语句各自成为一个内结点，条件和循环体挂在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它下面。编译器在这棵树上做类型检查、常量折叠和代码优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化，表达式树只是它最底下的一层。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183255"/>
            <a:ext cx="5410200" cy="1226820"/>
            <a:chOff x="6248400" y="3183255"/>
            <a:chExt cx="5410200" cy="1226820"/>
          </a:xfrm>
        </p:grpSpPr>
        <p:sp>
          <p:nvSpPr>
            <p:cNvPr id="47" name="Rectangle 47"/>
            <p:cNvSpPr/>
            <p:nvPr/>
          </p:nvSpPr>
          <p:spPr>
            <a:xfrm>
              <a:off x="6248400" y="3183255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331660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8905" y="33756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70345" y="34099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博弈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62597" y="341566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博弈树与蒙特卡洛树搜索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2047" y="374904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棋局的每个局面是一个结点，每步合法着法是一条边。冯·诺依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曼提出极大极小原理，McCarthy 提出 α-β 剪枝。</a:t>
              </a:r>
            </a:p>
          </p:txBody>
        </p:sp>
      </p:grpSp>
      <p:grpSp>
        <p:nvGrpSpPr>
          <p:cNvPr id="68" name="c2-flow-3"/>
          <p:cNvGrpSpPr/>
          <p:nvPr/>
        </p:nvGrpSpPr>
        <p:grpSpPr>
          <a:xfrm>
            <a:off x="6381750" y="4905375"/>
            <a:ext cx="5143500" cy="399098"/>
            <a:chOff x="6381750" y="4905375"/>
            <a:chExt cx="5143500" cy="399098"/>
          </a:xfrm>
        </p:grpSpPr>
        <p:sp>
          <p:nvSpPr>
            <p:cNvPr id="54" name="Freeform 54"/>
            <p:cNvSpPr/>
            <p:nvPr/>
          </p:nvSpPr>
          <p:spPr>
            <a:xfrm>
              <a:off x="7467600" y="51054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629525" y="5053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820150" y="51054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982075" y="5053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172700" y="51054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334625" y="5053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381750" y="4905375"/>
              <a:ext cx="1085850" cy="399098"/>
            </a:xfrm>
            <a:prstGeom prst="roundRect">
              <a:avLst>
                <a:gd name="adj" fmla="val 4988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34300" y="4905375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086850" y="4905375"/>
              <a:ext cx="108585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439400" y="4905375"/>
              <a:ext cx="1085850" cy="399098"/>
            </a:xfrm>
            <a:prstGeom prst="roundRect">
              <a:avLst>
                <a:gd name="adj" fmla="val 4988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17411" y="5026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选择结点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69961" y="5026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扩展结点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22511" y="5026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随机模拟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75061" y="5026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反向传播</a:t>
              </a:r>
            </a:p>
          </p:txBody>
        </p:sp>
      </p:grpSp>
      <p:grpSp>
        <p:nvGrpSpPr>
          <p:cNvPr id="70" name="c2-text-4"/>
          <p:cNvGrpSpPr/>
          <p:nvPr/>
        </p:nvGrpSpPr>
        <p:grpSpPr>
          <a:xfrm>
            <a:off x="6242685" y="5818346"/>
            <a:ext cx="5096510" cy="441008"/>
            <a:chOff x="6242685" y="5818346"/>
            <a:chExt cx="5096510" cy="441008"/>
          </a:xfrm>
        </p:grpSpPr>
        <p:sp>
          <p:nvSpPr>
            <p:cNvPr id="69" name="TextBox 69"/>
            <p:cNvSpPr txBox="1"/>
            <p:nvPr/>
          </p:nvSpPr>
          <p:spPr>
            <a:xfrm>
              <a:off x="6242685" y="5818346"/>
              <a:ext cx="509651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MCTS 的四步循环。1997 年 Deep Blue 胜卡斯帕罗夫靠的是搜索加剪枝，2016 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AlphaGo 胜李世石则把 MCTS 和深度学习结合起来。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358515" cy="2997517"/>
            <a:chOff x="667512" y="1835468"/>
            <a:chExt cx="335851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用父指针森林维护一组不相交集合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只需要向上访问的能力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路径压缩让树变矮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按秩合并让树长不高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32587" cy="909257"/>
            <a:chOff x="520446" y="342900"/>
            <a:chExt cx="58325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325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位向量实现集合：三个操作都是 O(n)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cells-1"/>
          <p:cNvGrpSpPr/>
          <p:nvPr/>
        </p:nvGrpSpPr>
        <p:grpSpPr>
          <a:xfrm>
            <a:off x="527685" y="1524000"/>
            <a:ext cx="2100263" cy="2781300"/>
            <a:chOff x="527685" y="1524000"/>
            <a:chExt cx="2100263" cy="278130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154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184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7064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094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8974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5004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0884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6914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685" y="225409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1548" y="211455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1846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70648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30946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789748" y="211455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50046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208848" y="211455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69146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685" y="284464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1548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11846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370648" y="27051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30946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789748" y="27051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50046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208848" y="27051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69146" y="2844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3435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交集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1548" y="32956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11846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70648" y="32956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0946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89748" y="32956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50046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08848" y="32956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69146" y="3435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685" y="40257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并集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1548" y="38862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11846" y="4025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370648" y="38862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30946" y="4025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789748" y="38862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950046" y="4025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208848" y="38862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369146" y="4025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4" name="c1-text-2"/>
          <p:cNvGrpSpPr/>
          <p:nvPr/>
        </p:nvGrpSpPr>
        <p:grpSpPr>
          <a:xfrm>
            <a:off x="526923" y="4517231"/>
            <a:ext cx="5531866" cy="500824"/>
            <a:chOff x="526923" y="4517231"/>
            <a:chExt cx="5531866" cy="500824"/>
          </a:xfrm>
        </p:grpSpPr>
        <p:sp>
          <p:nvSpPr>
            <p:cNvPr id="53" name="TextBox 53"/>
            <p:cNvSpPr txBox="1"/>
            <p:nvPr/>
          </p:nvSpPr>
          <p:spPr>
            <a:xfrm>
              <a:off x="526923" y="4517231"/>
              <a:ext cx="55318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全集有 n 个元素时，每个集合用一个 n 位的位向量表示，第 i 位为 1 表示第 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个元素属于该集合。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6680835" y="1524000"/>
            <a:ext cx="4977765" cy="1795462"/>
            <a:chOff x="6680835" y="1524000"/>
            <a:chExt cx="4977765" cy="1795462"/>
          </a:xfrm>
        </p:grpSpPr>
        <p:sp>
          <p:nvSpPr>
            <p:cNvPr id="55" name="Rectangle 55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345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4015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位向量做法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559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8865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求交集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3678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两个向量逐位与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17746" y="2108359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88658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求并集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53678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两个向量逐位或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17746" y="255698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88658" y="3005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判断元素属于哪个集合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53678" y="3005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扫描所有集合的对应位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17746" y="300561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80835" y="1524000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4109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80516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llout-2"/>
          <p:cNvGrpSpPr/>
          <p:nvPr/>
        </p:nvGrpSpPr>
        <p:grpSpPr>
          <a:xfrm>
            <a:off x="6680835" y="3509962"/>
            <a:ext cx="4977765" cy="1457325"/>
            <a:chOff x="6680835" y="3509962"/>
            <a:chExt cx="4977765" cy="1457325"/>
          </a:xfrm>
        </p:grpSpPr>
        <p:sp>
          <p:nvSpPr>
            <p:cNvPr id="75" name="Rectangle 75"/>
            <p:cNvSpPr/>
            <p:nvPr/>
          </p:nvSpPr>
          <p:spPr>
            <a:xfrm>
              <a:off x="6680835" y="3509962"/>
              <a:ext cx="4977765" cy="1457325"/>
            </a:xfrm>
            <a:prstGeom prst="roundRect">
              <a:avLst>
                <a:gd name="adj" fmla="val 784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873564" y="4134921"/>
              <a:ext cx="224134" cy="192560"/>
              <a:chOff x="6873564" y="4134921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985635" y="42052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873564" y="41349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985635" y="42830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187565" y="3857625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问题出在规模：集合个数多、元素多时，每次操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作都要把整条向量走一遍，而我们真正关心的往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往只是“这两个元素在不在同一组”。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130" y="5991225"/>
              <a:ext cx="6921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如果只需要回答“属于哪一组”和“把两组并起来”，有比位向量快得多的结构。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并查集只做两件事：查代表元、合并集合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203132"/>
            <a:chOff x="533400" y="1524000"/>
            <a:chExt cx="4977765" cy="22031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34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一些应用要把 n 个不同的元素分成一组互不相交的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集合，并反复做两种操作：查询某个元素所属的集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合、合并两个集合。维护这组不相交集合的数据结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构称为并查集。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318986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每个集合选一个元素代表整个集合，称为该集合的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代表元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917632"/>
            <a:ext cx="4977765" cy="1213485"/>
            <a:chOff x="533400" y="3917632"/>
            <a:chExt cx="4977765" cy="1213485"/>
          </a:xfrm>
        </p:grpSpPr>
        <p:sp>
          <p:nvSpPr>
            <p:cNvPr id="15" name="Rectangle 15"/>
            <p:cNvSpPr/>
            <p:nvPr/>
          </p:nvSpPr>
          <p:spPr>
            <a:xfrm>
              <a:off x="533400" y="3917632"/>
              <a:ext cx="4977765" cy="1213485"/>
            </a:xfrm>
            <a:prstGeom prst="roundRect">
              <a:avLst>
                <a:gd name="adj" fmla="val 94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424363"/>
              <a:ext cx="200026" cy="200026"/>
              <a:chOff x="738188" y="442436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4243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4491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45243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143375"/>
              <a:ext cx="3949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并查集回答不了“集合里都有谁”，它只回答“这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两个元素是不是一组”。需要枚举成员时得另外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挂一条链表。</a:t>
              </a:r>
            </a:p>
          </p:txBody>
        </p:sp>
      </p:grpSp>
      <p:grpSp>
        <p:nvGrpSpPr>
          <p:cNvPr id="37" name="c2-table-1"/>
          <p:cNvGrpSpPr/>
          <p:nvPr/>
        </p:nvGrpSpPr>
        <p:grpSpPr>
          <a:xfrm>
            <a:off x="5815965" y="1524000"/>
            <a:ext cx="5842635" cy="1795462"/>
            <a:chOff x="5815965" y="1524000"/>
            <a:chExt cx="5842635" cy="1795462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91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14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23788" y="2108359"/>
              <a:ext cx="119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MAKE_SET(x)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8770" y="2108359"/>
              <a:ext cx="357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建立一个新集合，唯一元素是 x，x 就是代表元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23788" y="2556986"/>
              <a:ext cx="10953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UNION(x, y)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88770" y="2556986"/>
              <a:ext cx="2821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 和 y 所在的两个集合合并成一个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25490" y="2880360"/>
              <a:ext cx="174688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3788" y="3005614"/>
              <a:ext cx="693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FIND(x)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8770" y="300561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 x 所在的集合，返回它的代表元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1524000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7618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2"/>
          <p:cNvGrpSpPr/>
          <p:nvPr/>
        </p:nvGrpSpPr>
        <p:grpSpPr>
          <a:xfrm>
            <a:off x="5815965" y="3509962"/>
            <a:ext cx="5842635" cy="1621155"/>
            <a:chOff x="5815965" y="3509962"/>
            <a:chExt cx="5842635" cy="1621155"/>
          </a:xfrm>
        </p:grpSpPr>
        <p:sp>
          <p:nvSpPr>
            <p:cNvPr id="38" name="Rectangle 38"/>
            <p:cNvSpPr/>
            <p:nvPr/>
          </p:nvSpPr>
          <p:spPr>
            <a:xfrm>
              <a:off x="5815965" y="3509962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25490" y="3643312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63615" y="37195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3823" y="37552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3690" y="37547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用代表元比较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5995" y="4115752"/>
              <a:ext cx="5139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 x 和 y 是否同组，不用把集合列出来，只要看 FIND(x)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是不是等于 FIND(y)。代表元是谁无所谓，只要同一集合里所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有元素问出来的代表元一致。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代表元可以在合并时换人，所以不能把它当成集合的名字记在别处。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用树表示集合：根就是代表元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2244090"/>
            <a:chOff x="533400" y="1524000"/>
            <a:chExt cx="5842635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39024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741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37738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一个集合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树的结点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7738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集合的元素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树的根结点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39440" y="2880360"/>
              <a:ext cx="322802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37738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集合的代表元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一片森林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7738" y="34542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一组互不相交的集合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2515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bullets-2"/>
          <p:cNvGrpSpPr/>
          <p:nvPr/>
        </p:nvGrpSpPr>
        <p:grpSpPr>
          <a:xfrm>
            <a:off x="539115" y="3983355"/>
            <a:ext cx="5536525" cy="982980"/>
            <a:chOff x="539115" y="3983355"/>
            <a:chExt cx="5536525" cy="982980"/>
          </a:xfrm>
        </p:grpSpPr>
        <p:sp>
          <p:nvSpPr>
            <p:cNvPr id="27" name="Ellipse 27"/>
            <p:cNvSpPr/>
            <p:nvPr/>
          </p:nvSpPr>
          <p:spPr>
            <a:xfrm>
              <a:off x="539115" y="40462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7230" y="3983355"/>
              <a:ext cx="5378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MAKE_SET(x)：为 x 生成一棵只有一个结点的树，x 就是根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9115" y="43910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7230" y="4328160"/>
              <a:ext cx="444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FIND(x)：从 x 一路往上走，走到的根就是代表元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9115" y="47358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7230" y="4672965"/>
              <a:ext cx="5059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UNION(x, y)：让一棵树的根的父指针指向另一棵树的根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097780"/>
            <a:ext cx="5842635" cy="782955"/>
            <a:chOff x="533400" y="5097780"/>
            <a:chExt cx="5842635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09778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389247"/>
              <a:ext cx="200023" cy="200023"/>
              <a:chOff x="738188" y="5389247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3892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4559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24637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全程只需要树的向上访问能力，所以每个结点只存父结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点，不存孩子，也不需要左右之分。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7580871" y="1524000"/>
            <a:ext cx="3177692" cy="2457927"/>
            <a:chOff x="7580871" y="1524000"/>
            <a:chExt cx="3177692" cy="2457927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40968" y="1524000"/>
              <a:ext cx="2857500" cy="2143125"/>
            </a:xfrm>
            <a:prstGeom prst="roundRect">
              <a:avLst>
                <a:gd name="adj" fmla="val 6222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580871" y="376189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左边一串串起来，右边每根线直接系到同一只手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680835" y="4147185"/>
            <a:ext cx="4977765" cy="1733550"/>
            <a:chOff x="6680835" y="4147185"/>
            <a:chExt cx="4977765" cy="1733550"/>
          </a:xfrm>
        </p:grpSpPr>
        <p:sp>
          <p:nvSpPr>
            <p:cNvPr id="43" name="Rectangle 43"/>
            <p:cNvSpPr/>
            <p:nvPr/>
          </p:nvSpPr>
          <p:spPr>
            <a:xfrm>
              <a:off x="6680835" y="4147185"/>
              <a:ext cx="4977765" cy="1733550"/>
            </a:xfrm>
            <a:prstGeom prst="roundRect">
              <a:avLst>
                <a:gd name="adj" fmla="val 65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885623" y="4913948"/>
              <a:ext cx="200026" cy="200026"/>
              <a:chOff x="6885623" y="491394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885623" y="49139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5635" y="4980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974523" y="50139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187565" y="4632960"/>
              <a:ext cx="4034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左边的链是最坏情形，右边是路径压缩之后的样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子；两边代表的是同一个集合，只是找“手”的快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慢差很多。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55124" cy="909257"/>
            <a:chOff x="520446" y="342900"/>
            <a:chExt cx="54551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551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数组：一个整型数组就够了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831532" y="1771650"/>
            <a:ext cx="4805363" cy="2971800"/>
            <a:chOff x="831532" y="1771650"/>
            <a:chExt cx="4805363" cy="2971800"/>
          </a:xfrm>
        </p:grpSpPr>
        <p:sp>
          <p:nvSpPr>
            <p:cNvPr id="7" name="Freeform 7"/>
            <p:cNvSpPr/>
            <p:nvPr/>
          </p:nvSpPr>
          <p:spPr>
            <a:xfrm>
              <a:off x="1066800" y="2144078"/>
              <a:ext cx="346710" cy="574357"/>
            </a:xfrm>
            <a:custGeom>
              <a:avLst/>
              <a:gdLst/>
              <a:ahLst/>
              <a:cxnLst/>
              <a:rect l="l" t="t" r="r" b="b"/>
              <a:pathLst>
                <a:path w="346710" h="574357">
                  <a:moveTo>
                    <a:pt x="0" y="574357"/>
                  </a:moveTo>
                  <a:lnTo>
                    <a:pt x="3467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72552" y="2063115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90488" y="0"/>
                  </a:moveTo>
                  <a:lnTo>
                    <a:pt x="81915" y="105727"/>
                  </a:lnTo>
                  <a:lnTo>
                    <a:pt x="0" y="561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97355" y="2132648"/>
              <a:ext cx="429578" cy="593407"/>
            </a:xfrm>
            <a:custGeom>
              <a:avLst/>
              <a:gdLst/>
              <a:ahLst/>
              <a:cxnLst/>
              <a:rect l="l" t="t" r="r" b="b"/>
              <a:pathLst>
                <a:path w="429578" h="593407">
                  <a:moveTo>
                    <a:pt x="429578" y="59340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41158" y="2055495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0" y="0"/>
                  </a:moveTo>
                  <a:lnTo>
                    <a:pt x="94297" y="48577"/>
                  </a:lnTo>
                  <a:lnTo>
                    <a:pt x="17145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21230" y="3114675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447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73605" y="3019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21230" y="3981450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4476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73605" y="38862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021455" y="2181225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73830" y="2085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393508" y="177165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31532" y="27051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068830" y="27051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068830" y="357187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068830" y="44386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869055" y="177165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869055" y="27051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32095" y="177165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99758" y="1858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7783" y="2791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75081" y="2791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75081" y="3658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75081" y="4525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75306" y="1858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75306" y="2791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38346" y="1858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63333" y="3886676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三棵树 = 三个集合</a:t>
              </a:r>
            </a:p>
          </p:txBody>
        </p:sp>
      </p:grpSp>
      <p:grpSp>
        <p:nvGrpSpPr>
          <p:cNvPr id="36" name="c1-text-2"/>
          <p:cNvGrpSpPr/>
          <p:nvPr/>
        </p:nvGrpSpPr>
        <p:grpSpPr>
          <a:xfrm>
            <a:off x="526923" y="5069681"/>
            <a:ext cx="5369306" cy="500824"/>
            <a:chOff x="526923" y="5069681"/>
            <a:chExt cx="5369306" cy="500824"/>
          </a:xfrm>
        </p:grpSpPr>
        <p:sp>
          <p:nvSpPr>
            <p:cNvPr id="35" name="TextBox 35"/>
            <p:cNvSpPr txBox="1"/>
            <p:nvPr/>
          </p:nvSpPr>
          <p:spPr>
            <a:xfrm>
              <a:off x="526923" y="5069681"/>
              <a:ext cx="536930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箭头方向是孩子指向父亲。1、3、4 是三棵树的根，也就是三个集合的代表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元。</a:t>
              </a:r>
            </a:p>
          </p:txBody>
        </p:sp>
      </p:grpSp>
      <p:grpSp>
        <p:nvGrpSpPr>
          <p:cNvPr id="62" name="c2-cells-1"/>
          <p:cNvGrpSpPr/>
          <p:nvPr/>
        </p:nvGrpSpPr>
        <p:grpSpPr>
          <a:xfrm>
            <a:off x="6458902" y="1524000"/>
            <a:ext cx="3985260" cy="634841"/>
            <a:chOff x="6458902" y="1524000"/>
            <a:chExt cx="3985260" cy="634841"/>
          </a:xfrm>
        </p:grpSpPr>
        <p:sp>
          <p:nvSpPr>
            <p:cNvPr id="37" name="TextBox 37"/>
            <p:cNvSpPr txBox="1"/>
            <p:nvPr/>
          </p:nvSpPr>
          <p:spPr>
            <a:xfrm>
              <a:off x="6458902" y="1663541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Father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091362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516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1046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707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29562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898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48662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089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76776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280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18686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471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60596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7662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02506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85361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657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848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039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230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421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612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803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99493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2314575"/>
            <a:ext cx="5193982" cy="2005965"/>
            <a:chOff x="6464618" y="2314575"/>
            <a:chExt cx="5193982" cy="2005965"/>
          </a:xfrm>
        </p:grpSpPr>
        <p:sp>
          <p:nvSpPr>
            <p:cNvPr id="63" name="Rectangle 63"/>
            <p:cNvSpPr/>
            <p:nvPr/>
          </p:nvSpPr>
          <p:spPr>
            <a:xfrm>
              <a:off x="6464618" y="2314575"/>
              <a:ext cx="5193982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4142" y="2447925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712268" y="25241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03428" y="2559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13295" y="255936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数组下标与元素值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17983" y="29832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76098" y="29203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数组下标就是结点编号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717983" y="3318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76098" y="3255645"/>
              <a:ext cx="30321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Father[i] 存结点 i 的父结点下标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717983" y="3653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76098" y="3590925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Father[i] = 0 表示 i 是根（结点编号从 1 开始，所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0 可以当哨位值用）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464618" y="4511040"/>
            <a:ext cx="5193982" cy="1008698"/>
            <a:chOff x="6464618" y="4511040"/>
            <a:chExt cx="5193982" cy="1008698"/>
          </a:xfrm>
        </p:grpSpPr>
        <p:sp>
          <p:nvSpPr>
            <p:cNvPr id="75" name="Rectangle 75"/>
            <p:cNvSpPr/>
            <p:nvPr/>
          </p:nvSpPr>
          <p:spPr>
            <a:xfrm>
              <a:off x="6464618" y="4511040"/>
              <a:ext cx="5193982" cy="1008698"/>
            </a:xfrm>
            <a:prstGeom prst="roundRect">
              <a:avLst>
                <a:gd name="adj" fmla="val 1133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669405" y="4914900"/>
              <a:ext cx="200026" cy="200026"/>
              <a:chOff x="6669405" y="4914900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669405" y="49149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736080" y="49926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6971348" y="4772025"/>
              <a:ext cx="3891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FIND(8) 的走法：8 → 6 → 5 → 1，Father[1] =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0，返回代表元 1。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1" name="Rectangle 8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整个并查集就是一个 int 数组，没有指针、没有动态分配，这是它在竞赛和机试里好写的原因。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朴素实现为什么会退化成一条链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068955"/>
            <a:chOff x="533400" y="1524000"/>
            <a:chExt cx="5842635" cy="3068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068955"/>
            </a:xfrm>
            <a:prstGeom prst="roundRect">
              <a:avLst>
                <a:gd name="adj" fmla="val 310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三个操作的直接实现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4004945" cy="25736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Father[MAXN];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Father[x] &gt; 0 时是 x 的父结点编号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MS(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Father[x] = 0; }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MAKE_SET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FD(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       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FIND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(Father[x] == 0)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 就是根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FD(Father[x]);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继续往上走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                 </a:t>
              </a:r>
              <a:r>
                <a:rPr lang="en-US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UNION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fx = FD(x), fy = FD(y);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(fx != fy)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补充：原课件缺这个判断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Father[fy] = fx;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y 的根挂到 x 的根下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768215"/>
            <a:ext cx="5842635" cy="1483995"/>
            <a:chOff x="533400" y="4768215"/>
            <a:chExt cx="5842635" cy="1483995"/>
          </a:xfrm>
        </p:grpSpPr>
        <p:sp>
          <p:nvSpPr>
            <p:cNvPr id="11" name="Rectangle 11"/>
            <p:cNvSpPr/>
            <p:nvPr/>
          </p:nvSpPr>
          <p:spPr>
            <a:xfrm>
              <a:off x="533400" y="4768215"/>
              <a:ext cx="584263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90156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9606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49949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7597" y="4999673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少了同集合判断会死循环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5334000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UN 直接写 `Father[FD(y)] = FD(x);`。若 x 与 y 本来就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同组，两个 FD 返回同一个根 r，于是 Father[r] = r，这个结点从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此自己是自己的父亲，下一次 FD(r) 会无限递归。</a:t>
              </a:r>
            </a:p>
          </p:txBody>
        </p:sp>
      </p:grpSp>
      <p:grpSp>
        <p:nvGrpSpPr>
          <p:cNvPr id="37" name="c2-graph-1"/>
          <p:cNvGrpSpPr/>
          <p:nvPr/>
        </p:nvGrpSpPr>
        <p:grpSpPr>
          <a:xfrm>
            <a:off x="7421880" y="1541145"/>
            <a:ext cx="1900238" cy="2173605"/>
            <a:chOff x="7421880" y="1541145"/>
            <a:chExt cx="1900238" cy="2173605"/>
          </a:xfrm>
        </p:grpSpPr>
        <p:sp>
          <p:nvSpPr>
            <p:cNvPr id="18" name="Freeform 18"/>
            <p:cNvSpPr/>
            <p:nvPr/>
          </p:nvSpPr>
          <p:spPr>
            <a:xfrm>
              <a:off x="9169718" y="1950720"/>
              <a:ext cx="9525" cy="48577"/>
            </a:xfrm>
            <a:custGeom>
              <a:avLst/>
              <a:gdLst/>
              <a:ahLst/>
              <a:cxnLst/>
              <a:rect l="l" t="t" r="r" b="b"/>
              <a:pathLst>
                <a:path w="9525" h="48577">
                  <a:moveTo>
                    <a:pt x="0" y="4857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122092" y="18554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169718" y="241839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122092" y="23231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169718" y="2885122"/>
              <a:ext cx="9525" cy="48578"/>
            </a:xfrm>
            <a:custGeom>
              <a:avLst/>
              <a:gdLst/>
              <a:ahLst/>
              <a:cxnLst/>
              <a:rect l="l" t="t" r="r" b="b"/>
              <a:pathLst>
                <a:path w="9525" h="48578">
                  <a:moveTo>
                    <a:pt x="0" y="4857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122092" y="27898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169718" y="33528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47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122092" y="32575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017318" y="154114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7318" y="200882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017318" y="247554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9017318" y="29432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017318" y="34099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26670" y="16330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26670" y="21007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26670" y="25674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26670" y="30351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26670" y="3501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1880" y="2357914"/>
              <a:ext cx="580390" cy="989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依次执行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UN(1,2)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UN(3,1)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UN(5,3)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UN(6,5)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680835" y="3822382"/>
            <a:ext cx="4977765" cy="978218"/>
            <a:chOff x="6680835" y="3822382"/>
            <a:chExt cx="4977765" cy="978218"/>
          </a:xfrm>
        </p:grpSpPr>
        <p:sp>
          <p:nvSpPr>
            <p:cNvPr id="38" name="Rectangle 38"/>
            <p:cNvSpPr/>
            <p:nvPr/>
          </p:nvSpPr>
          <p:spPr>
            <a:xfrm>
              <a:off x="6680835" y="3822382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73564" y="4208263"/>
              <a:ext cx="224134" cy="192560"/>
              <a:chOff x="6873564" y="4208263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985635" y="42786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873564" y="42082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985635" y="4356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188327" y="3969068"/>
              <a:ext cx="4097655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FIND 和 UNION 的代价都取决于树的高度，最坏情况下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树退化成一条链，两者都是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。前提是合并时不看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两棵树的大小，谁当父亲完全由调用次序决定。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优化一：路径压缩，把走过的结点全挂到根上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4527550" cy="441008"/>
            <a:chOff x="527685" y="1542574"/>
            <a:chExt cx="4527550" cy="44100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452755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FIND(x) 里找到根 fx 之后，把 x 到 fx 路径上所有结点的父亲都改成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fx。</a:t>
              </a:r>
            </a:p>
          </p:txBody>
        </p:sp>
      </p:grpSp>
      <p:grpSp>
        <p:nvGrpSpPr>
          <p:cNvPr id="28" name="c1-graph-2"/>
          <p:cNvGrpSpPr/>
          <p:nvPr/>
        </p:nvGrpSpPr>
        <p:grpSpPr>
          <a:xfrm>
            <a:off x="1061621" y="2123122"/>
            <a:ext cx="3307497" cy="1651636"/>
            <a:chOff x="1061621" y="2123122"/>
            <a:chExt cx="3307497" cy="1651636"/>
          </a:xfrm>
        </p:grpSpPr>
        <p:sp>
          <p:nvSpPr>
            <p:cNvPr id="9" name="Freeform 9"/>
            <p:cNvSpPr/>
            <p:nvPr/>
          </p:nvSpPr>
          <p:spPr>
            <a:xfrm>
              <a:off x="1781175" y="2359342"/>
              <a:ext cx="998220" cy="343853"/>
            </a:xfrm>
            <a:custGeom>
              <a:avLst/>
              <a:gdLst/>
              <a:ahLst/>
              <a:cxnLst/>
              <a:rect l="l" t="t" r="r" b="b"/>
              <a:pathLst>
                <a:path w="998220" h="343853">
                  <a:moveTo>
                    <a:pt x="0" y="343853"/>
                  </a:moveTo>
                  <a:lnTo>
                    <a:pt x="9982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63202" y="231362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14288"/>
                  </a:moveTo>
                  <a:lnTo>
                    <a:pt x="31432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60408" y="2371725"/>
              <a:ext cx="805815" cy="323850"/>
            </a:xfrm>
            <a:custGeom>
              <a:avLst/>
              <a:gdLst/>
              <a:ahLst/>
              <a:cxnLst/>
              <a:rect l="l" t="t" r="r" b="b"/>
              <a:pathLst>
                <a:path w="805815" h="323850">
                  <a:moveTo>
                    <a:pt x="805815" y="3238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71825" y="2326958"/>
              <a:ext cx="106680" cy="88582"/>
            </a:xfrm>
            <a:custGeom>
              <a:avLst/>
              <a:gdLst/>
              <a:ahLst/>
              <a:cxnLst/>
              <a:rect l="l" t="t" r="r" b="b"/>
              <a:pathLst>
                <a:path w="106680" h="88582">
                  <a:moveTo>
                    <a:pt x="0" y="8572"/>
                  </a:moveTo>
                  <a:lnTo>
                    <a:pt x="106680" y="0"/>
                  </a:lnTo>
                  <a:lnTo>
                    <a:pt x="71438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16718" y="3013710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5">
                  <a:moveTo>
                    <a:pt x="0" y="133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69092" y="29184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216718" y="3446145"/>
              <a:ext cx="9525" cy="14288"/>
            </a:xfrm>
            <a:custGeom>
              <a:avLst/>
              <a:gdLst/>
              <a:ahLst/>
              <a:cxnLst/>
              <a:rect l="l" t="t" r="r" b="b"/>
              <a:pathLst>
                <a:path w="9525" h="14288">
                  <a:moveTo>
                    <a:pt x="0" y="142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69092" y="33508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869882" y="212312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476375" y="26041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064318" y="26041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064318" y="303657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064318" y="3469958"/>
              <a:ext cx="304800" cy="3048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79235" y="22140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85728" y="26960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3670" y="26960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73670" y="31284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73670" y="35618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1621" y="3276124"/>
              <a:ext cx="934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FIND(5) 之前</a:t>
              </a:r>
            </a:p>
          </p:txBody>
        </p:sp>
      </p:grpSp>
      <p:grpSp>
        <p:nvGrpSpPr>
          <p:cNvPr id="48" name="c1-graph-3"/>
          <p:cNvGrpSpPr/>
          <p:nvPr/>
        </p:nvGrpSpPr>
        <p:grpSpPr>
          <a:xfrm>
            <a:off x="862548" y="3984308"/>
            <a:ext cx="4203800" cy="1278254"/>
            <a:chOff x="862548" y="3984308"/>
            <a:chExt cx="4203800" cy="1278254"/>
          </a:xfrm>
        </p:grpSpPr>
        <p:sp>
          <p:nvSpPr>
            <p:cNvPr id="29" name="Freeform 29"/>
            <p:cNvSpPr/>
            <p:nvPr/>
          </p:nvSpPr>
          <p:spPr>
            <a:xfrm>
              <a:off x="1274445" y="4254818"/>
              <a:ext cx="1519238" cy="781050"/>
            </a:xfrm>
            <a:custGeom>
              <a:avLst/>
              <a:gdLst/>
              <a:ahLst/>
              <a:cxnLst/>
              <a:rect l="l" t="t" r="r" b="b"/>
              <a:pathLst>
                <a:path w="1519238" h="781050">
                  <a:moveTo>
                    <a:pt x="0" y="781050"/>
                  </a:moveTo>
                  <a:lnTo>
                    <a:pt x="15192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771775" y="421100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0"/>
                  </a:moveTo>
                  <a:lnTo>
                    <a:pt x="43815" y="85725"/>
                  </a:lnTo>
                  <a:lnTo>
                    <a:pt x="0" y="9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465070" y="4351020"/>
              <a:ext cx="414338" cy="624840"/>
            </a:xfrm>
            <a:custGeom>
              <a:avLst/>
              <a:gdLst/>
              <a:ahLst/>
              <a:cxnLst/>
              <a:rect l="l" t="t" r="r" b="b"/>
              <a:pathLst>
                <a:path w="414338" h="624840">
                  <a:moveTo>
                    <a:pt x="0" y="624840"/>
                  </a:moveTo>
                  <a:lnTo>
                    <a:pt x="4143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840355" y="4271962"/>
              <a:ext cx="92392" cy="105728"/>
            </a:xfrm>
            <a:custGeom>
              <a:avLst/>
              <a:gdLst/>
              <a:ahLst/>
              <a:cxnLst/>
              <a:rect l="l" t="t" r="r" b="b"/>
              <a:pathLst>
                <a:path w="92392" h="105728">
                  <a:moveTo>
                    <a:pt x="92392" y="0"/>
                  </a:moveTo>
                  <a:lnTo>
                    <a:pt x="79058" y="105728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164205" y="4351020"/>
              <a:ext cx="415290" cy="624840"/>
            </a:xfrm>
            <a:custGeom>
              <a:avLst/>
              <a:gdLst/>
              <a:ahLst/>
              <a:cxnLst/>
              <a:rect l="l" t="t" r="r" b="b"/>
              <a:pathLst>
                <a:path w="415290" h="624840">
                  <a:moveTo>
                    <a:pt x="415290" y="6248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111818" y="4271962"/>
              <a:ext cx="92392" cy="105728"/>
            </a:xfrm>
            <a:custGeom>
              <a:avLst/>
              <a:gdLst/>
              <a:ahLst/>
              <a:cxnLst/>
              <a:rect l="l" t="t" r="r" b="b"/>
              <a:pathLst>
                <a:path w="92392" h="105728">
                  <a:moveTo>
                    <a:pt x="0" y="0"/>
                  </a:moveTo>
                  <a:lnTo>
                    <a:pt x="92392" y="52388"/>
                  </a:lnTo>
                  <a:lnTo>
                    <a:pt x="13335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250882" y="4254818"/>
              <a:ext cx="1518285" cy="781050"/>
            </a:xfrm>
            <a:custGeom>
              <a:avLst/>
              <a:gdLst/>
              <a:ahLst/>
              <a:cxnLst/>
              <a:rect l="l" t="t" r="r" b="b"/>
              <a:pathLst>
                <a:path w="1518285" h="781050">
                  <a:moveTo>
                    <a:pt x="1518285" y="7810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166110" y="421100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0"/>
                  </a:moveTo>
                  <a:lnTo>
                    <a:pt x="106680" y="952"/>
                  </a:lnTo>
                  <a:lnTo>
                    <a:pt x="62865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869882" y="398430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78218" y="49577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222182" y="49577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3516630" y="49577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761548" y="495776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79235" y="40762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7570" y="50496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31535" y="50496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25983" y="50496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70900" y="50496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2548" y="4380071"/>
              <a:ext cx="934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FIND(5) 之后</a:t>
              </a:r>
            </a:p>
          </p:txBody>
        </p:sp>
      </p:grpSp>
      <p:grpSp>
        <p:nvGrpSpPr>
          <p:cNvPr id="52" name="c2-code-1"/>
          <p:cNvGrpSpPr/>
          <p:nvPr/>
        </p:nvGrpSpPr>
        <p:grpSpPr>
          <a:xfrm>
            <a:off x="5815965" y="1524000"/>
            <a:ext cx="5842635" cy="1468755"/>
            <a:chOff x="5815965" y="1524000"/>
            <a:chExt cx="5842635" cy="1468755"/>
          </a:xfrm>
        </p:grpSpPr>
        <p:sp>
          <p:nvSpPr>
            <p:cNvPr id="49" name="Rectangle 49"/>
            <p:cNvSpPr/>
            <p:nvPr/>
          </p:nvSpPr>
          <p:spPr>
            <a:xfrm>
              <a:off x="5815965" y="1524000"/>
              <a:ext cx="5842635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44362" y="1675924"/>
              <a:ext cx="1130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带路径压缩的 FIND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44552" y="1935194"/>
              <a:ext cx="3820541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(Father[x] == 0)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 是根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Father[x] = FIND(Father[x]);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递归找根，顺带改父指针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Father[x];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5815965" y="3168015"/>
            <a:ext cx="5842635" cy="1490662"/>
            <a:chOff x="5815965" y="3168015"/>
            <a:chExt cx="5842635" cy="1490662"/>
          </a:xfrm>
        </p:grpSpPr>
        <p:sp>
          <p:nvSpPr>
            <p:cNvPr id="53" name="Rectangle 53"/>
            <p:cNvSpPr/>
            <p:nvPr/>
          </p:nvSpPr>
          <p:spPr>
            <a:xfrm>
              <a:off x="5815965" y="3168015"/>
              <a:ext cx="5842635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25490" y="3301365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6470" y="33604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37910" y="33947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30162" y="339947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这是一个两趟过程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39612" y="373380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递归下去时沿查找路径一路向上直到找到根，这是第一趟；递归返回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时从根向下依次把每个结点的父指针改成根，这是第二趟。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40755" y="428958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一行赋值同时完成了查找和改造，代价仍与路径长度同阶。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5815965" y="4832985"/>
            <a:ext cx="5842635" cy="729615"/>
            <a:chOff x="5815965" y="4832985"/>
            <a:chExt cx="5842635" cy="729615"/>
          </a:xfrm>
        </p:grpSpPr>
        <p:sp>
          <p:nvSpPr>
            <p:cNvPr id="61" name="Rectangle 61"/>
            <p:cNvSpPr/>
            <p:nvPr/>
          </p:nvSpPr>
          <p:spPr>
            <a:xfrm>
              <a:off x="5815965" y="483298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097780"/>
              <a:ext cx="200026" cy="200026"/>
              <a:chOff x="6020753" y="5097780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0753" y="50977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87428" y="51755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3457" y="497967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压缩只改父指针，不改集合的成员关系，也不改代表元是谁，所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以任何时候做都安全。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7" name="Rectangle 6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6789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路径压缩针对 Find，它让被查过的结点下次一步到位，但对没查过的分支无能为力。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优化二：按秩合并，不让树长高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291715"/>
            <a:chOff x="533400" y="1524000"/>
            <a:chExt cx="5193982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先看一个失败的想法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7440" y="1768792"/>
              <a:ext cx="1863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按“高度”合并难在哪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想法是给每个结点记录以它为根的子树高度，合并时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让高树的根当矮树的根的父亲。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30102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Union 时树高增加，可以实时更新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311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 Find 做路径压缩后树高可能减小，要精确更新就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得重新扫整棵树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06215"/>
            <a:ext cx="5193982" cy="1631632"/>
            <a:chOff x="533400" y="4006215"/>
            <a:chExt cx="5193982" cy="1631632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193982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3956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2078" y="4251008"/>
              <a:ext cx="1087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秩（rank）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61200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每个结点维护一个秩，表示以该结点为根的子树高度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上界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。合并时秩大的根当秩小的根的父亲。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522970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只有根结点的秩起作用，非根结点的秩不再维护。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032182" y="1524000"/>
            <a:ext cx="5626418" cy="1795462"/>
            <a:chOff x="6032182" y="1524000"/>
            <a:chExt cx="5626418" cy="1795462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12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发生的事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57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真实树高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4679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40006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矮树并到高树上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40280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2807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0006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两棵秩相等的树合并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40280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28073" y="2556986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新根的秩加 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0006" y="3005614"/>
              <a:ext cx="1287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 做路径压缩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0280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可能减小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629775" y="2880360"/>
              <a:ext cx="201930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28073" y="3005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不更新，仍是上界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1524000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2769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1548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graph-2"/>
          <p:cNvGrpSpPr/>
          <p:nvPr/>
        </p:nvGrpSpPr>
        <p:grpSpPr>
          <a:xfrm>
            <a:off x="6442710" y="3569970"/>
            <a:ext cx="5140516" cy="2113598"/>
            <a:chOff x="6442710" y="3569970"/>
            <a:chExt cx="5140516" cy="2113598"/>
          </a:xfrm>
        </p:grpSpPr>
        <p:sp>
          <p:nvSpPr>
            <p:cNvPr id="47" name="Freeform 47"/>
            <p:cNvSpPr/>
            <p:nvPr/>
          </p:nvSpPr>
          <p:spPr>
            <a:xfrm>
              <a:off x="6735128" y="3849052"/>
              <a:ext cx="761047" cy="432435"/>
            </a:xfrm>
            <a:custGeom>
              <a:avLst/>
              <a:gdLst/>
              <a:ahLst/>
              <a:cxnLst/>
              <a:rect l="l" t="t" r="r" b="b"/>
              <a:pathLst>
                <a:path w="761047" h="432435">
                  <a:moveTo>
                    <a:pt x="0" y="432435"/>
                  </a:moveTo>
                  <a:lnTo>
                    <a:pt x="7610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472362" y="3802380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7625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805738" y="3965258"/>
              <a:ext cx="85725" cy="242888"/>
            </a:xfrm>
            <a:custGeom>
              <a:avLst/>
              <a:gdLst/>
              <a:ahLst/>
              <a:cxnLst/>
              <a:rect l="l" t="t" r="r" b="b"/>
              <a:pathLst>
                <a:path w="85725" h="242888">
                  <a:moveTo>
                    <a:pt x="85725" y="2428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760970" y="3875722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12383" y="0"/>
                  </a:moveTo>
                  <a:lnTo>
                    <a:pt x="89535" y="73343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961948" y="3808095"/>
              <a:ext cx="1405890" cy="499110"/>
            </a:xfrm>
            <a:custGeom>
              <a:avLst/>
              <a:gdLst/>
              <a:ahLst/>
              <a:cxnLst/>
              <a:rect l="l" t="t" r="r" b="b"/>
              <a:pathLst>
                <a:path w="1405890" h="499110">
                  <a:moveTo>
                    <a:pt x="1405890" y="4991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872412" y="376332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13335"/>
                  </a:moveTo>
                  <a:lnTo>
                    <a:pt x="105728" y="0"/>
                  </a:lnTo>
                  <a:lnTo>
                    <a:pt x="7429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944802" y="4618672"/>
              <a:ext cx="9525" cy="176212"/>
            </a:xfrm>
            <a:custGeom>
              <a:avLst/>
              <a:gdLst/>
              <a:ahLst/>
              <a:cxnLst/>
              <a:rect l="l" t="t" r="r" b="b"/>
              <a:pathLst>
                <a:path w="9525" h="176212">
                  <a:moveTo>
                    <a:pt x="0" y="1762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897178" y="45234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944802" y="5213985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1552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897178" y="51187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7567612" y="356997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442710" y="420909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792402" y="420909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9367838" y="4209098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792402" y="48044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7792402" y="53787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76965" y="36618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52063" y="43000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01755" y="43000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77190" y="43000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01755" y="48963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01755" y="54706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08960" y="4904899"/>
              <a:ext cx="187426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UNION(1,7)：秩 3 的根 1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收编秩 0 的根 7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秩不是高度，只是高度的一个上界；正因为放弃了精确性，路径压缩之后才不用去修它。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最终版本：一个数组同时存父指针和秩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4198620"/>
            <a:chOff x="533400" y="1524000"/>
            <a:chExt cx="5842635" cy="4198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04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Make_Set / Find / Union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789170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Make_Set(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Father[x] = 0; }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新根的秩为 0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(Father[x] &lt;= 0)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 是根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Father[x] = Find(Father[x]);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路径压缩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Father[x];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Union(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fx = Find(x), fy = Find(y);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(fx == fy)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已在同一棵树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(Father[fx] &lt; Father[fy])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即 rank[fx] &gt; rank[fy]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Father[fy] = fx;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(Father[fx] == Father[fy])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两根秩相等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Father[fy]--;                 /* 新根的秩加 1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Father[fx] = fy;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680835" y="1524000"/>
            <a:ext cx="4977765" cy="1916430"/>
            <a:chOff x="6680835" y="1524000"/>
            <a:chExt cx="4977765" cy="1916430"/>
          </a:xfrm>
        </p:grpSpPr>
        <p:sp>
          <p:nvSpPr>
            <p:cNvPr id="11" name="Rectangle 11"/>
            <p:cNvSpPr/>
            <p:nvPr/>
          </p:nvSpPr>
          <p:spPr>
            <a:xfrm>
              <a:off x="6680835" y="1524000"/>
              <a:ext cx="4977765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90360" y="1657350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技巧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9512" y="1768792"/>
              <a:ext cx="226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 Father 域是空闲的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934200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2315" y="2129790"/>
              <a:ext cx="3963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Father[x] &gt; 0：x 不是根，值是父结点编号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92315" y="2465070"/>
              <a:ext cx="4195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Father[x] ≤ 0：x 是根，值是 x 的秩的相反数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22008" y="2797016"/>
              <a:ext cx="3459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rank[fx] &gt; rank[fy] 写成 Father[fx] &lt;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Father[fy]，秩加 1 写成 Father[fy]--。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680835" y="3630930"/>
            <a:ext cx="4977765" cy="2724150"/>
            <a:chOff x="6680835" y="3630930"/>
            <a:chExt cx="4977765" cy="2724150"/>
          </a:xfrm>
        </p:grpSpPr>
        <p:sp>
          <p:nvSpPr>
            <p:cNvPr id="22" name="Rectangle 22"/>
            <p:cNvSpPr/>
            <p:nvPr/>
          </p:nvSpPr>
          <p:spPr>
            <a:xfrm>
              <a:off x="6680835" y="3630930"/>
              <a:ext cx="4977765" cy="2724150"/>
            </a:xfrm>
            <a:prstGeom prst="roundRect">
              <a:avLst>
                <a:gd name="adj" fmla="val 4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90360" y="3764280"/>
              <a:ext cx="47625" cy="24574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28485" y="38404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19646" y="38761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9512" y="387572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秩的比较必须在改父指针之前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0865" y="4236720"/>
              <a:ext cx="421576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100 页先写 `Father[fx]=fy;` 再判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`if(Father[fx]==Father[fy])`。这时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Father[fx] 已经变成 fy（正数），而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Father[fy] ≤ 0，两者恒不相等，秩永远停在 0，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按秩合并失效。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2008" y="5710714"/>
              <a:ext cx="4304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复核脚本实测：16 个元素两两、四四合并后，原写法记录的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秩仍是 0，调换次序后是 2，与真实树高一致。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0131" cy="909257"/>
            <a:chOff x="520446" y="342900"/>
            <a:chExt cx="58601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01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复杂度：两种优化一起用才接近 O(1)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2244090"/>
            <a:chOff x="533400" y="1524000"/>
            <a:chExt cx="5842635" cy="2244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867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使用的优化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73717" y="1659731"/>
              <a:ext cx="2027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Union 与 Find 的均摊代价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06293" y="2108359"/>
              <a:ext cx="1989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O(n)，最坏时树退化成链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只用路径压缩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6293" y="2556986"/>
              <a:ext cx="727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005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只用按秩合并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06293" y="3005614"/>
              <a:ext cx="727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42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两者同时使用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07995" y="3328988"/>
              <a:ext cx="335946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06293" y="3454241"/>
              <a:ext cx="1585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O(α(n))，接近常数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937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3958590"/>
            <a:ext cx="5842635" cy="1621155"/>
            <a:chOff x="533400" y="3958590"/>
            <a:chExt cx="5842635" cy="1621155"/>
          </a:xfrm>
        </p:grpSpPr>
        <p:sp>
          <p:nvSpPr>
            <p:cNvPr id="27" name="Rectangle 27"/>
            <p:cNvSpPr/>
            <p:nvPr/>
          </p:nvSpPr>
          <p:spPr>
            <a:xfrm>
              <a:off x="533400" y="3958590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09194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41681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1258" y="42038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2078" y="420338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并查集的最坏情况复杂度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3430" y="4564380"/>
              <a:ext cx="5111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 m 个 Make_Set、Union 和 Find 操作的序列，其中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Make_Set 的个数为 n，在不相交集合上同时使用按秩合并与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路径压缩时，最坏情况总时间为 O(m α(n))。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680835" y="1524000"/>
            <a:ext cx="4977765" cy="2692718"/>
            <a:chOff x="6680835" y="1524000"/>
            <a:chExt cx="4977765" cy="2692718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72518" y="165973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的范围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97743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α(n)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88658" y="2108359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≤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54755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8658" y="2556986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54755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8658" y="3005614"/>
              <a:ext cx="727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≤ n ≤ 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54755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8658" y="3454241"/>
              <a:ext cx="1026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≤ n ≤ 2047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54755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8658" y="3903821"/>
              <a:ext cx="1634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小于 2²⁰⁴⁸ 那一档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756458" y="3777615"/>
              <a:ext cx="189261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54755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1524000"/>
              <a:ext cx="497776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4217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2"/>
          <p:cNvGrpSpPr/>
          <p:nvPr/>
        </p:nvGrpSpPr>
        <p:grpSpPr>
          <a:xfrm>
            <a:off x="6680835" y="4407218"/>
            <a:ext cx="4977765" cy="1172528"/>
            <a:chOff x="6680835" y="4407218"/>
            <a:chExt cx="4977765" cy="1172528"/>
          </a:xfrm>
        </p:grpSpPr>
        <p:sp>
          <p:nvSpPr>
            <p:cNvPr id="57" name="Rectangle 57"/>
            <p:cNvSpPr/>
            <p:nvPr/>
          </p:nvSpPr>
          <p:spPr>
            <a:xfrm>
              <a:off x="6680835" y="4407218"/>
              <a:ext cx="4977765" cy="1172528"/>
            </a:xfrm>
            <a:prstGeom prst="roundRect">
              <a:avLst>
                <a:gd name="adj" fmla="val 974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873564" y="4890253"/>
              <a:ext cx="224134" cy="192560"/>
              <a:chOff x="6873564" y="4890253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985635" y="49606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873564" y="48902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85635" y="5038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187565" y="4612958"/>
              <a:ext cx="4110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前提要说清楚：α(n) 是单个操作的均摊值而不是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最坏值，而且 O(m α(n)) 是整组 m 个操作的总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代价，不能理解成每个 Find 都只走一步。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9267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任何实际问题里 α(n) 都不超过 4，所以工程上把并查集当成 O(1) 的结构用，但写证明时不能这么写。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应用一：等价性问题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795462"/>
            <a:chOff x="533400" y="1524000"/>
            <a:chExt cx="4977765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95462"/>
            </a:xfrm>
            <a:prstGeom prst="roundRect">
              <a:avLst>
                <a:gd name="adj" fmla="val 74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87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等价关系与等价类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满足反身性、对称性、传递性的关系称为等价关系，比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如相等关系、亲戚关系。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2707005"/>
              <a:ext cx="43251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等价性问题：给定集合 S 和它上面的若干等价元素对，询问 S 上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的两个元素是否等价。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505200"/>
            <a:ext cx="4977765" cy="1894522"/>
            <a:chOff x="533400" y="3505200"/>
            <a:chExt cx="4977765" cy="1894522"/>
          </a:xfrm>
        </p:grpSpPr>
        <p:sp>
          <p:nvSpPr>
            <p:cNvPr id="15" name="Rectangle 15"/>
            <p:cNvSpPr/>
            <p:nvPr/>
          </p:nvSpPr>
          <p:spPr>
            <a:xfrm>
              <a:off x="533400" y="3505200"/>
              <a:ext cx="4977765" cy="1894522"/>
            </a:xfrm>
            <a:prstGeom prst="roundRect">
              <a:avLst>
                <a:gd name="adj" fmla="val 70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38550"/>
              <a:ext cx="47625" cy="16278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7090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445" y="37447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3869" y="3748564"/>
              <a:ext cx="20761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个元素，5 对等价关系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4100036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 2 3 4 5 6 7 8，输入的等价对是 1~2、1~5、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5~6、3~7、6~8。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691539"/>
              <a:ext cx="3474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得到三个等价类：1 2 5 6 8 ／ 3 7 ／ 4。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9239" y="5008245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询问 1 和 6 是否等价：是。询问 7 和 8 是否等价：否。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5584508"/>
            <a:ext cx="4977765" cy="756285"/>
            <a:chOff x="533400" y="5584508"/>
            <a:chExt cx="4977765" cy="756285"/>
          </a:xfrm>
        </p:grpSpPr>
        <p:sp>
          <p:nvSpPr>
            <p:cNvPr id="24" name="Rectangle 24"/>
            <p:cNvSpPr/>
            <p:nvPr/>
          </p:nvSpPr>
          <p:spPr>
            <a:xfrm>
              <a:off x="533400" y="5584508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862638"/>
              <a:ext cx="200026" cy="200026"/>
              <a:chOff x="738188" y="5862638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8626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4863" y="59404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5731669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一个等价类对应一个集合，维护等价类正是并查集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最典型的用法。</a:t>
              </a:r>
            </a:p>
          </p:txBody>
        </p:sp>
      </p:grpSp>
      <p:grpSp>
        <p:nvGrpSpPr>
          <p:cNvPr id="33" name="c2-code-1"/>
          <p:cNvGrpSpPr/>
          <p:nvPr/>
        </p:nvGrpSpPr>
        <p:grpSpPr>
          <a:xfrm>
            <a:off x="5815965" y="1524000"/>
            <a:ext cx="5842635" cy="3065145"/>
            <a:chOff x="5815965" y="1524000"/>
            <a:chExt cx="5842635" cy="3065145"/>
          </a:xfrm>
        </p:grpSpPr>
        <p:sp>
          <p:nvSpPr>
            <p:cNvPr id="30" name="Rectangle 30"/>
            <p:cNvSpPr/>
            <p:nvPr/>
          </p:nvSpPr>
          <p:spPr>
            <a:xfrm>
              <a:off x="5815965" y="1524000"/>
              <a:ext cx="5842635" cy="3065145"/>
            </a:xfrm>
            <a:prstGeom prst="roundRect">
              <a:avLst>
                <a:gd name="adj" fmla="val 31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44362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并查集解等价性问题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44514" y="1936337"/>
              <a:ext cx="3931234" cy="2571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EquivalenceClass(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n 个元素，m 对等价关系，q 个查询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Make_Set(i);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初始化：各自一组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m; i++)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%d"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&amp;x, &amp;y);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Union(x, y);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合并 x、y 所在集合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q; i++)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scanf(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%d"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&amp;x, &amp;y);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(Find(x) == Find(y)) 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"YES\n"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printf(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"NO\n"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815965" y="4774882"/>
            <a:ext cx="5842635" cy="1565910"/>
            <a:chOff x="5815965" y="4774882"/>
            <a:chExt cx="5842635" cy="1565910"/>
          </a:xfrm>
        </p:grpSpPr>
        <p:sp>
          <p:nvSpPr>
            <p:cNvPr id="34" name="Rectangle 34"/>
            <p:cNvSpPr/>
            <p:nvPr/>
          </p:nvSpPr>
          <p:spPr>
            <a:xfrm>
              <a:off x="5815965" y="4774882"/>
              <a:ext cx="5842635" cy="1565910"/>
            </a:xfrm>
            <a:prstGeom prst="roundRect">
              <a:avLst>
                <a:gd name="adj" fmla="val 72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020753" y="5457827"/>
              <a:ext cx="200023" cy="200023"/>
              <a:chOff x="6020753" y="5457827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020753" y="54578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154103" y="5524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323076" y="5326856"/>
              <a:ext cx="486562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总代价 O((n + m + q) α(n))。等价对可以乱序给出，因为并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查集不关心合并的先后。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 · 并查集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应用二：省份数量与排队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406842"/>
            <a:chOff x="533400" y="1524000"/>
            <a:chExt cx="5410200" cy="1406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面试题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3228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统计省份数量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个城市，矩阵 C 中 C[i][j]=1 表示城市 i 与 j 直接相连。直接或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间接相连的一组城市称为一个省份，求省份数量。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585085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省份 ⇔ 等价类 ⇔ 并查集里的一棵树。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095625"/>
            <a:ext cx="5410200" cy="2154555"/>
            <a:chOff x="533400" y="3095625"/>
            <a:chExt cx="5410200" cy="2154555"/>
          </a:xfrm>
        </p:grpSpPr>
        <p:sp>
          <p:nvSpPr>
            <p:cNvPr id="15" name="Rectangle 15"/>
            <p:cNvSpPr/>
            <p:nvPr/>
          </p:nvSpPr>
          <p:spPr>
            <a:xfrm>
              <a:off x="533400" y="3095625"/>
              <a:ext cx="5410200" cy="2154555"/>
            </a:xfrm>
            <a:prstGeom prst="roundRect">
              <a:avLst>
                <a:gd name="adj" fmla="val 44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247549"/>
              <a:ext cx="12440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findProvinceCount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3506629"/>
              <a:ext cx="2993136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findProvinceCount(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C[][MAXN],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 的下标从 1 开始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Make_Set(i);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i + 1; j &lt;= n; j++)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(C[i][j] == 1) Union(i, j);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(Father[i] &lt;= 0) cnt++;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数根的个数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649730"/>
            <a:chOff x="6248400" y="1524000"/>
            <a:chExt cx="5410200" cy="164973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67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6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上机题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58228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体育老师排队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0998" y="206168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位同学各自成一列。指令“x y”表示 x 所在队列整体排到 y 所在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队列的后面；若两人已同列则忽略。求执行完所有指令后每位同学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所在队列的排头。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2141" y="2827973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一个队列对应一个集合，排头就是这棵树的根。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3338512"/>
            <a:ext cx="5410200" cy="1649730"/>
            <a:chOff x="6248400" y="3338512"/>
            <a:chExt cx="5410200" cy="1649730"/>
          </a:xfrm>
        </p:grpSpPr>
        <p:sp>
          <p:nvSpPr>
            <p:cNvPr id="27" name="Rectangle 27"/>
            <p:cNvSpPr/>
            <p:nvPr/>
          </p:nvSpPr>
          <p:spPr>
            <a:xfrm>
              <a:off x="6248400" y="3338512"/>
              <a:ext cx="5410200" cy="1649730"/>
            </a:xfrm>
            <a:prstGeom prst="roundRect">
              <a:avLst>
                <a:gd name="adj" fmla="val 8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471862"/>
              <a:ext cx="47625" cy="13830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7475" y="35194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0147" y="35523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3451" y="35590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这道题不能按秩合并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0998" y="3875246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题目规定了谁并到谁后面，根必须是 y 的根，所以只能写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`Father[Find(x)] = Find(y);`，不能让秩来决定方向。路径压缩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不改代表元，仍然可以用。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2141" y="4642485"/>
              <a:ext cx="5000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照抄课件的 UN(x, y)（它让 x 的根当父亲）会把排头算反，要写成 UN(y, x)。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248400" y="5152072"/>
            <a:ext cx="5410200" cy="937260"/>
            <a:chOff x="6248400" y="5152072"/>
            <a:chExt cx="5410200" cy="937260"/>
          </a:xfrm>
        </p:grpSpPr>
        <p:sp>
          <p:nvSpPr>
            <p:cNvPr id="35" name="Rectangle 35"/>
            <p:cNvSpPr/>
            <p:nvPr/>
          </p:nvSpPr>
          <p:spPr>
            <a:xfrm>
              <a:off x="6248400" y="5152072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5520692"/>
              <a:ext cx="200023" cy="200023"/>
              <a:chOff x="6453188" y="5520692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55206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86538" y="5587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6273" y="5297329"/>
              <a:ext cx="44020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凡是代表元本身有含义的题目（排头、最小编号、集合的某个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属性），都要放弃按秩合并，或者另开一个数组单独记录这个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376297" cy="264033"/>
            <a:chOff x="526542" y="1545907"/>
            <a:chExt cx="23762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257425"/>
            <a:chOff x="533400" y="1928812"/>
            <a:chExt cx="3505200" cy="22574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一组编码是前缀码的条件是什么？为什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么哈夫曼编码一定满足？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任一字符的编码都不是另一字符编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码的前缀。哈夫曼编码把字符放在叶结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点上，叶结点不可能是另一叶结点的祖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先，路径标号串因此互不为前缀。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355782"/>
            <a:ext cx="3505200" cy="2000250"/>
            <a:chOff x="533400" y="4355782"/>
            <a:chExt cx="3505200" cy="2000250"/>
          </a:xfrm>
        </p:grpSpPr>
        <p:sp>
          <p:nvSpPr>
            <p:cNvPr id="15" name="Rectangle 15"/>
            <p:cNvSpPr/>
            <p:nvPr/>
          </p:nvSpPr>
          <p:spPr>
            <a:xfrm>
              <a:off x="53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887278"/>
              <a:ext cx="251860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数组实现的哈夫曼算法为什么是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O(n²)？怎样降到 O(n log n)？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44449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每轮把新结点插回有序数组要线性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搬移，n − 1 轮共 O(n²)。改用最小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堆，每轮两次删最小加一次插入即可。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000250"/>
            <a:chOff x="4343400" y="1928812"/>
            <a:chExt cx="35052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896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字符频次为 3、4、5、6、8、10，哈夫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曼树的 WPL 是多少？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016568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90。合并出的新权依次是 7、11、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15、21、36，累加即得。第 3 轮要用新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生成的 7 和原有的 8。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98608"/>
            <a:ext cx="3505200" cy="2257425"/>
            <a:chOff x="4343400" y="4098608"/>
            <a:chExt cx="3505200" cy="22574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630102"/>
              <a:ext cx="28987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后缀式 ab+cd−×e− 建出的树，根是什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么？中根序列是什么？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9026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根是最后一个运算符 −，中根序列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(a+b)×(c−d)−e。建树时先弹出的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结点作右孩子。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哈夫曼树有 n 个叶结点，总结点数是多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少？为什么？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026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− 1。每次合并生成一个内结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点，共合并 n − 1 次；哈夫曼树没有度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 的结点，符合 n₀ = n₂ + 1。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并查集两种优化都用上之后，为什么只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说“接近 O(1)”？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9712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个操作（其中 n 个 Make_Set）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的最坏总代价是 O(m α(n))，α 增长极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慢但不是常数，且这是均摊值不是单次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最坏值。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第11讲 树的应用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92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605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32151" y="2023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字符只放在扩充二叉树的外结点上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WPL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32151" y="2404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权值乘深度求和，等于总编码长度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32151" y="2785110"/>
              <a:ext cx="2452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每次合并两个最小权，新权之和即 WPL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32151" y="316706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后根序列即后缀式，后根遍历即求值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32151" y="354806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父指针森林，代价全在树高上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3271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76688"/>
            <a:ext cx="5842635" cy="1487805"/>
            <a:chOff x="533400" y="3976688"/>
            <a:chExt cx="5842635" cy="1487805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5147" y="4190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8450" y="41981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4514374"/>
              <a:ext cx="4731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100 页 Union 改父指针写在了秩比较之前，按秩合并失效。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4799171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68 页操作数判成 `&lt;= 'b'`，应为 `&lt;= 'z'`。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083969"/>
              <a:ext cx="53156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67 页 STL 的 pop 无返回值，要先 top；第 92 页 UN 缺同组判断。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3313471" cy="1432845"/>
            <a:chOff x="6681788" y="1533525"/>
            <a:chExt cx="3313471" cy="1432845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压缩要同时满足熵编码和前缀码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编码方案与扩充二叉树一一对应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3043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哈夫曼是贪心，树形不唯一而 WPL 唯一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42458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三种遍历给出前缀、中缀、后缀表达式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717006"/>
              <a:ext cx="2789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路径压缩管 Find，按秩合并管 Union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081338"/>
            <a:ext cx="4977765" cy="2383155"/>
            <a:chOff x="6680835" y="3081338"/>
            <a:chExt cx="4977765" cy="2383155"/>
          </a:xfrm>
        </p:grpSpPr>
        <p:sp>
          <p:nvSpPr>
            <p:cNvPr id="54" name="Rectangle 54"/>
            <p:cNvSpPr/>
            <p:nvPr/>
          </p:nvSpPr>
          <p:spPr>
            <a:xfrm>
              <a:off x="6680835" y="3081338"/>
              <a:ext cx="4977765" cy="2383155"/>
            </a:xfrm>
            <a:prstGeom prst="roundRect">
              <a:avLst>
                <a:gd name="adj" fmla="val 559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77341" y="33018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三件可以自己动手的事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55333" y="3619024"/>
              <a:ext cx="3652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3、4、5、6、8、10 手算 WPL，答案是 90。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55333" y="3903821"/>
              <a:ext cx="3430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默写最终版 Union，讲清秩为何要先比后改。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55333" y="4188619"/>
              <a:ext cx="3536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跑一遍 (a+b)×(c−d)−e：后缀、建树、求值。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下一讲进入图：先把图的基本概念和四种存储结构理清楚，再谈遍历。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9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第11讲 树和二叉树的应用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1">
  <a:themeElements>
    <a:clrScheme name="ds_l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2026-09-19T13:07:17Z</dcterms:created>
  <dcterms:modified xsi:type="dcterms:W3CDTF">2026-09-19T13:07:17Z</dcterms:modified>
  <cp:category/>
  <cp:contentStatus/>
</cp:coreProperties>
</file>