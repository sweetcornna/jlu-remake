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2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2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b0b5485e6c0a1e8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874b06143e4d304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c769579677911b1.png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16830" cy="3437763"/>
            <a:chOff x="666750" y="1619250"/>
            <a:chExt cx="511683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61734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2921" y="1718310"/>
              <a:ext cx="1363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第24讲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多叉查找树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一个结点存多个关键词，把外存上的查找树压矮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490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树的定义与查找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上溢分裂与下溢借合并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0094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B+ 树与索引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97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字典树 Trie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29995" cy="205359"/>
            <a:chOff x="680466" y="6192202"/>
            <a:chExt cx="42299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29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24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848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802" y="407194"/>
              <a:ext cx="7800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数据放在外存时，树高比比较次数重要得多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147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树的定义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1232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 叉平衡查找树，结点关键词数有上下界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查找与插入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沿一条路径下降；上溢就分裂，可能传到根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换、借、合并三步；合并可能让整棵树降一层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3241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高度与 B+ 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5798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≤ 1 + log⌈m/2⌉((n+1)/2)；索引与数据分离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字典树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关键词是从根到叶的路径，查找只看串长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729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m 阶 B 树五条定义，并判断一棵给定的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树是不是 m 阶 B 树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 B 树和一个关键词，手推插入过程，指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出在哪一步分裂、提升哪个关键词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手推删除过程，按换、借、合并的顺序写出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每一步后的树形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n+1 个叶结点推出 B 树高度的上界，并解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 m 取 200~300 的理由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 B+ 树与 B 树的四处差别，说清 B+ 树为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什么更宽更矮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429000" cy="2997517"/>
            <a:chOff x="667512" y="1835468"/>
            <a:chExt cx="342900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从外存访问说起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换一种结点结构，把查找树压矮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内存与外存的访问速度差十万倍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外存访问次数由树高决定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562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树把分支数从 2 提到 m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944" y="407194"/>
              <a:ext cx="201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从外存访问说起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存储体系：容量越大，访问越慢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247477" cy="308039"/>
            <a:chOff x="525399" y="1550194"/>
            <a:chExt cx="824747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24747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前面 23 讲的查找结构都默认数据在内存里。一旦数据放到磁盘上，代价模型完全变了。</a:t>
              </a:r>
            </a:p>
          </p:txBody>
        </p:sp>
      </p:grpSp>
      <p:grpSp>
        <p:nvGrpSpPr>
          <p:cNvPr id="45" name="c1-table-1"/>
          <p:cNvGrpSpPr/>
          <p:nvPr/>
        </p:nvGrpSpPr>
        <p:grpSpPr>
          <a:xfrm>
            <a:off x="527685" y="1967865"/>
            <a:ext cx="6065520" cy="3437097"/>
            <a:chOff x="527685" y="1967865"/>
            <a:chExt cx="6065520" cy="3437097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8426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42678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典型容量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41976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访问延迟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5512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01480" y="2551271"/>
              <a:ext cx="9232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256B – 8KB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00778" y="25512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 – 1ns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03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6512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000851"/>
              <a:ext cx="7779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L1 Cache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01480" y="3000851"/>
              <a:ext cx="10234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16KB – 64KB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00778" y="3000851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– 5ns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089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449479"/>
              <a:ext cx="7779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L2 Cache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01480" y="3449479"/>
              <a:ext cx="8959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1MB – 4MB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00778" y="3449479"/>
              <a:ext cx="684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– 25ns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7576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76237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38981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01480" y="3898106"/>
              <a:ext cx="10234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4GB – 256GB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02480" y="3771900"/>
              <a:ext cx="198024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00778" y="38981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 – 100ns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2071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43467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01480" y="4346734"/>
              <a:ext cx="7126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1TB 以上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602480" y="4221480"/>
              <a:ext cx="198024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00778" y="4346734"/>
              <a:ext cx="7194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– 10ms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65582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466058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223" y="479536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网络（云）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01480" y="479536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几乎不限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00778" y="4795361"/>
              <a:ext cx="10037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– 2000ms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967865"/>
              <a:ext cx="6059805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588895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58819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7685" y="5184934"/>
              <a:ext cx="2077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4、5 页的存储体系表</a:t>
              </a:r>
            </a:p>
          </p:txBody>
        </p:sp>
      </p:grpSp>
      <p:grpSp>
        <p:nvGrpSpPr>
          <p:cNvPr id="55" name="c2-card-1"/>
          <p:cNvGrpSpPr/>
          <p:nvPr/>
        </p:nvGrpSpPr>
        <p:grpSpPr>
          <a:xfrm>
            <a:off x="6898005" y="1967865"/>
            <a:ext cx="4760595" cy="2577465"/>
            <a:chOff x="6898005" y="1967865"/>
            <a:chExt cx="4760595" cy="2577465"/>
          </a:xfrm>
        </p:grpSpPr>
        <p:sp>
          <p:nvSpPr>
            <p:cNvPr id="46" name="Rectangle 46"/>
            <p:cNvSpPr/>
            <p:nvPr/>
          </p:nvSpPr>
          <p:spPr>
            <a:xfrm>
              <a:off x="6898005" y="1967865"/>
              <a:ext cx="4760595" cy="2577465"/>
            </a:xfrm>
            <a:prstGeom prst="roundRect">
              <a:avLst>
                <a:gd name="adj" fmla="val 517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07555" y="217741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81012" y="221313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记住这个量级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77225" y="221265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外存比内存慢十万倍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99935" y="2573655"/>
              <a:ext cx="387381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1ms = 10⁶ ns，硬盘 10ms ÷ 内存 100ns =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10</a:t>
              </a:r>
              <a:br/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万倍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113270" y="325755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71385" y="3194685"/>
              <a:ext cx="3853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若一次内存访问要 1 秒，一次外存访问就相当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于 27.8 小时，差不多一整天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113270" y="387858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71385" y="3815715"/>
              <a:ext cx="3977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为省掉 1 次外存访问，做 10 次、100 次内存访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问都划算</a:t>
              </a:r>
            </a:p>
          </p:txBody>
        </p:sp>
      </p:grpSp>
      <p:grpSp>
        <p:nvGrpSpPr>
          <p:cNvPr id="62" name="c2-callout-2"/>
          <p:cNvGrpSpPr/>
          <p:nvPr/>
        </p:nvGrpSpPr>
        <p:grpSpPr>
          <a:xfrm>
            <a:off x="6898005" y="4735830"/>
            <a:ext cx="4760595" cy="782955"/>
            <a:chOff x="6898005" y="4735830"/>
            <a:chExt cx="4760595" cy="782955"/>
          </a:xfrm>
        </p:grpSpPr>
        <p:sp>
          <p:nvSpPr>
            <p:cNvPr id="56" name="Rectangle 56"/>
            <p:cNvSpPr/>
            <p:nvPr/>
          </p:nvSpPr>
          <p:spPr>
            <a:xfrm>
              <a:off x="6898005" y="4735830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102793" y="5027295"/>
              <a:ext cx="200026" cy="200025"/>
              <a:chOff x="7102793" y="5027295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102793" y="50272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142531" y="50717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177247" y="51828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404735" y="4884420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所以在外存上，算法的代价不再数比较次数，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而是数读了几个磁盘块。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3" name="Rectangle 6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991225"/>
              <a:ext cx="8900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表里的数字是源课件给的典型值，不同机器差一两个数量级都正常，重要的是相邻两层之间的比例。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944" y="407194"/>
              <a:ext cx="201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从外存访问说起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外存上的二叉查找树要走三十多层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102090" cy="293370"/>
            <a:chOff x="525780" y="1548765"/>
            <a:chExt cx="910209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102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文件大到内存装不下时，查找树的结点只能放在磁盘上，指针域存的不再是内存地址，而是磁盘地址。</a:t>
              </a:r>
            </a:p>
          </p:txBody>
        </p:sp>
      </p:grpSp>
      <p:grpSp>
        <p:nvGrpSpPr>
          <p:cNvPr id="25" name="c1-card-1"/>
          <p:cNvGrpSpPr/>
          <p:nvPr/>
        </p:nvGrpSpPr>
        <p:grpSpPr>
          <a:xfrm>
            <a:off x="533400" y="1954530"/>
            <a:ext cx="5951220" cy="2229802"/>
            <a:chOff x="533400" y="1954530"/>
            <a:chExt cx="5951220" cy="222980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951220" cy="2229802"/>
            </a:xfrm>
            <a:prstGeom prst="roundRect">
              <a:avLst>
                <a:gd name="adj" fmla="val 59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9631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15265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7059" y="218694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86281" y="2187416"/>
              <a:ext cx="18840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2×10¹⁰ 条记录的文件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2531269"/>
              <a:ext cx="43729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组织成一棵二叉查找树（平衡的），高度约为 log₂n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9620" y="283654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7965" y="287688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0514" y="2849404"/>
              <a:ext cx="25186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log₂(2×10¹⁰) ≈ 34.2，取 35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9620" y="315468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7965" y="319406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0514" y="3166586"/>
              <a:ext cx="45010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一条根到叶的路径要读 35 个结点，即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35 次外存访问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9620" y="347186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7965" y="351220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0514" y="3484721"/>
              <a:ext cx="32259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10ms 一次算，一次查找要 0.35 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3524" y="3798570"/>
              <a:ext cx="43011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同样的树若在内存里，35 次访问不到 4 微秒，根本不是问题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364355"/>
            <a:ext cx="5951220" cy="1227772"/>
            <a:chOff x="533400" y="4364355"/>
            <a:chExt cx="5951220" cy="1227772"/>
          </a:xfrm>
        </p:grpSpPr>
        <p:sp>
          <p:nvSpPr>
            <p:cNvPr id="26" name="Rectangle 26"/>
            <p:cNvSpPr/>
            <p:nvPr/>
          </p:nvSpPr>
          <p:spPr>
            <a:xfrm>
              <a:off x="533400" y="4364355"/>
              <a:ext cx="5951220" cy="1227772"/>
            </a:xfrm>
            <a:prstGeom prst="roundRect">
              <a:avLst>
                <a:gd name="adj" fmla="val 931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878707"/>
              <a:ext cx="200023" cy="200023"/>
              <a:chOff x="738188" y="4878707"/>
              <a:chExt cx="200023" cy="2000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48787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1538" y="49453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511" y="4747736"/>
              <a:ext cx="475742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时间代价 ≈ 外存访问次数 ≈ 查找树的高度。要提速，就得把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树压矮。</a:t>
              </a:r>
            </a:p>
          </p:txBody>
        </p:sp>
      </p:grpSp>
      <p:grpSp>
        <p:nvGrpSpPr>
          <p:cNvPr id="34" name="c2-image-1"/>
          <p:cNvGrpSpPr/>
          <p:nvPr/>
        </p:nvGrpSpPr>
        <p:grpSpPr>
          <a:xfrm>
            <a:off x="7433310" y="1954530"/>
            <a:ext cx="3581400" cy="2984754"/>
            <a:chOff x="7433310" y="1954530"/>
            <a:chExt cx="3581400" cy="2984754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33310" y="1954530"/>
              <a:ext cx="3581400" cy="2686050"/>
            </a:xfrm>
            <a:prstGeom prst="roundRect">
              <a:avLst>
                <a:gd name="adj" fmla="val 4964"/>
              </a:avLst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875842" y="4733925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内存像手边的抽屉，外存像走廊尽头的仓库</a:t>
              </a:r>
            </a:p>
          </p:txBody>
        </p:sp>
      </p:grpSp>
      <p:grpSp>
        <p:nvGrpSpPr>
          <p:cNvPr id="39" name="c2-bullets-2"/>
          <p:cNvGrpSpPr/>
          <p:nvPr/>
        </p:nvGrpSpPr>
        <p:grpSpPr>
          <a:xfrm>
            <a:off x="6798945" y="5116830"/>
            <a:ext cx="4319702" cy="523304"/>
            <a:chOff x="6798945" y="5116830"/>
            <a:chExt cx="4319702" cy="523304"/>
          </a:xfrm>
        </p:grpSpPr>
        <p:sp>
          <p:nvSpPr>
            <p:cNvPr id="35" name="Ellipse 35"/>
            <p:cNvSpPr/>
            <p:nvPr/>
          </p:nvSpPr>
          <p:spPr>
            <a:xfrm>
              <a:off x="6798945" y="516445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54774" y="5116830"/>
              <a:ext cx="4163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23 讲的树形查找属于内查找，默认整个文件能装进内存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98945" y="545306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54774" y="5405438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外查找要反过来想：一次能多读一点，就少跑一趟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0" name="Rectangle 40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511" y="6011704"/>
              <a:ext cx="84255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二叉树的问题不在于比较次数多，而在于每个结点只放一个关键词，读一次磁盘块只换来一次比较。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944" y="407194"/>
              <a:ext cx="201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从外存访问说起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一个结点存多个关键词，树就矮下来了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5627370" cy="2846070"/>
            <a:chOff x="533400" y="1524000"/>
            <a:chExt cx="5627370" cy="28460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604135" cy="2846070"/>
            </a:xfrm>
            <a:prstGeom prst="roundRect">
              <a:avLst>
                <a:gd name="adj" fmla="val 5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793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二叉查找树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567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 1 个关键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词、2 个孩子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65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3675"/>
              <a:ext cx="1596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 ≈ log₂n，n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2×10¹⁰ 时约 35 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4175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35470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读一个磁盘块只用上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其中几个字节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556635" y="1524000"/>
              <a:ext cx="2604135" cy="2846070"/>
            </a:xfrm>
            <a:prstGeom prst="roundRect">
              <a:avLst>
                <a:gd name="adj" fmla="val 5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566160" y="1657350"/>
              <a:ext cx="47625" cy="25793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96665" y="1758315"/>
              <a:ext cx="1045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叉查找树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810000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68115" y="2112645"/>
              <a:ext cx="1815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每个结点最多 m−1 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关键词、m 个孩子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810000" y="27965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968115" y="2733675"/>
              <a:ext cx="1624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 ≈ log_m n，m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300 时只有 5 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810000" y="34175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68115" y="3354705"/>
              <a:ext cx="1729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一次读盘把整个结点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读进来，在内存里挑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185160" y="278511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255500" y="28813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560570"/>
            <a:ext cx="5626418" cy="1096328"/>
            <a:chOff x="533400" y="4560570"/>
            <a:chExt cx="5626418" cy="1096328"/>
          </a:xfrm>
        </p:grpSpPr>
        <p:sp>
          <p:nvSpPr>
            <p:cNvPr id="28" name="Rectangle 28"/>
            <p:cNvSpPr/>
            <p:nvPr/>
          </p:nvSpPr>
          <p:spPr>
            <a:xfrm>
              <a:off x="533400" y="4560570"/>
              <a:ext cx="5626418" cy="1096328"/>
            </a:xfrm>
            <a:prstGeom prst="roundRect">
              <a:avLst>
                <a:gd name="adj" fmla="val 1042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009200"/>
              <a:ext cx="200023" cy="200023"/>
              <a:chOff x="738188" y="5009200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0092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50758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4866322"/>
              <a:ext cx="4625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树就是这样一棵 m 叉平衡查找树，所有叶结点都在同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一层。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464618" y="1524000"/>
            <a:ext cx="5193982" cy="3159442"/>
            <a:chOff x="6464618" y="1524000"/>
            <a:chExt cx="5193982" cy="3159442"/>
          </a:xfrm>
        </p:grpSpPr>
        <p:sp>
          <p:nvSpPr>
            <p:cNvPr id="34" name="Rectangle 34"/>
            <p:cNvSpPr/>
            <p:nvPr/>
          </p:nvSpPr>
          <p:spPr>
            <a:xfrm>
              <a:off x="6464618" y="1524000"/>
              <a:ext cx="5193982" cy="3159442"/>
            </a:xfrm>
            <a:prstGeom prst="roundRect">
              <a:avLst>
                <a:gd name="adj" fmla="val 42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4142" y="1657350"/>
              <a:ext cx="47625" cy="28927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13295" y="1768792"/>
              <a:ext cx="20787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树里的 B 是什么意思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4648" y="212979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1972 年由波音公司的 Rudolf Bayer 与 Edward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McCreight 提出。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717983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76098" y="2750820"/>
              <a:ext cx="4383881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McCreight 的说法：名字要短、好打、好记；它致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敬了雇主 </a:t>
              </a: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Boeing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，也暗示 </a:t>
              </a: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Balance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，而 Bayer 是两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人中资深的研究员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717983" y="37204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76098" y="3657600"/>
              <a:ext cx="4244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Bayer 的说法：你越琢磨 B 可能代表什么，就越了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B 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05791" y="4275296"/>
              <a:ext cx="43080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 B 树不读作“B 减树”，B-Tree 里的连字符不是减号</a:t>
              </a:r>
            </a:p>
          </p:txBody>
        </p:sp>
      </p:grpSp>
      <p:grpSp>
        <p:nvGrpSpPr>
          <p:cNvPr id="52" name="c2-callout-2"/>
          <p:cNvGrpSpPr/>
          <p:nvPr/>
        </p:nvGrpSpPr>
        <p:grpSpPr>
          <a:xfrm>
            <a:off x="6464618" y="4873942"/>
            <a:ext cx="5193982" cy="782955"/>
            <a:chOff x="6464618" y="4873942"/>
            <a:chExt cx="5193982" cy="782955"/>
          </a:xfrm>
        </p:grpSpPr>
        <p:sp>
          <p:nvSpPr>
            <p:cNvPr id="46" name="Rectangle 46"/>
            <p:cNvSpPr/>
            <p:nvPr/>
          </p:nvSpPr>
          <p:spPr>
            <a:xfrm>
              <a:off x="6464618" y="4873942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669405" y="5165408"/>
              <a:ext cx="200026" cy="200025"/>
              <a:chOff x="6669405" y="5165408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669405" y="51654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09144" y="52098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743859" y="53209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971348" y="5022532"/>
              <a:ext cx="4263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分支数 m 一提高，树高就从 log₂n 掉到 log_m n，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这是本讲全部内容的出发点。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49439" cy="909257"/>
            <a:chOff x="520446" y="342900"/>
            <a:chExt cx="57494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944" y="407194"/>
              <a:ext cx="201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从外存访问说起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494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树结点：j 个关键词夹着 j+1 个指针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247788" cy="308039"/>
            <a:chOff x="525399" y="1550194"/>
            <a:chExt cx="72477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结点内的关键词递增排列，指针和关键词交替摆放，每个指针管住一段值域。</a:t>
              </a:r>
            </a:p>
          </p:txBody>
        </p:sp>
      </p:grpSp>
      <p:grpSp>
        <p:nvGrpSpPr>
          <p:cNvPr id="30" name="c1-cells-1"/>
          <p:cNvGrpSpPr/>
          <p:nvPr/>
        </p:nvGrpSpPr>
        <p:grpSpPr>
          <a:xfrm>
            <a:off x="527304" y="1967865"/>
            <a:ext cx="7873746" cy="438150"/>
            <a:chOff x="527304" y="1967865"/>
            <a:chExt cx="7873746" cy="438150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11169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71550" y="1967865"/>
              <a:ext cx="742950" cy="4381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43637" y="21116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p₀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14500" y="1967865"/>
              <a:ext cx="742950" cy="43815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81307" y="211169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457450" y="1967865"/>
              <a:ext cx="742950" cy="4381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729537" y="21116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200400" y="1967865"/>
              <a:ext cx="742950" cy="43815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467207" y="211169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943350" y="1967865"/>
              <a:ext cx="742950" cy="4381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215437" y="21116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686300" y="1967865"/>
              <a:ext cx="742950" cy="43815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953107" y="211169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K₃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429250" y="1967865"/>
              <a:ext cx="742950" cy="4381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01337" y="21116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p₃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172200" y="1967865"/>
              <a:ext cx="742950" cy="4381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90933" y="21116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915150" y="1967865"/>
              <a:ext cx="742950" cy="43815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58434" y="2111692"/>
              <a:ext cx="2563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K_j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58100" y="1967865"/>
              <a:ext cx="742950" cy="4381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904744" y="2111692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p_j</a:t>
              </a:r>
            </a:p>
          </p:txBody>
        </p:sp>
      </p:grpSp>
      <p:grpSp>
        <p:nvGrpSpPr>
          <p:cNvPr id="42" name="c1-kv-2"/>
          <p:cNvGrpSpPr/>
          <p:nvPr/>
        </p:nvGrpSpPr>
        <p:grpSpPr>
          <a:xfrm>
            <a:off x="525780" y="2621280"/>
            <a:ext cx="11132820" cy="1613535"/>
            <a:chOff x="525780" y="2621280"/>
            <a:chExt cx="11132820" cy="1613535"/>
          </a:xfrm>
        </p:grpSpPr>
        <p:sp>
          <p:nvSpPr>
            <p:cNvPr id="31" name="TextBox 31"/>
            <p:cNvSpPr txBox="1"/>
            <p:nvPr/>
          </p:nvSpPr>
          <p:spPr>
            <a:xfrm>
              <a:off x="525780" y="2621280"/>
              <a:ext cx="16506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K₁ &lt; K₂ &lt; … &lt; Kⱼ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94572" y="2621280"/>
              <a:ext cx="56490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结点内的 j 个关键词严格递增，可以顺序查找，也可以对半查找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29413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5780" y="306133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p₀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94572" y="3061335"/>
              <a:ext cx="3140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指向的子树里所有关键词都小于 K₁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3813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5780" y="3501390"/>
              <a:ext cx="13838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pᵢ（0 &lt; i &lt; j）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294572" y="3501390"/>
              <a:ext cx="4408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指向的子树里所有关键词都落在 Kᵢ 与 Kᵢ₊₁ 之间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82143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5780" y="394144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294572" y="3941445"/>
              <a:ext cx="3140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指向的子树里所有关键词都大于 Kⱼ</a:t>
              </a:r>
            </a:p>
          </p:txBody>
        </p:sp>
      </p:grpSp>
      <p:grpSp>
        <p:nvGrpSpPr>
          <p:cNvPr id="49" name="c1-callout-3"/>
          <p:cNvGrpSpPr/>
          <p:nvPr/>
        </p:nvGrpSpPr>
        <p:grpSpPr>
          <a:xfrm>
            <a:off x="533400" y="4366260"/>
            <a:ext cx="11125200" cy="1291590"/>
            <a:chOff x="533400" y="4366260"/>
            <a:chExt cx="11125200" cy="1291590"/>
          </a:xfrm>
        </p:grpSpPr>
        <p:sp>
          <p:nvSpPr>
            <p:cNvPr id="43" name="Rectangle 43"/>
            <p:cNvSpPr/>
            <p:nvPr/>
          </p:nvSpPr>
          <p:spPr>
            <a:xfrm>
              <a:off x="533400" y="4366260"/>
              <a:ext cx="11125200" cy="1291590"/>
            </a:xfrm>
            <a:prstGeom prst="roundRect">
              <a:avLst>
                <a:gd name="adj" fmla="val 885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4912043"/>
              <a:ext cx="200026" cy="200026"/>
              <a:chOff x="738188" y="4912043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49120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49787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50120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4769168"/>
              <a:ext cx="9835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9 页把四种情况合并写成“pᵢ 指向的子树所包含关键词都在 Kᵢ 和 Kᵢ₊₁ 之间”。两端的 p₀ 和 pⱼ 没有对应的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K₀ 与 Kⱼ₊₁，按上表分开记更准确。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0" name="Rectangle 5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991225"/>
              <a:ext cx="9909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一个结点存多少关键词有讲究：太多则一个磁盘块装不下，太少则树又变高。下一页的定义就是给它划上下界。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245317" cy="909257"/>
            <a:chOff x="520446" y="342900"/>
            <a:chExt cx="32453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944" y="407194"/>
              <a:ext cx="201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从外存访问说起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2453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阶 B 树的五条定义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ard-1"/>
          <p:cNvGrpSpPr/>
          <p:nvPr/>
        </p:nvGrpSpPr>
        <p:grpSpPr>
          <a:xfrm>
            <a:off x="533400" y="1524000"/>
            <a:ext cx="5842635" cy="3971925"/>
            <a:chOff x="533400" y="1524000"/>
            <a:chExt cx="5842635" cy="39719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971925"/>
            </a:xfrm>
            <a:prstGeom prst="roundRect">
              <a:avLst>
                <a:gd name="adj" fmla="val 33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0522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8094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阶 B 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3905" y="207835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9583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4702" y="2090738"/>
              <a:ext cx="2258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每个结点至多有 m 个子结点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3905" y="238029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9583" y="24196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4702" y="2392680"/>
              <a:ext cx="4111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除根结点外，每个非叶结点至少有 ⌈m/2⌉ 个子结点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3905" y="268319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9583" y="272157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4702" y="2695575"/>
              <a:ext cx="3493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若根结点不是叶结点，则至少有 2 个子结点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3905" y="298608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9583" y="30244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4702" y="2997518"/>
              <a:ext cx="4448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k 个子结点的结点恰好包含 k−1 个递增有序的关键词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3905" y="328803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9583" y="332641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4702" y="330041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所有叶结点都在同一层，且不带有信息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680835" y="1524000"/>
            <a:ext cx="4977765" cy="1529715"/>
            <a:chOff x="6680835" y="1524000"/>
            <a:chExt cx="4977765" cy="1529715"/>
          </a:xfrm>
        </p:grpSpPr>
        <p:sp>
          <p:nvSpPr>
            <p:cNvPr id="28" name="Rectangle 28"/>
            <p:cNvSpPr/>
            <p:nvPr/>
          </p:nvSpPr>
          <p:spPr>
            <a:xfrm>
              <a:off x="6680835" y="1524000"/>
              <a:ext cx="4977765" cy="1529715"/>
            </a:xfrm>
            <a:prstGeom prst="roundRect">
              <a:avLst>
                <a:gd name="adj" fmla="val 871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873240" y="171640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40677" y="175069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换算成关键词个数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57032" y="175641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孩子数减一就是关键词数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881812" y="214693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37832" y="2090738"/>
              <a:ext cx="38983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根以外的非叶结点：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⌈m/2⌉ ~ m 个孩子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，即 ⌈m/2⌉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−1 ~ m−1 个关键词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881812" y="270605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37832" y="2649855"/>
              <a:ext cx="4382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根结点（非叶）：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2 ~ m 个孩子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，即 1 ~ m−1 个关键词</a:t>
              </a:r>
            </a:p>
          </p:txBody>
        </p:sp>
      </p:grpSp>
      <p:grpSp>
        <p:nvGrpSpPr>
          <p:cNvPr id="62" name="c2-table-2"/>
          <p:cNvGrpSpPr/>
          <p:nvPr/>
        </p:nvGrpSpPr>
        <p:grpSpPr>
          <a:xfrm>
            <a:off x="6675501" y="3228022"/>
            <a:ext cx="4983099" cy="2309432"/>
            <a:chOff x="6675501" y="3228022"/>
            <a:chExt cx="4983099" cy="2309432"/>
          </a:xfrm>
        </p:grpSpPr>
        <p:sp>
          <p:nvSpPr>
            <p:cNvPr id="37" name="Rectangle 37"/>
            <p:cNvSpPr/>
            <p:nvPr/>
          </p:nvSpPr>
          <p:spPr>
            <a:xfrm>
              <a:off x="6680835" y="3228022"/>
              <a:ext cx="497776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13898" y="3352324"/>
              <a:ext cx="130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13217" y="335232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关键词数（非根）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79342" y="335232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关键词数（根）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80848" y="3758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77138" y="3758089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~ 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66948" y="3758089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~ 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680835" y="40347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80835" y="4039552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80848" y="41638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77138" y="4163854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~ 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66948" y="4163854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~ 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80835" y="444055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80848" y="45696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77138" y="4569619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~ 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66948" y="4569619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~ 6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680835" y="484632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80835" y="4851082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80848" y="497538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77138" y="4975384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149 ~ 299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866948" y="4975384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~ 299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680835" y="3228022"/>
              <a:ext cx="497776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472362" y="322802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762172" y="322802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75501" y="5332095"/>
              <a:ext cx="35868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5 条保证树是平衡的，第 2 条保证树不会长得又细又高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3" name="Rectangle 6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892" y="6023610"/>
              <a:ext cx="83427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2 条用的是向上取整。3 阶 B 树的非根结点至少 2 个孩子、1 个关键词，所以 3 阶 B 树又叫 2-3 树。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624643" cy="909257"/>
            <a:chOff x="520446" y="342900"/>
            <a:chExt cx="36246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944" y="407194"/>
              <a:ext cx="201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从外存访问说起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6246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 7 阶 B 树长什么样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491457" cy="308039"/>
            <a:chOff x="525399" y="1550194"/>
            <a:chExt cx="1049145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49145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 = 7，所以根以外的非叶结点有 4 ~ 7 个孩子（3 ~ 6 个关键词），根结点有 2 ~ 7 个孩子（1 ~ 6 个关键词）。</a:t>
              </a:r>
            </a:p>
          </p:txBody>
        </p:sp>
      </p:grpSp>
      <p:grpSp>
        <p:nvGrpSpPr>
          <p:cNvPr id="15" name="c1-bullets-1"/>
          <p:cNvGrpSpPr/>
          <p:nvPr/>
        </p:nvGrpSpPr>
        <p:grpSpPr>
          <a:xfrm>
            <a:off x="539115" y="1992630"/>
            <a:ext cx="4754880" cy="1840230"/>
            <a:chOff x="539115" y="1992630"/>
            <a:chExt cx="4754880" cy="1840230"/>
          </a:xfrm>
        </p:grpSpPr>
        <p:sp>
          <p:nvSpPr>
            <p:cNvPr id="9" name="Ellipse 9"/>
            <p:cNvSpPr/>
            <p:nvPr/>
          </p:nvSpPr>
          <p:spPr>
            <a:xfrm>
              <a:off x="539115" y="20554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230" y="1992630"/>
              <a:ext cx="4596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 233 449 有 2 个关键词、3 个孩子，符合 2 ~ 7 个孩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9115" y="26860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230" y="2623185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层三个结点分别有 4、3、6 个关键词，都落在 3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~ 6 之间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9115" y="3316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230" y="3253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每个结点内部从左到右递增，左边的指针管小值，右边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的管大值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3964305"/>
            <a:ext cx="4977765" cy="1059180"/>
            <a:chOff x="533400" y="3964305"/>
            <a:chExt cx="4977765" cy="1059180"/>
          </a:xfrm>
        </p:grpSpPr>
        <p:sp>
          <p:nvSpPr>
            <p:cNvPr id="16" name="Rectangle 16"/>
            <p:cNvSpPr/>
            <p:nvPr/>
          </p:nvSpPr>
          <p:spPr>
            <a:xfrm>
              <a:off x="533400" y="3964305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393883"/>
              <a:ext cx="200026" cy="200025"/>
              <a:chOff x="738188" y="4393883"/>
              <a:chExt cx="200026" cy="2000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3938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77926" y="44383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12642" y="45494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4112895"/>
              <a:ext cx="38538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源课件第 11 页画了完整三层。这里只画上两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层，第 1 层每个结点下面还挂着一排最底层结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点。</a:t>
              </a:r>
            </a:p>
          </p:txBody>
        </p:sp>
      </p:grpSp>
      <p:grpSp>
        <p:nvGrpSpPr>
          <p:cNvPr id="34" name="c2-tree-1"/>
          <p:cNvGrpSpPr/>
          <p:nvPr/>
        </p:nvGrpSpPr>
        <p:grpSpPr>
          <a:xfrm>
            <a:off x="6159818" y="2680335"/>
            <a:ext cx="5428297" cy="2264093"/>
            <a:chOff x="6159818" y="2680335"/>
            <a:chExt cx="5428297" cy="2264093"/>
          </a:xfrm>
        </p:grpSpPr>
        <p:sp>
          <p:nvSpPr>
            <p:cNvPr id="23" name="Freeform 23"/>
            <p:cNvSpPr/>
            <p:nvPr/>
          </p:nvSpPr>
          <p:spPr>
            <a:xfrm>
              <a:off x="6789420" y="2889885"/>
              <a:ext cx="1947862" cy="1844993"/>
            </a:xfrm>
            <a:custGeom>
              <a:avLst/>
              <a:gdLst/>
              <a:ahLst/>
              <a:cxnLst/>
              <a:rect l="l" t="t" r="r" b="b"/>
              <a:pathLst>
                <a:path w="1947862" h="1844993">
                  <a:moveTo>
                    <a:pt x="1947862" y="0"/>
                  </a:moveTo>
                  <a:lnTo>
                    <a:pt x="0" y="18449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737282" y="2889885"/>
              <a:ext cx="9525" cy="1844993"/>
            </a:xfrm>
            <a:custGeom>
              <a:avLst/>
              <a:gdLst/>
              <a:ahLst/>
              <a:cxnLst/>
              <a:rect l="l" t="t" r="r" b="b"/>
              <a:pathLst>
                <a:path w="9525" h="1844993">
                  <a:moveTo>
                    <a:pt x="0" y="0"/>
                  </a:moveTo>
                  <a:lnTo>
                    <a:pt x="0" y="18449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737282" y="2889885"/>
              <a:ext cx="1947862" cy="1844993"/>
            </a:xfrm>
            <a:custGeom>
              <a:avLst/>
              <a:gdLst/>
              <a:ahLst/>
              <a:cxnLst/>
              <a:rect l="l" t="t" r="r" b="b"/>
              <a:pathLst>
                <a:path w="1947862" h="1844993">
                  <a:moveTo>
                    <a:pt x="0" y="0"/>
                  </a:moveTo>
                  <a:lnTo>
                    <a:pt x="1947862" y="18449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159818" y="4525328"/>
              <a:ext cx="1259205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243888" y="4525328"/>
              <a:ext cx="98679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9782175" y="4525328"/>
              <a:ext cx="180594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359140" y="2680335"/>
              <a:ext cx="755332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27516" y="4670108"/>
              <a:ext cx="11238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031 097 137 191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0087" y="4670108"/>
              <a:ext cx="834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283 353 401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33825" y="4670108"/>
              <a:ext cx="17026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499 599 677 773 829 883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64795" y="2825115"/>
              <a:ext cx="544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233 449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5" name="Rectangle 3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991225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关键词个数的上下界只管非根结点和根结点两类，虚拟的叶结点不受这两条约束。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1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944" y="407194"/>
              <a:ext cx="201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从外存访问说起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叶结点是虚拟的失败结点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218851" cy="278702"/>
            <a:chOff x="526161" y="1547336"/>
            <a:chExt cx="921885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2188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定义第 5 条说叶结点不带有信息。它们代表查找失败的位置，指向它们的指针就是空指针，画图时常常省略。</a:t>
              </a:r>
            </a:p>
          </p:txBody>
        </p:sp>
      </p:grpSp>
      <p:grpSp>
        <p:nvGrpSpPr>
          <p:cNvPr id="41" name="c1-graph-1"/>
          <p:cNvGrpSpPr/>
          <p:nvPr/>
        </p:nvGrpSpPr>
        <p:grpSpPr>
          <a:xfrm>
            <a:off x="656272" y="2156460"/>
            <a:ext cx="4838700" cy="2931414"/>
            <a:chOff x="656272" y="2156460"/>
            <a:chExt cx="4838700" cy="2931414"/>
          </a:xfrm>
        </p:grpSpPr>
        <p:sp>
          <p:nvSpPr>
            <p:cNvPr id="9" name="Freeform 9"/>
            <p:cNvSpPr/>
            <p:nvPr/>
          </p:nvSpPr>
          <p:spPr>
            <a:xfrm>
              <a:off x="1653540" y="2433638"/>
              <a:ext cx="1384935" cy="960120"/>
            </a:xfrm>
            <a:custGeom>
              <a:avLst/>
              <a:gdLst/>
              <a:ahLst/>
              <a:cxnLst/>
              <a:rect l="l" t="t" r="r" b="b"/>
              <a:pathLst>
                <a:path w="1384935" h="960120">
                  <a:moveTo>
                    <a:pt x="1384935" y="0"/>
                  </a:moveTo>
                  <a:lnTo>
                    <a:pt x="0" y="9601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38500" y="2433638"/>
              <a:ext cx="9525" cy="960120"/>
            </a:xfrm>
            <a:custGeom>
              <a:avLst/>
              <a:gdLst/>
              <a:ahLst/>
              <a:cxnLst/>
              <a:rect l="l" t="t" r="r" b="b"/>
              <a:pathLst>
                <a:path w="9525" h="960120">
                  <a:moveTo>
                    <a:pt x="0" y="0"/>
                  </a:moveTo>
                  <a:lnTo>
                    <a:pt x="0" y="9601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438525" y="2433638"/>
              <a:ext cx="1384935" cy="960120"/>
            </a:xfrm>
            <a:custGeom>
              <a:avLst/>
              <a:gdLst/>
              <a:ahLst/>
              <a:cxnLst/>
              <a:rect l="l" t="t" r="r" b="b"/>
              <a:pathLst>
                <a:path w="1384935" h="960120">
                  <a:moveTo>
                    <a:pt x="0" y="0"/>
                  </a:moveTo>
                  <a:lnTo>
                    <a:pt x="1384935" y="9601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55345" y="3671888"/>
              <a:ext cx="534353" cy="1163003"/>
            </a:xfrm>
            <a:custGeom>
              <a:avLst/>
              <a:gdLst/>
              <a:ahLst/>
              <a:cxnLst/>
              <a:rect l="l" t="t" r="r" b="b"/>
              <a:pathLst>
                <a:path w="534353" h="1163003">
                  <a:moveTo>
                    <a:pt x="534353" y="0"/>
                  </a:moveTo>
                  <a:lnTo>
                    <a:pt x="0" y="11630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453515" y="3671888"/>
              <a:ext cx="9525" cy="1163003"/>
            </a:xfrm>
            <a:custGeom>
              <a:avLst/>
              <a:gdLst/>
              <a:ahLst/>
              <a:cxnLst/>
              <a:rect l="l" t="t" r="r" b="b"/>
              <a:pathLst>
                <a:path w="9525" h="1163003">
                  <a:moveTo>
                    <a:pt x="0" y="0"/>
                  </a:moveTo>
                  <a:lnTo>
                    <a:pt x="0" y="11630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516380" y="3671888"/>
              <a:ext cx="534353" cy="1163003"/>
            </a:xfrm>
            <a:custGeom>
              <a:avLst/>
              <a:gdLst/>
              <a:ahLst/>
              <a:cxnLst/>
              <a:rect l="l" t="t" r="r" b="b"/>
              <a:pathLst>
                <a:path w="534353" h="1163003">
                  <a:moveTo>
                    <a:pt x="0" y="0"/>
                  </a:moveTo>
                  <a:lnTo>
                    <a:pt x="534353" y="11630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939415" y="3671888"/>
              <a:ext cx="267652" cy="1163003"/>
            </a:xfrm>
            <a:custGeom>
              <a:avLst/>
              <a:gdLst/>
              <a:ahLst/>
              <a:cxnLst/>
              <a:rect l="l" t="t" r="r" b="b"/>
              <a:pathLst>
                <a:path w="267652" h="1163003">
                  <a:moveTo>
                    <a:pt x="267652" y="0"/>
                  </a:moveTo>
                  <a:lnTo>
                    <a:pt x="0" y="11630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269932" y="3671888"/>
              <a:ext cx="267652" cy="1163003"/>
            </a:xfrm>
            <a:custGeom>
              <a:avLst/>
              <a:gdLst/>
              <a:ahLst/>
              <a:cxnLst/>
              <a:rect l="l" t="t" r="r" b="b"/>
              <a:pathLst>
                <a:path w="267652" h="1163003">
                  <a:moveTo>
                    <a:pt x="0" y="0"/>
                  </a:moveTo>
                  <a:lnTo>
                    <a:pt x="267652" y="11630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725352" y="3671888"/>
              <a:ext cx="266700" cy="1163003"/>
            </a:xfrm>
            <a:custGeom>
              <a:avLst/>
              <a:gdLst/>
              <a:ahLst/>
              <a:cxnLst/>
              <a:rect l="l" t="t" r="r" b="b"/>
              <a:pathLst>
                <a:path w="266700" h="1163003">
                  <a:moveTo>
                    <a:pt x="266700" y="0"/>
                  </a:moveTo>
                  <a:lnTo>
                    <a:pt x="0" y="11630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055870" y="3671888"/>
              <a:ext cx="266700" cy="1163003"/>
            </a:xfrm>
            <a:custGeom>
              <a:avLst/>
              <a:gdLst/>
              <a:ahLst/>
              <a:cxnLst/>
              <a:rect l="l" t="t" r="r" b="b"/>
              <a:pathLst>
                <a:path w="266700" h="1163003">
                  <a:moveTo>
                    <a:pt x="0" y="0"/>
                  </a:moveTo>
                  <a:lnTo>
                    <a:pt x="266700" y="11630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822258" y="2156460"/>
              <a:ext cx="832485" cy="277178"/>
            </a:xfrm>
            <a:prstGeom prst="roundRect">
              <a:avLst>
                <a:gd name="adj" fmla="val 3436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37272" y="3393758"/>
              <a:ext cx="832485" cy="277178"/>
            </a:xfrm>
            <a:prstGeom prst="roundRect">
              <a:avLst>
                <a:gd name="adj" fmla="val 3436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995612" y="3393758"/>
              <a:ext cx="485775" cy="277178"/>
            </a:xfrm>
            <a:prstGeom prst="roundRect">
              <a:avLst>
                <a:gd name="adj" fmla="val 3436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781550" y="3393758"/>
              <a:ext cx="485775" cy="277178"/>
            </a:xfrm>
            <a:prstGeom prst="roundRect">
              <a:avLst>
                <a:gd name="adj" fmla="val 3436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56272" y="4834890"/>
              <a:ext cx="294322" cy="225742"/>
            </a:xfrm>
            <a:prstGeom prst="roundRect">
              <a:avLst>
                <a:gd name="adj" fmla="val 4219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305878" y="4834890"/>
              <a:ext cx="294322" cy="225742"/>
            </a:xfrm>
            <a:prstGeom prst="roundRect">
              <a:avLst>
                <a:gd name="adj" fmla="val 4219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954530" y="4834890"/>
              <a:ext cx="294322" cy="225742"/>
            </a:xfrm>
            <a:prstGeom prst="roundRect">
              <a:avLst>
                <a:gd name="adj" fmla="val 4219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766060" y="4834890"/>
              <a:ext cx="294322" cy="225742"/>
            </a:xfrm>
            <a:prstGeom prst="roundRect">
              <a:avLst>
                <a:gd name="adj" fmla="val 4219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415665" y="4834890"/>
              <a:ext cx="294322" cy="225742"/>
            </a:xfrm>
            <a:prstGeom prst="roundRect">
              <a:avLst>
                <a:gd name="adj" fmla="val 4219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51998" y="4834890"/>
              <a:ext cx="294322" cy="225742"/>
            </a:xfrm>
            <a:prstGeom prst="roundRect">
              <a:avLst>
                <a:gd name="adj" fmla="val 4219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200650" y="4834890"/>
              <a:ext cx="294322" cy="225742"/>
            </a:xfrm>
            <a:prstGeom prst="roundRect">
              <a:avLst>
                <a:gd name="adj" fmla="val 4219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047643" y="2229802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23 30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62658" y="3467100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20 21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51536" y="34671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36521" y="34671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7761" y="48825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07366" y="48825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∅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56018" y="48825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67548" y="48825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17153" y="48825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53486" y="48825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∅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302138" y="48825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∅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6248400" y="1941195"/>
            <a:ext cx="5410200" cy="1831658"/>
            <a:chOff x="6248400" y="1941195"/>
            <a:chExt cx="5410200" cy="1831658"/>
          </a:xfrm>
        </p:grpSpPr>
        <p:sp>
          <p:nvSpPr>
            <p:cNvPr id="42" name="Rectangle 42"/>
            <p:cNvSpPr/>
            <p:nvPr/>
          </p:nvSpPr>
          <p:spPr>
            <a:xfrm>
              <a:off x="6248400" y="1941195"/>
              <a:ext cx="5410200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2074545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8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70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62597" y="2173605"/>
              <a:ext cx="28362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个关键词的 B 树有 n+1 个叶结点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2047" y="2507932"/>
              <a:ext cx="46857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个关键词对应 n 种成功查找；关键词把值域切成 n+1 段，每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段对应一种失败查找，也就是一个叶结点。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87478" y="31242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43497" y="3068002"/>
              <a:ext cx="4873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左图 6 个关键词（20 21 24 30 31 加上 23），共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 个叶结点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87478" y="34261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43497" y="3369945"/>
              <a:ext cx="33240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这条性质是后面推 B 树高度上界的出发点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248400" y="3948112"/>
            <a:ext cx="5410200" cy="1529715"/>
            <a:chOff x="6248400" y="3948112"/>
            <a:chExt cx="5410200" cy="1529715"/>
          </a:xfrm>
        </p:grpSpPr>
        <p:sp>
          <p:nvSpPr>
            <p:cNvPr id="53" name="Rectangle 53"/>
            <p:cNvSpPr/>
            <p:nvPr/>
          </p:nvSpPr>
          <p:spPr>
            <a:xfrm>
              <a:off x="6248400" y="3948112"/>
              <a:ext cx="5410200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7925" y="4081462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8905" y="414051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70345" y="417480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62597" y="4180522"/>
              <a:ext cx="25189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和第 22 讲的判定树是同一件事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487478" y="457104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43497" y="4514850"/>
              <a:ext cx="44885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二分查找的判定树里，n 个内结点对应 n+1 个外部结点（方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框）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87478" y="513111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43497" y="5074920"/>
              <a:ext cx="4102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树只是把每个内结点从 1 个关键词加宽到 m−1 个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3" name="Rectangle 6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892" y="6023610"/>
              <a:ext cx="9651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叶结点不占磁盘块，也不参与关键词个数的上下界。说“B 树的高度由叶结点的深度决定”时，指的就是这一层虚拟结点。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8860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树的查找与插入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一次读盘换一次结点内查找；插满了就分裂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查找沿一条根到叶的路径下降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插入总是发生在最底层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上溢分裂可能一路传到根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42124" cy="909257"/>
            <a:chOff x="520446" y="342900"/>
            <a:chExt cx="58421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565" y="407194"/>
              <a:ext cx="2170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树的查找与插入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421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树的查找：读一个结点，挑一条分支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435026" cy="2529173"/>
            <a:chOff x="533400" y="1533525"/>
            <a:chExt cx="5435026" cy="252917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读入根结点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38297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把根所在的磁盘块读进内存，这是第 1 次外存访问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结点内查找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50224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K₁ … Kⱼ 中找 K，可用顺序查找，也可用对半查找；找到就成功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确定分支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62776"/>
              <a:ext cx="38675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没找到就确定 K 落在 Kᵢ 与 Kᵢ₊₁ 之间，取指针 pᵢ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5204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继续下降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813334"/>
              <a:ext cx="45361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pᵢ 指向的结点读入内存重复第 2 步；pᵢ 为空则查找失败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241482"/>
            <a:ext cx="5410200" cy="1111568"/>
            <a:chOff x="533400" y="4241482"/>
            <a:chExt cx="5410200" cy="1111568"/>
          </a:xfrm>
        </p:grpSpPr>
        <p:sp>
          <p:nvSpPr>
            <p:cNvPr id="25" name="Rectangle 25"/>
            <p:cNvSpPr/>
            <p:nvPr/>
          </p:nvSpPr>
          <p:spPr>
            <a:xfrm>
              <a:off x="533400" y="4241482"/>
              <a:ext cx="5410200" cy="1111568"/>
            </a:xfrm>
            <a:prstGeom prst="roundRect">
              <a:avLst>
                <a:gd name="adj" fmla="val 1028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4696780"/>
              <a:ext cx="200023" cy="200023"/>
              <a:chOff x="738188" y="4696780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6967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47634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455390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整个过程只沿一条根到叶的路径走，外存访问次数最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多等于树高。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524000"/>
            <a:ext cx="5410200" cy="2291715"/>
            <a:chOff x="6248400" y="1524000"/>
            <a:chExt cx="5410200" cy="2291715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5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两种代价分开算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07642" y="176879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结点内比较不要钱，读盘才要钱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501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9880" y="2129790"/>
              <a:ext cx="4263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结点内顺序查找最多 m−1 次比较，对半查找最多 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log₂m⌉ 次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501765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9880" y="2750820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300 时分别是 299 次和 9 次，都在内存里做，耗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时以纳秒计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501765" y="34347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59880" y="3371850"/>
              <a:ext cx="4286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读盘次数最多 k 次，每次以毫秒计，这才是瓶颈</a:t>
              </a:r>
            </a:p>
          </p:txBody>
        </p:sp>
      </p:grpSp>
      <p:grpSp>
        <p:nvGrpSpPr>
          <p:cNvPr id="60" name="c2-table-2"/>
          <p:cNvGrpSpPr/>
          <p:nvPr/>
        </p:nvGrpSpPr>
        <p:grpSpPr>
          <a:xfrm>
            <a:off x="6248400" y="4006215"/>
            <a:ext cx="5410200" cy="1346835"/>
            <a:chOff x="6248400" y="4006215"/>
            <a:chExt cx="5410200" cy="1346835"/>
          </a:xfrm>
        </p:grpSpPr>
        <p:sp>
          <p:nvSpPr>
            <p:cNvPr id="43" name="Rectangle 43"/>
            <p:cNvSpPr/>
            <p:nvPr/>
          </p:nvSpPr>
          <p:spPr>
            <a:xfrm>
              <a:off x="6248400" y="4006215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81139" y="41419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40471" y="41419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次数上界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47884" y="414194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在哪里发生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56223" y="45905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读磁盘块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79283" y="4590574"/>
              <a:ext cx="796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k（树高）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720262" y="4464368"/>
              <a:ext cx="192881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818560" y="45905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外存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48987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48400" y="490347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56223" y="503920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结点内比较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79283" y="5039201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× ⌈log₂m⌉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720262" y="4912995"/>
              <a:ext cx="192881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818560" y="50392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4006215"/>
              <a:ext cx="5410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866698" y="400621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705975" y="400621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1" name="Rectangle 6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130" y="5991225"/>
              <a:ext cx="7933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结点内用顺序查找还是对半查找，不影响外存访问次数，因此不影响 B 树查找的数量级。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42941" cy="909257"/>
            <a:chOff x="520446" y="342900"/>
            <a:chExt cx="66429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565" y="407194"/>
              <a:ext cx="2170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树的查找与插入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429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查找的 C 实现：失败时顺便记下该插的位置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4772025"/>
            <a:chOff x="533400" y="1524000"/>
            <a:chExt cx="6276022" cy="47720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772025"/>
            </a:xfrm>
            <a:prstGeom prst="roundRect">
              <a:avLst>
                <a:gd name="adj" fmla="val 199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结点定义与查找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289"/>
              <a:ext cx="3781933" cy="42705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zh-CN" sz="7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#define M 7                    /* B 树的阶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#define MINK ((M+1)/2 - 1)     /* 非根结点最少关键词数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BTNode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n;       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关键词个数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KeyType key[M];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key[0..n-1] 递增，多留 1 格给上溢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BTNode *ch[M+1];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子树指针，最底层全为 NULL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BTNode *parent;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分裂时要向上回溯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BTNode;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NodeSearch(BTNode *p, KeyType k)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  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第一个 key[i] &gt;= k 的下标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 p-&gt;n &amp;&amp; p-&gt;key[i] &lt; k) i++;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BTNode *SearchBTree(BTNode *root, KeyType k,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*pos,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BTNode **last,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*visit)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BTNode *p = root, *q =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*visit = 0;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(*visit)++;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把 p 所在磁盘块读入内存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NodeSearch(p, k);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 p-&gt;n &amp;&amp; p-&gt;key[i] == k) { *pos = i;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 }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q = p;  *pos = i;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p-&gt;ch[i];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*last = q;   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失败：q 是最后到达的最底层结点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2-bullets-1"/>
          <p:cNvGrpSpPr/>
          <p:nvPr/>
        </p:nvGrpSpPr>
        <p:grpSpPr>
          <a:xfrm>
            <a:off x="7114222" y="1542574"/>
            <a:ext cx="4343789" cy="764858"/>
            <a:chOff x="7114222" y="1542574"/>
            <a:chExt cx="4343789" cy="764858"/>
          </a:xfrm>
        </p:grpSpPr>
        <p:sp>
          <p:nvSpPr>
            <p:cNvPr id="11" name="Freeform 11"/>
            <p:cNvSpPr/>
            <p:nvPr/>
          </p:nvSpPr>
          <p:spPr>
            <a:xfrm>
              <a:off x="7114222" y="1565910"/>
              <a:ext cx="107633" cy="87630"/>
            </a:xfrm>
            <a:custGeom>
              <a:avLst/>
              <a:gdLst/>
              <a:ahLst/>
              <a:cxnLst/>
              <a:rect l="l" t="t" r="r" b="b"/>
              <a:pathLst>
                <a:path w="107633" h="87630">
                  <a:moveTo>
                    <a:pt x="0" y="46673"/>
                  </a:moveTo>
                  <a:lnTo>
                    <a:pt x="40958" y="87630"/>
                  </a:lnTo>
                  <a:lnTo>
                    <a:pt x="10763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30440" y="1542574"/>
              <a:ext cx="3260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visit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记录读入内存的结点数，就是外存访问次数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7114222" y="1838325"/>
              <a:ext cx="107633" cy="87630"/>
            </a:xfrm>
            <a:custGeom>
              <a:avLst/>
              <a:gdLst/>
              <a:ahLst/>
              <a:cxnLst/>
              <a:rect l="l" t="t" r="r" b="b"/>
              <a:pathLst>
                <a:path w="107633" h="87630">
                  <a:moveTo>
                    <a:pt x="0" y="46673"/>
                  </a:moveTo>
                  <a:lnTo>
                    <a:pt x="40958" y="87630"/>
                  </a:lnTo>
                  <a:lnTo>
                    <a:pt x="10763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30440" y="1814989"/>
              <a:ext cx="3856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失败时回传 </a:t>
              </a:r>
              <a:r>
                <a:rPr lang="en-US" sz="11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last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1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pos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，插入可以直接用，不必再查一遍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114222" y="2110740"/>
              <a:ext cx="107633" cy="87630"/>
            </a:xfrm>
            <a:custGeom>
              <a:avLst/>
              <a:gdLst/>
              <a:ahLst/>
              <a:cxnLst/>
              <a:rect l="l" t="t" r="r" b="b"/>
              <a:pathLst>
                <a:path w="107633" h="87630">
                  <a:moveTo>
                    <a:pt x="0" y="46673"/>
                  </a:moveTo>
                  <a:lnTo>
                    <a:pt x="40958" y="87630"/>
                  </a:lnTo>
                  <a:lnTo>
                    <a:pt x="10763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30440" y="2087404"/>
              <a:ext cx="4127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key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多留一格，是为了让上溢的结点先装下 m 个关键词再分裂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7114222" y="2438400"/>
            <a:ext cx="4544378" cy="1831658"/>
            <a:chOff x="7114222" y="2438400"/>
            <a:chExt cx="4544378" cy="1831658"/>
          </a:xfrm>
        </p:grpSpPr>
        <p:sp>
          <p:nvSpPr>
            <p:cNvPr id="18" name="Rectangle 18"/>
            <p:cNvSpPr/>
            <p:nvPr/>
          </p:nvSpPr>
          <p:spPr>
            <a:xfrm>
              <a:off x="7114222" y="2438400"/>
              <a:ext cx="4544378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123748" y="2571750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44728" y="26308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24166" y="26650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循环不变式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28470" y="2669858"/>
              <a:ext cx="29521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始终指向可能含 K 的那棵子树的根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37870" y="3004185"/>
              <a:ext cx="3838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进入循环时，K 若存在则一定在 p 这棵子树里。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353300" y="336327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09320" y="3307080"/>
              <a:ext cx="36398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步的比较把值域切成 j+1 段，选中的那一段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正好对应 p→ch[i]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353300" y="392239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09320" y="3866198"/>
              <a:ext cx="3250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变成 NULL 说明该段是空的，查找失败</a:t>
              </a:r>
            </a:p>
          </p:txBody>
        </p:sp>
      </p:grpSp>
      <p:grpSp>
        <p:nvGrpSpPr>
          <p:cNvPr id="35" name="c2-callout-3"/>
          <p:cNvGrpSpPr/>
          <p:nvPr/>
        </p:nvGrpSpPr>
        <p:grpSpPr>
          <a:xfrm>
            <a:off x="7114222" y="4445318"/>
            <a:ext cx="4544378" cy="1850708"/>
            <a:chOff x="7114222" y="4445318"/>
            <a:chExt cx="4544378" cy="1850708"/>
          </a:xfrm>
        </p:grpSpPr>
        <p:sp>
          <p:nvSpPr>
            <p:cNvPr id="29" name="Rectangle 29"/>
            <p:cNvSpPr/>
            <p:nvPr/>
          </p:nvSpPr>
          <p:spPr>
            <a:xfrm>
              <a:off x="7114222" y="4445318"/>
              <a:ext cx="4544378" cy="1850708"/>
            </a:xfrm>
            <a:prstGeom prst="roundRect">
              <a:avLst>
                <a:gd name="adj" fmla="val 617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19010" y="5270183"/>
              <a:ext cx="200026" cy="200026"/>
              <a:chOff x="7319010" y="5270183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19010" y="52701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419023" y="53368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407910" y="53701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621714" y="5027295"/>
              <a:ext cx="36141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本页代码已用 zig cc -std=c99 -Wall -Wextra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编译并实际运行，结果与源课件的例子逐个核对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565" y="407194"/>
              <a:ext cx="2170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树的查找与插入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插入：先查到最底层，再把关键词塞进去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425536" cy="278702"/>
            <a:chOff x="526161" y="1547336"/>
            <a:chExt cx="842553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4255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插入一个不存在的关键词时，查找必然失败在最底层。新关键词就插在那个结点里，不会新建一层。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41195"/>
            <a:ext cx="5193982" cy="1831658"/>
            <a:chOff x="533400" y="1941195"/>
            <a:chExt cx="5193982" cy="183165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193982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9346" y="216789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14247" y="2173605"/>
              <a:ext cx="150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阶 B 树插入 337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4885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目标结点原有 307 313 331 347 共 4 个关键词，7 阶最多能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 6 个，还有空位。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31242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3068002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直接按序插进去，只改这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一个结点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8" y="34261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8497" y="336994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不影响父结点，也不影响其他任何结点</a:t>
              </a:r>
            </a:p>
          </p:txBody>
        </p:sp>
      </p:grpSp>
      <p:grpSp>
        <p:nvGrpSpPr>
          <p:cNvPr id="40" name="c1-cells-2"/>
          <p:cNvGrpSpPr/>
          <p:nvPr/>
        </p:nvGrpSpPr>
        <p:grpSpPr>
          <a:xfrm>
            <a:off x="527685" y="3948112"/>
            <a:ext cx="3426142" cy="883921"/>
            <a:chOff x="527685" y="3948112"/>
            <a:chExt cx="3426142" cy="883921"/>
          </a:xfrm>
        </p:grpSpPr>
        <p:sp>
          <p:nvSpPr>
            <p:cNvPr id="20" name="TextBox 20"/>
            <p:cNvSpPr txBox="1"/>
            <p:nvPr/>
          </p:nvSpPr>
          <p:spPr>
            <a:xfrm>
              <a:off x="527685" y="40600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插入前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93470" y="3948112"/>
              <a:ext cx="572452" cy="3638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42897" y="406003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307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665922" y="3948112"/>
              <a:ext cx="572452" cy="3638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815349" y="406003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237422" y="3948112"/>
              <a:ext cx="572452" cy="3638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87802" y="406003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809875" y="3948112"/>
              <a:ext cx="572452" cy="3638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959302" y="406003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7685" y="45800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插入后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93470" y="4468178"/>
              <a:ext cx="572452" cy="3638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42897" y="458009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307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665922" y="4468178"/>
              <a:ext cx="572452" cy="3638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815349" y="458009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237422" y="4468178"/>
              <a:ext cx="572452" cy="3638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387802" y="458009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809875" y="4468178"/>
              <a:ext cx="572452" cy="36385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959302" y="458009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337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381375" y="4468178"/>
              <a:ext cx="572452" cy="3638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531754" y="458009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347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032182" y="1941195"/>
            <a:ext cx="5626418" cy="1831658"/>
            <a:chOff x="6032182" y="1941195"/>
            <a:chExt cx="5626418" cy="1831658"/>
          </a:xfrm>
        </p:grpSpPr>
        <p:sp>
          <p:nvSpPr>
            <p:cNvPr id="41" name="Rectangle 41"/>
            <p:cNvSpPr/>
            <p:nvPr/>
          </p:nvSpPr>
          <p:spPr>
            <a:xfrm>
              <a:off x="6032182" y="1941195"/>
              <a:ext cx="5626418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41708" y="2074545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62688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54128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46380" y="2173605"/>
              <a:ext cx="2336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&lt; m−1 时插入只动一个结点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55830" y="2507932"/>
              <a:ext cx="49086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若目标结点原有 j 个关键词且 j &lt; m−1（即孩子数小于 m），插入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后仍不超过 m−1 个，B 树的五条性质全部保持。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271260" y="31242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27280" y="3068002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阶：j ≤ 5 时安全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271260" y="34261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27280" y="3369945"/>
              <a:ext cx="40664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阶：j ≤ 1 时安全，也就是结点里只有 1 个关键词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6032182" y="3948112"/>
            <a:ext cx="5626418" cy="729615"/>
            <a:chOff x="6032182" y="3948112"/>
            <a:chExt cx="5626418" cy="729615"/>
          </a:xfrm>
        </p:grpSpPr>
        <p:sp>
          <p:nvSpPr>
            <p:cNvPr id="52" name="Rectangle 52"/>
            <p:cNvSpPr/>
            <p:nvPr/>
          </p:nvSpPr>
          <p:spPr>
            <a:xfrm>
              <a:off x="6032182" y="3948112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224912" y="4209216"/>
              <a:ext cx="224134" cy="192560"/>
              <a:chOff x="6224912" y="4209216"/>
              <a:chExt cx="224134" cy="1925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336983" y="42795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224912" y="42092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336983" y="43573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539674" y="4094798"/>
              <a:ext cx="472001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若目标结点已经有 m−1 个关键词（结点已满），插入会让它变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成 m 个，这叫上溢，必须分裂。</a:t>
              </a:r>
            </a:p>
          </p:txBody>
        </p:sp>
      </p:grpSp>
      <p:grpSp>
        <p:nvGrpSpPr>
          <p:cNvPr id="68" name="c2-bullets-3"/>
          <p:cNvGrpSpPr/>
          <p:nvPr/>
        </p:nvGrpSpPr>
        <p:grpSpPr>
          <a:xfrm>
            <a:off x="6032183" y="4861560"/>
            <a:ext cx="2522601" cy="774859"/>
            <a:chOff x="6032183" y="4861560"/>
            <a:chExt cx="2522601" cy="774859"/>
          </a:xfrm>
        </p:grpSpPr>
        <p:sp>
          <p:nvSpPr>
            <p:cNvPr id="59" name="Ellipse 59"/>
            <p:cNvSpPr/>
            <p:nvPr/>
          </p:nvSpPr>
          <p:spPr>
            <a:xfrm>
              <a:off x="6032183" y="4861560"/>
              <a:ext cx="160020" cy="16002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077888" y="4893278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81738" y="4871561"/>
              <a:ext cx="18053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从根开始查找 K，一路下降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032183" y="5133975"/>
              <a:ext cx="160020" cy="16002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77888" y="5165693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81738" y="514397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查找失败停在最底层结点上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032183" y="5406390"/>
              <a:ext cx="160020" cy="16002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077888" y="5438108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81738" y="541639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按序插入；满了就转下一页的分裂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9" name="Rectangle 6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892" y="6023610"/>
              <a:ext cx="72646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树永远不在最底层之下挂新结点，树是从下往上长高的，这也是它始终保持平衡的原因。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565" y="407194"/>
              <a:ext cx="2170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树的查找与插入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上溢就分裂：把中间那个关键词提上去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992895" cy="264033"/>
            <a:chOff x="526542" y="1545907"/>
            <a:chExt cx="899289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9928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结点关键词数达到 m 个时分裂。提升的是 K⌈m/2⌉（从 1 数起），它左边的成一个结点，右边的成另一个结点。</a:t>
              </a:r>
            </a:p>
          </p:txBody>
        </p:sp>
      </p:grpSp>
      <p:grpSp>
        <p:nvGrpSpPr>
          <p:cNvPr id="54" name="c1-cells-1"/>
          <p:cNvGrpSpPr/>
          <p:nvPr/>
        </p:nvGrpSpPr>
        <p:grpSpPr>
          <a:xfrm>
            <a:off x="528447" y="1928812"/>
            <a:ext cx="4025456" cy="2202180"/>
            <a:chOff x="528447" y="1928812"/>
            <a:chExt cx="4025456" cy="2202180"/>
          </a:xfrm>
        </p:grpSpPr>
        <p:sp>
          <p:nvSpPr>
            <p:cNvPr id="9" name="TextBox 9"/>
            <p:cNvSpPr txBox="1"/>
            <p:nvPr/>
          </p:nvSpPr>
          <p:spPr>
            <a:xfrm>
              <a:off x="528447" y="203025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原结点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0130" y="1928812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72355" y="203025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041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42098" y="1928812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73370" y="203025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047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044065" y="1928812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75337" y="203025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059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46032" y="1928812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78257" y="203025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067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048000" y="1928812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80225" y="203025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073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549968" y="1928812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82192" y="203025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083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8447" y="2499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插入后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40130" y="2398395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72355" y="249983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041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542098" y="2398395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673370" y="249983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047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044065" y="2398395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175337" y="249983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059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546032" y="2398395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678257" y="249983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067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2398395"/>
              <a:ext cx="501968" cy="32385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180225" y="249983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071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549968" y="2398395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682192" y="249983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073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051935" y="2398395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184160" y="249983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083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8447" y="296941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左结点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40130" y="2867978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72355" y="296941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041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542098" y="2867978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673370" y="296941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047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044065" y="2867978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175337" y="296941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059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8447" y="343900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提升值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40130" y="3337560"/>
              <a:ext cx="501968" cy="32385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72355" y="343900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067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8447" y="390858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右结点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40130" y="3807142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72355" y="390858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071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542098" y="3807142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673370" y="390858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073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044065" y="3807142"/>
              <a:ext cx="501968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175337" y="390858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083</a:t>
              </a:r>
            </a:p>
          </p:txBody>
        </p:sp>
      </p:grpSp>
      <p:grpSp>
        <p:nvGrpSpPr>
          <p:cNvPr id="60" name="c1-callout-2"/>
          <p:cNvGrpSpPr/>
          <p:nvPr/>
        </p:nvGrpSpPr>
        <p:grpSpPr>
          <a:xfrm>
            <a:off x="533400" y="4295775"/>
            <a:ext cx="5626418" cy="1303972"/>
            <a:chOff x="533400" y="4295775"/>
            <a:chExt cx="5626418" cy="1303972"/>
          </a:xfrm>
        </p:grpSpPr>
        <p:sp>
          <p:nvSpPr>
            <p:cNvPr id="55" name="Rectangle 55"/>
            <p:cNvSpPr/>
            <p:nvPr/>
          </p:nvSpPr>
          <p:spPr>
            <a:xfrm>
              <a:off x="533400" y="4295775"/>
              <a:ext cx="5626418" cy="1303972"/>
            </a:xfrm>
            <a:prstGeom prst="roundRect">
              <a:avLst>
                <a:gd name="adj" fmla="val 87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4847275"/>
              <a:ext cx="200023" cy="200023"/>
              <a:chOff x="738188" y="4847275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48472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49139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1273" y="4741069"/>
              <a:ext cx="45239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 = 7 时 ⌈7/2⌉ = 4，提升第 4 个关键词 067，左右各剩 3 个，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正好等于非根结点的下限。</a:t>
              </a:r>
            </a:p>
          </p:txBody>
        </p:sp>
      </p:grpSp>
      <p:grpSp>
        <p:nvGrpSpPr>
          <p:cNvPr id="79" name="c2-card-1"/>
          <p:cNvGrpSpPr/>
          <p:nvPr/>
        </p:nvGrpSpPr>
        <p:grpSpPr>
          <a:xfrm>
            <a:off x="6464618" y="1928812"/>
            <a:ext cx="5193982" cy="2018348"/>
            <a:chOff x="6464618" y="1928812"/>
            <a:chExt cx="5193982" cy="2018348"/>
          </a:xfrm>
        </p:grpSpPr>
        <p:sp>
          <p:nvSpPr>
            <p:cNvPr id="61" name="Rectangle 61"/>
            <p:cNvSpPr/>
            <p:nvPr/>
          </p:nvSpPr>
          <p:spPr>
            <a:xfrm>
              <a:off x="6464618" y="1928812"/>
              <a:ext cx="5193982" cy="2018348"/>
            </a:xfrm>
            <a:prstGeom prst="roundRect">
              <a:avLst>
                <a:gd name="adj" fmla="val 66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74142" y="2062162"/>
              <a:ext cx="47625" cy="175164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683692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69214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分裂规则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99223" y="214931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一分为二，中间的上升一层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683692" y="245459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35599" y="249021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954393" y="2465546"/>
              <a:ext cx="37131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结点里有 m 个关键词 K₁ … Kₘ 时，取 s = ⌈m/2⌉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683692" y="273939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735599" y="277501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954393" y="2751296"/>
              <a:ext cx="39826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K₁ … Kₛ₋₁ 留在原结点，Kₛ₊₁ … Kₘ 另建一个新结点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683692" y="302514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735599" y="30598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954393" y="3036094"/>
              <a:ext cx="33694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Kₛ 插到父结点里，新结点作为它右边的孩子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683692" y="330993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735599" y="334556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954393" y="332089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父结点若因此上溢，继续按同样的规则分裂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678359" y="3602355"/>
              <a:ext cx="4413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分裂一直传到根时，根也分裂，新建的根只有 1 个关键词，树长高一层</a:t>
              </a:r>
            </a:p>
          </p:txBody>
        </p:sp>
      </p:grpSp>
      <p:grpSp>
        <p:nvGrpSpPr>
          <p:cNvPr id="90" name="c2-card-2"/>
          <p:cNvGrpSpPr/>
          <p:nvPr/>
        </p:nvGrpSpPr>
        <p:grpSpPr>
          <a:xfrm>
            <a:off x="6464618" y="4111942"/>
            <a:ext cx="5193982" cy="1487805"/>
            <a:chOff x="6464618" y="4111942"/>
            <a:chExt cx="5193982" cy="1487805"/>
          </a:xfrm>
        </p:grpSpPr>
        <p:sp>
          <p:nvSpPr>
            <p:cNvPr id="80" name="Rectangle 80"/>
            <p:cNvSpPr/>
            <p:nvPr/>
          </p:nvSpPr>
          <p:spPr>
            <a:xfrm>
              <a:off x="6464618" y="4111942"/>
              <a:ext cx="5193982" cy="1487805"/>
            </a:xfrm>
            <a:prstGeom prst="roundRect">
              <a:avLst>
                <a:gd name="adj" fmla="val 8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6474142" y="4245292"/>
              <a:ext cx="47625" cy="12211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683692" y="429291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776364" y="43257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250620" y="4332446"/>
              <a:ext cx="2043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17 页的一处笔误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677216" y="4649629"/>
              <a:ext cx="40576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原文两句都写作“K⌈m/2⌉ 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左侧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的关键词形成 1 组”。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6693218" y="498633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848666" y="4934426"/>
              <a:ext cx="42001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第二句应为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右侧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，否则同一批关键词会被分进两个结点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6693218" y="527113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848666" y="5219224"/>
              <a:ext cx="42691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配图画的是对的：左组 041 047 059，右组 071 073 083</a:t>
              </a:r>
            </a:p>
          </p:txBody>
        </p:sp>
      </p:grpSp>
      <p:grpSp>
        <p:nvGrpSpPr>
          <p:cNvPr id="9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1" name="Rectangle 9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1041273" y="6039326"/>
              <a:ext cx="7017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分裂后左右两边各有 ⌈m/2⌉−1 个关键词，恰好卡在下限上，所以分裂出来的结点一定合法。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43915" cy="909257"/>
            <a:chOff x="520446" y="342900"/>
            <a:chExt cx="60439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565" y="407194"/>
              <a:ext cx="2170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树的查找与插入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439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1：3 阶 B 树插入 14，只改一个结点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994824" cy="308039"/>
            <a:chOff x="525399" y="1550194"/>
            <a:chExt cx="999482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99482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 阶 B 树每个结点最多 2 个关键词。14 &lt; 18 走最左子树，14 &gt; 12 走结点 12 的右指针，落在结点 15 上。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77390"/>
            <a:ext cx="3392297" cy="2348198"/>
            <a:chOff x="533400" y="1977390"/>
            <a:chExt cx="3392297" cy="2348198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622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36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480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821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0116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304574"/>
              <a:ext cx="29390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 33 → 12 → 15，三次比较后失败在最底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9655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90399"/>
              <a:ext cx="29796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 15 只有 1 个关键词，插入后成为 14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78237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4076224"/>
              <a:ext cx="2890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个关键词没有超过 m−1 = 2，不分裂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4503420"/>
            <a:ext cx="3678555" cy="1082992"/>
            <a:chOff x="533400" y="4503420"/>
            <a:chExt cx="3678555" cy="1082992"/>
          </a:xfrm>
        </p:grpSpPr>
        <p:sp>
          <p:nvSpPr>
            <p:cNvPr id="23" name="Rectangle 23"/>
            <p:cNvSpPr/>
            <p:nvPr/>
          </p:nvSpPr>
          <p:spPr>
            <a:xfrm>
              <a:off x="533400" y="4503420"/>
              <a:ext cx="3678555" cy="1082992"/>
            </a:xfrm>
            <a:prstGeom prst="roundRect">
              <a:avLst>
                <a:gd name="adj" fmla="val 1055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4945380"/>
              <a:ext cx="200026" cy="200026"/>
              <a:chOff x="738188" y="4945380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9453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04863" y="50231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4802505"/>
              <a:ext cx="2682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整棵树只有一个结点被改写，其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余结点连读都不用读。</a:t>
              </a:r>
            </a:p>
          </p:txBody>
        </p:sp>
      </p:grpSp>
      <p:grpSp>
        <p:nvGrpSpPr>
          <p:cNvPr id="62" name="c2-tree-1"/>
          <p:cNvGrpSpPr/>
          <p:nvPr/>
        </p:nvGrpSpPr>
        <p:grpSpPr>
          <a:xfrm>
            <a:off x="4817745" y="2332672"/>
            <a:ext cx="6632257" cy="2933224"/>
            <a:chOff x="4817745" y="2332672"/>
            <a:chExt cx="6632257" cy="2933224"/>
          </a:xfrm>
        </p:grpSpPr>
        <p:sp>
          <p:nvSpPr>
            <p:cNvPr id="29" name="Freeform 29"/>
            <p:cNvSpPr/>
            <p:nvPr/>
          </p:nvSpPr>
          <p:spPr>
            <a:xfrm>
              <a:off x="5027295" y="3691890"/>
              <a:ext cx="509588" cy="1148715"/>
            </a:xfrm>
            <a:custGeom>
              <a:avLst/>
              <a:gdLst/>
              <a:ahLst/>
              <a:cxnLst/>
              <a:rect l="l" t="t" r="r" b="b"/>
              <a:pathLst>
                <a:path w="509588" h="1148715">
                  <a:moveTo>
                    <a:pt x="509588" y="0"/>
                  </a:moveTo>
                  <a:lnTo>
                    <a:pt x="0" y="11487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536882" y="3691890"/>
              <a:ext cx="510540" cy="1148715"/>
            </a:xfrm>
            <a:custGeom>
              <a:avLst/>
              <a:gdLst/>
              <a:ahLst/>
              <a:cxnLst/>
              <a:rect l="l" t="t" r="r" b="b"/>
              <a:pathLst>
                <a:path w="510540" h="1148715">
                  <a:moveTo>
                    <a:pt x="0" y="0"/>
                  </a:moveTo>
                  <a:lnTo>
                    <a:pt x="510540" y="11487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067550" y="3691890"/>
              <a:ext cx="1020128" cy="1148715"/>
            </a:xfrm>
            <a:custGeom>
              <a:avLst/>
              <a:gdLst/>
              <a:ahLst/>
              <a:cxnLst/>
              <a:rect l="l" t="t" r="r" b="b"/>
              <a:pathLst>
                <a:path w="1020128" h="1148715">
                  <a:moveTo>
                    <a:pt x="1020128" y="0"/>
                  </a:moveTo>
                  <a:lnTo>
                    <a:pt x="0" y="11487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087678" y="3691890"/>
              <a:ext cx="9525" cy="1148715"/>
            </a:xfrm>
            <a:custGeom>
              <a:avLst/>
              <a:gdLst/>
              <a:ahLst/>
              <a:cxnLst/>
              <a:rect l="l" t="t" r="r" b="b"/>
              <a:pathLst>
                <a:path w="9525" h="1148715">
                  <a:moveTo>
                    <a:pt x="0" y="0"/>
                  </a:moveTo>
                  <a:lnTo>
                    <a:pt x="0" y="11487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087678" y="3691890"/>
              <a:ext cx="1020128" cy="1148715"/>
            </a:xfrm>
            <a:custGeom>
              <a:avLst/>
              <a:gdLst/>
              <a:ahLst/>
              <a:cxnLst/>
              <a:rect l="l" t="t" r="r" b="b"/>
              <a:pathLst>
                <a:path w="1020128" h="1148715">
                  <a:moveTo>
                    <a:pt x="0" y="0"/>
                  </a:moveTo>
                  <a:lnTo>
                    <a:pt x="1020128" y="11487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127932" y="3691890"/>
              <a:ext cx="510540" cy="1148715"/>
            </a:xfrm>
            <a:custGeom>
              <a:avLst/>
              <a:gdLst/>
              <a:ahLst/>
              <a:cxnLst/>
              <a:rect l="l" t="t" r="r" b="b"/>
              <a:pathLst>
                <a:path w="510540" h="1148715">
                  <a:moveTo>
                    <a:pt x="510540" y="0"/>
                  </a:moveTo>
                  <a:lnTo>
                    <a:pt x="0" y="11487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638472" y="3691890"/>
              <a:ext cx="509588" cy="1148715"/>
            </a:xfrm>
            <a:custGeom>
              <a:avLst/>
              <a:gdLst/>
              <a:ahLst/>
              <a:cxnLst/>
              <a:rect l="l" t="t" r="r" b="b"/>
              <a:pathLst>
                <a:path w="509588" h="1148715">
                  <a:moveTo>
                    <a:pt x="0" y="0"/>
                  </a:moveTo>
                  <a:lnTo>
                    <a:pt x="509588" y="11487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536882" y="2542222"/>
              <a:ext cx="2550795" cy="1149668"/>
            </a:xfrm>
            <a:custGeom>
              <a:avLst/>
              <a:gdLst/>
              <a:ahLst/>
              <a:cxnLst/>
              <a:rect l="l" t="t" r="r" b="b"/>
              <a:pathLst>
                <a:path w="2550795" h="1149668">
                  <a:moveTo>
                    <a:pt x="2550795" y="0"/>
                  </a:moveTo>
                  <a:lnTo>
                    <a:pt x="0" y="114966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087678" y="2542222"/>
              <a:ext cx="9525" cy="1149668"/>
            </a:xfrm>
            <a:custGeom>
              <a:avLst/>
              <a:gdLst/>
              <a:ahLst/>
              <a:cxnLst/>
              <a:rect l="l" t="t" r="r" b="b"/>
              <a:pathLst>
                <a:path w="9525" h="1149668">
                  <a:moveTo>
                    <a:pt x="0" y="0"/>
                  </a:moveTo>
                  <a:lnTo>
                    <a:pt x="0" y="114966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087678" y="2542222"/>
              <a:ext cx="2550795" cy="1149668"/>
            </a:xfrm>
            <a:custGeom>
              <a:avLst/>
              <a:gdLst/>
              <a:ahLst/>
              <a:cxnLst/>
              <a:rect l="l" t="t" r="r" b="b"/>
              <a:pathLst>
                <a:path w="2550795" h="1149668">
                  <a:moveTo>
                    <a:pt x="0" y="0"/>
                  </a:moveTo>
                  <a:lnTo>
                    <a:pt x="2550795" y="114966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4817745" y="4631055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746432" y="4631055"/>
              <a:ext cx="601980" cy="419100"/>
            </a:xfrm>
            <a:prstGeom prst="roundRect">
              <a:avLst>
                <a:gd name="adj" fmla="val 1818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27332" y="348234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66560" y="4631055"/>
              <a:ext cx="60198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878128" y="4631055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898255" y="4631055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786688" y="3482340"/>
              <a:ext cx="60198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827895" y="4631055"/>
              <a:ext cx="60198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848022" y="4631055"/>
              <a:ext cx="60198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428922" y="348234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786688" y="2332672"/>
              <a:ext cx="60198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940331" y="47758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856565" y="4775835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14 15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855000" y="5103971"/>
              <a:ext cx="3848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插入 14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449918" y="36261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76693" y="4775835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20 21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00713" y="47758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20841" y="47758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96820" y="3626168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23 30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37075" y="4775835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45 47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957203" y="4775835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50 52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551508" y="36261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96820" y="2476500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18 33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3" name="Rectangle 6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991225"/>
              <a:ext cx="62074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这棵 3 阶 B 树是例 1 到例 3 共用的起点，后面两个例子都从它出发。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87196" cy="909257"/>
            <a:chOff x="520446" y="342900"/>
            <a:chExt cx="63871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565" y="407194"/>
              <a:ext cx="2170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树的查找与插入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871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2：3 阶 B 树插入 55，叶结点分裂一次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721834" cy="278702"/>
            <a:chOff x="526161" y="1547336"/>
            <a:chExt cx="872183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7218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 &gt; 33 走最右子树，55 &gt; 48 落在结点 50 52 上。这个结点已经满了，插入后变成 3 个关键词，上溢。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50720"/>
            <a:ext cx="3518535" cy="2695098"/>
            <a:chOff x="533400" y="1950720"/>
            <a:chExt cx="3518535" cy="2695098"/>
          </a:xfrm>
        </p:grpSpPr>
        <p:sp>
          <p:nvSpPr>
            <p:cNvPr id="9" name="Rectangle 9"/>
            <p:cNvSpPr/>
            <p:nvPr/>
          </p:nvSpPr>
          <p:spPr>
            <a:xfrm>
              <a:off x="666750" y="2093595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507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451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189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318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056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195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93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98310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250281"/>
              <a:ext cx="30055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52 变成 50 52 55，达到 m = 3 个关键词，上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7774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04466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⌈3/2⌉ = 2，提升第 2 个关键词 52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36423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631406"/>
              <a:ext cx="1639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左边留 50，右边新建 55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9509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218146"/>
              <a:ext cx="31051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 插入父结点 48，父结点变成 48 52，只有 2 个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关键词，不再上溢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4814888"/>
            <a:ext cx="3678555" cy="729615"/>
            <a:chOff x="533400" y="4814888"/>
            <a:chExt cx="3678555" cy="729615"/>
          </a:xfrm>
        </p:grpSpPr>
        <p:sp>
          <p:nvSpPr>
            <p:cNvPr id="27" name="Rectangle 27"/>
            <p:cNvSpPr/>
            <p:nvPr/>
          </p:nvSpPr>
          <p:spPr>
            <a:xfrm>
              <a:off x="533400" y="4814888"/>
              <a:ext cx="3678555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079685"/>
              <a:ext cx="200023" cy="200023"/>
              <a:chOff x="738188" y="5079685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0796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5146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892" y="4960620"/>
              <a:ext cx="27826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阶 B 树的分裂总是把 3 个关键词切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 1 + 1 + 1。</a:t>
              </a:r>
            </a:p>
          </p:txBody>
        </p:sp>
      </p:grpSp>
      <p:grpSp>
        <p:nvGrpSpPr>
          <p:cNvPr id="68" name="c2-tree-1"/>
          <p:cNvGrpSpPr/>
          <p:nvPr/>
        </p:nvGrpSpPr>
        <p:grpSpPr>
          <a:xfrm>
            <a:off x="4772978" y="2300288"/>
            <a:ext cx="6629400" cy="2576512"/>
            <a:chOff x="4772978" y="2300288"/>
            <a:chExt cx="6629400" cy="2576512"/>
          </a:xfrm>
        </p:grpSpPr>
        <p:sp>
          <p:nvSpPr>
            <p:cNvPr id="33" name="Freeform 33"/>
            <p:cNvSpPr/>
            <p:nvPr/>
          </p:nvSpPr>
          <p:spPr>
            <a:xfrm>
              <a:off x="4963478" y="3588068"/>
              <a:ext cx="446722" cy="1098232"/>
            </a:xfrm>
            <a:custGeom>
              <a:avLst/>
              <a:gdLst/>
              <a:ahLst/>
              <a:cxnLst/>
              <a:rect l="l" t="t" r="r" b="b"/>
              <a:pathLst>
                <a:path w="446722" h="1098232">
                  <a:moveTo>
                    <a:pt x="446722" y="0"/>
                  </a:moveTo>
                  <a:lnTo>
                    <a:pt x="0" y="10982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410200" y="3588068"/>
              <a:ext cx="445770" cy="1098232"/>
            </a:xfrm>
            <a:custGeom>
              <a:avLst/>
              <a:gdLst/>
              <a:ahLst/>
              <a:cxnLst/>
              <a:rect l="l" t="t" r="r" b="b"/>
              <a:pathLst>
                <a:path w="445770" h="1098232">
                  <a:moveTo>
                    <a:pt x="0" y="0"/>
                  </a:moveTo>
                  <a:lnTo>
                    <a:pt x="445770" y="10982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748462" y="3588068"/>
              <a:ext cx="893445" cy="1098232"/>
            </a:xfrm>
            <a:custGeom>
              <a:avLst/>
              <a:gdLst/>
              <a:ahLst/>
              <a:cxnLst/>
              <a:rect l="l" t="t" r="r" b="b"/>
              <a:pathLst>
                <a:path w="893445" h="1098232">
                  <a:moveTo>
                    <a:pt x="893445" y="0"/>
                  </a:moveTo>
                  <a:lnTo>
                    <a:pt x="0" y="10982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641908" y="3588068"/>
              <a:ext cx="9525" cy="1098232"/>
            </a:xfrm>
            <a:custGeom>
              <a:avLst/>
              <a:gdLst/>
              <a:ahLst/>
              <a:cxnLst/>
              <a:rect l="l" t="t" r="r" b="b"/>
              <a:pathLst>
                <a:path w="9525" h="1098232">
                  <a:moveTo>
                    <a:pt x="0" y="0"/>
                  </a:moveTo>
                  <a:lnTo>
                    <a:pt x="0" y="10982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641908" y="3588068"/>
              <a:ext cx="892493" cy="1098232"/>
            </a:xfrm>
            <a:custGeom>
              <a:avLst/>
              <a:gdLst/>
              <a:ahLst/>
              <a:cxnLst/>
              <a:rect l="l" t="t" r="r" b="b"/>
              <a:pathLst>
                <a:path w="892493" h="1098232">
                  <a:moveTo>
                    <a:pt x="0" y="0"/>
                  </a:moveTo>
                  <a:lnTo>
                    <a:pt x="892493" y="10982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426892" y="3588068"/>
              <a:ext cx="892493" cy="1098232"/>
            </a:xfrm>
            <a:custGeom>
              <a:avLst/>
              <a:gdLst/>
              <a:ahLst/>
              <a:cxnLst/>
              <a:rect l="l" t="t" r="r" b="b"/>
              <a:pathLst>
                <a:path w="892493" h="1098232">
                  <a:moveTo>
                    <a:pt x="892493" y="0"/>
                  </a:moveTo>
                  <a:lnTo>
                    <a:pt x="0" y="10982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319385" y="3588068"/>
              <a:ext cx="9525" cy="1098232"/>
            </a:xfrm>
            <a:custGeom>
              <a:avLst/>
              <a:gdLst/>
              <a:ahLst/>
              <a:cxnLst/>
              <a:rect l="l" t="t" r="r" b="b"/>
              <a:pathLst>
                <a:path w="9525" h="1098232">
                  <a:moveTo>
                    <a:pt x="0" y="0"/>
                  </a:moveTo>
                  <a:lnTo>
                    <a:pt x="0" y="10982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319385" y="3588068"/>
              <a:ext cx="892492" cy="1098232"/>
            </a:xfrm>
            <a:custGeom>
              <a:avLst/>
              <a:gdLst/>
              <a:ahLst/>
              <a:cxnLst/>
              <a:rect l="l" t="t" r="r" b="b"/>
              <a:pathLst>
                <a:path w="892492" h="1098232">
                  <a:moveTo>
                    <a:pt x="0" y="0"/>
                  </a:moveTo>
                  <a:lnTo>
                    <a:pt x="892492" y="10982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410200" y="2490788"/>
              <a:ext cx="2677478" cy="1097280"/>
            </a:xfrm>
            <a:custGeom>
              <a:avLst/>
              <a:gdLst/>
              <a:ahLst/>
              <a:cxnLst/>
              <a:rect l="l" t="t" r="r" b="b"/>
              <a:pathLst>
                <a:path w="2677478" h="1097280">
                  <a:moveTo>
                    <a:pt x="2677478" y="0"/>
                  </a:moveTo>
                  <a:lnTo>
                    <a:pt x="0" y="10972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641908" y="2490788"/>
              <a:ext cx="445770" cy="1097280"/>
            </a:xfrm>
            <a:custGeom>
              <a:avLst/>
              <a:gdLst/>
              <a:ahLst/>
              <a:cxnLst/>
              <a:rect l="l" t="t" r="r" b="b"/>
              <a:pathLst>
                <a:path w="445770" h="1097280">
                  <a:moveTo>
                    <a:pt x="445770" y="0"/>
                  </a:moveTo>
                  <a:lnTo>
                    <a:pt x="0" y="10972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087678" y="2490788"/>
              <a:ext cx="2231708" cy="1097280"/>
            </a:xfrm>
            <a:custGeom>
              <a:avLst/>
              <a:gdLst/>
              <a:ahLst/>
              <a:cxnLst/>
              <a:rect l="l" t="t" r="r" b="b"/>
              <a:pathLst>
                <a:path w="2231708" h="1097280">
                  <a:moveTo>
                    <a:pt x="0" y="0"/>
                  </a:moveTo>
                  <a:lnTo>
                    <a:pt x="2231708" y="10972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4772978" y="4495800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665470" y="4495800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218748" y="3397568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0808" y="4495800"/>
              <a:ext cx="57531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450455" y="4495800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343900" y="4495800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354252" y="3397568"/>
              <a:ext cx="57531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9139238" y="4495800"/>
              <a:ext cx="57531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128885" y="4495800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1021378" y="4495800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031730" y="3397568"/>
              <a:ext cx="575310" cy="381000"/>
            </a:xfrm>
            <a:prstGeom prst="roundRect">
              <a:avLst>
                <a:gd name="adj" fmla="val 20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800022" y="2300288"/>
              <a:ext cx="57531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882336" y="46258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774829" y="46258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329059" y="352758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70355" y="4625816"/>
              <a:ext cx="356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20 21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60766" y="46258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453259" y="46258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463800" y="3527584"/>
              <a:ext cx="356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23 30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48785" y="4625816"/>
              <a:ext cx="356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45 47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238244" y="46258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130736" y="46258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141277" y="3527584"/>
              <a:ext cx="356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48 52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09570" y="2430304"/>
              <a:ext cx="356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18 33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9" name="Rectangle 6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892" y="6023610"/>
              <a:ext cx="6747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分裂让父结点多了一个孩子。父结点原来有 2 个孩子，现在 3 个，仍不超过 m = 3。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30477" cy="909257"/>
            <a:chOff x="520446" y="342900"/>
            <a:chExt cx="67304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565" y="407194"/>
              <a:ext cx="2170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树的查找与插入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304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3：3 阶 B 树插入 19，分裂连着发生两次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385685" cy="293370"/>
            <a:chOff x="525780" y="1548765"/>
            <a:chExt cx="7385685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385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 落在结点 20 21 上。这一次分裂不会停在第一层，因为它的父结点也已经满了。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64055"/>
            <a:ext cx="3954932" cy="2232089"/>
            <a:chOff x="533400" y="1964055"/>
            <a:chExt cx="3954932" cy="2232089"/>
          </a:xfrm>
        </p:grpSpPr>
        <p:sp>
          <p:nvSpPr>
            <p:cNvPr id="9" name="Rectangle 9"/>
            <p:cNvSpPr/>
            <p:nvPr/>
          </p:nvSpPr>
          <p:spPr>
            <a:xfrm>
              <a:off x="666750" y="210693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640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060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798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270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00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99691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叶结点上溢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277428"/>
              <a:ext cx="31821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21 变成 19 20 21，提升 20，左留 19、右留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83892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父结点上溢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119438"/>
              <a:ext cx="3541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插入 23 30 后变成 20 23 30，又是 3 个关键词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345995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第二次分裂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740468"/>
              <a:ext cx="31973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提升 23，左边 20 带走 19 和 21，右边 30 带走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 和 31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371975"/>
            <a:ext cx="3895725" cy="1185862"/>
            <a:chOff x="533400" y="4371975"/>
            <a:chExt cx="3895725" cy="1185862"/>
          </a:xfrm>
        </p:grpSpPr>
        <p:sp>
          <p:nvSpPr>
            <p:cNvPr id="23" name="Rectangle 23"/>
            <p:cNvSpPr/>
            <p:nvPr/>
          </p:nvSpPr>
          <p:spPr>
            <a:xfrm>
              <a:off x="533400" y="4371975"/>
              <a:ext cx="3895725" cy="1185862"/>
            </a:xfrm>
            <a:prstGeom prst="roundRect">
              <a:avLst>
                <a:gd name="adj" fmla="val 963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26129" y="4861678"/>
              <a:ext cx="224134" cy="192560"/>
              <a:chOff x="726129" y="4861678"/>
              <a:chExt cx="224134" cy="192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38200" y="49320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6129" y="48616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200" y="50098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511" y="4734401"/>
              <a:ext cx="28999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分裂会把一个孩子指针也一并分给两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边，孩子数始终等于关键词数加一。</a:t>
              </a:r>
            </a:p>
          </p:txBody>
        </p:sp>
      </p:grpSp>
      <p:grpSp>
        <p:nvGrpSpPr>
          <p:cNvPr id="69" name="c2-tree-1"/>
          <p:cNvGrpSpPr/>
          <p:nvPr/>
        </p:nvGrpSpPr>
        <p:grpSpPr>
          <a:xfrm>
            <a:off x="4963478" y="2323148"/>
            <a:ext cx="6563677" cy="2694622"/>
            <a:chOff x="4963478" y="2323148"/>
            <a:chExt cx="6563677" cy="2694622"/>
          </a:xfrm>
        </p:grpSpPr>
        <p:sp>
          <p:nvSpPr>
            <p:cNvPr id="30" name="Freeform 30"/>
            <p:cNvSpPr/>
            <p:nvPr/>
          </p:nvSpPr>
          <p:spPr>
            <a:xfrm>
              <a:off x="5166360" y="3670935"/>
              <a:ext cx="432435" cy="1143000"/>
            </a:xfrm>
            <a:custGeom>
              <a:avLst/>
              <a:gdLst/>
              <a:ahLst/>
              <a:cxnLst/>
              <a:rect l="l" t="t" r="r" b="b"/>
              <a:pathLst>
                <a:path w="432435" h="1143000">
                  <a:moveTo>
                    <a:pt x="432435" y="0"/>
                  </a:moveTo>
                  <a:lnTo>
                    <a:pt x="0" y="1143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598795" y="3670935"/>
              <a:ext cx="433388" cy="1143000"/>
            </a:xfrm>
            <a:custGeom>
              <a:avLst/>
              <a:gdLst/>
              <a:ahLst/>
              <a:cxnLst/>
              <a:rect l="l" t="t" r="r" b="b"/>
              <a:pathLst>
                <a:path w="433388" h="1143000">
                  <a:moveTo>
                    <a:pt x="0" y="0"/>
                  </a:moveTo>
                  <a:lnTo>
                    <a:pt x="433388" y="1143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898005" y="3670935"/>
              <a:ext cx="432435" cy="1143000"/>
            </a:xfrm>
            <a:custGeom>
              <a:avLst/>
              <a:gdLst/>
              <a:ahLst/>
              <a:cxnLst/>
              <a:rect l="l" t="t" r="r" b="b"/>
              <a:pathLst>
                <a:path w="432435" h="1143000">
                  <a:moveTo>
                    <a:pt x="432435" y="0"/>
                  </a:moveTo>
                  <a:lnTo>
                    <a:pt x="0" y="1143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330440" y="3670935"/>
              <a:ext cx="432435" cy="1143000"/>
            </a:xfrm>
            <a:custGeom>
              <a:avLst/>
              <a:gdLst/>
              <a:ahLst/>
              <a:cxnLst/>
              <a:rect l="l" t="t" r="r" b="b"/>
              <a:pathLst>
                <a:path w="432435" h="1143000">
                  <a:moveTo>
                    <a:pt x="0" y="0"/>
                  </a:moveTo>
                  <a:lnTo>
                    <a:pt x="432435" y="1143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628698" y="3670935"/>
              <a:ext cx="433388" cy="1143000"/>
            </a:xfrm>
            <a:custGeom>
              <a:avLst/>
              <a:gdLst/>
              <a:ahLst/>
              <a:cxnLst/>
              <a:rect l="l" t="t" r="r" b="b"/>
              <a:pathLst>
                <a:path w="433388" h="1143000">
                  <a:moveTo>
                    <a:pt x="433388" y="0"/>
                  </a:moveTo>
                  <a:lnTo>
                    <a:pt x="0" y="1143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062085" y="3670935"/>
              <a:ext cx="432435" cy="1143000"/>
            </a:xfrm>
            <a:custGeom>
              <a:avLst/>
              <a:gdLst/>
              <a:ahLst/>
              <a:cxnLst/>
              <a:rect l="l" t="t" r="r" b="b"/>
              <a:pathLst>
                <a:path w="432435" h="1143000">
                  <a:moveTo>
                    <a:pt x="0" y="0"/>
                  </a:moveTo>
                  <a:lnTo>
                    <a:pt x="432435" y="1143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360342" y="3670935"/>
              <a:ext cx="432435" cy="1143000"/>
            </a:xfrm>
            <a:custGeom>
              <a:avLst/>
              <a:gdLst/>
              <a:ahLst/>
              <a:cxnLst/>
              <a:rect l="l" t="t" r="r" b="b"/>
              <a:pathLst>
                <a:path w="432435" h="1143000">
                  <a:moveTo>
                    <a:pt x="432435" y="0"/>
                  </a:moveTo>
                  <a:lnTo>
                    <a:pt x="0" y="1143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792778" y="3670935"/>
              <a:ext cx="433388" cy="1143000"/>
            </a:xfrm>
            <a:custGeom>
              <a:avLst/>
              <a:gdLst/>
              <a:ahLst/>
              <a:cxnLst/>
              <a:rect l="l" t="t" r="r" b="b"/>
              <a:pathLst>
                <a:path w="433388" h="1143000">
                  <a:moveTo>
                    <a:pt x="0" y="0"/>
                  </a:moveTo>
                  <a:lnTo>
                    <a:pt x="433388" y="1143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5598795" y="2526030"/>
              <a:ext cx="2597468" cy="1144905"/>
            </a:xfrm>
            <a:custGeom>
              <a:avLst/>
              <a:gdLst/>
              <a:ahLst/>
              <a:cxnLst/>
              <a:rect l="l" t="t" r="r" b="b"/>
              <a:pathLst>
                <a:path w="2597468" h="1144905">
                  <a:moveTo>
                    <a:pt x="2597468" y="0"/>
                  </a:moveTo>
                  <a:lnTo>
                    <a:pt x="0" y="11449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330440" y="2526030"/>
              <a:ext cx="865822" cy="1144905"/>
            </a:xfrm>
            <a:custGeom>
              <a:avLst/>
              <a:gdLst/>
              <a:ahLst/>
              <a:cxnLst/>
              <a:rect l="l" t="t" r="r" b="b"/>
              <a:pathLst>
                <a:path w="865822" h="1144905">
                  <a:moveTo>
                    <a:pt x="865822" y="0"/>
                  </a:moveTo>
                  <a:lnTo>
                    <a:pt x="0" y="11449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196262" y="2526030"/>
              <a:ext cx="865822" cy="1144905"/>
            </a:xfrm>
            <a:custGeom>
              <a:avLst/>
              <a:gdLst/>
              <a:ahLst/>
              <a:cxnLst/>
              <a:rect l="l" t="t" r="r" b="b"/>
              <a:pathLst>
                <a:path w="865822" h="1144905">
                  <a:moveTo>
                    <a:pt x="0" y="0"/>
                  </a:moveTo>
                  <a:lnTo>
                    <a:pt x="865822" y="11449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196262" y="2526030"/>
              <a:ext cx="2596515" cy="1144905"/>
            </a:xfrm>
            <a:custGeom>
              <a:avLst/>
              <a:gdLst/>
              <a:ahLst/>
              <a:cxnLst/>
              <a:rect l="l" t="t" r="r" b="b"/>
              <a:pathLst>
                <a:path w="2596515" h="1144905">
                  <a:moveTo>
                    <a:pt x="0" y="0"/>
                  </a:moveTo>
                  <a:lnTo>
                    <a:pt x="2596515" y="11449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4963478" y="4611052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28348" y="4611052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95912" y="3467100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94170" y="4611052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559992" y="4611052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27558" y="3467100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425815" y="4611052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291638" y="4611052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858250" y="3467100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059352" y="4611052"/>
              <a:ext cx="601980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925175" y="4611052"/>
              <a:ext cx="601980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589895" y="3467100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776210" y="2323148"/>
              <a:ext cx="840105" cy="406718"/>
            </a:xfrm>
            <a:prstGeom prst="roundRect">
              <a:avLst>
                <a:gd name="adj" fmla="val 18735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079396" y="47491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45218" y="47491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511831" y="360521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11041" y="47491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75911" y="47491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43476" y="360521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41733" y="47491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07556" y="47491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75121" y="360521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169485" y="4749165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45 47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035308" y="4749165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50 52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705813" y="360521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01512" y="2461260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18 23 33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25917" y="278368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又上溢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0" name="Rectangle 7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511" y="6004084"/>
              <a:ext cx="56823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图上的根 18 23 33 已经有 3 个关键词，它同样要分裂，见下一页。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46354" cy="909257"/>
            <a:chOff x="520446" y="342900"/>
            <a:chExt cx="52463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565" y="407194"/>
              <a:ext cx="2170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树的查找与插入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463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 续：根结点分裂，树长高一层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064219" cy="264033"/>
            <a:chOff x="526542" y="1545907"/>
            <a:chExt cx="906421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064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根有 3 个关键词 18 23 33，提升 ⌈3/2⌉ = 第 2 个即 23。根没有父结点，所以新建一个只含 23 的结点作为新根。</a:t>
              </a:r>
            </a:p>
          </p:txBody>
        </p:sp>
      </p:grpSp>
      <p:grpSp>
        <p:nvGrpSpPr>
          <p:cNvPr id="53" name="c1-tree-1"/>
          <p:cNvGrpSpPr/>
          <p:nvPr/>
        </p:nvGrpSpPr>
        <p:grpSpPr>
          <a:xfrm>
            <a:off x="1043940" y="2054542"/>
            <a:ext cx="10192702" cy="2228851"/>
            <a:chOff x="1043940" y="2054542"/>
            <a:chExt cx="10192702" cy="2228851"/>
          </a:xfrm>
        </p:grpSpPr>
        <p:sp>
          <p:nvSpPr>
            <p:cNvPr id="9" name="Freeform 9"/>
            <p:cNvSpPr/>
            <p:nvPr/>
          </p:nvSpPr>
          <p:spPr>
            <a:xfrm>
              <a:off x="1228725" y="3479482"/>
              <a:ext cx="695325" cy="620077"/>
            </a:xfrm>
            <a:custGeom>
              <a:avLst/>
              <a:gdLst/>
              <a:ahLst/>
              <a:cxnLst/>
              <a:rect l="l" t="t" r="r" b="b"/>
              <a:pathLst>
                <a:path w="695325" h="620077">
                  <a:moveTo>
                    <a:pt x="695325" y="0"/>
                  </a:moveTo>
                  <a:lnTo>
                    <a:pt x="0" y="6200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24050" y="3479482"/>
              <a:ext cx="695325" cy="620077"/>
            </a:xfrm>
            <a:custGeom>
              <a:avLst/>
              <a:gdLst/>
              <a:ahLst/>
              <a:cxnLst/>
              <a:rect l="l" t="t" r="r" b="b"/>
              <a:pathLst>
                <a:path w="695325" h="620077">
                  <a:moveTo>
                    <a:pt x="0" y="0"/>
                  </a:moveTo>
                  <a:lnTo>
                    <a:pt x="695325" y="6200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010025" y="3479482"/>
              <a:ext cx="695325" cy="620077"/>
            </a:xfrm>
            <a:custGeom>
              <a:avLst/>
              <a:gdLst/>
              <a:ahLst/>
              <a:cxnLst/>
              <a:rect l="l" t="t" r="r" b="b"/>
              <a:pathLst>
                <a:path w="695325" h="620077">
                  <a:moveTo>
                    <a:pt x="695325" y="0"/>
                  </a:moveTo>
                  <a:lnTo>
                    <a:pt x="0" y="6200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705350" y="3479482"/>
              <a:ext cx="695325" cy="620077"/>
            </a:xfrm>
            <a:custGeom>
              <a:avLst/>
              <a:gdLst/>
              <a:ahLst/>
              <a:cxnLst/>
              <a:rect l="l" t="t" r="r" b="b"/>
              <a:pathLst>
                <a:path w="695325" h="620077">
                  <a:moveTo>
                    <a:pt x="0" y="0"/>
                  </a:moveTo>
                  <a:lnTo>
                    <a:pt x="695325" y="6200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924050" y="2859405"/>
              <a:ext cx="1390650" cy="620078"/>
            </a:xfrm>
            <a:custGeom>
              <a:avLst/>
              <a:gdLst/>
              <a:ahLst/>
              <a:cxnLst/>
              <a:rect l="l" t="t" r="r" b="b"/>
              <a:pathLst>
                <a:path w="1390650" h="620078">
                  <a:moveTo>
                    <a:pt x="1390650" y="0"/>
                  </a:moveTo>
                  <a:lnTo>
                    <a:pt x="0" y="6200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14700" y="2859405"/>
              <a:ext cx="1390650" cy="620078"/>
            </a:xfrm>
            <a:custGeom>
              <a:avLst/>
              <a:gdLst/>
              <a:ahLst/>
              <a:cxnLst/>
              <a:rect l="l" t="t" r="r" b="b"/>
              <a:pathLst>
                <a:path w="1390650" h="620078">
                  <a:moveTo>
                    <a:pt x="0" y="0"/>
                  </a:moveTo>
                  <a:lnTo>
                    <a:pt x="1390650" y="6200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791325" y="3479482"/>
              <a:ext cx="695325" cy="620077"/>
            </a:xfrm>
            <a:custGeom>
              <a:avLst/>
              <a:gdLst/>
              <a:ahLst/>
              <a:cxnLst/>
              <a:rect l="l" t="t" r="r" b="b"/>
              <a:pathLst>
                <a:path w="695325" h="620077">
                  <a:moveTo>
                    <a:pt x="695325" y="0"/>
                  </a:moveTo>
                  <a:lnTo>
                    <a:pt x="0" y="6200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486650" y="3479482"/>
              <a:ext cx="695325" cy="620077"/>
            </a:xfrm>
            <a:custGeom>
              <a:avLst/>
              <a:gdLst/>
              <a:ahLst/>
              <a:cxnLst/>
              <a:rect l="l" t="t" r="r" b="b"/>
              <a:pathLst>
                <a:path w="695325" h="620077">
                  <a:moveTo>
                    <a:pt x="0" y="0"/>
                  </a:moveTo>
                  <a:lnTo>
                    <a:pt x="695325" y="6200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9572625" y="3479482"/>
              <a:ext cx="695325" cy="620077"/>
            </a:xfrm>
            <a:custGeom>
              <a:avLst/>
              <a:gdLst/>
              <a:ahLst/>
              <a:cxnLst/>
              <a:rect l="l" t="t" r="r" b="b"/>
              <a:pathLst>
                <a:path w="695325" h="620077">
                  <a:moveTo>
                    <a:pt x="695325" y="0"/>
                  </a:moveTo>
                  <a:lnTo>
                    <a:pt x="0" y="6200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267950" y="3479482"/>
              <a:ext cx="695325" cy="620077"/>
            </a:xfrm>
            <a:custGeom>
              <a:avLst/>
              <a:gdLst/>
              <a:ahLst/>
              <a:cxnLst/>
              <a:rect l="l" t="t" r="r" b="b"/>
              <a:pathLst>
                <a:path w="695325" h="620077">
                  <a:moveTo>
                    <a:pt x="0" y="0"/>
                  </a:moveTo>
                  <a:lnTo>
                    <a:pt x="695325" y="6200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7486650" y="2859405"/>
              <a:ext cx="1390650" cy="620078"/>
            </a:xfrm>
            <a:custGeom>
              <a:avLst/>
              <a:gdLst/>
              <a:ahLst/>
              <a:cxnLst/>
              <a:rect l="l" t="t" r="r" b="b"/>
              <a:pathLst>
                <a:path w="1390650" h="620078">
                  <a:moveTo>
                    <a:pt x="1390650" y="0"/>
                  </a:moveTo>
                  <a:lnTo>
                    <a:pt x="0" y="6200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877300" y="2859405"/>
              <a:ext cx="1390650" cy="620078"/>
            </a:xfrm>
            <a:custGeom>
              <a:avLst/>
              <a:gdLst/>
              <a:ahLst/>
              <a:cxnLst/>
              <a:rect l="l" t="t" r="r" b="b"/>
              <a:pathLst>
                <a:path w="1390650" h="620078">
                  <a:moveTo>
                    <a:pt x="0" y="0"/>
                  </a:moveTo>
                  <a:lnTo>
                    <a:pt x="1390650" y="6200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314700" y="2238375"/>
              <a:ext cx="2781300" cy="621030"/>
            </a:xfrm>
            <a:custGeom>
              <a:avLst/>
              <a:gdLst/>
              <a:ahLst/>
              <a:cxnLst/>
              <a:rect l="l" t="t" r="r" b="b"/>
              <a:pathLst>
                <a:path w="2781300" h="621030">
                  <a:moveTo>
                    <a:pt x="2781300" y="0"/>
                  </a:moveTo>
                  <a:lnTo>
                    <a:pt x="0" y="6210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096000" y="2238375"/>
              <a:ext cx="2781300" cy="621030"/>
            </a:xfrm>
            <a:custGeom>
              <a:avLst/>
              <a:gdLst/>
              <a:ahLst/>
              <a:cxnLst/>
              <a:rect l="l" t="t" r="r" b="b"/>
              <a:pathLst>
                <a:path w="2781300" h="621030">
                  <a:moveTo>
                    <a:pt x="0" y="0"/>
                  </a:moveTo>
                  <a:lnTo>
                    <a:pt x="2781300" y="6210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43940" y="3914775"/>
              <a:ext cx="368618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34590" y="3914775"/>
              <a:ext cx="368618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739265" y="3294698"/>
              <a:ext cx="368618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825240" y="3914775"/>
              <a:ext cx="368618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215890" y="3914775"/>
              <a:ext cx="368618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0565" y="3294698"/>
              <a:ext cx="368618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129915" y="2674620"/>
              <a:ext cx="368618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06540" y="3914775"/>
              <a:ext cx="368618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997190" y="3914775"/>
              <a:ext cx="368618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301865" y="3294698"/>
              <a:ext cx="368618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300210" y="3914775"/>
              <a:ext cx="545782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690860" y="3914775"/>
              <a:ext cx="545782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083165" y="3294698"/>
              <a:ext cx="368618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692515" y="2674620"/>
              <a:ext cx="368618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911215" y="2054542"/>
              <a:ext cx="368618" cy="368618"/>
            </a:xfrm>
            <a:prstGeom prst="roundRect">
              <a:avLst>
                <a:gd name="adj" fmla="val 2067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53994" y="404336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44644" y="404336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49319" y="342328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35294" y="404336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325944" y="404336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30619" y="342328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239969" y="280320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16594" y="404336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07244" y="404336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11919" y="342328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08843" y="4043362"/>
              <a:ext cx="327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45 47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799493" y="4043362"/>
              <a:ext cx="327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50 52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93219" y="342328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802569" y="280320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21269" y="218313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  <p:grpSp>
        <p:nvGrpSpPr>
          <p:cNvPr id="62" name="c1-kv-2"/>
          <p:cNvGrpSpPr/>
          <p:nvPr/>
        </p:nvGrpSpPr>
        <p:grpSpPr>
          <a:xfrm>
            <a:off x="526542" y="4601528"/>
            <a:ext cx="11132058" cy="1048893"/>
            <a:chOff x="526542" y="4601528"/>
            <a:chExt cx="11132058" cy="1048893"/>
          </a:xfrm>
        </p:grpSpPr>
        <p:sp>
          <p:nvSpPr>
            <p:cNvPr id="54" name="TextBox 54"/>
            <p:cNvSpPr txBox="1"/>
            <p:nvPr/>
          </p:nvSpPr>
          <p:spPr>
            <a:xfrm>
              <a:off x="526542" y="460152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树高变化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488567" y="4601528"/>
              <a:ext cx="40664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插入前 3 层（根、中间层、最底层），插入后 4 层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488823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6542" y="499395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新根特点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488567" y="4993958"/>
              <a:ext cx="4239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1 个关键词、2 个孩子，符合“根至少 2 个孩子”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528066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6542" y="538638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叶结点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488567" y="538638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仍然全部在同一层，平衡性没有被破坏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3" name="Rectangle 6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892" y="6028373"/>
              <a:ext cx="8355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树唯一长高的方式是根分裂。这保证了任何时刻所有叶结点都在同一层，不需要旋转之类的额外调整。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485388" cy="2997517"/>
            <a:chOff x="667512" y="1835468"/>
            <a:chExt cx="348538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3212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树的删除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换、借、合并三步，顺序固定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真正的删除只发生在最底层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下溢先借后合并，都要经父结点中转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合并可能让整棵树降一层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5261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67" y="407194"/>
              <a:ext cx="171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树的删除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删除的三步：换、借、合并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757916" cy="293370"/>
            <a:chOff x="525780" y="1548765"/>
            <a:chExt cx="1075791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757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删除比插入麻烦，因为一个结点的关键词数有下限。下面三步按固定顺序执行。图里每个菱形向右是“是”，向下是“否”。</a:t>
              </a:r>
            </a:p>
          </p:txBody>
        </p:sp>
      </p:grpSp>
      <p:grpSp>
        <p:nvGrpSpPr>
          <p:cNvPr id="43" name="c1-flow-1"/>
          <p:cNvGrpSpPr/>
          <p:nvPr/>
        </p:nvGrpSpPr>
        <p:grpSpPr>
          <a:xfrm>
            <a:off x="707708" y="2176462"/>
            <a:ext cx="4629150" cy="3898583"/>
            <a:chOff x="707708" y="2176462"/>
            <a:chExt cx="4629150" cy="3898583"/>
          </a:xfrm>
        </p:grpSpPr>
        <p:sp>
          <p:nvSpPr>
            <p:cNvPr id="9" name="Freeform 9"/>
            <p:cNvSpPr/>
            <p:nvPr/>
          </p:nvSpPr>
          <p:spPr>
            <a:xfrm>
              <a:off x="1777365" y="2601278"/>
              <a:ext cx="9525" cy="257175"/>
            </a:xfrm>
            <a:custGeom>
              <a:avLst/>
              <a:gdLst/>
              <a:ahLst/>
              <a:cxnLst/>
              <a:rect l="l" t="t" r="r" b="b"/>
              <a:pathLst>
                <a:path w="952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24978" y="28584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847975" y="3257550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91815" y="32051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777365" y="3469958"/>
              <a:ext cx="2488882" cy="338138"/>
            </a:xfrm>
            <a:custGeom>
              <a:avLst/>
              <a:gdLst/>
              <a:ahLst/>
              <a:cxnLst/>
              <a:rect l="l" t="t" r="r" b="b"/>
              <a:pathLst>
                <a:path w="2488882" h="338138">
                  <a:moveTo>
                    <a:pt x="2488882" y="0"/>
                  </a:moveTo>
                  <a:lnTo>
                    <a:pt x="2488882" y="221933"/>
                  </a:lnTo>
                  <a:lnTo>
                    <a:pt x="0" y="221933"/>
                  </a:lnTo>
                  <a:lnTo>
                    <a:pt x="0" y="3381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724978" y="38080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777365" y="3550920"/>
              <a:ext cx="9525" cy="257175"/>
            </a:xfrm>
            <a:custGeom>
              <a:avLst/>
              <a:gdLst/>
              <a:ahLst/>
              <a:cxnLst/>
              <a:rect l="l" t="t" r="r" b="b"/>
              <a:pathLst>
                <a:path w="952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724978" y="38080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777365" y="4338638"/>
              <a:ext cx="9525" cy="256222"/>
            </a:xfrm>
            <a:custGeom>
              <a:avLst/>
              <a:gdLst/>
              <a:ahLst/>
              <a:cxnLst/>
              <a:rect l="l" t="t" r="r" b="b"/>
              <a:pathLst>
                <a:path w="9525" h="256222">
                  <a:moveTo>
                    <a:pt x="0" y="0"/>
                  </a:moveTo>
                  <a:lnTo>
                    <a:pt x="0" y="25622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724978" y="45948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847975" y="4993958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091815" y="49415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777365" y="5206365"/>
              <a:ext cx="2488882" cy="339090"/>
            </a:xfrm>
            <a:custGeom>
              <a:avLst/>
              <a:gdLst/>
              <a:ahLst/>
              <a:cxnLst/>
              <a:rect l="l" t="t" r="r" b="b"/>
              <a:pathLst>
                <a:path w="2488882" h="339090">
                  <a:moveTo>
                    <a:pt x="2488882" y="0"/>
                  </a:moveTo>
                  <a:lnTo>
                    <a:pt x="2488882" y="221932"/>
                  </a:lnTo>
                  <a:lnTo>
                    <a:pt x="0" y="221932"/>
                  </a:lnTo>
                  <a:lnTo>
                    <a:pt x="0" y="3390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724978" y="55454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777365" y="5288280"/>
              <a:ext cx="9525" cy="257175"/>
            </a:xfrm>
            <a:custGeom>
              <a:avLst/>
              <a:gdLst/>
              <a:ahLst/>
              <a:cxnLst/>
              <a:rect l="l" t="t" r="r" b="b"/>
              <a:pathLst>
                <a:path w="952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724978" y="55454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07708" y="2176462"/>
              <a:ext cx="2140268" cy="4248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707708" y="2963228"/>
              <a:ext cx="2140268" cy="587692"/>
            </a:xfrm>
            <a:custGeom>
              <a:avLst/>
              <a:gdLst/>
              <a:ahLst/>
              <a:cxnLst/>
              <a:rect l="l" t="t" r="r" b="b"/>
              <a:pathLst>
                <a:path w="2140268" h="587692">
                  <a:moveTo>
                    <a:pt x="1069658" y="0"/>
                  </a:moveTo>
                  <a:lnTo>
                    <a:pt x="2140268" y="294322"/>
                  </a:lnTo>
                  <a:lnTo>
                    <a:pt x="1069658" y="587692"/>
                  </a:lnTo>
                  <a:lnTo>
                    <a:pt x="0" y="294322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196590" y="3045142"/>
              <a:ext cx="2140268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07708" y="3912870"/>
              <a:ext cx="2140268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07708" y="4699635"/>
              <a:ext cx="2140268" cy="588645"/>
            </a:xfrm>
            <a:custGeom>
              <a:avLst/>
              <a:gdLst/>
              <a:ahLst/>
              <a:cxnLst/>
              <a:rect l="l" t="t" r="r" b="b"/>
              <a:pathLst>
                <a:path w="2140268" h="588645">
                  <a:moveTo>
                    <a:pt x="1069658" y="0"/>
                  </a:moveTo>
                  <a:lnTo>
                    <a:pt x="2140268" y="294322"/>
                  </a:lnTo>
                  <a:lnTo>
                    <a:pt x="1069658" y="588645"/>
                  </a:lnTo>
                  <a:lnTo>
                    <a:pt x="0" y="294322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196590" y="4781550"/>
              <a:ext cx="2140268" cy="424815"/>
            </a:xfrm>
            <a:prstGeom prst="roundRect">
              <a:avLst>
                <a:gd name="adj" fmla="val 22422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7708" y="5650230"/>
              <a:ext cx="2140268" cy="4248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264356" y="2305050"/>
              <a:ext cx="1026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查到 K 的位置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14095" y="3173730"/>
              <a:ext cx="11265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不在最底层？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94748" y="317373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与中根后继交换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14095" y="4041457"/>
              <a:ext cx="11265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在最底层删掉 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05865" y="491013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关键词数不够？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33204" y="4910138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先借，借不到就合并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09725" y="577881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907982" y="304133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946273" y="30680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907982" y="477774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946273" y="48044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52" name="c2-kv-1"/>
          <p:cNvGrpSpPr/>
          <p:nvPr/>
        </p:nvGrpSpPr>
        <p:grpSpPr>
          <a:xfrm>
            <a:off x="5808726" y="1977866"/>
            <a:ext cx="5849874" cy="1925574"/>
            <a:chOff x="5808726" y="1977866"/>
            <a:chExt cx="5849874" cy="1925574"/>
          </a:xfrm>
        </p:grpSpPr>
        <p:sp>
          <p:nvSpPr>
            <p:cNvPr id="44" name="TextBox 44"/>
            <p:cNvSpPr txBox="1"/>
            <p:nvPr/>
          </p:nvSpPr>
          <p:spPr>
            <a:xfrm>
              <a:off x="5808726" y="197786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31661" y="1977866"/>
              <a:ext cx="4874641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不在最底层时，把它和“右子树中最小的关键词”交换，再去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最底层删。真正的删除只发生在最底层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255174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808726" y="266747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31661" y="2667476"/>
              <a:ext cx="4766437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删完后关键词数低于 ⌈m/2⌉−1（下溢）时，从兄弟结点借一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个。不是直接搬，而是经父结点中转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32413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808726" y="33570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31661" y="3357086"/>
              <a:ext cx="48836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兄弟也只剩下限那么多，借不到，就把两个兄弟连同父结点里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夹在中间的那个关键词并成一个结点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5815965" y="4032885"/>
            <a:ext cx="5842635" cy="756285"/>
            <a:chOff x="5815965" y="4032885"/>
            <a:chExt cx="5842635" cy="756285"/>
          </a:xfrm>
        </p:grpSpPr>
        <p:sp>
          <p:nvSpPr>
            <p:cNvPr id="53" name="Rectangle 53"/>
            <p:cNvSpPr/>
            <p:nvPr/>
          </p:nvSpPr>
          <p:spPr>
            <a:xfrm>
              <a:off x="5815965" y="4032885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020753" y="4311017"/>
              <a:ext cx="200023" cy="200023"/>
              <a:chOff x="6020753" y="4311017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020753" y="43110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154103" y="43776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323076" y="4180046"/>
              <a:ext cx="490169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借和合并的顺序都是“左顾右盼”：先看左兄弟，左兄弟不行再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看右兄弟。</a:t>
              </a:r>
            </a:p>
          </p:txBody>
        </p:sp>
      </p:grpSp>
      <p:grpSp>
        <p:nvGrpSpPr>
          <p:cNvPr id="65" name="c2-callout-3"/>
          <p:cNvGrpSpPr/>
          <p:nvPr/>
        </p:nvGrpSpPr>
        <p:grpSpPr>
          <a:xfrm>
            <a:off x="5815965" y="4973955"/>
            <a:ext cx="5842635" cy="1322070"/>
            <a:chOff x="5815965" y="4973955"/>
            <a:chExt cx="5842635" cy="1322070"/>
          </a:xfrm>
        </p:grpSpPr>
        <p:sp>
          <p:nvSpPr>
            <p:cNvPr id="59" name="Rectangle 59"/>
            <p:cNvSpPr/>
            <p:nvPr/>
          </p:nvSpPr>
          <p:spPr>
            <a:xfrm>
              <a:off x="5815965" y="4973955"/>
              <a:ext cx="5842635" cy="1322070"/>
            </a:xfrm>
            <a:prstGeom prst="roundRect">
              <a:avLst>
                <a:gd name="adj" fmla="val 864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008694" y="5532238"/>
              <a:ext cx="224134" cy="192560"/>
              <a:chOff x="6008694" y="5532238"/>
              <a:chExt cx="224134" cy="19256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120765" y="560260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008694" y="553223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120765" y="56803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323076" y="5404961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合并会让父结点少一个关键词，父结点可能因此下溢，于是继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续借或合并，一直可能传到根。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5261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67" y="407194"/>
              <a:ext cx="171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树的删除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换：真正的删除只发生在最底层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373618" cy="264033"/>
            <a:chOff x="526542" y="1545907"/>
            <a:chExt cx="837361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373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最底层结点没有孩子，删掉一个关键词不会留下无人认领的子树。所以先把要删的关键词换到最底层去。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28812"/>
            <a:ext cx="5410200" cy="1803082"/>
            <a:chOff x="533400" y="1928812"/>
            <a:chExt cx="5410200" cy="180308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803082"/>
            </a:xfrm>
            <a:prstGeom prst="roundRect">
              <a:avLst>
                <a:gd name="adj" fmla="val 73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53638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2586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与“右子树中最小的关键词”交换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46685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K 右边的指针走下去，一路取最左的孩子，直到最底层，那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里的第一个关键词就是 K 的中根后继。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308991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3033712"/>
              <a:ext cx="36875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交换后 K 落到最底层，再按最底层的删法删掉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38994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33375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中根后继一定在最底层，所以这一步只做一次</a:t>
              </a:r>
            </a:p>
          </p:txBody>
        </p:sp>
      </p:grpSp>
      <p:grpSp>
        <p:nvGrpSpPr>
          <p:cNvPr id="48" name="c1-cells-2"/>
          <p:cNvGrpSpPr/>
          <p:nvPr/>
        </p:nvGrpSpPr>
        <p:grpSpPr>
          <a:xfrm>
            <a:off x="528447" y="3901440"/>
            <a:ext cx="2171890" cy="1793558"/>
            <a:chOff x="528447" y="3901440"/>
            <a:chExt cx="2171890" cy="1793558"/>
          </a:xfrm>
        </p:grpSpPr>
        <p:sp>
          <p:nvSpPr>
            <p:cNvPr id="20" name="TextBox 20"/>
            <p:cNvSpPr txBox="1"/>
            <p:nvPr/>
          </p:nvSpPr>
          <p:spPr>
            <a:xfrm>
              <a:off x="528447" y="400859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上层前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40130" y="3901440"/>
              <a:ext cx="553402" cy="3352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97120" y="400859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283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593532" y="3901440"/>
              <a:ext cx="553402" cy="33528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50522" y="400859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353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146935" y="3901440"/>
              <a:ext cx="553402" cy="3352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03925" y="400859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8447" y="449437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上层后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40130" y="4387215"/>
              <a:ext cx="553402" cy="3352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97120" y="449437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593532" y="4387215"/>
              <a:ext cx="553402" cy="33528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750522" y="449437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367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146935" y="4387215"/>
              <a:ext cx="553402" cy="3352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03925" y="449437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8447" y="498109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下层前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40130" y="4873942"/>
              <a:ext cx="553402" cy="33528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97120" y="498109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367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593532" y="4873942"/>
              <a:ext cx="553402" cy="3352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750522" y="498109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379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146935" y="4873942"/>
              <a:ext cx="553402" cy="3352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303925" y="498109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8447" y="546687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下层后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40130" y="5359718"/>
              <a:ext cx="553402" cy="33528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97120" y="546687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353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593532" y="5359718"/>
              <a:ext cx="553402" cy="3352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750522" y="546687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379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146935" y="5359718"/>
              <a:ext cx="553402" cy="3352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303925" y="546687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389</a:t>
              </a:r>
            </a:p>
          </p:txBody>
        </p:sp>
      </p:grpSp>
      <p:grpSp>
        <p:nvGrpSpPr>
          <p:cNvPr id="61" name="c2-card-1"/>
          <p:cNvGrpSpPr/>
          <p:nvPr/>
        </p:nvGrpSpPr>
        <p:grpSpPr>
          <a:xfrm>
            <a:off x="6248400" y="1928812"/>
            <a:ext cx="5410200" cy="1803082"/>
            <a:chOff x="6248400" y="1928812"/>
            <a:chExt cx="5410200" cy="1803082"/>
          </a:xfrm>
        </p:grpSpPr>
        <p:sp>
          <p:nvSpPr>
            <p:cNvPr id="49" name="Rectangle 49"/>
            <p:cNvSpPr/>
            <p:nvPr/>
          </p:nvSpPr>
          <p:spPr>
            <a:xfrm>
              <a:off x="6248400" y="1928812"/>
              <a:ext cx="5410200" cy="1803082"/>
            </a:xfrm>
            <a:prstGeom prst="roundRect">
              <a:avLst>
                <a:gd name="adj" fmla="val 73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2062162"/>
              <a:ext cx="47625" cy="15363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3190" y="211550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68961" y="214836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14960" y="2150745"/>
              <a:ext cx="150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阶 B 树删除 353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66332" y="2476500"/>
              <a:ext cx="46085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353 在中间层。它右边的子树是 367 379 389，最小关键词是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367。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73190" y="302133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28868" y="305971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53987" y="3033712"/>
              <a:ext cx="3493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交换：上层写 367，下层的 367 位置写 353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473190" y="332136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28868" y="33607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53987" y="3333750"/>
              <a:ext cx="3802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删除：在最底层结点里删掉 353，剩下 379 389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248400" y="3901440"/>
            <a:ext cx="5410200" cy="1793558"/>
            <a:chOff x="6248400" y="3901440"/>
            <a:chExt cx="5410200" cy="1793558"/>
          </a:xfrm>
        </p:grpSpPr>
        <p:sp>
          <p:nvSpPr>
            <p:cNvPr id="62" name="Rectangle 62"/>
            <p:cNvSpPr/>
            <p:nvPr/>
          </p:nvSpPr>
          <p:spPr>
            <a:xfrm>
              <a:off x="6248400" y="3901440"/>
              <a:ext cx="5410200" cy="1793558"/>
            </a:xfrm>
            <a:prstGeom prst="roundRect">
              <a:avLst>
                <a:gd name="adj" fmla="val 74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57925" y="4034790"/>
              <a:ext cx="47625" cy="15268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73190" y="40881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65862" y="41209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38784" y="4123372"/>
              <a:ext cx="28824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28 页到此为止，还差一步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66332" y="4449128"/>
              <a:ext cx="5084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阶非根结点至少 3 个关键词，删完只剩 379 389，已经下溢。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481762" y="480536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637782" y="4749165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还要向左兄弟 307 313 331 347 借：353 下放，347 上去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1" name="Rectangle 7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892" y="6028373"/>
              <a:ext cx="103727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换的方向是固定的：取右子树的最小值（中根后继）。取左子树的最大值（中根前驱）在原理上同样成立，但要和课件保持一致。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5261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67" y="407194"/>
              <a:ext cx="171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树的删除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借：经父结点中转，还要带走一棵子树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947429" cy="264033"/>
            <a:chOff x="526542" y="1545907"/>
            <a:chExt cx="594742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9474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删除后关键词数小于 ⌈m/2⌉−1 就是下溢。这时先看兄弟结点有没有富余。</a:t>
              </a:r>
            </a:p>
          </p:txBody>
        </p:sp>
      </p:grpSp>
      <p:grpSp>
        <p:nvGrpSpPr>
          <p:cNvPr id="26" name="c1-card-1"/>
          <p:cNvGrpSpPr/>
          <p:nvPr/>
        </p:nvGrpSpPr>
        <p:grpSpPr>
          <a:xfrm>
            <a:off x="533400" y="1928812"/>
            <a:ext cx="5410200" cy="1845945"/>
            <a:chOff x="533400" y="1928812"/>
            <a:chExt cx="5410200" cy="184594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向左兄弟借最大的，向右兄弟借最小的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58190" y="246411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3868" y="25025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8987" y="2476500"/>
              <a:ext cx="4311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优先看左兄弟。它的关键词数大于 ⌈m/2⌉−1 才借得出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58190" y="276415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3868" y="28025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8987" y="2776538"/>
              <a:ext cx="41209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父结点中夹在两者之间的关键词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下放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到下溢的结点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58190" y="306419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3868" y="31035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8987" y="3076575"/>
              <a:ext cx="4411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左兄弟的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最大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关键词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上升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到父结点，填上刚才的位置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58190" y="336518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3868" y="340356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8987" y="3376612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左兄弟借不出时，改向右兄弟借最小的，方向对称</a:t>
              </a:r>
            </a:p>
          </p:txBody>
        </p:sp>
      </p:grpSp>
      <p:grpSp>
        <p:nvGrpSpPr>
          <p:cNvPr id="57" name="c1-cells-2"/>
          <p:cNvGrpSpPr/>
          <p:nvPr/>
        </p:nvGrpSpPr>
        <p:grpSpPr>
          <a:xfrm>
            <a:off x="528447" y="3944302"/>
            <a:ext cx="2466213" cy="1726883"/>
            <a:chOff x="528447" y="3944302"/>
            <a:chExt cx="2466213" cy="1726883"/>
          </a:xfrm>
        </p:grpSpPr>
        <p:sp>
          <p:nvSpPr>
            <p:cNvPr id="27" name="TextBox 27"/>
            <p:cNvSpPr txBox="1"/>
            <p:nvPr/>
          </p:nvSpPr>
          <p:spPr>
            <a:xfrm>
              <a:off x="528447" y="40428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借前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15352" y="3944302"/>
              <a:ext cx="520065" cy="3181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56150" y="404288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435418" y="3944302"/>
              <a:ext cx="520065" cy="3181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76215" y="404288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353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955482" y="3944302"/>
              <a:ext cx="520065" cy="3181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095327" y="404288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8447" y="45124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左弟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15352" y="4413885"/>
              <a:ext cx="520065" cy="3181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56150" y="451246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307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435418" y="4413885"/>
              <a:ext cx="520065" cy="3181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576215" y="451246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955482" y="4413885"/>
              <a:ext cx="520065" cy="3181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095327" y="451246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474595" y="4413885"/>
              <a:ext cx="520065" cy="3181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615392" y="451246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347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8447" y="49820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借后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15352" y="4883468"/>
              <a:ext cx="520065" cy="3181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56150" y="498205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435418" y="4883468"/>
              <a:ext cx="520065" cy="3181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576215" y="498205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347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955482" y="4883468"/>
              <a:ext cx="520065" cy="3181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095327" y="498205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8447" y="54516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本结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15352" y="5353050"/>
              <a:ext cx="520065" cy="3181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56150" y="545163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353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435418" y="5353050"/>
              <a:ext cx="520065" cy="3181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576215" y="545163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367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955482" y="5353050"/>
              <a:ext cx="520065" cy="3181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095327" y="545163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389</a:t>
              </a:r>
            </a:p>
          </p:txBody>
        </p:sp>
      </p:grpSp>
      <p:grpSp>
        <p:nvGrpSpPr>
          <p:cNvPr id="66" name="c2-card-1"/>
          <p:cNvGrpSpPr/>
          <p:nvPr/>
        </p:nvGrpSpPr>
        <p:grpSpPr>
          <a:xfrm>
            <a:off x="6248400" y="1928812"/>
            <a:ext cx="5410200" cy="1503045"/>
            <a:chOff x="6248400" y="1928812"/>
            <a:chExt cx="5410200" cy="1503045"/>
          </a:xfrm>
        </p:grpSpPr>
        <p:sp>
          <p:nvSpPr>
            <p:cNvPr id="58" name="Rectangle 58"/>
            <p:cNvSpPr/>
            <p:nvPr/>
          </p:nvSpPr>
          <p:spPr>
            <a:xfrm>
              <a:off x="6248400" y="1928812"/>
              <a:ext cx="5410200" cy="1503045"/>
            </a:xfrm>
            <a:prstGeom prst="roundRect">
              <a:avLst>
                <a:gd name="adj" fmla="val 8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57925" y="2062162"/>
              <a:ext cx="47625" cy="12363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73190" y="211550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68961" y="214836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914960" y="2150745"/>
              <a:ext cx="150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阶 B 树删除 379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66332" y="2476500"/>
              <a:ext cx="46342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367 379 389 删掉 379 后只剩 2 个，低于下限 3；左兄弟有 4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个，借得出。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481762" y="308991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37782" y="3033712"/>
              <a:ext cx="37847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353 下放、347 上去，本结点变成 353 367 389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6248400" y="3601402"/>
            <a:ext cx="5410200" cy="2069782"/>
            <a:chOff x="6248400" y="3601402"/>
            <a:chExt cx="5410200" cy="2069782"/>
          </a:xfrm>
        </p:grpSpPr>
        <p:sp>
          <p:nvSpPr>
            <p:cNvPr id="67" name="Rectangle 67"/>
            <p:cNvSpPr/>
            <p:nvPr/>
          </p:nvSpPr>
          <p:spPr>
            <a:xfrm>
              <a:off x="6248400" y="3601402"/>
              <a:ext cx="5410200" cy="2069782"/>
            </a:xfrm>
            <a:prstGeom prst="roundRect">
              <a:avLst>
                <a:gd name="adj" fmla="val 64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257925" y="3734752"/>
              <a:ext cx="47625" cy="18030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73190" y="378809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565862" y="38209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038784" y="38233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借位不在最底层时，子树要跟着走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66332" y="4149090"/>
              <a:ext cx="47457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向左兄弟借最大关键词时，必须把它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最右边那棵子树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一起借过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来，挂到本结点最左边；向右兄弟借则相反。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481762" y="47625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637782" y="470630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不带子树就会出现关键词数与孩子数对不上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67475" y="5003006"/>
              <a:ext cx="5092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31、43 页说的“稍后通过示例说明”，就是第 30、31 页那两道练习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7" name="Rectangle 7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0892" y="6028373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借完之后只有父结点里的一个关键词被换掉，父结点的关键词个数没变，所以借永远不会向上传播。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5261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67" y="407194"/>
              <a:ext cx="171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树的删除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合并：兄弟也借不出，就并成一个结点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400432" cy="264033"/>
            <a:chOff x="526542" y="1545907"/>
            <a:chExt cx="940043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4004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兄弟结点的关键词数正好等于 ⌈m/2⌉−1 时借不出来。这时把两个兄弟和父结点里夹在中间的关键词并成一个新结点。</a:t>
              </a:r>
            </a:p>
          </p:txBody>
        </p:sp>
      </p:grpSp>
      <p:grpSp>
        <p:nvGrpSpPr>
          <p:cNvPr id="26" name="c1-card-1"/>
          <p:cNvGrpSpPr/>
          <p:nvPr/>
        </p:nvGrpSpPr>
        <p:grpSpPr>
          <a:xfrm>
            <a:off x="533400" y="1928812"/>
            <a:ext cx="5626418" cy="2103120"/>
            <a:chOff x="533400" y="1928812"/>
            <a:chExt cx="5626418" cy="210312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2103120"/>
            </a:xfrm>
            <a:prstGeom prst="roundRect">
              <a:avLst>
                <a:gd name="adj" fmla="val 63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83642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两个兄弟加一个父关键词，并成一个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58190" y="246411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3868" y="25025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8987" y="2476500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优先与左兄弟合并（左顾右盼），没有左兄弟才与右兄弟合并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58190" y="276415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3868" y="28025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8987" y="2776538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新结点 = 左兄弟的关键词 + 父结点里夹在中间的关键词 + 本结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点的关键词，按递增排好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58190" y="332136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3868" y="33607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8987" y="33337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父结点少一个关键词、少一个孩子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58190" y="3622357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3868" y="366074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8987" y="3633788"/>
              <a:ext cx="3866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父结点若因此下溢，对父结点继续“借”或“合并”</a:t>
              </a:r>
            </a:p>
          </p:txBody>
        </p:sp>
      </p:grpSp>
      <p:grpSp>
        <p:nvGrpSpPr>
          <p:cNvPr id="64" name="c1-cells-2"/>
          <p:cNvGrpSpPr/>
          <p:nvPr/>
        </p:nvGrpSpPr>
        <p:grpSpPr>
          <a:xfrm>
            <a:off x="528447" y="4201478"/>
            <a:ext cx="3303460" cy="2112644"/>
            <a:chOff x="528447" y="4201478"/>
            <a:chExt cx="3303460" cy="2112644"/>
          </a:xfrm>
        </p:grpSpPr>
        <p:sp>
          <p:nvSpPr>
            <p:cNvPr id="27" name="TextBox 27"/>
            <p:cNvSpPr txBox="1"/>
            <p:nvPr/>
          </p:nvSpPr>
          <p:spPr>
            <a:xfrm>
              <a:off x="528447" y="42914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父前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15352" y="4201478"/>
              <a:ext cx="485775" cy="3019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9957" y="429148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402080" y="4201478"/>
              <a:ext cx="485775" cy="3019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25732" y="429148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887855" y="4201478"/>
              <a:ext cx="485775" cy="301942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011507" y="429148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401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8447" y="47448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左弟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15352" y="4653915"/>
              <a:ext cx="485775" cy="3019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39957" y="474487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367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402080" y="4653915"/>
              <a:ext cx="485775" cy="3019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525732" y="474487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379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887855" y="4653915"/>
              <a:ext cx="485775" cy="3019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011507" y="474487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8447" y="51973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本结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15352" y="5107305"/>
              <a:ext cx="485775" cy="301942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39957" y="519731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419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402080" y="5107305"/>
              <a:ext cx="485775" cy="301942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525732" y="519731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439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8447" y="56497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父后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5352" y="5559742"/>
              <a:ext cx="485775" cy="3019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9957" y="564975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402080" y="5559742"/>
              <a:ext cx="485775" cy="3019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525732" y="564975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8447" y="61021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15352" y="6012180"/>
              <a:ext cx="485775" cy="3019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39957" y="610219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367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402080" y="6012180"/>
              <a:ext cx="485775" cy="3019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525732" y="610219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379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887855" y="6012180"/>
              <a:ext cx="485775" cy="3019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011507" y="610219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389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2374582" y="6012180"/>
              <a:ext cx="485775" cy="301942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498235" y="610219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401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860358" y="6012180"/>
              <a:ext cx="485775" cy="3019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984010" y="610219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419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3346132" y="6012180"/>
              <a:ext cx="485775" cy="3019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470737" y="610219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439</a:t>
              </a:r>
            </a:p>
          </p:txBody>
        </p:sp>
      </p:grpSp>
      <p:grpSp>
        <p:nvGrpSpPr>
          <p:cNvPr id="73" name="c2-card-1"/>
          <p:cNvGrpSpPr/>
          <p:nvPr/>
        </p:nvGrpSpPr>
        <p:grpSpPr>
          <a:xfrm>
            <a:off x="6464618" y="1928812"/>
            <a:ext cx="5193982" cy="1503045"/>
            <a:chOff x="6464618" y="1928812"/>
            <a:chExt cx="5193982" cy="1503045"/>
          </a:xfrm>
        </p:grpSpPr>
        <p:sp>
          <p:nvSpPr>
            <p:cNvPr id="65" name="Rectangle 65"/>
            <p:cNvSpPr/>
            <p:nvPr/>
          </p:nvSpPr>
          <p:spPr>
            <a:xfrm>
              <a:off x="6464618" y="1928812"/>
              <a:ext cx="5193982" cy="1503045"/>
            </a:xfrm>
            <a:prstGeom prst="roundRect">
              <a:avLst>
                <a:gd name="adj" fmla="val 8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74142" y="2062162"/>
              <a:ext cx="47625" cy="12363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689408" y="211550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86131" y="214836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31177" y="2150745"/>
              <a:ext cx="150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阶 B 树删除 431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82549" y="2476500"/>
              <a:ext cx="43685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419 431 439 删掉 431 后剩 2 个，下溢；左兄弟只有 3 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（下限），借不出。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697980" y="308991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53999" y="3033712"/>
              <a:ext cx="42286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合并后 3 + 1 + 2 =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 个关键词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，父结点变成 283 353</a:t>
              </a:r>
            </a:p>
          </p:txBody>
        </p:sp>
      </p:grpSp>
      <p:grpSp>
        <p:nvGrpSpPr>
          <p:cNvPr id="82" name="c2-card-2"/>
          <p:cNvGrpSpPr/>
          <p:nvPr/>
        </p:nvGrpSpPr>
        <p:grpSpPr>
          <a:xfrm>
            <a:off x="6464618" y="3601402"/>
            <a:ext cx="5193982" cy="1760220"/>
            <a:chOff x="6464618" y="3601402"/>
            <a:chExt cx="5193982" cy="1760220"/>
          </a:xfrm>
        </p:grpSpPr>
        <p:sp>
          <p:nvSpPr>
            <p:cNvPr id="74" name="Rectangle 74"/>
            <p:cNvSpPr/>
            <p:nvPr/>
          </p:nvSpPr>
          <p:spPr>
            <a:xfrm>
              <a:off x="6464618" y="3601402"/>
              <a:ext cx="5193982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474142" y="3734752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689408" y="3788092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752527" y="382095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为什么合并一定装得下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251317" y="382333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下限的两倍加一不超过上限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682549" y="4149090"/>
              <a:ext cx="453142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两边各 ⌈m/2⌉−1 个，加父结点下来的 1 个，合计 2⌈m/2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⌉−1 个：m 偶数时等于 m−1，m 奇数时等于 m−2，都不超过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m−1。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697980" y="501967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853999" y="496347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所以合并后的结点一定不会上溢</a:t>
              </a:r>
            </a:p>
          </p:txBody>
        </p:sp>
      </p:grpSp>
      <p:grpSp>
        <p:nvGrpSpPr>
          <p:cNvPr id="89" name="c2-callout-3"/>
          <p:cNvGrpSpPr/>
          <p:nvPr/>
        </p:nvGrpSpPr>
        <p:grpSpPr>
          <a:xfrm>
            <a:off x="6464618" y="5531168"/>
            <a:ext cx="5193982" cy="782955"/>
            <a:chOff x="6464618" y="5531168"/>
            <a:chExt cx="5193982" cy="782955"/>
          </a:xfrm>
        </p:grpSpPr>
        <p:sp>
          <p:nvSpPr>
            <p:cNvPr id="83" name="Rectangle 83"/>
            <p:cNvSpPr/>
            <p:nvPr/>
          </p:nvSpPr>
          <p:spPr>
            <a:xfrm>
              <a:off x="6464618" y="5531168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6657347" y="5818941"/>
              <a:ext cx="224134" cy="192560"/>
              <a:chOff x="6657347" y="5818941"/>
              <a:chExt cx="224134" cy="19256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6769418" y="588930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657347" y="581894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6769418" y="596709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6972110" y="5703570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合并让父结点变瘦，可能一路向上传播；根被并空时整棵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树减少一层。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49220" cy="909257"/>
            <a:chOff x="520446" y="342900"/>
            <a:chExt cx="52492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5261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67" y="407194"/>
              <a:ext cx="171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树的删除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492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例：5 阶 B 树删除 120，先换后借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394981" cy="264033"/>
            <a:chOff x="526542" y="1545907"/>
            <a:chExt cx="739498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394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 阶 B 树的非根结点至少 2 个关键词、至多 4 个。要删的 120 在中间层，得先换到最底层。</a:t>
              </a:r>
            </a:p>
          </p:txBody>
        </p:sp>
      </p:grpSp>
      <p:grpSp>
        <p:nvGrpSpPr>
          <p:cNvPr id="37" name="c1-tree-1"/>
          <p:cNvGrpSpPr/>
          <p:nvPr/>
        </p:nvGrpSpPr>
        <p:grpSpPr>
          <a:xfrm>
            <a:off x="1187768" y="2089785"/>
            <a:ext cx="9882188" cy="1968341"/>
            <a:chOff x="1187768" y="2089785"/>
            <a:chExt cx="9882188" cy="1968341"/>
          </a:xfrm>
        </p:grpSpPr>
        <p:sp>
          <p:nvSpPr>
            <p:cNvPr id="9" name="Freeform 9"/>
            <p:cNvSpPr/>
            <p:nvPr/>
          </p:nvSpPr>
          <p:spPr>
            <a:xfrm>
              <a:off x="1460182" y="2966085"/>
              <a:ext cx="1854518" cy="691515"/>
            </a:xfrm>
            <a:custGeom>
              <a:avLst/>
              <a:gdLst/>
              <a:ahLst/>
              <a:cxnLst/>
              <a:rect l="l" t="t" r="r" b="b"/>
              <a:pathLst>
                <a:path w="1854518" h="691515">
                  <a:moveTo>
                    <a:pt x="1854518" y="0"/>
                  </a:moveTo>
                  <a:lnTo>
                    <a:pt x="0" y="6915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314700" y="2966085"/>
              <a:ext cx="9525" cy="691515"/>
            </a:xfrm>
            <a:custGeom>
              <a:avLst/>
              <a:gdLst/>
              <a:ahLst/>
              <a:cxnLst/>
              <a:rect l="l" t="t" r="r" b="b"/>
              <a:pathLst>
                <a:path w="9525" h="691515">
                  <a:moveTo>
                    <a:pt x="0" y="0"/>
                  </a:moveTo>
                  <a:lnTo>
                    <a:pt x="0" y="6915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314700" y="2966085"/>
              <a:ext cx="1854518" cy="691515"/>
            </a:xfrm>
            <a:custGeom>
              <a:avLst/>
              <a:gdLst/>
              <a:ahLst/>
              <a:cxnLst/>
              <a:rect l="l" t="t" r="r" b="b"/>
              <a:pathLst>
                <a:path w="1854518" h="691515">
                  <a:moveTo>
                    <a:pt x="0" y="0"/>
                  </a:moveTo>
                  <a:lnTo>
                    <a:pt x="1854518" y="6915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022782" y="2966085"/>
              <a:ext cx="1854518" cy="691515"/>
            </a:xfrm>
            <a:custGeom>
              <a:avLst/>
              <a:gdLst/>
              <a:ahLst/>
              <a:cxnLst/>
              <a:rect l="l" t="t" r="r" b="b"/>
              <a:pathLst>
                <a:path w="1854518" h="691515">
                  <a:moveTo>
                    <a:pt x="1854518" y="0"/>
                  </a:moveTo>
                  <a:lnTo>
                    <a:pt x="0" y="6915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8877300" y="2966085"/>
              <a:ext cx="9525" cy="691515"/>
            </a:xfrm>
            <a:custGeom>
              <a:avLst/>
              <a:gdLst/>
              <a:ahLst/>
              <a:cxnLst/>
              <a:rect l="l" t="t" r="r" b="b"/>
              <a:pathLst>
                <a:path w="9525" h="691515">
                  <a:moveTo>
                    <a:pt x="0" y="0"/>
                  </a:moveTo>
                  <a:lnTo>
                    <a:pt x="0" y="6915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877300" y="2966085"/>
              <a:ext cx="1854518" cy="691515"/>
            </a:xfrm>
            <a:custGeom>
              <a:avLst/>
              <a:gdLst/>
              <a:ahLst/>
              <a:cxnLst/>
              <a:rect l="l" t="t" r="r" b="b"/>
              <a:pathLst>
                <a:path w="1854518" h="691515">
                  <a:moveTo>
                    <a:pt x="0" y="0"/>
                  </a:moveTo>
                  <a:lnTo>
                    <a:pt x="1854518" y="6915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314700" y="2274570"/>
              <a:ext cx="2781300" cy="691515"/>
            </a:xfrm>
            <a:custGeom>
              <a:avLst/>
              <a:gdLst/>
              <a:ahLst/>
              <a:cxnLst/>
              <a:rect l="l" t="t" r="r" b="b"/>
              <a:pathLst>
                <a:path w="2781300" h="691515">
                  <a:moveTo>
                    <a:pt x="2781300" y="0"/>
                  </a:moveTo>
                  <a:lnTo>
                    <a:pt x="0" y="6915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096000" y="2274570"/>
              <a:ext cx="2781300" cy="691515"/>
            </a:xfrm>
            <a:custGeom>
              <a:avLst/>
              <a:gdLst/>
              <a:ahLst/>
              <a:cxnLst/>
              <a:rect l="l" t="t" r="r" b="b"/>
              <a:pathLst>
                <a:path w="2781300" h="691515">
                  <a:moveTo>
                    <a:pt x="0" y="0"/>
                  </a:moveTo>
                  <a:lnTo>
                    <a:pt x="2781300" y="6915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87768" y="3473768"/>
              <a:ext cx="545782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042285" y="3473768"/>
              <a:ext cx="545782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761548" y="3473768"/>
              <a:ext cx="81534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042285" y="2781300"/>
              <a:ext cx="545782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549390" y="3473768"/>
              <a:ext cx="947738" cy="368618"/>
            </a:xfrm>
            <a:prstGeom prst="roundRect">
              <a:avLst>
                <a:gd name="adj" fmla="val 2067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538210" y="3473768"/>
              <a:ext cx="677228" cy="368618"/>
            </a:xfrm>
            <a:prstGeom prst="roundRect">
              <a:avLst>
                <a:gd name="adj" fmla="val 2067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392728" y="3473768"/>
              <a:ext cx="677228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538210" y="2781300"/>
              <a:ext cx="677228" cy="368618"/>
            </a:xfrm>
            <a:prstGeom prst="roundRect">
              <a:avLst>
                <a:gd name="adj" fmla="val 2067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892165" y="2089785"/>
              <a:ext cx="40767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96400" y="3601402"/>
              <a:ext cx="327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50918" y="3601402"/>
              <a:ext cx="327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35 43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81400" y="3601402"/>
              <a:ext cx="5756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81 95 100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0918" y="2909888"/>
              <a:ext cx="327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25 50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4996" y="3601402"/>
              <a:ext cx="7155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108 110 115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00003" y="3896201"/>
              <a:ext cx="4455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借出 118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43549" y="3601402"/>
              <a:ext cx="4675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134 146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98066" y="3601402"/>
              <a:ext cx="4675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156 177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43549" y="2909888"/>
              <a:ext cx="4675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118 150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46892" y="3204686"/>
              <a:ext cx="6608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原为 120 150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86284" y="2218372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103</a:t>
              </a:r>
            </a:p>
          </p:txBody>
        </p:sp>
      </p:grpSp>
      <p:grpSp>
        <p:nvGrpSpPr>
          <p:cNvPr id="61" name="c1-steps-2"/>
          <p:cNvGrpSpPr/>
          <p:nvPr/>
        </p:nvGrpSpPr>
        <p:grpSpPr>
          <a:xfrm>
            <a:off x="533400" y="4345305"/>
            <a:ext cx="11125200" cy="1358265"/>
            <a:chOff x="533400" y="4345305"/>
            <a:chExt cx="11125200" cy="1358265"/>
          </a:xfrm>
        </p:grpSpPr>
        <p:sp>
          <p:nvSpPr>
            <p:cNvPr id="38" name="Rectangle 38"/>
            <p:cNvSpPr/>
            <p:nvPr/>
          </p:nvSpPr>
          <p:spPr>
            <a:xfrm>
              <a:off x="533400" y="4345305"/>
              <a:ext cx="2566988" cy="1358265"/>
            </a:xfrm>
            <a:prstGeom prst="roundRect">
              <a:avLst>
                <a:gd name="adj" fmla="val 84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66750" y="44786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6883" y="45491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9892" y="488156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035" y="5167789"/>
              <a:ext cx="21308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 的右子树最小值是 134，交换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后上层写 134，下层写 120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3176588" y="493871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386138" y="4345305"/>
              <a:ext cx="2566988" cy="1358265"/>
            </a:xfrm>
            <a:prstGeom prst="roundRect">
              <a:avLst>
                <a:gd name="adj" fmla="val 84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3519488" y="44786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609621" y="45491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512629" y="488156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13772" y="5167789"/>
              <a:ext cx="216636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最底层结点 120 146 删掉 120，只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 146，低于下限 2，下溢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6029325" y="493871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38875" y="4345305"/>
              <a:ext cx="2566988" cy="1358265"/>
            </a:xfrm>
            <a:prstGeom prst="roundRect">
              <a:avLst>
                <a:gd name="adj" fmla="val 84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6372225" y="44786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62358" y="45491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65367" y="488156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66510" y="5167789"/>
              <a:ext cx="216636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左兄弟有 4 个，借得出：父结点的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134 下放，118 上去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8882062" y="493871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091612" y="4345305"/>
              <a:ext cx="2566988" cy="1358265"/>
            </a:xfrm>
            <a:prstGeom prst="roundRect">
              <a:avLst>
                <a:gd name="adj" fmla="val 84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9224962" y="44786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15096" y="45491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18104" y="488156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19248" y="5167789"/>
              <a:ext cx="170408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父结点变 118 150，孩子变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108 110 115 与 134 146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2" name="Rectangle 6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892" y="6028373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图画的是三步做完之后的样子。整个过程只动了父结点和它的两个孩子，没有向上传播。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77991" cy="909257"/>
            <a:chOff x="520446" y="342900"/>
            <a:chExt cx="58779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5261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67" y="407194"/>
              <a:ext cx="171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树的删除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779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例：接着删 150，合并两次，树降一层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637583" cy="264033"/>
            <a:chOff x="526542" y="1545907"/>
            <a:chExt cx="763758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637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在上一页的结果上继续删 150。这一次两个兄弟都只有下限那么多关键词，借不到，只能合并。</a:t>
              </a:r>
            </a:p>
          </p:txBody>
        </p:sp>
      </p:grpSp>
      <p:grpSp>
        <p:nvGrpSpPr>
          <p:cNvPr id="26" name="c1-tree-1"/>
          <p:cNvGrpSpPr/>
          <p:nvPr/>
        </p:nvGrpSpPr>
        <p:grpSpPr>
          <a:xfrm>
            <a:off x="1373505" y="2256472"/>
            <a:ext cx="9781222" cy="1368743"/>
            <a:chOff x="1373505" y="2256472"/>
            <a:chExt cx="9781222" cy="1368743"/>
          </a:xfrm>
        </p:grpSpPr>
        <p:sp>
          <p:nvSpPr>
            <p:cNvPr id="9" name="Freeform 9"/>
            <p:cNvSpPr/>
            <p:nvPr/>
          </p:nvSpPr>
          <p:spPr>
            <a:xfrm>
              <a:off x="1645920" y="2434590"/>
              <a:ext cx="4450080" cy="1012507"/>
            </a:xfrm>
            <a:custGeom>
              <a:avLst/>
              <a:gdLst/>
              <a:ahLst/>
              <a:cxnLst/>
              <a:rect l="l" t="t" r="r" b="b"/>
              <a:pathLst>
                <a:path w="4450080" h="1012507">
                  <a:moveTo>
                    <a:pt x="4450080" y="0"/>
                  </a:moveTo>
                  <a:lnTo>
                    <a:pt x="0" y="101250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70960" y="2434590"/>
              <a:ext cx="2225040" cy="1012507"/>
            </a:xfrm>
            <a:custGeom>
              <a:avLst/>
              <a:gdLst/>
              <a:ahLst/>
              <a:cxnLst/>
              <a:rect l="l" t="t" r="r" b="b"/>
              <a:pathLst>
                <a:path w="2225040" h="1012507">
                  <a:moveTo>
                    <a:pt x="2225040" y="0"/>
                  </a:moveTo>
                  <a:lnTo>
                    <a:pt x="0" y="101250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096000" y="2434590"/>
              <a:ext cx="9525" cy="1012507"/>
            </a:xfrm>
            <a:custGeom>
              <a:avLst/>
              <a:gdLst/>
              <a:ahLst/>
              <a:cxnLst/>
              <a:rect l="l" t="t" r="r" b="b"/>
              <a:pathLst>
                <a:path w="9525" h="1012507">
                  <a:moveTo>
                    <a:pt x="0" y="0"/>
                  </a:moveTo>
                  <a:lnTo>
                    <a:pt x="0" y="101250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096000" y="2434590"/>
              <a:ext cx="2225040" cy="1012507"/>
            </a:xfrm>
            <a:custGeom>
              <a:avLst/>
              <a:gdLst/>
              <a:ahLst/>
              <a:cxnLst/>
              <a:rect l="l" t="t" r="r" b="b"/>
              <a:pathLst>
                <a:path w="2225040" h="1012507">
                  <a:moveTo>
                    <a:pt x="0" y="0"/>
                  </a:moveTo>
                  <a:lnTo>
                    <a:pt x="2225040" y="101250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096000" y="2434590"/>
              <a:ext cx="4450080" cy="1012507"/>
            </a:xfrm>
            <a:custGeom>
              <a:avLst/>
              <a:gdLst/>
              <a:ahLst/>
              <a:cxnLst/>
              <a:rect l="l" t="t" r="r" b="b"/>
              <a:pathLst>
                <a:path w="4450080" h="1012507">
                  <a:moveTo>
                    <a:pt x="0" y="0"/>
                  </a:moveTo>
                  <a:lnTo>
                    <a:pt x="4450080" y="101250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373505" y="3268980"/>
              <a:ext cx="545782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598545" y="3268980"/>
              <a:ext cx="545782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688330" y="3268980"/>
              <a:ext cx="815340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47648" y="3268980"/>
              <a:ext cx="947738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937432" y="3268980"/>
              <a:ext cx="1217295" cy="356235"/>
            </a:xfrm>
            <a:prstGeom prst="roundRect">
              <a:avLst>
                <a:gd name="adj" fmla="val 2139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553075" y="2256472"/>
              <a:ext cx="1085850" cy="356235"/>
            </a:xfrm>
            <a:prstGeom prst="roundRect">
              <a:avLst>
                <a:gd name="adj" fmla="val 2139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82138" y="3390900"/>
              <a:ext cx="327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07178" y="3390900"/>
              <a:ext cx="327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35 43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08182" y="3390900"/>
              <a:ext cx="5756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81 95 100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63253" y="3390900"/>
              <a:ext cx="7155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108 110 115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64258" y="3390900"/>
              <a:ext cx="9636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134 146 156 177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84147" y="2378392"/>
              <a:ext cx="8237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25 50 103 118</a:t>
              </a:r>
            </a:p>
          </p:txBody>
        </p:sp>
      </p:grpSp>
      <p:grpSp>
        <p:nvGrpSpPr>
          <p:cNvPr id="50" name="c1-steps-2"/>
          <p:cNvGrpSpPr/>
          <p:nvPr/>
        </p:nvGrpSpPr>
        <p:grpSpPr>
          <a:xfrm>
            <a:off x="533400" y="4117658"/>
            <a:ext cx="11125200" cy="1512570"/>
            <a:chOff x="533400" y="4117658"/>
            <a:chExt cx="11125200" cy="1512570"/>
          </a:xfrm>
        </p:grpSpPr>
        <p:sp>
          <p:nvSpPr>
            <p:cNvPr id="27" name="Rectangle 27"/>
            <p:cNvSpPr/>
            <p:nvPr/>
          </p:nvSpPr>
          <p:spPr>
            <a:xfrm>
              <a:off x="533400" y="4117658"/>
              <a:ext cx="2566988" cy="1512570"/>
            </a:xfrm>
            <a:prstGeom prst="roundRect">
              <a:avLst>
                <a:gd name="adj" fmla="val 755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66750" y="42510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6883" y="43214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0273" y="46524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416" y="4926330"/>
              <a:ext cx="213093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 的右子树最小值是 156，交换后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在最底层删 150，剩 177，下溢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3176588" y="478821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386138" y="4117658"/>
              <a:ext cx="2566988" cy="1512570"/>
            </a:xfrm>
            <a:prstGeom prst="roundRect">
              <a:avLst>
                <a:gd name="adj" fmla="val 755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519488" y="42510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609621" y="43214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13010" y="46524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14154" y="4926330"/>
              <a:ext cx="2190940" cy="592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左兄弟 134 146 只有 2 个（下限），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借不到。两者连同父结点的 156 合并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134 146 156 177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029325" y="478821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38875" y="4117658"/>
              <a:ext cx="2566988" cy="1512570"/>
            </a:xfrm>
            <a:prstGeom prst="roundRect">
              <a:avLst>
                <a:gd name="adj" fmla="val 755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372225" y="42510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62358" y="43214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65748" y="46524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66891" y="4926330"/>
              <a:ext cx="2137600" cy="592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父结点只剩 118，下溢；它的左兄弟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 50 也只有 2 个，再合并，连同根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里的 103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8882062" y="478821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091612" y="4117658"/>
              <a:ext cx="2566988" cy="1512570"/>
            </a:xfrm>
            <a:prstGeom prst="roundRect">
              <a:avLst>
                <a:gd name="adj" fmla="val 755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9224962" y="42510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15096" y="43214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18486" y="46524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19628" y="4926330"/>
              <a:ext cx="21442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根被并空，新结点 25 50 103 118 成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为新根，树从 3 层变成 2 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1" name="Rectangle 5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1273" y="6039326"/>
              <a:ext cx="58540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树唯一变矮的方式是根被合并掉，和唯一长高的方式（根分裂）正好对称。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74442" cy="909257"/>
            <a:chOff x="520446" y="342900"/>
            <a:chExt cx="64744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5261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67" y="407194"/>
              <a:ext cx="171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树的删除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744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考研真题：删除 78 之后最右叶结点里是谁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462736" cy="264033"/>
            <a:chOff x="526542" y="1545907"/>
            <a:chExt cx="1046273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462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已知一棵 3 阶 B 树如下图。3 阶 B 树的非根结点最少包含 1 个关键词。删除关键字 78 后，新 B 树最右叶结点中的关键字是哪个。</a:t>
              </a:r>
            </a:p>
          </p:txBody>
        </p:sp>
      </p:grpSp>
      <p:grpSp>
        <p:nvGrpSpPr>
          <p:cNvPr id="36" name="c1-tree-1"/>
          <p:cNvGrpSpPr/>
          <p:nvPr/>
        </p:nvGrpSpPr>
        <p:grpSpPr>
          <a:xfrm>
            <a:off x="823912" y="2354580"/>
            <a:ext cx="5045393" cy="2987516"/>
            <a:chOff x="823912" y="2354580"/>
            <a:chExt cx="5045393" cy="2987516"/>
          </a:xfrm>
        </p:grpSpPr>
        <p:sp>
          <p:nvSpPr>
            <p:cNvPr id="9" name="Freeform 9"/>
            <p:cNvSpPr/>
            <p:nvPr/>
          </p:nvSpPr>
          <p:spPr>
            <a:xfrm>
              <a:off x="1002030" y="3740468"/>
              <a:ext cx="938212" cy="1207770"/>
            </a:xfrm>
            <a:custGeom>
              <a:avLst/>
              <a:gdLst/>
              <a:ahLst/>
              <a:cxnLst/>
              <a:rect l="l" t="t" r="r" b="b"/>
              <a:pathLst>
                <a:path w="938212" h="1207770">
                  <a:moveTo>
                    <a:pt x="938212" y="0"/>
                  </a:moveTo>
                  <a:lnTo>
                    <a:pt x="0" y="12077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40242" y="3740468"/>
              <a:ext cx="9525" cy="1207770"/>
            </a:xfrm>
            <a:custGeom>
              <a:avLst/>
              <a:gdLst/>
              <a:ahLst/>
              <a:cxnLst/>
              <a:rect l="l" t="t" r="r" b="b"/>
              <a:pathLst>
                <a:path w="9525" h="1207770">
                  <a:moveTo>
                    <a:pt x="0" y="0"/>
                  </a:moveTo>
                  <a:lnTo>
                    <a:pt x="0" y="12077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940242" y="3740468"/>
              <a:ext cx="937260" cy="1207770"/>
            </a:xfrm>
            <a:custGeom>
              <a:avLst/>
              <a:gdLst/>
              <a:ahLst/>
              <a:cxnLst/>
              <a:rect l="l" t="t" r="r" b="b"/>
              <a:pathLst>
                <a:path w="937260" h="1207770">
                  <a:moveTo>
                    <a:pt x="0" y="0"/>
                  </a:moveTo>
                  <a:lnTo>
                    <a:pt x="937260" y="12077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815715" y="3740468"/>
              <a:ext cx="937260" cy="1207770"/>
            </a:xfrm>
            <a:custGeom>
              <a:avLst/>
              <a:gdLst/>
              <a:ahLst/>
              <a:cxnLst/>
              <a:rect l="l" t="t" r="r" b="b"/>
              <a:pathLst>
                <a:path w="937260" h="1207770">
                  <a:moveTo>
                    <a:pt x="937260" y="0"/>
                  </a:moveTo>
                  <a:lnTo>
                    <a:pt x="0" y="12077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752975" y="3740468"/>
              <a:ext cx="9525" cy="1207770"/>
            </a:xfrm>
            <a:custGeom>
              <a:avLst/>
              <a:gdLst/>
              <a:ahLst/>
              <a:cxnLst/>
              <a:rect l="l" t="t" r="r" b="b"/>
              <a:pathLst>
                <a:path w="9525" h="1207770">
                  <a:moveTo>
                    <a:pt x="0" y="0"/>
                  </a:moveTo>
                  <a:lnTo>
                    <a:pt x="0" y="12077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752975" y="3740468"/>
              <a:ext cx="938212" cy="1207770"/>
            </a:xfrm>
            <a:custGeom>
              <a:avLst/>
              <a:gdLst/>
              <a:ahLst/>
              <a:cxnLst/>
              <a:rect l="l" t="t" r="r" b="b"/>
              <a:pathLst>
                <a:path w="938212" h="1207770">
                  <a:moveTo>
                    <a:pt x="0" y="0"/>
                  </a:moveTo>
                  <a:lnTo>
                    <a:pt x="938212" y="12077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940242" y="2532698"/>
              <a:ext cx="1406842" cy="1207770"/>
            </a:xfrm>
            <a:custGeom>
              <a:avLst/>
              <a:gdLst/>
              <a:ahLst/>
              <a:cxnLst/>
              <a:rect l="l" t="t" r="r" b="b"/>
              <a:pathLst>
                <a:path w="1406842" h="1207770">
                  <a:moveTo>
                    <a:pt x="1406842" y="0"/>
                  </a:moveTo>
                  <a:lnTo>
                    <a:pt x="0" y="12077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347085" y="2532698"/>
              <a:ext cx="1405890" cy="1207770"/>
            </a:xfrm>
            <a:custGeom>
              <a:avLst/>
              <a:gdLst/>
              <a:ahLst/>
              <a:cxnLst/>
              <a:rect l="l" t="t" r="r" b="b"/>
              <a:pathLst>
                <a:path w="1405890" h="1207770">
                  <a:moveTo>
                    <a:pt x="0" y="0"/>
                  </a:moveTo>
                  <a:lnTo>
                    <a:pt x="1405890" y="12077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23912" y="4770120"/>
              <a:ext cx="356235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762125" y="4770120"/>
              <a:ext cx="356235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699385" y="4770120"/>
              <a:ext cx="356235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666875" y="3562350"/>
              <a:ext cx="545782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637598" y="4770120"/>
              <a:ext cx="356235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80560" y="4770120"/>
              <a:ext cx="545782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513070" y="4770120"/>
              <a:ext cx="356235" cy="356235"/>
            </a:xfrm>
            <a:prstGeom prst="roundRect">
              <a:avLst>
                <a:gd name="adj" fmla="val 21390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480560" y="3562350"/>
              <a:ext cx="545782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168968" y="2354580"/>
              <a:ext cx="356235" cy="356235"/>
            </a:xfrm>
            <a:prstGeom prst="roundRect">
              <a:avLst>
                <a:gd name="adj" fmla="val 2139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7299" y="48920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65511" y="48920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02771" y="48920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76460" y="3684270"/>
              <a:ext cx="327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17 35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40984" y="48920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89193" y="4892040"/>
              <a:ext cx="327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60 62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16456" y="48920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76037" y="518017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89193" y="3684270"/>
              <a:ext cx="327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55 65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72354" y="24765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  <p:grpSp>
        <p:nvGrpSpPr>
          <p:cNvPr id="54" name="c2-steps-1"/>
          <p:cNvGrpSpPr/>
          <p:nvPr/>
        </p:nvGrpSpPr>
        <p:grpSpPr>
          <a:xfrm>
            <a:off x="6464618" y="1938338"/>
            <a:ext cx="4156100" cy="2149411"/>
            <a:chOff x="6464618" y="1938338"/>
            <a:chExt cx="4156100" cy="2149411"/>
          </a:xfrm>
        </p:grpSpPr>
        <p:sp>
          <p:nvSpPr>
            <p:cNvPr id="37" name="Rectangle 37"/>
            <p:cNvSpPr/>
            <p:nvPr/>
          </p:nvSpPr>
          <p:spPr>
            <a:xfrm>
              <a:off x="6597968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464618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8241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64618" y="24907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58241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64618" y="30441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8241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64618" y="35975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8241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77241" y="19683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78384" y="2223135"/>
              <a:ext cx="3579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 在最底层，直接删掉，该结点变空，低于下限 1，下溢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77241" y="252174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78384" y="2776538"/>
              <a:ext cx="3438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左兄弟 60 62 有 2 个关键词，借得出（右边没有兄弟）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77241" y="30751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中转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8384" y="3328988"/>
              <a:ext cx="37423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父结点里夹在两者之间的 65 下放，左兄弟的最大值 62 上升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77241" y="36275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78384" y="3882390"/>
              <a:ext cx="2441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父结点变成 55 62，最右叶结点变成 65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464618" y="4249102"/>
            <a:ext cx="5193982" cy="1406842"/>
            <a:chOff x="6464618" y="4249102"/>
            <a:chExt cx="5193982" cy="1406842"/>
          </a:xfrm>
        </p:grpSpPr>
        <p:sp>
          <p:nvSpPr>
            <p:cNvPr id="55" name="Rectangle 55"/>
            <p:cNvSpPr/>
            <p:nvPr/>
          </p:nvSpPr>
          <p:spPr>
            <a:xfrm>
              <a:off x="6464618" y="4249102"/>
              <a:ext cx="5193982" cy="1406842"/>
            </a:xfrm>
            <a:prstGeom prst="roundRect">
              <a:avLst>
                <a:gd name="adj" fmla="val 947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645592" y="44300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38264" y="44629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12520" y="4469606"/>
              <a:ext cx="21617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最右叶结点中的关键字是 65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39116" y="4786789"/>
              <a:ext cx="45524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删完后的树：根 45；中间层 17 35 与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55 62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；最底层 10、21、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37、47、60、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40259" y="5311140"/>
              <a:ext cx="4239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本页结果用 B 树模拟程序复算过，与源课件第 39 页给出的答案一致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2" name="Rectangle 6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1273" y="6039326"/>
              <a:ext cx="83270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常见错误是直接把 65 从父结点搬下来而不把 62 送上去，那样父结点会只剩 55 一个关键词却还有 3 个孩子。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80818" cy="909257"/>
            <a:chOff x="520446" y="342900"/>
            <a:chExt cx="60808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5261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67" y="407194"/>
              <a:ext cx="171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树的删除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808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练习：3 阶 B 树删除 50，借不到就合并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640971" cy="308039"/>
            <a:chOff x="525399" y="1550194"/>
            <a:chExt cx="864097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6409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 在根结点里，先换到最底层。换下去以后那个结点变空，而它的兄弟也只有 1 个关键词。</a:t>
              </a:r>
            </a:p>
          </p:txBody>
        </p:sp>
      </p:grpSp>
      <p:grpSp>
        <p:nvGrpSpPr>
          <p:cNvPr id="32" name="c1-tree-1"/>
          <p:cNvGrpSpPr/>
          <p:nvPr/>
        </p:nvGrpSpPr>
        <p:grpSpPr>
          <a:xfrm>
            <a:off x="864870" y="2170748"/>
            <a:ext cx="4747260" cy="2069782"/>
            <a:chOff x="864870" y="2170748"/>
            <a:chExt cx="4747260" cy="2069782"/>
          </a:xfrm>
        </p:grpSpPr>
        <p:sp>
          <p:nvSpPr>
            <p:cNvPr id="9" name="Freeform 9"/>
            <p:cNvSpPr/>
            <p:nvPr/>
          </p:nvSpPr>
          <p:spPr>
            <a:xfrm>
              <a:off x="1074420" y="3206115"/>
              <a:ext cx="541020" cy="824865"/>
            </a:xfrm>
            <a:custGeom>
              <a:avLst/>
              <a:gdLst/>
              <a:ahLst/>
              <a:cxnLst/>
              <a:rect l="l" t="t" r="r" b="b"/>
              <a:pathLst>
                <a:path w="541020" h="824865">
                  <a:moveTo>
                    <a:pt x="541020" y="0"/>
                  </a:moveTo>
                  <a:lnTo>
                    <a:pt x="0" y="8248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15440" y="3206115"/>
              <a:ext cx="541020" cy="824865"/>
            </a:xfrm>
            <a:custGeom>
              <a:avLst/>
              <a:gdLst/>
              <a:ahLst/>
              <a:cxnLst/>
              <a:rect l="l" t="t" r="r" b="b"/>
              <a:pathLst>
                <a:path w="541020" h="824865">
                  <a:moveTo>
                    <a:pt x="0" y="0"/>
                  </a:moveTo>
                  <a:lnTo>
                    <a:pt x="541020" y="8248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238500" y="3206115"/>
              <a:ext cx="1082040" cy="824865"/>
            </a:xfrm>
            <a:custGeom>
              <a:avLst/>
              <a:gdLst/>
              <a:ahLst/>
              <a:cxnLst/>
              <a:rect l="l" t="t" r="r" b="b"/>
              <a:pathLst>
                <a:path w="1082040" h="824865">
                  <a:moveTo>
                    <a:pt x="1082040" y="0"/>
                  </a:moveTo>
                  <a:lnTo>
                    <a:pt x="0" y="8248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320540" y="3206115"/>
              <a:ext cx="9525" cy="824865"/>
            </a:xfrm>
            <a:custGeom>
              <a:avLst/>
              <a:gdLst/>
              <a:ahLst/>
              <a:cxnLst/>
              <a:rect l="l" t="t" r="r" b="b"/>
              <a:pathLst>
                <a:path w="9525" h="824865">
                  <a:moveTo>
                    <a:pt x="0" y="0"/>
                  </a:moveTo>
                  <a:lnTo>
                    <a:pt x="0" y="8248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320540" y="3206115"/>
              <a:ext cx="1082040" cy="824865"/>
            </a:xfrm>
            <a:custGeom>
              <a:avLst/>
              <a:gdLst/>
              <a:ahLst/>
              <a:cxnLst/>
              <a:rect l="l" t="t" r="r" b="b"/>
              <a:pathLst>
                <a:path w="1082040" h="824865">
                  <a:moveTo>
                    <a:pt x="0" y="0"/>
                  </a:moveTo>
                  <a:lnTo>
                    <a:pt x="1082040" y="8248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15440" y="2380298"/>
              <a:ext cx="1623060" cy="825818"/>
            </a:xfrm>
            <a:custGeom>
              <a:avLst/>
              <a:gdLst/>
              <a:ahLst/>
              <a:cxnLst/>
              <a:rect l="l" t="t" r="r" b="b"/>
              <a:pathLst>
                <a:path w="1623060" h="825818">
                  <a:moveTo>
                    <a:pt x="1623060" y="0"/>
                  </a:moveTo>
                  <a:lnTo>
                    <a:pt x="0" y="8258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238500" y="2380298"/>
              <a:ext cx="1082040" cy="825818"/>
            </a:xfrm>
            <a:custGeom>
              <a:avLst/>
              <a:gdLst/>
              <a:ahLst/>
              <a:cxnLst/>
              <a:rect l="l" t="t" r="r" b="b"/>
              <a:pathLst>
                <a:path w="1082040" h="825818">
                  <a:moveTo>
                    <a:pt x="0" y="0"/>
                  </a:moveTo>
                  <a:lnTo>
                    <a:pt x="1082040" y="8258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64870" y="382143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946910" y="382143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405890" y="2996565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028950" y="382143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10990" y="382143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193030" y="382143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019550" y="2996565"/>
              <a:ext cx="60198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028950" y="2170748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7456" y="39662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69496" y="39662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28476" y="314039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51536" y="39662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33576" y="39662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15616" y="39662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29683" y="3140393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60 80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51536" y="23145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  <p:grpSp>
        <p:nvGrpSpPr>
          <p:cNvPr id="39" name="c1-callout-2"/>
          <p:cNvGrpSpPr/>
          <p:nvPr/>
        </p:nvGrpSpPr>
        <p:grpSpPr>
          <a:xfrm>
            <a:off x="533400" y="4634865"/>
            <a:ext cx="5410200" cy="533400"/>
            <a:chOff x="533400" y="4634865"/>
            <a:chExt cx="5410200" cy="533400"/>
          </a:xfrm>
        </p:grpSpPr>
        <p:sp>
          <p:nvSpPr>
            <p:cNvPr id="33" name="Rectangle 33"/>
            <p:cNvSpPr/>
            <p:nvPr/>
          </p:nvSpPr>
          <p:spPr>
            <a:xfrm>
              <a:off x="533400" y="4634865"/>
              <a:ext cx="5410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4801553"/>
              <a:ext cx="200026" cy="200026"/>
              <a:chOff x="738188" y="4801553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48015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48682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49015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479679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删除前：3 层，非根结点最少 1 个关键词。</a:t>
              </a:r>
            </a:p>
          </p:txBody>
        </p:sp>
      </p:grpSp>
      <p:grpSp>
        <p:nvGrpSpPr>
          <p:cNvPr id="60" name="c2-tree-1"/>
          <p:cNvGrpSpPr/>
          <p:nvPr/>
        </p:nvGrpSpPr>
        <p:grpSpPr>
          <a:xfrm>
            <a:off x="6715125" y="2170748"/>
            <a:ext cx="4476750" cy="2069782"/>
            <a:chOff x="6715125" y="2170748"/>
            <a:chExt cx="4476750" cy="2069782"/>
          </a:xfrm>
        </p:grpSpPr>
        <p:sp>
          <p:nvSpPr>
            <p:cNvPr id="40" name="Freeform 40"/>
            <p:cNvSpPr/>
            <p:nvPr/>
          </p:nvSpPr>
          <p:spPr>
            <a:xfrm>
              <a:off x="6924675" y="3206115"/>
              <a:ext cx="676275" cy="824865"/>
            </a:xfrm>
            <a:custGeom>
              <a:avLst/>
              <a:gdLst/>
              <a:ahLst/>
              <a:cxnLst/>
              <a:rect l="l" t="t" r="r" b="b"/>
              <a:pathLst>
                <a:path w="676275" h="824865">
                  <a:moveTo>
                    <a:pt x="676275" y="0"/>
                  </a:moveTo>
                  <a:lnTo>
                    <a:pt x="0" y="8248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600950" y="3206115"/>
              <a:ext cx="676275" cy="824865"/>
            </a:xfrm>
            <a:custGeom>
              <a:avLst/>
              <a:gdLst/>
              <a:ahLst/>
              <a:cxnLst/>
              <a:rect l="l" t="t" r="r" b="b"/>
              <a:pathLst>
                <a:path w="676275" h="824865">
                  <a:moveTo>
                    <a:pt x="0" y="0"/>
                  </a:moveTo>
                  <a:lnTo>
                    <a:pt x="676275" y="8248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629775" y="3206115"/>
              <a:ext cx="676275" cy="824865"/>
            </a:xfrm>
            <a:custGeom>
              <a:avLst/>
              <a:gdLst/>
              <a:ahLst/>
              <a:cxnLst/>
              <a:rect l="l" t="t" r="r" b="b"/>
              <a:pathLst>
                <a:path w="676275" h="824865">
                  <a:moveTo>
                    <a:pt x="676275" y="0"/>
                  </a:moveTo>
                  <a:lnTo>
                    <a:pt x="0" y="8248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306050" y="3206115"/>
              <a:ext cx="676275" cy="824865"/>
            </a:xfrm>
            <a:custGeom>
              <a:avLst/>
              <a:gdLst/>
              <a:ahLst/>
              <a:cxnLst/>
              <a:rect l="l" t="t" r="r" b="b"/>
              <a:pathLst>
                <a:path w="676275" h="824865">
                  <a:moveTo>
                    <a:pt x="0" y="0"/>
                  </a:moveTo>
                  <a:lnTo>
                    <a:pt x="676275" y="8248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600950" y="2380298"/>
              <a:ext cx="1352550" cy="825818"/>
            </a:xfrm>
            <a:custGeom>
              <a:avLst/>
              <a:gdLst/>
              <a:ahLst/>
              <a:cxnLst/>
              <a:rect l="l" t="t" r="r" b="b"/>
              <a:pathLst>
                <a:path w="1352550" h="825818">
                  <a:moveTo>
                    <a:pt x="1352550" y="0"/>
                  </a:moveTo>
                  <a:lnTo>
                    <a:pt x="0" y="8258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953500" y="2380298"/>
              <a:ext cx="1352550" cy="825818"/>
            </a:xfrm>
            <a:custGeom>
              <a:avLst/>
              <a:gdLst/>
              <a:ahLst/>
              <a:cxnLst/>
              <a:rect l="l" t="t" r="r" b="b"/>
              <a:pathLst>
                <a:path w="1352550" h="825818">
                  <a:moveTo>
                    <a:pt x="0" y="0"/>
                  </a:moveTo>
                  <a:lnTo>
                    <a:pt x="1352550" y="8258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15125" y="382143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067675" y="382143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91400" y="2996565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328785" y="3821430"/>
              <a:ext cx="601980" cy="419100"/>
            </a:xfrm>
            <a:prstGeom prst="roundRect">
              <a:avLst>
                <a:gd name="adj" fmla="val 1818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772775" y="382143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096500" y="2996565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743950" y="2170748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37711" y="39662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90261" y="39662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13986" y="314039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38918" y="3966210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60 70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95361" y="39662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19086" y="314039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866536" y="23145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6248400" y="4634865"/>
            <a:ext cx="5410200" cy="533400"/>
            <a:chOff x="6248400" y="4634865"/>
            <a:chExt cx="5410200" cy="533400"/>
          </a:xfrm>
        </p:grpSpPr>
        <p:sp>
          <p:nvSpPr>
            <p:cNvPr id="61" name="Rectangle 61"/>
            <p:cNvSpPr/>
            <p:nvPr/>
          </p:nvSpPr>
          <p:spPr>
            <a:xfrm>
              <a:off x="6248400" y="4634865"/>
              <a:ext cx="5410200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453188" y="4801553"/>
              <a:ext cx="200026" cy="200026"/>
              <a:chOff x="6453188" y="4801553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453188" y="48015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519863" y="487934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755130" y="479679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删除后：树高不变，右边少了一个孩子。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7" name="Rectangle 67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130" y="5728335"/>
              <a:ext cx="98545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过程：50 与后继 55 交换 → 在最底层删 55，结点变空 → 它是最左的孩子，没有左兄弟，右兄弟 70 也只有 1 个，借不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 → 与右兄弟合并，父结点的 60 一起并进来，得到 60 70，父结点由 60 80 变成 80。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36465" cy="909257"/>
            <a:chOff x="520446" y="342900"/>
            <a:chExt cx="53364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5261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67" y="407194"/>
              <a:ext cx="171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树的删除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364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练习：接着删 40，合并一路传到根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874940" cy="308039"/>
            <a:chOff x="525399" y="1550194"/>
            <a:chExt cx="887494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8749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在上一页的结果上删 40。40 在最底层，删掉后结点变空，它的左兄弟 20 也只有 1 个关键词。</a:t>
              </a:r>
            </a:p>
          </p:txBody>
        </p:sp>
      </p:grpSp>
      <p:grpSp>
        <p:nvGrpSpPr>
          <p:cNvPr id="30" name="c1-tree-1"/>
          <p:cNvGrpSpPr/>
          <p:nvPr/>
        </p:nvGrpSpPr>
        <p:grpSpPr>
          <a:xfrm>
            <a:off x="1000125" y="2125980"/>
            <a:ext cx="4476750" cy="2108359"/>
            <a:chOff x="1000125" y="2125980"/>
            <a:chExt cx="4476750" cy="2108359"/>
          </a:xfrm>
        </p:grpSpPr>
        <p:sp>
          <p:nvSpPr>
            <p:cNvPr id="9" name="Freeform 9"/>
            <p:cNvSpPr/>
            <p:nvPr/>
          </p:nvSpPr>
          <p:spPr>
            <a:xfrm>
              <a:off x="1209675" y="3072765"/>
              <a:ext cx="676275" cy="736282"/>
            </a:xfrm>
            <a:custGeom>
              <a:avLst/>
              <a:gdLst/>
              <a:ahLst/>
              <a:cxnLst/>
              <a:rect l="l" t="t" r="r" b="b"/>
              <a:pathLst>
                <a:path w="676275" h="736282">
                  <a:moveTo>
                    <a:pt x="676275" y="0"/>
                  </a:moveTo>
                  <a:lnTo>
                    <a:pt x="0" y="7362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85950" y="3072765"/>
              <a:ext cx="676275" cy="736282"/>
            </a:xfrm>
            <a:custGeom>
              <a:avLst/>
              <a:gdLst/>
              <a:ahLst/>
              <a:cxnLst/>
              <a:rect l="l" t="t" r="r" b="b"/>
              <a:pathLst>
                <a:path w="676275" h="736282">
                  <a:moveTo>
                    <a:pt x="0" y="0"/>
                  </a:moveTo>
                  <a:lnTo>
                    <a:pt x="676275" y="7362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914775" y="3072765"/>
              <a:ext cx="676275" cy="736282"/>
            </a:xfrm>
            <a:custGeom>
              <a:avLst/>
              <a:gdLst/>
              <a:ahLst/>
              <a:cxnLst/>
              <a:rect l="l" t="t" r="r" b="b"/>
              <a:pathLst>
                <a:path w="676275" h="736282">
                  <a:moveTo>
                    <a:pt x="676275" y="0"/>
                  </a:moveTo>
                  <a:lnTo>
                    <a:pt x="0" y="7362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91050" y="3072765"/>
              <a:ext cx="676275" cy="736282"/>
            </a:xfrm>
            <a:custGeom>
              <a:avLst/>
              <a:gdLst/>
              <a:ahLst/>
              <a:cxnLst/>
              <a:rect l="l" t="t" r="r" b="b"/>
              <a:pathLst>
                <a:path w="676275" h="736282">
                  <a:moveTo>
                    <a:pt x="0" y="0"/>
                  </a:moveTo>
                  <a:lnTo>
                    <a:pt x="676275" y="7362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885950" y="2335530"/>
              <a:ext cx="1352550" cy="737235"/>
            </a:xfrm>
            <a:custGeom>
              <a:avLst/>
              <a:gdLst/>
              <a:ahLst/>
              <a:cxnLst/>
              <a:rect l="l" t="t" r="r" b="b"/>
              <a:pathLst>
                <a:path w="1352550" h="737235">
                  <a:moveTo>
                    <a:pt x="1352550" y="0"/>
                  </a:moveTo>
                  <a:lnTo>
                    <a:pt x="0" y="7372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238500" y="2335530"/>
              <a:ext cx="1352550" cy="737235"/>
            </a:xfrm>
            <a:custGeom>
              <a:avLst/>
              <a:gdLst/>
              <a:ahLst/>
              <a:cxnLst/>
              <a:rect l="l" t="t" r="r" b="b"/>
              <a:pathLst>
                <a:path w="1352550" h="737235">
                  <a:moveTo>
                    <a:pt x="0" y="0"/>
                  </a:moveTo>
                  <a:lnTo>
                    <a:pt x="1352550" y="7372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00125" y="3599498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352675" y="3599498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676400" y="2863215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613785" y="3599498"/>
              <a:ext cx="60198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057775" y="3599498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81500" y="2863215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028950" y="212598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22711" y="37433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75261" y="37433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47074" y="407241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98986" y="30070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23918" y="3743325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60 70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80361" y="37433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04086" y="30070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1536" y="227076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  <p:grpSp>
        <p:nvGrpSpPr>
          <p:cNvPr id="37" name="c1-callout-2"/>
          <p:cNvGrpSpPr/>
          <p:nvPr/>
        </p:nvGrpSpPr>
        <p:grpSpPr>
          <a:xfrm>
            <a:off x="533400" y="4539615"/>
            <a:ext cx="5410200" cy="782955"/>
            <a:chOff x="533400" y="4539615"/>
            <a:chExt cx="5410200" cy="782955"/>
          </a:xfrm>
        </p:grpSpPr>
        <p:sp>
          <p:nvSpPr>
            <p:cNvPr id="31" name="Rectangle 31"/>
            <p:cNvSpPr/>
            <p:nvPr/>
          </p:nvSpPr>
          <p:spPr>
            <a:xfrm>
              <a:off x="533400" y="453961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26129" y="4827388"/>
              <a:ext cx="224134" cy="192560"/>
              <a:chOff x="726129" y="4827388"/>
              <a:chExt cx="224134" cy="1925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38200" y="48977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26129" y="48273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49755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4688205"/>
              <a:ext cx="4368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中间的结点 30 只有 1 个关键词，一旦它再少一个就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会被并掉。</a:t>
              </a:r>
            </a:p>
          </p:txBody>
        </p:sp>
      </p:grpSp>
      <p:grpSp>
        <p:nvGrpSpPr>
          <p:cNvPr id="49" name="c2-tree-1"/>
          <p:cNvGrpSpPr/>
          <p:nvPr/>
        </p:nvGrpSpPr>
        <p:grpSpPr>
          <a:xfrm>
            <a:off x="6849428" y="2353628"/>
            <a:ext cx="4116704" cy="1609724"/>
            <a:chOff x="6849428" y="2353628"/>
            <a:chExt cx="4116704" cy="1609724"/>
          </a:xfrm>
        </p:grpSpPr>
        <p:sp>
          <p:nvSpPr>
            <p:cNvPr id="38" name="Freeform 38"/>
            <p:cNvSpPr/>
            <p:nvPr/>
          </p:nvSpPr>
          <p:spPr>
            <a:xfrm>
              <a:off x="7150418" y="2563178"/>
              <a:ext cx="1803082" cy="1190625"/>
            </a:xfrm>
            <a:custGeom>
              <a:avLst/>
              <a:gdLst/>
              <a:ahLst/>
              <a:cxnLst/>
              <a:rect l="l" t="t" r="r" b="b"/>
              <a:pathLst>
                <a:path w="1803082" h="1190625">
                  <a:moveTo>
                    <a:pt x="1803082" y="0"/>
                  </a:moveTo>
                  <a:lnTo>
                    <a:pt x="0" y="11906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953500" y="2563178"/>
              <a:ext cx="9525" cy="1190625"/>
            </a:xfrm>
            <a:custGeom>
              <a:avLst/>
              <a:gdLst/>
              <a:ahLst/>
              <a:cxnLst/>
              <a:rect l="l" t="t" r="r" b="b"/>
              <a:pathLst>
                <a:path w="9525" h="1190625">
                  <a:moveTo>
                    <a:pt x="0" y="0"/>
                  </a:moveTo>
                  <a:lnTo>
                    <a:pt x="0" y="11906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953500" y="2563178"/>
              <a:ext cx="1803082" cy="1190625"/>
            </a:xfrm>
            <a:custGeom>
              <a:avLst/>
              <a:gdLst/>
              <a:ahLst/>
              <a:cxnLst/>
              <a:rect l="l" t="t" r="r" b="b"/>
              <a:pathLst>
                <a:path w="1803082" h="1190625">
                  <a:moveTo>
                    <a:pt x="0" y="0"/>
                  </a:moveTo>
                  <a:lnTo>
                    <a:pt x="1803082" y="11906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49428" y="3544252"/>
              <a:ext cx="601980" cy="419100"/>
            </a:xfrm>
            <a:prstGeom prst="roundRect">
              <a:avLst>
                <a:gd name="adj" fmla="val 1818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652510" y="3544252"/>
              <a:ext cx="60198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547032" y="354425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652510" y="2353628"/>
              <a:ext cx="601980" cy="419100"/>
            </a:xfrm>
            <a:prstGeom prst="roundRect">
              <a:avLst>
                <a:gd name="adj" fmla="val 1818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59560" y="3688080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20 30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62643" y="3688080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60 70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669618" y="36880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62643" y="2497455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55 80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6248400" y="4539615"/>
            <a:ext cx="5410200" cy="782955"/>
            <a:chOff x="6248400" y="4539615"/>
            <a:chExt cx="5410200" cy="782955"/>
          </a:xfrm>
        </p:grpSpPr>
        <p:sp>
          <p:nvSpPr>
            <p:cNvPr id="50" name="Rectangle 50"/>
            <p:cNvSpPr/>
            <p:nvPr/>
          </p:nvSpPr>
          <p:spPr>
            <a:xfrm>
              <a:off x="6248400" y="453961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453188" y="4831080"/>
              <a:ext cx="200026" cy="200026"/>
              <a:chOff x="6453188" y="4831080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453188" y="48310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19863" y="49088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755130" y="4826318"/>
              <a:ext cx="41144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合并传到根，根被并空，树由 3 层降为 2 层。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6" name="Rectangle 56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130" y="5728335"/>
              <a:ext cx="99021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过程：删 40 后结点空 → 左兄弟 20 借不出，与左兄弟合并，父结点的 30 并进来得到 20 30，结点 30 变空 → 它没有左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兄弟，与右兄弟 80 合并，根里的 55 并进来得到 55 80 → 根变空，新根就是 55 80。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55697" cy="909257"/>
            <a:chOff x="520446" y="342900"/>
            <a:chExt cx="72556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5261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67" y="407194"/>
              <a:ext cx="171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树的删除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556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练习：3 阶 B 树删除 9，借的时候带走一棵子树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859774" cy="293370"/>
            <a:chOff x="525780" y="1548765"/>
            <a:chExt cx="885977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8597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这一题里下溢发生了两次，第二次的下溢不在最底层，正是源课件第 31 页说的“连同子树一起借”。</a:t>
              </a:r>
            </a:p>
          </p:txBody>
        </p:sp>
      </p:grpSp>
      <p:grpSp>
        <p:nvGrpSpPr>
          <p:cNvPr id="33" name="c1-tree-1"/>
          <p:cNvGrpSpPr/>
          <p:nvPr/>
        </p:nvGrpSpPr>
        <p:grpSpPr>
          <a:xfrm>
            <a:off x="850582" y="2153602"/>
            <a:ext cx="4755834" cy="2233137"/>
            <a:chOff x="850582" y="2153602"/>
            <a:chExt cx="4755834" cy="2233137"/>
          </a:xfrm>
        </p:grpSpPr>
        <p:sp>
          <p:nvSpPr>
            <p:cNvPr id="9" name="Freeform 9"/>
            <p:cNvSpPr/>
            <p:nvPr/>
          </p:nvSpPr>
          <p:spPr>
            <a:xfrm>
              <a:off x="1074420" y="3162300"/>
              <a:ext cx="1082040" cy="804862"/>
            </a:xfrm>
            <a:custGeom>
              <a:avLst/>
              <a:gdLst/>
              <a:ahLst/>
              <a:cxnLst/>
              <a:rect l="l" t="t" r="r" b="b"/>
              <a:pathLst>
                <a:path w="1082040" h="804862">
                  <a:moveTo>
                    <a:pt x="1082040" y="0"/>
                  </a:moveTo>
                  <a:lnTo>
                    <a:pt x="0" y="804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56460" y="3162300"/>
              <a:ext cx="9525" cy="804862"/>
            </a:xfrm>
            <a:custGeom>
              <a:avLst/>
              <a:gdLst/>
              <a:ahLst/>
              <a:cxnLst/>
              <a:rect l="l" t="t" r="r" b="b"/>
              <a:pathLst>
                <a:path w="9525" h="804862">
                  <a:moveTo>
                    <a:pt x="0" y="0"/>
                  </a:moveTo>
                  <a:lnTo>
                    <a:pt x="0" y="804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156460" y="3162300"/>
              <a:ext cx="1082040" cy="804862"/>
            </a:xfrm>
            <a:custGeom>
              <a:avLst/>
              <a:gdLst/>
              <a:ahLst/>
              <a:cxnLst/>
              <a:rect l="l" t="t" r="r" b="b"/>
              <a:pathLst>
                <a:path w="1082040" h="804862">
                  <a:moveTo>
                    <a:pt x="0" y="0"/>
                  </a:moveTo>
                  <a:lnTo>
                    <a:pt x="1082040" y="804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320540" y="3162300"/>
              <a:ext cx="541020" cy="804862"/>
            </a:xfrm>
            <a:custGeom>
              <a:avLst/>
              <a:gdLst/>
              <a:ahLst/>
              <a:cxnLst/>
              <a:rect l="l" t="t" r="r" b="b"/>
              <a:pathLst>
                <a:path w="541020" h="804862">
                  <a:moveTo>
                    <a:pt x="541020" y="0"/>
                  </a:moveTo>
                  <a:lnTo>
                    <a:pt x="0" y="804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861560" y="3162300"/>
              <a:ext cx="541020" cy="804862"/>
            </a:xfrm>
            <a:custGeom>
              <a:avLst/>
              <a:gdLst/>
              <a:ahLst/>
              <a:cxnLst/>
              <a:rect l="l" t="t" r="r" b="b"/>
              <a:pathLst>
                <a:path w="541020" h="804862">
                  <a:moveTo>
                    <a:pt x="0" y="0"/>
                  </a:moveTo>
                  <a:lnTo>
                    <a:pt x="541020" y="804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156460" y="2357438"/>
              <a:ext cx="1082040" cy="804862"/>
            </a:xfrm>
            <a:custGeom>
              <a:avLst/>
              <a:gdLst/>
              <a:ahLst/>
              <a:cxnLst/>
              <a:rect l="l" t="t" r="r" b="b"/>
              <a:pathLst>
                <a:path w="1082040" h="804862">
                  <a:moveTo>
                    <a:pt x="1082040" y="0"/>
                  </a:moveTo>
                  <a:lnTo>
                    <a:pt x="0" y="804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238500" y="2357438"/>
              <a:ext cx="1623060" cy="804862"/>
            </a:xfrm>
            <a:custGeom>
              <a:avLst/>
              <a:gdLst/>
              <a:ahLst/>
              <a:cxnLst/>
              <a:rect l="l" t="t" r="r" b="b"/>
              <a:pathLst>
                <a:path w="1623060" h="804862">
                  <a:moveTo>
                    <a:pt x="0" y="0"/>
                  </a:moveTo>
                  <a:lnTo>
                    <a:pt x="1623060" y="804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50582" y="3764280"/>
              <a:ext cx="447675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953578" y="3764280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035618" y="3764280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932622" y="2959418"/>
              <a:ext cx="447675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17658" y="3764280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199698" y="3764280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658678" y="2959418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035618" y="2153602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65193" y="3902393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10311" y="39023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92351" y="39023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47233" y="309657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74391" y="39023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05389" y="422481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15616" y="390239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74596" y="30965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92351" y="22917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40" name="c1-callout-2"/>
          <p:cNvGrpSpPr/>
          <p:nvPr/>
        </p:nvGrpSpPr>
        <p:grpSpPr>
          <a:xfrm>
            <a:off x="533400" y="4727258"/>
            <a:ext cx="5410200" cy="518160"/>
            <a:chOff x="533400" y="4727258"/>
            <a:chExt cx="5410200" cy="518160"/>
          </a:xfrm>
        </p:grpSpPr>
        <p:sp>
          <p:nvSpPr>
            <p:cNvPr id="34" name="Rectangle 34"/>
            <p:cNvSpPr/>
            <p:nvPr/>
          </p:nvSpPr>
          <p:spPr>
            <a:xfrm>
              <a:off x="533400" y="4727258"/>
              <a:ext cx="5410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4886325"/>
              <a:ext cx="200026" cy="200026"/>
              <a:chOff x="738188" y="4886325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48863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4953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49863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511" y="4886801"/>
              <a:ext cx="3971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删除前：结点 10 只有 1 个关键词、2 个孩子。</a:t>
              </a:r>
            </a:p>
          </p:txBody>
        </p:sp>
      </p:grpSp>
      <p:grpSp>
        <p:nvGrpSpPr>
          <p:cNvPr id="61" name="c2-tree-1"/>
          <p:cNvGrpSpPr/>
          <p:nvPr/>
        </p:nvGrpSpPr>
        <p:grpSpPr>
          <a:xfrm>
            <a:off x="6700838" y="2182178"/>
            <a:ext cx="4582477" cy="2131695"/>
            <a:chOff x="6700838" y="2182178"/>
            <a:chExt cx="4582477" cy="2131695"/>
          </a:xfrm>
        </p:grpSpPr>
        <p:sp>
          <p:nvSpPr>
            <p:cNvPr id="41" name="Freeform 41"/>
            <p:cNvSpPr/>
            <p:nvPr/>
          </p:nvSpPr>
          <p:spPr>
            <a:xfrm>
              <a:off x="6924675" y="3248025"/>
              <a:ext cx="676275" cy="862012"/>
            </a:xfrm>
            <a:custGeom>
              <a:avLst/>
              <a:gdLst/>
              <a:ahLst/>
              <a:cxnLst/>
              <a:rect l="l" t="t" r="r" b="b"/>
              <a:pathLst>
                <a:path w="676275" h="862012">
                  <a:moveTo>
                    <a:pt x="676275" y="0"/>
                  </a:moveTo>
                  <a:lnTo>
                    <a:pt x="0" y="862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600950" y="3248025"/>
              <a:ext cx="676275" cy="862012"/>
            </a:xfrm>
            <a:custGeom>
              <a:avLst/>
              <a:gdLst/>
              <a:ahLst/>
              <a:cxnLst/>
              <a:rect l="l" t="t" r="r" b="b"/>
              <a:pathLst>
                <a:path w="676275" h="862012">
                  <a:moveTo>
                    <a:pt x="0" y="0"/>
                  </a:moveTo>
                  <a:lnTo>
                    <a:pt x="676275" y="862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629775" y="3248025"/>
              <a:ext cx="676275" cy="862012"/>
            </a:xfrm>
            <a:custGeom>
              <a:avLst/>
              <a:gdLst/>
              <a:ahLst/>
              <a:cxnLst/>
              <a:rect l="l" t="t" r="r" b="b"/>
              <a:pathLst>
                <a:path w="676275" h="862012">
                  <a:moveTo>
                    <a:pt x="676275" y="0"/>
                  </a:moveTo>
                  <a:lnTo>
                    <a:pt x="0" y="862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306050" y="3248025"/>
              <a:ext cx="676275" cy="862012"/>
            </a:xfrm>
            <a:custGeom>
              <a:avLst/>
              <a:gdLst/>
              <a:ahLst/>
              <a:cxnLst/>
              <a:rect l="l" t="t" r="r" b="b"/>
              <a:pathLst>
                <a:path w="676275" h="862012">
                  <a:moveTo>
                    <a:pt x="0" y="0"/>
                  </a:moveTo>
                  <a:lnTo>
                    <a:pt x="676275" y="862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600950" y="2386012"/>
              <a:ext cx="1352550" cy="862012"/>
            </a:xfrm>
            <a:custGeom>
              <a:avLst/>
              <a:gdLst/>
              <a:ahLst/>
              <a:cxnLst/>
              <a:rect l="l" t="t" r="r" b="b"/>
              <a:pathLst>
                <a:path w="1352550" h="862012">
                  <a:moveTo>
                    <a:pt x="1352550" y="0"/>
                  </a:moveTo>
                  <a:lnTo>
                    <a:pt x="0" y="862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953500" y="2386012"/>
              <a:ext cx="1352550" cy="862012"/>
            </a:xfrm>
            <a:custGeom>
              <a:avLst/>
              <a:gdLst/>
              <a:ahLst/>
              <a:cxnLst/>
              <a:rect l="l" t="t" r="r" b="b"/>
              <a:pathLst>
                <a:path w="1352550" h="862012">
                  <a:moveTo>
                    <a:pt x="0" y="0"/>
                  </a:moveTo>
                  <a:lnTo>
                    <a:pt x="1352550" y="862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00838" y="3907155"/>
              <a:ext cx="447675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74342" y="3907155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398068" y="3045142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426892" y="3907155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681335" y="3907155"/>
              <a:ext cx="601980" cy="406718"/>
            </a:xfrm>
            <a:prstGeom prst="roundRect">
              <a:avLst>
                <a:gd name="adj" fmla="val 18735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103168" y="3045142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750618" y="2182178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15448" y="404526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31076" y="40452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54801" y="31823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83626" y="40452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791468" y="4045268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10 15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59901" y="31823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07351" y="23202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67" name="c2-callout-2"/>
          <p:cNvGrpSpPr/>
          <p:nvPr/>
        </p:nvGrpSpPr>
        <p:grpSpPr>
          <a:xfrm>
            <a:off x="6248400" y="4727258"/>
            <a:ext cx="5410200" cy="518160"/>
            <a:chOff x="6248400" y="4727258"/>
            <a:chExt cx="5410200" cy="518160"/>
          </a:xfrm>
        </p:grpSpPr>
        <p:sp>
          <p:nvSpPr>
            <p:cNvPr id="62" name="Rectangle 62"/>
            <p:cNvSpPr/>
            <p:nvPr/>
          </p:nvSpPr>
          <p:spPr>
            <a:xfrm>
              <a:off x="6248400" y="4727258"/>
              <a:ext cx="5410200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453188" y="4886325"/>
              <a:ext cx="200026" cy="200026"/>
              <a:chOff x="6453188" y="4886325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453188" y="48863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519863" y="49641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755511" y="4886801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删除后：7 从左边换到了右边，跟着关键词 8 一起走。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68" name="Rectangle 68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5884547"/>
              <a:ext cx="200023" cy="200023"/>
              <a:chOff x="738188" y="5884547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58845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511" y="5753576"/>
              <a:ext cx="996924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过程：删 9 后结点空，右兄弟 15 借不出，与右兄弟合并（父结点的 10 并进来）得到 10 15，父结点 10 变空 → 父结点向左兄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弟 3 6 借：根里的 8 下放、左兄弟的 6 上去，同时把左兄弟最右边的子树 7 一起借过来挂在最左边。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25854" cy="909257"/>
            <a:chOff x="520446" y="342900"/>
            <a:chExt cx="62258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5261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67" y="407194"/>
              <a:ext cx="171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B 树的删除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258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课下练习：3 阶 B 树删除 4，向右兄弟借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698230" cy="293370"/>
            <a:chOff x="525780" y="1548765"/>
            <a:chExt cx="86982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这一题和上一题对称：下溢的结点没有左兄弟，只能向右兄弟借，借来的子树挂在本结点最右边。</a:t>
              </a:r>
            </a:p>
          </p:txBody>
        </p:sp>
      </p:grpSp>
      <p:grpSp>
        <p:nvGrpSpPr>
          <p:cNvPr id="33" name="c1-tree-1"/>
          <p:cNvGrpSpPr/>
          <p:nvPr/>
        </p:nvGrpSpPr>
        <p:grpSpPr>
          <a:xfrm>
            <a:off x="871538" y="2153602"/>
            <a:ext cx="4734878" cy="2233137"/>
            <a:chOff x="871538" y="2153602"/>
            <a:chExt cx="4734878" cy="2233137"/>
          </a:xfrm>
        </p:grpSpPr>
        <p:sp>
          <p:nvSpPr>
            <p:cNvPr id="9" name="Freeform 9"/>
            <p:cNvSpPr/>
            <p:nvPr/>
          </p:nvSpPr>
          <p:spPr>
            <a:xfrm>
              <a:off x="1074420" y="3162300"/>
              <a:ext cx="541020" cy="804862"/>
            </a:xfrm>
            <a:custGeom>
              <a:avLst/>
              <a:gdLst/>
              <a:ahLst/>
              <a:cxnLst/>
              <a:rect l="l" t="t" r="r" b="b"/>
              <a:pathLst>
                <a:path w="541020" h="804862">
                  <a:moveTo>
                    <a:pt x="541020" y="0"/>
                  </a:moveTo>
                  <a:lnTo>
                    <a:pt x="0" y="804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15440" y="3162300"/>
              <a:ext cx="541020" cy="804862"/>
            </a:xfrm>
            <a:custGeom>
              <a:avLst/>
              <a:gdLst/>
              <a:ahLst/>
              <a:cxnLst/>
              <a:rect l="l" t="t" r="r" b="b"/>
              <a:pathLst>
                <a:path w="541020" h="804862">
                  <a:moveTo>
                    <a:pt x="0" y="0"/>
                  </a:moveTo>
                  <a:lnTo>
                    <a:pt x="541020" y="804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238500" y="3162300"/>
              <a:ext cx="1082040" cy="804862"/>
            </a:xfrm>
            <a:custGeom>
              <a:avLst/>
              <a:gdLst/>
              <a:ahLst/>
              <a:cxnLst/>
              <a:rect l="l" t="t" r="r" b="b"/>
              <a:pathLst>
                <a:path w="1082040" h="804862">
                  <a:moveTo>
                    <a:pt x="1082040" y="0"/>
                  </a:moveTo>
                  <a:lnTo>
                    <a:pt x="0" y="804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320540" y="3162300"/>
              <a:ext cx="9525" cy="804862"/>
            </a:xfrm>
            <a:custGeom>
              <a:avLst/>
              <a:gdLst/>
              <a:ahLst/>
              <a:cxnLst/>
              <a:rect l="l" t="t" r="r" b="b"/>
              <a:pathLst>
                <a:path w="9525" h="804862">
                  <a:moveTo>
                    <a:pt x="0" y="0"/>
                  </a:moveTo>
                  <a:lnTo>
                    <a:pt x="0" y="804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320540" y="3162300"/>
              <a:ext cx="1082040" cy="804862"/>
            </a:xfrm>
            <a:custGeom>
              <a:avLst/>
              <a:gdLst/>
              <a:ahLst/>
              <a:cxnLst/>
              <a:rect l="l" t="t" r="r" b="b"/>
              <a:pathLst>
                <a:path w="1082040" h="804862">
                  <a:moveTo>
                    <a:pt x="0" y="0"/>
                  </a:moveTo>
                  <a:lnTo>
                    <a:pt x="1082040" y="804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15440" y="2357438"/>
              <a:ext cx="1623060" cy="804862"/>
            </a:xfrm>
            <a:custGeom>
              <a:avLst/>
              <a:gdLst/>
              <a:ahLst/>
              <a:cxnLst/>
              <a:rect l="l" t="t" r="r" b="b"/>
              <a:pathLst>
                <a:path w="1623060" h="804862">
                  <a:moveTo>
                    <a:pt x="1623060" y="0"/>
                  </a:moveTo>
                  <a:lnTo>
                    <a:pt x="0" y="804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238500" y="2357438"/>
              <a:ext cx="1082040" cy="804862"/>
            </a:xfrm>
            <a:custGeom>
              <a:avLst/>
              <a:gdLst/>
              <a:ahLst/>
              <a:cxnLst/>
              <a:rect l="l" t="t" r="r" b="b"/>
              <a:pathLst>
                <a:path w="1082040" h="804862">
                  <a:moveTo>
                    <a:pt x="0" y="0"/>
                  </a:moveTo>
                  <a:lnTo>
                    <a:pt x="1082040" y="804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71538" y="3764280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953578" y="3764280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412558" y="2959418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976562" y="3764280"/>
              <a:ext cx="52482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17658" y="3764280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199698" y="3764280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019550" y="2959418"/>
              <a:ext cx="601980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035618" y="2153602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28271" y="39023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9269" y="422481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10311" y="39023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69291" y="30965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88458" y="3902393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9 10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33576" y="390239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15616" y="390239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29683" y="3096578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12 14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92351" y="22917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40" name="c1-callout-2"/>
          <p:cNvGrpSpPr/>
          <p:nvPr/>
        </p:nvGrpSpPr>
        <p:grpSpPr>
          <a:xfrm>
            <a:off x="533400" y="4727258"/>
            <a:ext cx="5410200" cy="518160"/>
            <a:chOff x="533400" y="4727258"/>
            <a:chExt cx="5410200" cy="518160"/>
          </a:xfrm>
        </p:grpSpPr>
        <p:sp>
          <p:nvSpPr>
            <p:cNvPr id="34" name="Rectangle 34"/>
            <p:cNvSpPr/>
            <p:nvPr/>
          </p:nvSpPr>
          <p:spPr>
            <a:xfrm>
              <a:off x="533400" y="4727258"/>
              <a:ext cx="5410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4886325"/>
              <a:ext cx="200026" cy="200026"/>
              <a:chOff x="738188" y="4886325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48863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4953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49863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511" y="4886801"/>
              <a:ext cx="37038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删除前：左半边的结点 6 只有 1 个关键词。</a:t>
              </a:r>
            </a:p>
          </p:txBody>
        </p:sp>
      </p:grpSp>
      <p:grpSp>
        <p:nvGrpSpPr>
          <p:cNvPr id="61" name="c2-tree-1"/>
          <p:cNvGrpSpPr/>
          <p:nvPr/>
        </p:nvGrpSpPr>
        <p:grpSpPr>
          <a:xfrm>
            <a:off x="6700838" y="2182178"/>
            <a:ext cx="4485322" cy="2131695"/>
            <a:chOff x="6700838" y="2182178"/>
            <a:chExt cx="4485322" cy="2131695"/>
          </a:xfrm>
        </p:grpSpPr>
        <p:sp>
          <p:nvSpPr>
            <p:cNvPr id="41" name="Freeform 41"/>
            <p:cNvSpPr/>
            <p:nvPr/>
          </p:nvSpPr>
          <p:spPr>
            <a:xfrm>
              <a:off x="6924675" y="3248025"/>
              <a:ext cx="676275" cy="862012"/>
            </a:xfrm>
            <a:custGeom>
              <a:avLst/>
              <a:gdLst/>
              <a:ahLst/>
              <a:cxnLst/>
              <a:rect l="l" t="t" r="r" b="b"/>
              <a:pathLst>
                <a:path w="676275" h="862012">
                  <a:moveTo>
                    <a:pt x="676275" y="0"/>
                  </a:moveTo>
                  <a:lnTo>
                    <a:pt x="0" y="862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600950" y="3248025"/>
              <a:ext cx="676275" cy="862012"/>
            </a:xfrm>
            <a:custGeom>
              <a:avLst/>
              <a:gdLst/>
              <a:ahLst/>
              <a:cxnLst/>
              <a:rect l="l" t="t" r="r" b="b"/>
              <a:pathLst>
                <a:path w="676275" h="862012">
                  <a:moveTo>
                    <a:pt x="0" y="0"/>
                  </a:moveTo>
                  <a:lnTo>
                    <a:pt x="676275" y="862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629775" y="3248025"/>
              <a:ext cx="676275" cy="862012"/>
            </a:xfrm>
            <a:custGeom>
              <a:avLst/>
              <a:gdLst/>
              <a:ahLst/>
              <a:cxnLst/>
              <a:rect l="l" t="t" r="r" b="b"/>
              <a:pathLst>
                <a:path w="676275" h="862012">
                  <a:moveTo>
                    <a:pt x="676275" y="0"/>
                  </a:moveTo>
                  <a:lnTo>
                    <a:pt x="0" y="862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306050" y="3248025"/>
              <a:ext cx="676275" cy="862012"/>
            </a:xfrm>
            <a:custGeom>
              <a:avLst/>
              <a:gdLst/>
              <a:ahLst/>
              <a:cxnLst/>
              <a:rect l="l" t="t" r="r" b="b"/>
              <a:pathLst>
                <a:path w="676275" h="862012">
                  <a:moveTo>
                    <a:pt x="0" y="0"/>
                  </a:moveTo>
                  <a:lnTo>
                    <a:pt x="676275" y="862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600950" y="2386012"/>
              <a:ext cx="1352550" cy="862012"/>
            </a:xfrm>
            <a:custGeom>
              <a:avLst/>
              <a:gdLst/>
              <a:ahLst/>
              <a:cxnLst/>
              <a:rect l="l" t="t" r="r" b="b"/>
              <a:pathLst>
                <a:path w="1352550" h="862012">
                  <a:moveTo>
                    <a:pt x="1352550" y="0"/>
                  </a:moveTo>
                  <a:lnTo>
                    <a:pt x="0" y="862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953500" y="2386012"/>
              <a:ext cx="1352550" cy="862012"/>
            </a:xfrm>
            <a:custGeom>
              <a:avLst/>
              <a:gdLst/>
              <a:ahLst/>
              <a:cxnLst/>
              <a:rect l="l" t="t" r="r" b="b"/>
              <a:pathLst>
                <a:path w="1352550" h="862012">
                  <a:moveTo>
                    <a:pt x="0" y="0"/>
                  </a:moveTo>
                  <a:lnTo>
                    <a:pt x="1352550" y="862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00838" y="3907155"/>
              <a:ext cx="447675" cy="406718"/>
            </a:xfrm>
            <a:prstGeom prst="roundRect">
              <a:avLst>
                <a:gd name="adj" fmla="val 18735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15288" y="3907155"/>
              <a:ext cx="524828" cy="406718"/>
            </a:xfrm>
            <a:prstGeom prst="roundRect">
              <a:avLst>
                <a:gd name="adj" fmla="val 18735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398068" y="3045142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426892" y="3907155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779442" y="3907155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103168" y="3045142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750618" y="2182178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15448" y="404526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6 7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27183" y="4045268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9 10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54801" y="31823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42811" y="40452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95361" y="40452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19086" y="31823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66536" y="232029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67" name="c2-callout-2"/>
          <p:cNvGrpSpPr/>
          <p:nvPr/>
        </p:nvGrpSpPr>
        <p:grpSpPr>
          <a:xfrm>
            <a:off x="6248400" y="4727258"/>
            <a:ext cx="5410200" cy="518160"/>
            <a:chOff x="6248400" y="4727258"/>
            <a:chExt cx="5410200" cy="518160"/>
          </a:xfrm>
        </p:grpSpPr>
        <p:sp>
          <p:nvSpPr>
            <p:cNvPr id="62" name="Rectangle 62"/>
            <p:cNvSpPr/>
            <p:nvPr/>
          </p:nvSpPr>
          <p:spPr>
            <a:xfrm>
              <a:off x="6248400" y="4727258"/>
              <a:ext cx="5410200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453188" y="4886325"/>
              <a:ext cx="200026" cy="200026"/>
              <a:chOff x="6453188" y="4886325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453188" y="48863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519863" y="49641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755511" y="4886801"/>
              <a:ext cx="46501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删除后：子树 9 10 跟着关键词 12 从右边换到了左边。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68" name="Rectangle 68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5884547"/>
              <a:ext cx="200023" cy="200023"/>
              <a:chOff x="738188" y="5884547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58845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511" y="5753576"/>
              <a:ext cx="986104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过程：删 4 后结点空，没有左兄弟，右兄弟 7 也只有 1 个，合并（父结点的 6 并进来）得到 6 7，父结点 6 变空 → 向右兄弟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 14 借：根里的 8 下放、右兄弟的最小值 12 上去，右兄弟最左边的子树 9 10 一起借过来挂在最右边。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1973" cy="2997517"/>
            <a:chOff x="667512" y="1835468"/>
            <a:chExt cx="536197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197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树高、m 的取值与 B+ 树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算清到底能省下多少次读盘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高度上界 k ≤ 1 + log⌈m/2⌉((n+1)/2)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155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取 200 到 300 是为了对齐磁盘块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5351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B+ 树把索引和数据彻底分开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98843" cy="909257"/>
            <a:chOff x="520446" y="342900"/>
            <a:chExt cx="54988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051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484" y="407194"/>
              <a:ext cx="2618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树高、m 的取值与 B+ 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988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树的高度：先数最少有多少个结点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082790" cy="293370"/>
            <a:chOff x="525780" y="1548765"/>
            <a:chExt cx="708279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高度由叶结点的深度决定。把每一层的结点数往少了估，就能反过来卡住层数。</a:t>
              </a:r>
            </a:p>
          </p:txBody>
        </p:sp>
      </p:grpSp>
      <p:grpSp>
        <p:nvGrpSpPr>
          <p:cNvPr id="17" name="c1-bullets-1"/>
          <p:cNvGrpSpPr/>
          <p:nvPr/>
        </p:nvGrpSpPr>
        <p:grpSpPr>
          <a:xfrm>
            <a:off x="533400" y="1974532"/>
            <a:ext cx="2836506" cy="1106234"/>
            <a:chOff x="533400" y="1974532"/>
            <a:chExt cx="2836506" cy="1106234"/>
          </a:xfrm>
        </p:grpSpPr>
        <p:sp>
          <p:nvSpPr>
            <p:cNvPr id="9" name="Freeform 9"/>
            <p:cNvSpPr/>
            <p:nvPr/>
          </p:nvSpPr>
          <p:spPr>
            <a:xfrm>
              <a:off x="533400" y="1999298"/>
              <a:ext cx="115252" cy="93345"/>
            </a:xfrm>
            <a:custGeom>
              <a:avLst/>
              <a:gdLst/>
              <a:ahLst/>
              <a:cxnLst/>
              <a:rect l="l" t="t" r="r" b="b"/>
              <a:pathLst>
                <a:path w="115252" h="93345">
                  <a:moveTo>
                    <a:pt x="0" y="49530"/>
                  </a:moveTo>
                  <a:lnTo>
                    <a:pt x="43815" y="93345"/>
                  </a:lnTo>
                  <a:lnTo>
                    <a:pt x="11525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6856" y="1974532"/>
              <a:ext cx="2508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层是根，第 1 层至少 2 个结点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3400" y="2289810"/>
              <a:ext cx="115252" cy="93345"/>
            </a:xfrm>
            <a:custGeom>
              <a:avLst/>
              <a:gdLst/>
              <a:ahLst/>
              <a:cxnLst/>
              <a:rect l="l" t="t" r="r" b="b"/>
              <a:pathLst>
                <a:path w="115252" h="93345">
                  <a:moveTo>
                    <a:pt x="0" y="49530"/>
                  </a:moveTo>
                  <a:lnTo>
                    <a:pt x="43815" y="93345"/>
                  </a:lnTo>
                  <a:lnTo>
                    <a:pt x="11525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6856" y="2265045"/>
              <a:ext cx="2079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层至少 2·⌈m/2⌉ 个结点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533400" y="2580322"/>
              <a:ext cx="115252" cy="93345"/>
            </a:xfrm>
            <a:custGeom>
              <a:avLst/>
              <a:gdLst/>
              <a:ahLst/>
              <a:cxnLst/>
              <a:rect l="l" t="t" r="r" b="b"/>
              <a:pathLst>
                <a:path w="115252" h="93345">
                  <a:moveTo>
                    <a:pt x="0" y="49530"/>
                  </a:moveTo>
                  <a:lnTo>
                    <a:pt x="43815" y="93345"/>
                  </a:lnTo>
                  <a:lnTo>
                    <a:pt x="11525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6856" y="2555557"/>
              <a:ext cx="2168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层至少 2·⌈m/2⌉² 个结点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33400" y="2870835"/>
              <a:ext cx="115252" cy="93345"/>
            </a:xfrm>
            <a:custGeom>
              <a:avLst/>
              <a:gdLst/>
              <a:ahLst/>
              <a:cxnLst/>
              <a:rect l="l" t="t" r="r" b="b"/>
              <a:pathLst>
                <a:path w="115252" h="93345">
                  <a:moveTo>
                    <a:pt x="0" y="49530"/>
                  </a:moveTo>
                  <a:lnTo>
                    <a:pt x="43815" y="93345"/>
                  </a:lnTo>
                  <a:lnTo>
                    <a:pt x="11525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6856" y="2846070"/>
              <a:ext cx="261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层至少 2·⌈m/2⌉^{k−1} 个结点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9"/>
              <p:cNvSpPr txBox="1">
                <a:spLocks noGrp="1"/>
              </p:cNvSpPr>
              <p:nvPr/>
            </p:nvSpPr>
            <p:spPr>
              <a:xfrm>
                <a:off x="533400" y="3218498"/>
                <a:ext cx="5626418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sSup>
                        <m:e>
                          <m:d>
                            <m:dPr>
                              <m:begChr m:val="⌈"/>
                              <m:sepChr m:val=""/>
                              <m:endChr m:val="⌉"/>
                              <m:grow m:val="on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10"/>
              <p:cNvSpPr txBox="1">
                <a:spLocks noGrp="1"/>
              </p:cNvSpPr>
              <p:nvPr/>
            </p:nvSpPr>
            <p:spPr>
              <a:xfrm>
                <a:off x="533400" y="3880485"/>
                <a:ext cx="5626418" cy="642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unc>
                        <m:funcPr/>
                        <m:fName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e>
                            <m:sub>
                              <m:d>
                                <m:dPr>
                                  <m:begChr m:val="⌈"/>
                                  <m:sepChr m:val=""/>
                                  <m:endChr m:val="⌉"/>
                                  <m:grow m:val="on"/>
                                  <m:ctrlP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d>
                            </m:sub>
                          </m:sSub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/>
                            <m:fNam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7" name="c2-steps-1"/>
          <p:cNvGrpSpPr/>
          <p:nvPr/>
        </p:nvGrpSpPr>
        <p:grpSpPr>
          <a:xfrm>
            <a:off x="6464618" y="1964055"/>
            <a:ext cx="4253789" cy="2411159"/>
            <a:chOff x="6464618" y="1964055"/>
            <a:chExt cx="4253789" cy="2411159"/>
          </a:xfrm>
        </p:grpSpPr>
        <p:sp>
          <p:nvSpPr>
            <p:cNvPr id="20" name="Rectangle 20"/>
            <p:cNvSpPr/>
            <p:nvPr/>
          </p:nvSpPr>
          <p:spPr>
            <a:xfrm>
              <a:off x="6597968" y="210693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464618" y="19640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58241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64618" y="25850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8241" y="2658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64618" y="320611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8241" y="3279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64618" y="38261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8241" y="39000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6479" y="1996916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叶结点在第 k 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7622" y="2277428"/>
              <a:ext cx="3259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个关键词有 n+1 个叶结点，它们全在同一层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6479" y="26179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往少了估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7622" y="2898457"/>
              <a:ext cx="3679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根至少 2 个孩子，其余非叶结点至少 ⌈m/2⌉ 个孩子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76479" y="323897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解不等式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7622" y="3519488"/>
              <a:ext cx="38407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n+1 ≥ 2·⌈m/2⌉^{k−1}，两边取以 ⌈m/2⌉ 为底的对数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76479" y="386000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得到上界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7622" y="4140518"/>
              <a:ext cx="3316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≤ 1 + log⌈m/2⌉((n+1)/2)，即 O(log_m n)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464618" y="4551045"/>
            <a:ext cx="5193982" cy="756285"/>
            <a:chOff x="6464618" y="4551045"/>
            <a:chExt cx="5193982" cy="756285"/>
          </a:xfrm>
        </p:grpSpPr>
        <p:sp>
          <p:nvSpPr>
            <p:cNvPr id="38" name="Rectangle 38"/>
            <p:cNvSpPr/>
            <p:nvPr/>
          </p:nvSpPr>
          <p:spPr>
            <a:xfrm>
              <a:off x="6464618" y="4551045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57347" y="4825483"/>
              <a:ext cx="224134" cy="192560"/>
              <a:chOff x="6657347" y="4825483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769418" y="48958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657347" y="48254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769418" y="49736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971729" y="4698206"/>
              <a:ext cx="418934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这里的 k 是虚拟叶结点所在的层号，也是一次查找最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多要读的结点数，即外存访问次数的上界。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45" name="Rectangle 45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5753576"/>
              <a:ext cx="995121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复杂度写成 O(log_m n) 的前提是 m 固定。m 当成常数时它和 O(log n) 只差常数倍，但在外存场景下这个常数正是要争取的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东西。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83433" cy="909257"/>
            <a:chOff x="520446" y="342900"/>
            <a:chExt cx="65834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051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484" y="407194"/>
              <a:ext cx="2618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树高、m 的取值与 B+ 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834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取多大：让一个结点正好装满一个磁盘块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356256" cy="278702"/>
            <a:chOff x="526161" y="1547336"/>
            <a:chExt cx="1035625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3562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磁盘块是操作系统读写外存的最小单位。m 太小则树高，m 太大则一个结点要跨多个磁盘块，读一个结点反而要多次寻道。</a:t>
              </a:r>
            </a:p>
          </p:txBody>
        </p:sp>
      </p:grpSp>
      <p:grpSp>
        <p:nvGrpSpPr>
          <p:cNvPr id="47" name="c1-table-1"/>
          <p:cNvGrpSpPr/>
          <p:nvPr/>
        </p:nvGrpSpPr>
        <p:grpSpPr>
          <a:xfrm>
            <a:off x="528066" y="1941195"/>
            <a:ext cx="4983099" cy="2715196"/>
            <a:chOff x="528066" y="1941195"/>
            <a:chExt cx="4983099" cy="2715196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97776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6463" y="2065496"/>
              <a:ext cx="130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88621" y="2065496"/>
              <a:ext cx="478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⌈m/2⌉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22195" y="2065496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的上界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06671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最多层数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471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9702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25065" y="24712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34.22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126230" y="2356485"/>
              <a:ext cx="1374458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216718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479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752725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28770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29702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25065" y="28770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17.61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16718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1537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328279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29702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25065" y="32827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6.89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16718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559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564255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412" y="368855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29702" y="36885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25065" y="36885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16718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96525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3412" y="409432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29702" y="409432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25065" y="409432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5.59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126230" y="3979545"/>
              <a:ext cx="137445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16718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941195"/>
              <a:ext cx="4977765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324928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320290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111942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8066" y="4451032"/>
              <a:ext cx="25055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2×10¹⁰ 时，不同 m 对应的高度上界</a:t>
              </a:r>
            </a:p>
          </p:txBody>
        </p:sp>
      </p:grpSp>
      <p:grpSp>
        <p:nvGrpSpPr>
          <p:cNvPr id="53" name="c1-callout-2"/>
          <p:cNvGrpSpPr/>
          <p:nvPr/>
        </p:nvGrpSpPr>
        <p:grpSpPr>
          <a:xfrm>
            <a:off x="533400" y="4790122"/>
            <a:ext cx="4977765" cy="729615"/>
            <a:chOff x="533400" y="4790122"/>
            <a:chExt cx="4977765" cy="729615"/>
          </a:xfrm>
        </p:grpSpPr>
        <p:sp>
          <p:nvSpPr>
            <p:cNvPr id="48" name="Rectangle 48"/>
            <p:cNvSpPr/>
            <p:nvPr/>
          </p:nvSpPr>
          <p:spPr>
            <a:xfrm>
              <a:off x="533400" y="4790122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054920"/>
              <a:ext cx="200023" cy="200023"/>
              <a:chOff x="738188" y="505492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0549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51215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4935855"/>
              <a:ext cx="40942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多数数据库系统取 m = 200 ~ 300，一次查找最多 5 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 次外存访问。</a:t>
              </a:r>
            </a:p>
          </p:txBody>
        </p:sp>
      </p:grpSp>
      <p:grpSp>
        <p:nvGrpSpPr>
          <p:cNvPr id="74" name="c2-compare-1"/>
          <p:cNvGrpSpPr/>
          <p:nvPr/>
        </p:nvGrpSpPr>
        <p:grpSpPr>
          <a:xfrm>
            <a:off x="5815965" y="1941195"/>
            <a:ext cx="5842635" cy="1800225"/>
            <a:chOff x="5815965" y="1941195"/>
            <a:chExt cx="5842635" cy="1800225"/>
          </a:xfrm>
        </p:grpSpPr>
        <p:sp>
          <p:nvSpPr>
            <p:cNvPr id="54" name="Rectangle 54"/>
            <p:cNvSpPr/>
            <p:nvPr/>
          </p:nvSpPr>
          <p:spPr>
            <a:xfrm>
              <a:off x="5815965" y="1941195"/>
              <a:ext cx="2711768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825490" y="2074545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39612" y="215646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二叉查找树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055042" y="25326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11062" y="2476500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2×10¹⁰ 时高度约 35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055042" y="28346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11062" y="2778442"/>
              <a:ext cx="1594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 35 次外存访问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055042" y="31375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11062" y="308133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每次读盘只换来 1 次比较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946832" y="1941195"/>
              <a:ext cx="2711768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956358" y="2074545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170480" y="2156460"/>
              <a:ext cx="981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 阶 B 树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9185910" y="25326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341930" y="2476500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同样的 n，高度最多 5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9185910" y="28346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341930" y="2778442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 5 次外存访问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9185910" y="31375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341930" y="3081338"/>
              <a:ext cx="19425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每次读盘换来 299 个关键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8575358" y="267938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651829" y="278082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83" name="c2-card-2"/>
          <p:cNvGrpSpPr/>
          <p:nvPr/>
        </p:nvGrpSpPr>
        <p:grpSpPr>
          <a:xfrm>
            <a:off x="5815965" y="3916680"/>
            <a:ext cx="5842635" cy="1602105"/>
            <a:chOff x="5815965" y="3916680"/>
            <a:chExt cx="5842635" cy="1602105"/>
          </a:xfrm>
        </p:grpSpPr>
        <p:sp>
          <p:nvSpPr>
            <p:cNvPr id="75" name="Rectangle 75"/>
            <p:cNvSpPr/>
            <p:nvPr/>
          </p:nvSpPr>
          <p:spPr>
            <a:xfrm>
              <a:off x="5815965" y="3916680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5825490" y="405003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046470" y="410908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133910" y="41433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数量级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763512" y="4149090"/>
              <a:ext cx="1991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0.35 秒降到 0.05 秒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039612" y="4483418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按一次读盘 10ms 估：35 次约 0.35 秒，5 次约 0.05 秒，差 7 倍。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6055042" y="484155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211062" y="4785360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真实系统里上层结点会常驻内存缓存，实际只有最底下一两层真的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读盘</a:t>
              </a:r>
            </a:p>
          </p:txBody>
        </p:sp>
      </p:grpSp>
      <p:grpSp>
        <p:nvGrpSpPr>
          <p:cNvPr id="9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4" name="Rectangle 8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1040892" y="6023610"/>
              <a:ext cx="10045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“m 越大越好”不成立。m 大到一个结点跨越多个磁盘块时，读一个结点就变成多次外存访问，树高省下的被读盘次数吃回去。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78467" cy="909257"/>
            <a:chOff x="520446" y="342900"/>
            <a:chExt cx="46784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051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484" y="407194"/>
              <a:ext cx="2618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树高、m 的取值与 B+ 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784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B+ 树：把索引和数据彻底分开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793730" cy="293370"/>
            <a:chOff x="525780" y="1548765"/>
            <a:chExt cx="107937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7937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树的每个结点都存着关键词对应的数据记录，记录一大，一个磁盘块里能放的关键词就少。B+ 树让非叶结点只当索引。</a:t>
              </a:r>
            </a:p>
          </p:txBody>
        </p:sp>
      </p:grpSp>
      <p:grpSp>
        <p:nvGrpSpPr>
          <p:cNvPr id="32" name="c1-card-1"/>
          <p:cNvGrpSpPr/>
          <p:nvPr/>
        </p:nvGrpSpPr>
        <p:grpSpPr>
          <a:xfrm>
            <a:off x="533400" y="1954530"/>
            <a:ext cx="5842635" cy="3730942"/>
            <a:chOff x="533400" y="1954530"/>
            <a:chExt cx="5842635" cy="373094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842635" cy="3730942"/>
            </a:xfrm>
            <a:prstGeom prst="roundRect">
              <a:avLst>
                <a:gd name="adj" fmla="val 35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346424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1526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1060" y="21869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52931" y="2187416"/>
              <a:ext cx="9680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阶 B+ 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9620" y="251936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7965" y="25587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0514" y="2531269"/>
              <a:ext cx="23753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每个结点至多有 m 个子结点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9620" y="283654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7965" y="287688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0514" y="2849404"/>
              <a:ext cx="47074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除根结点外，其它每个非叶结点至少有 ⌈m/2⌉ 个子结点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9620" y="315468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7965" y="319406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0514" y="316658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根结点至少有两个子结点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9620" y="347186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7965" y="351220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0514" y="3484721"/>
              <a:ext cx="47574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n 个孩子的结点就有 n 个关键词，每个关键词对应一棵子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9620" y="406146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7965" y="41017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0514" y="4073366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非叶结点只含各孩子的最大关键词和指向孩子的指针，不存数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据记录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9620" y="465105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7965" y="469044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0514" y="4662964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叶结点含全部关键词和指向数据记录的指针，并按关键词递增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连成链表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680835" y="1954530"/>
            <a:ext cx="4977765" cy="1858328"/>
            <a:chOff x="6680835" y="1954530"/>
            <a:chExt cx="4977765" cy="1858328"/>
          </a:xfrm>
        </p:grpSpPr>
        <p:sp>
          <p:nvSpPr>
            <p:cNvPr id="33" name="Rectangle 33"/>
            <p:cNvSpPr/>
            <p:nvPr/>
          </p:nvSpPr>
          <p:spPr>
            <a:xfrm>
              <a:off x="6680835" y="1954530"/>
              <a:ext cx="4977765" cy="1858328"/>
            </a:xfrm>
            <a:prstGeom prst="roundRect">
              <a:avLst>
                <a:gd name="adj" fmla="val 717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78955" y="215265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50392" y="218694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两处最容易记混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29016" y="218741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孩子数等于关键词数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886575" y="259080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43166" y="2531269"/>
              <a:ext cx="42132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B 树：k 个孩子配 </a:t>
              </a:r>
              <a:r>
                <a:rPr lang="en-US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k−1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个关键词；B+ 树：n 个孩子配</a:t>
              </a:r>
              <a:br/>
              <a:r>
                <a:rPr lang="en-US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n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个关键词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886575" y="318039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43166" y="3120866"/>
              <a:ext cx="423443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B+ 树的叶结点包含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全部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关键词，非叶结点里的关键词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在叶层还会再出现一次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6680835" y="3992880"/>
            <a:ext cx="4977765" cy="756285"/>
            <a:chOff x="6680835" y="3992880"/>
            <a:chExt cx="4977765" cy="756285"/>
          </a:xfrm>
        </p:grpSpPr>
        <p:sp>
          <p:nvSpPr>
            <p:cNvPr id="42" name="Rectangle 42"/>
            <p:cNvSpPr/>
            <p:nvPr/>
          </p:nvSpPr>
          <p:spPr>
            <a:xfrm>
              <a:off x="6680835" y="3992880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885623" y="4271010"/>
              <a:ext cx="200026" cy="200025"/>
              <a:chOff x="6885623" y="4271010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885623" y="42710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925361" y="43154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960077" y="44265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187946" y="4140041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非叶结点不存数据，同样大小的磁盘块能放下更多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关键词，扇出更大，树更宽更矮。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6680835" y="4929188"/>
            <a:ext cx="4977765" cy="756285"/>
            <a:chOff x="6680835" y="4929188"/>
            <a:chExt cx="4977765" cy="756285"/>
          </a:xfrm>
        </p:grpSpPr>
        <p:sp>
          <p:nvSpPr>
            <p:cNvPr id="49" name="Rectangle 49"/>
            <p:cNvSpPr/>
            <p:nvPr/>
          </p:nvSpPr>
          <p:spPr>
            <a:xfrm>
              <a:off x="6680835" y="4929188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885623" y="5207318"/>
              <a:ext cx="200026" cy="200026"/>
              <a:chOff x="6885623" y="5207318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885623" y="52073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985635" y="52739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974523" y="53073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187946" y="5076349"/>
              <a:ext cx="405409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49 页第 3 条写作“根结点至少有两个子结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点”，和 B 树一样应理解为根不是叶结点的时候。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6" name="Rectangle 56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511" y="6011704"/>
              <a:ext cx="87083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B+ 树有两个头指针：一个指向根结点（树形查找用），一个指向关键词最小的叶结点（顺序查找用）。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07233" cy="909257"/>
            <a:chOff x="520446" y="342900"/>
            <a:chExt cx="52072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051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484" y="407194"/>
              <a:ext cx="2618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树高、m 的取值与 B+ 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072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 4 阶 B+ 树：叶层串成一条链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111740" cy="293370"/>
            <a:chOff x="525780" y="1548765"/>
            <a:chExt cx="1011174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111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每个非叶结点里的关键词是对应孩子中的最大值，所有关键词都在叶层再出现一次，叶结点之间用指针首尾相连。</a:t>
              </a:r>
            </a:p>
          </p:txBody>
        </p:sp>
      </p:grpSp>
      <p:grpSp>
        <p:nvGrpSpPr>
          <p:cNvPr id="55" name="c1-graph-1"/>
          <p:cNvGrpSpPr/>
          <p:nvPr/>
        </p:nvGrpSpPr>
        <p:grpSpPr>
          <a:xfrm>
            <a:off x="1137285" y="2048828"/>
            <a:ext cx="9555480" cy="2598896"/>
            <a:chOff x="1137285" y="2048828"/>
            <a:chExt cx="9555480" cy="2598896"/>
          </a:xfrm>
        </p:grpSpPr>
        <p:sp>
          <p:nvSpPr>
            <p:cNvPr id="9" name="Freeform 9"/>
            <p:cNvSpPr/>
            <p:nvPr/>
          </p:nvSpPr>
          <p:spPr>
            <a:xfrm>
              <a:off x="4182428" y="2363152"/>
              <a:ext cx="1468755" cy="519113"/>
            </a:xfrm>
            <a:custGeom>
              <a:avLst/>
              <a:gdLst/>
              <a:ahLst/>
              <a:cxnLst/>
              <a:rect l="l" t="t" r="r" b="b"/>
              <a:pathLst>
                <a:path w="1468755" h="519113">
                  <a:moveTo>
                    <a:pt x="1468755" y="0"/>
                  </a:moveTo>
                  <a:lnTo>
                    <a:pt x="0" y="51911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092892" y="2836545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0" y="77152"/>
                  </a:moveTo>
                  <a:lnTo>
                    <a:pt x="74295" y="0"/>
                  </a:lnTo>
                  <a:lnTo>
                    <a:pt x="105728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620828" y="2363152"/>
              <a:ext cx="1767840" cy="528638"/>
            </a:xfrm>
            <a:custGeom>
              <a:avLst/>
              <a:gdLst/>
              <a:ahLst/>
              <a:cxnLst/>
              <a:rect l="l" t="t" r="r" b="b"/>
              <a:pathLst>
                <a:path w="1767840" h="528638">
                  <a:moveTo>
                    <a:pt x="0" y="0"/>
                  </a:moveTo>
                  <a:lnTo>
                    <a:pt x="1767840" y="5286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375332" y="2846070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72390"/>
                  </a:moveTo>
                  <a:lnTo>
                    <a:pt x="0" y="90488"/>
                  </a:lnTo>
                  <a:lnTo>
                    <a:pt x="2762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796415" y="3228022"/>
              <a:ext cx="1503998" cy="678180"/>
            </a:xfrm>
            <a:custGeom>
              <a:avLst/>
              <a:gdLst/>
              <a:ahLst/>
              <a:cxnLst/>
              <a:rect l="l" t="t" r="r" b="b"/>
              <a:pathLst>
                <a:path w="1503998" h="678180">
                  <a:moveTo>
                    <a:pt x="1503998" y="0"/>
                  </a:moveTo>
                  <a:lnTo>
                    <a:pt x="0" y="6781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709738" y="3863340"/>
              <a:ext cx="106680" cy="86677"/>
            </a:xfrm>
            <a:custGeom>
              <a:avLst/>
              <a:gdLst/>
              <a:ahLst/>
              <a:cxnLst/>
              <a:rect l="l" t="t" r="r" b="b"/>
              <a:pathLst>
                <a:path w="106680" h="86677">
                  <a:moveTo>
                    <a:pt x="0" y="82867"/>
                  </a:moveTo>
                  <a:lnTo>
                    <a:pt x="67627" y="0"/>
                  </a:lnTo>
                  <a:lnTo>
                    <a:pt x="106680" y="8667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307080" y="3228022"/>
              <a:ext cx="271462" cy="612458"/>
            </a:xfrm>
            <a:custGeom>
              <a:avLst/>
              <a:gdLst/>
              <a:ahLst/>
              <a:cxnLst/>
              <a:rect l="l" t="t" r="r" b="b"/>
              <a:pathLst>
                <a:path w="271462" h="612458">
                  <a:moveTo>
                    <a:pt x="271462" y="0"/>
                  </a:moveTo>
                  <a:lnTo>
                    <a:pt x="0" y="6124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264218" y="3820478"/>
              <a:ext cx="86678" cy="106680"/>
            </a:xfrm>
            <a:custGeom>
              <a:avLst/>
              <a:gdLst/>
              <a:ahLst/>
              <a:cxnLst/>
              <a:rect l="l" t="t" r="r" b="b"/>
              <a:pathLst>
                <a:path w="86678" h="106680">
                  <a:moveTo>
                    <a:pt x="4762" y="106680"/>
                  </a:moveTo>
                  <a:lnTo>
                    <a:pt x="0" y="0"/>
                  </a:lnTo>
                  <a:lnTo>
                    <a:pt x="86678" y="3905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857625" y="3228022"/>
              <a:ext cx="853440" cy="641985"/>
            </a:xfrm>
            <a:custGeom>
              <a:avLst/>
              <a:gdLst/>
              <a:ahLst/>
              <a:cxnLst/>
              <a:rect l="l" t="t" r="r" b="b"/>
              <a:pathLst>
                <a:path w="853440" h="641985">
                  <a:moveTo>
                    <a:pt x="0" y="0"/>
                  </a:moveTo>
                  <a:lnTo>
                    <a:pt x="853440" y="6419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682490" y="3831908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95250"/>
                  </a:moveTo>
                  <a:lnTo>
                    <a:pt x="0" y="762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135755" y="3228022"/>
              <a:ext cx="2167890" cy="699135"/>
            </a:xfrm>
            <a:custGeom>
              <a:avLst/>
              <a:gdLst/>
              <a:ahLst/>
              <a:cxnLst/>
              <a:rect l="l" t="t" r="r" b="b"/>
              <a:pathLst>
                <a:path w="2167890" h="699135">
                  <a:moveTo>
                    <a:pt x="0" y="0"/>
                  </a:moveTo>
                  <a:lnTo>
                    <a:pt x="2167890" y="6991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288405" y="3881438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74295"/>
                  </a:moveTo>
                  <a:lnTo>
                    <a:pt x="0" y="90488"/>
                  </a:lnTo>
                  <a:lnTo>
                    <a:pt x="2952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8647748" y="3228022"/>
              <a:ext cx="271462" cy="612458"/>
            </a:xfrm>
            <a:custGeom>
              <a:avLst/>
              <a:gdLst/>
              <a:ahLst/>
              <a:cxnLst/>
              <a:rect l="l" t="t" r="r" b="b"/>
              <a:pathLst>
                <a:path w="271462" h="612458">
                  <a:moveTo>
                    <a:pt x="271462" y="0"/>
                  </a:moveTo>
                  <a:lnTo>
                    <a:pt x="0" y="6124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603932" y="3820478"/>
              <a:ext cx="87630" cy="106680"/>
            </a:xfrm>
            <a:custGeom>
              <a:avLst/>
              <a:gdLst/>
              <a:ahLst/>
              <a:cxnLst/>
              <a:rect l="l" t="t" r="r" b="b"/>
              <a:pathLst>
                <a:path w="87630" h="106680">
                  <a:moveTo>
                    <a:pt x="4762" y="106680"/>
                  </a:moveTo>
                  <a:lnTo>
                    <a:pt x="0" y="0"/>
                  </a:lnTo>
                  <a:lnTo>
                    <a:pt x="87630" y="3905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197340" y="3228022"/>
              <a:ext cx="853440" cy="641985"/>
            </a:xfrm>
            <a:custGeom>
              <a:avLst/>
              <a:gdLst/>
              <a:ahLst/>
              <a:cxnLst/>
              <a:rect l="l" t="t" r="r" b="b"/>
              <a:pathLst>
                <a:path w="853440" h="641985">
                  <a:moveTo>
                    <a:pt x="0" y="0"/>
                  </a:moveTo>
                  <a:lnTo>
                    <a:pt x="853440" y="6419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022205" y="3831908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95250"/>
                  </a:moveTo>
                  <a:lnTo>
                    <a:pt x="0" y="762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709738" y="4074795"/>
              <a:ext cx="1028700" cy="9525"/>
            </a:xfrm>
            <a:custGeom>
              <a:avLst/>
              <a:gdLst/>
              <a:ahLst/>
              <a:cxnLst/>
              <a:rect l="l" t="t" r="r" b="b"/>
              <a:pathLst>
                <a:path w="1028700" h="9525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738438" y="40271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3572828" y="4074795"/>
              <a:ext cx="945832" cy="9525"/>
            </a:xfrm>
            <a:custGeom>
              <a:avLst/>
              <a:gdLst/>
              <a:ahLst/>
              <a:cxnLst/>
              <a:rect l="l" t="t" r="r" b="b"/>
              <a:pathLst>
                <a:path w="945832" h="9525">
                  <a:moveTo>
                    <a:pt x="0" y="0"/>
                  </a:moveTo>
                  <a:lnTo>
                    <a:pt x="945832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518660" y="40271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5353050" y="4074795"/>
              <a:ext cx="945832" cy="9525"/>
            </a:xfrm>
            <a:custGeom>
              <a:avLst/>
              <a:gdLst/>
              <a:ahLst/>
              <a:cxnLst/>
              <a:rect l="l" t="t" r="r" b="b"/>
              <a:pathLst>
                <a:path w="945832" h="9525">
                  <a:moveTo>
                    <a:pt x="0" y="0"/>
                  </a:moveTo>
                  <a:lnTo>
                    <a:pt x="945832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298882" y="40271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133272" y="4074795"/>
              <a:ext cx="945833" cy="9525"/>
            </a:xfrm>
            <a:custGeom>
              <a:avLst/>
              <a:gdLst/>
              <a:ahLst/>
              <a:cxnLst/>
              <a:rect l="l" t="t" r="r" b="b"/>
              <a:pathLst>
                <a:path w="945833" h="9525">
                  <a:moveTo>
                    <a:pt x="0" y="0"/>
                  </a:moveTo>
                  <a:lnTo>
                    <a:pt x="945833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079105" y="40271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913495" y="4074795"/>
              <a:ext cx="944880" cy="9525"/>
            </a:xfrm>
            <a:custGeom>
              <a:avLst/>
              <a:gdLst/>
              <a:ahLst/>
              <a:cxnLst/>
              <a:rect l="l" t="t" r="r" b="b"/>
              <a:pathLst>
                <a:path w="944880" h="9525">
                  <a:moveTo>
                    <a:pt x="0" y="0"/>
                  </a:moveTo>
                  <a:lnTo>
                    <a:pt x="94488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858375" y="40271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541645" y="2048828"/>
              <a:ext cx="1108710" cy="314325"/>
            </a:xfrm>
            <a:prstGeom prst="roundRect">
              <a:avLst>
                <a:gd name="adj" fmla="val 3030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770822" y="2913698"/>
              <a:ext cx="1755458" cy="314325"/>
            </a:xfrm>
            <a:prstGeom prst="roundRect">
              <a:avLst>
                <a:gd name="adj" fmla="val 3030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480108" y="2913698"/>
              <a:ext cx="1016318" cy="314325"/>
            </a:xfrm>
            <a:prstGeom prst="roundRect">
              <a:avLst>
                <a:gd name="adj" fmla="val 3030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137285" y="3927158"/>
              <a:ext cx="572452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833688" y="3927158"/>
              <a:ext cx="73914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4613910" y="3927158"/>
              <a:ext cx="73914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394132" y="3927158"/>
              <a:ext cx="73914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74355" y="3927158"/>
              <a:ext cx="73914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953625" y="3927158"/>
              <a:ext cx="73914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05143" y="2140268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60 85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249432" y="3005138"/>
              <a:ext cx="7972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10 20 50 60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97885" y="3005138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77 85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36071" y="40100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12400" y="4010025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16 20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92623" y="4010025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40 50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72845" y="4010025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55 60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53068" y="4010025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69 77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132338" y="4010025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80 85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185639" y="250269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索引层：只有关键词和指针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722007" y="4427696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叶层：全部关键词 + 指向磁盘记录的指针</a:t>
              </a:r>
            </a:p>
          </p:txBody>
        </p:sp>
      </p:grpSp>
      <p:grpSp>
        <p:nvGrpSpPr>
          <p:cNvPr id="61" name="c1-kv-2"/>
          <p:cNvGrpSpPr/>
          <p:nvPr/>
        </p:nvGrpSpPr>
        <p:grpSpPr>
          <a:xfrm>
            <a:off x="526161" y="4953476"/>
            <a:ext cx="11132439" cy="700660"/>
            <a:chOff x="526161" y="4953476"/>
            <a:chExt cx="11132439" cy="700660"/>
          </a:xfrm>
        </p:grpSpPr>
        <p:sp>
          <p:nvSpPr>
            <p:cNvPr id="56" name="TextBox 56"/>
            <p:cNvSpPr txBox="1"/>
            <p:nvPr/>
          </p:nvSpPr>
          <p:spPr>
            <a:xfrm>
              <a:off x="526161" y="4953476"/>
              <a:ext cx="15208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结点 10 20 50 60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253996" y="4953476"/>
              <a:ext cx="60073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四个孩子 10 / 16 20 / 40 50 / 55 60 的最大值依次是 10、20、50、60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52597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26161" y="53754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叶层链表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253996" y="5375434"/>
              <a:ext cx="63227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顺着链走一遍就是全部关键词的递增序列，区间查找只要定位一次再往后走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2" name="Rectangle 6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511" y="6004084"/>
              <a:ext cx="90754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 60 时，在根里命中 60 也不能停，要继续往下走到叶结点，因为只有叶结点才存着指向数据记录的指针。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648624" cy="909257"/>
            <a:chOff x="520446" y="342900"/>
            <a:chExt cx="36486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051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484" y="407194"/>
              <a:ext cx="2618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树高、m 的取值与 B+ 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6486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B+ 树就是一本书的目录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246163" cy="264033"/>
            <a:chOff x="526542" y="1545907"/>
            <a:chExt cx="724616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246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目录页很薄，正文很厚。先在目录里定位页码，再翻到那一页，这正是 B+ 树查找的两段。</a:t>
              </a:r>
            </a:p>
          </p:txBody>
        </p:sp>
      </p:grpSp>
      <p:grpSp>
        <p:nvGrpSpPr>
          <p:cNvPr id="11" name="c1-image-1"/>
          <p:cNvGrpSpPr/>
          <p:nvPr/>
        </p:nvGrpSpPr>
        <p:grpSpPr>
          <a:xfrm>
            <a:off x="1285875" y="1928812"/>
            <a:ext cx="3688080" cy="3048667"/>
            <a:chOff x="1285875" y="1928812"/>
            <a:chExt cx="3688080" cy="3048667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5875" y="1928812"/>
              <a:ext cx="3688080" cy="2766060"/>
            </a:xfrm>
            <a:prstGeom prst="roundRect">
              <a:avLst>
                <a:gd name="adj" fmla="val 4820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871650" y="478678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目录只记标题和页码，正文才是真正的内容</a:t>
              </a:r>
            </a:p>
          </p:txBody>
        </p:sp>
      </p:grpSp>
      <p:grpSp>
        <p:nvGrpSpPr>
          <p:cNvPr id="23" name="c2-kv-1"/>
          <p:cNvGrpSpPr/>
          <p:nvPr/>
        </p:nvGrpSpPr>
        <p:grpSpPr>
          <a:xfrm>
            <a:off x="6025324" y="1950720"/>
            <a:ext cx="5633276" cy="1441323"/>
            <a:chOff x="6025324" y="1950720"/>
            <a:chExt cx="5633276" cy="1441323"/>
          </a:xfrm>
        </p:grpSpPr>
        <p:sp>
          <p:nvSpPr>
            <p:cNvPr id="12" name="TextBox 12"/>
            <p:cNvSpPr txBox="1"/>
            <p:nvPr/>
          </p:nvSpPr>
          <p:spPr>
            <a:xfrm>
              <a:off x="6025324" y="195072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书的目录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44537" y="195072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只有章节名和页码，薄，可以整本随身带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32182" y="22374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25324" y="2343150"/>
              <a:ext cx="10229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B+ 树索引层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44537" y="234315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只有关键词和指针，小，可以整个放进内存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32182" y="26298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25324" y="273558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书的正文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44537" y="27355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厚，放在书架上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32182" y="30222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25324" y="312801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磁盘数据文件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44537" y="312801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大，放在外存上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032182" y="3509010"/>
            <a:ext cx="5626418" cy="1503045"/>
            <a:chOff x="6032182" y="3509010"/>
            <a:chExt cx="5626418" cy="1503045"/>
          </a:xfrm>
        </p:grpSpPr>
        <p:sp>
          <p:nvSpPr>
            <p:cNvPr id="24" name="Rectangle 24"/>
            <p:cNvSpPr/>
            <p:nvPr/>
          </p:nvSpPr>
          <p:spPr>
            <a:xfrm>
              <a:off x="6032182" y="3509010"/>
              <a:ext cx="5626418" cy="1503045"/>
            </a:xfrm>
            <a:prstGeom prst="roundRect">
              <a:avLst>
                <a:gd name="adj" fmla="val 8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41708" y="3642360"/>
              <a:ext cx="47625" cy="123634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6972" y="369570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48692" y="37285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22567" y="373094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索引放内存时，一次查找只读一次盘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50114" y="4056698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索引层常驻内存时，树形查找全在内存里完成，最后按叶结点里的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指针读一次磁盘取记录。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65545" y="467010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21564" y="4613910"/>
              <a:ext cx="44625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索引大到要放磁盘时，B+ 树更宽更矮的优势才体现出来</a:t>
              </a:r>
            </a:p>
          </p:txBody>
        </p:sp>
      </p:grpSp>
      <p:grpSp>
        <p:nvGrpSpPr>
          <p:cNvPr id="39" name="c2-callout-3"/>
          <p:cNvGrpSpPr/>
          <p:nvPr/>
        </p:nvGrpSpPr>
        <p:grpSpPr>
          <a:xfrm>
            <a:off x="6032182" y="5181600"/>
            <a:ext cx="5626418" cy="481012"/>
            <a:chOff x="6032182" y="5181600"/>
            <a:chExt cx="5626418" cy="481012"/>
          </a:xfrm>
        </p:grpSpPr>
        <p:sp>
          <p:nvSpPr>
            <p:cNvPr id="33" name="Rectangle 33"/>
            <p:cNvSpPr/>
            <p:nvPr/>
          </p:nvSpPr>
          <p:spPr>
            <a:xfrm>
              <a:off x="6032182" y="5181600"/>
              <a:ext cx="5626418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236970" y="5321618"/>
              <a:ext cx="200026" cy="200026"/>
              <a:chOff x="6236970" y="5321618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236970" y="53216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336983" y="53882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325870" y="54216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539674" y="5327333"/>
              <a:ext cx="4520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51、52 页用学生表和书的目录说明同一件事。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0" name="Rectangle 4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6028373"/>
              <a:ext cx="8336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数据库里给一列建索引，建的就是这样一棵 B+ 树；索引本身也要占磁盘空间，也要随着写入一起维护。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09202" cy="909257"/>
            <a:chOff x="520446" y="342900"/>
            <a:chExt cx="54092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051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484" y="407194"/>
              <a:ext cx="2618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树高、m 的取值与 B+ 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092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阶 B+ 树与 m 阶 B 树的五处差别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11125200" cy="3185160"/>
            <a:chOff x="533400" y="1524000"/>
            <a:chExt cx="11125200" cy="31851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20393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15974" y="1652588"/>
              <a:ext cx="4246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B+ 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93407" y="1652588"/>
              <a:ext cx="3260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076450"/>
              <a:ext cx="2145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n 棵子树的结点含关键词数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212782" y="1958340"/>
              <a:ext cx="4431030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05746" y="207645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55826" y="2076450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n−1 个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3679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372678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5889" y="250126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除根外每个结点含关键词数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05746" y="2501265"/>
              <a:ext cx="924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[⌈m/2⌉, m]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55826" y="2501265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[⌈m/2⌉−1, m−1]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79273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5889" y="292608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根结点含关键词数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05746" y="2926080"/>
              <a:ext cx="537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[1, m]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55826" y="2926080"/>
              <a:ext cx="714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[1, m−1]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216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221355"/>
              <a:ext cx="11125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5889" y="345662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结点与关键词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05746" y="3349942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所有叶结点含全部关键词，非叶结点的关键词在叶层重复出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55826" y="3456622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叶结点的关键词与其它结点的关键词不重复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854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889" y="398811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头指针个数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212782" y="3869055"/>
              <a:ext cx="4431030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305746" y="3988118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两个：一个指向根，一个指向最小关键词的叶结点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55826" y="398811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一个：根结点指针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2795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28434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889" y="44119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记录存储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05746" y="4411980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非叶结点只含孩子的最大关键词和指针，不含记录地址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55826" y="441198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每个非叶结点存关键词及其对应的数据记录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11125200" cy="31842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3198495" y="1524000"/>
              <a:ext cx="9525" cy="3184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48575" y="1524000"/>
              <a:ext cx="9525" cy="3184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1-callout-2"/>
          <p:cNvGrpSpPr/>
          <p:nvPr/>
        </p:nvGrpSpPr>
        <p:grpSpPr>
          <a:xfrm>
            <a:off x="533400" y="4888230"/>
            <a:ext cx="11125200" cy="799148"/>
            <a:chOff x="533400" y="4888230"/>
            <a:chExt cx="11125200" cy="799148"/>
          </a:xfrm>
        </p:grpSpPr>
        <p:sp>
          <p:nvSpPr>
            <p:cNvPr id="43" name="Rectangle 43"/>
            <p:cNvSpPr/>
            <p:nvPr/>
          </p:nvSpPr>
          <p:spPr>
            <a:xfrm>
              <a:off x="533400" y="4888230"/>
              <a:ext cx="11125200" cy="799148"/>
            </a:xfrm>
            <a:prstGeom prst="roundRect">
              <a:avLst>
                <a:gd name="adj" fmla="val 1430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26129" y="5184576"/>
              <a:ext cx="224134" cy="192560"/>
              <a:chOff x="726129" y="5184576"/>
              <a:chExt cx="224134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38200" y="52549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26129" y="51845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53327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5057299"/>
              <a:ext cx="1005039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表里的关键词数区间是按“孩子数减一还是等于孩子数”推出来的，不要死记。B+ 树孩子数等于关键词数，所以区间整体比 B 树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往上挪了 1。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0" name="Rectangle 50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511" y="6011704"/>
              <a:ext cx="83065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记忆抓手：B 树的关键词分散在各层且不重复，B+ 树的关键词全部落在叶层，上面几层只是路标。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94872" cy="909257"/>
            <a:chOff x="520446" y="342900"/>
            <a:chExt cx="63948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051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484" y="407194"/>
              <a:ext cx="2618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树高、m 的取值与 B+ 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948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B+ 树的查找：不管成功与否都走到叶结点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1535430"/>
            <a:chOff x="533400" y="1524000"/>
            <a:chExt cx="5626418" cy="15354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35430"/>
            </a:xfrm>
            <a:prstGeom prst="roundRect">
              <a:avLst>
                <a:gd name="adj" fmla="val 86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687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两种查找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14297" y="175641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顺序查找与树形查找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1469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090738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顺序查找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：从最小关键词的叶结点出发，顺着叶层链表往后走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44887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39268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树形查找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：从根出发，按关键词选分支往下走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8190" y="2691289"/>
              <a:ext cx="3511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插入和删除的过程与 B 树基本相同，只是发生在叶层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234690"/>
            <a:ext cx="5626418" cy="1786890"/>
            <a:chOff x="533400" y="3234690"/>
            <a:chExt cx="5626418" cy="1786890"/>
          </a:xfrm>
        </p:grpSpPr>
        <p:sp>
          <p:nvSpPr>
            <p:cNvPr id="18" name="Rectangle 18"/>
            <p:cNvSpPr/>
            <p:nvPr/>
          </p:nvSpPr>
          <p:spPr>
            <a:xfrm>
              <a:off x="533400" y="3234690"/>
              <a:ext cx="5626418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36804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3905" y="3427095"/>
              <a:ext cx="1570672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8133" y="3461385"/>
              <a:ext cx="146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和 B 树最大的行为差别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42020" y="34671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非叶结点命中也不停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047" y="3801427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在非叶结点上遇到等于给定值的关键词时不终止，继续往下直到叶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72478" y="44167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8497" y="436054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每次查找走的都是从根到叶的完整路径，长度固定，性能稳定；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树则可能在上层就命中，快慢不均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5196840"/>
            <a:ext cx="5626418" cy="488632"/>
            <a:chOff x="533400" y="5196840"/>
            <a:chExt cx="5626418" cy="488632"/>
          </a:xfrm>
        </p:grpSpPr>
        <p:sp>
          <p:nvSpPr>
            <p:cNvPr id="27" name="Rectangle 27"/>
            <p:cNvSpPr/>
            <p:nvPr/>
          </p:nvSpPr>
          <p:spPr>
            <a:xfrm>
              <a:off x="533400" y="5196840"/>
              <a:ext cx="5626418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340668"/>
              <a:ext cx="200026" cy="200025"/>
              <a:chOff x="738188" y="5340668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3406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53851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54962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5346383"/>
              <a:ext cx="488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区间查找只在 B+ 树上高效：定位一次，再顺着叶层链表走。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464618" y="1524000"/>
            <a:ext cx="5193982" cy="1877378"/>
            <a:chOff x="6464618" y="1524000"/>
            <a:chExt cx="5193982" cy="1877378"/>
          </a:xfrm>
        </p:grpSpPr>
        <p:sp>
          <p:nvSpPr>
            <p:cNvPr id="34" name="Rectangle 34"/>
            <p:cNvSpPr/>
            <p:nvPr/>
          </p:nvSpPr>
          <p:spPr>
            <a:xfrm>
              <a:off x="6464618" y="1524000"/>
              <a:ext cx="5193982" cy="1877378"/>
            </a:xfrm>
            <a:prstGeom prst="roundRect">
              <a:avLst>
                <a:gd name="adj" fmla="val 71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4142" y="1657350"/>
              <a:ext cx="47625" cy="16106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95122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78562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考研真题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45514" y="1756410"/>
              <a:ext cx="25269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B+ 树不同于 B 树的特点之一是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88264" y="2090738"/>
              <a:ext cx="15547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能支持顺序查找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88264" y="2392680"/>
              <a:ext cx="1736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结点中含有关键字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88264" y="2695575"/>
              <a:ext cx="2099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根结点至少有两个分支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88264" y="2997518"/>
              <a:ext cx="2281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所有叶结点都在同一层上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464618" y="3576638"/>
            <a:ext cx="5193982" cy="2108835"/>
            <a:chOff x="6464618" y="3576638"/>
            <a:chExt cx="5193982" cy="2108835"/>
          </a:xfrm>
        </p:grpSpPr>
        <p:sp>
          <p:nvSpPr>
            <p:cNvPr id="44" name="Rectangle 44"/>
            <p:cNvSpPr/>
            <p:nvPr/>
          </p:nvSpPr>
          <p:spPr>
            <a:xfrm>
              <a:off x="6464618" y="3576638"/>
              <a:ext cx="5193982" cy="2108835"/>
            </a:xfrm>
            <a:prstGeom prst="roundRect">
              <a:avLst>
                <a:gd name="adj" fmla="val 63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57022" y="376904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48462" y="38033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40714" y="3808095"/>
              <a:ext cx="3668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 A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665595" y="419862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21614" y="4142422"/>
              <a:ext cx="3880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B、C、D 三条 B 树同样满足，不能用来区分两者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65595" y="450151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21614" y="4445318"/>
              <a:ext cx="44199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只有叶层链表是 B+ 树独有的，它让顺序查找和区间查找成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为可能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51308" y="5001101"/>
              <a:ext cx="45417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树要顺序遍历只能做中根遍历，途中要在各层之间反复跳，在外存上代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价很高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4" name="Rectangle 5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3610"/>
              <a:ext cx="90059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B+ 树查找成功时停在叶结点上，取出指针再读一次数据文件；失败时同样走到叶层，在链表里找不到该关键词。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29879" cy="909257"/>
            <a:chOff x="520446" y="342900"/>
            <a:chExt cx="44298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051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484" y="407194"/>
              <a:ext cx="2618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树高、m 的取值与 B+ 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298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树和 B+ 树真的被用在哪里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kv-1"/>
          <p:cNvGrpSpPr/>
          <p:nvPr/>
        </p:nvGrpSpPr>
        <p:grpSpPr>
          <a:xfrm>
            <a:off x="525780" y="1548765"/>
            <a:ext cx="4985385" cy="1297305"/>
            <a:chOff x="525780" y="1548765"/>
            <a:chExt cx="4985385" cy="129730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文件系统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65935" y="1548765"/>
              <a:ext cx="33108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NTFS、Apple HFS+ 与 APFS、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EXT4 的目录与元数据索引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数据库系统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65935" y="2270760"/>
              <a:ext cx="34061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Oracle、SQL Server、DB2、MySQL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默认索引结构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2977515"/>
            <a:ext cx="4977765" cy="2453640"/>
            <a:chOff x="533400" y="2977515"/>
            <a:chExt cx="4977765" cy="2453640"/>
          </a:xfrm>
        </p:grpSpPr>
        <p:sp>
          <p:nvSpPr>
            <p:cNvPr id="13" name="Rectangle 13"/>
            <p:cNvSpPr/>
            <p:nvPr/>
          </p:nvSpPr>
          <p:spPr>
            <a:xfrm>
              <a:off x="533400" y="2977515"/>
              <a:ext cx="4977765" cy="2453640"/>
            </a:xfrm>
            <a:prstGeom prst="roundRect">
              <a:avLst>
                <a:gd name="adj" fmla="val 54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110865"/>
              <a:ext cx="47625" cy="218694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18706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4507" y="322278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为什么是它们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50720" y="322230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共同点是数据在外存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358330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文件系统要在一个目录里定位一个文件名，数据库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要在一张表里定位一行，数据都在磁盘上。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26720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420433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结点大小对齐磁盘块，一次读盘换来几百个关键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6765" y="488823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482536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树高只有几层，且上层结点能常驻内存缓存</a:t>
              </a:r>
            </a:p>
          </p:txBody>
        </p:sp>
      </p:grpSp>
      <p:grpSp>
        <p:nvGrpSpPr>
          <p:cNvPr id="84" name="c2-graph-1"/>
          <p:cNvGrpSpPr/>
          <p:nvPr/>
        </p:nvGrpSpPr>
        <p:grpSpPr>
          <a:xfrm>
            <a:off x="5956935" y="1819275"/>
            <a:ext cx="5521643" cy="2135029"/>
            <a:chOff x="5956935" y="1819275"/>
            <a:chExt cx="5521643" cy="2135029"/>
          </a:xfrm>
        </p:grpSpPr>
        <p:sp>
          <p:nvSpPr>
            <p:cNvPr id="24" name="Freeform 24"/>
            <p:cNvSpPr/>
            <p:nvPr/>
          </p:nvSpPr>
          <p:spPr>
            <a:xfrm>
              <a:off x="6453188" y="1952625"/>
              <a:ext cx="1998345" cy="9525"/>
            </a:xfrm>
            <a:custGeom>
              <a:avLst/>
              <a:gdLst/>
              <a:ahLst/>
              <a:cxnLst/>
              <a:rect l="l" t="t" r="r" b="b"/>
              <a:pathLst>
                <a:path w="1998345" h="9525">
                  <a:moveTo>
                    <a:pt x="0" y="0"/>
                  </a:moveTo>
                  <a:lnTo>
                    <a:pt x="19983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451532" y="1905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8927782" y="1952625"/>
              <a:ext cx="1998345" cy="9525"/>
            </a:xfrm>
            <a:custGeom>
              <a:avLst/>
              <a:gdLst/>
              <a:ahLst/>
              <a:cxnLst/>
              <a:rect l="l" t="t" r="r" b="b"/>
              <a:pathLst>
                <a:path w="1998345" h="9525">
                  <a:moveTo>
                    <a:pt x="0" y="0"/>
                  </a:moveTo>
                  <a:lnTo>
                    <a:pt x="19983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926128" y="1905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6453188" y="2714625"/>
              <a:ext cx="887730" cy="9525"/>
            </a:xfrm>
            <a:custGeom>
              <a:avLst/>
              <a:gdLst/>
              <a:ahLst/>
              <a:cxnLst/>
              <a:rect l="l" t="t" r="r" b="b"/>
              <a:pathLst>
                <a:path w="887730" h="9525">
                  <a:moveTo>
                    <a:pt x="0" y="0"/>
                  </a:moveTo>
                  <a:lnTo>
                    <a:pt x="8877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340918" y="2667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817168" y="2714625"/>
              <a:ext cx="634365" cy="9525"/>
            </a:xfrm>
            <a:custGeom>
              <a:avLst/>
              <a:gdLst/>
              <a:ahLst/>
              <a:cxnLst/>
              <a:rect l="l" t="t" r="r" b="b"/>
              <a:pathLst>
                <a:path w="634365" h="9525">
                  <a:moveTo>
                    <a:pt x="0" y="0"/>
                  </a:moveTo>
                  <a:lnTo>
                    <a:pt x="6343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451532" y="2667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927782" y="2714625"/>
              <a:ext cx="906780" cy="9525"/>
            </a:xfrm>
            <a:custGeom>
              <a:avLst/>
              <a:gdLst/>
              <a:ahLst/>
              <a:cxnLst/>
              <a:rect l="l" t="t" r="r" b="b"/>
              <a:pathLst>
                <a:path w="906780" h="9525">
                  <a:moveTo>
                    <a:pt x="0" y="0"/>
                  </a:moveTo>
                  <a:lnTo>
                    <a:pt x="9067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834562" y="2667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10348912" y="2714625"/>
              <a:ext cx="577215" cy="9525"/>
            </a:xfrm>
            <a:custGeom>
              <a:avLst/>
              <a:gdLst/>
              <a:ahLst/>
              <a:cxnLst/>
              <a:rect l="l" t="t" r="r" b="b"/>
              <a:pathLst>
                <a:path w="577215" h="9525">
                  <a:moveTo>
                    <a:pt x="0" y="0"/>
                  </a:moveTo>
                  <a:lnTo>
                    <a:pt x="5772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926128" y="2667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376035" y="3548062"/>
              <a:ext cx="282893" cy="9525"/>
            </a:xfrm>
            <a:custGeom>
              <a:avLst/>
              <a:gdLst/>
              <a:ahLst/>
              <a:cxnLst/>
              <a:rect l="l" t="t" r="r" b="b"/>
              <a:pathLst>
                <a:path w="282893" h="9525">
                  <a:moveTo>
                    <a:pt x="0" y="0"/>
                  </a:moveTo>
                  <a:lnTo>
                    <a:pt x="28289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658928" y="35004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097078" y="3548062"/>
              <a:ext cx="262890" cy="9525"/>
            </a:xfrm>
            <a:custGeom>
              <a:avLst/>
              <a:gdLst/>
              <a:ahLst/>
              <a:cxnLst/>
              <a:rect l="l" t="t" r="r" b="b"/>
              <a:pathLst>
                <a:path w="262890" h="9525">
                  <a:moveTo>
                    <a:pt x="0" y="0"/>
                  </a:moveTo>
                  <a:lnTo>
                    <a:pt x="2628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359968" y="35004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7798118" y="3548062"/>
              <a:ext cx="262890" cy="9525"/>
            </a:xfrm>
            <a:custGeom>
              <a:avLst/>
              <a:gdLst/>
              <a:ahLst/>
              <a:cxnLst/>
              <a:rect l="l" t="t" r="r" b="b"/>
              <a:pathLst>
                <a:path w="262890" h="9525">
                  <a:moveTo>
                    <a:pt x="0" y="0"/>
                  </a:moveTo>
                  <a:lnTo>
                    <a:pt x="2628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061008" y="35004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499158" y="3548062"/>
              <a:ext cx="263843" cy="9525"/>
            </a:xfrm>
            <a:custGeom>
              <a:avLst/>
              <a:gdLst/>
              <a:ahLst/>
              <a:cxnLst/>
              <a:rect l="l" t="t" r="r" b="b"/>
              <a:pathLst>
                <a:path w="263843" h="9525">
                  <a:moveTo>
                    <a:pt x="0" y="0"/>
                  </a:moveTo>
                  <a:lnTo>
                    <a:pt x="26384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763000" y="35004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9201150" y="3548062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444990" y="35004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9921240" y="3548062"/>
              <a:ext cx="224790" cy="9525"/>
            </a:xfrm>
            <a:custGeom>
              <a:avLst/>
              <a:gdLst/>
              <a:ahLst/>
              <a:cxnLst/>
              <a:rect l="l" t="t" r="r" b="b"/>
              <a:pathLst>
                <a:path w="224790" h="9525">
                  <a:moveTo>
                    <a:pt x="0" y="0"/>
                  </a:moveTo>
                  <a:lnTo>
                    <a:pt x="2247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0146030" y="35004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10622280" y="3548062"/>
              <a:ext cx="322897" cy="9525"/>
            </a:xfrm>
            <a:custGeom>
              <a:avLst/>
              <a:gdLst/>
              <a:ahLst/>
              <a:cxnLst/>
              <a:rect l="l" t="t" r="r" b="b"/>
              <a:pathLst>
                <a:path w="322897" h="9525">
                  <a:moveTo>
                    <a:pt x="0" y="0"/>
                  </a:moveTo>
                  <a:lnTo>
                    <a:pt x="32289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0945178" y="35004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995988" y="1819275"/>
              <a:ext cx="4572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546782" y="1819275"/>
              <a:ext cx="3810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1021378" y="1819275"/>
              <a:ext cx="4572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995988" y="2581275"/>
              <a:ext cx="4572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436168" y="2581275"/>
              <a:ext cx="3810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546782" y="2581275"/>
              <a:ext cx="3810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929812" y="2581275"/>
              <a:ext cx="4191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1021378" y="2581275"/>
              <a:ext cx="4572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956935" y="3414712"/>
              <a:ext cx="4191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754178" y="3414712"/>
              <a:ext cx="3429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455218" y="3414712"/>
              <a:ext cx="3429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156258" y="3414712"/>
              <a:ext cx="3429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858250" y="3414712"/>
              <a:ext cx="3429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9540240" y="3414712"/>
              <a:ext cx="3810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241280" y="3414712"/>
              <a:ext cx="3810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1040428" y="3414712"/>
              <a:ext cx="4191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137623" y="1886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−∞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691133" y="18869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163013" y="1886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137623" y="2648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−∞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80518" y="26489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691133" y="26489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052398" y="2648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163013" y="2648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079521" y="34823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−∞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79478" y="34823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580518" y="34823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281558" y="34823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983551" y="34823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643776" y="34823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344816" y="34823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163013" y="34823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+∞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580793" y="22121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索引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430019" y="37342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实际数据</a:t>
              </a:r>
            </a:p>
          </p:txBody>
        </p:sp>
      </p:grpSp>
      <p:grpSp>
        <p:nvGrpSpPr>
          <p:cNvPr id="91" name="c2-callout-2"/>
          <p:cNvGrpSpPr/>
          <p:nvPr/>
        </p:nvGrpSpPr>
        <p:grpSpPr>
          <a:xfrm>
            <a:off x="5815965" y="4095750"/>
            <a:ext cx="5842635" cy="1335405"/>
            <a:chOff x="5815965" y="4095750"/>
            <a:chExt cx="5842635" cy="1335405"/>
          </a:xfrm>
        </p:grpSpPr>
        <p:sp>
          <p:nvSpPr>
            <p:cNvPr id="85" name="Rectangle 85"/>
            <p:cNvSpPr/>
            <p:nvPr/>
          </p:nvSpPr>
          <p:spPr>
            <a:xfrm>
              <a:off x="5815965" y="4095750"/>
              <a:ext cx="5842635" cy="1335405"/>
            </a:xfrm>
            <a:prstGeom prst="roundRect">
              <a:avLst>
                <a:gd name="adj" fmla="val 85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6020753" y="4663440"/>
              <a:ext cx="200026" cy="200025"/>
              <a:chOff x="6020753" y="4663440"/>
              <a:chExt cx="200026" cy="200025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6020753" y="46634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6060491" y="47078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6095207" y="48190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6322695" y="4244340"/>
              <a:ext cx="491109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跳跃表和 B+ 树的思路一样：底层是一条有序链表，上面叠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几层稀疏索引。区别是跳跃表用随机层数代替分裂与合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并，实现简单，常用于内存结构（如 Redis 的有序集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合）。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398264" cy="2997517"/>
            <a:chOff x="667512" y="1835468"/>
            <a:chExt cx="439826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数字查找树与字典树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关键词不是结点，而是一条路径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07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按关键词的第 i 个字符选第 i 层的分支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查找代价只和串长有关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天生支持前缀匹配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64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092" y="407194"/>
              <a:ext cx="2319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数字查找树与字典树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字典树：关键词是从根到叶的一条路径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50982" cy="308039"/>
            <a:chOff x="525399" y="1550194"/>
            <a:chExt cx="1065098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5098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前面所有查找树都把关键词整个放在结点里比较。字典树反过来，把关键词拆成字符，一个字符决定一层的分支。</a:t>
              </a:r>
            </a:p>
          </p:txBody>
        </p:sp>
      </p:grpSp>
      <p:grpSp>
        <p:nvGrpSpPr>
          <p:cNvPr id="50" name="c1-tree-1"/>
          <p:cNvGrpSpPr/>
          <p:nvPr/>
        </p:nvGrpSpPr>
        <p:grpSpPr>
          <a:xfrm>
            <a:off x="912495" y="2129790"/>
            <a:ext cx="4652010" cy="2914650"/>
            <a:chOff x="912495" y="2129790"/>
            <a:chExt cx="4652010" cy="2914650"/>
          </a:xfrm>
        </p:grpSpPr>
        <p:sp>
          <p:nvSpPr>
            <p:cNvPr id="9" name="Freeform 9"/>
            <p:cNvSpPr/>
            <p:nvPr/>
          </p:nvSpPr>
          <p:spPr>
            <a:xfrm>
              <a:off x="1074420" y="3587115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56460" y="4234815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156460" y="3587115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74420" y="2939415"/>
              <a:ext cx="541020" cy="647700"/>
            </a:xfrm>
            <a:custGeom>
              <a:avLst/>
              <a:gdLst/>
              <a:ahLst/>
              <a:cxnLst/>
              <a:rect l="l" t="t" r="r" b="b"/>
              <a:pathLst>
                <a:path w="541020" h="647700">
                  <a:moveTo>
                    <a:pt x="541020" y="0"/>
                  </a:moveTo>
                  <a:lnTo>
                    <a:pt x="0" y="647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615440" y="2939415"/>
              <a:ext cx="541020" cy="647700"/>
            </a:xfrm>
            <a:custGeom>
              <a:avLst/>
              <a:gdLst/>
              <a:ahLst/>
              <a:cxnLst/>
              <a:rect l="l" t="t" r="r" b="b"/>
              <a:pathLst>
                <a:path w="541020" h="647700">
                  <a:moveTo>
                    <a:pt x="0" y="0"/>
                  </a:moveTo>
                  <a:lnTo>
                    <a:pt x="541020" y="647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320540" y="3587115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238500" y="2939415"/>
              <a:ext cx="541020" cy="647700"/>
            </a:xfrm>
            <a:custGeom>
              <a:avLst/>
              <a:gdLst/>
              <a:ahLst/>
              <a:cxnLst/>
              <a:rect l="l" t="t" r="r" b="b"/>
              <a:pathLst>
                <a:path w="541020" h="647700">
                  <a:moveTo>
                    <a:pt x="541020" y="0"/>
                  </a:moveTo>
                  <a:lnTo>
                    <a:pt x="0" y="647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779520" y="2939415"/>
              <a:ext cx="541020" cy="647700"/>
            </a:xfrm>
            <a:custGeom>
              <a:avLst/>
              <a:gdLst/>
              <a:ahLst/>
              <a:cxnLst/>
              <a:rect l="l" t="t" r="r" b="b"/>
              <a:pathLst>
                <a:path w="541020" h="647700">
                  <a:moveTo>
                    <a:pt x="0" y="0"/>
                  </a:moveTo>
                  <a:lnTo>
                    <a:pt x="541020" y="647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402580" y="3587115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402580" y="2939415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615440" y="2291715"/>
              <a:ext cx="1623060" cy="647700"/>
            </a:xfrm>
            <a:custGeom>
              <a:avLst/>
              <a:gdLst/>
              <a:ahLst/>
              <a:cxnLst/>
              <a:rect l="l" t="t" r="r" b="b"/>
              <a:pathLst>
                <a:path w="1623060" h="647700">
                  <a:moveTo>
                    <a:pt x="1623060" y="0"/>
                  </a:moveTo>
                  <a:lnTo>
                    <a:pt x="0" y="647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238500" y="2291715"/>
              <a:ext cx="541020" cy="647700"/>
            </a:xfrm>
            <a:custGeom>
              <a:avLst/>
              <a:gdLst/>
              <a:ahLst/>
              <a:cxnLst/>
              <a:rect l="l" t="t" r="r" b="b"/>
              <a:pathLst>
                <a:path w="541020" h="647700">
                  <a:moveTo>
                    <a:pt x="0" y="0"/>
                  </a:moveTo>
                  <a:lnTo>
                    <a:pt x="541020" y="647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238500" y="2291715"/>
              <a:ext cx="2164080" cy="647700"/>
            </a:xfrm>
            <a:custGeom>
              <a:avLst/>
              <a:gdLst/>
              <a:ahLst/>
              <a:cxnLst/>
              <a:rect l="l" t="t" r="r" b="b"/>
              <a:pathLst>
                <a:path w="2164080" h="647700">
                  <a:moveTo>
                    <a:pt x="0" y="0"/>
                  </a:moveTo>
                  <a:lnTo>
                    <a:pt x="2164080" y="647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912495" y="4072890"/>
              <a:ext cx="323850" cy="3238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12495" y="342519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994535" y="4720590"/>
              <a:ext cx="323850" cy="3238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994535" y="407289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994535" y="342519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453515" y="277749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3076575" y="3425190"/>
              <a:ext cx="323850" cy="3238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158615" y="4072890"/>
              <a:ext cx="323850" cy="3238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4158615" y="342519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617595" y="277749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5240655" y="4072890"/>
              <a:ext cx="323850" cy="3238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5240655" y="342519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5240655" y="277749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3076575" y="212979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28271" y="41690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$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5961" y="352139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10311" y="48167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$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08001" y="416909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108001" y="352139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66981" y="287369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92351" y="35213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$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74391" y="41690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$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72081" y="352139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731061" y="287369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56431" y="416909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$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354121" y="352139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373723" y="2873693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190041" y="222599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</p:grpSp>
      <p:grpSp>
        <p:nvGrpSpPr>
          <p:cNvPr id="63" name="c2-card-1"/>
          <p:cNvGrpSpPr/>
          <p:nvPr/>
        </p:nvGrpSpPr>
        <p:grpSpPr>
          <a:xfrm>
            <a:off x="6248400" y="1967865"/>
            <a:ext cx="5410200" cy="2626995"/>
            <a:chOff x="6248400" y="1967865"/>
            <a:chExt cx="5410200" cy="2626995"/>
          </a:xfrm>
        </p:grpSpPr>
        <p:sp>
          <p:nvSpPr>
            <p:cNvPr id="51" name="Rectangle 51"/>
            <p:cNvSpPr/>
            <p:nvPr/>
          </p:nvSpPr>
          <p:spPr>
            <a:xfrm>
              <a:off x="6248400" y="1967865"/>
              <a:ext cx="5410200" cy="2626995"/>
            </a:xfrm>
            <a:prstGeom prst="roundRect">
              <a:avLst>
                <a:gd name="adj" fmla="val 50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2101215"/>
              <a:ext cx="47625" cy="23602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96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86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97078" y="2212658"/>
              <a:ext cx="1710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字典树（Trie 树）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88430" y="2573655"/>
              <a:ext cx="4739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层的分支由关键词的第 i 个字符决定，从根走到某个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叶所经过的字符连起来就是一个关键词。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501765" y="32575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59880" y="3194685"/>
              <a:ext cx="36875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关键词是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字母序列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时叫字典树或 Trie 树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501765" y="359283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59880" y="3529965"/>
              <a:ext cx="3367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关键词是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数字序列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时也叫数字查找树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501765" y="39281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59880" y="386524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每个关键词末尾挂一个结束符（源课件用空格符，本页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记作 $），防止一个词是另一个词的前缀时分不清</a:t>
              </a:r>
            </a:p>
          </p:txBody>
        </p:sp>
      </p:grpSp>
      <p:grpSp>
        <p:nvGrpSpPr>
          <p:cNvPr id="70" name="c2-bullets-2"/>
          <p:cNvGrpSpPr/>
          <p:nvPr/>
        </p:nvGrpSpPr>
        <p:grpSpPr>
          <a:xfrm>
            <a:off x="6257925" y="4805839"/>
            <a:ext cx="3629630" cy="861821"/>
            <a:chOff x="6257925" y="4805839"/>
            <a:chExt cx="3629630" cy="861821"/>
          </a:xfrm>
        </p:grpSpPr>
        <p:sp>
          <p:nvSpPr>
            <p:cNvPr id="64" name="Ellipse 64"/>
            <p:cNvSpPr/>
            <p:nvPr/>
          </p:nvSpPr>
          <p:spPr>
            <a:xfrm>
              <a:off x="6257925" y="485870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413373" y="4805839"/>
              <a:ext cx="34741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左图存了 HAD、HAVE、HE、HER、HIS 五个词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257925" y="516445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13373" y="5111591"/>
              <a:ext cx="31528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 是 HER 的前缀，靠 E 下面的 $ 区分开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257925" y="54702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413373" y="5418296"/>
              <a:ext cx="2947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Trie 这个名字取自 retrieval（检索）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1" name="Rectangle 7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130" y="5991225"/>
              <a:ext cx="9707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关键词不存在任何一个结点里。结点只记一个字符，整个关键词由路径表示，所以公共前缀在树里只存一份。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64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092" y="407194"/>
              <a:ext cx="2319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数字查找树与字典树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字典树的查找：只和串长有关，与词数无关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4061460"/>
            <a:chOff x="533400" y="1524000"/>
            <a:chExt cx="5951220" cy="40614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61460"/>
            </a:xfrm>
            <a:prstGeom prst="roundRect">
              <a:avLst>
                <a:gd name="adj" fmla="val 234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结点定义、插入与前缀查询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289"/>
              <a:ext cx="3731768" cy="3560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#define ALPHA 26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TrieNode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isWord;    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到此为止是一个完整关键词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TrieNode *ch[ALPHA];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26 个分支，相当于一层的指针数组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TrieNode;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TrieInsert(TrieNode *root,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TrieNode *p = root;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s[i]; i++)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= s[i] -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(p-&gt;ch[c] ==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p-&gt;ch[c] = TrieNew();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p-&gt;ch[c];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p-&gt;isWord = 1; 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相当于挂上结束符 $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TriePrefix(TrieNode *root,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TrieNode *p = root;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s[i]; i++)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p-&gt;ch[s[i] -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];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==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没有以 s 开头的关键词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2-steps-1"/>
          <p:cNvGrpSpPr/>
          <p:nvPr/>
        </p:nvGrpSpPr>
        <p:grpSpPr>
          <a:xfrm>
            <a:off x="6789420" y="1533525"/>
            <a:ext cx="4646498" cy="1693069"/>
            <a:chOff x="6789420" y="1533525"/>
            <a:chExt cx="4646498" cy="1693069"/>
          </a:xfrm>
        </p:grpSpPr>
        <p:sp>
          <p:nvSpPr>
            <p:cNvPr id="11" name="Rectangle 11"/>
            <p:cNvSpPr/>
            <p:nvPr/>
          </p:nvSpPr>
          <p:spPr>
            <a:xfrm>
              <a:off x="6922770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789420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8304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789420" y="27070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8304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01662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从根开始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02805" y="1833086"/>
              <a:ext cx="2597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取关键词的第 1 个字符，选对应的分支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01662" y="2152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逐层下降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02805" y="2419826"/>
              <a:ext cx="3072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取第 2 个字符选分支，再取第 3 个，如此迭代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01662" y="27393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02805" y="3006566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字符取完且该结点挂着结束符，查找成功；中途分支为空则失败</a:t>
              </a:r>
            </a:p>
          </p:txBody>
        </p:sp>
      </p:grpSp>
      <p:grpSp>
        <p:nvGrpSpPr>
          <p:cNvPr id="47" name="c2-table-2"/>
          <p:cNvGrpSpPr/>
          <p:nvPr/>
        </p:nvGrpSpPr>
        <p:grpSpPr>
          <a:xfrm>
            <a:off x="6784086" y="3395662"/>
            <a:ext cx="4874514" cy="2302765"/>
            <a:chOff x="6784086" y="3395662"/>
            <a:chExt cx="4874514" cy="2302765"/>
          </a:xfrm>
        </p:grpSpPr>
        <p:sp>
          <p:nvSpPr>
            <p:cNvPr id="25" name="Rectangle 25"/>
            <p:cNvSpPr/>
            <p:nvPr/>
          </p:nvSpPr>
          <p:spPr>
            <a:xfrm>
              <a:off x="6789420" y="3395662"/>
              <a:ext cx="486918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16813" y="35199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85531" y="35199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36238" y="35199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89432" y="40257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967662" y="3810952"/>
              <a:ext cx="1149668" cy="5867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58150" y="4025741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26868" y="3925729"/>
              <a:ext cx="212369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是串长，和树里存了多少个串无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789420" y="440245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89420" y="4407218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89432" y="45315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58150" y="4531519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26868" y="453151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沿路缺哪个结点就补哪个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789420" y="480822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89432" y="50372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967662" y="4822508"/>
              <a:ext cx="1149668" cy="5867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58150" y="4937284"/>
              <a:ext cx="76530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O(总字符数</a:t>
              </a:r>
              <a:br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×|Σ|)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26868" y="4937284"/>
              <a:ext cx="21094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每个结点留 |Σ| 个指针位，这是它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最大的代价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89420" y="3395662"/>
              <a:ext cx="4869180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953375" y="3395662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122092" y="3395662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84086" y="5493068"/>
              <a:ext cx="3832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isWord 标志代替画出来的 $ 结点，效果一样，还省掉一层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8" name="Rectangle 4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892" y="6023610"/>
              <a:ext cx="87103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O(L) 的前提是分支用指针数组直接下标定位。改用链表或散列表存孩子可以省空间，但每层要多一次查找。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64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092" y="407194"/>
              <a:ext cx="2319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 · 数字查找树与字典树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前缀匹配：搜索框里的自动补全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184211" cy="278702"/>
            <a:chOff x="526161" y="1547336"/>
            <a:chExt cx="1018421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1842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查找树按整个关键词比较，只能回答“有没有这个词”。字典树沿字符下降，天然能回答“有没有以这几个字母开头的词”。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50720"/>
            <a:ext cx="4797273" cy="1694022"/>
            <a:chOff x="533400" y="1950720"/>
            <a:chExt cx="4797273" cy="1694022"/>
          </a:xfrm>
        </p:grpSpPr>
        <p:sp>
          <p:nvSpPr>
            <p:cNvPr id="9" name="Rectangle 9"/>
            <p:cNvSpPr/>
            <p:nvPr/>
          </p:nvSpPr>
          <p:spPr>
            <a:xfrm>
              <a:off x="666750" y="209359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507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384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12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2515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98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983105"/>
              <a:ext cx="12558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用户键入 comp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250281"/>
              <a:ext cx="2793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c → o → m → p 走四层，落在一个结点上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56984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收集子树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837021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这个结点的整棵子树里，每一条通向结束符的路径都是一个候选词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315658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排序输出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424714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按词频或字典序取前几条，就是下拉框里的补全建议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3812858"/>
            <a:ext cx="5410200" cy="1831658"/>
            <a:chOff x="533400" y="3812858"/>
            <a:chExt cx="5410200" cy="1831658"/>
          </a:xfrm>
        </p:grpSpPr>
        <p:sp>
          <p:nvSpPr>
            <p:cNvPr id="23" name="Rectangle 23"/>
            <p:cNvSpPr/>
            <p:nvPr/>
          </p:nvSpPr>
          <p:spPr>
            <a:xfrm>
              <a:off x="533400" y="3812858"/>
              <a:ext cx="5410200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946208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3905" y="4005262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9346" y="40395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14247" y="40452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comp 开头的候选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7047" y="4379595"/>
              <a:ext cx="47714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computer、computers、computing、compute、company、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compare …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72478" y="499586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8497" y="4939665"/>
              <a:ext cx="4884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它们在树里共用 c-o-m-p 这四个结点，只在第 5 层之后分叉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72478" y="52978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8497" y="5241608"/>
              <a:ext cx="3312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词数再多，走到分叉点的代价始终是 4 步</a:t>
              </a:r>
            </a:p>
          </p:txBody>
        </p:sp>
      </p:grpSp>
      <p:grpSp>
        <p:nvGrpSpPr>
          <p:cNvPr id="40" name="c2-bullets-1"/>
          <p:cNvGrpSpPr/>
          <p:nvPr/>
        </p:nvGrpSpPr>
        <p:grpSpPr>
          <a:xfrm>
            <a:off x="6248400" y="1964055"/>
            <a:ext cx="5059870" cy="1400366"/>
            <a:chOff x="6248400" y="1964055"/>
            <a:chExt cx="5059870" cy="1400366"/>
          </a:xfrm>
        </p:grpSpPr>
        <p:sp>
          <p:nvSpPr>
            <p:cNvPr id="34" name="Freeform 34"/>
            <p:cNvSpPr/>
            <p:nvPr/>
          </p:nvSpPr>
          <p:spPr>
            <a:xfrm>
              <a:off x="6248400" y="1992630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85382" y="196405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保存、统计、排序大量字符串：把词按字典序做一次先根遍历就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是排好序的结果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6248400" y="2560320"/>
              <a:ext cx="129540" cy="105727"/>
            </a:xfrm>
            <a:custGeom>
              <a:avLst/>
              <a:gdLst/>
              <a:ahLst/>
              <a:cxnLst/>
              <a:rect l="l" t="t" r="r" b="b"/>
              <a:pathLst>
                <a:path w="129540" h="105727">
                  <a:moveTo>
                    <a:pt x="0" y="56197"/>
                  </a:moveTo>
                  <a:lnTo>
                    <a:pt x="49530" y="105727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85382" y="2531745"/>
              <a:ext cx="48228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搜索引擎的自动补全（源课件第 65 到 68 页给了 Google 与百度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的截图）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248400" y="312896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85382" y="3100388"/>
              <a:ext cx="42327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IP 路由表的最长前缀匹配、输入法词库、敏感词过滤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248400" y="3486150"/>
            <a:ext cx="5410200" cy="2158365"/>
            <a:chOff x="6248400" y="3486150"/>
            <a:chExt cx="5410200" cy="2158365"/>
          </a:xfrm>
        </p:grpSpPr>
        <p:sp>
          <p:nvSpPr>
            <p:cNvPr id="41" name="Rectangle 41"/>
            <p:cNvSpPr/>
            <p:nvPr/>
          </p:nvSpPr>
          <p:spPr>
            <a:xfrm>
              <a:off x="6248400" y="3486150"/>
              <a:ext cx="5410200" cy="2158365"/>
            </a:xfrm>
            <a:prstGeom prst="roundRect">
              <a:avLst>
                <a:gd name="adj" fmla="val 617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40805" y="367855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04242" y="371284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三种查找结构的分工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57947" y="371856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按数据在哪里、关键词长什么样来选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49378" y="410908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05397" y="4052888"/>
              <a:ext cx="45026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数据在内存、关键词可比较：第 23 讲的平衡二叉查找树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49378" y="441198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05397" y="4355782"/>
              <a:ext cx="36505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数据在外存、要少读盘：本讲的 B 树与 B+ 树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49378" y="471392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05397" y="465772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关键词是字符串、要查前缀：字典树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2" name="Rectangle 5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6023610"/>
              <a:ext cx="89496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字典树的查找时间与词数无关这一点，是它相对散列表的优势：散列表能 O(1) 查整词，但没法回答前缀问题。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55751" cy="909257"/>
            <a:chOff x="520446" y="342900"/>
            <a:chExt cx="10557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848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802" y="407194"/>
              <a:ext cx="7800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658500" cy="264033"/>
            <a:chOff x="526542" y="1545907"/>
            <a:chExt cx="765850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658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先自己写出答案再看解答。另外自问一题：7 阶 B 树的结点分裂后，左右两半各有几个关键词？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1914525"/>
            <a:chOff x="533400" y="1928812"/>
            <a:chExt cx="3505200" cy="19145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89473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为什么要求非根结点至少有 ⌈m/2⌉ 个孩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29796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它是树高上界 k ≤ 1 + log⌈m/2⌉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((n+1)/2) 的来源；结点太空树就变高变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细。分裂恰好切出两个下限大小的结点。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8120"/>
            <a:ext cx="3505200" cy="2157412"/>
            <a:chOff x="533400" y="4008120"/>
            <a:chExt cx="3505200" cy="2157412"/>
          </a:xfrm>
        </p:grpSpPr>
        <p:sp>
          <p:nvSpPr>
            <p:cNvPr id="15" name="Rectangle 15"/>
            <p:cNvSpPr/>
            <p:nvPr/>
          </p:nvSpPr>
          <p:spPr>
            <a:xfrm>
              <a:off x="53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529614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下溢时为什么不直接从兄弟结点搬一个关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键词？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057299"/>
              <a:ext cx="293903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父结点里夹在两兄弟之间的关键词是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它们的分界。正确做法是它下放、兄弟的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最大（最小）关键词上升；借位不在最底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层时还要带走一棵子树。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914525"/>
            <a:chOff x="4343400" y="1928812"/>
            <a:chExt cx="3505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29552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阶 B 树的结点上溢时提升哪个关键词？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阶呢？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2977991"/>
              <a:ext cx="298780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提升 K⌈m/2⌉（从 1 数起）。3 阶提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升第 2 个，左右各剩 1 个；7 阶有 7 个关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键词时提升第 4 个，左右各剩 3 个。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08120"/>
            <a:ext cx="3505200" cy="2157412"/>
            <a:chOff x="4343400" y="4008120"/>
            <a:chExt cx="3505200" cy="2157412"/>
          </a:xfrm>
        </p:grpSpPr>
        <p:sp>
          <p:nvSpPr>
            <p:cNvPr id="27" name="Rectangle 27"/>
            <p:cNvSpPr/>
            <p:nvPr/>
          </p:nvSpPr>
          <p:spPr>
            <a:xfrm>
              <a:off x="434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52961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插入和删除各自会不会改变树高？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4814411"/>
              <a:ext cx="293903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插入只有在分裂一路传到根、根也分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裂时才长高一层；删除只有在合并一路传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到根、根被并空时才降低一层。两者都不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改变“所有叶结点在同一层”。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2157412"/>
            <a:chOff x="8153400" y="1928812"/>
            <a:chExt cx="3505200" cy="2157412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删除不在最底层的关键词，为什么先和中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根后继交换？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2977991"/>
              <a:ext cx="293903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最底层结点没有孩子，删掉一个关键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词不会留下无人认领的子树。内部结点的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关键词是子树的分界，直接删会让关键词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数与孩子数对不上。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251008"/>
            <a:ext cx="3505200" cy="1914525"/>
            <a:chOff x="8153400" y="4251008"/>
            <a:chExt cx="3505200" cy="1914525"/>
          </a:xfrm>
        </p:grpSpPr>
        <p:sp>
          <p:nvSpPr>
            <p:cNvPr id="39" name="Rectangle 39"/>
            <p:cNvSpPr/>
            <p:nvPr/>
          </p:nvSpPr>
          <p:spPr>
            <a:xfrm>
              <a:off x="8153400" y="4251008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44319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44648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772501"/>
              <a:ext cx="2395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B+ 树凭什么比同阶 B 树更矮？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5057299"/>
              <a:ext cx="300405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B+ 树的非叶结点只存关键词和指针，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不存数据记录，同样大小的磁盘块能装下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更多关键词，扇出更大。代价是每次查找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都必须走到叶层。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848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802" y="407194"/>
              <a:ext cx="7800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第24讲 B树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965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5097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6295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阶 B 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13954" y="2023110"/>
              <a:ext cx="35303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至多 m 个孩子，非根至少 ⌈m/2⌉ 个；叶结点全在同一层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13954" y="2404110"/>
              <a:ext cx="32922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插在最底层，上溢提升 K⌈m/2⌉ 并分裂，可能传到根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13954" y="278511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换、借、合并，左顾右盼，合并可能让树降一层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13954" y="3167062"/>
              <a:ext cx="33677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≤ 1 + log⌈m/2⌉((n+1)/2)，m 取 200~300 时 k ≤ 6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3715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B+ 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13954" y="354806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非叶只当索引，叶层含全部关键词并连成链表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1451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3976688"/>
            <a:ext cx="5842635" cy="1471612"/>
            <a:chOff x="533400" y="3976688"/>
            <a:chExt cx="5842635" cy="1471612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471612"/>
            </a:xfrm>
            <a:prstGeom prst="roundRect">
              <a:avLst>
                <a:gd name="adj" fmla="val 9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2049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5510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498181"/>
              <a:ext cx="30668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17 页第二句“K⌈m/2⌉ 左侧”应为右侧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483584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4782979"/>
              <a:ext cx="41829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28 页删完 353 仍下溢，补上向左兄弟借 347 这一步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2000" y="512064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7448" y="5067776"/>
              <a:ext cx="41312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31、43 页说的“连同子树一起借”在练习里逐步标出</a:t>
              </a:r>
            </a:p>
          </p:txBody>
        </p:sp>
      </p:grpSp>
      <p:grpSp>
        <p:nvGrpSpPr>
          <p:cNvPr id="55" name="c2-bullets-1"/>
          <p:cNvGrpSpPr/>
          <p:nvPr/>
        </p:nvGrpSpPr>
        <p:grpSpPr>
          <a:xfrm>
            <a:off x="6681788" y="1533525"/>
            <a:ext cx="4862667" cy="1432845"/>
            <a:chOff x="6681788" y="1533525"/>
            <a:chExt cx="4862667" cy="1432845"/>
          </a:xfrm>
        </p:grpSpPr>
        <p:sp>
          <p:nvSpPr>
            <p:cNvPr id="40" name="Ellipse 40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51536" y="1545431"/>
              <a:ext cx="40278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外存场景下代价 = 读盘次数 = 树高，这是全讲的主线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81788" y="18268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33694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51536" y="183784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结点关键词数有上下界，上越界就分裂，下越界就借或合并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81788" y="212026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33694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51536" y="213121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分裂与合并都在结点之间搬关键词，父结点始终是分界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81788" y="241363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33694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51536" y="242458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树只从根长高，也只从根变矮，所以永远平衡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81788" y="270605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33694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51536" y="2717006"/>
              <a:ext cx="45929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B+ 树用“索引与数据分离”把扇出再提一截，并换来区间查找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680835" y="3081338"/>
            <a:ext cx="4977765" cy="2366962"/>
            <a:chOff x="6680835" y="3081338"/>
            <a:chExt cx="4977765" cy="2366962"/>
          </a:xfrm>
        </p:grpSpPr>
        <p:sp>
          <p:nvSpPr>
            <p:cNvPr id="56" name="Rectangle 56"/>
            <p:cNvSpPr/>
            <p:nvPr/>
          </p:nvSpPr>
          <p:spPr>
            <a:xfrm>
              <a:off x="6680835" y="3081338"/>
              <a:ext cx="4977765" cy="2366962"/>
            </a:xfrm>
            <a:prstGeom prst="roundRect">
              <a:avLst>
                <a:gd name="adj" fmla="val 563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61810" y="326231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47332" y="32951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77341" y="330184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手推一遍比看十遍管用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871335" y="367093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26783" y="3619024"/>
              <a:ext cx="40606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拿本讲的 3 阶 B 树，依次插入 14、55、19，再依次删除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50、40、9，把每一步的树形画出来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871335" y="419862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026783" y="4146709"/>
              <a:ext cx="40444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每画一步问自己两句：这个结点的关键词数还在 [⌈m/2⌉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−1, m−1] 里吗？孩子数等于关键词数加一吗？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65" name="Rectangle 65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5911215"/>
              <a:ext cx="200026" cy="200025"/>
              <a:chOff x="738188" y="5911215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59112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77926" y="59556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12642" y="60667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5805011"/>
              <a:ext cx="97421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下一讲讲散列。B 树是靠比较把值域一层层缩小，散列则直接用关键词算出存储位置，平均一次就能找到，代价是失去了有序性和区间查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找。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797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第24讲 多叉查找树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24">
  <a:themeElements>
    <a:clrScheme name="ds_l2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2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2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2026-09-20T02:40:31Z</dcterms:created>
  <dcterms:modified xsi:type="dcterms:W3CDTF">2026-09-20T02:40:31Z</dcterms:modified>
  <cp:category/>
  <cp:contentStatus/>
</cp:coreProperties>
</file>