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s_l0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s_l0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bb4483a067ac7ba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1eac503c72f1e05.png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f45a6a907807d7f.png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561332" cy="3437763"/>
            <a:chOff x="666750" y="1619250"/>
            <a:chExt cx="4561332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529715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5751" y="1718310"/>
              <a:ext cx="1269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数据结构 · 第2讲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456133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算法与时间复杂度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从算法的定义到渐近记号与均摊分析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478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算法的特性与 ADL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389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T(n) 怎么数出来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4504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 O、大 Ω、大 Θ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均摊时间复杂度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152252" cy="205359"/>
            <a:chOff x="680466" y="6192202"/>
            <a:chExt cx="4152252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1522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自学复习版｜据吉林大学《数据结构》第 2 讲课件整理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049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916" y="40719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第2讲 复杂度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算法是什么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五条特性、算法与程序的区别、五条评价准则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算法怎么写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26080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ADL 伪代码的语句对照与书写约定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次数怎么数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6767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关键运算、T(n)、最好、最坏与平均时间复杂度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怎么化简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4975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 O、大 Ω、大 Θ 的定义、常用性质与常见阶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典型例题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十一段程序段的复杂度，含五道考研真题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均摊时间复杂度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二进制计数器，把总代价分摊到每次操作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说出算法的五条特性，并举出一个不满足有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限性的程序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给定一段循环程序，数出基本运算次数并写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出它的大 O 表示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739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 Find 算法的平均时间复杂度，写出完整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的加权求和过程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4537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写出大 O、大 Ω、大 Θ 的定义，并为一个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 找出 C 与 n₀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解释均摊时间复杂度与平均时间复杂度差在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哪里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第2讲 算法与时间复杂度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801868" cy="2997517"/>
            <a:chOff x="667512" y="1835468"/>
            <a:chExt cx="580186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算法的定义、特性与描述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先说清楚什么样的一串步骤才配叫算法，再学会把它写下来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算法一词的由来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五条特性与五条评价准则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0370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ADL 伪代码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第2讲 算法与时间复杂度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第2讲 复杂度 · 算法的定义、特性与描述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算法是解决问题的有限条指令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564958"/>
            <a:chOff x="533400" y="1524000"/>
            <a:chExt cx="4977765" cy="15649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17183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算法（Algorithm）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3426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在计算机科学中，算法泛指解决问题时所采用的方法或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步骤。具体地说，算法由有限条指令构成，规定了解决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特定问题的一系列操作。</a:t>
              </a:r>
            </a:p>
          </p:txBody>
        </p:sp>
      </p:grpSp>
      <p:grpSp>
        <p:nvGrpSpPr>
          <p:cNvPr id="22" name="c1-kv-2"/>
          <p:cNvGrpSpPr/>
          <p:nvPr/>
        </p:nvGrpSpPr>
        <p:grpSpPr>
          <a:xfrm>
            <a:off x="526161" y="3298031"/>
            <a:ext cx="4985004" cy="1656970"/>
            <a:chOff x="526161" y="3298031"/>
            <a:chExt cx="4985004" cy="1656970"/>
          </a:xfrm>
        </p:grpSpPr>
        <p:sp>
          <p:nvSpPr>
            <p:cNvPr id="14" name="TextBox 14"/>
            <p:cNvSpPr txBox="1"/>
            <p:nvPr/>
          </p:nvSpPr>
          <p:spPr>
            <a:xfrm>
              <a:off x="526161" y="329803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辗转相除法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12976" y="3298031"/>
              <a:ext cx="3467989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公元前 3 世纪欧几里得提出，求两个整数的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最大公约数，公认是世界上第一个算法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87096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6161" y="3987641"/>
              <a:ext cx="9536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Algorithm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12976" y="3987641"/>
              <a:ext cx="3567176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9 世纪波斯数学家阿尔·花拉子米的拉丁文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译名 Algoritmi 演变而来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56057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6161" y="467629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中文算法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12976" y="4676299"/>
              <a:ext cx="36752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公元前 1 世纪《周髀算经》中已出现这个词</a:t>
              </a:r>
            </a:p>
          </p:txBody>
        </p:sp>
      </p:grpSp>
      <p:grpSp>
        <p:nvGrpSpPr>
          <p:cNvPr id="26" name="c2-code-1"/>
          <p:cNvGrpSpPr/>
          <p:nvPr/>
        </p:nvGrpSpPr>
        <p:grpSpPr>
          <a:xfrm>
            <a:off x="5815965" y="1524000"/>
            <a:ext cx="5842635" cy="1871662"/>
            <a:chOff x="5815965" y="1524000"/>
            <a:chExt cx="5842635" cy="1871662"/>
          </a:xfrm>
        </p:grpSpPr>
        <p:sp>
          <p:nvSpPr>
            <p:cNvPr id="23" name="Rectangle 23"/>
            <p:cNvSpPr/>
            <p:nvPr/>
          </p:nvSpPr>
          <p:spPr>
            <a:xfrm>
              <a:off x="5815965" y="1524000"/>
              <a:ext cx="5842635" cy="1871662"/>
            </a:xfrm>
            <a:prstGeom prst="roundRect">
              <a:avLst>
                <a:gd name="adj" fmla="val 508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944362" y="16759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世界上第一个算法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944514" y="1936337"/>
              <a:ext cx="3352241" cy="13783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gcd(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a,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b)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(b != 0) {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b 为 0 时 a 就是答案 */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 = a % b;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用余数替换较大的数 */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 = b;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 = r;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3" name="c2-table-2"/>
          <p:cNvGrpSpPr/>
          <p:nvPr/>
        </p:nvGrpSpPr>
        <p:grpSpPr>
          <a:xfrm>
            <a:off x="5810250" y="3580448"/>
            <a:ext cx="5848350" cy="2016919"/>
            <a:chOff x="5810250" y="3580448"/>
            <a:chExt cx="5848350" cy="2016919"/>
          </a:xfrm>
        </p:grpSpPr>
        <p:sp>
          <p:nvSpPr>
            <p:cNvPr id="27" name="Rectangle 27"/>
            <p:cNvSpPr/>
            <p:nvPr/>
          </p:nvSpPr>
          <p:spPr>
            <a:xfrm>
              <a:off x="5815965" y="3580448"/>
              <a:ext cx="5842635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46153" y="371189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13918" y="371189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20633" y="3711892"/>
              <a:ext cx="11591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除以 b 的算式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887075" y="371189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余数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52862" y="4142422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27290" y="414242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54936" y="4142422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252 = 2 × 105 + 42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959770" y="414242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815965" y="44367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815965" y="4441508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52862" y="457200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471715" y="45720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54936" y="4572000"/>
              <a:ext cx="12803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105 = 2 × 42 + 21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959770" y="45720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815965" y="486632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99507" y="500253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71715" y="500253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54936" y="5002530"/>
              <a:ext cx="11026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 = 2 × 21 + 0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0460355" y="4880610"/>
              <a:ext cx="1188720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004194" y="500253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815965" y="3580448"/>
              <a:ext cx="5842635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978015" y="3580448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144828" y="3580448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446068" y="3580448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810250" y="5377339"/>
              <a:ext cx="52282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余数为 0 时停下，此时的 a = 21 即为答案；核对 252 = 21 × 12，105 = 21 × 5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4" name="Rectangle 54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511" y="6004084"/>
              <a:ext cx="57492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这个例子里可以逐条对上算法的五条特性，下一页把这五条写清楚。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第2讲 算法与时间复杂度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第2讲 复杂度 · 算法的定义、特性与描述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算法的五条特性，缺一条就不是算法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6276022" cy="3320415"/>
            <a:chOff x="533400" y="1524000"/>
            <a:chExt cx="6276022" cy="33204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686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6968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975456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7604" y="212836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有限性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41538" y="2128361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算法必须能在执行有限个步骤之后终止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5745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62212"/>
              <a:ext cx="6276022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7604" y="272367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41538" y="2596991"/>
              <a:ext cx="470331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每条指令有明确的含义，无二义性，相同的输入得到相同结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果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17944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7604" y="33189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41538" y="3318986"/>
              <a:ext cx="27193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具有 0 个或多个由外界提供的量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64902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653790"/>
              <a:ext cx="6276022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7604" y="378856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41538" y="3788569"/>
              <a:ext cx="17635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产生 1 个或多个结果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11765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7604" y="438388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可行性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41538" y="4257199"/>
              <a:ext cx="470331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描述的操作都可以通过已经实现的基本运算执行有限次来完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成，原则上人们用纸和笔都能在有穷时间内完成它们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6276022" cy="33204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532572" y="1524000"/>
              <a:ext cx="9525" cy="33204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4" name="c1-callout-2"/>
          <p:cNvGrpSpPr/>
          <p:nvPr/>
        </p:nvGrpSpPr>
        <p:grpSpPr>
          <a:xfrm>
            <a:off x="533400" y="5030152"/>
            <a:ext cx="6276022" cy="1248728"/>
            <a:chOff x="533400" y="5030152"/>
            <a:chExt cx="6276022" cy="1248728"/>
          </a:xfrm>
        </p:grpSpPr>
        <p:sp>
          <p:nvSpPr>
            <p:cNvPr id="29" name="Rectangle 29"/>
            <p:cNvSpPr/>
            <p:nvPr/>
          </p:nvSpPr>
          <p:spPr>
            <a:xfrm>
              <a:off x="533400" y="5030152"/>
              <a:ext cx="6276022" cy="1248728"/>
            </a:xfrm>
            <a:prstGeom prst="roundRect">
              <a:avLst>
                <a:gd name="adj" fmla="val 915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554030"/>
              <a:ext cx="200023" cy="200023"/>
              <a:chOff x="738188" y="5554030"/>
              <a:chExt cx="200023" cy="20002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5540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71538" y="56207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511" y="5424011"/>
              <a:ext cx="531647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输入可以是 0 个（例如打印 1 到 100），但输出至少 1 个，不产生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任何结果的步骤序列没有意义。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7114222" y="1524000"/>
            <a:ext cx="4544378" cy="1795462"/>
            <a:chOff x="7114222" y="1524000"/>
            <a:chExt cx="4544378" cy="1795462"/>
          </a:xfrm>
        </p:grpSpPr>
        <p:sp>
          <p:nvSpPr>
            <p:cNvPr id="35" name="Rectangle 35"/>
            <p:cNvSpPr/>
            <p:nvPr/>
          </p:nvSpPr>
          <p:spPr>
            <a:xfrm>
              <a:off x="7114222" y="1524000"/>
              <a:ext cx="4544378" cy="1795462"/>
            </a:xfrm>
            <a:prstGeom prst="roundRect">
              <a:avLst>
                <a:gd name="adj" fmla="val 74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123748" y="1657350"/>
              <a:ext cx="47625" cy="152876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356158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46366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56614" y="176736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程序可以不是算法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48918" y="2119789"/>
              <a:ext cx="36212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程序是算法用某种程序设计语言写出的具体实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现，但程序不必满足第（1）条有限性。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50062" y="2707005"/>
              <a:ext cx="38221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操作系统就是一个不该停止的程序，它在无限循环里等待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并响应请求。</a:t>
              </a:r>
            </a:p>
          </p:txBody>
        </p:sp>
      </p:grpSp>
      <p:grpSp>
        <p:nvGrpSpPr>
          <p:cNvPr id="46" name="c2-code-2"/>
          <p:cNvGrpSpPr/>
          <p:nvPr/>
        </p:nvGrpSpPr>
        <p:grpSpPr>
          <a:xfrm>
            <a:off x="7114222" y="3505200"/>
            <a:ext cx="4544378" cy="1313498"/>
            <a:chOff x="7114222" y="3505200"/>
            <a:chExt cx="4544378" cy="1313498"/>
          </a:xfrm>
        </p:grpSpPr>
        <p:sp>
          <p:nvSpPr>
            <p:cNvPr id="43" name="Rectangle 43"/>
            <p:cNvSpPr/>
            <p:nvPr/>
          </p:nvSpPr>
          <p:spPr>
            <a:xfrm>
              <a:off x="7114222" y="3505200"/>
              <a:ext cx="4544378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242620" y="3657124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不满足有限性的合法程序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41858" y="3919061"/>
              <a:ext cx="2209038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(1)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/* 永远不终止，是程序，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但不是算法         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1" name="c2-card-3"/>
          <p:cNvGrpSpPr/>
          <p:nvPr/>
        </p:nvGrpSpPr>
        <p:grpSpPr>
          <a:xfrm>
            <a:off x="7114222" y="5003482"/>
            <a:ext cx="4544378" cy="1274445"/>
            <a:chOff x="7114222" y="5003482"/>
            <a:chExt cx="4544378" cy="1274445"/>
          </a:xfrm>
        </p:grpSpPr>
        <p:sp>
          <p:nvSpPr>
            <p:cNvPr id="47" name="Rectangle 47"/>
            <p:cNvSpPr/>
            <p:nvPr/>
          </p:nvSpPr>
          <p:spPr>
            <a:xfrm>
              <a:off x="7114222" y="5003482"/>
              <a:ext cx="4544378" cy="1274445"/>
            </a:xfrm>
            <a:prstGeom prst="roundRect">
              <a:avLst>
                <a:gd name="adj" fmla="val 1046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318058" y="5207318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404316" y="524303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反过来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10818" y="5580221"/>
              <a:ext cx="384670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上一页的 gcd 一定会停：每轮余数严格变小且非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负，最多经过有限轮就会变成 0。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第2讲 算法与时间复杂度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第2讲 复杂度 · 算法的定义、特性与描述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评价一个算法，要同时看五个方面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5842635" cy="3201352"/>
            <a:chOff x="533400" y="1524000"/>
            <a:chExt cx="5842635" cy="32013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2005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97547" y="16454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准则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918864" y="16454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6935" y="21788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正确性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12810" y="2065496"/>
              <a:ext cx="40769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对于一切合法的输入数据，算法经过有限时间的执行都能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产生满足规格说明要求的结果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5860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590800"/>
              <a:ext cx="5842635" cy="42005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6935" y="271224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时间复杂度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12810" y="271224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算法执行时所需的基本运算次数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0070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6935" y="313229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空间复杂度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12810" y="3132296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算法在运行过程中所占用的存储空间的大小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42709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431858"/>
              <a:ext cx="5842635" cy="6467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6935" y="366569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可读性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12810" y="3552349"/>
              <a:ext cx="40769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便于阅读、实现、调试和维护，也使得证明或测试其正确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性比较容易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0738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6935" y="431339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健壮性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12810" y="4200049"/>
              <a:ext cx="412572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又称鲁棒性（Robust），尽可能充分地应对、处理各种极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端输入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5842635" cy="32013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814512" y="1524000"/>
              <a:ext cx="9525" cy="32013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5" name="c1-callout-2"/>
          <p:cNvGrpSpPr/>
          <p:nvPr/>
        </p:nvGrpSpPr>
        <p:grpSpPr>
          <a:xfrm>
            <a:off x="533400" y="4890135"/>
            <a:ext cx="5842635" cy="702945"/>
            <a:chOff x="533400" y="4890135"/>
            <a:chExt cx="5842635" cy="702945"/>
          </a:xfrm>
        </p:grpSpPr>
        <p:sp>
          <p:nvSpPr>
            <p:cNvPr id="29" name="Rectangle 29"/>
            <p:cNvSpPr/>
            <p:nvPr/>
          </p:nvSpPr>
          <p:spPr>
            <a:xfrm>
              <a:off x="533400" y="4890135"/>
              <a:ext cx="5842635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5141595"/>
              <a:ext cx="200026" cy="200026"/>
              <a:chOff x="738188" y="5141595"/>
              <a:chExt cx="200026" cy="20002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1415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8200" y="52082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27088" y="52416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1273" y="5035391"/>
              <a:ext cx="48491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教材把后两项写作“时间复杂性”和“空间复杂性”，与本讲义的“复杂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度”是同一个词，本讲义统一用“复杂度”。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6680835" y="1524000"/>
            <a:ext cx="4977765" cy="1691640"/>
            <a:chOff x="6680835" y="1524000"/>
            <a:chExt cx="4977765" cy="1691640"/>
          </a:xfrm>
        </p:grpSpPr>
        <p:sp>
          <p:nvSpPr>
            <p:cNvPr id="36" name="Rectangle 36"/>
            <p:cNvSpPr/>
            <p:nvPr/>
          </p:nvSpPr>
          <p:spPr>
            <a:xfrm>
              <a:off x="6680835" y="1524000"/>
              <a:ext cx="4977765" cy="1691640"/>
            </a:xfrm>
            <a:prstGeom prst="roundRect">
              <a:avLst>
                <a:gd name="adj" fmla="val 788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861810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954482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排序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428738" y="174450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这五条的优先级并不相同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871335" y="211359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26783" y="2061686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正确性是前提，一个算错的算法再快也没有意义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871335" y="239839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26783" y="2346484"/>
              <a:ext cx="41907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时间和空间是本课程反复权衡的两项，第 18 页就有一个用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空间换时间的例子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56476" y="2870835"/>
              <a:ext cx="3685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可读性和健壮性写代码时才体现，考试里一般只考前三项。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6680835" y="3380422"/>
            <a:ext cx="4977765" cy="2212658"/>
            <a:chOff x="6680835" y="3380422"/>
            <a:chExt cx="4977765" cy="2212658"/>
          </a:xfrm>
        </p:grpSpPr>
        <p:sp>
          <p:nvSpPr>
            <p:cNvPr id="46" name="Rectangle 46"/>
            <p:cNvSpPr/>
            <p:nvPr/>
          </p:nvSpPr>
          <p:spPr>
            <a:xfrm>
              <a:off x="6680835" y="3380422"/>
              <a:ext cx="4977765" cy="2212658"/>
            </a:xfrm>
            <a:prstGeom prst="roundRect">
              <a:avLst>
                <a:gd name="adj" fmla="val 60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690360" y="3513772"/>
              <a:ext cx="47625" cy="19459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899910" y="3561398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996633" y="359425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42061" y="360092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健壮性要考虑哪些输入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909435" y="397002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064883" y="3917156"/>
              <a:ext cx="36487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上一页的 gcd 传入 b = 0 会怎样？传入负数呢？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909435" y="425481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064883" y="4202906"/>
              <a:ext cx="30887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数组长度 n = 0 时循环还能正常退出吗？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94576" y="4483418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写完一段代码先问这两句，比写完再调试省时间。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7" name="Rectangle 5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1273" y="6039326"/>
              <a:ext cx="76119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添加注释是提高可读性最省事的办法，注释要写“为什么这样做”，而不是重复代码已经说清楚的事。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第2讲 算法与时间复杂度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第2讲 复杂度 · 算法的定义、特性与描述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度量时间效率，为什么不用秒表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1671638"/>
            <a:chOff x="533400" y="1524000"/>
            <a:chExt cx="5410200" cy="16716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0493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8693" y="173783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实际运行时间不可用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62000" y="209740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17448" y="2045494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实际执行时间依赖于机器，同一个算法在不同机器上的执行时间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不一定相同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2000" y="262509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17448" y="2573179"/>
              <a:ext cx="46459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还依赖于程序设计语言和实现细节，同一算法用 C 写通常比用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Java、Python 快，`printf`、`scanf` 也比 `cout`、`cin` 快</a:t>
              </a:r>
            </a:p>
          </p:txBody>
        </p:sp>
      </p:grpSp>
      <p:grpSp>
        <p:nvGrpSpPr>
          <p:cNvPr id="29" name="c1-bullets-2"/>
          <p:cNvGrpSpPr/>
          <p:nvPr/>
        </p:nvGrpSpPr>
        <p:grpSpPr>
          <a:xfrm>
            <a:off x="526923" y="3381851"/>
            <a:ext cx="3046197" cy="1429512"/>
            <a:chOff x="526923" y="3381851"/>
            <a:chExt cx="3046197" cy="1429512"/>
          </a:xfrm>
        </p:grpSpPr>
        <p:sp>
          <p:nvSpPr>
            <p:cNvPr id="16" name="TextBox 16"/>
            <p:cNvSpPr txBox="1"/>
            <p:nvPr/>
          </p:nvSpPr>
          <p:spPr>
            <a:xfrm>
              <a:off x="526923" y="338185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一个好的度量标准要满足四条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67188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85307" y="370751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3148" y="368284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能表示算法所采用的方法的时间效率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396525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85307" y="400088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3148" y="3976211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与算法描述语言及设计风格无关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33400" y="425767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85307" y="429329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3148" y="426958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与算法的许多细节无关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33400" y="455104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85307" y="458666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3148" y="456199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足够精确并且具有一般性</a:t>
              </a:r>
            </a:p>
          </p:txBody>
        </p:sp>
      </p:grpSp>
      <p:grpSp>
        <p:nvGrpSpPr>
          <p:cNvPr id="37" name="c1-card-3"/>
          <p:cNvGrpSpPr/>
          <p:nvPr/>
        </p:nvGrpSpPr>
        <p:grpSpPr>
          <a:xfrm>
            <a:off x="533400" y="4926330"/>
            <a:ext cx="5410200" cy="1406842"/>
            <a:chOff x="533400" y="4926330"/>
            <a:chExt cx="5410200" cy="1406842"/>
          </a:xfrm>
        </p:grpSpPr>
        <p:sp>
          <p:nvSpPr>
            <p:cNvPr id="30" name="Rectangle 30"/>
            <p:cNvSpPr/>
            <p:nvPr/>
          </p:nvSpPr>
          <p:spPr>
            <a:xfrm>
              <a:off x="533400" y="4926330"/>
              <a:ext cx="5410200" cy="1406842"/>
            </a:xfrm>
            <a:prstGeom prst="roundRect">
              <a:avLst>
                <a:gd name="adj" fmla="val 94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42925" y="5059680"/>
              <a:ext cx="47625" cy="11401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52475" y="510730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8246" y="514016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94625" y="514683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换一种语言重写，次数不变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5998" y="5464016"/>
              <a:ext cx="46784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同一段顺序查找，n = 10⁶ 时用 C 写和用 Python 写实际耗时能差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几十倍，但两者与 K 的比较次数都是 10⁶ 次。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7141" y="5987415"/>
              <a:ext cx="4675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秒数随环境变，次数只随算法和输入规模变，所以只有次数值得写进结论。</a:t>
              </a:r>
            </a:p>
          </p:txBody>
        </p:sp>
      </p:grpSp>
      <p:grpSp>
        <p:nvGrpSpPr>
          <p:cNvPr id="50" name="c2-card-1"/>
          <p:cNvGrpSpPr/>
          <p:nvPr/>
        </p:nvGrpSpPr>
        <p:grpSpPr>
          <a:xfrm>
            <a:off x="6248400" y="1524000"/>
            <a:ext cx="5410200" cy="1772602"/>
            <a:chOff x="6248400" y="1524000"/>
            <a:chExt cx="5410200" cy="1772602"/>
          </a:xfrm>
        </p:grpSpPr>
        <p:sp>
          <p:nvSpPr>
            <p:cNvPr id="38" name="Rectangle 38"/>
            <p:cNvSpPr/>
            <p:nvPr/>
          </p:nvSpPr>
          <p:spPr>
            <a:xfrm>
              <a:off x="6248400" y="1524000"/>
              <a:ext cx="5410200" cy="1772602"/>
            </a:xfrm>
            <a:prstGeom prst="roundRect">
              <a:avLst>
                <a:gd name="adj" fmla="val 75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57925" y="1657350"/>
              <a:ext cx="47625" cy="150590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67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60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33451" y="174450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基本运算（关键运算、关键操作）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60998" y="2061686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算法中起主要作用且费时最多的操作。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477000" y="239839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32448" y="2346484"/>
              <a:ext cx="20634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矩阵运算中的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乘法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与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加法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477000" y="268414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32448" y="2631281"/>
              <a:ext cx="1443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排序算法中的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比较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477000" y="296894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32448" y="2916079"/>
              <a:ext cx="26493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数组插入删除操作中的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赋值与移动</a:t>
              </a:r>
            </a:p>
          </p:txBody>
        </p:sp>
      </p:grpSp>
      <p:grpSp>
        <p:nvGrpSpPr>
          <p:cNvPr id="60" name="c2-card-2"/>
          <p:cNvGrpSpPr/>
          <p:nvPr/>
        </p:nvGrpSpPr>
        <p:grpSpPr>
          <a:xfrm>
            <a:off x="6248400" y="3461385"/>
            <a:ext cx="5410200" cy="1687830"/>
            <a:chOff x="6248400" y="3461385"/>
            <a:chExt cx="5410200" cy="1687830"/>
          </a:xfrm>
        </p:grpSpPr>
        <p:sp>
          <p:nvSpPr>
            <p:cNvPr id="51" name="Rectangle 51"/>
            <p:cNvSpPr/>
            <p:nvPr/>
          </p:nvSpPr>
          <p:spPr>
            <a:xfrm>
              <a:off x="6248400" y="3461385"/>
              <a:ext cx="5410200" cy="1687830"/>
            </a:xfrm>
            <a:prstGeom prst="roundRect">
              <a:avLst>
                <a:gd name="adj" fmla="val 79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57925" y="3594735"/>
              <a:ext cx="47625" cy="142113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67475" y="364236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60147" y="367522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033451" y="368188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时间复杂度与空间复杂度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477000" y="405098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632448" y="3998119"/>
              <a:ext cx="466217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一个算法的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时间复杂度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是指该算法的基本运算次数，往往写成问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题规模 n 的函数 T(n)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477000" y="457866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32448" y="4526756"/>
              <a:ext cx="466217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一个算法的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空间复杂度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是指它在运行过程中所占用的存储空间大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</a:t>
              </a:r>
            </a:p>
          </p:txBody>
        </p:sp>
      </p:grpSp>
      <p:grpSp>
        <p:nvGrpSpPr>
          <p:cNvPr id="66" name="c2-callout-3"/>
          <p:cNvGrpSpPr/>
          <p:nvPr/>
        </p:nvGrpSpPr>
        <p:grpSpPr>
          <a:xfrm>
            <a:off x="6248400" y="5313998"/>
            <a:ext cx="5410200" cy="1018222"/>
            <a:chOff x="6248400" y="5313998"/>
            <a:chExt cx="5410200" cy="1018222"/>
          </a:xfrm>
        </p:grpSpPr>
        <p:sp>
          <p:nvSpPr>
            <p:cNvPr id="61" name="Rectangle 61"/>
            <p:cNvSpPr/>
            <p:nvPr/>
          </p:nvSpPr>
          <p:spPr>
            <a:xfrm>
              <a:off x="6248400" y="5313998"/>
              <a:ext cx="5410200" cy="1018222"/>
            </a:xfrm>
            <a:prstGeom prst="roundRect">
              <a:avLst>
                <a:gd name="adj" fmla="val 11225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453188" y="5723575"/>
              <a:ext cx="200023" cy="200023"/>
              <a:chOff x="6453188" y="5723575"/>
              <a:chExt cx="200023" cy="200023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6453188" y="57235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586538" y="57902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756273" y="5617369"/>
              <a:ext cx="44020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数次数而不是数秒数，四条标准就都满足了，这是本讲后面所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有分析的出发点。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第2讲 算法与时间复杂度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47619" cy="909257"/>
            <a:chOff x="520446" y="342900"/>
            <a:chExt cx="69476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第2讲 复杂度 · 算法的定义、特性与描述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476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ADL 伪代码：把算法写清楚，不纠缠语言细节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1948815"/>
            <a:chOff x="533400" y="1524000"/>
            <a:chExt cx="5410200" cy="19488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48815"/>
            </a:xfrm>
            <a:prstGeom prst="roundRect">
              <a:avLst>
                <a:gd name="adj" fmla="val 488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6471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ADL：分支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194"/>
              <a:ext cx="1546225" cy="1453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IF i = 5 THEN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   i ← i+1.  j ← j+1.  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   i ← i-1.  j ← j-1.  )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CASE DO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   i=1:  j ← j+1.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i=2:  j ← j+2.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i=3:  j ← j+3.  )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3648075"/>
            <a:ext cx="5410200" cy="1788795"/>
            <a:chOff x="533400" y="3648075"/>
            <a:chExt cx="5410200" cy="1788795"/>
          </a:xfrm>
        </p:grpSpPr>
        <p:sp>
          <p:nvSpPr>
            <p:cNvPr id="11" name="Rectangle 11"/>
            <p:cNvSpPr/>
            <p:nvPr/>
          </p:nvSpPr>
          <p:spPr>
            <a:xfrm>
              <a:off x="533400" y="3648075"/>
              <a:ext cx="5410200" cy="1788795"/>
            </a:xfrm>
            <a:prstGeom prst="roundRect">
              <a:avLst>
                <a:gd name="adj" fmla="val 53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3799999"/>
              <a:ext cx="6471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ADL：循环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988" y="4059269"/>
              <a:ext cx="1546225" cy="1293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WHILE i &lt; 5 DO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   i ← i+1.  j ← j+1.  )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i = 1 TO 5 STEP 1 DO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   i ← i+1.  j ← j+1.  )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i ∈ U DO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 ← i+1.</a:t>
              </a:r>
            </a:p>
          </p:txBody>
        </p:sp>
      </p:grpSp>
      <p:grpSp>
        <p:nvGrpSpPr>
          <p:cNvPr id="18" name="c2-code-1"/>
          <p:cNvGrpSpPr/>
          <p:nvPr/>
        </p:nvGrpSpPr>
        <p:grpSpPr>
          <a:xfrm>
            <a:off x="6248400" y="1524000"/>
            <a:ext cx="5410200" cy="1788795"/>
            <a:chOff x="6248400" y="1524000"/>
            <a:chExt cx="5410200" cy="1788795"/>
          </a:xfrm>
        </p:grpSpPr>
        <p:sp>
          <p:nvSpPr>
            <p:cNvPr id="15" name="Rectangle 15"/>
            <p:cNvSpPr/>
            <p:nvPr/>
          </p:nvSpPr>
          <p:spPr>
            <a:xfrm>
              <a:off x="6248400" y="1524000"/>
              <a:ext cx="5410200" cy="1788795"/>
            </a:xfrm>
            <a:prstGeom prst="roundRect">
              <a:avLst>
                <a:gd name="adj" fmla="val 53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76797" y="1675924"/>
              <a:ext cx="11598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对应的 C/C++ 分支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76988" y="1935194"/>
              <a:ext cx="2037969" cy="1293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== 5) { i = i+1; j = j+1; }</a:t>
              </a:r>
              <a:br/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{ i = i-1; j = j-1;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switch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1: j = j+1;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break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2: j = j+2;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break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3: j = j+3;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break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2" name="c2-code-2"/>
          <p:cNvGrpSpPr/>
          <p:nvPr/>
        </p:nvGrpSpPr>
        <p:grpSpPr>
          <a:xfrm>
            <a:off x="6248400" y="3488055"/>
            <a:ext cx="5410200" cy="1788795"/>
            <a:chOff x="6248400" y="3488055"/>
            <a:chExt cx="5410200" cy="1788795"/>
          </a:xfrm>
        </p:grpSpPr>
        <p:sp>
          <p:nvSpPr>
            <p:cNvPr id="19" name="Rectangle 19"/>
            <p:cNvSpPr/>
            <p:nvPr/>
          </p:nvSpPr>
          <p:spPr>
            <a:xfrm>
              <a:off x="6248400" y="3488055"/>
              <a:ext cx="5410200" cy="1788795"/>
            </a:xfrm>
            <a:prstGeom prst="roundRect">
              <a:avLst>
                <a:gd name="adj" fmla="val 53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6797" y="3639979"/>
              <a:ext cx="11598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对应的 C/C++ 循环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76988" y="3899249"/>
              <a:ext cx="1814449" cy="1293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&lt; 5)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 i = i+1; j = j+1;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1; i &lt;= 5; i++)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 i = i+1; j = j+1;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/* FOR i ∈ U DO 要按集合 U 的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存储方式自己写遍历        */</a:t>
              </a:r>
            </a:p>
          </p:txBody>
        </p:sp>
      </p:grpSp>
      <p:grpSp>
        <p:nvGrpSpPr>
          <p:cNvPr id="29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23" name="Rectangle 23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5897880"/>
              <a:ext cx="200026" cy="200026"/>
              <a:chOff x="738188" y="5897880"/>
              <a:chExt cx="200026" cy="2000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38200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27088" y="59978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892" y="5779770"/>
              <a:ext cx="988066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ADL 用 ← 赋值、用句点结束语句、用圆括号代替花括号，STEP 省略时步长为 1；考试用 C/C++、Java、Python 或 ADL 都行，能让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人看懂即可。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0" name="TextBox 3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第2讲 算法与时间复杂度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658906" cy="909257"/>
            <a:chOff x="520446" y="342900"/>
            <a:chExt cx="465890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第2讲 复杂度 · 算法的定义、特性与描述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65890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ADL 写出本讲的第一个算法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1530668"/>
            <a:chOff x="533400" y="1524000"/>
            <a:chExt cx="5842635" cy="15306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530668"/>
            </a:xfrm>
            <a:prstGeom prst="roundRect">
              <a:avLst>
                <a:gd name="adj" fmla="val 622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4535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求 n 个互不相同实数的最大值和最小值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49" y="1936337"/>
              <a:ext cx="2737434" cy="10373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zh-CN" sz="9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算法 SelectMaxMin(A, n. max, min)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max ← min ← A[1].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FOR i = 2 TO n DO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求最大和最小元素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(   IF A[i] &gt; max THEN max ← A[i].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IF A[i] &lt; min THEN min ← A[i].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)  ▌</a:t>
              </a:r>
            </a:p>
          </p:txBody>
        </p:sp>
      </p:grpSp>
      <p:grpSp>
        <p:nvGrpSpPr>
          <p:cNvPr id="22" name="c1-kv-2"/>
          <p:cNvGrpSpPr/>
          <p:nvPr/>
        </p:nvGrpSpPr>
        <p:grpSpPr>
          <a:xfrm>
            <a:off x="526161" y="3262789"/>
            <a:ext cx="5849874" cy="2079879"/>
            <a:chOff x="526161" y="3262789"/>
            <a:chExt cx="5849874" cy="2079879"/>
          </a:xfrm>
        </p:grpSpPr>
        <p:sp>
          <p:nvSpPr>
            <p:cNvPr id="11" name="TextBox 11"/>
            <p:cNvSpPr txBox="1"/>
            <p:nvPr/>
          </p:nvSpPr>
          <p:spPr>
            <a:xfrm>
              <a:off x="526161" y="326278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算法首部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62556" y="3262789"/>
              <a:ext cx="3774567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圆点前是输入参数，圆点后是输出参数，这里 A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n 是输入，max 与 min 是输出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383667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6161" y="3952399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62556" y="3952399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写在最后，表示算法书写完毕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425862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6161" y="4374356"/>
              <a:ext cx="7676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// 与 /*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62556" y="437435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引导注释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68058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6161" y="4796314"/>
              <a:ext cx="923842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READ(x)、</a:t>
              </a:r>
              <a:br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PRINT(x)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62556" y="479631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输入与输出语句</a:t>
              </a:r>
            </a:p>
          </p:txBody>
        </p:sp>
      </p:grpSp>
      <p:grpSp>
        <p:nvGrpSpPr>
          <p:cNvPr id="39" name="c2-table-1"/>
          <p:cNvGrpSpPr/>
          <p:nvPr/>
        </p:nvGrpSpPr>
        <p:grpSpPr>
          <a:xfrm>
            <a:off x="6675120" y="1524000"/>
            <a:ext cx="4983480" cy="1586389"/>
            <a:chOff x="6675120" y="1524000"/>
            <a:chExt cx="4983480" cy="1586389"/>
          </a:xfrm>
        </p:grpSpPr>
        <p:sp>
          <p:nvSpPr>
            <p:cNvPr id="23" name="Rectangle 23"/>
            <p:cNvSpPr/>
            <p:nvPr/>
          </p:nvSpPr>
          <p:spPr>
            <a:xfrm>
              <a:off x="6680835" y="1524000"/>
              <a:ext cx="4977765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023548" y="1655445"/>
              <a:ext cx="1499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链表结点 p 上的写法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09146" y="1655445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ADL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707891" y="1655445"/>
              <a:ext cx="5050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C/C++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86182" y="20850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取数据域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46032" y="2085022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data(p)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43349" y="2085022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p-&gt;data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680835" y="237934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680835" y="2384108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86182" y="251555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取指针域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246032" y="2515552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next(p)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643349" y="2515552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p-&gt;next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680835" y="1524000"/>
              <a:ext cx="4977765" cy="12906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8860155" y="1524000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0257472" y="1524000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75120" y="2890361"/>
              <a:ext cx="36526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3 讲起会大量出现这两种写法，看到任一种都要认得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680835" y="3250882"/>
            <a:ext cx="4977765" cy="2147888"/>
            <a:chOff x="6680835" y="3250882"/>
            <a:chExt cx="4977765" cy="2147888"/>
          </a:xfrm>
        </p:grpSpPr>
        <p:sp>
          <p:nvSpPr>
            <p:cNvPr id="40" name="Rectangle 40"/>
            <p:cNvSpPr/>
            <p:nvPr/>
          </p:nvSpPr>
          <p:spPr>
            <a:xfrm>
              <a:off x="6680835" y="3250882"/>
              <a:ext cx="4977765" cy="2147888"/>
            </a:xfrm>
            <a:prstGeom prst="roundRect">
              <a:avLst>
                <a:gd name="adj" fmla="val 6208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884670" y="3454718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50227" y="349043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为什么要用伪代码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892290" y="388810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48881" y="3828574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数据结构与算法具有通用性，独立于具体的程序设计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语言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892290" y="447960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48881" y="4420076"/>
              <a:ext cx="399097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科研论文、两本编程圣经 TAOCP 与 CLRS、教育部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101 计划《数据结构》教材都用伪代码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78574" y="5007292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要点是不拘小节，只要把算法描述清楚就行。</a:t>
              </a:r>
            </a:p>
          </p:txBody>
        </p:sp>
      </p:grpSp>
      <p:grpSp>
        <p:nvGrpSpPr>
          <p:cNvPr id="55" name="c2-callout-3"/>
          <p:cNvGrpSpPr/>
          <p:nvPr/>
        </p:nvGrpSpPr>
        <p:grpSpPr>
          <a:xfrm>
            <a:off x="6680835" y="5584508"/>
            <a:ext cx="4977765" cy="756285"/>
            <a:chOff x="6680835" y="5584508"/>
            <a:chExt cx="4977765" cy="756285"/>
          </a:xfrm>
        </p:grpSpPr>
        <p:sp>
          <p:nvSpPr>
            <p:cNvPr id="49" name="Rectangle 49"/>
            <p:cNvSpPr/>
            <p:nvPr/>
          </p:nvSpPr>
          <p:spPr>
            <a:xfrm>
              <a:off x="6680835" y="5584508"/>
              <a:ext cx="4977765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885623" y="5862638"/>
              <a:ext cx="200026" cy="200025"/>
              <a:chOff x="6885623" y="5862638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885623" y="586263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925361" y="590708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960077" y="601821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7187946" y="5731669"/>
              <a:ext cx="393687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交换 a 和 b，ADL 写成 a ↔ b 一行即可，C++ 要写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temp、三次赋值和一个临时变量声明。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第2讲 算法与时间复杂度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367528" cy="3351847"/>
            <a:chOff x="667512" y="1835468"/>
            <a:chExt cx="536752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时间复杂度与渐近表示法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先把次数数准，再用一个简单函数概括它的增长趋势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1401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 的数法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最好、最坏与平均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11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 O、大 Ω、大 Θ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常用性质与常见阶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第2讲 算法与时间复杂度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第2讲 复杂度 · 时间复杂度与渐近表示法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先挑出关键运算，再数它执行了几次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4977765" cy="1937385"/>
            <a:chOff x="533400" y="1524000"/>
            <a:chExt cx="4977765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937385"/>
            </a:xfrm>
            <a:prstGeom prst="roundRect">
              <a:avLst>
                <a:gd name="adj" fmla="val 688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92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两步法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42950" y="209740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4799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3940" y="211074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看这个算法主要在做什么，挑出起主要作用且费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时最多的那个操作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42950" y="271843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4799" y="27607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3940" y="2731770"/>
              <a:ext cx="3853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把这个操作的执行次数写成问题规模 n 的函数</a:t>
              </a:r>
              <a:br/>
              <a:r>
                <a:rPr lang="en-US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T(n)</a:t>
              </a:r>
            </a:p>
          </p:txBody>
        </p:sp>
      </p:grpSp>
      <p:grpSp>
        <p:nvGrpSpPr>
          <p:cNvPr id="36" name="c1-table-2"/>
          <p:cNvGrpSpPr/>
          <p:nvPr/>
        </p:nvGrpSpPr>
        <p:grpSpPr>
          <a:xfrm>
            <a:off x="527685" y="3651885"/>
            <a:ext cx="4983480" cy="2539842"/>
            <a:chOff x="527685" y="3651885"/>
            <a:chExt cx="4983480" cy="2539842"/>
          </a:xfrm>
        </p:grpSpPr>
        <p:sp>
          <p:nvSpPr>
            <p:cNvPr id="17" name="Rectangle 17"/>
            <p:cNvSpPr/>
            <p:nvPr/>
          </p:nvSpPr>
          <p:spPr>
            <a:xfrm>
              <a:off x="533400" y="3651885"/>
              <a:ext cx="497776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23378" y="37876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算法类型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109163" y="378761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通常取哪个作为关键运算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1223" y="42362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矩阵运算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23388" y="423624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乘法与加法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54437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4549140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468487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排序算法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23388" y="468487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元素之间的比较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99395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1223" y="513349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数组插入删除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723388" y="513349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元素的赋值与移动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544258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5447348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1223" y="558212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查找算法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723388" y="558212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元素与待查值的比较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651885"/>
              <a:ext cx="4977765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610802" y="365188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7685" y="5971699"/>
              <a:ext cx="40176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关键运算选得不同，T(n) 的系数会变，但渐近的阶通常不变</a:t>
              </a:r>
            </a:p>
          </p:txBody>
        </p:sp>
      </p:grpSp>
      <p:grpSp>
        <p:nvGrpSpPr>
          <p:cNvPr id="40" name="c2-code-1"/>
          <p:cNvGrpSpPr/>
          <p:nvPr/>
        </p:nvGrpSpPr>
        <p:grpSpPr>
          <a:xfrm>
            <a:off x="5815965" y="1524000"/>
            <a:ext cx="5842635" cy="858202"/>
            <a:chOff x="5815965" y="1524000"/>
            <a:chExt cx="5842635" cy="858202"/>
          </a:xfrm>
        </p:grpSpPr>
        <p:sp>
          <p:nvSpPr>
            <p:cNvPr id="37" name="Rectangle 37"/>
            <p:cNvSpPr/>
            <p:nvPr/>
          </p:nvSpPr>
          <p:spPr>
            <a:xfrm>
              <a:off x="5815965" y="1524000"/>
              <a:ext cx="5842635" cy="858202"/>
            </a:xfrm>
            <a:prstGeom prst="roundRect">
              <a:avLst>
                <a:gd name="adj" fmla="val 110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44362" y="1675924"/>
              <a:ext cx="7111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单层循环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944362" y="1935956"/>
              <a:ext cx="1173607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i = 1 TO n DO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x ← x*y.</a:t>
              </a:r>
            </a:p>
          </p:txBody>
        </p:sp>
      </p:grpSp>
      <p:grpSp>
        <p:nvGrpSpPr>
          <p:cNvPr id="46" name="c2-callout-2"/>
          <p:cNvGrpSpPr/>
          <p:nvPr/>
        </p:nvGrpSpPr>
        <p:grpSpPr>
          <a:xfrm>
            <a:off x="5815965" y="2572702"/>
            <a:ext cx="5842635" cy="533400"/>
            <a:chOff x="5815965" y="2572702"/>
            <a:chExt cx="5842635" cy="533400"/>
          </a:xfrm>
        </p:grpSpPr>
        <p:sp>
          <p:nvSpPr>
            <p:cNvPr id="41" name="Rectangle 41"/>
            <p:cNvSpPr/>
            <p:nvPr/>
          </p:nvSpPr>
          <p:spPr>
            <a:xfrm>
              <a:off x="5815965" y="2572702"/>
              <a:ext cx="5842635" cy="533400"/>
            </a:xfrm>
            <a:prstGeom prst="roundRect">
              <a:avLst>
                <a:gd name="adj" fmla="val 2142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020753" y="2739390"/>
              <a:ext cx="200026" cy="200026"/>
              <a:chOff x="6020753" y="2739390"/>
              <a:chExt cx="200026" cy="200026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020753" y="273939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087428" y="281717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322695" y="2734628"/>
              <a:ext cx="47463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关键运算是乘法，循环体执行 n 次，所以 T(n) = n。</a:t>
              </a:r>
            </a:p>
          </p:txBody>
        </p:sp>
      </p:grpSp>
      <p:grpSp>
        <p:nvGrpSpPr>
          <p:cNvPr id="50" name="c2-code-3"/>
          <p:cNvGrpSpPr/>
          <p:nvPr/>
        </p:nvGrpSpPr>
        <p:grpSpPr>
          <a:xfrm>
            <a:off x="5815965" y="3296602"/>
            <a:ext cx="5842635" cy="1033462"/>
            <a:chOff x="5815965" y="3296602"/>
            <a:chExt cx="5842635" cy="1033462"/>
          </a:xfrm>
        </p:grpSpPr>
        <p:sp>
          <p:nvSpPr>
            <p:cNvPr id="47" name="Rectangle 47"/>
            <p:cNvSpPr/>
            <p:nvPr/>
          </p:nvSpPr>
          <p:spPr>
            <a:xfrm>
              <a:off x="5815965" y="3296602"/>
              <a:ext cx="5842635" cy="1033462"/>
            </a:xfrm>
            <a:prstGeom prst="roundRect">
              <a:avLst>
                <a:gd name="adj" fmla="val 92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944362" y="3448526"/>
              <a:ext cx="7111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双层循环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944362" y="3708559"/>
              <a:ext cx="1447419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i = 1 TO n DO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FOR j = 1 TO n DO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x ← x*y.</a:t>
              </a:r>
            </a:p>
          </p:txBody>
        </p:sp>
      </p:grpSp>
      <p:grpSp>
        <p:nvGrpSpPr>
          <p:cNvPr id="56" name="c2-callout-4"/>
          <p:cNvGrpSpPr/>
          <p:nvPr/>
        </p:nvGrpSpPr>
        <p:grpSpPr>
          <a:xfrm>
            <a:off x="5815965" y="4520565"/>
            <a:ext cx="5842635" cy="1626870"/>
            <a:chOff x="5815965" y="4520565"/>
            <a:chExt cx="5842635" cy="1626870"/>
          </a:xfrm>
        </p:grpSpPr>
        <p:sp>
          <p:nvSpPr>
            <p:cNvPr id="51" name="Rectangle 51"/>
            <p:cNvSpPr/>
            <p:nvPr/>
          </p:nvSpPr>
          <p:spPr>
            <a:xfrm>
              <a:off x="5815965" y="4520565"/>
              <a:ext cx="5842635" cy="1626870"/>
            </a:xfrm>
            <a:prstGeom prst="roundRect">
              <a:avLst>
                <a:gd name="adj" fmla="val 702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020753" y="5233988"/>
              <a:ext cx="200026" cy="200026"/>
              <a:chOff x="6020753" y="5233988"/>
              <a:chExt cx="200026" cy="20002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020753" y="5233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087428" y="531177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322695" y="5091112"/>
              <a:ext cx="45967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外层每执行 1 次，内层执行 n 次，所以 T(n) = n × n =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n²。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第2讲 算法与时间复杂度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第2讲 复杂度 · 时间复杂度与渐近表示法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同一个算法，不同的输入，次数可以差很远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127519" cy="264033"/>
            <a:chOff x="526542" y="1545907"/>
            <a:chExt cx="712751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1275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数组 R 由 n 个元素组成（下标从 1 开始），给定一个数 K，判断 K 是否是 R 的元素。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410200" cy="1556385"/>
            <a:chOff x="533400" y="1928812"/>
            <a:chExt cx="5410200" cy="155638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556385"/>
            </a:xfrm>
            <a:prstGeom prst="roundRect">
              <a:avLst>
                <a:gd name="adj" fmla="val 612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顺序查找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39816"/>
              <a:ext cx="1956943" cy="10591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zh-CN" sz="8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算法 Find(R, n, K)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 ← 1.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WHILE i ≤ n DO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(   IF R[i] = K THEN RETURN i.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 ← i+1.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).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RETURN -1.  ▌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649980"/>
            <a:ext cx="5410200" cy="1143952"/>
            <a:chOff x="533400" y="3649980"/>
            <a:chExt cx="5410200" cy="1143952"/>
          </a:xfrm>
        </p:grpSpPr>
        <p:sp>
          <p:nvSpPr>
            <p:cNvPr id="13" name="Rectangle 13"/>
            <p:cNvSpPr/>
            <p:nvPr/>
          </p:nvSpPr>
          <p:spPr>
            <a:xfrm>
              <a:off x="533400" y="3649980"/>
              <a:ext cx="5410200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78333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2475" y="3830955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3946" y="386381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返回值约定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5998" y="4170521"/>
              <a:ext cx="47190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返回值落在 [1, n] 内说明 K 在 R 中，且该值就是它的下标；返回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 说明 K 不是 R 的元素。</a:t>
              </a:r>
            </a:p>
          </p:txBody>
        </p:sp>
      </p:grpSp>
      <p:grpSp>
        <p:nvGrpSpPr>
          <p:cNvPr id="27" name="c1-card-3"/>
          <p:cNvGrpSpPr/>
          <p:nvPr/>
        </p:nvGrpSpPr>
        <p:grpSpPr>
          <a:xfrm>
            <a:off x="533400" y="4958715"/>
            <a:ext cx="5410200" cy="1308735"/>
            <a:chOff x="533400" y="4958715"/>
            <a:chExt cx="5410200" cy="1308735"/>
          </a:xfrm>
        </p:grpSpPr>
        <p:sp>
          <p:nvSpPr>
            <p:cNvPr id="19" name="Rectangle 19"/>
            <p:cNvSpPr/>
            <p:nvPr/>
          </p:nvSpPr>
          <p:spPr>
            <a:xfrm>
              <a:off x="533400" y="4958715"/>
              <a:ext cx="5410200" cy="1308735"/>
            </a:xfrm>
            <a:prstGeom prst="roundRect">
              <a:avLst>
                <a:gd name="adj" fmla="val 101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5092065"/>
              <a:ext cx="47625" cy="104203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52475" y="5139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5147" y="5172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62000" y="553212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17448" y="5480209"/>
              <a:ext cx="41333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最好时间复杂度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：次数的最小值 min{T(I)}，本例为 1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62000" y="581691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17448" y="5765006"/>
              <a:ext cx="41773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最坏时间复杂度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：次数的最大值 max{T(I)}，本例为 n</a:t>
              </a:r>
            </a:p>
          </p:txBody>
        </p:sp>
      </p:grpSp>
      <p:grpSp>
        <p:nvGrpSpPr>
          <p:cNvPr id="62" name="c2-cells-1"/>
          <p:cNvGrpSpPr/>
          <p:nvPr/>
        </p:nvGrpSpPr>
        <p:grpSpPr>
          <a:xfrm>
            <a:off x="6243066" y="1928812"/>
            <a:ext cx="4850702" cy="858203"/>
            <a:chOff x="6243066" y="1928812"/>
            <a:chExt cx="4850702" cy="858203"/>
          </a:xfrm>
        </p:grpSpPr>
        <p:sp>
          <p:nvSpPr>
            <p:cNvPr id="28" name="TextBox 28"/>
            <p:cNvSpPr txBox="1"/>
            <p:nvPr/>
          </p:nvSpPr>
          <p:spPr>
            <a:xfrm>
              <a:off x="6243066" y="204120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下标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648450" y="1928812"/>
              <a:ext cx="55530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48744" y="2041207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R[1]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203758" y="1928812"/>
              <a:ext cx="55530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04052" y="2041207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R[2]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760018" y="1928812"/>
              <a:ext cx="55530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860312" y="2041207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R[3]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315325" y="1928812"/>
              <a:ext cx="55530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415619" y="2041207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R[4]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871585" y="1928812"/>
              <a:ext cx="55530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70927" y="2041207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R[5]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426892" y="1928812"/>
              <a:ext cx="55530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527187" y="2041207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R[6]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982200" y="1928812"/>
              <a:ext cx="55530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082494" y="2041207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R[7]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0538460" y="1928812"/>
              <a:ext cx="55530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638754" y="2041207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R[8]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43066" y="25431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元素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648450" y="2430780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11851" y="25431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067550" y="243078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90136" y="25431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486650" y="243078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609236" y="25431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905750" y="243078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069151" y="25431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324850" y="243078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447436" y="25431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743950" y="243078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866536" y="25431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163050" y="243078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285636" y="25431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582150" y="2430780"/>
              <a:ext cx="419100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704736" y="25431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  <p:grpSp>
        <p:nvGrpSpPr>
          <p:cNvPr id="84" name="c2-table-2"/>
          <p:cNvGrpSpPr/>
          <p:nvPr/>
        </p:nvGrpSpPr>
        <p:grpSpPr>
          <a:xfrm>
            <a:off x="6248400" y="2951798"/>
            <a:ext cx="5410200" cy="1525905"/>
            <a:chOff x="6248400" y="2951798"/>
            <a:chExt cx="5410200" cy="1525905"/>
          </a:xfrm>
        </p:grpSpPr>
        <p:sp>
          <p:nvSpPr>
            <p:cNvPr id="63" name="Rectangle 63"/>
            <p:cNvSpPr/>
            <p:nvPr/>
          </p:nvSpPr>
          <p:spPr>
            <a:xfrm>
              <a:off x="6248400" y="2951798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858952" y="306895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070152" y="306895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比较次数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159365" y="306895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343079" y="3449955"/>
              <a:ext cx="3635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5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7772400" y="3342322"/>
              <a:ext cx="117157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857554" y="344995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048178" y="3449955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第一次比较就命中，最好情况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248400" y="37099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248400" y="3714750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343079" y="3831908"/>
              <a:ext cx="4497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16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857554" y="383190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048178" y="383190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命中最后一个元素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248400" y="40909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343079" y="4212908"/>
              <a:ext cx="4497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99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7772400" y="4105275"/>
              <a:ext cx="1171575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857554" y="421290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048178" y="4212908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走完全表才确定不存在，最坏情况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248400" y="2951798"/>
              <a:ext cx="5410200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7758112" y="2951798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8948738" y="2951798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3" name="c2-card-3"/>
          <p:cNvGrpSpPr/>
          <p:nvPr/>
        </p:nvGrpSpPr>
        <p:grpSpPr>
          <a:xfrm>
            <a:off x="6248400" y="4641532"/>
            <a:ext cx="5410200" cy="1625918"/>
            <a:chOff x="6248400" y="4641532"/>
            <a:chExt cx="5410200" cy="1625918"/>
          </a:xfrm>
        </p:grpSpPr>
        <p:sp>
          <p:nvSpPr>
            <p:cNvPr id="85" name="Rectangle 85"/>
            <p:cNvSpPr/>
            <p:nvPr/>
          </p:nvSpPr>
          <p:spPr>
            <a:xfrm>
              <a:off x="6248400" y="4641532"/>
              <a:ext cx="5410200" cy="1625918"/>
            </a:xfrm>
            <a:prstGeom prst="roundRect">
              <a:avLst>
                <a:gd name="adj" fmla="val 8202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6429375" y="4822508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499644" y="485536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这一页的两个要点</a:t>
              </a:r>
            </a:p>
          </p:txBody>
        </p:sp>
        <p:sp>
          <p:nvSpPr>
            <p:cNvPr id="88" name="Ellipse 88"/>
            <p:cNvSpPr/>
            <p:nvPr/>
          </p:nvSpPr>
          <p:spPr>
            <a:xfrm>
              <a:off x="6438900" y="521589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594348" y="5163026"/>
              <a:ext cx="48323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本算法的关键运算是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R 中元素与 K 的比较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，别把 i ← i+1 数进去</a:t>
              </a:r>
            </a:p>
          </p:txBody>
        </p:sp>
        <p:sp>
          <p:nvSpPr>
            <p:cNvPr id="90" name="Ellipse 90"/>
            <p:cNvSpPr/>
            <p:nvPr/>
          </p:nvSpPr>
          <p:spPr>
            <a:xfrm>
              <a:off x="6438900" y="550068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594348" y="5447824"/>
              <a:ext cx="49152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只报最坏值会过于悲观：表里 8 个元素中有 7 个不到 8 次就命中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424041" y="5729288"/>
              <a:ext cx="467791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所以还需要第三个指标，把各种输入按概率折算成一个数，这就是平均时间复杂</a:t>
              </a:r>
              <a:br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度。</a:t>
              </a:r>
            </a:p>
          </p:txBody>
        </p:sp>
      </p:grpSp>
      <p:grpSp>
        <p:nvGrpSpPr>
          <p:cNvPr id="9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4" name="TextBox 9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第2讲 算法与时间复杂度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第2讲 复杂度 · 时间复杂度与渐近表示法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平均时间复杂度就是按概率做的一次加权求和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621155"/>
            <a:chOff x="533400" y="1524000"/>
            <a:chExt cx="5626418" cy="16211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平均时间复杂度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8253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设某领域问题的输入规模为 n，Dₙ 是该问题所有输入的集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合。对任一输入 I ∈ Dₙ，P(I) 是 I 出现的概率，T(I) 是算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法在输入 I 下执行的基本运算次数。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2"/>
              <p:cNvSpPr txBox="1">
                <a:spLocks noGrp="1"/>
              </p:cNvSpPr>
              <p:nvPr/>
            </p:nvSpPr>
            <p:spPr>
              <a:xfrm>
                <a:off x="533400" y="3335655"/>
                <a:ext cx="5626418" cy="8172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∈</m:t>
                          </m:r>
                          <m:sSub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e>
                            <m:sub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</m:d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19" name="c1-card-3"/>
          <p:cNvGrpSpPr/>
          <p:nvPr/>
        </p:nvGrpSpPr>
        <p:grpSpPr>
          <a:xfrm>
            <a:off x="533400" y="4343400"/>
            <a:ext cx="5626418" cy="1316355"/>
            <a:chOff x="533400" y="4343400"/>
            <a:chExt cx="5626418" cy="1316355"/>
          </a:xfrm>
        </p:grpSpPr>
        <p:sp>
          <p:nvSpPr>
            <p:cNvPr id="15" name="Rectangle 15"/>
            <p:cNvSpPr/>
            <p:nvPr/>
          </p:nvSpPr>
          <p:spPr>
            <a:xfrm>
              <a:off x="533400" y="4343400"/>
              <a:ext cx="5626418" cy="1316355"/>
            </a:xfrm>
            <a:prstGeom prst="roundRect">
              <a:avLst>
                <a:gd name="adj" fmla="val 1013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42950" y="45529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3158" y="45886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5330" y="493014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按照假定的概率分布，对算法各种输入情况下的基本运算次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数做加权求和，权值就是每种输入发生的概率。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464618" y="1524000"/>
            <a:ext cx="5193982" cy="2487930"/>
            <a:chOff x="6464618" y="1524000"/>
            <a:chExt cx="5193982" cy="2487930"/>
          </a:xfrm>
        </p:grpSpPr>
        <p:sp>
          <p:nvSpPr>
            <p:cNvPr id="20" name="Rectangle 20"/>
            <p:cNvSpPr/>
            <p:nvPr/>
          </p:nvSpPr>
          <p:spPr>
            <a:xfrm>
              <a:off x="6464618" y="1524000"/>
              <a:ext cx="5193982" cy="2487930"/>
            </a:xfrm>
            <a:prstGeom prst="roundRect">
              <a:avLst>
                <a:gd name="adj" fmla="val 53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474142" y="1657350"/>
              <a:ext cx="47625" cy="22212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712268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81775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本例的概率假定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24812" y="1768792"/>
              <a:ext cx="31886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 Find 之前必须先把假设写出来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717983" y="219265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876098" y="2129790"/>
              <a:ext cx="4253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K 是 R 中元素的概率为 q，其中 0 ≤ q ≤ 1；K 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R 中的概率为 1 − q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717983" y="28136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76098" y="2750820"/>
              <a:ext cx="4291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假定 K 等于 R 中每个元素的概率相同，于是 K 等于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某个 R[i] 的概率是 </a:t>
              </a:r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q/n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05791" y="3368516"/>
              <a:ext cx="44264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一共有 n + 1 种输入情况：命中第 1 个到第 n 个，再加上一种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不命中。</a:t>
              </a:r>
            </a:p>
          </p:txBody>
        </p:sp>
      </p:grpSp>
      <p:grpSp>
        <p:nvGrpSpPr>
          <p:cNvPr id="37" name="c2-callout-2"/>
          <p:cNvGrpSpPr/>
          <p:nvPr/>
        </p:nvGrpSpPr>
        <p:grpSpPr>
          <a:xfrm>
            <a:off x="6464618" y="4202430"/>
            <a:ext cx="5193982" cy="1457325"/>
            <a:chOff x="6464618" y="4202430"/>
            <a:chExt cx="5193982" cy="1457325"/>
          </a:xfrm>
        </p:grpSpPr>
        <p:sp>
          <p:nvSpPr>
            <p:cNvPr id="31" name="Rectangle 31"/>
            <p:cNvSpPr/>
            <p:nvPr/>
          </p:nvSpPr>
          <p:spPr>
            <a:xfrm>
              <a:off x="6464618" y="4202430"/>
              <a:ext cx="5193982" cy="1457325"/>
            </a:xfrm>
            <a:prstGeom prst="roundRect">
              <a:avLst>
                <a:gd name="adj" fmla="val 784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657347" y="4827388"/>
              <a:ext cx="224134" cy="192560"/>
              <a:chOff x="6657347" y="4827388"/>
              <a:chExt cx="224134" cy="19256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769418" y="489775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657347" y="482738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769418" y="49755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6971348" y="4550092"/>
              <a:ext cx="4206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换一套概率假设，平均复杂度的结果就会变。凡是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给出平均复杂度的地方，都要能说出它假设了什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么。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第2讲 算法与时间复杂度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68890" cy="909257"/>
            <a:chOff x="520446" y="342900"/>
            <a:chExt cx="57688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第2讲 复杂度 · 时间复杂度与渐近表示法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688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算出 Find 的平均时间复杂度 E(n)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4" name="c1-table-1"/>
          <p:cNvGrpSpPr/>
          <p:nvPr/>
        </p:nvGrpSpPr>
        <p:grpSpPr>
          <a:xfrm>
            <a:off x="533400" y="1524000"/>
            <a:ext cx="5626418" cy="3826192"/>
            <a:chOff x="533400" y="1524000"/>
            <a:chExt cx="5626418" cy="38261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67532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9026" y="17730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输入种类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20658" y="17730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输入内容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08488" y="17730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发生概率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127816" y="1659731"/>
              <a:ext cx="8257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基本运算次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305" y="2448401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53730" y="2335054"/>
              <a:ext cx="166293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等于 R 中第 1 个元素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R[1]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10957" y="244840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q/n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86829" y="244840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988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874645"/>
              <a:ext cx="562641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7305" y="3123724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53730" y="3010376"/>
              <a:ext cx="166293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等于 R 中第 2 个元素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R[2]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10957" y="312372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q/n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86829" y="312372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5461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83897" y="368569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53730" y="368569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05729" y="368569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86829" y="368569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99478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999548"/>
              <a:ext cx="562641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7305" y="4247674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n 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53730" y="4134326"/>
              <a:ext cx="166293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等于 R 中第 n 个元素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R[n]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210957" y="424767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q/n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486829" y="424767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67010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7794" y="4923949"/>
              <a:ext cx="7646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n+1 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653730" y="4810601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不等于 R 中任何一个元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806190" y="4684395"/>
              <a:ext cx="1105852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159263" y="4923949"/>
              <a:ext cx="400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1 − q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932045" y="4684395"/>
              <a:ext cx="1219200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486829" y="492394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1524000"/>
              <a:ext cx="5626418" cy="38261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541145" y="1524000"/>
              <a:ext cx="9525" cy="38261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3791902" y="1524000"/>
              <a:ext cx="9525" cy="38261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917758" y="1524000"/>
              <a:ext cx="9525" cy="38261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c1-callout-2"/>
          <p:cNvGrpSpPr/>
          <p:nvPr/>
        </p:nvGrpSpPr>
        <p:grpSpPr>
          <a:xfrm>
            <a:off x="533400" y="5540692"/>
            <a:ext cx="5626418" cy="782955"/>
            <a:chOff x="533400" y="5540692"/>
            <a:chExt cx="5626418" cy="782955"/>
          </a:xfrm>
        </p:grpSpPr>
        <p:sp>
          <p:nvSpPr>
            <p:cNvPr id="45" name="Rectangle 45"/>
            <p:cNvSpPr/>
            <p:nvPr/>
          </p:nvSpPr>
          <p:spPr>
            <a:xfrm>
              <a:off x="533400" y="5540692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5832158"/>
              <a:ext cx="200026" cy="200026"/>
              <a:chOff x="738188" y="5832158"/>
              <a:chExt cx="200026" cy="20002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58321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38200" y="58988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27088" y="59321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130" y="5689282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最后一行容易漏掉。不命中时算法走完了整张表，比较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次数同样是 n，而不是 0。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formula5"/>
              <p:cNvSpPr txBox="1">
                <a:spLocks noGrp="1"/>
              </p:cNvSpPr>
              <p:nvPr/>
            </p:nvSpPr>
            <p:spPr>
              <a:xfrm>
                <a:off x="6464618" y="1524000"/>
                <a:ext cx="5193982" cy="3857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num>
                        <m:den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num>
                        <m:den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+⋯+</m:t>
                      </m:r>
                      <m:f>
                        <m:fPr>
                          <m:type m:val="bar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num>
                        <m:den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e>
                      </m:d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formula6"/>
              <p:cNvSpPr txBox="1">
                <a:spLocks noGrp="1"/>
              </p:cNvSpPr>
              <p:nvPr/>
            </p:nvSpPr>
            <p:spPr>
              <a:xfrm>
                <a:off x="6464618" y="2100262"/>
                <a:ext cx="5193982" cy="3857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num>
                        <m:den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+⋯+</m:t>
                          </m:r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e>
                      </m:d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num>
                        <m:den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e>
                      </m:d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60" name="c2-card-3"/>
          <p:cNvGrpSpPr/>
          <p:nvPr/>
        </p:nvGrpSpPr>
        <p:grpSpPr>
          <a:xfrm>
            <a:off x="6464618" y="2676525"/>
            <a:ext cx="5193982" cy="1847850"/>
            <a:chOff x="6464618" y="2676525"/>
            <a:chExt cx="5193982" cy="1847850"/>
          </a:xfrm>
        </p:grpSpPr>
        <p:sp>
          <p:nvSpPr>
            <p:cNvPr id="54" name="Rectangle 54"/>
            <p:cNvSpPr/>
            <p:nvPr/>
          </p:nvSpPr>
          <p:spPr>
            <a:xfrm>
              <a:off x="6464618" y="2676525"/>
              <a:ext cx="5193982" cy="1847850"/>
            </a:xfrm>
            <a:prstGeom prst="roundRect">
              <a:avLst>
                <a:gd name="adj" fmla="val 72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74142" y="2809875"/>
              <a:ext cx="47625" cy="15811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712268" y="288607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803428" y="29217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特例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704648" y="3263265"/>
              <a:ext cx="370189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已知 K 一定在 R 中时 q = 1，代入得 </a:t>
              </a:r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E(n) =</a:t>
              </a:r>
              <a:br/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(n+1)/2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，平均要比较半张表。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705791" y="3880961"/>
              <a:ext cx="45565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= 8 时 E(n) = 4.5 次；n = 100 时 E(n) = 50.5 次，脚本按定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义逐项加权求和复核一致。</a:t>
              </a:r>
            </a:p>
          </p:txBody>
        </p:sp>
      </p:grpSp>
      <p:grpSp>
        <p:nvGrpSpPr>
          <p:cNvPr id="66" name="c2-callout-4"/>
          <p:cNvGrpSpPr/>
          <p:nvPr/>
        </p:nvGrpSpPr>
        <p:grpSpPr>
          <a:xfrm>
            <a:off x="6464618" y="4714875"/>
            <a:ext cx="5193982" cy="1608772"/>
            <a:chOff x="6464618" y="4714875"/>
            <a:chExt cx="5193982" cy="1608772"/>
          </a:xfrm>
        </p:grpSpPr>
        <p:sp>
          <p:nvSpPr>
            <p:cNvPr id="61" name="Rectangle 61"/>
            <p:cNvSpPr/>
            <p:nvPr/>
          </p:nvSpPr>
          <p:spPr>
            <a:xfrm>
              <a:off x="6464618" y="4714875"/>
              <a:ext cx="5193982" cy="1608772"/>
            </a:xfrm>
            <a:prstGeom prst="roundRect">
              <a:avLst>
                <a:gd name="adj" fmla="val 7105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669405" y="5418775"/>
              <a:ext cx="200023" cy="200023"/>
              <a:chOff x="6669405" y="5418775"/>
              <a:chExt cx="200023" cy="200023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6669405" y="54187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802755" y="54854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971348" y="5275898"/>
              <a:ext cx="43110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最好 1 次、最坏 n 次、平均约 n/2 次，三者的渐近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阶分别是 O(1)、O(n)、O(n)。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第2讲 算法与时间复杂度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76580" cy="909257"/>
            <a:chOff x="520446" y="342900"/>
            <a:chExt cx="56765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第2讲 复杂度 · 时间复杂度与渐近表示法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765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SelectMaxMin 的 T(n) = 2n − 2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1468755"/>
            <a:chOff x="533400" y="1524000"/>
            <a:chExt cx="5410200" cy="14687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68755"/>
            </a:xfrm>
            <a:prstGeom prst="roundRect">
              <a:avLst>
                <a:gd name="adj" fmla="val 648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逐个扫描求最大最小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194"/>
              <a:ext cx="2345309" cy="9734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zh-CN" sz="8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算法 SelectMaxMin(A, n. max, min)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max ← min ← A[1].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FOR i = 2 TO n DO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(   IF A[i] &gt; max THEN max ← A[i].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IF A[i] &lt; min THEN min ← A[i].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)  ▌</a:t>
              </a:r>
            </a:p>
          </p:txBody>
        </p:sp>
      </p:grpSp>
      <p:grpSp>
        <p:nvGrpSpPr>
          <p:cNvPr id="15" name="c1-card-2"/>
          <p:cNvGrpSpPr/>
          <p:nvPr/>
        </p:nvGrpSpPr>
        <p:grpSpPr>
          <a:xfrm>
            <a:off x="533400" y="3168015"/>
            <a:ext cx="5410200" cy="3080385"/>
            <a:chOff x="533400" y="3168015"/>
            <a:chExt cx="5410200" cy="3080385"/>
          </a:xfrm>
        </p:grpSpPr>
        <p:sp>
          <p:nvSpPr>
            <p:cNvPr id="11" name="Rectangle 11"/>
            <p:cNvSpPr/>
            <p:nvPr/>
          </p:nvSpPr>
          <p:spPr>
            <a:xfrm>
              <a:off x="533400" y="3168015"/>
              <a:ext cx="5410200" cy="3080385"/>
            </a:xfrm>
            <a:prstGeom prst="roundRect">
              <a:avLst>
                <a:gd name="adj" fmla="val 432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25805" y="3360420"/>
              <a:ext cx="16764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81240" y="339471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为什么不同输入次数相同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8947" y="3716655"/>
              <a:ext cx="47200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 IF 都写在循环体里，无论比较结果如何都会执行。所以这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个算法的最好、最坏、平均次数完全一样。</a:t>
              </a:r>
            </a:p>
          </p:txBody>
        </p:sp>
      </p:grpSp>
      <p:grpSp>
        <p:nvGrpSpPr>
          <p:cNvPr id="38" name="c2-table-1"/>
          <p:cNvGrpSpPr/>
          <p:nvPr/>
        </p:nvGrpSpPr>
        <p:grpSpPr>
          <a:xfrm>
            <a:off x="6248400" y="1524000"/>
            <a:ext cx="5410200" cy="2434590"/>
            <a:chOff x="6248400" y="1524000"/>
            <a:chExt cx="5410200" cy="2434590"/>
          </a:xfrm>
        </p:grpSpPr>
        <p:sp>
          <p:nvSpPr>
            <p:cNvPr id="16" name="Rectangle 16"/>
            <p:cNvSpPr/>
            <p:nvPr/>
          </p:nvSpPr>
          <p:spPr>
            <a:xfrm>
              <a:off x="6248400" y="1524000"/>
              <a:ext cx="5410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2355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语句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77881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执行次数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48412" y="2054066"/>
              <a:ext cx="13679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 ← min ← A[1].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810750" y="205406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次比较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248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48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48412" y="2459831"/>
              <a:ext cx="17510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 i = 2 TO n 的循环体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810750" y="2459831"/>
              <a:ext cx="5466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− 1 轮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248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48412" y="2865596"/>
              <a:ext cx="10005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 A[i] &gt; max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10750" y="2865596"/>
              <a:ext cx="637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每轮 1 次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248400" y="3142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48400" y="314706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48412" y="3271361"/>
              <a:ext cx="9600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 A[i] &lt; min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10750" y="3271361"/>
              <a:ext cx="637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每轮 1 次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48400" y="35480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48412" y="367712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合计比较次数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720262" y="3562350"/>
              <a:ext cx="1928812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810750" y="3677126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2(n − 1)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48400" y="1524000"/>
              <a:ext cx="5410200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9705975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2-callout-2"/>
          <p:cNvGrpSpPr/>
          <p:nvPr/>
        </p:nvGrpSpPr>
        <p:grpSpPr>
          <a:xfrm>
            <a:off x="6248400" y="4133850"/>
            <a:ext cx="5410200" cy="729615"/>
            <a:chOff x="6248400" y="4133850"/>
            <a:chExt cx="5410200" cy="729615"/>
          </a:xfrm>
        </p:grpSpPr>
        <p:sp>
          <p:nvSpPr>
            <p:cNvPr id="39" name="Rectangle 39"/>
            <p:cNvSpPr/>
            <p:nvPr/>
          </p:nvSpPr>
          <p:spPr>
            <a:xfrm>
              <a:off x="6248400" y="4133850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453188" y="4398645"/>
              <a:ext cx="200026" cy="200026"/>
              <a:chOff x="6453188" y="4398645"/>
              <a:chExt cx="200026" cy="20002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453188" y="43986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519863" y="447643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6755892" y="4279582"/>
              <a:ext cx="448856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T(n) = 2(n − 1) = 2n − 2。n = 100 时要比较 198 次，脚本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模拟一致。</a:t>
              </a:r>
            </a:p>
          </p:txBody>
        </p:sp>
      </p:grpSp>
      <p:grpSp>
        <p:nvGrpSpPr>
          <p:cNvPr id="50" name="c2-card-3"/>
          <p:cNvGrpSpPr/>
          <p:nvPr/>
        </p:nvGrpSpPr>
        <p:grpSpPr>
          <a:xfrm>
            <a:off x="6248400" y="5037772"/>
            <a:ext cx="5410200" cy="1209675"/>
            <a:chOff x="6248400" y="5037772"/>
            <a:chExt cx="5410200" cy="1209675"/>
          </a:xfrm>
        </p:grpSpPr>
        <p:sp>
          <p:nvSpPr>
            <p:cNvPr id="45" name="Rectangle 45"/>
            <p:cNvSpPr/>
            <p:nvPr/>
          </p:nvSpPr>
          <p:spPr>
            <a:xfrm>
              <a:off x="6248400" y="5037772"/>
              <a:ext cx="541020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57925" y="5171122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78905" y="5230178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66345" y="526446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下一步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72047" y="5587365"/>
              <a:ext cx="46600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2n − 2 已经是逐个扫描能做到的最少次数了。想更快必须换思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路，下一页用分治法把它降到约 1.5n。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第2讲 算法与时间复杂度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第2讲 复杂度 · 时间复杂度与渐近表示法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分治法改进：把数组一分为二，各求各的再合并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276022" cy="2215515"/>
            <a:chOff x="533400" y="1524000"/>
            <a:chExt cx="6276022" cy="22155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2215515"/>
            </a:xfrm>
            <a:prstGeom prst="roundRect">
              <a:avLst>
                <a:gd name="adj" fmla="val 42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6938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SelectMaxMin 的改进算法 BinarySelect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4289"/>
              <a:ext cx="3646488" cy="17159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zh-CN" sz="79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算法 BinarySelect(A, i, j. max, min)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i、j 为起止下标，i ≤ j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i = j THEN ( max ← min ← A[i]. RETURN. )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出口，1 个元素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i = j-1 THEN                       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出口，2 个元素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(   IF A[i] &lt; A[j] THEN ( max ← A[j]. min ← A[i]. )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ELSE ( max ← A[i]. min ← A[j]. )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RETURN.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)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mid ← ⌊(i+j)/2⌋.                      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取中值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BinarySelect(A, i, mid. Lmax, Lmin).  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左侧子数组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BinarySelect(A, mid+1, j. Rmax, Rmin).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右侧子数组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Lmax &gt; Rmax THEN max ← Lmax. ELSE max ← Rmax.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合并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Lmin &lt; Rmin THEN min ← Lmin. ELSE min ← Rmin.  ▌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formula13"/>
              <p:cNvSpPr txBox="1">
                <a:spLocks noGrp="1"/>
              </p:cNvSpPr>
              <p:nvPr/>
            </p:nvSpPr>
            <p:spPr>
              <a:xfrm>
                <a:off x="533400" y="3904298"/>
                <a:ext cx="6276022" cy="11001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⌊"/>
                                      <m:sepChr m:val=""/>
                                      <m:endChr m:val="⌋"/>
                                      <m:grow m:val="on"/>
                                      <m:ctrlP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/</m:t>
                                      </m:r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⌈"/>
                                      <m:sepChr m:val=""/>
                                      <m:endChr m:val="⌉"/>
                                      <m:grow m:val="on"/>
                                      <m:ctrlP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/</m:t>
                                      </m:r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&gt;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6" name="c1-card-3"/>
          <p:cNvGrpSpPr/>
          <p:nvPr/>
        </p:nvGrpSpPr>
        <p:grpSpPr>
          <a:xfrm>
            <a:off x="533400" y="5169218"/>
            <a:ext cx="6276022" cy="1143952"/>
            <a:chOff x="533400" y="5169218"/>
            <a:chExt cx="6276022" cy="1143952"/>
          </a:xfrm>
        </p:grpSpPr>
        <p:sp>
          <p:nvSpPr>
            <p:cNvPr id="12" name="Rectangle 12"/>
            <p:cNvSpPr/>
            <p:nvPr/>
          </p:nvSpPr>
          <p:spPr>
            <a:xfrm>
              <a:off x="533400" y="5169218"/>
              <a:ext cx="6276022" cy="1143952"/>
            </a:xfrm>
            <a:prstGeom prst="roundRect">
              <a:avLst>
                <a:gd name="adj" fmla="val 1165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14375" y="5350192"/>
              <a:ext cx="157829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73443" y="5383054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为什么要写两个递归出口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7898" y="5690711"/>
              <a:ext cx="54424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删掉 i = j−1 这个出口后 T(2) = T(1) + T(1) + 2 = 2，代回递推式得 T(n) =</a:t>
              </a:r>
              <a:br/>
              <a:r>
                <a:rPr lang="en-US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2n − 2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，分治就白做了。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7114222" y="1524000"/>
            <a:ext cx="4544378" cy="1714500"/>
            <a:chOff x="7114222" y="1524000"/>
            <a:chExt cx="4544378" cy="1714500"/>
          </a:xfrm>
        </p:grpSpPr>
        <p:sp>
          <p:nvSpPr>
            <p:cNvPr id="17" name="Rectangle 17"/>
            <p:cNvSpPr/>
            <p:nvPr/>
          </p:nvSpPr>
          <p:spPr>
            <a:xfrm>
              <a:off x="7114222" y="1524000"/>
              <a:ext cx="4544378" cy="1714500"/>
            </a:xfrm>
            <a:prstGeom prst="roundRect">
              <a:avLst>
                <a:gd name="adj" fmla="val 7778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295198" y="17049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79767" y="17378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分治三步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295198" y="203358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347104" y="206921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64946" y="2045494"/>
              <a:ext cx="33256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划分：以 mid 为界把 A[i..j] 切成左右两段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295198" y="231933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47104" y="235400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64946" y="2330291"/>
              <a:ext cx="32885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递归：分别求出左段的 Lmax、Lmin 和右段的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Rmax、Rmin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295198" y="284702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347104" y="288264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64946" y="2857976"/>
              <a:ext cx="33472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合并：两次比较就能得到整段的 max 和 min</a:t>
              </a:r>
            </a:p>
          </p:txBody>
        </p:sp>
      </p:grpSp>
      <p:grpSp>
        <p:nvGrpSpPr>
          <p:cNvPr id="37" name="c2-card-2"/>
          <p:cNvGrpSpPr/>
          <p:nvPr/>
        </p:nvGrpSpPr>
        <p:grpSpPr>
          <a:xfrm>
            <a:off x="7114222" y="3403282"/>
            <a:ext cx="4544378" cy="1600200"/>
            <a:chOff x="7114222" y="3403282"/>
            <a:chExt cx="4544378" cy="1600200"/>
          </a:xfrm>
        </p:grpSpPr>
        <p:sp>
          <p:nvSpPr>
            <p:cNvPr id="30" name="Rectangle 30"/>
            <p:cNvSpPr/>
            <p:nvPr/>
          </p:nvSpPr>
          <p:spPr>
            <a:xfrm>
              <a:off x="7114222" y="3403282"/>
              <a:ext cx="4544378" cy="16002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7123748" y="3536632"/>
              <a:ext cx="47625" cy="13335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333298" y="358425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425017" y="361711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99273" y="3623786"/>
              <a:ext cx="28500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源课件在 mid 一行标了“有无问题？”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26820" y="3940016"/>
              <a:ext cx="3824173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i + j 都很大时会超出 int 范围而溢出，写成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mid ← i +</a:t>
              </a:r>
              <a:br/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⌊(j−i)/2⌋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就不会。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27964" y="4464368"/>
              <a:ext cx="397116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这是二分类算法里最经典的一个坑，第 22 讲的二分查找会再遇到一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次。</a:t>
              </a:r>
            </a:p>
          </p:txBody>
        </p:sp>
      </p:grpSp>
      <p:grpSp>
        <p:nvGrpSpPr>
          <p:cNvPr id="43" name="c2-callout-3"/>
          <p:cNvGrpSpPr/>
          <p:nvPr/>
        </p:nvGrpSpPr>
        <p:grpSpPr>
          <a:xfrm>
            <a:off x="7114222" y="5167312"/>
            <a:ext cx="4544378" cy="1145858"/>
            <a:chOff x="7114222" y="5167312"/>
            <a:chExt cx="4544378" cy="1145858"/>
          </a:xfrm>
        </p:grpSpPr>
        <p:sp>
          <p:nvSpPr>
            <p:cNvPr id="38" name="Rectangle 38"/>
            <p:cNvSpPr/>
            <p:nvPr/>
          </p:nvSpPr>
          <p:spPr>
            <a:xfrm>
              <a:off x="7114222" y="5167312"/>
              <a:ext cx="4544378" cy="1145858"/>
            </a:xfrm>
            <a:prstGeom prst="roundRect">
              <a:avLst>
                <a:gd name="adj" fmla="val 9975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19010" y="5640705"/>
              <a:ext cx="200026" cy="200026"/>
              <a:chOff x="7319010" y="5640705"/>
              <a:chExt cx="200026" cy="2000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19010" y="564070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385685" y="571849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7622096" y="5533549"/>
              <a:ext cx="35892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算法对不同的输入都有相同的基本运算次数，所以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可以直接按递归过程列出上面的递推式。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第2讲 算法与时间复杂度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95596" cy="909257"/>
            <a:chOff x="520446" y="342900"/>
            <a:chExt cx="72955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第2讲 复杂度 · 时间复杂度与渐近表示法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9559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解这个递推式：n 是 2 的幂时 T(n) = 1.5n − 2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ree-1"/>
          <p:cNvGrpSpPr/>
          <p:nvPr/>
        </p:nvGrpSpPr>
        <p:grpSpPr>
          <a:xfrm>
            <a:off x="603885" y="1726882"/>
            <a:ext cx="4836795" cy="1994535"/>
            <a:chOff x="603885" y="1726882"/>
            <a:chExt cx="4836795" cy="1994535"/>
          </a:xfrm>
        </p:grpSpPr>
        <p:sp>
          <p:nvSpPr>
            <p:cNvPr id="7" name="Freeform 7"/>
            <p:cNvSpPr/>
            <p:nvPr/>
          </p:nvSpPr>
          <p:spPr>
            <a:xfrm>
              <a:off x="1155382" y="2724150"/>
              <a:ext cx="621982" cy="799147"/>
            </a:xfrm>
            <a:custGeom>
              <a:avLst/>
              <a:gdLst/>
              <a:ahLst/>
              <a:cxnLst/>
              <a:rect l="l" t="t" r="r" b="b"/>
              <a:pathLst>
                <a:path w="621982" h="799147">
                  <a:moveTo>
                    <a:pt x="621982" y="0"/>
                  </a:moveTo>
                  <a:lnTo>
                    <a:pt x="0" y="79914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777365" y="2724150"/>
              <a:ext cx="622935" cy="799147"/>
            </a:xfrm>
            <a:custGeom>
              <a:avLst/>
              <a:gdLst/>
              <a:ahLst/>
              <a:cxnLst/>
              <a:rect l="l" t="t" r="r" b="b"/>
              <a:pathLst>
                <a:path w="622935" h="799147">
                  <a:moveTo>
                    <a:pt x="0" y="0"/>
                  </a:moveTo>
                  <a:lnTo>
                    <a:pt x="622935" y="79914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644265" y="2724150"/>
              <a:ext cx="621982" cy="799147"/>
            </a:xfrm>
            <a:custGeom>
              <a:avLst/>
              <a:gdLst/>
              <a:ahLst/>
              <a:cxnLst/>
              <a:rect l="l" t="t" r="r" b="b"/>
              <a:pathLst>
                <a:path w="621982" h="799147">
                  <a:moveTo>
                    <a:pt x="621982" y="0"/>
                  </a:moveTo>
                  <a:lnTo>
                    <a:pt x="0" y="79914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266248" y="2724150"/>
              <a:ext cx="621983" cy="799147"/>
            </a:xfrm>
            <a:custGeom>
              <a:avLst/>
              <a:gdLst/>
              <a:ahLst/>
              <a:cxnLst/>
              <a:rect l="l" t="t" r="r" b="b"/>
              <a:pathLst>
                <a:path w="621983" h="799147">
                  <a:moveTo>
                    <a:pt x="0" y="0"/>
                  </a:moveTo>
                  <a:lnTo>
                    <a:pt x="621983" y="79914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777365" y="1924050"/>
              <a:ext cx="1244918" cy="800100"/>
            </a:xfrm>
            <a:custGeom>
              <a:avLst/>
              <a:gdLst/>
              <a:ahLst/>
              <a:cxnLst/>
              <a:rect l="l" t="t" r="r" b="b"/>
              <a:pathLst>
                <a:path w="1244918" h="800100">
                  <a:moveTo>
                    <a:pt x="1244918" y="0"/>
                  </a:moveTo>
                  <a:lnTo>
                    <a:pt x="0" y="8001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022282" y="1924050"/>
              <a:ext cx="1243965" cy="800100"/>
            </a:xfrm>
            <a:custGeom>
              <a:avLst/>
              <a:gdLst/>
              <a:ahLst/>
              <a:cxnLst/>
              <a:rect l="l" t="t" r="r" b="b"/>
              <a:pathLst>
                <a:path w="1243965" h="800100">
                  <a:moveTo>
                    <a:pt x="0" y="0"/>
                  </a:moveTo>
                  <a:lnTo>
                    <a:pt x="1243965" y="8001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3885" y="3327082"/>
              <a:ext cx="1103948" cy="394335"/>
            </a:xfrm>
            <a:prstGeom prst="roundRect">
              <a:avLst>
                <a:gd name="adj" fmla="val 19324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847850" y="3327082"/>
              <a:ext cx="1103948" cy="394335"/>
            </a:xfrm>
            <a:prstGeom prst="roundRect">
              <a:avLst>
                <a:gd name="adj" fmla="val 19324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111568" y="2526982"/>
              <a:ext cx="1332548" cy="394335"/>
            </a:xfrm>
            <a:prstGeom prst="roundRect">
              <a:avLst>
                <a:gd name="adj" fmla="val 1932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091815" y="3327082"/>
              <a:ext cx="1103948" cy="394335"/>
            </a:xfrm>
            <a:prstGeom prst="roundRect">
              <a:avLst>
                <a:gd name="adj" fmla="val 19324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336732" y="3327082"/>
              <a:ext cx="1103948" cy="394335"/>
            </a:xfrm>
            <a:prstGeom prst="roundRect">
              <a:avLst>
                <a:gd name="adj" fmla="val 19324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600450" y="2526982"/>
              <a:ext cx="1332548" cy="394335"/>
            </a:xfrm>
            <a:prstGeom prst="roundRect">
              <a:avLst>
                <a:gd name="adj" fmla="val 1932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355532" y="1726882"/>
              <a:ext cx="1332548" cy="394335"/>
            </a:xfrm>
            <a:prstGeom prst="roundRect">
              <a:avLst>
                <a:gd name="adj" fmla="val 1932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7398" y="3468052"/>
              <a:ext cx="9559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A[1..2] 比 1 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22315" y="3468052"/>
              <a:ext cx="9559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A[3..4] 比 1 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78222" y="2667952"/>
              <a:ext cx="11982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A[1..4] 合并比 2 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166280" y="3468052"/>
              <a:ext cx="9559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A[5..6] 比 1 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10245" y="3468052"/>
              <a:ext cx="9559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A[7..8] 比 1 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67105" y="2667952"/>
              <a:ext cx="11982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A[5..8] 合并比 2 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23140" y="1867853"/>
              <a:ext cx="11982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A[1..8] 合并比 2 次</a:t>
              </a:r>
            </a:p>
          </p:txBody>
        </p:sp>
      </p:grpSp>
      <p:grpSp>
        <p:nvGrpSpPr>
          <p:cNvPr id="33" name="c1-callout-2"/>
          <p:cNvGrpSpPr/>
          <p:nvPr/>
        </p:nvGrpSpPr>
        <p:grpSpPr>
          <a:xfrm>
            <a:off x="533400" y="4103370"/>
            <a:ext cx="4977765" cy="756285"/>
            <a:chOff x="533400" y="4103370"/>
            <a:chExt cx="4977765" cy="756285"/>
          </a:xfrm>
        </p:grpSpPr>
        <p:sp>
          <p:nvSpPr>
            <p:cNvPr id="28" name="Rectangle 28"/>
            <p:cNvSpPr/>
            <p:nvPr/>
          </p:nvSpPr>
          <p:spPr>
            <a:xfrm>
              <a:off x="533400" y="4103370"/>
              <a:ext cx="4977765" cy="756285"/>
            </a:xfrm>
            <a:prstGeom prst="roundRect">
              <a:avLst>
                <a:gd name="adj" fmla="val 1511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4381500"/>
              <a:ext cx="200026" cy="200026"/>
              <a:chOff x="738188" y="4381500"/>
              <a:chExt cx="200026" cy="20002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438150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04863" y="445928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511" y="4251484"/>
              <a:ext cx="405409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n = 8 的递归调用树：4 个出口各比 1 次，3 次合并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各比 2 次，共 4 + 6 = 10 次 = 1.5 × 8 − 2。</a:t>
              </a:r>
            </a:p>
          </p:txBody>
        </p:sp>
      </p:grpSp>
      <p:grpSp>
        <p:nvGrpSpPr>
          <p:cNvPr id="39" name="c1-card-3"/>
          <p:cNvGrpSpPr/>
          <p:nvPr/>
        </p:nvGrpSpPr>
        <p:grpSpPr>
          <a:xfrm>
            <a:off x="533400" y="5039678"/>
            <a:ext cx="4977765" cy="1250632"/>
            <a:chOff x="533400" y="5039678"/>
            <a:chExt cx="4977765" cy="1250632"/>
          </a:xfrm>
        </p:grpSpPr>
        <p:sp>
          <p:nvSpPr>
            <p:cNvPr id="34" name="Rectangle 34"/>
            <p:cNvSpPr/>
            <p:nvPr/>
          </p:nvSpPr>
          <p:spPr>
            <a:xfrm>
              <a:off x="533400" y="5039678"/>
              <a:ext cx="4977765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5173028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69620" y="523779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61060" y="52720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381" y="5599271"/>
              <a:ext cx="432460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更正：源课件第 45 页把次数直接写成 1.5n − 2，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该结</a:t>
              </a:r>
              <a:br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论只在 n 是 2 的幂时成立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，n = 6 时实为 8 次。</a:t>
              </a:r>
            </a:p>
          </p:txBody>
        </p:sp>
      </p:grpSp>
      <p:grpSp>
        <p:nvGrpSpPr>
          <p:cNvPr id="53" name="c2-steps-1"/>
          <p:cNvGrpSpPr/>
          <p:nvPr/>
        </p:nvGrpSpPr>
        <p:grpSpPr>
          <a:xfrm>
            <a:off x="5815965" y="1533525"/>
            <a:ext cx="5554523" cy="1781556"/>
            <a:chOff x="5815965" y="1533525"/>
            <a:chExt cx="5554523" cy="1781556"/>
          </a:xfrm>
        </p:grpSpPr>
        <p:sp>
          <p:nvSpPr>
            <p:cNvPr id="40" name="Rectangle 40"/>
            <p:cNvSpPr/>
            <p:nvPr/>
          </p:nvSpPr>
          <p:spPr>
            <a:xfrm>
              <a:off x="5949315" y="1676400"/>
              <a:ext cx="19050" cy="12334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5815965" y="215074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909589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5815965" y="276701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909589" y="2840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27826" y="15663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反复代入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28969" y="1846898"/>
              <a:ext cx="48461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 = 2T(n/2) + 2 = 4T(n/4) + 4 + 2 = 8T(n/8) + 8 + 4 + 2 = ⋯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27826" y="218360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展开到出口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28969" y="2464118"/>
              <a:ext cx="51415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n = 2ᵏ，代到 T(2) 为止，得 T(n) = 2ᵏ⁻¹T(2) + 2ᵏ⁻¹ + ⋯ + 2² + 2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27826" y="279987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求等比和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28969" y="3080385"/>
              <a:ext cx="47812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T(2) = 1，于是 T(n) = 2ᵏ⁻¹ + (2ᵏ − 2) = n/2 + n − 2 = 3n/2 − 2</a:t>
              </a:r>
            </a:p>
          </p:txBody>
        </p:sp>
      </p:grpSp>
      <p:grpSp>
        <p:nvGrpSpPr>
          <p:cNvPr id="81" name="c2-table-2"/>
          <p:cNvGrpSpPr/>
          <p:nvPr/>
        </p:nvGrpSpPr>
        <p:grpSpPr>
          <a:xfrm>
            <a:off x="5810631" y="3486150"/>
            <a:ext cx="5847969" cy="2402777"/>
            <a:chOff x="5810631" y="3486150"/>
            <a:chExt cx="5847969" cy="2402777"/>
          </a:xfrm>
        </p:grpSpPr>
        <p:sp>
          <p:nvSpPr>
            <p:cNvPr id="54" name="Rectangle 54"/>
            <p:cNvSpPr/>
            <p:nvPr/>
          </p:nvSpPr>
          <p:spPr>
            <a:xfrm>
              <a:off x="5815965" y="3486150"/>
              <a:ext cx="5842635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38558" y="361473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022717" y="361473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实测比较次数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321618" y="3614738"/>
              <a:ext cx="673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1.5n − 2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538558" y="40395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62924" y="4039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607954" y="4039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815965" y="433101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5815965" y="4335780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38558" y="446341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418500" y="446341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563530" y="446341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815965" y="475488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491912" y="488823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418500" y="488823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563530" y="488823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5815965" y="517969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5815965" y="5184458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538558" y="53130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7377112" y="5193982"/>
              <a:ext cx="2271712" cy="40576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462924" y="531304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9667875" y="5193982"/>
              <a:ext cx="1981200" cy="40576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10607954" y="531304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5815965" y="3486150"/>
              <a:ext cx="5842635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7362825" y="348615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9653588" y="348615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5810631" y="5683568"/>
              <a:ext cx="41522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前三行的 n 是 2 的幂，公式完全吻合；最后一行不是，就对不上了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第2讲 算法与时间复杂度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第2讲 复杂度 · 时间复杂度与渐近表示法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比较两个算法：省下四分之一的比较，多付出一个栈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table-1"/>
          <p:cNvGrpSpPr/>
          <p:nvPr/>
        </p:nvGrpSpPr>
        <p:grpSpPr>
          <a:xfrm>
            <a:off x="533400" y="1524000"/>
            <a:ext cx="5626418" cy="2692718"/>
            <a:chOff x="533400" y="1524000"/>
            <a:chExt cx="5626418" cy="26927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1236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03297" y="1659731"/>
              <a:ext cx="12056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SelectMaxMin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11415" y="1659731"/>
              <a:ext cx="11270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BinarySelect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比较次数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958399" y="2108359"/>
              <a:ext cx="4954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2n − 2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18891" y="2108359"/>
              <a:ext cx="15120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1.5n − 2（n = 2ᵏ）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556986"/>
              <a:ext cx="9451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1024 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98089" y="2556986"/>
              <a:ext cx="6160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2046 次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200525" y="2430780"/>
              <a:ext cx="195072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66907" y="2556986"/>
              <a:ext cx="6160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1534 次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8660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0056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855011" y="3005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一重循环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823828" y="3005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递归分治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3147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319462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34542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额外空间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970233" y="3454241"/>
              <a:ext cx="471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21278" y="3454241"/>
              <a:ext cx="15073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O(log n) 的递归栈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76332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1223" y="390382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实现难度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68854" y="390382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几行就写完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79201" y="390382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要写两个递归出口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5626418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216468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186238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1-callout-2"/>
          <p:cNvGrpSpPr/>
          <p:nvPr/>
        </p:nvGrpSpPr>
        <p:grpSpPr>
          <a:xfrm>
            <a:off x="533400" y="4407218"/>
            <a:ext cx="5626418" cy="1465898"/>
            <a:chOff x="533400" y="4407218"/>
            <a:chExt cx="5626418" cy="1465898"/>
          </a:xfrm>
        </p:grpSpPr>
        <p:sp>
          <p:nvSpPr>
            <p:cNvPr id="37" name="Rectangle 37"/>
            <p:cNvSpPr/>
            <p:nvPr/>
          </p:nvSpPr>
          <p:spPr>
            <a:xfrm>
              <a:off x="533400" y="4407218"/>
              <a:ext cx="5626418" cy="1465898"/>
            </a:xfrm>
            <a:prstGeom prst="roundRect">
              <a:avLst>
                <a:gd name="adj" fmla="val 7797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5039680"/>
              <a:ext cx="200023" cy="200023"/>
              <a:chOff x="738188" y="5039680"/>
              <a:chExt cx="200023" cy="200023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503968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71538" y="51063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130" y="4896802"/>
              <a:ext cx="45586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就比较次数而言 BinarySelect 更优，约省 25%。但它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是递归算法，实现需要额外的辅助空间栈。</a:t>
              </a:r>
            </a:p>
          </p:txBody>
        </p:sp>
      </p:grpSp>
      <p:grpSp>
        <p:nvGrpSpPr>
          <p:cNvPr id="52" name="c2-card-1"/>
          <p:cNvGrpSpPr/>
          <p:nvPr/>
        </p:nvGrpSpPr>
        <p:grpSpPr>
          <a:xfrm>
            <a:off x="6464618" y="1524000"/>
            <a:ext cx="5193982" cy="2487930"/>
            <a:chOff x="6464618" y="1524000"/>
            <a:chExt cx="5193982" cy="2487930"/>
          </a:xfrm>
        </p:grpSpPr>
        <p:sp>
          <p:nvSpPr>
            <p:cNvPr id="43" name="Rectangle 43"/>
            <p:cNvSpPr/>
            <p:nvPr/>
          </p:nvSpPr>
          <p:spPr>
            <a:xfrm>
              <a:off x="6464618" y="1524000"/>
              <a:ext cx="5193982" cy="2487930"/>
            </a:xfrm>
            <a:prstGeom prst="roundRect">
              <a:avLst>
                <a:gd name="adj" fmla="val 536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674168" y="173355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39725" y="176926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这一页真正要记的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128635" y="176879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时间和空间通常此消彼长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679883" y="219265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37998" y="212979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递归的每一层都要在栈上留下返回地址和局部变量，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深度为 log n 层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679883" y="28136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37998" y="2750820"/>
              <a:ext cx="4320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数据规模不大时，2n − 2 与 1.5n − 2 的差别常常被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函数调用开销抵消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67691" y="3368516"/>
              <a:ext cx="45646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所以比较两个算法不能只看一个数字，要说清比的是什么、代价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在哪。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6464618" y="4202430"/>
            <a:ext cx="5193982" cy="1670685"/>
            <a:chOff x="6464618" y="4202430"/>
            <a:chExt cx="5193982" cy="1670685"/>
          </a:xfrm>
        </p:grpSpPr>
        <p:sp>
          <p:nvSpPr>
            <p:cNvPr id="53" name="Rectangle 53"/>
            <p:cNvSpPr/>
            <p:nvPr/>
          </p:nvSpPr>
          <p:spPr>
            <a:xfrm>
              <a:off x="6464618" y="4202430"/>
              <a:ext cx="5193982" cy="1670685"/>
            </a:xfrm>
            <a:prstGeom prst="roundRect">
              <a:avLst>
                <a:gd name="adj" fmla="val 79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474142" y="4335780"/>
              <a:ext cx="47625" cy="14039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712268" y="441198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803428" y="444769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动手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13295" y="444722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自己验证一遍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717983" y="48710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876098" y="4808220"/>
              <a:ext cx="4291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A = [3, 1, 4, 1, 5, 9, 2, 6]，按递归调用树逐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个出口写出 Lmax/Lmin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717983" y="54921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876098" y="5429250"/>
              <a:ext cx="37913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数一数总共比较了几次，应当正好是 10 次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第2讲 算法与时间复杂度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第2讲 复杂度 · 时间复杂度与渐近表示法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规模一大，只有最高阶项还说得上话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602739" cy="264033"/>
            <a:chOff x="526542" y="1545907"/>
            <a:chExt cx="860273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6027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T(n) = n² + 100n + log₁₀n + 1000。n 很小时常数项 1000 贡献最大，n 增大后其余三项越来越不起眼。</a:t>
              </a:r>
            </a:p>
          </p:txBody>
        </p:sp>
      </p:grpSp>
      <p:grpSp>
        <p:nvGrpSpPr>
          <p:cNvPr id="77" name="c1-table-1"/>
          <p:cNvGrpSpPr/>
          <p:nvPr/>
        </p:nvGrpSpPr>
        <p:grpSpPr>
          <a:xfrm>
            <a:off x="528447" y="1928812"/>
            <a:ext cx="6280975" cy="3063907"/>
            <a:chOff x="528447" y="1928812"/>
            <a:chExt cx="6280975" cy="3063907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276022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0386" y="2050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58873" y="20502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n²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75736" y="205025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100n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23792" y="2050256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log₁₀n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81638" y="205025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1000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17779" y="2050256"/>
              <a:ext cx="3695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T(n)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103011" y="2050256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n² 占比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1170" y="24503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24982" y="2450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37335" y="245030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856614" y="2450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35534" y="24503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89976" y="24503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1101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56053" y="2450306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0.09%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272415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2728912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04098" y="28503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059130" y="28503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54409" y="28503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56614" y="2850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235534" y="28503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489976" y="28503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2101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56053" y="2850356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4.76%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12420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7026" y="325040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059130" y="325040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10⁴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937335" y="325040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10⁴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856614" y="32504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235534" y="32504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407050" y="32504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21002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173127" y="3250406"/>
              <a:ext cx="539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47.61%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352425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3529012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29954" y="365045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059130" y="36504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10⁶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937335" y="36504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10⁵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856614" y="36504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235534" y="36504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241199" y="365045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1101003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173127" y="3650456"/>
              <a:ext cx="539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90.83%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392430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17026" y="405050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10⁴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059130" y="405050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10⁸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937335" y="405050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10⁶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856614" y="40505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235534" y="40505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075347" y="4050506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101001004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939790" y="3938588"/>
              <a:ext cx="859155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173127" y="4050506"/>
              <a:ext cx="539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99.01%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432435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33400" y="4329112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17026" y="445055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10⁶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976204" y="44505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10¹²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937335" y="44505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10⁸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856614" y="4450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235534" y="44505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407050" y="445055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≈10¹²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939790" y="4338638"/>
              <a:ext cx="859155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173127" y="4450556"/>
              <a:ext cx="539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99.99%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33400" y="1928812"/>
              <a:ext cx="6276022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1282065" y="192881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2411730" y="192881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3289935" y="192881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4043362" y="192881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4671060" y="192881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5925502" y="192881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528447" y="4802029"/>
              <a:ext cx="3120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最后一列是 n² 在 T(n) 中所占的比重，脚本逐行算出</a:t>
              </a:r>
            </a:p>
          </p:txBody>
        </p:sp>
      </p:grpSp>
      <p:grpSp>
        <p:nvGrpSpPr>
          <p:cNvPr id="82" name="c1-card-2"/>
          <p:cNvGrpSpPr/>
          <p:nvPr/>
        </p:nvGrpSpPr>
        <p:grpSpPr>
          <a:xfrm>
            <a:off x="533400" y="5124450"/>
            <a:ext cx="6276022" cy="1185862"/>
            <a:chOff x="533400" y="5124450"/>
            <a:chExt cx="6276022" cy="1185862"/>
          </a:xfrm>
        </p:grpSpPr>
        <p:sp>
          <p:nvSpPr>
            <p:cNvPr id="78" name="Rectangle 78"/>
            <p:cNvSpPr/>
            <p:nvPr/>
          </p:nvSpPr>
          <p:spPr>
            <a:xfrm>
              <a:off x="533400" y="5124450"/>
              <a:ext cx="6276022" cy="1185862"/>
            </a:xfrm>
            <a:prstGeom prst="roundRect">
              <a:avLst>
                <a:gd name="adj" fmla="val 1124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720090" y="5311140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93458" y="5344001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这张表要横着读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13232" y="5654992"/>
              <a:ext cx="556012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= 1 时常数项 1000 贡献最大，n = 100 时 n² 才刚过半，n = 10⁴ 之后它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已占 99% 以上。渐近结论说的都是“n 足够大以后”。</a:t>
              </a:r>
            </a:p>
          </p:txBody>
        </p:sp>
      </p:grpSp>
      <p:grpSp>
        <p:nvGrpSpPr>
          <p:cNvPr id="87" name="c2-card-1"/>
          <p:cNvGrpSpPr/>
          <p:nvPr/>
        </p:nvGrpSpPr>
        <p:grpSpPr>
          <a:xfrm>
            <a:off x="7114222" y="1928812"/>
            <a:ext cx="4544378" cy="1185862"/>
            <a:chOff x="7114222" y="1928812"/>
            <a:chExt cx="4544378" cy="1185862"/>
          </a:xfrm>
        </p:grpSpPr>
        <p:sp>
          <p:nvSpPr>
            <p:cNvPr id="83" name="Rectangle 83"/>
            <p:cNvSpPr/>
            <p:nvPr/>
          </p:nvSpPr>
          <p:spPr>
            <a:xfrm>
              <a:off x="7114222" y="1928812"/>
              <a:ext cx="4544378" cy="1185862"/>
            </a:xfrm>
            <a:prstGeom prst="roundRect">
              <a:avLst>
                <a:gd name="adj" fmla="val 1124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7300912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7392632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294054" y="2459355"/>
              <a:ext cx="39484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随着 n 增大，第一项决定了 T(n) 的变化趋势，于是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用 </a:t>
              </a:r>
              <a:r>
                <a:rPr lang="en-US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g(n) = n²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代替整个 T(n)。</a:t>
              </a:r>
            </a:p>
          </p:txBody>
        </p:sp>
      </p:grpSp>
      <p:grpSp>
        <p:nvGrpSpPr>
          <p:cNvPr id="98" name="c2-bullets-2"/>
          <p:cNvGrpSpPr/>
          <p:nvPr/>
        </p:nvGrpSpPr>
        <p:grpSpPr>
          <a:xfrm>
            <a:off x="7107364" y="3306127"/>
            <a:ext cx="4260914" cy="1969961"/>
            <a:chOff x="7107364" y="3306127"/>
            <a:chExt cx="4260914" cy="1969961"/>
          </a:xfrm>
        </p:grpSpPr>
        <p:sp>
          <p:nvSpPr>
            <p:cNvPr id="88" name="TextBox 88"/>
            <p:cNvSpPr txBox="1"/>
            <p:nvPr/>
          </p:nvSpPr>
          <p:spPr>
            <a:xfrm>
              <a:off x="7107364" y="3306127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为什么要这样做</a:t>
              </a:r>
            </a:p>
          </p:txBody>
        </p:sp>
        <p:sp>
          <p:nvSpPr>
            <p:cNvPr id="89" name="Ellipse 89"/>
            <p:cNvSpPr/>
            <p:nvPr/>
          </p:nvSpPr>
          <p:spPr>
            <a:xfrm>
              <a:off x="7114222" y="3610927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169901" y="365026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394067" y="3623310"/>
              <a:ext cx="39742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输入规模 n 较大时，把 T(n) 与 n 的精确函数关系确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定下来往往很困难</a:t>
              </a:r>
            </a:p>
          </p:txBody>
        </p:sp>
        <p:sp>
          <p:nvSpPr>
            <p:cNvPr id="92" name="Ellipse 92"/>
            <p:cNvSpPr/>
            <p:nvPr/>
          </p:nvSpPr>
          <p:spPr>
            <a:xfrm>
              <a:off x="7114222" y="417671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7169901" y="421605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394067" y="4189095"/>
              <a:ext cx="39227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很多时候不需要精确表达式，只需知道 T(n) 的数量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级，即执行时间随规模增长的趋势</a:t>
              </a:r>
            </a:p>
          </p:txBody>
        </p:sp>
        <p:sp>
          <p:nvSpPr>
            <p:cNvPr id="95" name="Ellipse 95"/>
            <p:cNvSpPr/>
            <p:nvPr/>
          </p:nvSpPr>
          <p:spPr>
            <a:xfrm>
              <a:off x="7114222" y="474249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7169901" y="47818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7394067" y="4754880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数量级相同的算法可以放在一起比较，与机器和语言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都无关</a:t>
              </a:r>
            </a:p>
          </p:txBody>
        </p:sp>
      </p:grpSp>
      <p:grpSp>
        <p:nvGrpSpPr>
          <p:cNvPr id="105" name="c2-callout-3"/>
          <p:cNvGrpSpPr/>
          <p:nvPr/>
        </p:nvGrpSpPr>
        <p:grpSpPr>
          <a:xfrm>
            <a:off x="7114222" y="5393055"/>
            <a:ext cx="4544378" cy="917258"/>
            <a:chOff x="7114222" y="5393055"/>
            <a:chExt cx="4544378" cy="917258"/>
          </a:xfrm>
        </p:grpSpPr>
        <p:sp>
          <p:nvSpPr>
            <p:cNvPr id="99" name="Rectangle 99"/>
            <p:cNvSpPr/>
            <p:nvPr/>
          </p:nvSpPr>
          <p:spPr>
            <a:xfrm>
              <a:off x="7114222" y="5393055"/>
              <a:ext cx="4544378" cy="917258"/>
            </a:xfrm>
            <a:prstGeom prst="roundRect">
              <a:avLst>
                <a:gd name="adj" fmla="val 1246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03" name="Group 103"/>
            <p:cNvGrpSpPr/>
            <p:nvPr/>
          </p:nvGrpSpPr>
          <p:grpSpPr>
            <a:xfrm>
              <a:off x="7319010" y="5751195"/>
              <a:ext cx="200026" cy="200025"/>
              <a:chOff x="7319010" y="5751195"/>
              <a:chExt cx="200026" cy="200025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7319010" y="57511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7358749" y="57956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7393464" y="59067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04" name="TextBox 104"/>
            <p:cNvSpPr txBox="1"/>
            <p:nvPr/>
          </p:nvSpPr>
          <p:spPr>
            <a:xfrm>
              <a:off x="7621714" y="5633085"/>
              <a:ext cx="357987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用一个简单函数概括 T(n) 的增长趋势，这件事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的标准工具就是下面三个渐近记号。</a:t>
              </a:r>
            </a:p>
          </p:txBody>
        </p:sp>
      </p:grpSp>
      <p:grpSp>
        <p:nvGrpSpPr>
          <p:cNvPr id="10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6" name="TextBox 10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第2讲 算法与时间复杂度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27077" cy="909257"/>
            <a:chOff x="520446" y="342900"/>
            <a:chExt cx="672707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第2讲 复杂度 · 时间复杂度与渐近表示法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270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 O 表示法：给 T(n) 找一个更简单的上界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6059805" cy="1845945"/>
            <a:chOff x="533400" y="1524000"/>
            <a:chExt cx="6059805" cy="18459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845945"/>
            </a:xfrm>
            <a:prstGeom prst="roundRect">
              <a:avLst>
                <a:gd name="adj" fmla="val 72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7924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4283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 O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511810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T(n) 和 g(n) 是正整数集到正实数集上的函数。称 T(n)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O(g(n))，当且仅当存在一个正常数 C 和 n₀，使得对任意的 n 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n₀，有 T(n) ≤ C·g(n)。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9239" y="2978468"/>
              <a:ext cx="47993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直观说法：存在 C，当 n 足够大时，T(n) 不会超过 g(n) 的 C 倍。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555682"/>
            <a:ext cx="6059805" cy="1293495"/>
            <a:chOff x="533400" y="3555682"/>
            <a:chExt cx="6059805" cy="1293495"/>
          </a:xfrm>
        </p:grpSpPr>
        <p:sp>
          <p:nvSpPr>
            <p:cNvPr id="15" name="Rectangle 15"/>
            <p:cNvSpPr/>
            <p:nvPr/>
          </p:nvSpPr>
          <p:spPr>
            <a:xfrm>
              <a:off x="533400" y="3555682"/>
              <a:ext cx="6059805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689032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75335" y="3759518"/>
              <a:ext cx="4343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7867" y="3795236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16736" y="3799046"/>
              <a:ext cx="22461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 = 3n − 2，g(n) = 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8096" y="4150519"/>
              <a:ext cx="481197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取 C = 3，n₀ = 1。当 n ≥ n₀ 时有 3n − 2 ≤ 3n，于是 </a:t>
              </a:r>
              <a:r>
                <a:rPr lang="en-US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T(n) =</a:t>
              </a:r>
              <a:br/>
              <a:r>
                <a:rPr lang="en-US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8" name="c1-card-3"/>
          <p:cNvGrpSpPr/>
          <p:nvPr/>
        </p:nvGrpSpPr>
        <p:grpSpPr>
          <a:xfrm>
            <a:off x="533400" y="5033962"/>
            <a:ext cx="6059805" cy="1293495"/>
            <a:chOff x="533400" y="5033962"/>
            <a:chExt cx="6059805" cy="1293495"/>
          </a:xfrm>
        </p:grpSpPr>
        <p:sp>
          <p:nvSpPr>
            <p:cNvPr id="22" name="Rectangle 22"/>
            <p:cNvSpPr/>
            <p:nvPr/>
          </p:nvSpPr>
          <p:spPr>
            <a:xfrm>
              <a:off x="533400" y="5033962"/>
              <a:ext cx="6059805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5167312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75335" y="5237798"/>
              <a:ext cx="4343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7867" y="5273516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16736" y="5277326"/>
              <a:ext cx="245879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 = (n+1)²，g(n) = n²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8096" y="5629751"/>
              <a:ext cx="507301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C = 4，n₀ = 1。当 n ≥ n₀ 时有 (n+1)² ≤ (2n)² = 4n²，于是</a:t>
              </a:r>
              <a:br/>
              <a:r>
                <a:rPr lang="en-US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T(n) = O(n²)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1" name="c2-image-1"/>
          <p:cNvGrpSpPr/>
          <p:nvPr/>
        </p:nvGrpSpPr>
        <p:grpSpPr>
          <a:xfrm>
            <a:off x="6898005" y="1524000"/>
            <a:ext cx="4760595" cy="3659982"/>
            <a:chOff x="6898005" y="1524000"/>
            <a:chExt cx="4760595" cy="3659982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rcRect l="0" t="3154" r="0" b="3155"/>
            <a:stretch>
              <a:fillRect/>
            </a:stretch>
          </p:blipFill>
          <p:spPr>
            <a:xfrm>
              <a:off x="6898005" y="1524000"/>
              <a:ext cx="4760595" cy="3345180"/>
            </a:xfrm>
            <a:prstGeom prst="roundRect">
              <a:avLst>
                <a:gd name="adj" fmla="val 3986"/>
              </a:avLst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6978825" y="4963954"/>
              <a:ext cx="45989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 O 就是扣在这堆石头上的那个盒子：只要盖得住，盒子越简单越好</a:t>
              </a:r>
            </a:p>
          </p:txBody>
        </p:sp>
      </p:grpSp>
      <p:grpSp>
        <p:nvGrpSpPr>
          <p:cNvPr id="37" name="c2-callout-2"/>
          <p:cNvGrpSpPr/>
          <p:nvPr/>
        </p:nvGrpSpPr>
        <p:grpSpPr>
          <a:xfrm>
            <a:off x="6898005" y="5344478"/>
            <a:ext cx="4760595" cy="1018222"/>
            <a:chOff x="6898005" y="5344478"/>
            <a:chExt cx="4760595" cy="1018222"/>
          </a:xfrm>
        </p:grpSpPr>
        <p:sp>
          <p:nvSpPr>
            <p:cNvPr id="32" name="Rectangle 32"/>
            <p:cNvSpPr/>
            <p:nvPr/>
          </p:nvSpPr>
          <p:spPr>
            <a:xfrm>
              <a:off x="6898005" y="5344478"/>
              <a:ext cx="4760595" cy="1018222"/>
            </a:xfrm>
            <a:prstGeom prst="roundRect">
              <a:avLst>
                <a:gd name="adj" fmla="val 11225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102793" y="5753102"/>
              <a:ext cx="200023" cy="200023"/>
              <a:chOff x="7102793" y="5753102"/>
              <a:chExt cx="200023" cy="200023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102793" y="575310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236143" y="58197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7405116" y="5491639"/>
              <a:ext cx="3864737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是算法输入的规模，例如数组长度、图的顶点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数。若算法的时间复杂度是 O(g(n))，就称它的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阶为 g(n)。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第2讲 算法与时间复杂度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07791" cy="909257"/>
            <a:chOff x="520446" y="342900"/>
            <a:chExt cx="570779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第2讲 复杂度 · 时间复杂度与渐近表示法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077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 Ω 管下界，大 Θ 把上下界一起管住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1866900"/>
            <a:chOff x="533400" y="1524000"/>
            <a:chExt cx="5410200" cy="18669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8669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0020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4075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 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520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称 T(n) = Ω(g(n))，当且仅当存在一个正的常数 C 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n₀，使得对任意的 n ≥ n₀，有 T(n) ≥ C·g(n)。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4573" y="2747486"/>
              <a:ext cx="46865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 Ω 定义了 T(n) 的一个下限：算法的运行时间至少是 g(n) 的一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个常数倍，T(n) 的增长速度不低于 g(n)。</a:t>
              </a:r>
            </a:p>
          </p:txBody>
        </p:sp>
      </p:grpSp>
      <p:grpSp>
        <p:nvGrpSpPr>
          <p:cNvPr id="26" name="c1-graph-2"/>
          <p:cNvGrpSpPr/>
          <p:nvPr/>
        </p:nvGrpSpPr>
        <p:grpSpPr>
          <a:xfrm>
            <a:off x="864870" y="3612356"/>
            <a:ext cx="4969547" cy="1842136"/>
            <a:chOff x="864870" y="3612356"/>
            <a:chExt cx="4969547" cy="1842136"/>
          </a:xfrm>
        </p:grpSpPr>
        <p:sp>
          <p:nvSpPr>
            <p:cNvPr id="15" name="Freeform 15"/>
            <p:cNvSpPr/>
            <p:nvPr/>
          </p:nvSpPr>
          <p:spPr>
            <a:xfrm>
              <a:off x="950595" y="5184458"/>
              <a:ext cx="4655820" cy="9525"/>
            </a:xfrm>
            <a:custGeom>
              <a:avLst/>
              <a:gdLst/>
              <a:ahLst/>
              <a:cxnLst/>
              <a:rect l="l" t="t" r="r" b="b"/>
              <a:pathLst>
                <a:path w="4655820" h="9525">
                  <a:moveTo>
                    <a:pt x="0" y="0"/>
                  </a:moveTo>
                  <a:lnTo>
                    <a:pt x="4655820" y="0"/>
                  </a:lnTo>
                </a:path>
              </a:pathLst>
            </a:custGeom>
            <a:noFill/>
            <a:ln w="17145">
              <a:solidFill>
                <a:srgbClr val="94A3B8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606415" y="51368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912495" y="3912870"/>
              <a:ext cx="9525" cy="1149668"/>
            </a:xfrm>
            <a:custGeom>
              <a:avLst/>
              <a:gdLst/>
              <a:ahLst/>
              <a:cxnLst/>
              <a:rect l="l" t="t" r="r" b="b"/>
              <a:pathLst>
                <a:path w="9525" h="1149668">
                  <a:moveTo>
                    <a:pt x="0" y="114966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94A3B8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864870" y="38176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221105" y="3854768"/>
              <a:ext cx="4251960" cy="1095375"/>
            </a:xfrm>
            <a:custGeom>
              <a:avLst/>
              <a:gdLst/>
              <a:ahLst/>
              <a:cxnLst/>
              <a:rect l="l" t="t" r="r" b="b"/>
              <a:pathLst>
                <a:path w="4251960" h="1095375">
                  <a:moveTo>
                    <a:pt x="0" y="1095375"/>
                  </a:moveTo>
                  <a:lnTo>
                    <a:pt x="502920" y="527685"/>
                  </a:lnTo>
                  <a:lnTo>
                    <a:pt x="935355" y="1023938"/>
                  </a:lnTo>
                  <a:lnTo>
                    <a:pt x="1692592" y="375285"/>
                  </a:lnTo>
                  <a:lnTo>
                    <a:pt x="2396490" y="603885"/>
                  </a:lnTo>
                  <a:lnTo>
                    <a:pt x="3208020" y="184785"/>
                  </a:lnTo>
                  <a:lnTo>
                    <a:pt x="425196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221105" y="4389120"/>
              <a:ext cx="4251960" cy="694373"/>
            </a:xfrm>
            <a:custGeom>
              <a:avLst/>
              <a:gdLst/>
              <a:ahLst/>
              <a:cxnLst/>
              <a:rect l="l" t="t" r="r" b="b"/>
              <a:pathLst>
                <a:path w="4251960" h="694373">
                  <a:moveTo>
                    <a:pt x="0" y="694373"/>
                  </a:moveTo>
                  <a:lnTo>
                    <a:pt x="1151572" y="527685"/>
                  </a:lnTo>
                  <a:lnTo>
                    <a:pt x="2667000" y="280035"/>
                  </a:lnTo>
                  <a:lnTo>
                    <a:pt x="4251960" y="0"/>
                  </a:lnTo>
                </a:path>
              </a:pathLst>
            </a:custGeom>
            <a:noFill/>
            <a:ln w="17145">
              <a:solidFill>
                <a:srgbClr val="94A3B8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2588895" y="4122420"/>
              <a:ext cx="9525" cy="940117"/>
            </a:xfrm>
            <a:custGeom>
              <a:avLst/>
              <a:gdLst/>
              <a:ahLst/>
              <a:cxnLst/>
              <a:rect l="l" t="t" r="r" b="b"/>
              <a:pathLst>
                <a:path w="9525" h="940117">
                  <a:moveTo>
                    <a:pt x="0" y="940117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94A3B8"/>
              </a:solidFill>
              <a:custDash>
                <a:ds d="333333" sp="222222"/>
              </a:custDash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728933" y="51092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76772" y="3612356"/>
              <a:ext cx="3695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T(n)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02373" y="4413409"/>
              <a:ext cx="5183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C·g(n)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00254" y="523446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n₀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248400" y="1524000"/>
            <a:ext cx="5410200" cy="1917382"/>
            <a:chOff x="6248400" y="1524000"/>
            <a:chExt cx="5410200" cy="1917382"/>
          </a:xfrm>
        </p:grpSpPr>
        <p:sp>
          <p:nvSpPr>
            <p:cNvPr id="27" name="Rectangle 27"/>
            <p:cNvSpPr/>
            <p:nvPr/>
          </p:nvSpPr>
          <p:spPr>
            <a:xfrm>
              <a:off x="6248400" y="1524000"/>
              <a:ext cx="5410200" cy="1917382"/>
            </a:xfrm>
            <a:prstGeom prst="roundRect">
              <a:avLst>
                <a:gd name="adj" fmla="val 69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57925" y="1657350"/>
              <a:ext cx="47625" cy="165068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96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86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97078" y="1768792"/>
              <a:ext cx="4075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 Θ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88430" y="2129790"/>
              <a:ext cx="44919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称 T(n) = Θ(g(n))，当且仅当存在正常数 C₁、C₂ 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n₀，使得对任意的 n ≥ n₀，有 C₁·g(n) ≤ T(n) ≤ C₂·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g(n)。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89573" y="3033236"/>
              <a:ext cx="4766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 Θ 同时定义了上限和下限：T(n) 的增长速度与 g(n) 相同。</a:t>
              </a:r>
            </a:p>
          </p:txBody>
        </p:sp>
      </p:grpSp>
      <p:grpSp>
        <p:nvGrpSpPr>
          <p:cNvPr id="48" name="c2-graph-2"/>
          <p:cNvGrpSpPr/>
          <p:nvPr/>
        </p:nvGrpSpPr>
        <p:grpSpPr>
          <a:xfrm>
            <a:off x="6579870" y="3660934"/>
            <a:ext cx="4969547" cy="1797368"/>
            <a:chOff x="6579870" y="3660934"/>
            <a:chExt cx="4969547" cy="1797368"/>
          </a:xfrm>
        </p:grpSpPr>
        <p:sp>
          <p:nvSpPr>
            <p:cNvPr id="35" name="Freeform 35"/>
            <p:cNvSpPr/>
            <p:nvPr/>
          </p:nvSpPr>
          <p:spPr>
            <a:xfrm>
              <a:off x="6665595" y="5192078"/>
              <a:ext cx="4655820" cy="9525"/>
            </a:xfrm>
            <a:custGeom>
              <a:avLst/>
              <a:gdLst/>
              <a:ahLst/>
              <a:cxnLst/>
              <a:rect l="l" t="t" r="r" b="b"/>
              <a:pathLst>
                <a:path w="4655820" h="9525">
                  <a:moveTo>
                    <a:pt x="0" y="0"/>
                  </a:moveTo>
                  <a:lnTo>
                    <a:pt x="4655820" y="0"/>
                  </a:lnTo>
                </a:path>
              </a:pathLst>
            </a:custGeom>
            <a:noFill/>
            <a:ln w="17145">
              <a:solidFill>
                <a:srgbClr val="94A3B8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1321415" y="51444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6627495" y="3960495"/>
              <a:ext cx="9525" cy="1109662"/>
            </a:xfrm>
            <a:custGeom>
              <a:avLst/>
              <a:gdLst/>
              <a:ahLst/>
              <a:cxnLst/>
              <a:rect l="l" t="t" r="r" b="b"/>
              <a:pathLst>
                <a:path w="9525" h="1109662">
                  <a:moveTo>
                    <a:pt x="0" y="110966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94A3B8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6579870" y="386524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6936105" y="3791902"/>
              <a:ext cx="4251960" cy="1097280"/>
            </a:xfrm>
            <a:custGeom>
              <a:avLst/>
              <a:gdLst/>
              <a:ahLst/>
              <a:cxnLst/>
              <a:rect l="l" t="t" r="r" b="b"/>
              <a:pathLst>
                <a:path w="4251960" h="1097280">
                  <a:moveTo>
                    <a:pt x="0" y="1097280"/>
                  </a:moveTo>
                  <a:lnTo>
                    <a:pt x="1151572" y="917257"/>
                  </a:lnTo>
                  <a:lnTo>
                    <a:pt x="2667000" y="471488"/>
                  </a:lnTo>
                  <a:lnTo>
                    <a:pt x="4251960" y="0"/>
                  </a:lnTo>
                </a:path>
              </a:pathLst>
            </a:custGeom>
            <a:noFill/>
            <a:ln w="17145">
              <a:solidFill>
                <a:srgbClr val="94A3B8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6936105" y="4083368"/>
              <a:ext cx="4251960" cy="899160"/>
            </a:xfrm>
            <a:custGeom>
              <a:avLst/>
              <a:gdLst/>
              <a:ahLst/>
              <a:cxnLst/>
              <a:rect l="l" t="t" r="r" b="b"/>
              <a:pathLst>
                <a:path w="4251960" h="899160">
                  <a:moveTo>
                    <a:pt x="0" y="899160"/>
                  </a:moveTo>
                  <a:lnTo>
                    <a:pt x="610552" y="514350"/>
                  </a:lnTo>
                  <a:lnTo>
                    <a:pt x="1260157" y="737235"/>
                  </a:lnTo>
                  <a:lnTo>
                    <a:pt x="2017395" y="291465"/>
                  </a:lnTo>
                  <a:lnTo>
                    <a:pt x="2774632" y="402908"/>
                  </a:lnTo>
                  <a:lnTo>
                    <a:pt x="3531870" y="105728"/>
                  </a:lnTo>
                  <a:lnTo>
                    <a:pt x="425196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6936105" y="4455795"/>
              <a:ext cx="4251960" cy="639127"/>
            </a:xfrm>
            <a:custGeom>
              <a:avLst/>
              <a:gdLst/>
              <a:ahLst/>
              <a:cxnLst/>
              <a:rect l="l" t="t" r="r" b="b"/>
              <a:pathLst>
                <a:path w="4251960" h="639127">
                  <a:moveTo>
                    <a:pt x="0" y="639127"/>
                  </a:moveTo>
                  <a:lnTo>
                    <a:pt x="1151572" y="513398"/>
                  </a:lnTo>
                  <a:lnTo>
                    <a:pt x="2667000" y="253365"/>
                  </a:lnTo>
                  <a:lnTo>
                    <a:pt x="4251960" y="0"/>
                  </a:lnTo>
                </a:path>
              </a:pathLst>
            </a:custGeom>
            <a:noFill/>
            <a:ln w="17145">
              <a:solidFill>
                <a:srgbClr val="94A3B8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303895" y="4088130"/>
              <a:ext cx="9525" cy="982027"/>
            </a:xfrm>
            <a:custGeom>
              <a:avLst/>
              <a:gdLst/>
              <a:ahLst/>
              <a:cxnLst/>
              <a:rect l="l" t="t" r="r" b="b"/>
              <a:pathLst>
                <a:path w="9525" h="982027">
                  <a:moveTo>
                    <a:pt x="0" y="982027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94A3B8"/>
              </a:solidFill>
              <a:custDash>
                <a:ds d="333333" sp="222222"/>
              </a:custDash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1443933" y="51177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166543" y="3660934"/>
              <a:ext cx="6028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C₂·g(n)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391772" y="3993356"/>
              <a:ext cx="3695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T(n)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166543" y="4476274"/>
              <a:ext cx="6028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C₁·g(n)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15254" y="523827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n₀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9" name="Rectangle 4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130" y="5991225"/>
              <a:ext cx="71635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三个记号都只在 n ≥ n₀ 之后才要求成立，前面有限多项怎么波动都不影响结论。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第2讲 算法与时间复杂度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51658" cy="909257"/>
            <a:chOff x="520446" y="342900"/>
            <a:chExt cx="445165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第2讲 复杂度 · 时间复杂度与渐近表示法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5165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 一次把三个记号都算出来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3627215" cy="278702"/>
            <a:chOff x="526161" y="1547336"/>
            <a:chExt cx="3627215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36272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T(n) = 3log n + log log n，g(n) = log n。</a:t>
              </a:r>
            </a:p>
          </p:txBody>
        </p:sp>
      </p:grpSp>
      <p:grpSp>
        <p:nvGrpSpPr>
          <p:cNvPr id="22" name="c1-steps-1"/>
          <p:cNvGrpSpPr/>
          <p:nvPr/>
        </p:nvGrpSpPr>
        <p:grpSpPr>
          <a:xfrm>
            <a:off x="533400" y="1950720"/>
            <a:ext cx="5012055" cy="2316003"/>
            <a:chOff x="533400" y="1950720"/>
            <a:chExt cx="5012055" cy="2316003"/>
          </a:xfrm>
        </p:grpSpPr>
        <p:sp>
          <p:nvSpPr>
            <p:cNvPr id="9" name="Rectangle 9"/>
            <p:cNvSpPr/>
            <p:nvPr/>
          </p:nvSpPr>
          <p:spPr>
            <a:xfrm>
              <a:off x="666750" y="2093595"/>
              <a:ext cx="19050" cy="15878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5072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245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451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189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5394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6133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198310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先求上界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2250281"/>
              <a:ext cx="444220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C = 4，n₀ = 2。n ≥ n₀ 时 log log n ≤ log n，故 3log n + log log n ≤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4log n，得 T(n) = O(log n)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77749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再求下界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3044666"/>
              <a:ext cx="452043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C = 3，n₀ = 2。n ≥ n₀ 时 log log n ≥ 0，故 3log n + log log n ≥ 3log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n，得 T(n) = Ω(log n)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3570922"/>
              <a:ext cx="5485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合成 Θ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3839051"/>
              <a:ext cx="459867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C₁ = 3，C₂ = 4，n₀ = 2，有 3log n ≤ T(n) ≤ 4log n，得 T(n) = Θ(log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n)</a:t>
              </a:r>
            </a:p>
          </p:txBody>
        </p:sp>
      </p:grpSp>
      <p:grpSp>
        <p:nvGrpSpPr>
          <p:cNvPr id="33" name="c1-card-2"/>
          <p:cNvGrpSpPr/>
          <p:nvPr/>
        </p:nvGrpSpPr>
        <p:grpSpPr>
          <a:xfrm>
            <a:off x="533400" y="4434840"/>
            <a:ext cx="5410200" cy="1895475"/>
            <a:chOff x="533400" y="4434840"/>
            <a:chExt cx="5410200" cy="1895475"/>
          </a:xfrm>
        </p:grpSpPr>
        <p:sp>
          <p:nvSpPr>
            <p:cNvPr id="23" name="Rectangle 23"/>
            <p:cNvSpPr/>
            <p:nvPr/>
          </p:nvSpPr>
          <p:spPr>
            <a:xfrm>
              <a:off x="533400" y="4434840"/>
              <a:ext cx="5410200" cy="1895475"/>
            </a:xfrm>
            <a:prstGeom prst="roundRect">
              <a:avLst>
                <a:gd name="adj" fmla="val 70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4568190"/>
              <a:ext cx="47625" cy="162877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3905" y="4627245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9343" y="466153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两个常见错误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72478" y="503967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8497" y="4983480"/>
              <a:ext cx="4320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上下界用的 n₀ 不同时取较大的那个，这一步常被忽略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72478" y="534257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28497" y="5286375"/>
              <a:ext cx="34296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只验证了上界就写 Θ，Θ 要求上下界都成立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72478" y="5645467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28497" y="5588318"/>
              <a:ext cx="40387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O 当成“恰好等于”，T(n) = n 同时也是 O(n²)</a:t>
              </a:r>
            </a:p>
          </p:txBody>
        </p:sp>
      </p:grpSp>
      <p:grpSp>
        <p:nvGrpSpPr>
          <p:cNvPr id="53" name="c2-table-1"/>
          <p:cNvGrpSpPr/>
          <p:nvPr/>
        </p:nvGrpSpPr>
        <p:grpSpPr>
          <a:xfrm>
            <a:off x="6248400" y="1941195"/>
            <a:ext cx="5410200" cy="2258378"/>
            <a:chOff x="6248400" y="1941195"/>
            <a:chExt cx="5410200" cy="2258378"/>
          </a:xfrm>
        </p:grpSpPr>
        <p:sp>
          <p:nvSpPr>
            <p:cNvPr id="34" name="Rectangle 34"/>
            <p:cNvSpPr/>
            <p:nvPr/>
          </p:nvSpPr>
          <p:spPr>
            <a:xfrm>
              <a:off x="6248400" y="1941195"/>
              <a:ext cx="5410200" cy="44481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92240" y="206978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记号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16799" y="206978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不等式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279380" y="206978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47270" y="2634615"/>
              <a:ext cx="1649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13092" y="2634615"/>
              <a:ext cx="1249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 ≤ C·g(n)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377172" y="2514600"/>
              <a:ext cx="203682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增长速度至多与 g(n) 一样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30660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48400" y="3070860"/>
              <a:ext cx="541020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47270" y="3198495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13092" y="3198495"/>
              <a:ext cx="1249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 ≥ C·g(n)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377172" y="3198495"/>
              <a:ext cx="17402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增长速度不低于 g(n)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35109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47270" y="3763327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13092" y="3643312"/>
              <a:ext cx="1299591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C₁g(n) ≤ T(n) ≤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C₂g(n)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377172" y="3763327"/>
              <a:ext cx="17947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增长速度与 g(n) 相同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1941195"/>
              <a:ext cx="5410200" cy="225837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109460" y="1941195"/>
              <a:ext cx="9525" cy="22583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9273540" y="1941195"/>
              <a:ext cx="9525" cy="22583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2-card-2"/>
          <p:cNvGrpSpPr/>
          <p:nvPr/>
        </p:nvGrpSpPr>
        <p:grpSpPr>
          <a:xfrm>
            <a:off x="6248400" y="4374832"/>
            <a:ext cx="5410200" cy="1954530"/>
            <a:chOff x="6248400" y="4374832"/>
            <a:chExt cx="5410200" cy="1954530"/>
          </a:xfrm>
        </p:grpSpPr>
        <p:sp>
          <p:nvSpPr>
            <p:cNvPr id="54" name="Rectangle 54"/>
            <p:cNvSpPr/>
            <p:nvPr/>
          </p:nvSpPr>
          <p:spPr>
            <a:xfrm>
              <a:off x="6248400" y="4374832"/>
              <a:ext cx="5410200" cy="1954530"/>
            </a:xfrm>
            <a:prstGeom prst="roundRect">
              <a:avLst>
                <a:gd name="adj" fmla="val 68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57925" y="4508182"/>
              <a:ext cx="47625" cy="16878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78905" y="456723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70345" y="46015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062597" y="46072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极限判据只是充分条件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72047" y="4941570"/>
              <a:ext cx="469430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源课件第 50 页把充要条件写成 lim T(n)/g(n) ≤ C。极限不存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在时这个式子用不了，应当以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存在 C 与 n₀，n ≥ n₀ 时 T(n)</a:t>
              </a:r>
              <a:br/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≤ C·g(n)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为准。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73190" y="5754529"/>
              <a:ext cx="479069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反例就在第 27 页的思考题里：T(n) = 200 + sin(n) 是 Θ(1)，但 T(n)/1 的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极限根本不存在。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第2讲 算法与时间复杂度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第2讲 复杂度 · 时间复杂度与渐近表示法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常见的阶，以及它们之间的大小顺序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c1-table-1"/>
          <p:cNvGrpSpPr/>
          <p:nvPr/>
        </p:nvGrpSpPr>
        <p:grpSpPr>
          <a:xfrm>
            <a:off x="533400" y="1524000"/>
            <a:ext cx="4977765" cy="3432810"/>
            <a:chOff x="533400" y="1524000"/>
            <a:chExt cx="4977765" cy="34328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393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2789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78211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典型算法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8078" y="2023110"/>
              <a:ext cx="3870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22514" y="2023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常数级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16961" y="202311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数组按下标取元素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28219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286952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8078" y="2404110"/>
              <a:ext cx="626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 n)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22514" y="2404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对数级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116961" y="2404110"/>
              <a:ext cx="13817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二分查找（第 22 讲）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66319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785110"/>
              <a:ext cx="3769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22514" y="2785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16961" y="278511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顺序查找、求最大最小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0451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049905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" y="3167062"/>
              <a:ext cx="7522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log n)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22514" y="316706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线性对数级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16961" y="3167062"/>
              <a:ext cx="22440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堆排序、归并排序（第 18、20 讲）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4261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8078" y="3548062"/>
              <a:ext cx="4608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22514" y="354806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平方级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16961" y="3548062"/>
              <a:ext cx="22298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冒泡、插入、选择排序（第 17 讲）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8071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811905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8078" y="3930015"/>
              <a:ext cx="4608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O(n³)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822514" y="393001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立方级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116961" y="3930015"/>
              <a:ext cx="18244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三重循环、Floyd 多源最短路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18909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8078" y="4311015"/>
              <a:ext cx="4608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O(nᵐ)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822514" y="43110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多项式级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116961" y="4311015"/>
              <a:ext cx="15725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常数 m ≥ 1 时的一般情形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57009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4574858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8078" y="4692015"/>
              <a:ext cx="4732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O(2ⁿ)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822514" y="469201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指数级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116961" y="469201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枚举全部子集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1524000"/>
              <a:ext cx="4977765" cy="34328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1723072" y="1524000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3017520" y="1524000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1-callout-2"/>
          <p:cNvGrpSpPr/>
          <p:nvPr/>
        </p:nvGrpSpPr>
        <p:grpSpPr>
          <a:xfrm>
            <a:off x="533400" y="5121592"/>
            <a:ext cx="4977765" cy="1054418"/>
            <a:chOff x="533400" y="5121592"/>
            <a:chExt cx="4977765" cy="1054418"/>
          </a:xfrm>
        </p:grpSpPr>
        <p:sp>
          <p:nvSpPr>
            <p:cNvPr id="50" name="Rectangle 50"/>
            <p:cNvSpPr/>
            <p:nvPr/>
          </p:nvSpPr>
          <p:spPr>
            <a:xfrm>
              <a:off x="533400" y="5121592"/>
              <a:ext cx="4977765" cy="1054418"/>
            </a:xfrm>
            <a:prstGeom prst="roundRect">
              <a:avLst>
                <a:gd name="adj" fmla="val 108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5548313"/>
              <a:ext cx="200026" cy="200026"/>
              <a:chOff x="738188" y="5548313"/>
              <a:chExt cx="200026" cy="200026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554831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38200" y="56149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27088" y="564832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1273" y="5442109"/>
              <a:ext cx="396316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log n) 不写底数：换底只差一个常数因子，被大 O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吸收掉了，下一页会证。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formula27"/>
              <p:cNvSpPr txBox="1">
                <a:spLocks noGrp="1"/>
              </p:cNvSpPr>
              <p:nvPr/>
            </p:nvSpPr>
            <p:spPr>
              <a:xfrm>
                <a:off x="5815965" y="1524000"/>
                <a:ext cx="5842635" cy="247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log</m:t>
                          </m:r>
                        </m:fName>
                        <m:e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func>
                        </m:e>
                      </m:func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log</m:t>
                          </m:r>
                        </m:fName>
                        <m:e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log</m:t>
                          </m:r>
                        </m:fName>
                        <m:e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sSup>
                        <m:e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  <m:sup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sSup>
                        <m:e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  <m:sup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sSup>
                        <m:e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e>
                        <m:sup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formula28"/>
              <p:cNvSpPr txBox="1">
                <a:spLocks noGrp="1"/>
              </p:cNvSpPr>
              <p:nvPr/>
            </p:nvSpPr>
            <p:spPr>
              <a:xfrm>
                <a:off x="5815965" y="1936432"/>
                <a:ext cx="5842635" cy="209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8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O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8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8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8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zh-CN" sz="8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O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8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8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log</m:t>
                              </m:r>
                            </m:fName>
                            <m:e>
                              <m:func>
                                <m:funcPr/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sz="8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zh-CN" sz="8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</m:func>
                            </m:e>
                          </m:func>
                        </m:e>
                      </m:d>
                      <m:r>
                        <m:rPr>
                          <m:sty m:val="p"/>
                        </m:rPr>
                        <a:rPr lang="zh-CN" sz="8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zh-CN" sz="8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O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8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8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zh-CN" sz="8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func>
                        </m:e>
                      </m:d>
                      <m:r>
                        <m:rPr>
                          <m:sty m:val="p"/>
                        </m:rPr>
                        <a:rPr lang="zh-CN" sz="8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zh-CN" sz="8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O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8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8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8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zh-CN" sz="8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O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8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8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8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zh-CN" sz="8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func>
                        </m:e>
                      </m:d>
                      <m:r>
                        <m:rPr>
                          <m:sty m:val="p"/>
                        </m:rPr>
                        <a:rPr lang="zh-CN" sz="8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zh-CN" sz="8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O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8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e>
                              <m:r>
                                <a:rPr lang="zh-CN" sz="8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p>
                              <m:r>
                                <a:rPr lang="zh-CN" sz="8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zh-CN" sz="8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zh-CN" sz="8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O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8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e>
                              <m:r>
                                <a:rPr lang="zh-CN" sz="8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p>
                              <m:r>
                                <a:rPr lang="zh-CN" sz="8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zh-CN" sz="8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zh-CN" sz="8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O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8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e>
                              <m:r>
                                <a:rPr lang="zh-CN" sz="8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sz="8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10" name="c2-table-3"/>
          <p:cNvGrpSpPr/>
          <p:nvPr/>
        </p:nvGrpSpPr>
        <p:grpSpPr>
          <a:xfrm>
            <a:off x="5811012" y="2310765"/>
            <a:ext cx="5847588" cy="2552414"/>
            <a:chOff x="5811012" y="2310765"/>
            <a:chExt cx="5847588" cy="2552414"/>
          </a:xfrm>
        </p:grpSpPr>
        <p:sp>
          <p:nvSpPr>
            <p:cNvPr id="59" name="Rectangle 59"/>
            <p:cNvSpPr/>
            <p:nvPr/>
          </p:nvSpPr>
          <p:spPr>
            <a:xfrm>
              <a:off x="5815965" y="2310765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183201" y="242792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886218" y="2427922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log₂n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750875" y="2427922"/>
              <a:ext cx="5078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log₂n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863678" y="242792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n²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930478" y="242792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n³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058238" y="242792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2ⁿ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455758" y="2809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328325" y="2809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238325" y="28098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142247" y="28098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292277" y="280987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512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320024" y="280987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256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815965" y="306895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5815965" y="3073718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374128" y="31908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328325" y="3190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238325" y="31908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064504" y="319087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256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214534" y="319087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4096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164538" y="319087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65536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5815965" y="344995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374128" y="35718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328325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160582" y="357187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384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986761" y="357187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4096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059048" y="3571875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262144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164538" y="357187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≈10¹⁹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5815965" y="383190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5815965" y="3836670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292498" y="395382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256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328325" y="39538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082839" y="3953828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2048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909018" y="3953828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65536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903562" y="3953828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≈1.7×10⁷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164538" y="3953828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≈10⁷⁷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5815965" y="421290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6210868" y="4334828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1024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7250582" y="43348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005096" y="4334828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10240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986761" y="4334828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≈10⁶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0214534" y="4334828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≈10⁹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10640378" y="4227195"/>
              <a:ext cx="1008698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11086795" y="4334828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≈10³⁰⁸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5815965" y="2310765"/>
              <a:ext cx="584263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6637972" y="2310765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7506652" y="2310765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8494395" y="2310765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9398318" y="2310765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10626090" y="2310765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5811012" y="4672489"/>
              <a:ext cx="22724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同一行从左到右看，差距随 n 迅速拉开</a:t>
              </a:r>
            </a:p>
          </p:txBody>
        </p:sp>
      </p:grpSp>
      <p:grpSp>
        <p:nvGrpSpPr>
          <p:cNvPr id="118" name="c2-card-4"/>
          <p:cNvGrpSpPr/>
          <p:nvPr/>
        </p:nvGrpSpPr>
        <p:grpSpPr>
          <a:xfrm>
            <a:off x="5815965" y="4989195"/>
            <a:ext cx="5842635" cy="1185862"/>
            <a:chOff x="5815965" y="4989195"/>
            <a:chExt cx="5842635" cy="1185862"/>
          </a:xfrm>
        </p:grpSpPr>
        <p:sp>
          <p:nvSpPr>
            <p:cNvPr id="111" name="Rectangle 111"/>
            <p:cNvSpPr/>
            <p:nvPr/>
          </p:nvSpPr>
          <p:spPr>
            <a:xfrm>
              <a:off x="5815965" y="4989195"/>
              <a:ext cx="5842635" cy="1185862"/>
            </a:xfrm>
            <a:prstGeom prst="roundRect">
              <a:avLst>
                <a:gd name="adj" fmla="val 1124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5996940" y="5170170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6074359" y="5203031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怎么用这张表</a:t>
              </a:r>
            </a:p>
          </p:txBody>
        </p:sp>
        <p:sp>
          <p:nvSpPr>
            <p:cNvPr id="114" name="Ellipse 114"/>
            <p:cNvSpPr/>
            <p:nvPr/>
          </p:nvSpPr>
          <p:spPr>
            <a:xfrm>
              <a:off x="6006465" y="556260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6161913" y="5510689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两个算法的阶不同就直接比阶，阶相同才去比常数因子</a:t>
              </a:r>
            </a:p>
          </p:txBody>
        </p:sp>
        <p:sp>
          <p:nvSpPr>
            <p:cNvPr id="116" name="Ellipse 116"/>
            <p:cNvSpPr/>
            <p:nvPr/>
          </p:nvSpPr>
          <p:spPr>
            <a:xfrm>
              <a:off x="6006465" y="584835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6161913" y="5795486"/>
              <a:ext cx="48717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n = 1024 时 n log n 只有 n² 的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0.98%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，而 n³ 是 n² 的 1024 倍</a:t>
              </a:r>
            </a:p>
          </p:txBody>
        </p:sp>
      </p:grpSp>
      <p:grpSp>
        <p:nvGrpSpPr>
          <p:cNvPr id="1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9" name="TextBox 11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第2讲 算法与时间复杂度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第2讲 复杂度 · 时间复杂度与渐近表示法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阶差一级，能不能算出来就是两回事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032438" cy="278702"/>
            <a:chOff x="526161" y="1547336"/>
            <a:chExt cx="5032438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0324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下表按每秒处理 100 万次基本操作估算，脚本逐格复核过。</a:t>
              </a:r>
            </a:p>
          </p:txBody>
        </p:sp>
      </p:grpSp>
      <p:grpSp>
        <p:nvGrpSpPr>
          <p:cNvPr id="47" name="c1-table-1"/>
          <p:cNvGrpSpPr/>
          <p:nvPr/>
        </p:nvGrpSpPr>
        <p:grpSpPr>
          <a:xfrm>
            <a:off x="533400" y="1941195"/>
            <a:ext cx="5410200" cy="2224088"/>
            <a:chOff x="533400" y="1941195"/>
            <a:chExt cx="5410200" cy="2224088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44481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56082" y="206978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时间复杂度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26264" y="2069782"/>
              <a:ext cx="5480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= 10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948296" y="2069782"/>
              <a:ext cx="5480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= 30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76044" y="2069782"/>
              <a:ext cx="5480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= 60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21800" y="2069782"/>
              <a:ext cx="6529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= 100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2270" y="2514600"/>
              <a:ext cx="4846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48117" y="2514600"/>
              <a:ext cx="7043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 ms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70149" y="2514600"/>
              <a:ext cx="7043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0.03 ms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97897" y="2514600"/>
              <a:ext cx="7043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0.06 ms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046107" y="2514600"/>
              <a:ext cx="6043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 ms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8260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830830"/>
              <a:ext cx="541020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2270" y="2958465"/>
              <a:ext cx="5925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98094" y="2958465"/>
              <a:ext cx="6043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 ms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920127" y="2958465"/>
              <a:ext cx="6043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 ms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947874" y="2958465"/>
              <a:ext cx="6043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3.6 ms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96085" y="2958465"/>
              <a:ext cx="5044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ms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2708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2270" y="3403282"/>
              <a:ext cx="5925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O(n⁵)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966246" y="3403282"/>
              <a:ext cx="4680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 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38301" y="3403282"/>
              <a:ext cx="5680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24.3 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970591" y="340328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 min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018846" y="3403282"/>
              <a:ext cx="6588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167 min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7157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3720465"/>
              <a:ext cx="541020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2270" y="3848100"/>
              <a:ext cx="6085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O(2ⁿ)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898094" y="3848100"/>
              <a:ext cx="6043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 ms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842889" y="3848100"/>
              <a:ext cx="7588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17.9 min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756660" y="3729990"/>
              <a:ext cx="986790" cy="42576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884266" y="3848100"/>
              <a:ext cx="731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366 世纪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762500" y="3729990"/>
              <a:ext cx="1171575" cy="42576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923434" y="3848100"/>
              <a:ext cx="8497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4×10¹⁶ 年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1941195"/>
              <a:ext cx="5410200" cy="22231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1697355" y="1941195"/>
              <a:ext cx="9525" cy="22231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2692718" y="1941195"/>
              <a:ext cx="9525" cy="22231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3742372" y="1941195"/>
              <a:ext cx="9525" cy="22231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4748212" y="1941195"/>
              <a:ext cx="9525" cy="22231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1-card-2"/>
          <p:cNvGrpSpPr/>
          <p:nvPr/>
        </p:nvGrpSpPr>
        <p:grpSpPr>
          <a:xfrm>
            <a:off x="533400" y="4339590"/>
            <a:ext cx="5410200" cy="1890712"/>
            <a:chOff x="533400" y="4339590"/>
            <a:chExt cx="5410200" cy="1890712"/>
          </a:xfrm>
        </p:grpSpPr>
        <p:sp>
          <p:nvSpPr>
            <p:cNvPr id="48" name="Rectangle 48"/>
            <p:cNvSpPr/>
            <p:nvPr/>
          </p:nvSpPr>
          <p:spPr>
            <a:xfrm>
              <a:off x="533400" y="4339590"/>
              <a:ext cx="5410200" cy="1890712"/>
            </a:xfrm>
            <a:prstGeom prst="roundRect">
              <a:avLst>
                <a:gd name="adj" fmla="val 70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542925" y="4472940"/>
              <a:ext cx="47625" cy="162401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63905" y="453199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47344" y="456628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反推经验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7047" y="4889183"/>
              <a:ext cx="48057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指数级那一行，n 从 30 涨到 60 只翻一倍，时间却从 18 分钟变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 3.6 万年。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72478" y="550449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28497" y="5448300"/>
              <a:ext cx="42571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按每秒 10⁸ 次基本操作估，1 秒内 O(n) 能到 n ≈ 10⁸，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log n) 到 4×10⁶，O(n²) 到 10⁴，O(2ⁿ) 只到 26</a:t>
              </a:r>
            </a:p>
          </p:txBody>
        </p:sp>
      </p:grpSp>
      <p:grpSp>
        <p:nvGrpSpPr>
          <p:cNvPr id="64" name="c2-card-1"/>
          <p:cNvGrpSpPr/>
          <p:nvPr/>
        </p:nvGrpSpPr>
        <p:grpSpPr>
          <a:xfrm>
            <a:off x="6248400" y="1941195"/>
            <a:ext cx="5410200" cy="2000250"/>
            <a:chOff x="6248400" y="1941195"/>
            <a:chExt cx="5410200" cy="2000250"/>
          </a:xfrm>
        </p:grpSpPr>
        <p:sp>
          <p:nvSpPr>
            <p:cNvPr id="56" name="Rectangle 56"/>
            <p:cNvSpPr/>
            <p:nvPr/>
          </p:nvSpPr>
          <p:spPr>
            <a:xfrm>
              <a:off x="6248400" y="1941195"/>
              <a:ext cx="5410200" cy="2000250"/>
            </a:xfrm>
            <a:prstGeom prst="roundRect">
              <a:avLst>
                <a:gd name="adj" fmla="val 666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40805" y="2133600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00241" y="216789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换一台最快的机器试试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091297" y="2173605"/>
              <a:ext cx="27288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神威·太湖之光，每秒 9.3 亿亿次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33947" y="2507932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该机由我国自主研制，2016 年起位列全球超级计算机 Top5，曾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连续两年位居世界第 1。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449378" y="312420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05397" y="3068002"/>
              <a:ext cx="43365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拿它去跑 O(2ⁿ) 且 n = 100 的算法，仍需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约 43 万年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35090" y="3366611"/>
              <a:ext cx="470535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硬件比原来的假设快了 9.3 × 10¹⁰ 倍，指数级的规模上限只从 n ≈ 60 推到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≈ 96。</a:t>
              </a:r>
            </a:p>
          </p:txBody>
        </p:sp>
      </p:grpSp>
      <p:grpSp>
        <p:nvGrpSpPr>
          <p:cNvPr id="70" name="c2-card-2"/>
          <p:cNvGrpSpPr/>
          <p:nvPr/>
        </p:nvGrpSpPr>
        <p:grpSpPr>
          <a:xfrm>
            <a:off x="6248400" y="4116705"/>
            <a:ext cx="5410200" cy="1209675"/>
            <a:chOff x="6248400" y="4116705"/>
            <a:chExt cx="5410200" cy="1209675"/>
          </a:xfrm>
        </p:grpSpPr>
        <p:sp>
          <p:nvSpPr>
            <p:cNvPr id="65" name="Rectangle 65"/>
            <p:cNvSpPr/>
            <p:nvPr/>
          </p:nvSpPr>
          <p:spPr>
            <a:xfrm>
              <a:off x="6248400" y="4116705"/>
              <a:ext cx="541020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257925" y="4250055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478905" y="430911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570345" y="43434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472047" y="4666298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仅提高硬件计算速度是不够的，关键是从理论上降低时间复杂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度。</a:t>
              </a:r>
            </a:p>
          </p:txBody>
        </p:sp>
      </p:grpSp>
      <p:grpSp>
        <p:nvGrpSpPr>
          <p:cNvPr id="77" name="c2-callout-3"/>
          <p:cNvGrpSpPr/>
          <p:nvPr/>
        </p:nvGrpSpPr>
        <p:grpSpPr>
          <a:xfrm>
            <a:off x="6248400" y="5501640"/>
            <a:ext cx="5410200" cy="729615"/>
            <a:chOff x="6248400" y="5501640"/>
            <a:chExt cx="5410200" cy="729615"/>
          </a:xfrm>
        </p:grpSpPr>
        <p:sp>
          <p:nvSpPr>
            <p:cNvPr id="71" name="Rectangle 71"/>
            <p:cNvSpPr/>
            <p:nvPr/>
          </p:nvSpPr>
          <p:spPr>
            <a:xfrm>
              <a:off x="6248400" y="5501640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6453188" y="5766435"/>
              <a:ext cx="200026" cy="200025"/>
              <a:chOff x="6453188" y="5766435"/>
              <a:chExt cx="200026" cy="200025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6453188" y="57664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6492926" y="58108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6527642" y="59220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6755892" y="5647373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反过来，n 很小时常数因子反而是主角。排序库函数在 n 小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于十几时会切回插入排序，就是这个原因。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第2讲 算法与时间复杂度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972862" cy="909257"/>
            <a:chOff x="520446" y="342900"/>
            <a:chExt cx="397286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第2讲 复杂度 · 时间复杂度与渐近表示法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9728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化简大 O 的四条常用性质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5842635" cy="2781300"/>
            <a:chOff x="533400" y="1524000"/>
            <a:chExt cx="5842635" cy="27813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2005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5649" y="16454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92044" y="16454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26165" y="16454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6935" y="217884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常系数可忽略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29015" y="2065496"/>
              <a:ext cx="9883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O(d·f(n)) =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O(f(n))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98773" y="2065496"/>
              <a:ext cx="22075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常数 d 可以并进大 O 定义里的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860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90800"/>
              <a:ext cx="5842635" cy="42005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6935" y="271224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低次项可忽略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29015" y="2712244"/>
              <a:ext cx="16517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O(nᵃ + nᵇ) = O(nᵃ)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98773" y="2712244"/>
              <a:ext cx="20290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&gt; b &gt; 0 时 nᵃ + nᵇ ≤ 2nᵃ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070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6935" y="324564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对数底可忽略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29015" y="3132296"/>
              <a:ext cx="99644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O(log_a n) =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O(log_b n)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98773" y="3132296"/>
              <a:ext cx="218313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log_a n = log_a b × log_b n，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换底只差常数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6537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658552"/>
              <a:ext cx="5842635" cy="6467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6935" y="389239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对数的常数次幂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29015" y="3779044"/>
              <a:ext cx="146786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log(nᶜ) = c·log n =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 n)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98773" y="3779044"/>
              <a:ext cx="21262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指数落到系数上，又被常系数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吸收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5842635" cy="2781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930718" y="1524000"/>
              <a:ext cx="9525" cy="2781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800475" y="1524000"/>
              <a:ext cx="9525" cy="2781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1-card-2"/>
          <p:cNvGrpSpPr/>
          <p:nvPr/>
        </p:nvGrpSpPr>
        <p:grpSpPr>
          <a:xfrm>
            <a:off x="533400" y="4470082"/>
            <a:ext cx="5842635" cy="1471612"/>
            <a:chOff x="533400" y="4470082"/>
            <a:chExt cx="5842635" cy="1471612"/>
          </a:xfrm>
        </p:grpSpPr>
        <p:sp>
          <p:nvSpPr>
            <p:cNvPr id="32" name="Rectangle 32"/>
            <p:cNvSpPr/>
            <p:nvPr/>
          </p:nvSpPr>
          <p:spPr>
            <a:xfrm>
              <a:off x="533400" y="4470082"/>
              <a:ext cx="5842635" cy="1471612"/>
            </a:xfrm>
            <a:prstGeom prst="roundRect">
              <a:avLst>
                <a:gd name="adj" fmla="val 906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14375" y="4651058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95846" y="468391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一句话总结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7898" y="4991576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函数的阶取决于阶最高的项，与它的系数和其它较低阶项都无关。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23900" y="532828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79348" y="5276374"/>
              <a:ext cx="3300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+ log n = O(n)　　n² + n log n = O(n²)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23900" y="561308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79348" y="5561171"/>
              <a:ext cx="22798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aₘnᵐ + ⋯ + a₁n + a₀ = O(nᵐ)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6680835" y="1524000"/>
            <a:ext cx="4977765" cy="1357312"/>
            <a:chOff x="6680835" y="1524000"/>
            <a:chExt cx="4977765" cy="1357312"/>
          </a:xfrm>
        </p:grpSpPr>
        <p:sp>
          <p:nvSpPr>
            <p:cNvPr id="41" name="Rectangle 41"/>
            <p:cNvSpPr/>
            <p:nvPr/>
          </p:nvSpPr>
          <p:spPr>
            <a:xfrm>
              <a:off x="6680835" y="1524000"/>
              <a:ext cx="4977765" cy="1357312"/>
            </a:xfrm>
            <a:prstGeom prst="roundRect">
              <a:avLst>
                <a:gd name="adj" fmla="val 98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90360" y="1657350"/>
              <a:ext cx="47625" cy="10906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899910" y="170497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96633" y="173783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42061" y="1744504"/>
              <a:ext cx="19762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(n+1)(3n²+2) = O(n³)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93433" y="2061686"/>
              <a:ext cx="46740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展开得 3n³ + 3n² + 2n + 2，最高阶项是 3n³，所以阶是 n³。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94576" y="2342198"/>
              <a:ext cx="4244531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 C = 4、n₀ = 4 可验证：n ≥ 4 时 n³ ≥ 3n² + 2n + 2 成立（n = 2、3 时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不成立，n₀ 不能取 1）。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680835" y="3046095"/>
            <a:ext cx="4977765" cy="2895600"/>
            <a:chOff x="6680835" y="3046095"/>
            <a:chExt cx="4977765" cy="2895600"/>
          </a:xfrm>
        </p:grpSpPr>
        <p:sp>
          <p:nvSpPr>
            <p:cNvPr id="49" name="Rectangle 49"/>
            <p:cNvSpPr/>
            <p:nvPr/>
          </p:nvSpPr>
          <p:spPr>
            <a:xfrm>
              <a:off x="6680835" y="3046095"/>
              <a:ext cx="4977765" cy="2895600"/>
            </a:xfrm>
            <a:prstGeom prst="roundRect">
              <a:avLst>
                <a:gd name="adj" fmla="val 46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690360" y="3179445"/>
              <a:ext cx="47625" cy="26289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899910" y="322707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92582" y="325993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66838" y="3266599"/>
              <a:ext cx="23943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log(nᶜ) 与 (log n)ᶜ 完全不同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909435" y="363569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064883" y="3582829"/>
              <a:ext cx="38166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log(nᶜ) = c·log n = O(log n)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，这是上表第四条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909435" y="392049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064883" y="3867626"/>
              <a:ext cx="42315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(log n)ᶜ 不是 O(log n)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，c &gt; 1 时它比 log n 增长得快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894576" y="4149090"/>
              <a:ext cx="438454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源课件第 65 页标题写作“对数常数次幂可忽略”，指的是前一种，读的时候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要看清括号位置。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第2讲 算法与时间复杂度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第2讲 复杂度 · 时间复杂度与渐近表示法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循环里出现求和时，先查这两个级数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41"/>
              <p:cNvSpPr txBox="1">
                <a:spLocks noGrp="1"/>
              </p:cNvSpPr>
              <p:nvPr/>
            </p:nvSpPr>
            <p:spPr>
              <a:xfrm>
                <a:off x="533400" y="1524000"/>
                <a:ext cx="5410200" cy="6915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p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  <m:sup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p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p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sup>
                          </m:s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dx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p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p>
                          </m:sSup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O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p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5" name="c1-table-2"/>
          <p:cNvGrpSpPr/>
          <p:nvPr/>
        </p:nvGrpSpPr>
        <p:grpSpPr>
          <a:xfrm>
            <a:off x="528447" y="2380298"/>
            <a:ext cx="5415153" cy="2170461"/>
            <a:chOff x="528447" y="2380298"/>
            <a:chExt cx="5415153" cy="2170461"/>
          </a:xfrm>
        </p:grpSpPr>
        <p:sp>
          <p:nvSpPr>
            <p:cNvPr id="8" name="Rectangle 8"/>
            <p:cNvSpPr/>
            <p:nvPr/>
          </p:nvSpPr>
          <p:spPr>
            <a:xfrm>
              <a:off x="533400" y="2380298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98245" y="249745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级数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129724" y="249745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精确和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164646" y="249745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8078" y="2879408"/>
              <a:ext cx="8492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+ 2 + ⋯ + 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51138" y="2879408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n(n+1)/2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31436" y="2879408"/>
              <a:ext cx="4394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1384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3143250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3260408"/>
              <a:ext cx="10941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1² + 2² + ⋯ + n²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51138" y="3260408"/>
              <a:ext cx="1099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n(n+1)(2n+1)/6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31436" y="3260408"/>
              <a:ext cx="4394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O(n³)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5194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641408"/>
              <a:ext cx="10941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1³ + 2³ + ⋯ + n³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51138" y="3641408"/>
              <a:ext cx="8658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[n(n+1)/2]²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546282" y="3533775"/>
              <a:ext cx="1387792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631436" y="3641408"/>
              <a:ext cx="4394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O(n⁴)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90144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90620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8078" y="4023360"/>
              <a:ext cx="10941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1⁴ + 2⁴ + ⋯ + n⁴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251138" y="402336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公式较长，直接用上式估阶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546282" y="3915728"/>
              <a:ext cx="1387792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631436" y="4023360"/>
              <a:ext cx="4394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O(n⁵)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2380298"/>
              <a:ext cx="541020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151698" y="2380298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531995" y="2380298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8447" y="4360069"/>
              <a:ext cx="42777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后两行是源课件留空让学生填的，脚本按 n = 1000 数值复核过比值趋于 1</a:t>
              </a:r>
            </a:p>
          </p:txBody>
        </p:sp>
      </p:grpSp>
      <p:grpSp>
        <p:nvGrpSpPr>
          <p:cNvPr id="41" name="c1-card-3"/>
          <p:cNvGrpSpPr/>
          <p:nvPr/>
        </p:nvGrpSpPr>
        <p:grpSpPr>
          <a:xfrm>
            <a:off x="533400" y="4677728"/>
            <a:ext cx="5410200" cy="1584008"/>
            <a:chOff x="533400" y="4677728"/>
            <a:chExt cx="5410200" cy="1584008"/>
          </a:xfrm>
        </p:grpSpPr>
        <p:sp>
          <p:nvSpPr>
            <p:cNvPr id="36" name="Rectangle 36"/>
            <p:cNvSpPr/>
            <p:nvPr/>
          </p:nvSpPr>
          <p:spPr>
            <a:xfrm>
              <a:off x="533400" y="4677728"/>
              <a:ext cx="5410200" cy="1584008"/>
            </a:xfrm>
            <a:prstGeom prst="roundRect">
              <a:avLst>
                <a:gd name="adj" fmla="val 841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14375" y="4858702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84644" y="489156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还要记住等比级数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7898" y="5198269"/>
              <a:ext cx="45971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 + 2 + 4 + ⋯ + 2ᵏ⁻¹ = 2ᵏ − 1，一般地 1 + r + ⋯ + rᵏ⁻¹ = (rᵏ −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1)/(r − 1)。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9041" y="5722620"/>
              <a:ext cx="477793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32 页的 2022 年考研题和第 36 页的计数器都要用它，结论都是“末项的两倍以</a:t>
              </a:r>
              <a:br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内”。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formula42"/>
              <p:cNvSpPr txBox="1">
                <a:spLocks noGrp="1"/>
              </p:cNvSpPr>
              <p:nvPr/>
            </p:nvSpPr>
            <p:spPr>
              <a:xfrm>
                <a:off x="6248400" y="1524000"/>
                <a:ext cx="5410200" cy="4086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f>
                            <m:fPr>
                              <m:type m:val="bar"/>
                              <m:ctrlP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den>
                          </m:f>
                        </m:e>
                      </m:nary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+⋯+</m:t>
                      </m:r>
                      <m:f>
                        <m:fPr>
                          <m:type m:val="bar"/>
                          <m:ctrl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f>
                            <m:fPr>
                              <m:type m:val="bar"/>
                              <m:ctrlP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den>
                          </m:f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dx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ln</m:t>
                          </m:r>
                        </m:fName>
                        <m:e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O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func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51" name="c2-card-2"/>
          <p:cNvGrpSpPr/>
          <p:nvPr/>
        </p:nvGrpSpPr>
        <p:grpSpPr>
          <a:xfrm>
            <a:off x="6248400" y="2097405"/>
            <a:ext cx="5410200" cy="1202055"/>
            <a:chOff x="6248400" y="2097405"/>
            <a:chExt cx="5410200" cy="1202055"/>
          </a:xfrm>
        </p:grpSpPr>
        <p:sp>
          <p:nvSpPr>
            <p:cNvPr id="43" name="Rectangle 43"/>
            <p:cNvSpPr/>
            <p:nvPr/>
          </p:nvSpPr>
          <p:spPr>
            <a:xfrm>
              <a:off x="6248400" y="2097405"/>
              <a:ext cx="5410200" cy="1202055"/>
            </a:xfrm>
            <a:prstGeom prst="roundRect">
              <a:avLst>
                <a:gd name="adj" fmla="val 1109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29375" y="227838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13944" y="231124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调和级数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44906" y="2317909"/>
              <a:ext cx="26321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加了 n 项，结果只有 log n 那么大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438900" y="268700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94348" y="2635091"/>
              <a:ext cx="34333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= 100 时和为 5.19，n = 10⁶ 时也才 14.39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438900" y="297180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94348" y="2919889"/>
              <a:ext cx="39871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差值 H(n) − ln n 稳定在 0.577 附近，就是欧拉常数</a:t>
              </a:r>
            </a:p>
          </p:txBody>
        </p:sp>
      </p:grpSp>
      <p:grpSp>
        <p:nvGrpSpPr>
          <p:cNvPr id="72" name="c2-table-3"/>
          <p:cNvGrpSpPr/>
          <p:nvPr/>
        </p:nvGrpSpPr>
        <p:grpSpPr>
          <a:xfrm>
            <a:off x="6243447" y="3464242"/>
            <a:ext cx="5415153" cy="1945672"/>
            <a:chOff x="6243447" y="3464242"/>
            <a:chExt cx="5415153" cy="1945672"/>
          </a:xfrm>
        </p:grpSpPr>
        <p:sp>
          <p:nvSpPr>
            <p:cNvPr id="52" name="Rectangle 52"/>
            <p:cNvSpPr/>
            <p:nvPr/>
          </p:nvSpPr>
          <p:spPr>
            <a:xfrm>
              <a:off x="6248400" y="3464242"/>
              <a:ext cx="5410200" cy="42005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89001" y="358568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内层次数长什么样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916810" y="358568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该套哪个级数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830204" y="35856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341936" y="4005739"/>
              <a:ext cx="11256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2, 3, …, n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614600" y="4005739"/>
              <a:ext cx="14862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等差（幂和 d = 1）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453878" y="4005739"/>
              <a:ext cx="5356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248400" y="43005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248400" y="4305300"/>
              <a:ext cx="5410200" cy="42005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41936" y="4425791"/>
              <a:ext cx="12251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2, 4, …, 2ᵏ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614600" y="442579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等比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453878" y="4425791"/>
              <a:ext cx="4382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248400" y="47205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341936" y="4846796"/>
              <a:ext cx="15237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n, n/2, n/3, …, 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614600" y="484679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调和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453878" y="4846796"/>
              <a:ext cx="8739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log n)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248400" y="3464242"/>
              <a:ext cx="5410200" cy="16811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8516302" y="3464242"/>
              <a:ext cx="9525" cy="16811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10355580" y="3464242"/>
              <a:ext cx="9525" cy="16811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243447" y="5219224"/>
              <a:ext cx="23582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30、32 页的四道例题分别对应这三行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第2讲 算法与时间复杂度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第2讲 复杂度 · 时间复杂度与渐近表示法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从基本运算次数读出阶，再做两道判断题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table-1"/>
          <p:cNvGrpSpPr/>
          <p:nvPr/>
        </p:nvGrpSpPr>
        <p:grpSpPr>
          <a:xfrm>
            <a:off x="527685" y="1524000"/>
            <a:ext cx="5415915" cy="3709512"/>
            <a:chOff x="527685" y="1524000"/>
            <a:chExt cx="5415915" cy="37095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876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43050" y="166306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基本运算次数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47185" y="166306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渐近时间复杂度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0080" y="2150745"/>
              <a:ext cx="13192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· n² + 100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86200" y="2150745"/>
              <a:ext cx="6277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945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99360"/>
              <a:ext cx="5410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0080" y="2638425"/>
              <a:ext cx="22627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0.063 · n² − 5n + 12.7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86200" y="2638425"/>
              <a:ext cx="6277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9822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0080" y="3126105"/>
              <a:ext cx="24959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· n√n − 10¹⁰⁰⁰⁰ · √n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86200" y="3126105"/>
              <a:ext cx="735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O(n√n)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4699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474720"/>
              <a:ext cx="5410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0080" y="3613785"/>
              <a:ext cx="15100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· n log n + 1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86200" y="3613785"/>
              <a:ext cx="10242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log n)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9576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0080" y="4101465"/>
              <a:ext cx="14146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(n+1)(3n²+2)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886200" y="4101465"/>
              <a:ext cx="6277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O(n³)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44531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450080"/>
              <a:ext cx="5410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0080" y="4589145"/>
              <a:ext cx="19128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n/1 + n/2 + ⋯ + n/n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86200" y="4589145"/>
              <a:ext cx="10242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log n)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524000"/>
              <a:ext cx="5410200" cy="34137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774758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7685" y="5013484"/>
              <a:ext cx="36601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第三行源课件写作 </a:t>
              </a:r>
              <a:r>
                <a:rPr lang="en-US" sz="11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100·n^1.5</a:t>
              </a: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，n√n 与它是同一个函数</a:t>
              </a:r>
            </a:p>
          </p:txBody>
        </p:sp>
      </p:grpSp>
      <p:grpSp>
        <p:nvGrpSpPr>
          <p:cNvPr id="40" name="c1-callout-2"/>
          <p:cNvGrpSpPr/>
          <p:nvPr/>
        </p:nvGrpSpPr>
        <p:grpSpPr>
          <a:xfrm>
            <a:off x="533400" y="5379720"/>
            <a:ext cx="5410200" cy="782955"/>
            <a:chOff x="533400" y="5379720"/>
            <a:chExt cx="5410200" cy="782955"/>
          </a:xfrm>
        </p:grpSpPr>
        <p:sp>
          <p:nvSpPr>
            <p:cNvPr id="34" name="Rectangle 34"/>
            <p:cNvSpPr/>
            <p:nvPr/>
          </p:nvSpPr>
          <p:spPr>
            <a:xfrm>
              <a:off x="533400" y="537972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26129" y="5667493"/>
              <a:ext cx="224134" cy="192560"/>
              <a:chOff x="726129" y="5667493"/>
              <a:chExt cx="224134" cy="19256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38200" y="573786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26129" y="566749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38200" y="58156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130" y="5528310"/>
              <a:ext cx="44253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第三行的 10¹⁰⁰⁰⁰ 大得离谱，却只是 √n 项的系数，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不影响阶。低阶项的系数再大也压不住高阶项。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6248400" y="1524000"/>
            <a:ext cx="5410200" cy="1866900"/>
            <a:chOff x="6248400" y="1524000"/>
            <a:chExt cx="5410200" cy="1866900"/>
          </a:xfrm>
        </p:grpSpPr>
        <p:sp>
          <p:nvSpPr>
            <p:cNvPr id="41" name="Rectangle 41"/>
            <p:cNvSpPr/>
            <p:nvPr/>
          </p:nvSpPr>
          <p:spPr>
            <a:xfrm>
              <a:off x="6248400" y="1524000"/>
              <a:ext cx="5410200" cy="18669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57925" y="1657350"/>
              <a:ext cx="47625" cy="16002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96050" y="1733550"/>
              <a:ext cx="76295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78843" y="1769269"/>
              <a:ext cx="598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思考题 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65683" y="1768792"/>
              <a:ext cx="40715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 + sin(n) = Θ(1) 吗（剑桥大学练习题）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88430" y="2129790"/>
              <a:ext cx="4511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成立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。sin(n) ∈ [−1, 1]，所以 199 ≤ 200 + sin(n) 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89573" y="2747486"/>
              <a:ext cx="46215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 C₁ = 199、C₂ = 201、n₀ = 1 即满足 Θ 的定义。注意它的极限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不存在，只能用定义判定。</a:t>
              </a:r>
            </a:p>
          </p:txBody>
        </p:sp>
      </p:grpSp>
      <p:grpSp>
        <p:nvGrpSpPr>
          <p:cNvPr id="57" name="c2-card-2"/>
          <p:cNvGrpSpPr/>
          <p:nvPr/>
        </p:nvGrpSpPr>
        <p:grpSpPr>
          <a:xfrm>
            <a:off x="6248400" y="3581400"/>
            <a:ext cx="5410200" cy="2581275"/>
            <a:chOff x="6248400" y="3581400"/>
            <a:chExt cx="5410200" cy="2581275"/>
          </a:xfrm>
        </p:grpSpPr>
        <p:sp>
          <p:nvSpPr>
            <p:cNvPr id="49" name="Rectangle 49"/>
            <p:cNvSpPr/>
            <p:nvPr/>
          </p:nvSpPr>
          <p:spPr>
            <a:xfrm>
              <a:off x="6248400" y="3581400"/>
              <a:ext cx="5410200" cy="2581275"/>
            </a:xfrm>
            <a:prstGeom prst="roundRect">
              <a:avLst>
                <a:gd name="adj" fmla="val 516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57925" y="3714750"/>
              <a:ext cx="47625" cy="23145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96050" y="3790950"/>
              <a:ext cx="76295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78843" y="3826669"/>
              <a:ext cx="598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思考题 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365683" y="382619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清华大学考研题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formula44"/>
                <p:cNvSpPr txBox="1">
                  <a:spLocks noGrp="1"/>
                </p:cNvSpPr>
                <p:nvPr/>
              </p:nvSpPr>
              <p:spPr>
                <a:xfrm>
                  <a:off x="6496050" y="4162425"/>
                  <a:ext cx="49530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  <m:sup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log</m:t>
                                </m:r>
                              </m:fName>
                              <m:e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log</m:t>
                                    </m:r>
                                  </m:fName>
                                  <m:e>
                                    <m:func>
                                      <m:funcPr/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e>
                                    </m:func>
                                  </m:e>
                                </m:func>
                              </m:e>
                            </m:func>
                          </m:sup>
                        </m:sSup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O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begChr m:val="⌊"/>
                                <m:sepChr m:val=""/>
                                <m:endChr m:val="⌋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</m:func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55" name="TextBox 55"/>
            <p:cNvSpPr txBox="1"/>
            <p:nvPr/>
          </p:nvSpPr>
          <p:spPr>
            <a:xfrm>
              <a:off x="6488430" y="4701540"/>
              <a:ext cx="47015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成立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。两边取以 2 为底的对数并令 m = log n：左边成为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m·log(log m)，右边按 Stirling 公式约为 m·log m 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1.44m。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89573" y="5604034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log(log m) 远小于 log m，故左边不超过右边。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第2讲 算法与时间复杂度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135499" cy="3351847"/>
            <a:chOff x="667512" y="1835468"/>
            <a:chExt cx="513549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典型例题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写出下列程序段的时间复杂度，其中五道是考研真题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普通循环直接相乘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乘除型循环想到对数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解不等式得到根号阶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空间复杂度的数法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第2讲 算法与时间复杂度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第2讲 复杂度 · 典型例题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循环层数固定时，把每层的次数乘起来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1033462"/>
            <a:chOff x="533400" y="1524000"/>
            <a:chExt cx="5410200" cy="10334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033462"/>
            </a:xfrm>
            <a:prstGeom prst="roundRect">
              <a:avLst>
                <a:gd name="adj" fmla="val 92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180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1584325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count = 0;</a:t>
              </a:r>
              <a:br/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0; i &lt; n; i++)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count++;</a:t>
              </a:r>
            </a:p>
          </p:txBody>
        </p:sp>
      </p:grpSp>
      <p:grpSp>
        <p:nvGrpSpPr>
          <p:cNvPr id="16" name="c1-callout-2"/>
          <p:cNvGrpSpPr/>
          <p:nvPr/>
        </p:nvGrpSpPr>
        <p:grpSpPr>
          <a:xfrm>
            <a:off x="533400" y="2747962"/>
            <a:ext cx="5410200" cy="533400"/>
            <a:chOff x="533400" y="2747962"/>
            <a:chExt cx="5410200" cy="533400"/>
          </a:xfrm>
        </p:grpSpPr>
        <p:sp>
          <p:nvSpPr>
            <p:cNvPr id="11" name="Rectangle 11"/>
            <p:cNvSpPr/>
            <p:nvPr/>
          </p:nvSpPr>
          <p:spPr>
            <a:xfrm>
              <a:off x="533400" y="2747962"/>
              <a:ext cx="5410200" cy="533400"/>
            </a:xfrm>
            <a:prstGeom prst="roundRect">
              <a:avLst>
                <a:gd name="adj" fmla="val 2142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188" y="2914650"/>
              <a:ext cx="200026" cy="200026"/>
              <a:chOff x="738188" y="2914650"/>
              <a:chExt cx="200026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29146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04863" y="299243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40130" y="2909888"/>
              <a:ext cx="27955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执行 n 次，T(n) = n = O(n)。</a:t>
              </a:r>
            </a:p>
          </p:txBody>
        </p:sp>
      </p:grpSp>
      <p:grpSp>
        <p:nvGrpSpPr>
          <p:cNvPr id="20" name="c1-code-3"/>
          <p:cNvGrpSpPr/>
          <p:nvPr/>
        </p:nvGrpSpPr>
        <p:grpSpPr>
          <a:xfrm>
            <a:off x="533400" y="3471862"/>
            <a:ext cx="5410200" cy="1209675"/>
            <a:chOff x="533400" y="3471862"/>
            <a:chExt cx="5410200" cy="1209675"/>
          </a:xfrm>
        </p:grpSpPr>
        <p:sp>
          <p:nvSpPr>
            <p:cNvPr id="17" name="Rectangle 17"/>
            <p:cNvSpPr/>
            <p:nvPr/>
          </p:nvSpPr>
          <p:spPr>
            <a:xfrm>
              <a:off x="533400" y="3471862"/>
              <a:ext cx="5410200" cy="1209675"/>
            </a:xfrm>
            <a:prstGeom prst="roundRect">
              <a:avLst>
                <a:gd name="adj" fmla="val 787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1797" y="3623786"/>
              <a:ext cx="2180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1797" y="3884771"/>
              <a:ext cx="1858137" cy="719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count = 0;</a:t>
              </a:r>
              <a:br/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0; i &lt; n; i++)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= 1; j &lt; n; j++)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count++;</a:t>
              </a:r>
            </a:p>
          </p:txBody>
        </p:sp>
      </p:grpSp>
      <p:grpSp>
        <p:nvGrpSpPr>
          <p:cNvPr id="26" name="c1-callout-4"/>
          <p:cNvGrpSpPr/>
          <p:nvPr/>
        </p:nvGrpSpPr>
        <p:grpSpPr>
          <a:xfrm>
            <a:off x="533400" y="4872038"/>
            <a:ext cx="5410200" cy="1134428"/>
            <a:chOff x="533400" y="4872038"/>
            <a:chExt cx="5410200" cy="1134428"/>
          </a:xfrm>
        </p:grpSpPr>
        <p:sp>
          <p:nvSpPr>
            <p:cNvPr id="21" name="Rectangle 21"/>
            <p:cNvSpPr/>
            <p:nvPr/>
          </p:nvSpPr>
          <p:spPr>
            <a:xfrm>
              <a:off x="533400" y="4872038"/>
              <a:ext cx="5410200" cy="1134428"/>
            </a:xfrm>
            <a:prstGeom prst="roundRect">
              <a:avLst>
                <a:gd name="adj" fmla="val 1007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5339715"/>
              <a:ext cx="200026" cy="200026"/>
              <a:chOff x="738188" y="5339715"/>
              <a:chExt cx="200026" cy="20002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53397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04863" y="541750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130" y="5334952"/>
              <a:ext cx="30210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n × (n−1) = n² − n 次，</a:t>
              </a:r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O(n²)</a:t>
              </a: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0" name="c2-code-1"/>
          <p:cNvGrpSpPr/>
          <p:nvPr/>
        </p:nvGrpSpPr>
        <p:grpSpPr>
          <a:xfrm>
            <a:off x="6248400" y="1524000"/>
            <a:ext cx="5410200" cy="1384935"/>
            <a:chOff x="6248400" y="1524000"/>
            <a:chExt cx="5410200" cy="1384935"/>
          </a:xfrm>
        </p:grpSpPr>
        <p:sp>
          <p:nvSpPr>
            <p:cNvPr id="27" name="Rectangle 27"/>
            <p:cNvSpPr/>
            <p:nvPr/>
          </p:nvSpPr>
          <p:spPr>
            <a:xfrm>
              <a:off x="6248400" y="1524000"/>
              <a:ext cx="5410200" cy="1384935"/>
            </a:xfrm>
            <a:prstGeom prst="roundRect">
              <a:avLst>
                <a:gd name="adj" fmla="val 68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76797" y="1675924"/>
              <a:ext cx="2180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76797" y="1935956"/>
              <a:ext cx="2200402" cy="895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count = 0;</a:t>
              </a:r>
              <a:br/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0; i &lt; n; i++)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= 1; j &lt;= n; j++)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= 1; k &lt;= n; k++)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count++;</a:t>
              </a:r>
            </a:p>
          </p:txBody>
        </p:sp>
      </p:grpSp>
      <p:grpSp>
        <p:nvGrpSpPr>
          <p:cNvPr id="36" name="c2-callout-2"/>
          <p:cNvGrpSpPr/>
          <p:nvPr/>
        </p:nvGrpSpPr>
        <p:grpSpPr>
          <a:xfrm>
            <a:off x="6248400" y="3099435"/>
            <a:ext cx="5410200" cy="533400"/>
            <a:chOff x="6248400" y="3099435"/>
            <a:chExt cx="5410200" cy="533400"/>
          </a:xfrm>
        </p:grpSpPr>
        <p:sp>
          <p:nvSpPr>
            <p:cNvPr id="31" name="Rectangle 31"/>
            <p:cNvSpPr/>
            <p:nvPr/>
          </p:nvSpPr>
          <p:spPr>
            <a:xfrm>
              <a:off x="6248400" y="3099435"/>
              <a:ext cx="5410200" cy="533400"/>
            </a:xfrm>
            <a:prstGeom prst="roundRect">
              <a:avLst>
                <a:gd name="adj" fmla="val 2142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453188" y="3266123"/>
              <a:ext cx="200026" cy="200026"/>
              <a:chOff x="6453188" y="3266123"/>
              <a:chExt cx="200026" cy="20002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453188" y="326612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519863" y="334391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755130" y="3261360"/>
              <a:ext cx="15469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n³ 次，</a:t>
              </a:r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O(n³)</a:t>
              </a: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0" name="c2-code-3"/>
          <p:cNvGrpSpPr/>
          <p:nvPr/>
        </p:nvGrpSpPr>
        <p:grpSpPr>
          <a:xfrm>
            <a:off x="6248400" y="3823335"/>
            <a:ext cx="5410200" cy="1209675"/>
            <a:chOff x="6248400" y="3823335"/>
            <a:chExt cx="5410200" cy="1209675"/>
          </a:xfrm>
        </p:grpSpPr>
        <p:sp>
          <p:nvSpPr>
            <p:cNvPr id="37" name="Rectangle 37"/>
            <p:cNvSpPr/>
            <p:nvPr/>
          </p:nvSpPr>
          <p:spPr>
            <a:xfrm>
              <a:off x="6248400" y="3823335"/>
              <a:ext cx="5410200" cy="1209675"/>
            </a:xfrm>
            <a:prstGeom prst="roundRect">
              <a:avLst>
                <a:gd name="adj" fmla="val 787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76797" y="3975259"/>
              <a:ext cx="2180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76797" y="4236244"/>
              <a:ext cx="2063496" cy="719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count = 0;</a:t>
              </a:r>
              <a:br/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0; i &lt; n; i++)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= 0; j &lt; 9999; j++)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count++;</a:t>
              </a:r>
            </a:p>
          </p:txBody>
        </p:sp>
      </p:grpSp>
      <p:grpSp>
        <p:nvGrpSpPr>
          <p:cNvPr id="47" name="c2-callout-4"/>
          <p:cNvGrpSpPr/>
          <p:nvPr/>
        </p:nvGrpSpPr>
        <p:grpSpPr>
          <a:xfrm>
            <a:off x="6248400" y="5223510"/>
            <a:ext cx="5410200" cy="782955"/>
            <a:chOff x="6248400" y="5223510"/>
            <a:chExt cx="5410200" cy="782955"/>
          </a:xfrm>
        </p:grpSpPr>
        <p:sp>
          <p:nvSpPr>
            <p:cNvPr id="41" name="Rectangle 41"/>
            <p:cNvSpPr/>
            <p:nvPr/>
          </p:nvSpPr>
          <p:spPr>
            <a:xfrm>
              <a:off x="6248400" y="522351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441129" y="5511283"/>
              <a:ext cx="224134" cy="192560"/>
              <a:chOff x="6441129" y="5511283"/>
              <a:chExt cx="224134" cy="19256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553200" y="558165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441129" y="551128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553200" y="56594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755130" y="5372100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内层上界 9999 与 n 无关，只是常数，9999n 次，仍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是 </a:t>
              </a:r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 而不是 O(n²)。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第2讲 算法与时间复杂度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第2讲 复杂度 · 典型例题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内层上界跟着外层变，或者循环变量乘除推进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1107758"/>
            <a:chOff x="533400" y="1524000"/>
            <a:chExt cx="5410200" cy="11077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107758"/>
            </a:xfrm>
            <a:prstGeom prst="roundRect">
              <a:avLst>
                <a:gd name="adj" fmla="val 859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3077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例5 内层次数随 i 增长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004"/>
              <a:ext cx="1613281" cy="610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count = 0;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1; i &lt;= n; i++)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= 1; j &lt;= i; j++)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count++;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formula51"/>
              <p:cNvSpPr txBox="1">
                <a:spLocks noGrp="1"/>
              </p:cNvSpPr>
              <p:nvPr/>
            </p:nvSpPr>
            <p:spPr>
              <a:xfrm>
                <a:off x="533400" y="2796540"/>
                <a:ext cx="5410200" cy="4086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p>
                            <m:e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nary>
                        </m:e>
                      </m:nary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num>
                        <m:den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O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e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p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5" name="c1-code-3"/>
          <p:cNvGrpSpPr/>
          <p:nvPr/>
        </p:nvGrpSpPr>
        <p:grpSpPr>
          <a:xfrm>
            <a:off x="533400" y="3369945"/>
            <a:ext cx="5410200" cy="958215"/>
            <a:chOff x="533400" y="3369945"/>
            <a:chExt cx="5410200" cy="958215"/>
          </a:xfrm>
        </p:grpSpPr>
        <p:sp>
          <p:nvSpPr>
            <p:cNvPr id="12" name="Rectangle 12"/>
            <p:cNvSpPr/>
            <p:nvPr/>
          </p:nvSpPr>
          <p:spPr>
            <a:xfrm>
              <a:off x="533400" y="3369945"/>
              <a:ext cx="5410200" cy="958215"/>
            </a:xfrm>
            <a:prstGeom prst="roundRect">
              <a:avLst>
                <a:gd name="adj" fmla="val 99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797" y="3521869"/>
              <a:ext cx="1272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例6、例7 乘 2 与除 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1988" y="3780949"/>
              <a:ext cx="2071497" cy="4610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1; i &lt; n; i *= 2) count++;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n; i &gt;= 1; i /= 2) count++;</a:t>
              </a:r>
            </a:p>
          </p:txBody>
        </p:sp>
      </p:grpSp>
      <p:grpSp>
        <p:nvGrpSpPr>
          <p:cNvPr id="21" name="c1-callout-4"/>
          <p:cNvGrpSpPr/>
          <p:nvPr/>
        </p:nvGrpSpPr>
        <p:grpSpPr>
          <a:xfrm>
            <a:off x="533400" y="4493895"/>
            <a:ext cx="5410200" cy="467678"/>
            <a:chOff x="533400" y="4493895"/>
            <a:chExt cx="5410200" cy="467678"/>
          </a:xfrm>
        </p:grpSpPr>
        <p:sp>
          <p:nvSpPr>
            <p:cNvPr id="16" name="Rectangle 16"/>
            <p:cNvSpPr/>
            <p:nvPr/>
          </p:nvSpPr>
          <p:spPr>
            <a:xfrm>
              <a:off x="533400" y="4493895"/>
              <a:ext cx="5410200" cy="467678"/>
            </a:xfrm>
            <a:prstGeom prst="roundRect">
              <a:avLst>
                <a:gd name="adj" fmla="val 2444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4627245"/>
              <a:ext cx="200026" cy="200026"/>
              <a:chOff x="738188" y="4627245"/>
              <a:chExt cx="200026" cy="20002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46272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04863" y="470503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1273" y="4638199"/>
              <a:ext cx="45368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两段都是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O(log n)</a:t>
              </a: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。n = 1024 时分别执行 10 次和 11 次。</a:t>
              </a:r>
            </a:p>
          </p:txBody>
        </p:sp>
      </p:grpSp>
      <p:grpSp>
        <p:nvGrpSpPr>
          <p:cNvPr id="27" name="c1-card-5"/>
          <p:cNvGrpSpPr/>
          <p:nvPr/>
        </p:nvGrpSpPr>
        <p:grpSpPr>
          <a:xfrm>
            <a:off x="533400" y="5126355"/>
            <a:ext cx="5410200" cy="1143952"/>
            <a:chOff x="533400" y="5126355"/>
            <a:chExt cx="5410200" cy="1143952"/>
          </a:xfrm>
        </p:grpSpPr>
        <p:sp>
          <p:nvSpPr>
            <p:cNvPr id="22" name="Rectangle 22"/>
            <p:cNvSpPr/>
            <p:nvPr/>
          </p:nvSpPr>
          <p:spPr>
            <a:xfrm>
              <a:off x="533400" y="5126355"/>
              <a:ext cx="5410200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5259705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52475" y="5307330"/>
              <a:ext cx="119157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23168" y="5340191"/>
              <a:ext cx="10511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例5 的另一种数法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5998" y="5647849"/>
              <a:ext cx="46946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把二重循环的执行次数摆成一个直角三角形：第 i 行有 i 个格子，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一共 n 行。总格子数就是边长为 n 的三角形面积，约 n²/2。</a:t>
              </a:r>
            </a:p>
          </p:txBody>
        </p:sp>
      </p:grpSp>
      <p:grpSp>
        <p:nvGrpSpPr>
          <p:cNvPr id="43" name="c2-table-1"/>
          <p:cNvGrpSpPr/>
          <p:nvPr/>
        </p:nvGrpSpPr>
        <p:grpSpPr>
          <a:xfrm>
            <a:off x="6243447" y="1524000"/>
            <a:ext cx="5415153" cy="1789461"/>
            <a:chOff x="6243447" y="1524000"/>
            <a:chExt cx="5415153" cy="1789461"/>
          </a:xfrm>
        </p:grpSpPr>
        <p:sp>
          <p:nvSpPr>
            <p:cNvPr id="28" name="Rectangle 28"/>
            <p:cNvSpPr/>
            <p:nvPr/>
          </p:nvSpPr>
          <p:spPr>
            <a:xfrm>
              <a:off x="6248400" y="1524000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096697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迭代次数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671930" y="1641157"/>
              <a:ext cx="8358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例6 中 i 的值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40680" y="2023110"/>
              <a:ext cx="8881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次迭代后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006755" y="2023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2¹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248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48400" y="228695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338583" y="2404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045627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248400" y="2663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940680" y="2785110"/>
              <a:ext cx="8881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 次迭代后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06755" y="2785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2ᵏ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1524000"/>
              <a:ext cx="5410200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516302" y="152400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43447" y="3122771"/>
              <a:ext cx="22394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循环在 2ᵏ ≥ n 时停下，所以 k ≈ log₂n</a:t>
              </a:r>
            </a:p>
          </p:txBody>
        </p:sp>
      </p:grpSp>
      <p:grpSp>
        <p:nvGrpSpPr>
          <p:cNvPr id="47" name="c2-code-2"/>
          <p:cNvGrpSpPr/>
          <p:nvPr/>
        </p:nvGrpSpPr>
        <p:grpSpPr>
          <a:xfrm>
            <a:off x="6248400" y="3439478"/>
            <a:ext cx="5410200" cy="1107758"/>
            <a:chOff x="6248400" y="3439478"/>
            <a:chExt cx="5410200" cy="1107758"/>
          </a:xfrm>
        </p:grpSpPr>
        <p:sp>
          <p:nvSpPr>
            <p:cNvPr id="44" name="Rectangle 44"/>
            <p:cNvSpPr/>
            <p:nvPr/>
          </p:nvSpPr>
          <p:spPr>
            <a:xfrm>
              <a:off x="6248400" y="3439478"/>
              <a:ext cx="5410200" cy="1107758"/>
            </a:xfrm>
            <a:prstGeom prst="roundRect">
              <a:avLst>
                <a:gd name="adj" fmla="val 859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76797" y="3591401"/>
              <a:ext cx="17932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例8 2014 年考研题（全国卷）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76988" y="3850481"/>
              <a:ext cx="1613281" cy="610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count = 0;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= 1; k &lt;= n; k *= 2)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= 1; j &lt;= n; j++)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count++;</a:t>
              </a:r>
            </a:p>
          </p:txBody>
        </p:sp>
      </p:grpSp>
      <p:grpSp>
        <p:nvGrpSpPr>
          <p:cNvPr id="53" name="c2-card-3"/>
          <p:cNvGrpSpPr/>
          <p:nvPr/>
        </p:nvGrpSpPr>
        <p:grpSpPr>
          <a:xfrm>
            <a:off x="6248400" y="4712970"/>
            <a:ext cx="5410200" cy="1557338"/>
            <a:chOff x="6248400" y="4712970"/>
            <a:chExt cx="5410200" cy="1557338"/>
          </a:xfrm>
        </p:grpSpPr>
        <p:sp>
          <p:nvSpPr>
            <p:cNvPr id="48" name="Rectangle 48"/>
            <p:cNvSpPr/>
            <p:nvPr/>
          </p:nvSpPr>
          <p:spPr>
            <a:xfrm>
              <a:off x="6248400" y="4712970"/>
              <a:ext cx="5410200" cy="1557338"/>
            </a:xfrm>
            <a:prstGeom prst="roundRect">
              <a:avLst>
                <a:gd name="adj" fmla="val 856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29375" y="489394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17996" y="492680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判别法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22898" y="5233511"/>
              <a:ext cx="40444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外层 log n 次，内层 n 次，所以例8 是 </a:t>
              </a:r>
              <a:r>
                <a:rPr lang="en-US" sz="128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O(n log n)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24041" y="5514975"/>
              <a:ext cx="481126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循环变量靠加减推进就数成线性，靠乘除推进就数成对数，两种推进嵌在一起就是</a:t>
              </a:r>
              <a:br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log n。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第2讲 算法与时间复杂度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第2讲 复杂度 · 典型例题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循环条件是不等式时，把它解出来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958215"/>
            <a:chOff x="533400" y="1524000"/>
            <a:chExt cx="5410200" cy="9582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958215"/>
            </a:xfrm>
            <a:prstGeom prst="roundRect">
              <a:avLst>
                <a:gd name="adj" fmla="val 99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7932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例9 2019 年考研题（全国卷）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004"/>
              <a:ext cx="1498727" cy="4610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x = 0;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(n &gt;= (x+1) * (x+1))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x = x + 1;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646998"/>
            <a:ext cx="5410200" cy="3604260"/>
            <a:chOff x="533400" y="2646998"/>
            <a:chExt cx="5410200" cy="3604260"/>
          </a:xfrm>
        </p:grpSpPr>
        <p:sp>
          <p:nvSpPr>
            <p:cNvPr id="11" name="Rectangle 11"/>
            <p:cNvSpPr/>
            <p:nvPr/>
          </p:nvSpPr>
          <p:spPr>
            <a:xfrm>
              <a:off x="533400" y="2646998"/>
              <a:ext cx="5410200" cy="3604260"/>
            </a:xfrm>
            <a:prstGeom prst="roundRect">
              <a:avLst>
                <a:gd name="adj" fmla="val 37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14375" y="282797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07047" y="286083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7898" y="3168491"/>
              <a:ext cx="45077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循环在 (x+1)² &gt; n 时停下，所以最终 x = ⌊√n⌋，循环体执行 ⌊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√n⌋ 次。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23900" y="374904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9348" y="3696176"/>
              <a:ext cx="33705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源课件此处把答案留空，正确答案是 </a:t>
              </a:r>
              <a:r>
                <a:rPr lang="en-US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O(√n)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9041" y="3977640"/>
              <a:ext cx="25337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= 10⁶ 时实测循环 1000 次，正是 √n。</a:t>
              </a:r>
            </a:p>
          </p:txBody>
        </p:sp>
      </p:grpSp>
      <p:grpSp>
        <p:nvGrpSpPr>
          <p:cNvPr id="22" name="c2-code-1"/>
          <p:cNvGrpSpPr/>
          <p:nvPr/>
        </p:nvGrpSpPr>
        <p:grpSpPr>
          <a:xfrm>
            <a:off x="6248400" y="1524000"/>
            <a:ext cx="5410200" cy="1406842"/>
            <a:chOff x="6248400" y="1524000"/>
            <a:chExt cx="5410200" cy="1406842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406842"/>
            </a:xfrm>
            <a:prstGeom prst="roundRect">
              <a:avLst>
                <a:gd name="adj" fmla="val 677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6797" y="1675924"/>
              <a:ext cx="18694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例10 2017 年考研题（全国卷）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76988" y="1935004"/>
              <a:ext cx="1326896" cy="909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func(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0, sum = 0;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(sum &lt; n)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sum += ++i;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1" name="c2-table-2"/>
          <p:cNvGrpSpPr/>
          <p:nvPr/>
        </p:nvGrpSpPr>
        <p:grpSpPr>
          <a:xfrm>
            <a:off x="6248400" y="3095625"/>
            <a:ext cx="5410200" cy="2287905"/>
            <a:chOff x="6248400" y="3095625"/>
            <a:chExt cx="5410200" cy="2287905"/>
          </a:xfrm>
        </p:grpSpPr>
        <p:sp>
          <p:nvSpPr>
            <p:cNvPr id="23" name="Rectangle 23"/>
            <p:cNvSpPr/>
            <p:nvPr/>
          </p:nvSpPr>
          <p:spPr>
            <a:xfrm>
              <a:off x="6248400" y="3095625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68452" y="321278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循环体执行次数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93468" y="3212782"/>
              <a:ext cx="55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163429" y="3212782"/>
              <a:ext cx="285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sum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65814" y="3594735"/>
              <a:ext cx="6054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次后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76859" y="359473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48178" y="359473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48400" y="38538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48400" y="385857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65814" y="3975735"/>
              <a:ext cx="6054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次后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76859" y="397573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48178" y="397573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1+2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42348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65814" y="4357688"/>
              <a:ext cx="6054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次后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76859" y="435768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48178" y="4357688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1+2+3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4616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48400" y="4621530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122366" y="473868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76859" y="473868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48178" y="473868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4997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65814" y="5119688"/>
              <a:ext cx="6054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 次后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76859" y="511968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048178" y="5119688"/>
              <a:ext cx="13393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1+2+⋯+k = k(k+1)/2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3095625"/>
              <a:ext cx="541020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082915" y="3095625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948738" y="3095625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allout-3"/>
          <p:cNvGrpSpPr/>
          <p:nvPr/>
        </p:nvGrpSpPr>
        <p:grpSpPr>
          <a:xfrm>
            <a:off x="6248400" y="5549265"/>
            <a:ext cx="5410200" cy="702945"/>
            <a:chOff x="6248400" y="5549265"/>
            <a:chExt cx="5410200" cy="702945"/>
          </a:xfrm>
        </p:grpSpPr>
        <p:sp>
          <p:nvSpPr>
            <p:cNvPr id="52" name="Rectangle 52"/>
            <p:cNvSpPr/>
            <p:nvPr/>
          </p:nvSpPr>
          <p:spPr>
            <a:xfrm>
              <a:off x="6248400" y="5549265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453188" y="5799773"/>
              <a:ext cx="200026" cy="200026"/>
              <a:chOff x="6453188" y="5799773"/>
              <a:chExt cx="200026" cy="200026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453188" y="57997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19863" y="587756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756273" y="5693569"/>
              <a:ext cx="4189527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循环在 k(k+1)/2 ≥ n 时停，解得 k ≈ √(2n)，所以是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O(√</a:t>
              </a:r>
              <a:br/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n)</a:t>
              </a: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。n = 10⁶ 时实测 1414 次。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第2讲 算法与时间复杂度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第2讲 复杂度 · 典型例题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两个稍复杂的例子，都要先把每层次数写成级数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1107758"/>
            <a:chOff x="533400" y="1524000"/>
            <a:chExt cx="5410200" cy="11077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107758"/>
            </a:xfrm>
            <a:prstGeom prst="roundRect">
              <a:avLst>
                <a:gd name="adj" fmla="val 859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3839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例11 内层步长随 i 变化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004"/>
              <a:ext cx="1727835" cy="610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count = 0;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1; i &lt;= n; i++)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= 0; j &lt; n; j += i)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count++;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formula58"/>
              <p:cNvSpPr txBox="1">
                <a:spLocks noGrp="1"/>
              </p:cNvSpPr>
              <p:nvPr/>
            </p:nvSpPr>
            <p:spPr>
              <a:xfrm>
                <a:off x="533400" y="2796540"/>
                <a:ext cx="5410200" cy="2828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8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8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8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8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8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zh-CN" sz="8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8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8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num>
                        <m:den>
                          <m:r>
                            <a:rPr lang="zh-CN" sz="8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8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8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8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num>
                        <m:den>
                          <m:r>
                            <a:rPr lang="zh-CN" sz="8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8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+⋯+</m:t>
                      </m:r>
                      <m:r>
                        <a:rPr lang="zh-CN" sz="8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8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8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8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8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8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f>
                            <m:fPr>
                              <m:type m:val="bar"/>
                              <m:ctrlPr>
                                <a:rPr lang="zh-CN" sz="8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8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sz="8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zh-CN" sz="8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+⋯+</m:t>
                          </m:r>
                          <m:f>
                            <m:fPr>
                              <m:type m:val="bar"/>
                              <m:ctrlPr>
                                <a:rPr lang="zh-CN" sz="8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8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sz="8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zh-CN" sz="8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8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O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8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8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8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zh-CN" sz="8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func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7" name="c1-table-3"/>
          <p:cNvGrpSpPr/>
          <p:nvPr/>
        </p:nvGrpSpPr>
        <p:grpSpPr>
          <a:xfrm>
            <a:off x="528447" y="3244215"/>
            <a:ext cx="5415153" cy="2171414"/>
            <a:chOff x="528447" y="3244215"/>
            <a:chExt cx="5415153" cy="2171414"/>
          </a:xfrm>
        </p:grpSpPr>
        <p:sp>
          <p:nvSpPr>
            <p:cNvPr id="12" name="Rectangle 12"/>
            <p:cNvSpPr/>
            <p:nvPr/>
          </p:nvSpPr>
          <p:spPr>
            <a:xfrm>
              <a:off x="533400" y="3244215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58241" y="3362325"/>
              <a:ext cx="5237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外层的 i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17522" y="3362325"/>
              <a:ext cx="9923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内层 j 取到的值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02683" y="336232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内层执行次数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73978" y="37433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01533" y="3743325"/>
              <a:ext cx="10354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 1, 2, …, n−1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87864" y="374332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0024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400716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73978" y="41243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01533" y="4124325"/>
              <a:ext cx="6820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 2, 4, 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32378" y="412432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⌈n/2⌉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3843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73978" y="45062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01533" y="450627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87864" y="450627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7653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4770120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73978" y="48872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601533" y="4887278"/>
              <a:ext cx="8799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 0 一个值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087864" y="488727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244215"/>
              <a:ext cx="541020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502092" y="3244215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315778" y="3244215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8447" y="522493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求和就是调和级数乘 n。n = 1024 时实测 8275 次</a:t>
              </a:r>
            </a:p>
          </p:txBody>
        </p:sp>
      </p:grpSp>
      <p:grpSp>
        <p:nvGrpSpPr>
          <p:cNvPr id="41" name="c2-code-1"/>
          <p:cNvGrpSpPr/>
          <p:nvPr/>
        </p:nvGrpSpPr>
        <p:grpSpPr>
          <a:xfrm>
            <a:off x="6248400" y="1524000"/>
            <a:ext cx="5410200" cy="1107758"/>
            <a:chOff x="6248400" y="1524000"/>
            <a:chExt cx="5410200" cy="1107758"/>
          </a:xfrm>
        </p:grpSpPr>
        <p:sp>
          <p:nvSpPr>
            <p:cNvPr id="38" name="Rectangle 38"/>
            <p:cNvSpPr/>
            <p:nvPr/>
          </p:nvSpPr>
          <p:spPr>
            <a:xfrm>
              <a:off x="6248400" y="1524000"/>
              <a:ext cx="5410200" cy="1107758"/>
            </a:xfrm>
            <a:prstGeom prst="roundRect">
              <a:avLst>
                <a:gd name="adj" fmla="val 859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76797" y="1675924"/>
              <a:ext cx="31807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例12 2022 年考研题（全国卷）与吉大 2020 级期末题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76988" y="1935004"/>
              <a:ext cx="1556004" cy="610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sum = 0;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1; i &lt; n; i *= 2)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= 0; j &lt; i; j++)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sum++;</a:t>
              </a:r>
            </a:p>
          </p:txBody>
        </p:sp>
      </p:grpSp>
      <p:grpSp>
        <p:nvGrpSpPr>
          <p:cNvPr id="66" name="c2-table-2"/>
          <p:cNvGrpSpPr/>
          <p:nvPr/>
        </p:nvGrpSpPr>
        <p:grpSpPr>
          <a:xfrm>
            <a:off x="6248400" y="2796540"/>
            <a:ext cx="5410200" cy="1906905"/>
            <a:chOff x="6248400" y="2796540"/>
            <a:chExt cx="5410200" cy="1906905"/>
          </a:xfrm>
        </p:grpSpPr>
        <p:sp>
          <p:nvSpPr>
            <p:cNvPr id="42" name="Rectangle 42"/>
            <p:cNvSpPr/>
            <p:nvPr/>
          </p:nvSpPr>
          <p:spPr>
            <a:xfrm>
              <a:off x="6248400" y="2796540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37985" y="29146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外层第几次执行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734667" y="2914650"/>
              <a:ext cx="3824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 的值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112114" y="2914650"/>
              <a:ext cx="10584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sum++ 执行次数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06022" y="3295650"/>
              <a:ext cx="464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881672" y="329565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597124" y="329565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35547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48400" y="355949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006022" y="3676650"/>
              <a:ext cx="464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次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881672" y="367665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558253" y="367665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2¹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39366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191898" y="40586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881672" y="40586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597124" y="40586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48400" y="43176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248400" y="432244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006022" y="4439602"/>
              <a:ext cx="464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 次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765057" y="443960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2ᵏ⁻¹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480510" y="443960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2ᵏ⁻¹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248400" y="2796540"/>
              <a:ext cx="541020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8222932" y="279654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9619298" y="279654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2" name="c2-callout-3"/>
          <p:cNvGrpSpPr/>
          <p:nvPr/>
        </p:nvGrpSpPr>
        <p:grpSpPr>
          <a:xfrm>
            <a:off x="6248400" y="4868228"/>
            <a:ext cx="5410200" cy="702945"/>
            <a:chOff x="6248400" y="4868228"/>
            <a:chExt cx="5410200" cy="702945"/>
          </a:xfrm>
        </p:grpSpPr>
        <p:sp>
          <p:nvSpPr>
            <p:cNvPr id="67" name="Rectangle 67"/>
            <p:cNvSpPr/>
            <p:nvPr/>
          </p:nvSpPr>
          <p:spPr>
            <a:xfrm>
              <a:off x="6248400" y="4868228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6453188" y="5119688"/>
              <a:ext cx="200026" cy="200026"/>
              <a:chOff x="6453188" y="5119688"/>
              <a:chExt cx="200026" cy="200026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6453188" y="51196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519863" y="519747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6756273" y="5013484"/>
              <a:ext cx="4462221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合计 1 + 2¹ + ⋯ + 2ᵏ⁻¹ = 2ᵏ − 1 &lt; 2n，是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。n = 1024 时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实测 1023 次。</a:t>
              </a:r>
            </a:p>
          </p:txBody>
        </p:sp>
      </p:grpSp>
      <p:grpSp>
        <p:nvGrpSpPr>
          <p:cNvPr id="7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3" name="Rectangle 7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1041273" y="6039326"/>
              <a:ext cx="79824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例12 是最常错的一题：外层只跑 log n 轮，但内层次数逐轮翻倍，末轮一轮就顶得上前面所有轮的总和。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第2讲 算法与时间复杂度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46354" cy="909257"/>
            <a:chOff x="520446" y="342900"/>
            <a:chExt cx="524635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第2讲 复杂度 · 典型例题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463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空间复杂度只数随 n 变化的那部分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1406842"/>
            <a:chOff x="533400" y="1524000"/>
            <a:chExt cx="5410200" cy="14068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06842"/>
            </a:xfrm>
            <a:prstGeom prst="roundRect">
              <a:avLst>
                <a:gd name="adj" fmla="val 677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2592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例13 只用了几个变量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004"/>
              <a:ext cx="1556004" cy="909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a[],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i, sum = 0;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0; i &lt; n; i++)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sum += a[i];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sum;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allout-2"/>
          <p:cNvGrpSpPr/>
          <p:nvPr/>
        </p:nvGrpSpPr>
        <p:grpSpPr>
          <a:xfrm>
            <a:off x="533400" y="3095625"/>
            <a:ext cx="5410200" cy="467678"/>
            <a:chOff x="533400" y="3095625"/>
            <a:chExt cx="5410200" cy="467678"/>
          </a:xfrm>
        </p:grpSpPr>
        <p:sp>
          <p:nvSpPr>
            <p:cNvPr id="11" name="Rectangle 11"/>
            <p:cNvSpPr/>
            <p:nvPr/>
          </p:nvSpPr>
          <p:spPr>
            <a:xfrm>
              <a:off x="533400" y="3095625"/>
              <a:ext cx="5410200" cy="467678"/>
            </a:xfrm>
            <a:prstGeom prst="roundRect">
              <a:avLst>
                <a:gd name="adj" fmla="val 2444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188" y="3229928"/>
              <a:ext cx="200026" cy="200026"/>
              <a:chOff x="738188" y="3229928"/>
              <a:chExt cx="200026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32299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04863" y="330771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41273" y="3240881"/>
              <a:ext cx="45211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只多用了 i 和 sum，空间不随 n 变化，空间复杂度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O(1)</a:t>
              </a: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0" name="c1-code-3"/>
          <p:cNvGrpSpPr/>
          <p:nvPr/>
        </p:nvGrpSpPr>
        <p:grpSpPr>
          <a:xfrm>
            <a:off x="533400" y="3728085"/>
            <a:ext cx="5410200" cy="1705928"/>
            <a:chOff x="533400" y="3728085"/>
            <a:chExt cx="5410200" cy="1705928"/>
          </a:xfrm>
        </p:grpSpPr>
        <p:sp>
          <p:nvSpPr>
            <p:cNvPr id="17" name="Rectangle 17"/>
            <p:cNvSpPr/>
            <p:nvPr/>
          </p:nvSpPr>
          <p:spPr>
            <a:xfrm>
              <a:off x="533400" y="3728085"/>
              <a:ext cx="5410200" cy="1705928"/>
            </a:xfrm>
            <a:prstGeom prst="roundRect">
              <a:avLst>
                <a:gd name="adj" fmla="val 558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1797" y="3880009"/>
              <a:ext cx="19188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例14 申请了一个等长的辅助数组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1988" y="4139089"/>
              <a:ext cx="2300605" cy="12087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a[],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*temp = malloc(n *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sizeof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temp[i] = a[n-i-1];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a[i] = temp[i];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free(temp);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6" name="c1-callout-4"/>
          <p:cNvGrpSpPr/>
          <p:nvPr/>
        </p:nvGrpSpPr>
        <p:grpSpPr>
          <a:xfrm>
            <a:off x="533400" y="5598795"/>
            <a:ext cx="5410200" cy="702945"/>
            <a:chOff x="533400" y="5598795"/>
            <a:chExt cx="5410200" cy="702945"/>
          </a:xfrm>
        </p:grpSpPr>
        <p:sp>
          <p:nvSpPr>
            <p:cNvPr id="21" name="Rectangle 21"/>
            <p:cNvSpPr/>
            <p:nvPr/>
          </p:nvSpPr>
          <p:spPr>
            <a:xfrm>
              <a:off x="533400" y="5598795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5850255"/>
              <a:ext cx="200026" cy="200026"/>
              <a:chOff x="738188" y="5850255"/>
              <a:chExt cx="200026" cy="20002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585025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04863" y="592804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1273" y="5744051"/>
              <a:ext cx="4397197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辅助数组长度随 n 增长，空间复杂度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。源课件此处用的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 C++ 的 new 与 delete。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6248400" y="1524000"/>
            <a:ext cx="5410200" cy="1143952"/>
            <a:chOff x="6248400" y="1524000"/>
            <a:chExt cx="5410200" cy="1143952"/>
          </a:xfrm>
        </p:grpSpPr>
        <p:sp>
          <p:nvSpPr>
            <p:cNvPr id="27" name="Rectangle 27"/>
            <p:cNvSpPr/>
            <p:nvPr/>
          </p:nvSpPr>
          <p:spPr>
            <a:xfrm>
              <a:off x="6248400" y="1524000"/>
              <a:ext cx="5410200" cy="1143952"/>
            </a:xfrm>
            <a:prstGeom prst="roundRect">
              <a:avLst>
                <a:gd name="adj" fmla="val 1165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293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220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2898" y="2045494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只数算法额外申请的空间，入口参数本身一般不计入；递归算法要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把栈深度算进去，第 18 页的 O(log n) 就是这么来的。</a:t>
              </a:r>
            </a:p>
          </p:txBody>
        </p:sp>
      </p:grpSp>
      <p:grpSp>
        <p:nvGrpSpPr>
          <p:cNvPr id="40" name="c2-card-2"/>
          <p:cNvGrpSpPr/>
          <p:nvPr/>
        </p:nvGrpSpPr>
        <p:grpSpPr>
          <a:xfrm>
            <a:off x="6248400" y="2832735"/>
            <a:ext cx="5410200" cy="2120265"/>
            <a:chOff x="6248400" y="2832735"/>
            <a:chExt cx="5410200" cy="2120265"/>
          </a:xfrm>
        </p:grpSpPr>
        <p:sp>
          <p:nvSpPr>
            <p:cNvPr id="32" name="Rectangle 32"/>
            <p:cNvSpPr/>
            <p:nvPr/>
          </p:nvSpPr>
          <p:spPr>
            <a:xfrm>
              <a:off x="6248400" y="2832735"/>
              <a:ext cx="5410200" cy="2120265"/>
            </a:xfrm>
            <a:prstGeom prst="roundRect">
              <a:avLst>
                <a:gd name="adj" fmla="val 62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57925" y="2966085"/>
              <a:ext cx="47625" cy="18535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67475" y="3013710"/>
              <a:ext cx="47815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59448" y="3046571"/>
              <a:ext cx="2942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53453" y="3053239"/>
              <a:ext cx="27665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设计高效算法：求 1² + 2² + ⋯ + n²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67475" y="3348990"/>
              <a:ext cx="5010150" cy="1406842"/>
            </a:xfrm>
            <a:prstGeom prst="roundRect">
              <a:avLst>
                <a:gd name="adj" fmla="val 677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95872" y="350091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96062" y="3759994"/>
              <a:ext cx="1613281" cy="909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算法1，时间复杂度 O(n) */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sum = 0;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n; i++)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sum += i * i;</a:t>
              </a:r>
              <a:br/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算法2，时间复杂度 O(1) */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sum = n*(n+1)*(2*n+1)/6;</a:t>
              </a:r>
            </a:p>
          </p:txBody>
        </p:sp>
      </p:grpSp>
      <p:grpSp>
        <p:nvGrpSpPr>
          <p:cNvPr id="46" name="c2-callout-3"/>
          <p:cNvGrpSpPr/>
          <p:nvPr/>
        </p:nvGrpSpPr>
        <p:grpSpPr>
          <a:xfrm>
            <a:off x="6248400" y="5117782"/>
            <a:ext cx="5410200" cy="1183958"/>
            <a:chOff x="6248400" y="5117782"/>
            <a:chExt cx="5410200" cy="1183958"/>
          </a:xfrm>
        </p:grpSpPr>
        <p:sp>
          <p:nvSpPr>
            <p:cNvPr id="41" name="Rectangle 41"/>
            <p:cNvSpPr/>
            <p:nvPr/>
          </p:nvSpPr>
          <p:spPr>
            <a:xfrm>
              <a:off x="6248400" y="5117782"/>
              <a:ext cx="5410200" cy="1183958"/>
            </a:xfrm>
            <a:prstGeom prst="roundRect">
              <a:avLst>
                <a:gd name="adj" fmla="val 9654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453188" y="5610227"/>
              <a:ext cx="200023" cy="200023"/>
              <a:chOff x="6453188" y="5610227"/>
              <a:chExt cx="200023" cy="20002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453188" y="561022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586538" y="56769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756273" y="5621179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设计低效的算法往往很容易，设计出高效的算法却很不容易。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第2讲 算法与时间复杂度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246114" cy="2997517"/>
            <a:chOff x="667512" y="1835468"/>
            <a:chExt cx="624611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均摊时间复杂度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一串操作互相牵连时，把总代价分摊到每次操作上会更接近真相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023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位二进制加计数器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逐位统计总翻转次数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均摊与平均的区别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第2讲 算法与时间复杂度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62893" cy="909257"/>
            <a:chOff x="520446" y="342900"/>
            <a:chExt cx="756289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第2讲 复杂度 · 均摊时间复杂度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6289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 O(n) 的操作，连着做 n 次却远不到 O(n²)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1912620"/>
            <a:chOff x="533400" y="1524000"/>
            <a:chExt cx="6059805" cy="19126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1830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位二进制加计数器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233420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AddOne(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&lt; n &amp;&amp; A[i] == 1)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A[i] = 0;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进位，本位翻转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i++;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&lt; n) A[i] = 1;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最低的 0 位置 1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62" name="c1-cells-2"/>
          <p:cNvGrpSpPr/>
          <p:nvPr/>
        </p:nvGrpSpPr>
        <p:grpSpPr>
          <a:xfrm>
            <a:off x="526923" y="3627120"/>
            <a:ext cx="5646230" cy="1600200"/>
            <a:chOff x="526923" y="3627120"/>
            <a:chExt cx="5646230" cy="1600200"/>
          </a:xfrm>
        </p:grpSpPr>
        <p:sp>
          <p:nvSpPr>
            <p:cNvPr id="11" name="TextBox 11"/>
            <p:cNvSpPr txBox="1"/>
            <p:nvPr/>
          </p:nvSpPr>
          <p:spPr>
            <a:xfrm>
              <a:off x="526923" y="375713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位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187768" y="3627120"/>
              <a:ext cx="62293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83423" y="3757136"/>
              <a:ext cx="4335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A[7]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811655" y="3627120"/>
              <a:ext cx="62293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906358" y="3757136"/>
              <a:ext cx="4335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A[6]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434590" y="3627120"/>
              <a:ext cx="62293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529293" y="3757136"/>
              <a:ext cx="4335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A[5]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057525" y="3627120"/>
              <a:ext cx="62293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152228" y="3757136"/>
              <a:ext cx="4335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A[4]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680460" y="3627120"/>
              <a:ext cx="62293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775163" y="3757136"/>
              <a:ext cx="4335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A[3]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304348" y="3627120"/>
              <a:ext cx="62293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399050" y="3757136"/>
              <a:ext cx="4335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A[2]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927282" y="3627120"/>
              <a:ext cx="62293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021985" y="3757136"/>
              <a:ext cx="4335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A[1]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550218" y="3627120"/>
              <a:ext cx="62293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644920" y="3757136"/>
              <a:ext cx="4335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A[0]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6923" y="4347686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加 1 前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187768" y="421767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341085" y="43476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606868" y="421767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760185" y="43476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025968" y="421767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179285" y="43476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445068" y="421767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598385" y="43476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864168" y="421767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017485" y="43476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283268" y="421767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436585" y="43476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702368" y="421767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855685" y="43476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121468" y="421767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274785" y="43476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26923" y="4938236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加 1 后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187768" y="480822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341085" y="493823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606868" y="480822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760185" y="493823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2025968" y="480822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179285" y="493823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2445068" y="480822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2598385" y="493823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2864168" y="480822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3017485" y="493823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3283268" y="4808220"/>
              <a:ext cx="419100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436585" y="493823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3702368" y="4808220"/>
              <a:ext cx="419100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855685" y="493823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4121468" y="4808220"/>
              <a:ext cx="419100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274785" y="493823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</p:grpSp>
      <p:grpSp>
        <p:nvGrpSpPr>
          <p:cNvPr id="64" name="c1-text-3"/>
          <p:cNvGrpSpPr/>
          <p:nvPr/>
        </p:nvGrpSpPr>
        <p:grpSpPr>
          <a:xfrm>
            <a:off x="873041" y="5439251"/>
            <a:ext cx="5380523" cy="249364"/>
            <a:chOff x="873041" y="5439251"/>
            <a:chExt cx="5380523" cy="249364"/>
          </a:xfrm>
        </p:grpSpPr>
        <p:sp>
          <p:nvSpPr>
            <p:cNvPr id="63" name="TextBox 63"/>
            <p:cNvSpPr txBox="1"/>
            <p:nvPr/>
          </p:nvSpPr>
          <p:spPr>
            <a:xfrm>
              <a:off x="873041" y="5439251"/>
              <a:ext cx="53805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计数器由 7 加到 8，低三位连续进位，共翻转 4 位，这一次调用比较费</a:t>
              </a:r>
            </a:p>
          </p:txBody>
        </p:sp>
      </p:grpSp>
      <p:grpSp>
        <p:nvGrpSpPr>
          <p:cNvPr id="67" name="c2-image-1"/>
          <p:cNvGrpSpPr/>
          <p:nvPr/>
        </p:nvGrpSpPr>
        <p:grpSpPr>
          <a:xfrm>
            <a:off x="6898005" y="1524000"/>
            <a:ext cx="4760595" cy="2454117"/>
            <a:chOff x="6898005" y="1524000"/>
            <a:chExt cx="4760595" cy="2454117"/>
          </a:xfrm>
        </p:grpSpPr>
        <p:pic>
          <p:nvPicPr>
            <p:cNvPr id="65" name="Image 65"/>
            <p:cNvPicPr>
              <a:picLocks noChangeAspect="1"/>
            </p:cNvPicPr>
            <p:nvPr/>
          </p:nvPicPr>
          <p:blipFill>
            <a:blip r:embed="rId2"/>
            <a:srcRect l="0" t="20042" r="0" b="20041"/>
            <a:stretch>
              <a:fillRect/>
            </a:stretch>
          </p:blipFill>
          <p:spPr>
            <a:xfrm>
              <a:off x="6898005" y="1524000"/>
              <a:ext cx="4760595" cy="2139315"/>
            </a:xfrm>
            <a:prstGeom prst="roundRect">
              <a:avLst>
                <a:gd name="adj" fmla="val 6233"/>
              </a:avLst>
            </a:prstGeom>
          </p:spPr>
        </p:pic>
        <p:sp>
          <p:nvSpPr>
            <p:cNvPr id="66" name="TextBox 66"/>
            <p:cNvSpPr txBox="1"/>
            <p:nvPr/>
          </p:nvSpPr>
          <p:spPr>
            <a:xfrm>
              <a:off x="7010972" y="3758089"/>
              <a:ext cx="4534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机械里程表就是十进制的同一件事，个位每转一圈才带动十位跳一格</a:t>
              </a:r>
            </a:p>
          </p:txBody>
        </p:sp>
      </p:grpSp>
      <p:grpSp>
        <p:nvGrpSpPr>
          <p:cNvPr id="81" name="c2-bullets-2"/>
          <p:cNvGrpSpPr/>
          <p:nvPr/>
        </p:nvGrpSpPr>
        <p:grpSpPr>
          <a:xfrm>
            <a:off x="6890385" y="4168140"/>
            <a:ext cx="4514850" cy="2253615"/>
            <a:chOff x="6890385" y="4168140"/>
            <a:chExt cx="4514850" cy="2253615"/>
          </a:xfrm>
        </p:grpSpPr>
        <p:sp>
          <p:nvSpPr>
            <p:cNvPr id="68" name="TextBox 68"/>
            <p:cNvSpPr txBox="1"/>
            <p:nvPr/>
          </p:nvSpPr>
          <p:spPr>
            <a:xfrm>
              <a:off x="6890385" y="41681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推理链条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6898005" y="450913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959854" y="45514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198995" y="452247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最坏情况下所有位都要改变，单次最坏时间复杂度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6898005" y="513969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959854" y="518198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198995" y="5153025"/>
              <a:ext cx="32058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那么连续执行 n 次就是 O(n²) 吗？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6898005" y="548449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959854" y="55267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198995" y="5497830"/>
              <a:ext cx="40841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 1 的过程中不可能连续多次都遇到最坏情况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6898005" y="582930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959854" y="587159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198995" y="5842635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所以要分析一个操作序列的总时间，而不是单个操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作的时间，这称为均摊分析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第2讲 算法与时间复杂度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336465" cy="909257"/>
            <a:chOff x="520446" y="342900"/>
            <a:chExt cx="533646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第2讲 复杂度 · 均摊时间复杂度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3364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逐位统计翻转次数，总代价不到 2n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911150" cy="293370"/>
            <a:chOff x="525780" y="1548765"/>
            <a:chExt cx="691115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9111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计数器初值为 0，连续执行 n 次加 1 操作，把每一位各翻转了多少次加起来。</a:t>
              </a:r>
            </a:p>
          </p:txBody>
        </p:sp>
      </p:grpSp>
      <p:grpSp>
        <p:nvGrpSpPr>
          <p:cNvPr id="52" name="c1-table-1"/>
          <p:cNvGrpSpPr/>
          <p:nvPr/>
        </p:nvGrpSpPr>
        <p:grpSpPr>
          <a:xfrm>
            <a:off x="533400" y="1954530"/>
            <a:ext cx="5626418" cy="3011805"/>
            <a:chOff x="533400" y="1954530"/>
            <a:chExt cx="5626418" cy="301180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626418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35520" y="208597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哪一位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44383" y="208597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多少次调用翻转一次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290045" y="2085975"/>
              <a:ext cx="11256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次调用共翻转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29027" y="2085975"/>
              <a:ext cx="8861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= 1000 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0692" y="2515552"/>
              <a:ext cx="40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A[0]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38859" y="251555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每次调用都翻转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02342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88306" y="251555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80987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814638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0692" y="2946082"/>
              <a:ext cx="40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A[1]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38859" y="2946082"/>
              <a:ext cx="11914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 2 次翻转 1 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24644" y="294608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⌊n/2⌋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32730" y="294608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24040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80692" y="3376612"/>
              <a:ext cx="40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A[2]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38859" y="3376612"/>
              <a:ext cx="11914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 4 次翻转 1 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24644" y="337661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⌊n/4⌋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32730" y="337661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66998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674745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31191" y="38061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38859" y="3806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802342" y="3806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321579" y="3806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10051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07775" y="4236720"/>
              <a:ext cx="3523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A[i]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538859" y="4236720"/>
              <a:ext cx="12803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 2ⁱ 次翻转 1 次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580219" y="423672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⌊n/2ⁱ⌋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966183" y="4236720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⌊1000/2ⁱ⌋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5310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4535805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16292" y="466629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538859" y="466629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各位相加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130868" y="4545330"/>
              <a:ext cx="1443990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689261" y="4666298"/>
              <a:ext cx="3272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 2n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4593908" y="4545330"/>
              <a:ext cx="1556385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188306" y="4666298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1994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1954530"/>
              <a:ext cx="5626418" cy="3010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428750" y="195453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3116580" y="195453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4579620" y="195453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c1-callout-2"/>
          <p:cNvGrpSpPr/>
          <p:nvPr/>
        </p:nvGrpSpPr>
        <p:grpSpPr>
          <a:xfrm>
            <a:off x="533400" y="5151120"/>
            <a:ext cx="5626418" cy="756285"/>
            <a:chOff x="533400" y="5151120"/>
            <a:chExt cx="5626418" cy="756285"/>
          </a:xfrm>
        </p:grpSpPr>
        <p:sp>
          <p:nvSpPr>
            <p:cNvPr id="53" name="Rectangle 53"/>
            <p:cNvSpPr/>
            <p:nvPr/>
          </p:nvSpPr>
          <p:spPr>
            <a:xfrm>
              <a:off x="533400" y="5151120"/>
              <a:ext cx="5626418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5429250"/>
              <a:ext cx="200026" cy="200026"/>
              <a:chOff x="738188" y="5429250"/>
              <a:chExt cx="200026" cy="20002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54292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38200" y="54959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27088" y="552926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511" y="5298281"/>
              <a:ext cx="462216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脚本按定义模拟了 n = 8、16、100、1000、10000 五组，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总翻转次数与 ⌊n/2ⁱ⌋ 求和完全一致，且都小于 2n。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formula62"/>
              <p:cNvSpPr txBox="1">
                <a:spLocks noGrp="1"/>
              </p:cNvSpPr>
              <p:nvPr/>
            </p:nvSpPr>
            <p:spPr>
              <a:xfrm>
                <a:off x="6464618" y="1954530"/>
                <a:ext cx="5193982" cy="8334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  <m:e>
                          <m:d>
                            <m:dPr>
                              <m:begChr m:val="⌊"/>
                              <m:sepChr m:val=""/>
                              <m:endChr m:val="⌋"/>
                              <m:grow m:val="on"/>
                              <m:ctrl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zh-CN" sz="18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8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num>
                                <m:den>
                                  <m:sSup>
                                    <m:e>
                                      <m:r>
                                        <a:rPr lang="zh-CN" sz="18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zh-CN" sz="18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type m:val="bar"/>
                              <m:ctrl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sSup>
                                <m:e>
                                  <m:r>
                                    <a:rPr lang="zh-CN" sz="18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sz="18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2n</m:t>
                      </m:r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O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69" name="c2-card-2"/>
          <p:cNvGrpSpPr/>
          <p:nvPr/>
        </p:nvGrpSpPr>
        <p:grpSpPr>
          <a:xfrm>
            <a:off x="6464618" y="2973705"/>
            <a:ext cx="5193982" cy="1884998"/>
            <a:chOff x="6464618" y="2973705"/>
            <a:chExt cx="5193982" cy="1884998"/>
          </a:xfrm>
        </p:grpSpPr>
        <p:sp>
          <p:nvSpPr>
            <p:cNvPr id="61" name="Rectangle 61"/>
            <p:cNvSpPr/>
            <p:nvPr/>
          </p:nvSpPr>
          <p:spPr>
            <a:xfrm>
              <a:off x="6464618" y="2973705"/>
              <a:ext cx="5193982" cy="1884998"/>
            </a:xfrm>
            <a:prstGeom prst="roundRect">
              <a:avLst>
                <a:gd name="adj" fmla="val 7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74142" y="3107055"/>
              <a:ext cx="47625" cy="161829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706552" y="317754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797713" y="321325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307961" y="3217069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均摊时间复杂度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699314" y="3568541"/>
              <a:ext cx="445985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 n 个操作的总代价上界 T(n)，每个操作的平均代价</a:t>
              </a:r>
              <a:br/>
              <a:r>
                <a:rPr lang="en-US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T(n)/n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称为每个操作的均摊时间复杂度。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714172" y="422052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870764" y="4160044"/>
              <a:ext cx="396708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本例 T(n) = O(n)，均摊时间复杂度为 </a:t>
              </a:r>
              <a:r>
                <a:rPr lang="en-US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O(n)/n =</a:t>
              </a:r>
              <a:br/>
              <a:r>
                <a:rPr lang="en-US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</p:grpSp>
      <p:grpSp>
        <p:nvGrpSpPr>
          <p:cNvPr id="75" name="c2-callout-3"/>
          <p:cNvGrpSpPr/>
          <p:nvPr/>
        </p:nvGrpSpPr>
        <p:grpSpPr>
          <a:xfrm>
            <a:off x="6464618" y="5043488"/>
            <a:ext cx="5193982" cy="863918"/>
            <a:chOff x="6464618" y="5043488"/>
            <a:chExt cx="5193982" cy="863918"/>
          </a:xfrm>
        </p:grpSpPr>
        <p:sp>
          <p:nvSpPr>
            <p:cNvPr id="70" name="Rectangle 70"/>
            <p:cNvSpPr/>
            <p:nvPr/>
          </p:nvSpPr>
          <p:spPr>
            <a:xfrm>
              <a:off x="6464618" y="5043488"/>
              <a:ext cx="5193982" cy="863918"/>
            </a:xfrm>
            <a:prstGeom prst="roundRect">
              <a:avLst>
                <a:gd name="adj" fmla="val 1323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6669405" y="5374960"/>
              <a:ext cx="200023" cy="200023"/>
              <a:chOff x="6669405" y="5374960"/>
              <a:chExt cx="200023" cy="200023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6669405" y="53749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802755" y="54416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6971729" y="5244941"/>
              <a:ext cx="382866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前提是从全 0 开始连续做 n 次加 1。若每次都从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0111…1 这种状态开始，单次就真的要 O(n)。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第2讲 算法与时间复杂度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28332" cy="909257"/>
            <a:chOff x="520446" y="342900"/>
            <a:chExt cx="52283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第2讲 复杂度 · 均摊时间复杂度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283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均摊与平均，是两种不同的“平均”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table-1"/>
          <p:cNvGrpSpPr/>
          <p:nvPr/>
        </p:nvGrpSpPr>
        <p:grpSpPr>
          <a:xfrm>
            <a:off x="533400" y="1524000"/>
            <a:ext cx="6276022" cy="2217420"/>
            <a:chOff x="533400" y="1524000"/>
            <a:chExt cx="6276022" cy="22174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57769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输入情况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13164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考察对象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30471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计算方法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6237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412" y="2254091"/>
              <a:ext cx="7226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平均时间复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杂度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37348" y="2154079"/>
              <a:ext cx="864870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假定各种输入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发生的概率分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892742" y="235410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单个操作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48138" y="2054066"/>
              <a:ext cx="1007110" cy="820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按假定的概率分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布对各种输入所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需时间做加权平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28310" y="2054066"/>
              <a:ext cx="1007110" cy="820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把各操作当作独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立事件分别考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察，不考虑操作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间的相关性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93084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935605"/>
              <a:ext cx="6276022" cy="805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3412" y="3159919"/>
              <a:ext cx="7226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均摊时间复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杂度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37348" y="3159919"/>
              <a:ext cx="8648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不对输入的分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布做任何假设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892742" y="3059906"/>
              <a:ext cx="864870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真实可行的、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足够长的连续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操作序列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48138" y="3059906"/>
              <a:ext cx="1007110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操作序列的总时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间分摊至单次操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528310" y="3159919"/>
              <a:ext cx="10071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对一系列操作做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整体的考量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1524000"/>
              <a:ext cx="6276022" cy="22174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532572" y="1524000"/>
              <a:ext cx="9525" cy="22174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2787968" y="1524000"/>
              <a:ext cx="9525" cy="22174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043362" y="1524000"/>
              <a:ext cx="9525" cy="22174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3535" y="1524000"/>
              <a:ext cx="9525" cy="22174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4" name="c1-card-2"/>
          <p:cNvGrpSpPr/>
          <p:nvPr/>
        </p:nvGrpSpPr>
        <p:grpSpPr>
          <a:xfrm>
            <a:off x="533400" y="3916680"/>
            <a:ext cx="6276022" cy="1466850"/>
            <a:chOff x="533400" y="3916680"/>
            <a:chExt cx="6276022" cy="1466850"/>
          </a:xfrm>
        </p:grpSpPr>
        <p:sp>
          <p:nvSpPr>
            <p:cNvPr id="30" name="Rectangle 30"/>
            <p:cNvSpPr/>
            <p:nvPr/>
          </p:nvSpPr>
          <p:spPr>
            <a:xfrm>
              <a:off x="533400" y="3916680"/>
              <a:ext cx="6276022" cy="1466850"/>
            </a:xfrm>
            <a:prstGeom prst="roundRect">
              <a:avLst>
                <a:gd name="adj" fmla="val 909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25805" y="4109085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97242" y="414337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为什么需要均摊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8947" y="4465320"/>
              <a:ext cx="56715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数据结构涉及的常是操作序列而不是单个操作，每个操作的执行会影响下一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个操作的执行时间。把每个操作的最坏情况直接相加，得到的上界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C(op₁,…,opₙ) = C_worst(op₁) + ⋯ + C_worst(opₙ) 有时过于悲观。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7114222" y="1524000"/>
            <a:ext cx="4544378" cy="1831658"/>
            <a:chOff x="7114222" y="1524000"/>
            <a:chExt cx="4544378" cy="1831658"/>
          </a:xfrm>
        </p:grpSpPr>
        <p:sp>
          <p:nvSpPr>
            <p:cNvPr id="35" name="Rectangle 35"/>
            <p:cNvSpPr/>
            <p:nvPr/>
          </p:nvSpPr>
          <p:spPr>
            <a:xfrm>
              <a:off x="7114222" y="1524000"/>
              <a:ext cx="4544378" cy="1831658"/>
            </a:xfrm>
            <a:prstGeom prst="roundRect">
              <a:avLst>
                <a:gd name="adj" fmla="val 72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123748" y="1657350"/>
              <a:ext cx="47625" cy="156495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344728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28167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适用场景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95120" y="175641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三个条件同时满足时才考虑均摊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344728" y="2078355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400406" y="211674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4572" y="209073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对一个数据结构进行一组连续操作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44728" y="238029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400406" y="24196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4572" y="2392680"/>
              <a:ext cx="36141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大部分操作的时间复杂度都很低，只有个别情况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比较高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344728" y="294036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400406" y="297875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624572" y="295275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这些操作之间存在前后连贯的时序关系</a:t>
              </a:r>
            </a:p>
          </p:txBody>
        </p:sp>
      </p:grpSp>
      <p:grpSp>
        <p:nvGrpSpPr>
          <p:cNvPr id="63" name="c2-cells-2"/>
          <p:cNvGrpSpPr/>
          <p:nvPr/>
        </p:nvGrpSpPr>
        <p:grpSpPr>
          <a:xfrm>
            <a:off x="7108508" y="3530918"/>
            <a:ext cx="4344352" cy="381000"/>
            <a:chOff x="7108508" y="3530918"/>
            <a:chExt cx="4344352" cy="381000"/>
          </a:xfrm>
        </p:grpSpPr>
        <p:sp>
          <p:nvSpPr>
            <p:cNvPr id="50" name="TextBox 50"/>
            <p:cNvSpPr txBox="1"/>
            <p:nvPr/>
          </p:nvSpPr>
          <p:spPr>
            <a:xfrm>
              <a:off x="7108508" y="365140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操作序列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816215" y="3530918"/>
              <a:ext cx="605790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918043" y="3651409"/>
              <a:ext cx="4021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422005" y="3530918"/>
              <a:ext cx="60579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519408" y="3651409"/>
              <a:ext cx="412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9028748" y="3530918"/>
              <a:ext cx="60579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125198" y="3651409"/>
              <a:ext cx="412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634538" y="3530918"/>
              <a:ext cx="60579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730988" y="3651409"/>
              <a:ext cx="412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0240328" y="3530918"/>
              <a:ext cx="60579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494924" y="36514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10847070" y="3530918"/>
              <a:ext cx="60579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943521" y="3651409"/>
              <a:ext cx="412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</p:grpSp>
      <p:grpSp>
        <p:nvGrpSpPr>
          <p:cNvPr id="69" name="c2-callout-3"/>
          <p:cNvGrpSpPr/>
          <p:nvPr/>
        </p:nvGrpSpPr>
        <p:grpSpPr>
          <a:xfrm>
            <a:off x="7114222" y="4087178"/>
            <a:ext cx="4544378" cy="1295400"/>
            <a:chOff x="7114222" y="4087178"/>
            <a:chExt cx="4544378" cy="1295400"/>
          </a:xfrm>
        </p:grpSpPr>
        <p:sp>
          <p:nvSpPr>
            <p:cNvPr id="64" name="Rectangle 64"/>
            <p:cNvSpPr/>
            <p:nvPr/>
          </p:nvSpPr>
          <p:spPr>
            <a:xfrm>
              <a:off x="7114222" y="4087178"/>
              <a:ext cx="4544378" cy="1295400"/>
            </a:xfrm>
            <a:prstGeom prst="roundRect">
              <a:avLst>
                <a:gd name="adj" fmla="val 8824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19010" y="4634865"/>
              <a:ext cx="200026" cy="200026"/>
              <a:chOff x="7319010" y="4634865"/>
              <a:chExt cx="200026" cy="200026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19010" y="463486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385685" y="471265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7621714" y="4516755"/>
              <a:ext cx="36141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把那一次昂贵操作的时间分摊到它前后大量廉价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操作上，整串操作的平均代价仍然是常数。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0" name="Rectangle 7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0892" y="6023610"/>
              <a:ext cx="92823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均摊时间复杂度一般反映最坏情况下每个操作的平均性能，它不依赖任何概率假设，因此比平均时间复杂度更可靠。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第2讲 算法与时间复杂度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117854" cy="909257"/>
            <a:chOff x="520446" y="342900"/>
            <a:chExt cx="111785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049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916" y="40719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第2讲 复杂度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595817" cy="264033"/>
            <a:chOff x="526542" y="1545907"/>
            <a:chExt cx="859581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5958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先自己写出答案再看解答。另外自问两题：算法的五条特性是哪五条？大 O、大 Ω、大 Θ 的定义各是什么？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3505200" cy="2157412"/>
            <a:chOff x="533400" y="1928812"/>
            <a:chExt cx="3505200" cy="215741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29390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程序一定是算法吗？举一个反例并说明违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反了哪条特性。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977991"/>
              <a:ext cx="3020314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不一定。while(1){} 是合法程序，但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永不终止，违反有限性。算法还要求确定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性、可行性、0 个或多个输入、1 个或多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个输出。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251008"/>
            <a:ext cx="3505200" cy="1914525"/>
            <a:chOff x="533400" y="4251008"/>
            <a:chExt cx="3505200" cy="1914525"/>
          </a:xfrm>
        </p:grpSpPr>
        <p:sp>
          <p:nvSpPr>
            <p:cNvPr id="15" name="Rectangle 15"/>
            <p:cNvSpPr/>
            <p:nvPr/>
          </p:nvSpPr>
          <p:spPr>
            <a:xfrm>
              <a:off x="533400" y="4251008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443198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446484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772501"/>
              <a:ext cx="286344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for(i=1;i&lt;n;i*=2) for(j=0;j&lt;i;j++)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sum++; 的时间复杂度是多少？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5300186"/>
              <a:ext cx="29796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+ 2 + 4 + ⋯ + 2ᵏ⁻¹ = 2ᵏ − 1 &lt; 2n，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O(n)。误答 O(n log n) 是因为把内层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当成了固定的 n 次。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343400" y="1928812"/>
            <a:ext cx="3505200" cy="1914525"/>
            <a:chOff x="4343400" y="1928812"/>
            <a:chExt cx="3505200" cy="1914525"/>
          </a:xfrm>
        </p:grpSpPr>
        <p:sp>
          <p:nvSpPr>
            <p:cNvPr id="21" name="Rectangle 21"/>
            <p:cNvSpPr/>
            <p:nvPr/>
          </p:nvSpPr>
          <p:spPr>
            <a:xfrm>
              <a:off x="4343400" y="192881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2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1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17898" y="2449354"/>
              <a:ext cx="29390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为什么不用实际运行时间衡量算法的时间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效率？改用什么？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17898" y="2977991"/>
              <a:ext cx="302031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实际时间依赖机器、语言和实现细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节。改用基本运算的执行次数 T(n)，它与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描述语言和实现细节无关，又足够精确。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4343400" y="4008120"/>
            <a:ext cx="3505200" cy="2157412"/>
            <a:chOff x="4343400" y="4008120"/>
            <a:chExt cx="3505200" cy="2157412"/>
          </a:xfrm>
        </p:grpSpPr>
        <p:sp>
          <p:nvSpPr>
            <p:cNvPr id="27" name="Rectangle 27"/>
            <p:cNvSpPr/>
            <p:nvPr/>
          </p:nvSpPr>
          <p:spPr>
            <a:xfrm>
              <a:off x="4343400" y="400812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2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1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17898" y="4529614"/>
              <a:ext cx="2974391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x=0; while(n&gt;=(x+1)*(x+1)) x=x+1;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的时间复杂度？理由是什么？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17898" y="5057299"/>
              <a:ext cx="284962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循环在 (x+1)² &gt; n 时停止，最终 x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⌊√n⌋，所以是 O(√n)。循环条件是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不等式时要把它解出来。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28812"/>
            <a:ext cx="3505200" cy="1914525"/>
            <a:chOff x="8153400" y="1928812"/>
            <a:chExt cx="3505200" cy="1914525"/>
          </a:xfrm>
        </p:grpSpPr>
        <p:sp>
          <p:nvSpPr>
            <p:cNvPr id="33" name="Rectangle 33"/>
            <p:cNvSpPr/>
            <p:nvPr/>
          </p:nvSpPr>
          <p:spPr>
            <a:xfrm>
              <a:off x="8153400" y="192881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3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2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27898" y="2449354"/>
              <a:ext cx="2869133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顺序查找 Find，若 K 一定在表中，平均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比较多少次？推导写出来。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27898" y="2977991"/>
              <a:ext cx="290652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 = 1 时 E(n) = Σ(1/n)·i = (1/n)·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n(n+1)/2 = (n+1)/2，约为半张表。若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 &lt; 1 则 E(n) = q(n+1)/2 + (1−q)n。</a:t>
              </a:r>
            </a:p>
          </p:txBody>
        </p:sp>
      </p:grpSp>
      <p:grpSp>
        <p:nvGrpSpPr>
          <p:cNvPr id="44" name="c3-card-2"/>
          <p:cNvGrpSpPr/>
          <p:nvPr/>
        </p:nvGrpSpPr>
        <p:grpSpPr>
          <a:xfrm>
            <a:off x="8153400" y="4008120"/>
            <a:ext cx="3505200" cy="2157412"/>
            <a:chOff x="8153400" y="4008120"/>
            <a:chExt cx="3505200" cy="2157412"/>
          </a:xfrm>
        </p:grpSpPr>
        <p:sp>
          <p:nvSpPr>
            <p:cNvPr id="39" name="Rectangle 39"/>
            <p:cNvSpPr/>
            <p:nvPr/>
          </p:nvSpPr>
          <p:spPr>
            <a:xfrm>
              <a:off x="8153400" y="400812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3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2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27898" y="4529614"/>
              <a:ext cx="29390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均摊时间复杂度与平均时间复杂度的区别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是什么？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27898" y="5057299"/>
              <a:ext cx="29390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平均要假设输入的概率分布，考察单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个操作；均摊不作任何概率假设，考察一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个连续操作序列的总代价除以操作次数。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第2讲 算法与时间复杂度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049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916" y="40719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第2讲 复杂度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5842635" cy="2287905"/>
            <a:chOff x="533400" y="1524000"/>
            <a:chExt cx="5842635" cy="22879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965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95097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078" y="2023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13954" y="2023110"/>
              <a:ext cx="39684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有限条指令，须满足有限性、确定性、输入、输出、可行性五条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82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28695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8078" y="2404110"/>
              <a:ext cx="3464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13954" y="2404110"/>
              <a:ext cx="42511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关键运算的执行次数；同一算法不同输入可有最好、最坏、平均三种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63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7851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平均复杂度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13954" y="2785110"/>
              <a:ext cx="24833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E(n) = Σ P(I)T(I)，必须写清概率假设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45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04990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167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渐近记号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13954" y="3167062"/>
              <a:ext cx="35876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 是上界、Ω 是下界、Θ 是同阶，都只要求 n ≥ n₀ 后成立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426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354806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均摊复杂度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13954" y="3548062"/>
              <a:ext cx="41098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总代价除以操作次数，不作概率假设，用于有时序关联的操作序列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584263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814512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1-card-2"/>
          <p:cNvGrpSpPr/>
          <p:nvPr/>
        </p:nvGrpSpPr>
        <p:grpSpPr>
          <a:xfrm>
            <a:off x="533400" y="3976688"/>
            <a:ext cx="5842635" cy="1714500"/>
            <a:chOff x="533400" y="3976688"/>
            <a:chExt cx="5842635" cy="1714500"/>
          </a:xfrm>
        </p:grpSpPr>
        <p:sp>
          <p:nvSpPr>
            <p:cNvPr id="29" name="Rectangle 29"/>
            <p:cNvSpPr/>
            <p:nvPr/>
          </p:nvSpPr>
          <p:spPr>
            <a:xfrm>
              <a:off x="533400" y="3976688"/>
              <a:ext cx="5842635" cy="1714500"/>
            </a:xfrm>
            <a:prstGeom prst="roundRect">
              <a:avLst>
                <a:gd name="adj" fmla="val 77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110038"/>
              <a:ext cx="47625" cy="14478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4157662"/>
              <a:ext cx="182784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3440" y="419052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本讲义对源课件的更正与补充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2000" y="455104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7448" y="4498181"/>
              <a:ext cx="49411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第 45 页的 1.5n − 2 只在 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n 是 2 的幂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时成立，n = 6 时实为 8 次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62000" y="483584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7448" y="4782979"/>
              <a:ext cx="46137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50 页的极限式只是充分条件，极限不存在时要回到定义判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62000" y="512064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17448" y="5067776"/>
              <a:ext cx="45565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补齐留空答案：(n+1)(3n²+2) = O(n³)、Σk³ = O(n⁴)、Σk⁴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O(n⁵)、两道考研题均为 O(√n)</a:t>
              </a:r>
            </a:p>
          </p:txBody>
        </p:sp>
      </p:grpSp>
      <p:grpSp>
        <p:nvGrpSpPr>
          <p:cNvPr id="55" name="c2-bullets-1"/>
          <p:cNvGrpSpPr/>
          <p:nvPr/>
        </p:nvGrpSpPr>
        <p:grpSpPr>
          <a:xfrm>
            <a:off x="6681788" y="1533525"/>
            <a:ext cx="4762856" cy="1675733"/>
            <a:chOff x="6681788" y="1533525"/>
            <a:chExt cx="4762856" cy="1675733"/>
          </a:xfrm>
        </p:grpSpPr>
        <p:sp>
          <p:nvSpPr>
            <p:cNvPr id="40" name="Ellipse 40"/>
            <p:cNvSpPr/>
            <p:nvPr/>
          </p:nvSpPr>
          <p:spPr>
            <a:xfrm>
              <a:off x="6681788" y="153352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33694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51536" y="1545431"/>
              <a:ext cx="34780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先挑关键运算，再数次数，最后才化简成大 O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681788" y="182689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33694" y="1862519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51536" y="1837849"/>
              <a:ext cx="42174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加减推进数成线性，乘除推进数成对数，嵌套得 n log n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681788" y="212026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33694" y="21558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51536" y="2131219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内层次数随外层变化时先写成级数，再套等差、等比或调和级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681788" y="265652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33694" y="269119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951536" y="2667476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每个复杂度结论都要交代前提，前提变了结论就可能不成立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681788" y="2948940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33694" y="298456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51536" y="2959894"/>
              <a:ext cx="43380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操作之间有时序关联时，用均摊分析代替“各自最坏相加”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6680835" y="3324225"/>
            <a:ext cx="4977765" cy="2366962"/>
            <a:chOff x="6680835" y="3324225"/>
            <a:chExt cx="4977765" cy="2366962"/>
          </a:xfrm>
        </p:grpSpPr>
        <p:sp>
          <p:nvSpPr>
            <p:cNvPr id="56" name="Rectangle 56"/>
            <p:cNvSpPr/>
            <p:nvPr/>
          </p:nvSpPr>
          <p:spPr>
            <a:xfrm>
              <a:off x="6680835" y="3324225"/>
              <a:ext cx="4977765" cy="2366962"/>
            </a:xfrm>
            <a:prstGeom prst="roundRect">
              <a:avLst>
                <a:gd name="adj" fmla="val 563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861810" y="350520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947332" y="353806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复习方法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871335" y="389763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026783" y="3845719"/>
              <a:ext cx="41419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遮住第 29 至 32 页的答案，把十二段程序段各写一遍复杂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度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871335" y="442531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26783" y="4373404"/>
              <a:ext cx="42801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再把 Find 的平均复杂度和 BinarySelect 的递推式各完整推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导一次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4" name="Rectangle 6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1273" y="6039326"/>
              <a:ext cx="67123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下一讲是线性表的链接存储，会用本讲的 T(n) 数法逐一算出单链表各种操作的复杂度。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第2讲 算法与时间复杂度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s_l02">
  <a:themeElements>
    <a:clrScheme name="ds_l0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s_l02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s_l0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2026-09-19T09:59:27Z</dcterms:created>
  <dcterms:modified xsi:type="dcterms:W3CDTF">2026-09-19T09:59:27Z</dcterms:modified>
  <cp:category/>
  <cp:contentStatus/>
</cp:coreProperties>
</file>